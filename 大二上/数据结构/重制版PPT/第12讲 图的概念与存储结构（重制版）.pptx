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1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1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903e851c124a7ae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5ed139b726603fe.png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0410142e9509c20.png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26736" cy="3437763"/>
            <a:chOff x="666750" y="1619250"/>
            <a:chExt cx="512673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61734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2921" y="1718310"/>
              <a:ext cx="1363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第12讲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1267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图的概念与存储结构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顶点之间可以任意相关的非线性结构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图的定义与术语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度、路径与连通性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邻接矩阵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邻接表与逆邻接表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29995" cy="205359"/>
            <a:chOff x="680466" y="6192202"/>
            <a:chExt cx="422999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299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12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图的定义与基本术语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顶点、边与弧、邻接、重边与简单图、完全图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度、路径与回路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握手定理、简单路径、简单回路、欧拉与汉密尔顿回路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子图、连通性与带权图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支撑子图、连通分量、强连通分量、权与带权路径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邻接矩阵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8541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n×n 数组存全部顶点对，按行列求度，空间 O(n²)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4126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顶点表加边链表，空间 O(n+e)，统计入度与逆邻接表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577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给定一张图，写出它的 V、E 和每个顶点的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度，并用握手定理验算边数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判断一个顶点序列是路径、简单路径还是简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单回路，并算出它的长度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给定无向图或有向图，找出它的全部连通分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量或强连通分量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写出一张图的邻接矩阵和邻接表，并从中读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出各顶点的度、出度与入度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说出两种存储在查边、找邻接点、占用空间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三项上的代价，并据此选型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46114" cy="3351847"/>
            <a:chOff x="667512" y="1835468"/>
            <a:chExt cx="624611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图的定义与基本术语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顶点之间的关系不受任何限制，这是图区别于线性表和树的地方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图与树的差别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顶点、边与弧的定义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邻接、重边与简单图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完全图的边数上界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图的定义与基本术语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图放开了对前驱、后继个数的限制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678930" cy="293370"/>
            <a:chOff x="525780" y="1548765"/>
            <a:chExt cx="667893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线性表每个结点最多一个前驱一个后继，树最多一个前驱，图两头都不限。</a:t>
              </a:r>
            </a:p>
          </p:txBody>
        </p:sp>
      </p:grpSp>
      <p:grpSp>
        <p:nvGrpSpPr>
          <p:cNvPr id="33" name="c1-table-1"/>
          <p:cNvGrpSpPr/>
          <p:nvPr/>
        </p:nvGrpSpPr>
        <p:grpSpPr>
          <a:xfrm>
            <a:off x="533400" y="1954530"/>
            <a:ext cx="5951220" cy="1933575"/>
            <a:chOff x="533400" y="1954530"/>
            <a:chExt cx="5951220" cy="193357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951220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9521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逻辑结构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65948" y="208597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每个结点的前驱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72815" y="208597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每个结点的后继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79682" y="208597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两点之间的通路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8746" y="262223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10309" y="2515552"/>
              <a:ext cx="12542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始结点 0 个，其余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76232" y="2515552"/>
              <a:ext cx="12542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终结点 0 个，其余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24044" y="262223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有且只有一条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02323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027998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315944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10309" y="3159442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 0 个，其余 1 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76232" y="3159442"/>
              <a:ext cx="795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个或多个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24044" y="315944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根到任一结点恰一条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45376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358997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10309" y="358997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任意多个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76232" y="358997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任意多个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24044" y="3589972"/>
              <a:ext cx="12560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条、1 条或多条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954530"/>
              <a:ext cx="5951220" cy="1933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600200" y="1954530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266122" y="1954530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813935" y="1954530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rd-2"/>
          <p:cNvGrpSpPr/>
          <p:nvPr/>
        </p:nvGrpSpPr>
        <p:grpSpPr>
          <a:xfrm>
            <a:off x="533400" y="4073842"/>
            <a:ext cx="5951220" cy="1564958"/>
            <a:chOff x="533400" y="4073842"/>
            <a:chExt cx="5951220" cy="1564958"/>
          </a:xfrm>
        </p:grpSpPr>
        <p:sp>
          <p:nvSpPr>
            <p:cNvPr id="34" name="Rectangle 34"/>
            <p:cNvSpPr/>
            <p:nvPr/>
          </p:nvSpPr>
          <p:spPr>
            <a:xfrm>
              <a:off x="533400" y="4073842"/>
              <a:ext cx="5951220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207192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75335" y="42776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65543" y="43133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76744" y="4317206"/>
              <a:ext cx="11461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图（Graph）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8096" y="4669631"/>
              <a:ext cx="529844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图是一种比线性表和树更复杂的非线性结构。在图结构中，对结点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（图中常称为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顶点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）的前驱和后继个数不加限制，结点之间的关系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是任意的，图中任意两个结点之间都可能相关。</a:t>
              </a:r>
            </a:p>
          </p:txBody>
        </p:sp>
      </p:grpSp>
      <p:grpSp>
        <p:nvGrpSpPr>
          <p:cNvPr id="57" name="c2-graph-1"/>
          <p:cNvGrpSpPr/>
          <p:nvPr/>
        </p:nvGrpSpPr>
        <p:grpSpPr>
          <a:xfrm>
            <a:off x="7261860" y="2047875"/>
            <a:ext cx="3924300" cy="1783080"/>
            <a:chOff x="7261860" y="2047875"/>
            <a:chExt cx="3924300" cy="1783080"/>
          </a:xfrm>
        </p:grpSpPr>
        <p:sp>
          <p:nvSpPr>
            <p:cNvPr id="41" name="Freeform 41"/>
            <p:cNvSpPr/>
            <p:nvPr/>
          </p:nvSpPr>
          <p:spPr>
            <a:xfrm>
              <a:off x="7690485" y="2257425"/>
              <a:ext cx="3067050" cy="9525"/>
            </a:xfrm>
            <a:custGeom>
              <a:avLst/>
              <a:gdLst/>
              <a:ahLst/>
              <a:cxnLst/>
              <a:rect l="l" t="t" r="r" b="b"/>
              <a:pathLst>
                <a:path w="3067050" h="9525">
                  <a:moveTo>
                    <a:pt x="0" y="0"/>
                  </a:moveTo>
                  <a:lnTo>
                    <a:pt x="30670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471410" y="2476500"/>
              <a:ext cx="9525" cy="925830"/>
            </a:xfrm>
            <a:custGeom>
              <a:avLst/>
              <a:gdLst/>
              <a:ahLst/>
              <a:cxnLst/>
              <a:rect l="l" t="t" r="r" b="b"/>
              <a:pathLst>
                <a:path w="9525" h="925830">
                  <a:moveTo>
                    <a:pt x="0" y="0"/>
                  </a:moveTo>
                  <a:lnTo>
                    <a:pt x="0" y="9258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427845" y="2337435"/>
              <a:ext cx="1344930" cy="522923"/>
            </a:xfrm>
            <a:custGeom>
              <a:avLst/>
              <a:gdLst/>
              <a:ahLst/>
              <a:cxnLst/>
              <a:rect l="l" t="t" r="r" b="b"/>
              <a:pathLst>
                <a:path w="1344930" h="522923">
                  <a:moveTo>
                    <a:pt x="1344930" y="0"/>
                  </a:moveTo>
                  <a:lnTo>
                    <a:pt x="0" y="5229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976610" y="2476500"/>
              <a:ext cx="9525" cy="925830"/>
            </a:xfrm>
            <a:custGeom>
              <a:avLst/>
              <a:gdLst/>
              <a:ahLst/>
              <a:cxnLst/>
              <a:rect l="l" t="t" r="r" b="b"/>
              <a:pathLst>
                <a:path w="9525" h="925830">
                  <a:moveTo>
                    <a:pt x="0" y="0"/>
                  </a:moveTo>
                  <a:lnTo>
                    <a:pt x="0" y="9258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675245" y="3018472"/>
              <a:ext cx="1344930" cy="522923"/>
            </a:xfrm>
            <a:custGeom>
              <a:avLst/>
              <a:gdLst/>
              <a:ahLst/>
              <a:cxnLst/>
              <a:rect l="l" t="t" r="r" b="b"/>
              <a:pathLst>
                <a:path w="1344930" h="522923">
                  <a:moveTo>
                    <a:pt x="1344930" y="0"/>
                  </a:moveTo>
                  <a:lnTo>
                    <a:pt x="0" y="5229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427845" y="3018472"/>
              <a:ext cx="1344930" cy="522923"/>
            </a:xfrm>
            <a:custGeom>
              <a:avLst/>
              <a:gdLst/>
              <a:ahLst/>
              <a:cxnLst/>
              <a:rect l="l" t="t" r="r" b="b"/>
              <a:pathLst>
                <a:path w="1344930" h="522923">
                  <a:moveTo>
                    <a:pt x="0" y="0"/>
                  </a:moveTo>
                  <a:lnTo>
                    <a:pt x="1344930" y="5229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7261860" y="204787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10767060" y="204787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9014460" y="272986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7261860" y="341185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10767060" y="341185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72022" y="218313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877222" y="218313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24622" y="286512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72022" y="354615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877222" y="354615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v₅</a:t>
              </a:r>
            </a:p>
          </p:txBody>
        </p:sp>
      </p:grpSp>
      <p:grpSp>
        <p:nvGrpSpPr>
          <p:cNvPr id="65" name="c2-bullets-2"/>
          <p:cNvGrpSpPr/>
          <p:nvPr/>
        </p:nvGrpSpPr>
        <p:grpSpPr>
          <a:xfrm>
            <a:off x="6782181" y="4057174"/>
            <a:ext cx="4694428" cy="1547431"/>
            <a:chOff x="6782181" y="4057174"/>
            <a:chExt cx="4694428" cy="1547431"/>
          </a:xfrm>
        </p:grpSpPr>
        <p:sp>
          <p:nvSpPr>
            <p:cNvPr id="58" name="TextBox 58"/>
            <p:cNvSpPr txBox="1"/>
            <p:nvPr/>
          </p:nvSpPr>
          <p:spPr>
            <a:xfrm>
              <a:off x="6782181" y="405717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图与树的三点差别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797040" y="445579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953631" y="439626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不一定具有一个根结点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797040" y="478536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953631" y="472487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没有明显的父子关系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797040" y="51149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953631" y="505444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从一个顶点到另一个顶点可能有多条路径，也可能一条都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6" name="Rectangle 6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511" y="6004084"/>
              <a:ext cx="89990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图的应用极广，已经渗透到语言学、逻辑学、物理、化学、电讯工程、计算机科学以及数学的其它分支中。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75653" cy="909257"/>
            <a:chOff x="520446" y="342900"/>
            <a:chExt cx="90756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图的定义与基本术语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756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能抽象成“一批对象 + 两两之间的关系”的问题，都能画成图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graph-1"/>
          <p:cNvGrpSpPr/>
          <p:nvPr/>
        </p:nvGrpSpPr>
        <p:grpSpPr>
          <a:xfrm>
            <a:off x="900112" y="1617345"/>
            <a:ext cx="4442461" cy="2116455"/>
            <a:chOff x="900112" y="1617345"/>
            <a:chExt cx="4442461" cy="2116455"/>
          </a:xfrm>
        </p:grpSpPr>
        <p:sp>
          <p:nvSpPr>
            <p:cNvPr id="7" name="Freeform 7"/>
            <p:cNvSpPr/>
            <p:nvPr/>
          </p:nvSpPr>
          <p:spPr>
            <a:xfrm>
              <a:off x="1677352" y="1957388"/>
              <a:ext cx="1097280" cy="537210"/>
            </a:xfrm>
            <a:custGeom>
              <a:avLst/>
              <a:gdLst/>
              <a:ahLst/>
              <a:cxnLst/>
              <a:rect l="l" t="t" r="r" b="b"/>
              <a:pathLst>
                <a:path w="1097280" h="537210">
                  <a:moveTo>
                    <a:pt x="1097280" y="0"/>
                  </a:moveTo>
                  <a:lnTo>
                    <a:pt x="0" y="5372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21342" y="1957388"/>
              <a:ext cx="9525" cy="1436370"/>
            </a:xfrm>
            <a:custGeom>
              <a:avLst/>
              <a:gdLst/>
              <a:ahLst/>
              <a:cxnLst/>
              <a:rect l="l" t="t" r="r" b="b"/>
              <a:pathLst>
                <a:path w="9525" h="1436370">
                  <a:moveTo>
                    <a:pt x="0" y="0"/>
                  </a:moveTo>
                  <a:lnTo>
                    <a:pt x="0" y="14363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361372" y="1957388"/>
              <a:ext cx="1312545" cy="931545"/>
            </a:xfrm>
            <a:custGeom>
              <a:avLst/>
              <a:gdLst/>
              <a:ahLst/>
              <a:cxnLst/>
              <a:rect l="l" t="t" r="r" b="b"/>
              <a:pathLst>
                <a:path w="1312545" h="931545">
                  <a:moveTo>
                    <a:pt x="0" y="0"/>
                  </a:moveTo>
                  <a:lnTo>
                    <a:pt x="1312545" y="9315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59268" y="2432685"/>
              <a:ext cx="2724150" cy="200025"/>
            </a:xfrm>
            <a:custGeom>
              <a:avLst/>
              <a:gdLst/>
              <a:ahLst/>
              <a:cxnLst/>
              <a:rect l="l" t="t" r="r" b="b"/>
              <a:pathLst>
                <a:path w="2724150" h="200025">
                  <a:moveTo>
                    <a:pt x="0" y="200025"/>
                  </a:moveTo>
                  <a:lnTo>
                    <a:pt x="27241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759268" y="2711768"/>
              <a:ext cx="2724150" cy="300038"/>
            </a:xfrm>
            <a:custGeom>
              <a:avLst/>
              <a:gdLst/>
              <a:ahLst/>
              <a:cxnLst/>
              <a:rect l="l" t="t" r="r" b="b"/>
              <a:pathLst>
                <a:path w="2724150" h="300038">
                  <a:moveTo>
                    <a:pt x="0" y="0"/>
                  </a:moveTo>
                  <a:lnTo>
                    <a:pt x="2724150" y="3000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68780" y="2834640"/>
              <a:ext cx="1113473" cy="559117"/>
            </a:xfrm>
            <a:custGeom>
              <a:avLst/>
              <a:gdLst/>
              <a:ahLst/>
              <a:cxnLst/>
              <a:rect l="l" t="t" r="r" b="b"/>
              <a:pathLst>
                <a:path w="1113473" h="559117">
                  <a:moveTo>
                    <a:pt x="0" y="0"/>
                  </a:moveTo>
                  <a:lnTo>
                    <a:pt x="1113473" y="5591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691765" y="1617345"/>
              <a:ext cx="859155" cy="340042"/>
            </a:xfrm>
            <a:prstGeom prst="roundRect">
              <a:avLst>
                <a:gd name="adj" fmla="val 28011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83418" y="2231708"/>
              <a:ext cx="859155" cy="340042"/>
            </a:xfrm>
            <a:prstGeom prst="roundRect">
              <a:avLst>
                <a:gd name="adj" fmla="val 28011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900112" y="2494598"/>
              <a:ext cx="859155" cy="340042"/>
            </a:xfrm>
            <a:prstGeom prst="roundRect">
              <a:avLst>
                <a:gd name="adj" fmla="val 28011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483418" y="2888932"/>
              <a:ext cx="859155" cy="340042"/>
            </a:xfrm>
            <a:prstGeom prst="roundRect">
              <a:avLst>
                <a:gd name="adj" fmla="val 28011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691765" y="3393758"/>
              <a:ext cx="859155" cy="340042"/>
            </a:xfrm>
            <a:prstGeom prst="roundRect">
              <a:avLst>
                <a:gd name="adj" fmla="val 28011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984462" y="172640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北京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77067" y="23407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天津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92809" y="260365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77067" y="29989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84462" y="350377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广州</a:t>
              </a:r>
            </a:p>
          </p:txBody>
        </p:sp>
      </p:grpSp>
      <p:grpSp>
        <p:nvGrpSpPr>
          <p:cNvPr id="25" name="c1-text-2"/>
          <p:cNvGrpSpPr/>
          <p:nvPr/>
        </p:nvGrpSpPr>
        <p:grpSpPr>
          <a:xfrm>
            <a:off x="642557" y="3917632"/>
            <a:ext cx="4759452" cy="470916"/>
            <a:chOff x="642557" y="3917632"/>
            <a:chExt cx="4759452" cy="470916"/>
          </a:xfrm>
        </p:grpSpPr>
        <p:sp>
          <p:nvSpPr>
            <p:cNvPr id="24" name="TextBox 24"/>
            <p:cNvSpPr txBox="1"/>
            <p:nvPr/>
          </p:nvSpPr>
          <p:spPr>
            <a:xfrm>
              <a:off x="642557" y="3917632"/>
              <a:ext cx="475945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城市航线网：顶点是城市，边是直达航线。上海接了 4 条，天津只接了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条。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5815965" y="1524000"/>
            <a:ext cx="5842635" cy="2546985"/>
            <a:chOff x="5815965" y="1524000"/>
            <a:chExt cx="5842635" cy="2546985"/>
          </a:xfrm>
        </p:grpSpPr>
        <p:sp>
          <p:nvSpPr>
            <p:cNvPr id="26" name="Rectangle 26"/>
            <p:cNvSpPr/>
            <p:nvPr/>
          </p:nvSpPr>
          <p:spPr>
            <a:xfrm>
              <a:off x="5815965" y="1524000"/>
              <a:ext cx="584263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4936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84389" y="16525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顶点是什么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85438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边是什么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18454" y="20764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城市航线网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20534" y="20764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城市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73134" y="207645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两城之间有直达航班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815965" y="23679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815965" y="2372678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18454" y="250126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计算机网络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20534" y="250126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73134" y="250126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两台机器之间有线路相连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815965" y="279273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18454" y="292608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高速公路网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20534" y="29260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城市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73134" y="292608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两城之间的一条高速公路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815965" y="32165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815965" y="3221355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18454" y="33499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社交网络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20534" y="33499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73134" y="3349942"/>
              <a:ext cx="2529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好友关系：QQ、微信、微博、抖音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15965" y="364140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18454" y="377475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地图导航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20534" y="377475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73134" y="3774757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一段道路，边上还要带距离或时间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815965" y="1524000"/>
              <a:ext cx="5842635" cy="25469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213282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965882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ard-2"/>
          <p:cNvGrpSpPr/>
          <p:nvPr/>
        </p:nvGrpSpPr>
        <p:grpSpPr>
          <a:xfrm>
            <a:off x="5815965" y="4251008"/>
            <a:ext cx="5842635" cy="1840230"/>
            <a:chOff x="5815965" y="4251008"/>
            <a:chExt cx="5842635" cy="1840230"/>
          </a:xfrm>
        </p:grpSpPr>
        <p:sp>
          <p:nvSpPr>
            <p:cNvPr id="55" name="Rectangle 55"/>
            <p:cNvSpPr/>
            <p:nvPr/>
          </p:nvSpPr>
          <p:spPr>
            <a:xfrm>
              <a:off x="5815965" y="4251008"/>
              <a:ext cx="5842635" cy="1840230"/>
            </a:xfrm>
            <a:prstGeom prst="roundRect">
              <a:avLst>
                <a:gd name="adj" fmla="val 724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014085" y="444912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05525" y="448341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021705" y="487013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178296" y="4809649"/>
              <a:ext cx="491972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顶点之间的关系一旦不是“一个接一个”或“一层套一层”，就只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能用图描述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021705" y="5458777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178296" y="5399246"/>
              <a:ext cx="493776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允许在两个城市之间修多条高速公路时，得到的图有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重边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，属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于下一页要说的多重图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图的定义与基本术语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图的定义：顶点集非空，边集有穷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649730"/>
            <a:chOff x="533400" y="1524000"/>
            <a:chExt cx="5626418" cy="16497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49730"/>
            </a:xfrm>
            <a:prstGeom prst="roundRect">
              <a:avLst>
                <a:gd name="adj" fmla="val 80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8303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15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 G = (V, E)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6459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 G 由两个集合 V 和 E 组成，记为 G = (V, E)。其中 V 是顶点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（Vertex）的有穷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非空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集合，E 是连接 V 中两个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不同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顶点的边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（Edge）的有穷集合。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7141" y="2827973"/>
              <a:ext cx="29529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 G 的顶点集和边集分别记为 V(G) 和 E(G)。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338512"/>
            <a:ext cx="5626418" cy="1202055"/>
            <a:chOff x="533400" y="3338512"/>
            <a:chExt cx="5626418" cy="1202055"/>
          </a:xfrm>
        </p:grpSpPr>
        <p:sp>
          <p:nvSpPr>
            <p:cNvPr id="15" name="Rectangle 15"/>
            <p:cNvSpPr/>
            <p:nvPr/>
          </p:nvSpPr>
          <p:spPr>
            <a:xfrm>
              <a:off x="533400" y="3338512"/>
              <a:ext cx="5626418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471862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2475" y="35194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5147" y="35523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18450" y="355901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有向图与无向图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2000" y="392811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7448" y="3875246"/>
              <a:ext cx="5061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若图中的边限定为从一个顶点指向另一个顶点，则称此图为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有向图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2000" y="421290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7448" y="4160044"/>
              <a:ext cx="29939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若图中的边无方向性，则称之为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无向图</a:t>
              </a:r>
            </a:p>
          </p:txBody>
        </p:sp>
      </p:grpSp>
      <p:grpSp>
        <p:nvGrpSpPr>
          <p:cNvPr id="30" name="c1-card-3"/>
          <p:cNvGrpSpPr/>
          <p:nvPr/>
        </p:nvGrpSpPr>
        <p:grpSpPr>
          <a:xfrm>
            <a:off x="533400" y="4705350"/>
            <a:ext cx="5626418" cy="1561148"/>
            <a:chOff x="533400" y="4705350"/>
            <a:chExt cx="5626418" cy="1561148"/>
          </a:xfrm>
        </p:grpSpPr>
        <p:sp>
          <p:nvSpPr>
            <p:cNvPr id="25" name="Rectangle 25"/>
            <p:cNvSpPr/>
            <p:nvPr/>
          </p:nvSpPr>
          <p:spPr>
            <a:xfrm>
              <a:off x="533400" y="4705350"/>
              <a:ext cx="5626418" cy="1561148"/>
            </a:xfrm>
            <a:prstGeom prst="roundRect">
              <a:avLst>
                <a:gd name="adj" fmla="val 85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838700"/>
              <a:ext cx="47625" cy="12944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2475" y="488632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5147" y="491918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5998" y="5226844"/>
              <a:ext cx="500354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定义里“连接两个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不同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顶点”这一句已经排除了自环，所以下一页讲的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自环只在放宽了的定义下才存在。本课程只讨论简单图，两种说法不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会冲突。</a:t>
              </a:r>
            </a:p>
          </p:txBody>
        </p:sp>
      </p:grpSp>
      <p:grpSp>
        <p:nvGrpSpPr>
          <p:cNvPr id="39" name="c2-graph-1"/>
          <p:cNvGrpSpPr/>
          <p:nvPr/>
        </p:nvGrpSpPr>
        <p:grpSpPr>
          <a:xfrm>
            <a:off x="7206882" y="1549241"/>
            <a:ext cx="3709454" cy="912019"/>
            <a:chOff x="7206882" y="1549241"/>
            <a:chExt cx="3709454" cy="912019"/>
          </a:xfrm>
        </p:grpSpPr>
        <p:sp>
          <p:nvSpPr>
            <p:cNvPr id="31" name="Freeform 31"/>
            <p:cNvSpPr/>
            <p:nvPr/>
          </p:nvSpPr>
          <p:spPr>
            <a:xfrm>
              <a:off x="7845742" y="2232660"/>
              <a:ext cx="2336482" cy="9525"/>
            </a:xfrm>
            <a:custGeom>
              <a:avLst/>
              <a:gdLst/>
              <a:ahLst/>
              <a:cxnLst/>
              <a:rect l="l" t="t" r="r" b="b"/>
              <a:pathLst>
                <a:path w="2336482" h="9525">
                  <a:moveTo>
                    <a:pt x="0" y="0"/>
                  </a:moveTo>
                  <a:lnTo>
                    <a:pt x="23364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0182225" y="21850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7379018" y="2004060"/>
              <a:ext cx="4572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0287000" y="2004060"/>
              <a:ext cx="4572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46627" y="2166938"/>
              <a:ext cx="1219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69451" y="216693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06882" y="154924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弧尾（始点）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114864" y="154924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弧头（终点）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464618" y="3106102"/>
            <a:ext cx="5193982" cy="1160145"/>
            <a:chOff x="6464618" y="3106102"/>
            <a:chExt cx="5193982" cy="1160145"/>
          </a:xfrm>
        </p:grpSpPr>
        <p:sp>
          <p:nvSpPr>
            <p:cNvPr id="40" name="Rectangle 40"/>
            <p:cNvSpPr/>
            <p:nvPr/>
          </p:nvSpPr>
          <p:spPr>
            <a:xfrm>
              <a:off x="6464618" y="3106102"/>
              <a:ext cx="5193982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4142" y="323945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83692" y="328707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76364" y="33199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50620" y="33266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有向边（弧）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77216" y="3642836"/>
              <a:ext cx="44833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G = (V, E) 是有向图，则它的一条有向边是由 V 中两个顶点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构成的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有序对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，亦称为弧，记为 &lt;w, v&gt;。</a:t>
              </a:r>
            </a:p>
          </p:txBody>
        </p:sp>
      </p:grpSp>
      <p:grpSp>
        <p:nvGrpSpPr>
          <p:cNvPr id="55" name="c2-kv-3"/>
          <p:cNvGrpSpPr/>
          <p:nvPr/>
        </p:nvGrpSpPr>
        <p:grpSpPr>
          <a:xfrm>
            <a:off x="6458141" y="4451509"/>
            <a:ext cx="5200459" cy="998029"/>
            <a:chOff x="6458141" y="4451509"/>
            <a:chExt cx="5200459" cy="998029"/>
          </a:xfrm>
        </p:grpSpPr>
        <p:sp>
          <p:nvSpPr>
            <p:cNvPr id="47" name="TextBox 47"/>
            <p:cNvSpPr txBox="1"/>
            <p:nvPr/>
          </p:nvSpPr>
          <p:spPr>
            <a:xfrm>
              <a:off x="6458141" y="4451509"/>
              <a:ext cx="6009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&lt;w, v&gt;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83958" y="4451509"/>
              <a:ext cx="2752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有向边（弧），w 是始点，v 是终点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64618" y="472344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58141" y="4825841"/>
              <a:ext cx="1486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83958" y="482584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边的始点，又称弧尾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64618" y="509778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458141" y="52001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83958" y="520017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边的终点，又称弧头</a:t>
              </a:r>
            </a:p>
          </p:txBody>
        </p:sp>
      </p:grpSp>
      <p:grpSp>
        <p:nvGrpSpPr>
          <p:cNvPr id="62" name="c2-callout-4"/>
          <p:cNvGrpSpPr/>
          <p:nvPr/>
        </p:nvGrpSpPr>
        <p:grpSpPr>
          <a:xfrm>
            <a:off x="6464618" y="5563552"/>
            <a:ext cx="5193982" cy="702945"/>
            <a:chOff x="6464618" y="5563552"/>
            <a:chExt cx="5193982" cy="702945"/>
          </a:xfrm>
        </p:grpSpPr>
        <p:sp>
          <p:nvSpPr>
            <p:cNvPr id="56" name="Rectangle 56"/>
            <p:cNvSpPr/>
            <p:nvPr/>
          </p:nvSpPr>
          <p:spPr>
            <a:xfrm>
              <a:off x="6464618" y="5563552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669405" y="5815013"/>
              <a:ext cx="200026" cy="200025"/>
              <a:chOff x="6669405" y="5815013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669405" y="58150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709144" y="58594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743859" y="59705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972491" y="5708809"/>
              <a:ext cx="42476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读有向边时固定说“从 w 到 v”，不要说“w 和 v 之间有一条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边”，后者会丢掉方向信息。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88372" cy="909257"/>
            <a:chOff x="520446" y="342900"/>
            <a:chExt cx="85883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图的定义与基本术语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883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同一批顶点，画成无向图还是有向图，E 的写法完全不同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graph-1"/>
          <p:cNvGrpSpPr/>
          <p:nvPr/>
        </p:nvGrpSpPr>
        <p:grpSpPr>
          <a:xfrm>
            <a:off x="1081088" y="1632585"/>
            <a:ext cx="4314824" cy="1848803"/>
            <a:chOff x="1081088" y="1632585"/>
            <a:chExt cx="4314824" cy="1848803"/>
          </a:xfrm>
        </p:grpSpPr>
        <p:sp>
          <p:nvSpPr>
            <p:cNvPr id="7" name="Freeform 7"/>
            <p:cNvSpPr/>
            <p:nvPr/>
          </p:nvSpPr>
          <p:spPr>
            <a:xfrm>
              <a:off x="1509712" y="1842135"/>
              <a:ext cx="3457575" cy="9525"/>
            </a:xfrm>
            <a:custGeom>
              <a:avLst/>
              <a:gdLst/>
              <a:ahLst/>
              <a:cxnLst/>
              <a:rect l="l" t="t" r="r" b="b"/>
              <a:pathLst>
                <a:path w="3457575" h="9525">
                  <a:moveTo>
                    <a:pt x="0" y="0"/>
                  </a:moveTo>
                  <a:lnTo>
                    <a:pt x="34575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290638" y="2061210"/>
              <a:ext cx="9525" cy="991552"/>
            </a:xfrm>
            <a:custGeom>
              <a:avLst/>
              <a:gdLst/>
              <a:ahLst/>
              <a:cxnLst/>
              <a:rect l="l" t="t" r="r" b="b"/>
              <a:pathLst>
                <a:path w="9525" h="991552">
                  <a:moveTo>
                    <a:pt x="0" y="0"/>
                  </a:moveTo>
                  <a:lnTo>
                    <a:pt x="0" y="9915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444240" y="1917382"/>
              <a:ext cx="1536382" cy="563880"/>
            </a:xfrm>
            <a:custGeom>
              <a:avLst/>
              <a:gdLst/>
              <a:ahLst/>
              <a:cxnLst/>
              <a:rect l="l" t="t" r="r" b="b"/>
              <a:pathLst>
                <a:path w="1536382" h="563880">
                  <a:moveTo>
                    <a:pt x="1536382" y="0"/>
                  </a:moveTo>
                  <a:lnTo>
                    <a:pt x="0" y="5638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186362" y="2061210"/>
              <a:ext cx="9525" cy="991552"/>
            </a:xfrm>
            <a:custGeom>
              <a:avLst/>
              <a:gdLst/>
              <a:ahLst/>
              <a:cxnLst/>
              <a:rect l="l" t="t" r="r" b="b"/>
              <a:pathLst>
                <a:path w="9525" h="991552">
                  <a:moveTo>
                    <a:pt x="0" y="0"/>
                  </a:moveTo>
                  <a:lnTo>
                    <a:pt x="0" y="9915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496378" y="2632710"/>
              <a:ext cx="1536382" cy="563880"/>
            </a:xfrm>
            <a:custGeom>
              <a:avLst/>
              <a:gdLst/>
              <a:ahLst/>
              <a:cxnLst/>
              <a:rect l="l" t="t" r="r" b="b"/>
              <a:pathLst>
                <a:path w="1536382" h="563880">
                  <a:moveTo>
                    <a:pt x="1536382" y="0"/>
                  </a:moveTo>
                  <a:lnTo>
                    <a:pt x="0" y="5638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444240" y="2632710"/>
              <a:ext cx="1536382" cy="563880"/>
            </a:xfrm>
            <a:custGeom>
              <a:avLst/>
              <a:gdLst/>
              <a:ahLst/>
              <a:cxnLst/>
              <a:rect l="l" t="t" r="r" b="b"/>
              <a:pathLst>
                <a:path w="1536382" h="563880">
                  <a:moveTo>
                    <a:pt x="0" y="0"/>
                  </a:moveTo>
                  <a:lnTo>
                    <a:pt x="1536382" y="5638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081088" y="163258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4976812" y="163258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028950" y="234696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81088" y="306228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976812" y="306228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91250" y="17668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86975" y="17668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39112" y="248221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91250" y="31975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86975" y="31975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v₅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3695700"/>
            <a:ext cx="5410200" cy="1876425"/>
            <a:chOff x="533400" y="3695700"/>
            <a:chExt cx="5410200" cy="1876425"/>
          </a:xfrm>
        </p:grpSpPr>
        <p:sp>
          <p:nvSpPr>
            <p:cNvPr id="24" name="Rectangle 24"/>
            <p:cNvSpPr/>
            <p:nvPr/>
          </p:nvSpPr>
          <p:spPr>
            <a:xfrm>
              <a:off x="533400" y="3695700"/>
              <a:ext cx="5410200" cy="1876425"/>
            </a:xfrm>
            <a:prstGeom prst="roundRect">
              <a:avLst>
                <a:gd name="adj" fmla="val 71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3829050"/>
              <a:ext cx="47625" cy="16097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75335" y="38995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1593" y="39352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无向图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8096" y="4272439"/>
              <a:ext cx="22721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= {v₁, v₂, v₃, v₄, v₅}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8096" y="4592479"/>
              <a:ext cx="460413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{(v₁,v₄), (v₁,v₂), (v₂,v₃), (v₂,v₅), (v₃,v₄),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(v₃,v₅)}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9239" y="5180648"/>
              <a:ext cx="4955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共 5 个顶点、6 条边。(v₁,v₄) 与 (v₄,v₁) 是同一条边，只写一次。</a:t>
              </a:r>
            </a:p>
          </p:txBody>
        </p:sp>
      </p:grpSp>
      <p:grpSp>
        <p:nvGrpSpPr>
          <p:cNvPr id="48" name="c2-graph-1"/>
          <p:cNvGrpSpPr/>
          <p:nvPr/>
        </p:nvGrpSpPr>
        <p:grpSpPr>
          <a:xfrm>
            <a:off x="6904672" y="1671638"/>
            <a:ext cx="4097656" cy="1690687"/>
            <a:chOff x="6904672" y="1671638"/>
            <a:chExt cx="4097656" cy="1690687"/>
          </a:xfrm>
        </p:grpSpPr>
        <p:sp>
          <p:nvSpPr>
            <p:cNvPr id="32" name="Freeform 32"/>
            <p:cNvSpPr/>
            <p:nvPr/>
          </p:nvSpPr>
          <p:spPr>
            <a:xfrm>
              <a:off x="7333298" y="1881188"/>
              <a:ext cx="3145155" cy="9525"/>
            </a:xfrm>
            <a:custGeom>
              <a:avLst/>
              <a:gdLst/>
              <a:ahLst/>
              <a:cxnLst/>
              <a:rect l="l" t="t" r="r" b="b"/>
              <a:pathLst>
                <a:path w="3145155" h="9525">
                  <a:moveTo>
                    <a:pt x="0" y="0"/>
                  </a:moveTo>
                  <a:lnTo>
                    <a:pt x="31451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478452" y="18335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114222" y="2100262"/>
              <a:ext cx="9525" cy="738188"/>
            </a:xfrm>
            <a:custGeom>
              <a:avLst/>
              <a:gdLst/>
              <a:ahLst/>
              <a:cxnLst/>
              <a:rect l="l" t="t" r="r" b="b"/>
              <a:pathLst>
                <a:path w="9525" h="738188">
                  <a:moveTo>
                    <a:pt x="0" y="0"/>
                  </a:moveTo>
                  <a:lnTo>
                    <a:pt x="0" y="7381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066598" y="28384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7333298" y="3152775"/>
              <a:ext cx="3145155" cy="9525"/>
            </a:xfrm>
            <a:custGeom>
              <a:avLst/>
              <a:gdLst/>
              <a:ahLst/>
              <a:cxnLst/>
              <a:rect l="l" t="t" r="r" b="b"/>
              <a:pathLst>
                <a:path w="3145155" h="9525">
                  <a:moveTo>
                    <a:pt x="0" y="0"/>
                  </a:moveTo>
                  <a:lnTo>
                    <a:pt x="31451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478452" y="31051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7411402" y="1984058"/>
              <a:ext cx="3174683" cy="1097280"/>
            </a:xfrm>
            <a:custGeom>
              <a:avLst/>
              <a:gdLst/>
              <a:ahLst/>
              <a:cxnLst/>
              <a:rect l="l" t="t" r="r" b="b"/>
              <a:pathLst>
                <a:path w="3174683" h="1097280">
                  <a:moveTo>
                    <a:pt x="3174683" y="109728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320915" y="1939290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0" y="14288"/>
                  </a:moveTo>
                  <a:lnTo>
                    <a:pt x="105728" y="0"/>
                  </a:lnTo>
                  <a:lnTo>
                    <a:pt x="74295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904672" y="167163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10583228" y="167163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6904672" y="294322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0583228" y="294322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14835" y="1806893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693390" y="1806893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14835" y="307848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693390" y="307848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248400" y="3695700"/>
            <a:ext cx="5410200" cy="1876425"/>
            <a:chOff x="6248400" y="3695700"/>
            <a:chExt cx="5410200" cy="1876425"/>
          </a:xfrm>
        </p:grpSpPr>
        <p:sp>
          <p:nvSpPr>
            <p:cNvPr id="49" name="Rectangle 49"/>
            <p:cNvSpPr/>
            <p:nvPr/>
          </p:nvSpPr>
          <p:spPr>
            <a:xfrm>
              <a:off x="6248400" y="3695700"/>
              <a:ext cx="5410200" cy="1876425"/>
            </a:xfrm>
            <a:prstGeom prst="roundRect">
              <a:avLst>
                <a:gd name="adj" fmla="val 71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3829050"/>
              <a:ext cx="47625" cy="16097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90335" y="38995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76593" y="39352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有向图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83096" y="4272439"/>
              <a:ext cx="18993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= {v₁, v₂, v₃, v₄}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83096" y="4592479"/>
              <a:ext cx="40060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{&lt;v₁,v₂&gt;, &lt;v₁,v₃&gt;, &lt;v₃,v₄&gt;, &lt;v₄,v₁&gt;}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84239" y="4909185"/>
              <a:ext cx="46756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共 4 个顶点、4 条弧。&lt;v₁,v₂&gt; 与 &lt;v₂,v₁&gt; 是两条不同的弧，本图只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有前者。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7" name="Rectangle 5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511" y="6004084"/>
              <a:ext cx="72785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括号形状不能混用：无向边写圆括号且与次序无关，有向边写尖括号且次序决定方向。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67559" cy="909257"/>
            <a:chOff x="520446" y="342900"/>
            <a:chExt cx="87675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图的定义与基本术语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675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邻接：无向图说“相邻”，有向图要分“邻接到”和“邻接自”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621155"/>
            <a:chOff x="533400" y="1524000"/>
            <a:chExt cx="5410200" cy="1621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无向图中的邻接顶点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7015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在一个无向图中，若存在一条边 (w, v)，则称 w、v 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此边的两个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端点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，它们是相邻的，并称它们互为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邻接顶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点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6" name="c1-graph-2"/>
          <p:cNvGrpSpPr/>
          <p:nvPr/>
        </p:nvGrpSpPr>
        <p:grpSpPr>
          <a:xfrm>
            <a:off x="1415415" y="3481388"/>
            <a:ext cx="3646170" cy="1311592"/>
            <a:chOff x="1415415" y="3481388"/>
            <a:chExt cx="3646170" cy="1311592"/>
          </a:xfrm>
        </p:grpSpPr>
        <p:sp>
          <p:nvSpPr>
            <p:cNvPr id="14" name="Freeform 14"/>
            <p:cNvSpPr/>
            <p:nvPr/>
          </p:nvSpPr>
          <p:spPr>
            <a:xfrm>
              <a:off x="1824990" y="3681412"/>
              <a:ext cx="2827020" cy="9525"/>
            </a:xfrm>
            <a:custGeom>
              <a:avLst/>
              <a:gdLst/>
              <a:ahLst/>
              <a:cxnLst/>
              <a:rect l="l" t="t" r="r" b="b"/>
              <a:pathLst>
                <a:path w="2827020" h="9525">
                  <a:moveTo>
                    <a:pt x="0" y="0"/>
                  </a:moveTo>
                  <a:lnTo>
                    <a:pt x="28270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615440" y="3890962"/>
              <a:ext cx="9525" cy="492442"/>
            </a:xfrm>
            <a:custGeom>
              <a:avLst/>
              <a:gdLst/>
              <a:ahLst/>
              <a:cxnLst/>
              <a:rect l="l" t="t" r="r" b="b"/>
              <a:pathLst>
                <a:path w="9525" h="492442">
                  <a:moveTo>
                    <a:pt x="0" y="0"/>
                  </a:moveTo>
                  <a:lnTo>
                    <a:pt x="0" y="4924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861560" y="3890962"/>
              <a:ext cx="9525" cy="492442"/>
            </a:xfrm>
            <a:custGeom>
              <a:avLst/>
              <a:gdLst/>
              <a:ahLst/>
              <a:cxnLst/>
              <a:rect l="l" t="t" r="r" b="b"/>
              <a:pathLst>
                <a:path w="9525" h="492442">
                  <a:moveTo>
                    <a:pt x="0" y="0"/>
                  </a:moveTo>
                  <a:lnTo>
                    <a:pt x="0" y="4924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817370" y="3737610"/>
              <a:ext cx="2842260" cy="799148"/>
            </a:xfrm>
            <a:custGeom>
              <a:avLst/>
              <a:gdLst/>
              <a:ahLst/>
              <a:cxnLst/>
              <a:rect l="l" t="t" r="r" b="b"/>
              <a:pathLst>
                <a:path w="2842260" h="799148">
                  <a:moveTo>
                    <a:pt x="0" y="0"/>
                  </a:moveTo>
                  <a:lnTo>
                    <a:pt x="2842260" y="79914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415415" y="3481388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661535" y="3481388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415415" y="439293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4661535" y="439293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516052" y="3607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62172" y="3607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16052" y="45186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62172" y="45186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</p:grpSp>
      <p:grpSp>
        <p:nvGrpSpPr>
          <p:cNvPr id="32" name="c1-callout-3"/>
          <p:cNvGrpSpPr/>
          <p:nvPr/>
        </p:nvGrpSpPr>
        <p:grpSpPr>
          <a:xfrm>
            <a:off x="533400" y="5097780"/>
            <a:ext cx="5410200" cy="782955"/>
            <a:chOff x="533400" y="5097780"/>
            <a:chExt cx="5410200" cy="782955"/>
          </a:xfrm>
        </p:grpSpPr>
        <p:sp>
          <p:nvSpPr>
            <p:cNvPr id="27" name="Rectangle 27"/>
            <p:cNvSpPr/>
            <p:nvPr/>
          </p:nvSpPr>
          <p:spPr>
            <a:xfrm>
              <a:off x="533400" y="509778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389247"/>
              <a:ext cx="200023" cy="200023"/>
              <a:chOff x="738188" y="5389247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3892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1538" y="54559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5246370"/>
              <a:ext cx="4472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v₁ 的邻接顶点是 v₂、v₃、v₄；关系是对称的，v₂ 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邻接顶点里也一定有 v₁。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248400" y="1524000"/>
            <a:ext cx="5410200" cy="1335405"/>
            <a:chOff x="6248400" y="1524000"/>
            <a:chExt cx="5410200" cy="1335405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97078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有向图中的邻接顶点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88430" y="2129790"/>
              <a:ext cx="4758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在一个有向图中，若存在一条边 &lt;w, v&gt;，则称顶点 w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邻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接到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顶点 v，顶点 v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邻接自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顶点 w。</a:t>
              </a:r>
            </a:p>
          </p:txBody>
        </p:sp>
      </p:grpSp>
      <p:grpSp>
        <p:nvGrpSpPr>
          <p:cNvPr id="54" name="c2-graph-2"/>
          <p:cNvGrpSpPr/>
          <p:nvPr/>
        </p:nvGrpSpPr>
        <p:grpSpPr>
          <a:xfrm>
            <a:off x="7130415" y="3195638"/>
            <a:ext cx="3646170" cy="1311592"/>
            <a:chOff x="7130415" y="3195638"/>
            <a:chExt cx="3646170" cy="1311592"/>
          </a:xfrm>
        </p:grpSpPr>
        <p:sp>
          <p:nvSpPr>
            <p:cNvPr id="40" name="Freeform 40"/>
            <p:cNvSpPr/>
            <p:nvPr/>
          </p:nvSpPr>
          <p:spPr>
            <a:xfrm>
              <a:off x="7539990" y="3395662"/>
              <a:ext cx="2731770" cy="9525"/>
            </a:xfrm>
            <a:custGeom>
              <a:avLst/>
              <a:gdLst/>
              <a:ahLst/>
              <a:cxnLst/>
              <a:rect l="l" t="t" r="r" b="b"/>
              <a:pathLst>
                <a:path w="2731770" h="9525">
                  <a:moveTo>
                    <a:pt x="0" y="0"/>
                  </a:moveTo>
                  <a:lnTo>
                    <a:pt x="27317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271760" y="33480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7532370" y="3451860"/>
              <a:ext cx="2750820" cy="772478"/>
            </a:xfrm>
            <a:custGeom>
              <a:avLst/>
              <a:gdLst/>
              <a:ahLst/>
              <a:cxnLst/>
              <a:rect l="l" t="t" r="r" b="b"/>
              <a:pathLst>
                <a:path w="2750820" h="772478">
                  <a:moveTo>
                    <a:pt x="0" y="0"/>
                  </a:moveTo>
                  <a:lnTo>
                    <a:pt x="2750820" y="7724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269855" y="4178618"/>
              <a:ext cx="104775" cy="92392"/>
            </a:xfrm>
            <a:custGeom>
              <a:avLst/>
              <a:gdLst/>
              <a:ahLst/>
              <a:cxnLst/>
              <a:rect l="l" t="t" r="r" b="b"/>
              <a:pathLst>
                <a:path w="104775" h="92392">
                  <a:moveTo>
                    <a:pt x="104775" y="72390"/>
                  </a:moveTo>
                  <a:lnTo>
                    <a:pt x="0" y="92392"/>
                  </a:lnTo>
                  <a:lnTo>
                    <a:pt x="2571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7539990" y="4307205"/>
              <a:ext cx="2731770" cy="9525"/>
            </a:xfrm>
            <a:custGeom>
              <a:avLst/>
              <a:gdLst/>
              <a:ahLst/>
              <a:cxnLst/>
              <a:rect l="l" t="t" r="r" b="b"/>
              <a:pathLst>
                <a:path w="2731770" h="9525">
                  <a:moveTo>
                    <a:pt x="0" y="0"/>
                  </a:moveTo>
                  <a:lnTo>
                    <a:pt x="27317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271760" y="42595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7130415" y="3195638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10376535" y="3195638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7130415" y="410718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10376535" y="410718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31052" y="33213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477172" y="33213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31052" y="42329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477172" y="42329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</p:grpSp>
      <p:grpSp>
        <p:nvGrpSpPr>
          <p:cNvPr id="61" name="c2-callout-3"/>
          <p:cNvGrpSpPr/>
          <p:nvPr/>
        </p:nvGrpSpPr>
        <p:grpSpPr>
          <a:xfrm>
            <a:off x="6248400" y="4812030"/>
            <a:ext cx="5410200" cy="1068705"/>
            <a:chOff x="6248400" y="4812030"/>
            <a:chExt cx="5410200" cy="1068705"/>
          </a:xfrm>
        </p:grpSpPr>
        <p:sp>
          <p:nvSpPr>
            <p:cNvPr id="55" name="Rectangle 55"/>
            <p:cNvSpPr/>
            <p:nvPr/>
          </p:nvSpPr>
          <p:spPr>
            <a:xfrm>
              <a:off x="6248400" y="4812030"/>
              <a:ext cx="5410200" cy="1068705"/>
            </a:xfrm>
            <a:prstGeom prst="roundRect">
              <a:avLst>
                <a:gd name="adj" fmla="val 1069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441129" y="5242678"/>
              <a:ext cx="224134" cy="192560"/>
              <a:chOff x="6441129" y="5242678"/>
              <a:chExt cx="224134" cy="19256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553200" y="531304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441129" y="524267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553200" y="53908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755130" y="5103495"/>
              <a:ext cx="41871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v₁ 邻接到 v₂，但 v₂ 并不邻接到 v₁。关系不再对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称，读的时候要顺着箭头方向说。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图的定义与基本术语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重边与自环：本课程只讨论简单图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graph-1"/>
          <p:cNvGrpSpPr/>
          <p:nvPr/>
        </p:nvGrpSpPr>
        <p:grpSpPr>
          <a:xfrm>
            <a:off x="1117918" y="1896428"/>
            <a:ext cx="4040822" cy="1951672"/>
            <a:chOff x="1117918" y="1896428"/>
            <a:chExt cx="4040822" cy="1951672"/>
          </a:xfrm>
        </p:grpSpPr>
        <p:sp>
          <p:nvSpPr>
            <p:cNvPr id="7" name="Freeform 7"/>
            <p:cNvSpPr/>
            <p:nvPr/>
          </p:nvSpPr>
          <p:spPr>
            <a:xfrm>
              <a:off x="1117918" y="2276475"/>
              <a:ext cx="317500" cy="1191578"/>
            </a:xfrm>
            <a:custGeom>
              <a:avLst/>
              <a:gdLst/>
              <a:ahLst/>
              <a:cxnLst/>
              <a:rect l="l" t="t" r="r" b="b"/>
              <a:pathLst>
                <a:path w="317500" h="1191578">
                  <a:moveTo>
                    <a:pt x="317500" y="0"/>
                  </a:moveTo>
                  <a:cubicBezTo>
                    <a:pt x="0" y="397510"/>
                    <a:pt x="0" y="794702"/>
                    <a:pt x="317500" y="119157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708785" y="2276475"/>
              <a:ext cx="317500" cy="1191578"/>
            </a:xfrm>
            <a:custGeom>
              <a:avLst/>
              <a:gdLst/>
              <a:ahLst/>
              <a:cxnLst/>
              <a:rect l="l" t="t" r="r" b="b"/>
              <a:pathLst>
                <a:path w="317500" h="1191578">
                  <a:moveTo>
                    <a:pt x="0" y="0"/>
                  </a:moveTo>
                  <a:cubicBezTo>
                    <a:pt x="317500" y="397510"/>
                    <a:pt x="317500" y="794702"/>
                    <a:pt x="0" y="119157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690110" y="2576512"/>
              <a:ext cx="468630" cy="643890"/>
            </a:xfrm>
            <a:custGeom>
              <a:avLst/>
              <a:gdLst/>
              <a:ahLst/>
              <a:cxnLst/>
              <a:rect l="l" t="t" r="r" b="b"/>
              <a:pathLst>
                <a:path w="468630" h="643890">
                  <a:moveTo>
                    <a:pt x="0" y="227647"/>
                  </a:moveTo>
                  <a:cubicBezTo>
                    <a:pt x="468630" y="0"/>
                    <a:pt x="468630" y="643890"/>
                    <a:pt x="0" y="41624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363028" y="189642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363028" y="342900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4271010" y="268890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79790" y="203596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79790" y="356854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87773" y="282844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67940" y="27593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37698" y="22298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自环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342448"/>
            <a:ext cx="5193982" cy="1277302"/>
            <a:chOff x="533400" y="4342448"/>
            <a:chExt cx="5193982" cy="1277302"/>
          </a:xfrm>
        </p:grpSpPr>
        <p:sp>
          <p:nvSpPr>
            <p:cNvPr id="19" name="Rectangle 19"/>
            <p:cNvSpPr/>
            <p:nvPr/>
          </p:nvSpPr>
          <p:spPr>
            <a:xfrm>
              <a:off x="533400" y="4342448"/>
              <a:ext cx="5193982" cy="1277302"/>
            </a:xfrm>
            <a:prstGeom prst="roundRect">
              <a:avLst>
                <a:gd name="adj" fmla="val 894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881565"/>
              <a:ext cx="200023" cy="200023"/>
              <a:chOff x="738188" y="4881565"/>
              <a:chExt cx="200023" cy="20002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88156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71538" y="49482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4762500"/>
              <a:ext cx="417995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除非有特别说明，本课程中的图都是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简单图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，后面所有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结论都建立在这个前提上。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032182" y="1524000"/>
            <a:ext cx="5626418" cy="2134552"/>
            <a:chOff x="6032182" y="1524000"/>
            <a:chExt cx="5626418" cy="2134552"/>
          </a:xfrm>
        </p:grpSpPr>
        <p:sp>
          <p:nvSpPr>
            <p:cNvPr id="25" name="Rectangle 25"/>
            <p:cNvSpPr/>
            <p:nvPr/>
          </p:nvSpPr>
          <p:spPr>
            <a:xfrm>
              <a:off x="6032182" y="1524000"/>
              <a:ext cx="5626418" cy="2134552"/>
            </a:xfrm>
            <a:prstGeom prst="roundRect">
              <a:avLst>
                <a:gd name="adj" fmla="val 62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41708" y="1657350"/>
              <a:ext cx="47625" cy="186785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62688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4128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46380" y="175641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三个术语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271260" y="21469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27280" y="2090738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：无向图中两个顶点之间不止有一条边，或有向图中两个顶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点之间不止有一条同方向的边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271260" y="270605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27280" y="26498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多重图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：包含重边的图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271260" y="300894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27280" y="295275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自环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：一条边的两个端点是同一个顶点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271260" y="331089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27280" y="325469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简单图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：不含重边和自环的图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032182" y="3833812"/>
            <a:ext cx="5626418" cy="1786890"/>
            <a:chOff x="6032182" y="3833812"/>
            <a:chExt cx="5626418" cy="1786890"/>
          </a:xfrm>
        </p:grpSpPr>
        <p:sp>
          <p:nvSpPr>
            <p:cNvPr id="39" name="Rectangle 39"/>
            <p:cNvSpPr/>
            <p:nvPr/>
          </p:nvSpPr>
          <p:spPr>
            <a:xfrm>
              <a:off x="6032182" y="3833812"/>
              <a:ext cx="5626418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41708" y="3967162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62688" y="4026218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58128" y="406050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13030" y="406527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什么时候会遇到多重图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271260" y="445579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27280" y="4399598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把城市当顶点、高速公路当边：允许两个城市之间修多条高速公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路时，得到的就是多重图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271260" y="501586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27280" y="4959668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社交网络里同一对用户只有一种好友关系，不会出现重边，是简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单图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9" name="Rectangle 4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892" y="6023610"/>
              <a:ext cx="83736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把多重图的重边合并成一条、去掉自环，就得到一个简单图；本讲后面的所有计数公式都按简单图给出。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图的定义与基本术语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完全图：边数取到上界的图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226820"/>
            <a:chOff x="533400" y="1524000"/>
            <a:chExt cx="5410200" cy="12268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无向完全图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6685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任意两个顶点之间都有一条边的无向图。包含 n 个顶点的无向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完全图中有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n(n−1)/2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条边。</a:t>
              </a:r>
            </a:p>
          </p:txBody>
        </p:sp>
      </p:grpSp>
      <p:grpSp>
        <p:nvGrpSpPr>
          <p:cNvPr id="29" name="c1-graph-2"/>
          <p:cNvGrpSpPr/>
          <p:nvPr/>
        </p:nvGrpSpPr>
        <p:grpSpPr>
          <a:xfrm>
            <a:off x="1306830" y="3011805"/>
            <a:ext cx="3863340" cy="1389316"/>
            <a:chOff x="1306830" y="3011805"/>
            <a:chExt cx="3863340" cy="1389316"/>
          </a:xfrm>
        </p:grpSpPr>
        <p:sp>
          <p:nvSpPr>
            <p:cNvPr id="14" name="Freeform 14"/>
            <p:cNvSpPr/>
            <p:nvPr/>
          </p:nvSpPr>
          <p:spPr>
            <a:xfrm>
              <a:off x="1716405" y="3211830"/>
              <a:ext cx="3044190" cy="9525"/>
            </a:xfrm>
            <a:custGeom>
              <a:avLst/>
              <a:gdLst/>
              <a:ahLst/>
              <a:cxnLst/>
              <a:rect l="l" t="t" r="r" b="b"/>
              <a:pathLst>
                <a:path w="3044190" h="9525">
                  <a:moveTo>
                    <a:pt x="0" y="0"/>
                  </a:moveTo>
                  <a:lnTo>
                    <a:pt x="30441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506855" y="3421380"/>
              <a:ext cx="9525" cy="467678"/>
            </a:xfrm>
            <a:custGeom>
              <a:avLst/>
              <a:gdLst/>
              <a:ahLst/>
              <a:cxnLst/>
              <a:rect l="l" t="t" r="r" b="b"/>
              <a:pathLst>
                <a:path w="9525" h="467678">
                  <a:moveTo>
                    <a:pt x="0" y="0"/>
                  </a:moveTo>
                  <a:lnTo>
                    <a:pt x="0" y="4676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710690" y="3264218"/>
              <a:ext cx="3055620" cy="782003"/>
            </a:xfrm>
            <a:custGeom>
              <a:avLst/>
              <a:gdLst/>
              <a:ahLst/>
              <a:cxnLst/>
              <a:rect l="l" t="t" r="r" b="b"/>
              <a:pathLst>
                <a:path w="3055620" h="782003">
                  <a:moveTo>
                    <a:pt x="0" y="0"/>
                  </a:moveTo>
                  <a:lnTo>
                    <a:pt x="3055620" y="7820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710690" y="3264218"/>
              <a:ext cx="3055620" cy="782003"/>
            </a:xfrm>
            <a:custGeom>
              <a:avLst/>
              <a:gdLst/>
              <a:ahLst/>
              <a:cxnLst/>
              <a:rect l="l" t="t" r="r" b="b"/>
              <a:pathLst>
                <a:path w="3055620" h="782003">
                  <a:moveTo>
                    <a:pt x="3055620" y="0"/>
                  </a:moveTo>
                  <a:lnTo>
                    <a:pt x="0" y="7820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970145" y="3421380"/>
              <a:ext cx="9525" cy="467678"/>
            </a:xfrm>
            <a:custGeom>
              <a:avLst/>
              <a:gdLst/>
              <a:ahLst/>
              <a:cxnLst/>
              <a:rect l="l" t="t" r="r" b="b"/>
              <a:pathLst>
                <a:path w="9525" h="467678">
                  <a:moveTo>
                    <a:pt x="0" y="0"/>
                  </a:moveTo>
                  <a:lnTo>
                    <a:pt x="0" y="4676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716405" y="4098608"/>
              <a:ext cx="3044190" cy="9525"/>
            </a:xfrm>
            <a:custGeom>
              <a:avLst/>
              <a:gdLst/>
              <a:ahLst/>
              <a:cxnLst/>
              <a:rect l="l" t="t" r="r" b="b"/>
              <a:pathLst>
                <a:path w="3044190" h="9525">
                  <a:moveTo>
                    <a:pt x="0" y="0"/>
                  </a:moveTo>
                  <a:lnTo>
                    <a:pt x="30441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306830" y="301180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4770120" y="301180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306830" y="389858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770120" y="389858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14068" y="314182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77358" y="314182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14068" y="402859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77358" y="402859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03141" y="4195762"/>
              <a:ext cx="1470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无向完全图 K₄，6 条边</a:t>
              </a:r>
            </a:p>
          </p:txBody>
        </p:sp>
      </p:grpSp>
      <p:grpSp>
        <p:nvGrpSpPr>
          <p:cNvPr id="36" name="c1-card-3"/>
          <p:cNvGrpSpPr/>
          <p:nvPr/>
        </p:nvGrpSpPr>
        <p:grpSpPr>
          <a:xfrm>
            <a:off x="533400" y="4531042"/>
            <a:ext cx="5410200" cy="1649730"/>
            <a:chOff x="533400" y="4531042"/>
            <a:chExt cx="5410200" cy="1649730"/>
          </a:xfrm>
        </p:grpSpPr>
        <p:sp>
          <p:nvSpPr>
            <p:cNvPr id="30" name="Rectangle 30"/>
            <p:cNvSpPr/>
            <p:nvPr/>
          </p:nvSpPr>
          <p:spPr>
            <a:xfrm>
              <a:off x="533400" y="4531042"/>
              <a:ext cx="5410200" cy="1649730"/>
            </a:xfrm>
            <a:prstGeom prst="roundRect">
              <a:avLst>
                <a:gd name="adj" fmla="val 80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4664392"/>
              <a:ext cx="47625" cy="138303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63905" y="472344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5345" y="47577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47597" y="476345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有向完全图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7047" y="5097780"/>
              <a:ext cx="46685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任意两个顶点之间都有方向相反的两条边。包含 n 个顶点的有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向完全图中有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n(n−1)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条边。</a:t>
              </a:r>
            </a:p>
          </p:txBody>
        </p:sp>
      </p:grpSp>
      <p:grpSp>
        <p:nvGrpSpPr>
          <p:cNvPr id="53" name="c2-graph-1"/>
          <p:cNvGrpSpPr/>
          <p:nvPr/>
        </p:nvGrpSpPr>
        <p:grpSpPr>
          <a:xfrm>
            <a:off x="6914198" y="1531620"/>
            <a:ext cx="4078604" cy="1337882"/>
            <a:chOff x="6914198" y="1531620"/>
            <a:chExt cx="4078604" cy="1337882"/>
          </a:xfrm>
        </p:grpSpPr>
        <p:sp>
          <p:nvSpPr>
            <p:cNvPr id="37" name="Freeform 37"/>
            <p:cNvSpPr/>
            <p:nvPr/>
          </p:nvSpPr>
          <p:spPr>
            <a:xfrm>
              <a:off x="7388542" y="1864042"/>
              <a:ext cx="1290638" cy="620078"/>
            </a:xfrm>
            <a:custGeom>
              <a:avLst/>
              <a:gdLst/>
              <a:ahLst/>
              <a:cxnLst/>
              <a:rect l="l" t="t" r="r" b="b"/>
              <a:pathLst>
                <a:path w="1290638" h="620078">
                  <a:moveTo>
                    <a:pt x="1290638" y="0"/>
                  </a:moveTo>
                  <a:lnTo>
                    <a:pt x="0" y="6200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302818" y="2441258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83820"/>
                  </a:moveTo>
                  <a:lnTo>
                    <a:pt x="65722" y="0"/>
                  </a:lnTo>
                  <a:lnTo>
                    <a:pt x="106680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658225" y="182118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1905"/>
                  </a:moveTo>
                  <a:lnTo>
                    <a:pt x="40957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9227820" y="1864042"/>
              <a:ext cx="1290638" cy="620078"/>
            </a:xfrm>
            <a:custGeom>
              <a:avLst/>
              <a:gdLst/>
              <a:ahLst/>
              <a:cxnLst/>
              <a:rect l="l" t="t" r="r" b="b"/>
              <a:pathLst>
                <a:path w="1290638" h="620078">
                  <a:moveTo>
                    <a:pt x="0" y="0"/>
                  </a:moveTo>
                  <a:lnTo>
                    <a:pt x="1290638" y="6200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497502" y="2441258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83820"/>
                  </a:moveTo>
                  <a:lnTo>
                    <a:pt x="0" y="85725"/>
                  </a:lnTo>
                  <a:lnTo>
                    <a:pt x="4095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9142095" y="182118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1905"/>
                  </a:moveTo>
                  <a:lnTo>
                    <a:pt x="106680" y="0"/>
                  </a:lnTo>
                  <a:lnTo>
                    <a:pt x="65723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7419022" y="2616518"/>
              <a:ext cx="3068955" cy="9525"/>
            </a:xfrm>
            <a:custGeom>
              <a:avLst/>
              <a:gdLst/>
              <a:ahLst/>
              <a:cxnLst/>
              <a:rect l="l" t="t" r="r" b="b"/>
              <a:pathLst>
                <a:path w="3068955" h="9525">
                  <a:moveTo>
                    <a:pt x="0" y="0"/>
                  </a:moveTo>
                  <a:lnTo>
                    <a:pt x="30689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487978" y="25688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7323772" y="25688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8753475" y="153162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6914198" y="241649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10592752" y="241649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860713" y="166163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21435" y="254650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99990" y="254650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29384" y="2664143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有向完全图，3 个顶点 6 条弧</a:t>
              </a:r>
            </a:p>
          </p:txBody>
        </p:sp>
      </p:grpSp>
      <p:grpSp>
        <p:nvGrpSpPr>
          <p:cNvPr id="78" name="c2-table-2"/>
          <p:cNvGrpSpPr/>
          <p:nvPr/>
        </p:nvGrpSpPr>
        <p:grpSpPr>
          <a:xfrm>
            <a:off x="6248400" y="2999422"/>
            <a:ext cx="5410200" cy="2028825"/>
            <a:chOff x="6248400" y="2999422"/>
            <a:chExt cx="5410200" cy="2028825"/>
          </a:xfrm>
        </p:grpSpPr>
        <p:sp>
          <p:nvSpPr>
            <p:cNvPr id="54" name="Rectangle 54"/>
            <p:cNvSpPr/>
            <p:nvPr/>
          </p:nvSpPr>
          <p:spPr>
            <a:xfrm>
              <a:off x="6248400" y="2999422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23989" y="31237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04785" y="312372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无向完全图边数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085045" y="312372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有向完全图边数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23989" y="35294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91032" y="35294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571292" y="35294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3806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48400" y="3810952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823989" y="39352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91032" y="393525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529829" y="393525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4211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823989" y="43410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449569" y="434101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529829" y="434101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48400" y="46177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248400" y="4622482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780453" y="474678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449569" y="474678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529829" y="474678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248400" y="2999422"/>
              <a:ext cx="541020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492365" y="2999422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9573578" y="2999422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4" name="c2-callout-3"/>
          <p:cNvGrpSpPr/>
          <p:nvPr/>
        </p:nvGrpSpPr>
        <p:grpSpPr>
          <a:xfrm>
            <a:off x="6248400" y="5203508"/>
            <a:ext cx="5410200" cy="978218"/>
            <a:chOff x="6248400" y="5203508"/>
            <a:chExt cx="5410200" cy="978218"/>
          </a:xfrm>
        </p:grpSpPr>
        <p:sp>
          <p:nvSpPr>
            <p:cNvPr id="79" name="Rectangle 79"/>
            <p:cNvSpPr/>
            <p:nvPr/>
          </p:nvSpPr>
          <p:spPr>
            <a:xfrm>
              <a:off x="6248400" y="5203508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6453188" y="5592130"/>
              <a:ext cx="200023" cy="200023"/>
              <a:chOff x="6453188" y="5592130"/>
              <a:chExt cx="200023" cy="200023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6453188" y="55921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6586538" y="56588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6755892" y="5349240"/>
              <a:ext cx="449713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任意 n 个顶点的简单图都满足 e ≤ n(n−1)/2，所以 e =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O(n²)，完全图恰好取到上界。边数接近 n² 的叫稠密图，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 n 量级的叫稀疏图，这个区别决定后半讲选哪种存储。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01868" cy="3351847"/>
            <a:chOff x="667512" y="1835468"/>
            <a:chExt cx="580186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度、路径与回路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度量一个顶点的局部连接情况，和两个顶点之间的通达情况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度、出度与入度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握手定理及其推论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简单路径与简单回路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欧拉回路与汉密尔顿回路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度、路径与回路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度：无向图数端点，有向图分出入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917258"/>
            <a:chOff x="533400" y="1524000"/>
            <a:chExt cx="5410200" cy="9172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917258"/>
            </a:xfrm>
            <a:prstGeom prst="roundRect">
              <a:avLst>
                <a:gd name="adj" fmla="val 145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65055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无向图中顶点的度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3406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设 G 是无向图，顶点 v 的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度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为以 v 为端点的边的条数。</a:t>
              </a:r>
            </a:p>
          </p:txBody>
        </p:sp>
      </p:grpSp>
      <p:grpSp>
        <p:nvGrpSpPr>
          <p:cNvPr id="30" name="c1-graph-2"/>
          <p:cNvGrpSpPr/>
          <p:nvPr/>
        </p:nvGrpSpPr>
        <p:grpSpPr>
          <a:xfrm>
            <a:off x="1090612" y="2658428"/>
            <a:ext cx="4295776" cy="1537334"/>
            <a:chOff x="1090612" y="2658428"/>
            <a:chExt cx="4295776" cy="1537334"/>
          </a:xfrm>
        </p:grpSpPr>
        <p:sp>
          <p:nvSpPr>
            <p:cNvPr id="14" name="Freeform 14"/>
            <p:cNvSpPr/>
            <p:nvPr/>
          </p:nvSpPr>
          <p:spPr>
            <a:xfrm>
              <a:off x="1500188" y="2858452"/>
              <a:ext cx="3476625" cy="9525"/>
            </a:xfrm>
            <a:custGeom>
              <a:avLst/>
              <a:gdLst/>
              <a:ahLst/>
              <a:cxnLst/>
              <a:rect l="l" t="t" r="r" b="b"/>
              <a:pathLst>
                <a:path w="3476625" h="9525">
                  <a:moveTo>
                    <a:pt x="0" y="0"/>
                  </a:moveTo>
                  <a:lnTo>
                    <a:pt x="34766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290638" y="3068002"/>
              <a:ext cx="9525" cy="718185"/>
            </a:xfrm>
            <a:custGeom>
              <a:avLst/>
              <a:gdLst/>
              <a:ahLst/>
              <a:cxnLst/>
              <a:rect l="l" t="t" r="r" b="b"/>
              <a:pathLst>
                <a:path w="9525" h="718185">
                  <a:moveTo>
                    <a:pt x="0" y="0"/>
                  </a:moveTo>
                  <a:lnTo>
                    <a:pt x="0" y="7181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439478" y="2917508"/>
              <a:ext cx="1545907" cy="450533"/>
            </a:xfrm>
            <a:custGeom>
              <a:avLst/>
              <a:gdLst/>
              <a:ahLst/>
              <a:cxnLst/>
              <a:rect l="l" t="t" r="r" b="b"/>
              <a:pathLst>
                <a:path w="1545907" h="450533">
                  <a:moveTo>
                    <a:pt x="1545907" y="0"/>
                  </a:moveTo>
                  <a:lnTo>
                    <a:pt x="0" y="4505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186362" y="3068002"/>
              <a:ext cx="9525" cy="718185"/>
            </a:xfrm>
            <a:custGeom>
              <a:avLst/>
              <a:gdLst/>
              <a:ahLst/>
              <a:cxnLst/>
              <a:rect l="l" t="t" r="r" b="b"/>
              <a:pathLst>
                <a:path w="9525" h="718185">
                  <a:moveTo>
                    <a:pt x="0" y="0"/>
                  </a:moveTo>
                  <a:lnTo>
                    <a:pt x="0" y="7181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491615" y="3486150"/>
              <a:ext cx="1545907" cy="450533"/>
            </a:xfrm>
            <a:custGeom>
              <a:avLst/>
              <a:gdLst/>
              <a:ahLst/>
              <a:cxnLst/>
              <a:rect l="l" t="t" r="r" b="b"/>
              <a:pathLst>
                <a:path w="1545907" h="450533">
                  <a:moveTo>
                    <a:pt x="1545907" y="0"/>
                  </a:moveTo>
                  <a:lnTo>
                    <a:pt x="0" y="4505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439478" y="3486150"/>
              <a:ext cx="1545907" cy="450533"/>
            </a:xfrm>
            <a:custGeom>
              <a:avLst/>
              <a:gdLst/>
              <a:ahLst/>
              <a:cxnLst/>
              <a:rect l="l" t="t" r="r" b="b"/>
              <a:pathLst>
                <a:path w="1545907" h="450533">
                  <a:moveTo>
                    <a:pt x="0" y="0"/>
                  </a:moveTo>
                  <a:lnTo>
                    <a:pt x="1545907" y="4505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090612" y="2658428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4986338" y="2658428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3038475" y="322707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090612" y="379571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986338" y="379571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03673" y="279368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99398" y="279368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51536" y="33623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03673" y="39300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99398" y="39300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v₅</a:t>
              </a:r>
            </a:p>
          </p:txBody>
        </p:sp>
      </p:grpSp>
      <p:grpSp>
        <p:nvGrpSpPr>
          <p:cNvPr id="51" name="c1-table-3"/>
          <p:cNvGrpSpPr/>
          <p:nvPr/>
        </p:nvGrpSpPr>
        <p:grpSpPr>
          <a:xfrm>
            <a:off x="528447" y="4350068"/>
            <a:ext cx="5415153" cy="1026508"/>
            <a:chOff x="528447" y="4350068"/>
            <a:chExt cx="5415153" cy="1026508"/>
          </a:xfrm>
        </p:grpSpPr>
        <p:sp>
          <p:nvSpPr>
            <p:cNvPr id="31" name="Rectangle 31"/>
            <p:cNvSpPr/>
            <p:nvPr/>
          </p:nvSpPr>
          <p:spPr>
            <a:xfrm>
              <a:off x="533400" y="4350068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84872" y="44672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83758" y="44672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66726" y="44672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49693" y="44672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32661" y="44672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415628" y="44672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5548" y="484822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26517" y="48482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809484" y="48482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692452" y="48482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75419" y="48482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458387" y="48482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350068"/>
              <a:ext cx="5410200" cy="762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524000" y="435006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2406968" y="435006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289935" y="435006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172902" y="435006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055870" y="435006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8447" y="5185886"/>
              <a:ext cx="14743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度数之和 12 = 2 × 6 条边</a:t>
              </a:r>
            </a:p>
          </p:txBody>
        </p:sp>
      </p:grpSp>
      <p:grpSp>
        <p:nvGrpSpPr>
          <p:cNvPr id="61" name="c2-card-1"/>
          <p:cNvGrpSpPr/>
          <p:nvPr/>
        </p:nvGrpSpPr>
        <p:grpSpPr>
          <a:xfrm>
            <a:off x="6248400" y="1524000"/>
            <a:ext cx="5410200" cy="1202055"/>
            <a:chOff x="6248400" y="1524000"/>
            <a:chExt cx="5410200" cy="1202055"/>
          </a:xfrm>
        </p:grpSpPr>
        <p:sp>
          <p:nvSpPr>
            <p:cNvPr id="52" name="Rectangle 52"/>
            <p:cNvSpPr/>
            <p:nvPr/>
          </p:nvSpPr>
          <p:spPr>
            <a:xfrm>
              <a:off x="6248400" y="1524000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57925" y="1657350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67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60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33451" y="174450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有向图中顶点的出度与入度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477000" y="211359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32448" y="2061686"/>
              <a:ext cx="47171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出度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：以 v 为始点的边的条数；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入度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：以 v 为终点的边的条数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477000" y="23983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32448" y="2346484"/>
              <a:ext cx="17877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顶点的度 = 入度 + 出度</a:t>
              </a:r>
            </a:p>
          </p:txBody>
        </p:sp>
      </p:grpSp>
      <p:grpSp>
        <p:nvGrpSpPr>
          <p:cNvPr id="78" name="c2-graph-2"/>
          <p:cNvGrpSpPr/>
          <p:nvPr/>
        </p:nvGrpSpPr>
        <p:grpSpPr>
          <a:xfrm>
            <a:off x="6914198" y="2924175"/>
            <a:ext cx="4078604" cy="1229677"/>
            <a:chOff x="6914198" y="2924175"/>
            <a:chExt cx="4078604" cy="1229677"/>
          </a:xfrm>
        </p:grpSpPr>
        <p:sp>
          <p:nvSpPr>
            <p:cNvPr id="62" name="Freeform 62"/>
            <p:cNvSpPr/>
            <p:nvPr/>
          </p:nvSpPr>
          <p:spPr>
            <a:xfrm>
              <a:off x="7323772" y="3124200"/>
              <a:ext cx="3164205" cy="9525"/>
            </a:xfrm>
            <a:custGeom>
              <a:avLst/>
              <a:gdLst/>
              <a:ahLst/>
              <a:cxnLst/>
              <a:rect l="l" t="t" r="r" b="b"/>
              <a:pathLst>
                <a:path w="3164205" h="9525">
                  <a:moveTo>
                    <a:pt x="0" y="0"/>
                  </a:moveTo>
                  <a:lnTo>
                    <a:pt x="31642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10487978" y="30765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7114222" y="3333750"/>
              <a:ext cx="9525" cy="315278"/>
            </a:xfrm>
            <a:custGeom>
              <a:avLst/>
              <a:gdLst/>
              <a:ahLst/>
              <a:cxnLst/>
              <a:rect l="l" t="t" r="r" b="b"/>
              <a:pathLst>
                <a:path w="9525" h="315278">
                  <a:moveTo>
                    <a:pt x="0" y="0"/>
                  </a:moveTo>
                  <a:lnTo>
                    <a:pt x="0" y="3152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7066598" y="36490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7323772" y="3953828"/>
              <a:ext cx="3164205" cy="9525"/>
            </a:xfrm>
            <a:custGeom>
              <a:avLst/>
              <a:gdLst/>
              <a:ahLst/>
              <a:cxnLst/>
              <a:rect l="l" t="t" r="r" b="b"/>
              <a:pathLst>
                <a:path w="3164205" h="9525">
                  <a:moveTo>
                    <a:pt x="0" y="0"/>
                  </a:moveTo>
                  <a:lnTo>
                    <a:pt x="31642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10487978" y="39062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7411402" y="3191828"/>
              <a:ext cx="3177540" cy="715327"/>
            </a:xfrm>
            <a:custGeom>
              <a:avLst/>
              <a:gdLst/>
              <a:ahLst/>
              <a:cxnLst/>
              <a:rect l="l" t="t" r="r" b="b"/>
              <a:pathLst>
                <a:path w="3177540" h="715327">
                  <a:moveTo>
                    <a:pt x="3177540" y="71532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7318058" y="3145155"/>
              <a:ext cx="103823" cy="92392"/>
            </a:xfrm>
            <a:custGeom>
              <a:avLst/>
              <a:gdLst/>
              <a:ahLst/>
              <a:cxnLst/>
              <a:rect l="l" t="t" r="r" b="b"/>
              <a:pathLst>
                <a:path w="103823" h="92392">
                  <a:moveTo>
                    <a:pt x="0" y="25717"/>
                  </a:moveTo>
                  <a:lnTo>
                    <a:pt x="103823" y="0"/>
                  </a:lnTo>
                  <a:lnTo>
                    <a:pt x="82868" y="9239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6914198" y="292417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10592752" y="292417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6914198" y="375380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10592752" y="375380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027258" y="30594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705813" y="30594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027258" y="388810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705813" y="388810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</p:grpSp>
      <p:grpSp>
        <p:nvGrpSpPr>
          <p:cNvPr id="109" name="c2-table-3"/>
          <p:cNvGrpSpPr/>
          <p:nvPr/>
        </p:nvGrpSpPr>
        <p:grpSpPr>
          <a:xfrm>
            <a:off x="6243447" y="4351020"/>
            <a:ext cx="5415153" cy="1789461"/>
            <a:chOff x="6243447" y="4351020"/>
            <a:chExt cx="5415153" cy="1789461"/>
          </a:xfrm>
        </p:grpSpPr>
        <p:sp>
          <p:nvSpPr>
            <p:cNvPr id="79" name="Rectangle 79"/>
            <p:cNvSpPr/>
            <p:nvPr/>
          </p:nvSpPr>
          <p:spPr>
            <a:xfrm>
              <a:off x="6248400" y="4351020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687502" y="446913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863553" y="44691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922733" y="44691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981913" y="44691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042046" y="44691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687502" y="485013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出度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906312" y="48501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965492" y="48501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024672" y="48501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084804" y="48501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248400" y="51092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6248400" y="511397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687502" y="523113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入度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906312" y="52311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965492" y="52311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024672" y="52311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084804" y="52311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6248400" y="54911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758178" y="561308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906312" y="561308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965492" y="561308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0024672" y="561308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084804" y="561308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6248400" y="4351020"/>
              <a:ext cx="541020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7416165" y="435102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8475345" y="435102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9534525" y="435102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10594658" y="435102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6243447" y="5949791"/>
              <a:ext cx="50759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每条弧给一个顶点的出度、另一个顶点的入度各加 1，所以出度之和 = 入度之和 = e = 4</a:t>
              </a:r>
            </a:p>
          </p:txBody>
        </p:sp>
      </p:grpSp>
      <p:grpSp>
        <p:nvGrpSpPr>
          <p:cNvPr id="11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0" name="TextBox 110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度、路径与回路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握手定理：度数之和等于边数的两倍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2014538"/>
            <a:chOff x="533400" y="1524000"/>
            <a:chExt cx="5626418" cy="20145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014538"/>
            </a:xfrm>
            <a:prstGeom prst="roundRect">
              <a:avLst>
                <a:gd name="adj" fmla="val 66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4783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顶点的度和边的关系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91070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设图 G（可以为有向图或无向图）共有 n 个顶点和 e 条边，若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 vᵢ 的度为 D(vᵢ)，则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3"/>
                <p:cNvSpPr txBox="1">
                  <a:spLocks noGrp="1"/>
                </p:cNvSpPr>
                <p:nvPr/>
              </p:nvSpPr>
              <p:spPr>
                <a:xfrm>
                  <a:off x="775335" y="2687002"/>
                  <a:ext cx="5180648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/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2e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8" name="c1-steps-2"/>
          <p:cNvGrpSpPr/>
          <p:nvPr/>
        </p:nvGrpSpPr>
        <p:grpSpPr>
          <a:xfrm>
            <a:off x="533400" y="3732848"/>
            <a:ext cx="5311902" cy="2011108"/>
            <a:chOff x="533400" y="3732848"/>
            <a:chExt cx="5311902" cy="2011108"/>
          </a:xfrm>
        </p:grpSpPr>
        <p:sp>
          <p:nvSpPr>
            <p:cNvPr id="15" name="Rectangle 15"/>
            <p:cNvSpPr/>
            <p:nvPr/>
          </p:nvSpPr>
          <p:spPr>
            <a:xfrm>
              <a:off x="666750" y="3875722"/>
              <a:ext cx="19050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33400" y="37328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8066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57485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648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51958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2697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766661"/>
              <a:ext cx="11408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一条边贡献 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4047172"/>
              <a:ext cx="48661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每条边关联两个顶点，并使这两个顶点的度数分别增加 1，所以一条边对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“度数总和”的贡献是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460771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全部求和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4888230"/>
              <a:ext cx="4898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条边一共贡献 2e，而度数总和正是逐个顶点累加的结果，两者相等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522874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550926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度数之和一定是偶数，因此度为奇数的顶点必然有偶数个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6458902" y="1524000"/>
            <a:ext cx="5199698" cy="2015967"/>
            <a:chOff x="6458902" y="1524000"/>
            <a:chExt cx="5199698" cy="2015967"/>
          </a:xfrm>
        </p:grpSpPr>
        <p:sp>
          <p:nvSpPr>
            <p:cNvPr id="29" name="Rectangle 29"/>
            <p:cNvSpPr/>
            <p:nvPr/>
          </p:nvSpPr>
          <p:spPr>
            <a:xfrm>
              <a:off x="6464618" y="1524000"/>
              <a:ext cx="5193982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14579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用哪张图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30198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49311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92818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度序列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810303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度数之和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69964" y="2085022"/>
              <a:ext cx="1108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12 页无向图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32419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51532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67432" y="2085022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2 3 3 2 2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044542" y="208502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23793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64618" y="2384108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69964" y="2515552"/>
              <a:ext cx="1108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17 页欧拉图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3241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07107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67432" y="2515552"/>
              <a:ext cx="7876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2 4 4 4 4 2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044542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28098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69964" y="2946082"/>
              <a:ext cx="1108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12 页有向图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3241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5153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167432" y="2946082"/>
              <a:ext cx="512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3 1 2 2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08896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64618" y="1524000"/>
              <a:ext cx="5193982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018145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537258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057322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614660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58902" y="3319939"/>
              <a:ext cx="1858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三张图都满足度数之和 = 2e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464618" y="3681412"/>
            <a:ext cx="5193982" cy="1594485"/>
            <a:chOff x="6464618" y="3681412"/>
            <a:chExt cx="5193982" cy="1594485"/>
          </a:xfrm>
        </p:grpSpPr>
        <p:sp>
          <p:nvSpPr>
            <p:cNvPr id="60" name="Rectangle 60"/>
            <p:cNvSpPr/>
            <p:nvPr/>
          </p:nvSpPr>
          <p:spPr>
            <a:xfrm>
              <a:off x="6464618" y="3681412"/>
              <a:ext cx="5193982" cy="1594485"/>
            </a:xfrm>
            <a:prstGeom prst="roundRect">
              <a:avLst>
                <a:gd name="adj" fmla="val 836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668452" y="388524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750761" y="39209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两个用途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676072" y="431863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32664" y="4258151"/>
              <a:ext cx="46787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已知全部顶点的度序列，直接得到 e = （度数之和）/ 2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676072" y="463867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832664" y="4578191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已知边数和部分顶点的度，可以反推顶点个数的上界或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下界，下一页就是这种题</a:t>
              </a:r>
            </a:p>
          </p:txBody>
        </p:sp>
      </p:grpSp>
      <p:grpSp>
        <p:nvGrpSpPr>
          <p:cNvPr id="74" name="c2-callout-3"/>
          <p:cNvGrpSpPr/>
          <p:nvPr/>
        </p:nvGrpSpPr>
        <p:grpSpPr>
          <a:xfrm>
            <a:off x="6464618" y="5461635"/>
            <a:ext cx="5193982" cy="756285"/>
            <a:chOff x="6464618" y="5461635"/>
            <a:chExt cx="5193982" cy="756285"/>
          </a:xfrm>
        </p:grpSpPr>
        <p:sp>
          <p:nvSpPr>
            <p:cNvPr id="68" name="Rectangle 68"/>
            <p:cNvSpPr/>
            <p:nvPr/>
          </p:nvSpPr>
          <p:spPr>
            <a:xfrm>
              <a:off x="6464618" y="5461635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669405" y="5739765"/>
              <a:ext cx="200026" cy="200026"/>
              <a:chOff x="6669405" y="5739765"/>
              <a:chExt cx="200026" cy="2000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6669405" y="57397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769418" y="58064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758305" y="58397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971729" y="5608796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推论常单独考：一张图里度为奇数的顶点个数必为偶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数，所以不可能出现“恰好 3 个奇度顶点”的图。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度、路径与回路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例题：由度序列反推顶点个数的下界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842635" cy="1406842"/>
            <a:chOff x="533400" y="1524000"/>
            <a:chExt cx="5842635" cy="14068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406842"/>
            </a:xfrm>
            <a:prstGeom prst="roundRect">
              <a:avLst>
                <a:gd name="adj" fmla="val 9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401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考研题（全国卷）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51010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已知无向图 G 有 16 条边，其中度为 4 的顶点有 3 个，度为 3 的顶点有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个，其他顶点的度均小于 3，则图 G 所含的顶点个数至少是____。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7141" y="2585085"/>
              <a:ext cx="23522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A. 10　　B. 11　　C. 13　　D. 15</a:t>
              </a:r>
            </a:p>
          </p:txBody>
        </p:sp>
      </p:grpSp>
      <p:grpSp>
        <p:nvGrpSpPr>
          <p:cNvPr id="32" name="c1-steps-2"/>
          <p:cNvGrpSpPr/>
          <p:nvPr/>
        </p:nvGrpSpPr>
        <p:grpSpPr>
          <a:xfrm>
            <a:off x="533400" y="3105150"/>
            <a:ext cx="5545074" cy="2536126"/>
            <a:chOff x="533400" y="3105150"/>
            <a:chExt cx="5545074" cy="2536126"/>
          </a:xfrm>
        </p:grpSpPr>
        <p:sp>
          <p:nvSpPr>
            <p:cNvPr id="15" name="Rectangle 15"/>
            <p:cNvSpPr/>
            <p:nvPr/>
          </p:nvSpPr>
          <p:spPr>
            <a:xfrm>
              <a:off x="666750" y="3248025"/>
              <a:ext cx="19050" cy="18526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33400" y="3105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178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65760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37314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40436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44781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495681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7024" y="50306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13515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先算度数总和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3389948"/>
              <a:ext cx="3608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由握手定理，度数之和 = 2e = 2 × 16 = 32，这是一个定值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36885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写出上界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166" y="3943350"/>
              <a:ext cx="513130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设共有 n 个顶点。除去已知的 3 + 4 = 7 个，其余 n − 7 个顶点的度都小于 3，即最多为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2，于是 32 ≤ 4×3 + 3×4 + 2×(n − 7)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4343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解不等式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7166" y="4689158"/>
              <a:ext cx="36221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右边 = 24 + 2n − 14 = 2n + 10，由 32 ≤ 2n + 10 得 n ≥ 11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023" y="49877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回代检验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7166" y="5242560"/>
              <a:ext cx="509130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11 时右边恰好等于 32，度序列 4 4 4 3 3 3 3 2 2 2 2 之和正好是 32，可以取到；n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10 时上界只有 30 &lt; 32，不可能。答案选 B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6675882" y="1524000"/>
            <a:ext cx="4982718" cy="2170461"/>
            <a:chOff x="6675882" y="1524000"/>
            <a:chExt cx="4982718" cy="2170461"/>
          </a:xfrm>
        </p:grpSpPr>
        <p:sp>
          <p:nvSpPr>
            <p:cNvPr id="33" name="Rectangle 33"/>
            <p:cNvSpPr/>
            <p:nvPr/>
          </p:nvSpPr>
          <p:spPr>
            <a:xfrm>
              <a:off x="6680835" y="1524000"/>
              <a:ext cx="497776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216663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11324" y="1641157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度数之和的最大值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97039" y="1641157"/>
              <a:ext cx="783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能否达到 32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16663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98985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712958" y="2023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680835" y="2282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80835" y="2286952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75848" y="2404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98985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712958" y="2404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680835" y="2663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90360" y="2677478"/>
              <a:ext cx="114395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75848" y="2785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853362" y="2677478"/>
              <a:ext cx="205644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798985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929812" y="2677478"/>
              <a:ext cx="171926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712958" y="2785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680835" y="3045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80835" y="304990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75848" y="31670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798985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712958" y="3167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680835" y="1524000"/>
              <a:ext cx="4977765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839075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915525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75882" y="3503771"/>
              <a:ext cx="22065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最大值按 4×3 + 3×4 + 2×(n − 7) 计算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680835" y="3821430"/>
            <a:ext cx="4977765" cy="1816418"/>
            <a:chOff x="6680835" y="3821430"/>
            <a:chExt cx="4977765" cy="1816418"/>
          </a:xfrm>
        </p:grpSpPr>
        <p:sp>
          <p:nvSpPr>
            <p:cNvPr id="62" name="Rectangle 62"/>
            <p:cNvSpPr/>
            <p:nvPr/>
          </p:nvSpPr>
          <p:spPr>
            <a:xfrm>
              <a:off x="6680835" y="3821430"/>
              <a:ext cx="4977765" cy="1816418"/>
            </a:xfrm>
            <a:prstGeom prst="roundRect">
              <a:avLst>
                <a:gd name="adj" fmla="val 734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861810" y="400240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947332" y="403526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解题套路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55333" y="4341971"/>
              <a:ext cx="41907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这类题的结构都一样：度数总和被 2e 钉死，要让顶点数最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少，就让剩下的顶点每个都尽量多占度数。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856476" y="4866322"/>
              <a:ext cx="429120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所以“其他顶点的度”一律按它能取到的最大值代入，得到的才是真正的下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界。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8" name="Rectangle 6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1273" y="6039326"/>
              <a:ext cx="72756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易错：“度均小于 3”是 ≤ 2 而不是 ≤ 3。按 3 代入会得到 3n + 3 ≥ 32，即 n ≥ 10，正好误选 A。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度、路径与回路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路径、简单路径与简单回路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2060258"/>
            <a:chOff x="533400" y="1524000"/>
            <a:chExt cx="5626418" cy="20602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060258"/>
            </a:xfrm>
            <a:prstGeom prst="roundRect">
              <a:avLst>
                <a:gd name="adj" fmla="val 64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9355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502005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G 是图，若存在一个顶点序列 v_p, v₁, v₂, …, v_{q−1},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v_q，使得相邻两个顶点构成的边（有向图写 &lt;vᵢ, vᵢ₊₁&gt;，无向图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写 (vᵢ, vᵢ₊₁)）都属于 E(G)，则称 v_p 到 v_q 存在一条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路径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94227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886075"/>
              <a:ext cx="23581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v_p 称为起点，v_q 称为终点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324231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318611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路径的长度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是该路径上边的个数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753802"/>
            <a:ext cx="5626418" cy="1942148"/>
            <a:chOff x="533400" y="3753802"/>
            <a:chExt cx="5626418" cy="1942148"/>
          </a:xfrm>
        </p:grpSpPr>
        <p:sp>
          <p:nvSpPr>
            <p:cNvPr id="18" name="Rectangle 18"/>
            <p:cNvSpPr/>
            <p:nvPr/>
          </p:nvSpPr>
          <p:spPr>
            <a:xfrm>
              <a:off x="533400" y="3753802"/>
              <a:ext cx="5626418" cy="1942148"/>
            </a:xfrm>
            <a:prstGeom prst="roundRect">
              <a:avLst>
                <a:gd name="adj" fmla="val 68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887152"/>
              <a:ext cx="47625" cy="167544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8190" y="394049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0862" y="397335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23784" y="397573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简单路径与简单回路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6762" y="435768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2782" y="430149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简单路径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：一条路径上除了起点和终点可以相同外，再不能有相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同的顶点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66762" y="491490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2782" y="4858702"/>
              <a:ext cx="46943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简单回路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：一条简单路径的起点和终点相同，且路径长度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大于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等于 2</a:t>
              </a:r>
            </a:p>
          </p:txBody>
        </p:sp>
      </p:grpSp>
      <p:grpSp>
        <p:nvGrpSpPr>
          <p:cNvPr id="50" name="c2-graph-1"/>
          <p:cNvGrpSpPr/>
          <p:nvPr/>
        </p:nvGrpSpPr>
        <p:grpSpPr>
          <a:xfrm>
            <a:off x="7199948" y="1576388"/>
            <a:ext cx="4243387" cy="1697354"/>
            <a:chOff x="7199948" y="1576388"/>
            <a:chExt cx="4243387" cy="1697354"/>
          </a:xfrm>
        </p:grpSpPr>
        <p:sp>
          <p:nvSpPr>
            <p:cNvPr id="28" name="Freeform 28"/>
            <p:cNvSpPr/>
            <p:nvPr/>
          </p:nvSpPr>
          <p:spPr>
            <a:xfrm>
              <a:off x="7609522" y="1776412"/>
              <a:ext cx="1770697" cy="9525"/>
            </a:xfrm>
            <a:custGeom>
              <a:avLst/>
              <a:gdLst/>
              <a:ahLst/>
              <a:cxnLst/>
              <a:rect l="l" t="t" r="r" b="b"/>
              <a:pathLst>
                <a:path w="1770697" h="9525">
                  <a:moveTo>
                    <a:pt x="0" y="0"/>
                  </a:moveTo>
                  <a:lnTo>
                    <a:pt x="177069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380220" y="17287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9878378" y="1856422"/>
              <a:ext cx="1082993" cy="451485"/>
            </a:xfrm>
            <a:custGeom>
              <a:avLst/>
              <a:gdLst/>
              <a:ahLst/>
              <a:cxnLst/>
              <a:rect l="l" t="t" r="r" b="b"/>
              <a:pathLst>
                <a:path w="1082993" h="451485">
                  <a:moveTo>
                    <a:pt x="0" y="0"/>
                  </a:moveTo>
                  <a:lnTo>
                    <a:pt x="1082993" y="4514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0943272" y="2264092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80010"/>
                  </a:moveTo>
                  <a:lnTo>
                    <a:pt x="0" y="87630"/>
                  </a:lnTo>
                  <a:lnTo>
                    <a:pt x="3714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9685020" y="1985962"/>
              <a:ext cx="9525" cy="782955"/>
            </a:xfrm>
            <a:custGeom>
              <a:avLst/>
              <a:gdLst/>
              <a:ahLst/>
              <a:cxnLst/>
              <a:rect l="l" t="t" r="r" b="b"/>
              <a:pathLst>
                <a:path w="9525" h="782955">
                  <a:moveTo>
                    <a:pt x="0" y="0"/>
                  </a:moveTo>
                  <a:lnTo>
                    <a:pt x="0" y="7829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637395" y="27689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9966008" y="2506028"/>
              <a:ext cx="1083945" cy="450532"/>
            </a:xfrm>
            <a:custGeom>
              <a:avLst/>
              <a:gdLst/>
              <a:ahLst/>
              <a:cxnLst/>
              <a:rect l="l" t="t" r="r" b="b"/>
              <a:pathLst>
                <a:path w="1083945" h="450532">
                  <a:moveTo>
                    <a:pt x="1083945" y="0"/>
                  </a:moveTo>
                  <a:lnTo>
                    <a:pt x="0" y="45053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878378" y="2912745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0" y="80962"/>
                  </a:moveTo>
                  <a:lnTo>
                    <a:pt x="69533" y="0"/>
                  </a:lnTo>
                  <a:lnTo>
                    <a:pt x="106680" y="8763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7704772" y="3073718"/>
              <a:ext cx="1770697" cy="9525"/>
            </a:xfrm>
            <a:custGeom>
              <a:avLst/>
              <a:gdLst/>
              <a:ahLst/>
              <a:cxnLst/>
              <a:rect l="l" t="t" r="r" b="b"/>
              <a:pathLst>
                <a:path w="1770697" h="9525">
                  <a:moveTo>
                    <a:pt x="1770697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609522" y="30260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7399972" y="2081212"/>
              <a:ext cx="9525" cy="782955"/>
            </a:xfrm>
            <a:custGeom>
              <a:avLst/>
              <a:gdLst/>
              <a:ahLst/>
              <a:cxnLst/>
              <a:rect l="l" t="t" r="r" b="b"/>
              <a:pathLst>
                <a:path w="9525" h="782955">
                  <a:moveTo>
                    <a:pt x="0" y="78295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352348" y="19859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7199948" y="1576388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9484995" y="1576388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11043285" y="222504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9484995" y="287369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7199948" y="287369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313008" y="171069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98056" y="171069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156346" y="235934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v₅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98056" y="30089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13008" y="30089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</p:grpSp>
      <p:grpSp>
        <p:nvGrpSpPr>
          <p:cNvPr id="70" name="c2-table-2"/>
          <p:cNvGrpSpPr/>
          <p:nvPr/>
        </p:nvGrpSpPr>
        <p:grpSpPr>
          <a:xfrm>
            <a:off x="6464618" y="3495675"/>
            <a:ext cx="5193982" cy="2200275"/>
            <a:chOff x="6464618" y="3495675"/>
            <a:chExt cx="5193982" cy="2200275"/>
          </a:xfrm>
        </p:grpSpPr>
        <p:sp>
          <p:nvSpPr>
            <p:cNvPr id="51" name="Rectangle 51"/>
            <p:cNvSpPr/>
            <p:nvPr/>
          </p:nvSpPr>
          <p:spPr>
            <a:xfrm>
              <a:off x="6464618" y="3495675"/>
              <a:ext cx="519398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85064" y="36171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顶点序列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10143" y="36171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是什么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55288" y="36171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61772" y="4117181"/>
              <a:ext cx="10721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v₂ v₅ v₄ v₃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16240" y="41171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简单路径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63062" y="4017169"/>
              <a:ext cx="198145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每一步都有弧，5 个顶点互不相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同，长度为 4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64618" y="44910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64618" y="4495800"/>
              <a:ext cx="5193982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61772" y="4617244"/>
              <a:ext cx="101208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v₂ v₅ v₄ v₃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16240" y="4717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简单回路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263062" y="4617244"/>
              <a:ext cx="2145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起点终点相同，中间不重复，长度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≥ 2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64618" y="50911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61772" y="5317331"/>
              <a:ext cx="4072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v₃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016240" y="53173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什么都不是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263062" y="5217319"/>
              <a:ext cx="213791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E(G) 中没有弧 &lt;v₁, v₃&gt;，第一步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就走不通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464618" y="3495675"/>
              <a:ext cx="5193982" cy="2200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7914322" y="3495675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9161145" y="3495675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1" name="Rectangle 7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892" y="6028373"/>
              <a:ext cx="78208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判别顺序固定：先逐步检查每条边在不在 E(G) 里，再看顶点有没有重复，最后看首尾是否相同。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度、路径与回路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例：在无向图和有向图上各判一遍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graph-1"/>
          <p:cNvGrpSpPr/>
          <p:nvPr/>
        </p:nvGrpSpPr>
        <p:grpSpPr>
          <a:xfrm>
            <a:off x="1090612" y="1552575"/>
            <a:ext cx="4295776" cy="1847850"/>
            <a:chOff x="1090612" y="1552575"/>
            <a:chExt cx="4295776" cy="1847850"/>
          </a:xfrm>
        </p:grpSpPr>
        <p:sp>
          <p:nvSpPr>
            <p:cNvPr id="7" name="Freeform 7"/>
            <p:cNvSpPr/>
            <p:nvPr/>
          </p:nvSpPr>
          <p:spPr>
            <a:xfrm>
              <a:off x="1500188" y="1752600"/>
              <a:ext cx="3476625" cy="9525"/>
            </a:xfrm>
            <a:custGeom>
              <a:avLst/>
              <a:gdLst/>
              <a:ahLst/>
              <a:cxnLst/>
              <a:rect l="l" t="t" r="r" b="b"/>
              <a:pathLst>
                <a:path w="3476625" h="9525">
                  <a:moveTo>
                    <a:pt x="0" y="0"/>
                  </a:moveTo>
                  <a:lnTo>
                    <a:pt x="34766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486852" y="1825942"/>
              <a:ext cx="1555432" cy="577215"/>
            </a:xfrm>
            <a:custGeom>
              <a:avLst/>
              <a:gdLst/>
              <a:ahLst/>
              <a:cxnLst/>
              <a:rect l="l" t="t" r="r" b="b"/>
              <a:pathLst>
                <a:path w="1555432" h="577215">
                  <a:moveTo>
                    <a:pt x="0" y="0"/>
                  </a:moveTo>
                  <a:lnTo>
                    <a:pt x="1555432" y="5772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434715" y="1825942"/>
              <a:ext cx="1555432" cy="577215"/>
            </a:xfrm>
            <a:custGeom>
              <a:avLst/>
              <a:gdLst/>
              <a:ahLst/>
              <a:cxnLst/>
              <a:rect l="l" t="t" r="r" b="b"/>
              <a:pathLst>
                <a:path w="1555432" h="577215">
                  <a:moveTo>
                    <a:pt x="1555432" y="0"/>
                  </a:moveTo>
                  <a:lnTo>
                    <a:pt x="0" y="5772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486852" y="2549842"/>
              <a:ext cx="1555432" cy="577215"/>
            </a:xfrm>
            <a:custGeom>
              <a:avLst/>
              <a:gdLst/>
              <a:ahLst/>
              <a:cxnLst/>
              <a:rect l="l" t="t" r="r" b="b"/>
              <a:pathLst>
                <a:path w="1555432" h="577215">
                  <a:moveTo>
                    <a:pt x="1555432" y="0"/>
                  </a:moveTo>
                  <a:lnTo>
                    <a:pt x="0" y="5772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434715" y="2549842"/>
              <a:ext cx="1555432" cy="577215"/>
            </a:xfrm>
            <a:custGeom>
              <a:avLst/>
              <a:gdLst/>
              <a:ahLst/>
              <a:cxnLst/>
              <a:rect l="l" t="t" r="r" b="b"/>
              <a:pathLst>
                <a:path w="1555432" h="577215">
                  <a:moveTo>
                    <a:pt x="0" y="0"/>
                  </a:moveTo>
                  <a:lnTo>
                    <a:pt x="1555432" y="5772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500188" y="3200400"/>
              <a:ext cx="3476625" cy="9525"/>
            </a:xfrm>
            <a:custGeom>
              <a:avLst/>
              <a:gdLst/>
              <a:ahLst/>
              <a:cxnLst/>
              <a:rect l="l" t="t" r="r" b="b"/>
              <a:pathLst>
                <a:path w="3476625" h="9525">
                  <a:moveTo>
                    <a:pt x="0" y="0"/>
                  </a:moveTo>
                  <a:lnTo>
                    <a:pt x="34766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090612" y="155257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4986338" y="155257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038475" y="227647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90612" y="300037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986338" y="300037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91250" y="16783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86975" y="16783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39112" y="24022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91250" y="31261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86975" y="31261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v₅</a:t>
              </a:r>
            </a:p>
          </p:txBody>
        </p:sp>
      </p:grpSp>
      <p:grpSp>
        <p:nvGrpSpPr>
          <p:cNvPr id="38" name="c1-table-2"/>
          <p:cNvGrpSpPr/>
          <p:nvPr/>
        </p:nvGrpSpPr>
        <p:grpSpPr>
          <a:xfrm>
            <a:off x="533400" y="3619500"/>
            <a:ext cx="5410200" cy="1795462"/>
            <a:chOff x="533400" y="3619500"/>
            <a:chExt cx="5410200" cy="1795462"/>
          </a:xfrm>
        </p:grpSpPr>
        <p:sp>
          <p:nvSpPr>
            <p:cNvPr id="24" name="Rectangle 24"/>
            <p:cNvSpPr/>
            <p:nvPr/>
          </p:nvSpPr>
          <p:spPr>
            <a:xfrm>
              <a:off x="533400" y="36195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436649" y="37552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41749" y="37552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1223" y="4203859"/>
              <a:ext cx="12251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v₃ v₄ v₃ v₅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05303" y="4203859"/>
              <a:ext cx="30629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是路径，但 v₃ 出现两次，不是简单路径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5119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45167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4652486"/>
              <a:ext cx="7185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v₃ v₅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05303" y="4652486"/>
              <a:ext cx="1365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简单路径，长度 2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9615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5101114"/>
              <a:ext cx="9718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v₂ v₃ v₁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05303" y="5101114"/>
              <a:ext cx="1365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简单回路，长度 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619500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692718" y="36195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graph-1"/>
          <p:cNvGrpSpPr/>
          <p:nvPr/>
        </p:nvGrpSpPr>
        <p:grpSpPr>
          <a:xfrm>
            <a:off x="6697980" y="1514475"/>
            <a:ext cx="4511040" cy="1924050"/>
            <a:chOff x="6697980" y="1514475"/>
            <a:chExt cx="4511040" cy="1924050"/>
          </a:xfrm>
        </p:grpSpPr>
        <p:sp>
          <p:nvSpPr>
            <p:cNvPr id="39" name="Freeform 39"/>
            <p:cNvSpPr/>
            <p:nvPr/>
          </p:nvSpPr>
          <p:spPr>
            <a:xfrm>
              <a:off x="7094220" y="1820228"/>
              <a:ext cx="1573530" cy="583883"/>
            </a:xfrm>
            <a:custGeom>
              <a:avLst/>
              <a:gdLst/>
              <a:ahLst/>
              <a:cxnLst/>
              <a:rect l="l" t="t" r="r" b="b"/>
              <a:pathLst>
                <a:path w="1573530" h="583883">
                  <a:moveTo>
                    <a:pt x="0" y="583883"/>
                  </a:moveTo>
                  <a:lnTo>
                    <a:pt x="15735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651558" y="1775460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11430"/>
                  </a:moveTo>
                  <a:lnTo>
                    <a:pt x="32385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9149715" y="1786890"/>
              <a:ext cx="1573530" cy="583883"/>
            </a:xfrm>
            <a:custGeom>
              <a:avLst/>
              <a:gdLst/>
              <a:ahLst/>
              <a:cxnLst/>
              <a:rect l="l" t="t" r="r" b="b"/>
              <a:pathLst>
                <a:path w="1573530" h="583883">
                  <a:moveTo>
                    <a:pt x="0" y="0"/>
                  </a:moveTo>
                  <a:lnTo>
                    <a:pt x="1573530" y="58388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707052" y="2326005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78105"/>
                  </a:moveTo>
                  <a:lnTo>
                    <a:pt x="0" y="89535"/>
                  </a:lnTo>
                  <a:lnTo>
                    <a:pt x="3333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7202805" y="2476500"/>
              <a:ext cx="3596640" cy="9525"/>
            </a:xfrm>
            <a:custGeom>
              <a:avLst/>
              <a:gdLst/>
              <a:ahLst/>
              <a:cxnLst/>
              <a:rect l="l" t="t" r="r" b="b"/>
              <a:pathLst>
                <a:path w="3596640" h="9525">
                  <a:moveTo>
                    <a:pt x="359664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107555" y="2428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7094220" y="2548890"/>
              <a:ext cx="1573530" cy="583882"/>
            </a:xfrm>
            <a:custGeom>
              <a:avLst/>
              <a:gdLst/>
              <a:ahLst/>
              <a:cxnLst/>
              <a:rect l="l" t="t" r="r" b="b"/>
              <a:pathLst>
                <a:path w="1573530" h="583882">
                  <a:moveTo>
                    <a:pt x="0" y="0"/>
                  </a:moveTo>
                  <a:lnTo>
                    <a:pt x="1573530" y="58388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651558" y="3088005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78105"/>
                  </a:moveTo>
                  <a:lnTo>
                    <a:pt x="0" y="89535"/>
                  </a:lnTo>
                  <a:lnTo>
                    <a:pt x="3238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9149715" y="2582228"/>
              <a:ext cx="1573530" cy="583882"/>
            </a:xfrm>
            <a:custGeom>
              <a:avLst/>
              <a:gdLst/>
              <a:ahLst/>
              <a:cxnLst/>
              <a:rect l="l" t="t" r="r" b="b"/>
              <a:pathLst>
                <a:path w="1573530" h="583882">
                  <a:moveTo>
                    <a:pt x="0" y="583882"/>
                  </a:moveTo>
                  <a:lnTo>
                    <a:pt x="15735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707052" y="2537460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11430"/>
                  </a:moveTo>
                  <a:lnTo>
                    <a:pt x="33338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8953500" y="2019300"/>
              <a:ext cx="9525" cy="1009650"/>
            </a:xfrm>
            <a:custGeom>
              <a:avLst/>
              <a:gdLst/>
              <a:ahLst/>
              <a:cxnLst/>
              <a:rect l="l" t="t" r="r" b="b"/>
              <a:pathLst>
                <a:path w="9525" h="1009650">
                  <a:moveTo>
                    <a:pt x="0" y="10096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905875" y="19240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753475" y="151447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6697980" y="227647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10808970" y="227647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8753475" y="303847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854112" y="16402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98617" y="24022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909607" y="24022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54112" y="31642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</p:grpSp>
      <p:grpSp>
        <p:nvGrpSpPr>
          <p:cNvPr id="74" name="c2-table-2"/>
          <p:cNvGrpSpPr/>
          <p:nvPr/>
        </p:nvGrpSpPr>
        <p:grpSpPr>
          <a:xfrm>
            <a:off x="6248400" y="3619500"/>
            <a:ext cx="5410200" cy="2022158"/>
            <a:chOff x="6248400" y="3619500"/>
            <a:chExt cx="5410200" cy="2022158"/>
          </a:xfrm>
        </p:grpSpPr>
        <p:sp>
          <p:nvSpPr>
            <p:cNvPr id="60" name="Rectangle 60"/>
            <p:cNvSpPr/>
            <p:nvPr/>
          </p:nvSpPr>
          <p:spPr>
            <a:xfrm>
              <a:off x="6248400" y="36195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151649" y="37552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序列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856749" y="37552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判定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356223" y="4317206"/>
              <a:ext cx="14784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v₃ v₂ v₄ v₃ v₂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520303" y="4203859"/>
              <a:ext cx="27927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是路径，v₃ 与 v₂ 各出现两次，不是简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单路径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248400" y="47386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248400" y="474345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56223" y="4879181"/>
              <a:ext cx="7185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v₃ v₂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20303" y="4879181"/>
              <a:ext cx="1365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简单路径，长度 2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248400" y="51882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56223" y="5327809"/>
              <a:ext cx="9718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v₃ v₂ v₁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20303" y="5327809"/>
              <a:ext cx="1365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简单回路，长度 3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248400" y="3619500"/>
              <a:ext cx="5410200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8407718" y="36195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5" name="Rectangle 7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0130" y="5991225"/>
              <a:ext cx="9738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有向图上每一步都必须顺着箭头走。v₁ v₃ v₂ 能走通，但反过来的 v₂ v₃ v₁ 走不通，因为没有弧 &lt;v₂, v₃&gt;。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度、路径与回路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欧拉回路看边，汉密尔顿回路看顶点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graph-1"/>
          <p:cNvGrpSpPr/>
          <p:nvPr/>
        </p:nvGrpSpPr>
        <p:grpSpPr>
          <a:xfrm>
            <a:off x="723900" y="1576388"/>
            <a:ext cx="4522470" cy="1919287"/>
            <a:chOff x="723900" y="1576388"/>
            <a:chExt cx="4522470" cy="1919287"/>
          </a:xfrm>
        </p:grpSpPr>
        <p:sp>
          <p:nvSpPr>
            <p:cNvPr id="7" name="Freeform 7"/>
            <p:cNvSpPr/>
            <p:nvPr/>
          </p:nvSpPr>
          <p:spPr>
            <a:xfrm>
              <a:off x="1090612" y="1862138"/>
              <a:ext cx="1075372" cy="579120"/>
            </a:xfrm>
            <a:custGeom>
              <a:avLst/>
              <a:gdLst/>
              <a:ahLst/>
              <a:cxnLst/>
              <a:rect l="l" t="t" r="r" b="b"/>
              <a:pathLst>
                <a:path w="1075372" h="579120">
                  <a:moveTo>
                    <a:pt x="0" y="579120"/>
                  </a:moveTo>
                  <a:lnTo>
                    <a:pt x="10753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090612" y="2630805"/>
              <a:ext cx="1075372" cy="579120"/>
            </a:xfrm>
            <a:custGeom>
              <a:avLst/>
              <a:gdLst/>
              <a:ahLst/>
              <a:cxnLst/>
              <a:rect l="l" t="t" r="r" b="b"/>
              <a:pathLst>
                <a:path w="1075372" h="579120">
                  <a:moveTo>
                    <a:pt x="0" y="0"/>
                  </a:moveTo>
                  <a:lnTo>
                    <a:pt x="1075372" y="5791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342198" y="1966912"/>
              <a:ext cx="9525" cy="1138238"/>
            </a:xfrm>
            <a:custGeom>
              <a:avLst/>
              <a:gdLst/>
              <a:ahLst/>
              <a:cxnLst/>
              <a:rect l="l" t="t" r="r" b="b"/>
              <a:pathLst>
                <a:path w="9525" h="1138238">
                  <a:moveTo>
                    <a:pt x="0" y="0"/>
                  </a:moveTo>
                  <a:lnTo>
                    <a:pt x="0" y="11382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487930" y="1905000"/>
              <a:ext cx="1328738" cy="1262062"/>
            </a:xfrm>
            <a:custGeom>
              <a:avLst/>
              <a:gdLst/>
              <a:ahLst/>
              <a:cxnLst/>
              <a:rect l="l" t="t" r="r" b="b"/>
              <a:pathLst>
                <a:path w="1328738" h="1262062">
                  <a:moveTo>
                    <a:pt x="0" y="0"/>
                  </a:moveTo>
                  <a:lnTo>
                    <a:pt x="1328738" y="12620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542222" y="1766888"/>
              <a:ext cx="1219200" cy="9525"/>
            </a:xfrm>
            <a:custGeom>
              <a:avLst/>
              <a:gdLst/>
              <a:ahLst/>
              <a:cxnLst/>
              <a:rect l="l" t="t" r="r" b="b"/>
              <a:pathLst>
                <a:path w="1219200" h="9525">
                  <a:moveTo>
                    <a:pt x="0" y="0"/>
                  </a:moveTo>
                  <a:lnTo>
                    <a:pt x="12192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542222" y="3305175"/>
              <a:ext cx="1219200" cy="9525"/>
            </a:xfrm>
            <a:custGeom>
              <a:avLst/>
              <a:gdLst/>
              <a:ahLst/>
              <a:cxnLst/>
              <a:rect l="l" t="t" r="r" b="b"/>
              <a:pathLst>
                <a:path w="1219200" h="9525">
                  <a:moveTo>
                    <a:pt x="0" y="0"/>
                  </a:moveTo>
                  <a:lnTo>
                    <a:pt x="12192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487930" y="1905000"/>
              <a:ext cx="1328738" cy="1262062"/>
            </a:xfrm>
            <a:custGeom>
              <a:avLst/>
              <a:gdLst/>
              <a:ahLst/>
              <a:cxnLst/>
              <a:rect l="l" t="t" r="r" b="b"/>
              <a:pathLst>
                <a:path w="1328738" h="1262062">
                  <a:moveTo>
                    <a:pt x="0" y="1262062"/>
                  </a:moveTo>
                  <a:lnTo>
                    <a:pt x="13287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961448" y="1966912"/>
              <a:ext cx="9525" cy="1138238"/>
            </a:xfrm>
            <a:custGeom>
              <a:avLst/>
              <a:gdLst/>
              <a:ahLst/>
              <a:cxnLst/>
              <a:rect l="l" t="t" r="r" b="b"/>
              <a:pathLst>
                <a:path w="9525" h="1138238">
                  <a:moveTo>
                    <a:pt x="0" y="113823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125278" y="2650808"/>
              <a:ext cx="767715" cy="539115"/>
            </a:xfrm>
            <a:custGeom>
              <a:avLst/>
              <a:gdLst/>
              <a:ahLst/>
              <a:cxnLst/>
              <a:rect l="l" t="t" r="r" b="b"/>
              <a:pathLst>
                <a:path w="767715" h="539115">
                  <a:moveTo>
                    <a:pt x="0" y="539115"/>
                  </a:moveTo>
                  <a:lnTo>
                    <a:pt x="7677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125278" y="1882140"/>
              <a:ext cx="767715" cy="539115"/>
            </a:xfrm>
            <a:custGeom>
              <a:avLst/>
              <a:gdLst/>
              <a:ahLst/>
              <a:cxnLst/>
              <a:rect l="l" t="t" r="r" b="b"/>
              <a:pathLst>
                <a:path w="767715" h="539115">
                  <a:moveTo>
                    <a:pt x="0" y="0"/>
                  </a:moveTo>
                  <a:lnTo>
                    <a:pt x="767715" y="5391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723900" y="234505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151698" y="157638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151698" y="311467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770948" y="311467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770948" y="157638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865370" y="234505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8251" y="24707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96048" y="17011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96048" y="32394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15298" y="32394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15298" y="17011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09721" y="24707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31" name="c1-text-2"/>
          <p:cNvGrpSpPr/>
          <p:nvPr/>
        </p:nvGrpSpPr>
        <p:grpSpPr>
          <a:xfrm>
            <a:off x="1682144" y="3729990"/>
            <a:ext cx="2463108" cy="205359"/>
            <a:chOff x="1682144" y="3729990"/>
            <a:chExt cx="2463108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1682144" y="3729990"/>
              <a:ext cx="24631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个顶点、10 条边，度序列 2 4 4 4 4 2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5598795" y="1524000"/>
            <a:ext cx="6059805" cy="1428750"/>
            <a:chOff x="5598795" y="1524000"/>
            <a:chExt cx="6059805" cy="1428750"/>
          </a:xfrm>
        </p:grpSpPr>
        <p:sp>
          <p:nvSpPr>
            <p:cNvPr id="32" name="Rectangle 32"/>
            <p:cNvSpPr/>
            <p:nvPr/>
          </p:nvSpPr>
          <p:spPr>
            <a:xfrm>
              <a:off x="5598795" y="1524000"/>
              <a:ext cx="605980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608320" y="1657350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817870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10542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827395" y="209740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82843" y="2045494"/>
              <a:ext cx="51498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欧拉回路（一笔画）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：从某个顶点出发，每条边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恰好经过一次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并回到出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发点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5827395" y="262509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82843" y="2573179"/>
              <a:ext cx="54580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汉密尔顿回路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：从某个顶点出发，每个顶点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恰好经过一次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并回到出发点</a:t>
              </a:r>
            </a:p>
          </p:txBody>
        </p:sp>
      </p:grpSp>
      <p:grpSp>
        <p:nvGrpSpPr>
          <p:cNvPr id="56" name="c2-table-2"/>
          <p:cNvGrpSpPr/>
          <p:nvPr/>
        </p:nvGrpSpPr>
        <p:grpSpPr>
          <a:xfrm>
            <a:off x="5598795" y="3117532"/>
            <a:ext cx="6059805" cy="1517333"/>
            <a:chOff x="5598795" y="3117532"/>
            <a:chExt cx="6059805" cy="1517333"/>
          </a:xfrm>
        </p:grpSpPr>
        <p:sp>
          <p:nvSpPr>
            <p:cNvPr id="41" name="Rectangle 41"/>
            <p:cNvSpPr/>
            <p:nvPr/>
          </p:nvSpPr>
          <p:spPr>
            <a:xfrm>
              <a:off x="5598795" y="3117532"/>
              <a:ext cx="605980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58852" y="323564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55255" y="323564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78415" y="323564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93474" y="370998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欧拉回路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06006" y="3709988"/>
              <a:ext cx="16432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5-4-1-2-0-1-3-2-4-3-5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87231" y="3616643"/>
              <a:ext cx="227095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条边各走一次；顶点可以重复，1、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2、3、4 各到过两次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598795" y="40624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598795" y="4067175"/>
              <a:ext cx="605980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93474" y="42776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汉密尔顿回路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06006" y="427767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5-4-1-0-2-3-5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87231" y="4184332"/>
              <a:ext cx="22776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个顶点各到一次；只用了 6 条边，另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 4 条边没走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598795" y="3117532"/>
              <a:ext cx="6059805" cy="151733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806565" y="3117532"/>
              <a:ext cx="9525" cy="15173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987790" y="3117532"/>
              <a:ext cx="9525" cy="15173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allout-3"/>
          <p:cNvGrpSpPr/>
          <p:nvPr/>
        </p:nvGrpSpPr>
        <p:grpSpPr>
          <a:xfrm>
            <a:off x="5598795" y="4800600"/>
            <a:ext cx="6059805" cy="702945"/>
            <a:chOff x="5598795" y="4800600"/>
            <a:chExt cx="6059805" cy="702945"/>
          </a:xfrm>
        </p:grpSpPr>
        <p:sp>
          <p:nvSpPr>
            <p:cNvPr id="57" name="Rectangle 57"/>
            <p:cNvSpPr/>
            <p:nvPr/>
          </p:nvSpPr>
          <p:spPr>
            <a:xfrm>
              <a:off x="5598795" y="4800600"/>
              <a:ext cx="6059805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5803583" y="5051110"/>
              <a:ext cx="200023" cy="200023"/>
              <a:chOff x="5803583" y="5051110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5803583" y="50511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5936933" y="51177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106668" y="4944904"/>
              <a:ext cx="50685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欧拉回路存在的充要条件是“图连通且每个顶点的度都是偶数”，本图度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序列全为偶数，所以一定存在。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3" name="Rectangle 6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1273" y="6039326"/>
              <a:ext cx="9455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汉密尔顿回路至今没有这样简单的判据，判断它是否存在是 NP 完全问题，只能搜索。两个名字很像，条件的难易差得很远。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01868" cy="3351847"/>
            <a:chOff x="667512" y="1835468"/>
            <a:chExt cx="580186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子图、连通性与带权图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从局部的子图走到整体的连通分量，再给每条边贴上一个数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子图与支撑子图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连通图与强连通图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连通分量与强连通分量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带权图与带权路径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69817" cy="909257"/>
            <a:chOff x="520446" y="342900"/>
            <a:chExt cx="52698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子图、连通性与带权图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698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子图：从 G 里抽走一部分顶点和边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graph-1"/>
          <p:cNvGrpSpPr/>
          <p:nvPr/>
        </p:nvGrpSpPr>
        <p:grpSpPr>
          <a:xfrm>
            <a:off x="960120" y="1629728"/>
            <a:ext cx="3690938" cy="1837372"/>
            <a:chOff x="960120" y="1629728"/>
            <a:chExt cx="3690938" cy="1837372"/>
          </a:xfrm>
        </p:grpSpPr>
        <p:sp>
          <p:nvSpPr>
            <p:cNvPr id="7" name="Freeform 7"/>
            <p:cNvSpPr/>
            <p:nvPr/>
          </p:nvSpPr>
          <p:spPr>
            <a:xfrm>
              <a:off x="1388745" y="1839278"/>
              <a:ext cx="2833688" cy="9525"/>
            </a:xfrm>
            <a:custGeom>
              <a:avLst/>
              <a:gdLst/>
              <a:ahLst/>
              <a:cxnLst/>
              <a:rect l="l" t="t" r="r" b="b"/>
              <a:pathLst>
                <a:path w="2833688" h="9525">
                  <a:moveTo>
                    <a:pt x="0" y="0"/>
                  </a:moveTo>
                  <a:lnTo>
                    <a:pt x="283368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69670" y="2058352"/>
              <a:ext cx="9525" cy="980122"/>
            </a:xfrm>
            <a:custGeom>
              <a:avLst/>
              <a:gdLst/>
              <a:ahLst/>
              <a:cxnLst/>
              <a:rect l="l" t="t" r="r" b="b"/>
              <a:pathLst>
                <a:path w="9525" h="980122">
                  <a:moveTo>
                    <a:pt x="0" y="0"/>
                  </a:moveTo>
                  <a:lnTo>
                    <a:pt x="0" y="9801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007042" y="1925955"/>
              <a:ext cx="1233488" cy="535305"/>
            </a:xfrm>
            <a:custGeom>
              <a:avLst/>
              <a:gdLst/>
              <a:ahLst/>
              <a:cxnLst/>
              <a:rect l="l" t="t" r="r" b="b"/>
              <a:pathLst>
                <a:path w="1233488" h="535305">
                  <a:moveTo>
                    <a:pt x="1233488" y="0"/>
                  </a:moveTo>
                  <a:lnTo>
                    <a:pt x="0" y="5353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441508" y="2058352"/>
              <a:ext cx="9525" cy="980122"/>
            </a:xfrm>
            <a:custGeom>
              <a:avLst/>
              <a:gdLst/>
              <a:ahLst/>
              <a:cxnLst/>
              <a:rect l="l" t="t" r="r" b="b"/>
              <a:pathLst>
                <a:path w="9525" h="980122">
                  <a:moveTo>
                    <a:pt x="0" y="0"/>
                  </a:moveTo>
                  <a:lnTo>
                    <a:pt x="0" y="9801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70648" y="2635568"/>
              <a:ext cx="1234440" cy="534353"/>
            </a:xfrm>
            <a:custGeom>
              <a:avLst/>
              <a:gdLst/>
              <a:ahLst/>
              <a:cxnLst/>
              <a:rect l="l" t="t" r="r" b="b"/>
              <a:pathLst>
                <a:path w="1234440" h="534353">
                  <a:moveTo>
                    <a:pt x="1234440" y="0"/>
                  </a:moveTo>
                  <a:lnTo>
                    <a:pt x="0" y="53435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07042" y="2635568"/>
              <a:ext cx="1233488" cy="534353"/>
            </a:xfrm>
            <a:custGeom>
              <a:avLst/>
              <a:gdLst/>
              <a:ahLst/>
              <a:cxnLst/>
              <a:rect l="l" t="t" r="r" b="b"/>
              <a:pathLst>
                <a:path w="1233488" h="534353">
                  <a:moveTo>
                    <a:pt x="0" y="0"/>
                  </a:moveTo>
                  <a:lnTo>
                    <a:pt x="1233488" y="53435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960120" y="162972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4231958" y="162972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2596515" y="233838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960120" y="304800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231958" y="304800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82706" y="177355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54543" y="177355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19101" y="24831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82706" y="31918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54543" y="31918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v₅</a:t>
              </a:r>
            </a:p>
          </p:txBody>
        </p:sp>
      </p:grpSp>
      <p:grpSp>
        <p:nvGrpSpPr>
          <p:cNvPr id="25" name="c1-text-2"/>
          <p:cNvGrpSpPr/>
          <p:nvPr/>
        </p:nvGrpSpPr>
        <p:grpSpPr>
          <a:xfrm>
            <a:off x="1096742" y="3681889"/>
            <a:ext cx="3418647" cy="220028"/>
            <a:chOff x="1096742" y="3681889"/>
            <a:chExt cx="3418647" cy="220028"/>
          </a:xfrm>
        </p:grpSpPr>
        <p:sp>
          <p:nvSpPr>
            <p:cNvPr id="24" name="TextBox 24"/>
            <p:cNvSpPr txBox="1"/>
            <p:nvPr/>
          </p:nvSpPr>
          <p:spPr>
            <a:xfrm>
              <a:off x="1096742" y="3681889"/>
              <a:ext cx="3418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母图 G：5 个顶点、6 条边，本页与后面几页都用它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5382578" y="1524000"/>
            <a:ext cx="6276022" cy="1503045"/>
            <a:chOff x="5382578" y="1524000"/>
            <a:chExt cx="6276022" cy="1503045"/>
          </a:xfrm>
        </p:grpSpPr>
        <p:sp>
          <p:nvSpPr>
            <p:cNvPr id="26" name="Rectangle 26"/>
            <p:cNvSpPr/>
            <p:nvPr/>
          </p:nvSpPr>
          <p:spPr>
            <a:xfrm>
              <a:off x="5382578" y="1524000"/>
              <a:ext cx="6276022" cy="1503045"/>
            </a:xfrm>
            <a:prstGeom prst="roundRect">
              <a:avLst>
                <a:gd name="adj" fmla="val 88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92102" y="1657350"/>
              <a:ext cx="47625" cy="12363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607368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00039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73914" y="174593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子图、母图与支撑子图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615940" y="212788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771960" y="2071688"/>
              <a:ext cx="50372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设 G、H 是图，若 V(H) ⊆ V(G) 且 E(H) ⊆ E(G)，则称 H 是 G 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子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图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，G 是 H 的母图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615940" y="268509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771960" y="2628900"/>
              <a:ext cx="51644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若 H 是 G 的子图，并且 V(H) = V(G)，则称 H 为 G 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支撑子图</a:t>
              </a:r>
            </a:p>
          </p:txBody>
        </p:sp>
      </p:grpSp>
      <p:grpSp>
        <p:nvGrpSpPr>
          <p:cNvPr id="67" name="c2-table-2"/>
          <p:cNvGrpSpPr/>
          <p:nvPr/>
        </p:nvGrpSpPr>
        <p:grpSpPr>
          <a:xfrm>
            <a:off x="5377624" y="3196590"/>
            <a:ext cx="6280976" cy="2263806"/>
            <a:chOff x="5377624" y="3196590"/>
            <a:chExt cx="6280976" cy="2263806"/>
          </a:xfrm>
        </p:grpSpPr>
        <p:sp>
          <p:nvSpPr>
            <p:cNvPr id="36" name="Rectangle 36"/>
            <p:cNvSpPr/>
            <p:nvPr/>
          </p:nvSpPr>
          <p:spPr>
            <a:xfrm>
              <a:off x="5382578" y="3196590"/>
              <a:ext cx="627602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03278" y="33180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61628" y="3318034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V(H)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83823" y="3318034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E(H)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12234" y="33180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支撑子图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79732" y="371808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33160" y="371808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{v₁}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64792" y="3718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877550" y="371808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82578" y="39919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82578" y="3996690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479732" y="411813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33160" y="4118134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{v₁, v₂}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64792" y="411813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(v₁,v₂)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877550" y="411813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82578" y="43919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479732" y="451818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33160" y="4518184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{v₂, v₃, v₅}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64792" y="4518184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(v₂,v₃) (v₃,v₅) (v₂,v₅)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877550" y="451818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82578" y="47920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382578" y="4796790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479732" y="491823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H₄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33160" y="4918234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 5 个顶点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64792" y="4918234"/>
              <a:ext cx="24690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(v₁,v₄) (v₃,v₄) (v₃,v₅) (v₂,v₅)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877550" y="491823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82578" y="3196590"/>
              <a:ext cx="6276022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131242" y="319659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7762875" y="319659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775632" y="319659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377624" y="5269706"/>
              <a:ext cx="26713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H₃ 是 G 中唯一的三角形，H₄ 只删边不删顶点</a:t>
              </a:r>
            </a:p>
          </p:txBody>
        </p:sp>
      </p:grpSp>
      <p:grpSp>
        <p:nvGrpSpPr>
          <p:cNvPr id="73" name="c2-callout-3"/>
          <p:cNvGrpSpPr/>
          <p:nvPr/>
        </p:nvGrpSpPr>
        <p:grpSpPr>
          <a:xfrm>
            <a:off x="5382578" y="5592128"/>
            <a:ext cx="6276022" cy="729615"/>
            <a:chOff x="5382578" y="5592128"/>
            <a:chExt cx="6276022" cy="729615"/>
          </a:xfrm>
        </p:grpSpPr>
        <p:sp>
          <p:nvSpPr>
            <p:cNvPr id="68" name="Rectangle 68"/>
            <p:cNvSpPr/>
            <p:nvPr/>
          </p:nvSpPr>
          <p:spPr>
            <a:xfrm>
              <a:off x="5382578" y="5592128"/>
              <a:ext cx="6276022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5587365" y="5856925"/>
              <a:ext cx="200023" cy="200023"/>
              <a:chOff x="5587365" y="5856925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5587365" y="58569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5720715" y="59235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5890070" y="5738812"/>
              <a:ext cx="529437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删掉一个顶点时，与它关联的边必须一起删掉，否则 E(H) 里会出现端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点不在 V(H) 中的边。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14350" cy="909257"/>
            <a:chOff x="520446" y="342900"/>
            <a:chExt cx="871435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子图、连通性与带权图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1435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连通看的是“能不能走到”，有向图还要看“能不能走回来”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1956435"/>
            <a:chOff x="533400" y="1524000"/>
            <a:chExt cx="5410200" cy="19564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可及与连通图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4501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G 是图，若存在一条从顶点 vᵢ 到顶点 vⱼ 的路径，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则称 vᵢ 与 vⱼ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可及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（连通）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75082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G 为无向图，且图中任意两个顶点都可及，则称 G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为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连通图</a:t>
              </a:r>
            </a:p>
          </p:txBody>
        </p:sp>
      </p:grpSp>
      <p:grpSp>
        <p:nvGrpSpPr>
          <p:cNvPr id="34" name="c1-graph-2"/>
          <p:cNvGrpSpPr/>
          <p:nvPr/>
        </p:nvGrpSpPr>
        <p:grpSpPr>
          <a:xfrm>
            <a:off x="1090612" y="3682365"/>
            <a:ext cx="4295776" cy="1798797"/>
            <a:chOff x="1090612" y="3682365"/>
            <a:chExt cx="4295776" cy="1798797"/>
          </a:xfrm>
        </p:grpSpPr>
        <p:sp>
          <p:nvSpPr>
            <p:cNvPr id="17" name="Freeform 17"/>
            <p:cNvSpPr/>
            <p:nvPr/>
          </p:nvSpPr>
          <p:spPr>
            <a:xfrm>
              <a:off x="1500188" y="3882390"/>
              <a:ext cx="3476625" cy="9525"/>
            </a:xfrm>
            <a:custGeom>
              <a:avLst/>
              <a:gdLst/>
              <a:ahLst/>
              <a:cxnLst/>
              <a:rect l="l" t="t" r="r" b="b"/>
              <a:pathLst>
                <a:path w="3476625" h="9525">
                  <a:moveTo>
                    <a:pt x="0" y="0"/>
                  </a:moveTo>
                  <a:lnTo>
                    <a:pt x="34766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488758" y="3950970"/>
              <a:ext cx="1551622" cy="532447"/>
            </a:xfrm>
            <a:custGeom>
              <a:avLst/>
              <a:gdLst/>
              <a:ahLst/>
              <a:cxnLst/>
              <a:rect l="l" t="t" r="r" b="b"/>
              <a:pathLst>
                <a:path w="1551622" h="532447">
                  <a:moveTo>
                    <a:pt x="0" y="0"/>
                  </a:moveTo>
                  <a:lnTo>
                    <a:pt x="1551622" y="5324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436620" y="3950970"/>
              <a:ext cx="1551623" cy="532447"/>
            </a:xfrm>
            <a:custGeom>
              <a:avLst/>
              <a:gdLst/>
              <a:ahLst/>
              <a:cxnLst/>
              <a:rect l="l" t="t" r="r" b="b"/>
              <a:pathLst>
                <a:path w="1551623" h="532447">
                  <a:moveTo>
                    <a:pt x="1551623" y="0"/>
                  </a:moveTo>
                  <a:lnTo>
                    <a:pt x="0" y="5324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488758" y="4620578"/>
              <a:ext cx="1551622" cy="532447"/>
            </a:xfrm>
            <a:custGeom>
              <a:avLst/>
              <a:gdLst/>
              <a:ahLst/>
              <a:cxnLst/>
              <a:rect l="l" t="t" r="r" b="b"/>
              <a:pathLst>
                <a:path w="1551622" h="532447">
                  <a:moveTo>
                    <a:pt x="1551622" y="0"/>
                  </a:moveTo>
                  <a:lnTo>
                    <a:pt x="0" y="5324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436620" y="4620578"/>
              <a:ext cx="1551623" cy="532447"/>
            </a:xfrm>
            <a:custGeom>
              <a:avLst/>
              <a:gdLst/>
              <a:ahLst/>
              <a:cxnLst/>
              <a:rect l="l" t="t" r="r" b="b"/>
              <a:pathLst>
                <a:path w="1551623" h="532447">
                  <a:moveTo>
                    <a:pt x="0" y="0"/>
                  </a:moveTo>
                  <a:lnTo>
                    <a:pt x="1551623" y="5324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500188" y="5221605"/>
              <a:ext cx="3476625" cy="9525"/>
            </a:xfrm>
            <a:custGeom>
              <a:avLst/>
              <a:gdLst/>
              <a:ahLst/>
              <a:cxnLst/>
              <a:rect l="l" t="t" r="r" b="b"/>
              <a:pathLst>
                <a:path w="3476625" h="9525">
                  <a:moveTo>
                    <a:pt x="0" y="0"/>
                  </a:moveTo>
                  <a:lnTo>
                    <a:pt x="34766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090612" y="368236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986338" y="368236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38475" y="435197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090612" y="502158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4986338" y="502158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91250" y="380809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86975" y="380809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39112" y="447770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91250" y="51473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86975" y="51473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06623" y="52611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连通图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248400" y="1524000"/>
            <a:ext cx="5410200" cy="1621155"/>
            <a:chOff x="6248400" y="1524000"/>
            <a:chExt cx="5410200" cy="1621155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97078" y="176879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强连通图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88430" y="2129790"/>
              <a:ext cx="47301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G 为有向图，且对于图中任意两个不同的顶点 vᵢ 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vⱼ，vᵢ 与 vⱼ 可及、vⱼ 与 vᵢ 也可及，则称 G 为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强连通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图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3" name="c2-graph-2"/>
          <p:cNvGrpSpPr/>
          <p:nvPr/>
        </p:nvGrpSpPr>
        <p:grpSpPr>
          <a:xfrm>
            <a:off x="6697980" y="3345180"/>
            <a:ext cx="4511040" cy="2102644"/>
            <a:chOff x="6697980" y="3345180"/>
            <a:chExt cx="4511040" cy="2102644"/>
          </a:xfrm>
        </p:grpSpPr>
        <p:sp>
          <p:nvSpPr>
            <p:cNvPr id="42" name="Freeform 42"/>
            <p:cNvSpPr/>
            <p:nvPr/>
          </p:nvSpPr>
          <p:spPr>
            <a:xfrm>
              <a:off x="7091362" y="3660458"/>
              <a:ext cx="1580197" cy="644842"/>
            </a:xfrm>
            <a:custGeom>
              <a:avLst/>
              <a:gdLst/>
              <a:ahLst/>
              <a:cxnLst/>
              <a:rect l="l" t="t" r="r" b="b"/>
              <a:pathLst>
                <a:path w="1580197" h="644842">
                  <a:moveTo>
                    <a:pt x="0" y="644842"/>
                  </a:moveTo>
                  <a:lnTo>
                    <a:pt x="158019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653462" y="3616642"/>
              <a:ext cx="105728" cy="87630"/>
            </a:xfrm>
            <a:custGeom>
              <a:avLst/>
              <a:gdLst/>
              <a:ahLst/>
              <a:cxnLst/>
              <a:rect l="l" t="t" r="r" b="b"/>
              <a:pathLst>
                <a:path w="105728" h="87630">
                  <a:moveTo>
                    <a:pt x="105728" y="7620"/>
                  </a:moveTo>
                  <a:lnTo>
                    <a:pt x="36195" y="87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9147810" y="3624262"/>
              <a:ext cx="1579245" cy="644842"/>
            </a:xfrm>
            <a:custGeom>
              <a:avLst/>
              <a:gdLst/>
              <a:ahLst/>
              <a:cxnLst/>
              <a:rect l="l" t="t" r="r" b="b"/>
              <a:pathLst>
                <a:path w="1579245" h="644842">
                  <a:moveTo>
                    <a:pt x="0" y="0"/>
                  </a:moveTo>
                  <a:lnTo>
                    <a:pt x="1579245" y="6448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708958" y="4225290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80010"/>
                  </a:moveTo>
                  <a:lnTo>
                    <a:pt x="0" y="87630"/>
                  </a:lnTo>
                  <a:lnTo>
                    <a:pt x="3619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7202805" y="4384358"/>
              <a:ext cx="3596640" cy="9525"/>
            </a:xfrm>
            <a:custGeom>
              <a:avLst/>
              <a:gdLst/>
              <a:ahLst/>
              <a:cxnLst/>
              <a:rect l="l" t="t" r="r" b="b"/>
              <a:pathLst>
                <a:path w="3596640" h="9525">
                  <a:moveTo>
                    <a:pt x="359664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7107555" y="43367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7091362" y="4463415"/>
              <a:ext cx="1580197" cy="644842"/>
            </a:xfrm>
            <a:custGeom>
              <a:avLst/>
              <a:gdLst/>
              <a:ahLst/>
              <a:cxnLst/>
              <a:rect l="l" t="t" r="r" b="b"/>
              <a:pathLst>
                <a:path w="1580197" h="644842">
                  <a:moveTo>
                    <a:pt x="0" y="0"/>
                  </a:moveTo>
                  <a:lnTo>
                    <a:pt x="1580197" y="6448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653462" y="5064442"/>
              <a:ext cx="105728" cy="87630"/>
            </a:xfrm>
            <a:custGeom>
              <a:avLst/>
              <a:gdLst/>
              <a:ahLst/>
              <a:cxnLst/>
              <a:rect l="l" t="t" r="r" b="b"/>
              <a:pathLst>
                <a:path w="105728" h="87630">
                  <a:moveTo>
                    <a:pt x="105728" y="80010"/>
                  </a:moveTo>
                  <a:lnTo>
                    <a:pt x="0" y="87630"/>
                  </a:lnTo>
                  <a:lnTo>
                    <a:pt x="3619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9147810" y="4499610"/>
              <a:ext cx="1579245" cy="644843"/>
            </a:xfrm>
            <a:custGeom>
              <a:avLst/>
              <a:gdLst/>
              <a:ahLst/>
              <a:cxnLst/>
              <a:rect l="l" t="t" r="r" b="b"/>
              <a:pathLst>
                <a:path w="1579245" h="644843">
                  <a:moveTo>
                    <a:pt x="0" y="644843"/>
                  </a:moveTo>
                  <a:lnTo>
                    <a:pt x="15792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0708958" y="4455795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7620"/>
                  </a:moveTo>
                  <a:lnTo>
                    <a:pt x="36195" y="87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8953500" y="3850005"/>
              <a:ext cx="9525" cy="1163955"/>
            </a:xfrm>
            <a:custGeom>
              <a:avLst/>
              <a:gdLst/>
              <a:ahLst/>
              <a:cxnLst/>
              <a:rect l="l" t="t" r="r" b="b"/>
              <a:pathLst>
                <a:path w="9525" h="1163955">
                  <a:moveTo>
                    <a:pt x="0" y="116395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8905875" y="37547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8753475" y="334518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6697980" y="418433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10808970" y="418433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8753475" y="502348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854112" y="34709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98617" y="431006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909607" y="431006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854112" y="514826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98374" y="52277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强连通图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4" name="Rectangle 6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130" y="5991225"/>
              <a:ext cx="96069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有向图里 vᵢ 可及 vⱼ 不代表 vⱼ 可及 vᵢ。上图从任一顶点出发都能回到其余每个顶点，所以才是强连通图。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58175" cy="909257"/>
            <a:chOff x="520446" y="342900"/>
            <a:chExt cx="62581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子图、连通性与带权图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581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例题：至少多少条边才能“确保”一定连通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951220" cy="1671638"/>
            <a:chOff x="533400" y="1524000"/>
            <a:chExt cx="5951220" cy="16716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52475" y="203358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04382" y="20692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2223" y="2045494"/>
              <a:ext cx="49466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具有 n 个顶点的无向图，当至少有____条边时可确保它一定是一个连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通图。【吉林大学考研题】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52475" y="25622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4382" y="259689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2223" y="2573179"/>
              <a:ext cx="49629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无向图 G 包含 7 个顶点，要保证 G 在任何情况下都是连通的，则需要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边数最少是____条。A. 6　B. 15　C. 16　D. 21【考研题全国卷】</a:t>
              </a:r>
            </a:p>
          </p:txBody>
        </p:sp>
      </p:grpSp>
      <p:grpSp>
        <p:nvGrpSpPr>
          <p:cNvPr id="35" name="c1-steps-2"/>
          <p:cNvGrpSpPr/>
          <p:nvPr/>
        </p:nvGrpSpPr>
        <p:grpSpPr>
          <a:xfrm>
            <a:off x="533400" y="3369945"/>
            <a:ext cx="5718429" cy="2343722"/>
            <a:chOff x="533400" y="3369945"/>
            <a:chExt cx="5718429" cy="2343722"/>
          </a:xfrm>
        </p:grpSpPr>
        <p:sp>
          <p:nvSpPr>
            <p:cNvPr id="18" name="Rectangle 18"/>
            <p:cNvSpPr/>
            <p:nvPr/>
          </p:nvSpPr>
          <p:spPr>
            <a:xfrm>
              <a:off x="666750" y="3512820"/>
              <a:ext cx="19050" cy="18526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33400" y="33699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34437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1167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41905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46701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7024" y="47439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522255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7024" y="52963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340090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想最坏的摆法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7166" y="3655695"/>
              <a:ext cx="530466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边再多也可能不连通的摆法只有一种形状：n − 1 个顶点连成完全图，剩下 1 个顶点孤立在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023" y="414766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数这时的边数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7166" y="4401502"/>
              <a:ext cx="31486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这种摆法共有 (n−1)(n−2)/2 条边，此时仍不连通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023" y="47001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再加一条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7166" y="4954905"/>
              <a:ext cx="52265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完全图内部已经满了，第 (n−1)(n−2)/2 + 1 条边只能连到孤立顶点上，图必然连通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023" y="5253514"/>
              <a:ext cx="8189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 n = 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7166" y="5508308"/>
              <a:ext cx="1558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+ 1 = 16，第二问选 C</a:t>
              </a:r>
            </a:p>
          </p:txBody>
        </p:sp>
      </p:grpSp>
      <p:grpSp>
        <p:nvGrpSpPr>
          <p:cNvPr id="49" name="c2-graph-1"/>
          <p:cNvGrpSpPr/>
          <p:nvPr/>
        </p:nvGrpSpPr>
        <p:grpSpPr>
          <a:xfrm>
            <a:off x="7425690" y="1664970"/>
            <a:ext cx="3986212" cy="1317974"/>
            <a:chOff x="7425690" y="1664970"/>
            <a:chExt cx="3986212" cy="1317974"/>
          </a:xfrm>
        </p:grpSpPr>
        <p:sp>
          <p:nvSpPr>
            <p:cNvPr id="36" name="Freeform 36"/>
            <p:cNvSpPr/>
            <p:nvPr/>
          </p:nvSpPr>
          <p:spPr>
            <a:xfrm>
              <a:off x="7720965" y="1807845"/>
              <a:ext cx="1740217" cy="9525"/>
            </a:xfrm>
            <a:custGeom>
              <a:avLst/>
              <a:gdLst/>
              <a:ahLst/>
              <a:cxnLst/>
              <a:rect l="l" t="t" r="r" b="b"/>
              <a:pathLst>
                <a:path w="1740217" h="9525">
                  <a:moveTo>
                    <a:pt x="0" y="0"/>
                  </a:moveTo>
                  <a:lnTo>
                    <a:pt x="174021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568565" y="1960245"/>
              <a:ext cx="9525" cy="516255"/>
            </a:xfrm>
            <a:custGeom>
              <a:avLst/>
              <a:gdLst/>
              <a:ahLst/>
              <a:cxnLst/>
              <a:rect l="l" t="t" r="r" b="b"/>
              <a:pathLst>
                <a:path w="9525" h="516255">
                  <a:moveTo>
                    <a:pt x="0" y="0"/>
                  </a:moveTo>
                  <a:lnTo>
                    <a:pt x="0" y="5162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709535" y="1864042"/>
              <a:ext cx="1762125" cy="708660"/>
            </a:xfrm>
            <a:custGeom>
              <a:avLst/>
              <a:gdLst/>
              <a:ahLst/>
              <a:cxnLst/>
              <a:rect l="l" t="t" r="r" b="b"/>
              <a:pathLst>
                <a:path w="1762125" h="708660">
                  <a:moveTo>
                    <a:pt x="0" y="0"/>
                  </a:moveTo>
                  <a:lnTo>
                    <a:pt x="1762125" y="7086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709535" y="1864042"/>
              <a:ext cx="1762125" cy="708660"/>
            </a:xfrm>
            <a:custGeom>
              <a:avLst/>
              <a:gdLst/>
              <a:ahLst/>
              <a:cxnLst/>
              <a:rect l="l" t="t" r="r" b="b"/>
              <a:pathLst>
                <a:path w="1762125" h="708660">
                  <a:moveTo>
                    <a:pt x="1762125" y="0"/>
                  </a:moveTo>
                  <a:lnTo>
                    <a:pt x="0" y="7086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613582" y="1960245"/>
              <a:ext cx="9525" cy="516255"/>
            </a:xfrm>
            <a:custGeom>
              <a:avLst/>
              <a:gdLst/>
              <a:ahLst/>
              <a:cxnLst/>
              <a:rect l="l" t="t" r="r" b="b"/>
              <a:pathLst>
                <a:path w="9525" h="516255">
                  <a:moveTo>
                    <a:pt x="0" y="0"/>
                  </a:moveTo>
                  <a:lnTo>
                    <a:pt x="0" y="5162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720965" y="2628900"/>
              <a:ext cx="1740217" cy="9525"/>
            </a:xfrm>
            <a:custGeom>
              <a:avLst/>
              <a:gdLst/>
              <a:ahLst/>
              <a:cxnLst/>
              <a:rect l="l" t="t" r="r" b="b"/>
              <a:pathLst>
                <a:path w="1740217" h="9525">
                  <a:moveTo>
                    <a:pt x="0" y="0"/>
                  </a:moveTo>
                  <a:lnTo>
                    <a:pt x="174021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7425690" y="166497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9470708" y="166497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7425690" y="24860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9470708" y="24860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11126152" y="2075498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747904" y="2792254"/>
              <a:ext cx="16853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 个顶点连成完全图，6 条边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132147" y="17302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孤立</a:t>
              </a:r>
            </a:p>
          </p:txBody>
        </p:sp>
      </p:grpSp>
      <p:grpSp>
        <p:nvGrpSpPr>
          <p:cNvPr id="76" name="c2-table-2"/>
          <p:cNvGrpSpPr/>
          <p:nvPr/>
        </p:nvGrpSpPr>
        <p:grpSpPr>
          <a:xfrm>
            <a:off x="6784467" y="3106102"/>
            <a:ext cx="4874133" cy="2170462"/>
            <a:chOff x="6784467" y="3106102"/>
            <a:chExt cx="4874133" cy="2170462"/>
          </a:xfrm>
        </p:grpSpPr>
        <p:sp>
          <p:nvSpPr>
            <p:cNvPr id="50" name="Rectangle 50"/>
            <p:cNvSpPr/>
            <p:nvPr/>
          </p:nvSpPr>
          <p:spPr>
            <a:xfrm>
              <a:off x="6789420" y="3106102"/>
              <a:ext cx="486918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247143" y="32232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28648" y="322326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最坏摆法的边数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088690" y="322326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确保连通所需边数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47143" y="36042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84504" y="360426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615222" y="360426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789420" y="386334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789420" y="3868102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247143" y="39862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684504" y="398621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15222" y="398621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789420" y="424529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247143" y="43672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645633" y="436721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576350" y="436721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789420" y="462629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789420" y="4631055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247143" y="47482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645633" y="474821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670732" y="4640580"/>
              <a:ext cx="197834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576350" y="474821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789420" y="3106102"/>
              <a:ext cx="486918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792402" y="310610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9656445" y="310610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784467" y="5085874"/>
              <a:ext cx="17183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已用穷举对 n = 3…7 逐一验证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7" name="Rectangle 7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1273" y="6039326"/>
              <a:ext cx="85166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区分两个问法：“连通图至少要几条边”答 n − 1（树），“至少几条边才能确保一定连通”答 (n−1)(n−2)/2 + 1。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57493" cy="909257"/>
            <a:chOff x="520446" y="342900"/>
            <a:chExt cx="75574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子图、连通性与带权图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574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例题：非连通图的顶点下界，与 2022 年的四选一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386840"/>
            <a:chOff x="533400" y="1524000"/>
            <a:chExt cx="5410200" cy="13868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50773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是一个具有 36 条边的无向非连通图，则 G 的顶点数至少为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____。A. 12　B. 11　C. 10　D. 9【北京大学、吉林大学考研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题】</a:t>
              </a:r>
            </a:p>
          </p:txBody>
        </p:sp>
      </p:grpSp>
      <p:grpSp>
        <p:nvGrpSpPr>
          <p:cNvPr id="26" name="c1-steps-2"/>
          <p:cNvGrpSpPr/>
          <p:nvPr/>
        </p:nvGrpSpPr>
        <p:grpSpPr>
          <a:xfrm>
            <a:off x="533400" y="3085148"/>
            <a:ext cx="5178362" cy="2177033"/>
            <a:chOff x="533400" y="3085148"/>
            <a:chExt cx="5178362" cy="2177033"/>
          </a:xfrm>
        </p:grpSpPr>
        <p:sp>
          <p:nvSpPr>
            <p:cNvPr id="13" name="Rectangle 13"/>
            <p:cNvSpPr/>
            <p:nvPr/>
          </p:nvSpPr>
          <p:spPr>
            <a:xfrm>
              <a:off x="666750" y="3228022"/>
              <a:ext cx="19050" cy="14925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30851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589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319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05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57771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6515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311610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先用边数上界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3370898"/>
              <a:ext cx="4484561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个顶点的无向简单图最多 n(n−1)/2 条边，由 36 ≤ n(n−1)/2 得 n(n−1) ≥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72，故 n ≥ 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861911"/>
              <a:ext cx="8189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 n = 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4116705"/>
              <a:ext cx="476459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个顶点最多 36 条边，恰好只能是完全图 K₉，而 K₉ 是连通的，与题目要求的非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连通矛盾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4608671"/>
              <a:ext cx="9184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 n = 10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4863465"/>
              <a:ext cx="472459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9 个顶点连成 K₉（36 条边），第 10 个顶点孤立，恰好 36 条边且不连通，下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界可以取到。答案选 C</a:t>
              </a:r>
            </a:p>
          </p:txBody>
        </p:sp>
      </p:grpSp>
      <p:grpSp>
        <p:nvGrpSpPr>
          <p:cNvPr id="32" name="c1-callout-3"/>
          <p:cNvGrpSpPr/>
          <p:nvPr/>
        </p:nvGrpSpPr>
        <p:grpSpPr>
          <a:xfrm>
            <a:off x="533400" y="5423535"/>
            <a:ext cx="5410200" cy="702945"/>
            <a:chOff x="533400" y="5423535"/>
            <a:chExt cx="5410200" cy="702945"/>
          </a:xfrm>
        </p:grpSpPr>
        <p:sp>
          <p:nvSpPr>
            <p:cNvPr id="27" name="Rectangle 27"/>
            <p:cNvSpPr/>
            <p:nvPr/>
          </p:nvSpPr>
          <p:spPr>
            <a:xfrm>
              <a:off x="533400" y="5423535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674997"/>
              <a:ext cx="200023" cy="200023"/>
              <a:chOff x="738188" y="5674997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6749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1538" y="57416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1273" y="5568791"/>
              <a:ext cx="43939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关键在“非连通”三个字：它把 n = 9 这个解排除掉，答案才从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 变成 10。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248400" y="1524000"/>
            <a:ext cx="5410200" cy="1143952"/>
            <a:chOff x="6248400" y="1524000"/>
            <a:chExt cx="5410200" cy="1143952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67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60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0998" y="2045494"/>
              <a:ext cx="46865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对于无向图 G = (V, E)，下列选项中正确的是____。【2022 年考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研题全国卷】</a:t>
              </a:r>
            </a:p>
          </p:txBody>
        </p:sp>
      </p:grpSp>
      <p:grpSp>
        <p:nvGrpSpPr>
          <p:cNvPr id="64" name="c2-table-2"/>
          <p:cNvGrpSpPr/>
          <p:nvPr/>
        </p:nvGrpSpPr>
        <p:grpSpPr>
          <a:xfrm>
            <a:off x="6248400" y="2832735"/>
            <a:ext cx="5410200" cy="2280285"/>
            <a:chOff x="6248400" y="2832735"/>
            <a:chExt cx="5410200" cy="2280285"/>
          </a:xfrm>
        </p:grpSpPr>
        <p:sp>
          <p:nvSpPr>
            <p:cNvPr id="39" name="Rectangle 39"/>
            <p:cNvSpPr/>
            <p:nvPr/>
          </p:nvSpPr>
          <p:spPr>
            <a:xfrm>
              <a:off x="6248400" y="2832735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13245" y="29498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49578" y="29498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对错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31121" y="294989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反例或理由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43079" y="3331845"/>
              <a:ext cx="14387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|V| &gt; |E| 时一定连通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66138" y="333184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15744" y="3331845"/>
              <a:ext cx="1678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3、e = 0 的三个孤立点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35909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48400" y="359568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43079" y="3712845"/>
              <a:ext cx="14387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|V| &lt; |E| 时一定连通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66138" y="371284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15744" y="3712845"/>
              <a:ext cx="21279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5、e = 6：K₄ 外加一个孤立点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39719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43079" y="4094798"/>
              <a:ext cx="129282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|V| = |E| − 1 时一定</a:t>
              </a:r>
              <a:br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不连通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66138" y="418814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15744" y="4188143"/>
              <a:ext cx="24107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4、e = 5：K₄ 去掉一条边，仍连通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45405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48400" y="4545330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43079" y="4662488"/>
              <a:ext cx="129282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|V| &gt; |E| + 1 时一定</a:t>
              </a:r>
              <a:br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不连通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880985" y="4554855"/>
              <a:ext cx="630555" cy="5486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966138" y="475583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615744" y="4755832"/>
              <a:ext cx="24277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连通至少要 n − 1 条边，此时 e &lt; n − 1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2832735"/>
              <a:ext cx="5410200" cy="22802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866698" y="2832735"/>
              <a:ext cx="9525" cy="2280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8516302" y="2832735"/>
              <a:ext cx="9525" cy="2280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c2-callout-3"/>
          <p:cNvGrpSpPr/>
          <p:nvPr/>
        </p:nvGrpSpPr>
        <p:grpSpPr>
          <a:xfrm>
            <a:off x="6248400" y="5277802"/>
            <a:ext cx="5410200" cy="848678"/>
            <a:chOff x="6248400" y="5277802"/>
            <a:chExt cx="5410200" cy="848678"/>
          </a:xfrm>
        </p:grpSpPr>
        <p:sp>
          <p:nvSpPr>
            <p:cNvPr id="65" name="Rectangle 65"/>
            <p:cNvSpPr/>
            <p:nvPr/>
          </p:nvSpPr>
          <p:spPr>
            <a:xfrm>
              <a:off x="6248400" y="5277802"/>
              <a:ext cx="5410200" cy="848678"/>
            </a:xfrm>
            <a:prstGeom prst="roundRect">
              <a:avLst>
                <a:gd name="adj" fmla="val 13468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453188" y="5601655"/>
              <a:ext cx="200023" cy="200023"/>
              <a:chOff x="6453188" y="5601655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453188" y="56016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586538" y="56683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756273" y="5495449"/>
              <a:ext cx="43370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 的实质是把“连通 ⇒ e ≥ n − 1”反过来说。n ≤ 7 的全部图已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穷举验证，e &lt; n − 1 时无一连通。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子图、连通性与带权图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连通子图：既要是子图，自己还要连通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graph-1"/>
          <p:cNvGrpSpPr/>
          <p:nvPr/>
        </p:nvGrpSpPr>
        <p:grpSpPr>
          <a:xfrm>
            <a:off x="960120" y="1612582"/>
            <a:ext cx="3690938" cy="1761173"/>
            <a:chOff x="960120" y="1612582"/>
            <a:chExt cx="3690938" cy="1761173"/>
          </a:xfrm>
        </p:grpSpPr>
        <p:sp>
          <p:nvSpPr>
            <p:cNvPr id="7" name="Freeform 7"/>
            <p:cNvSpPr/>
            <p:nvPr/>
          </p:nvSpPr>
          <p:spPr>
            <a:xfrm>
              <a:off x="1388745" y="1822132"/>
              <a:ext cx="2833688" cy="9525"/>
            </a:xfrm>
            <a:custGeom>
              <a:avLst/>
              <a:gdLst/>
              <a:ahLst/>
              <a:cxnLst/>
              <a:rect l="l" t="t" r="r" b="b"/>
              <a:pathLst>
                <a:path w="2833688" h="9525">
                  <a:moveTo>
                    <a:pt x="0" y="0"/>
                  </a:moveTo>
                  <a:lnTo>
                    <a:pt x="283368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69670" y="2041208"/>
              <a:ext cx="9525" cy="903922"/>
            </a:xfrm>
            <a:custGeom>
              <a:avLst/>
              <a:gdLst/>
              <a:ahLst/>
              <a:cxnLst/>
              <a:rect l="l" t="t" r="r" b="b"/>
              <a:pathLst>
                <a:path w="9525" h="903922">
                  <a:moveTo>
                    <a:pt x="0" y="0"/>
                  </a:moveTo>
                  <a:lnTo>
                    <a:pt x="0" y="9039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007995" y="1905000"/>
              <a:ext cx="1230630" cy="504825"/>
            </a:xfrm>
            <a:custGeom>
              <a:avLst/>
              <a:gdLst/>
              <a:ahLst/>
              <a:cxnLst/>
              <a:rect l="l" t="t" r="r" b="b"/>
              <a:pathLst>
                <a:path w="1230630" h="504825">
                  <a:moveTo>
                    <a:pt x="1230630" y="0"/>
                  </a:moveTo>
                  <a:lnTo>
                    <a:pt x="0" y="5048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441508" y="2041208"/>
              <a:ext cx="9525" cy="903922"/>
            </a:xfrm>
            <a:custGeom>
              <a:avLst/>
              <a:gdLst/>
              <a:ahLst/>
              <a:cxnLst/>
              <a:rect l="l" t="t" r="r" b="b"/>
              <a:pathLst>
                <a:path w="9525" h="903922">
                  <a:moveTo>
                    <a:pt x="0" y="0"/>
                  </a:moveTo>
                  <a:lnTo>
                    <a:pt x="0" y="9039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72552" y="2576512"/>
              <a:ext cx="1230630" cy="503872"/>
            </a:xfrm>
            <a:custGeom>
              <a:avLst/>
              <a:gdLst/>
              <a:ahLst/>
              <a:cxnLst/>
              <a:rect l="l" t="t" r="r" b="b"/>
              <a:pathLst>
                <a:path w="1230630" h="503872">
                  <a:moveTo>
                    <a:pt x="1230630" y="0"/>
                  </a:moveTo>
                  <a:lnTo>
                    <a:pt x="0" y="50387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07995" y="2576512"/>
              <a:ext cx="1230630" cy="503872"/>
            </a:xfrm>
            <a:custGeom>
              <a:avLst/>
              <a:gdLst/>
              <a:ahLst/>
              <a:cxnLst/>
              <a:rect l="l" t="t" r="r" b="b"/>
              <a:pathLst>
                <a:path w="1230630" h="503872">
                  <a:moveTo>
                    <a:pt x="0" y="0"/>
                  </a:moveTo>
                  <a:lnTo>
                    <a:pt x="1230630" y="50387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960120" y="161258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4231958" y="161258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2596515" y="228314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960120" y="295465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231958" y="295465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76883" y="175212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48720" y="175212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13278" y="242268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76883" y="30941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48720" y="30941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v₅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3562350"/>
            <a:ext cx="4544378" cy="1934528"/>
            <a:chOff x="533400" y="3562350"/>
            <a:chExt cx="4544378" cy="1934528"/>
          </a:xfrm>
        </p:grpSpPr>
        <p:sp>
          <p:nvSpPr>
            <p:cNvPr id="24" name="Rectangle 24"/>
            <p:cNvSpPr/>
            <p:nvPr/>
          </p:nvSpPr>
          <p:spPr>
            <a:xfrm>
              <a:off x="533400" y="3562350"/>
              <a:ext cx="4544378" cy="1934528"/>
            </a:xfrm>
            <a:prstGeom prst="roundRect">
              <a:avLst>
                <a:gd name="adj" fmla="val 68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3695700"/>
              <a:ext cx="47625" cy="166782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3905" y="375475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5345" y="37890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7047" y="4111942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设图 G 是无向图，若 G 的子图 Gₖ 是一个连通图，则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称 Gₖ 为 G 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连通子图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5382578" y="1524000"/>
            <a:ext cx="6276022" cy="2028825"/>
            <a:chOff x="5382578" y="1524000"/>
            <a:chExt cx="6276022" cy="2028825"/>
          </a:xfrm>
        </p:grpSpPr>
        <p:sp>
          <p:nvSpPr>
            <p:cNvPr id="30" name="Rectangle 30"/>
            <p:cNvSpPr/>
            <p:nvPr/>
          </p:nvSpPr>
          <p:spPr>
            <a:xfrm>
              <a:off x="5382578" y="1524000"/>
              <a:ext cx="6276022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01894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源课件的图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3464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顶点与边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19437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是连通子图吗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82590" y="205406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6525" y="2054066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{v₁}，没有边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97315" y="2054066"/>
              <a:ext cx="1865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单个顶点本身就是连通的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82578" y="23307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82578" y="2335530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82590" y="245983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(c)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86525" y="2459831"/>
              <a:ext cx="16096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{v₁, v₂} 与边 (v₁,v₂)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97315" y="24598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82578" y="273653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82590" y="286559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(d)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86525" y="2865596"/>
              <a:ext cx="1579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{v₁, v₂, v₃} 与三条边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997315" y="2865596"/>
              <a:ext cx="2222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用到了 G 中没有的边 (v₁,v₃)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82578" y="31422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82578" y="3147060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482590" y="327136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(e)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86525" y="3271361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 5 个顶点与 4 条边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997315" y="3271361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而且是支撑子图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82578" y="1524000"/>
              <a:ext cx="6276022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381750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892540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ard-2"/>
          <p:cNvGrpSpPr/>
          <p:nvPr/>
        </p:nvGrpSpPr>
        <p:grpSpPr>
          <a:xfrm>
            <a:off x="5382578" y="3728085"/>
            <a:ext cx="6276022" cy="1768792"/>
            <a:chOff x="5382578" y="3728085"/>
            <a:chExt cx="6276022" cy="1768792"/>
          </a:xfrm>
        </p:grpSpPr>
        <p:sp>
          <p:nvSpPr>
            <p:cNvPr id="55" name="Rectangle 55"/>
            <p:cNvSpPr/>
            <p:nvPr/>
          </p:nvSpPr>
          <p:spPr>
            <a:xfrm>
              <a:off x="5382578" y="3728085"/>
              <a:ext cx="6276022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392102" y="3861435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613082" y="39204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704522" y="39547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606224" y="4276725"/>
              <a:ext cx="52086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更正：源课件第 30 页的图 (d) 画成三角形 v₁ v₂ v₃，但 G 中没有边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(v₁, v₃)，它不是 G 的子图，也就谈不上连通子图。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5621655" y="489299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777674" y="4836795"/>
              <a:ext cx="51477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G 中唯一的三角形是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v₂ v₃ v₅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，源课件第 24 页列举子图时画的正是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它，把 (d) 的顶点改成 v₂ v₃ v₅ 即可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3" name="Rectangle 6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892" y="6023610"/>
              <a:ext cx="103908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一个图的连通子图通常有很多个，单个顶点、单条边都算。所以只说“连通子图”还不足以刻画图的结构，下一页要再加一个条件。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子图、连通性与带权图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连通分量：再也扩不大的连通子图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graph-1"/>
          <p:cNvGrpSpPr/>
          <p:nvPr/>
        </p:nvGrpSpPr>
        <p:grpSpPr>
          <a:xfrm>
            <a:off x="786765" y="1728788"/>
            <a:ext cx="4063365" cy="4311014"/>
            <a:chOff x="786765" y="1728788"/>
            <a:chExt cx="4063365" cy="4311014"/>
          </a:xfrm>
        </p:grpSpPr>
        <p:sp>
          <p:nvSpPr>
            <p:cNvPr id="7" name="Freeform 7"/>
            <p:cNvSpPr/>
            <p:nvPr/>
          </p:nvSpPr>
          <p:spPr>
            <a:xfrm>
              <a:off x="1120140" y="1895475"/>
              <a:ext cx="3188970" cy="81915"/>
            </a:xfrm>
            <a:custGeom>
              <a:avLst/>
              <a:gdLst/>
              <a:ahLst/>
              <a:cxnLst/>
              <a:rect l="l" t="t" r="r" b="b"/>
              <a:pathLst>
                <a:path w="3188970" h="81915">
                  <a:moveTo>
                    <a:pt x="0" y="81915"/>
                  </a:moveTo>
                  <a:lnTo>
                    <a:pt x="31889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088708" y="2081212"/>
              <a:ext cx="759142" cy="535305"/>
            </a:xfrm>
            <a:custGeom>
              <a:avLst/>
              <a:gdLst/>
              <a:ahLst/>
              <a:cxnLst/>
              <a:rect l="l" t="t" r="r" b="b"/>
              <a:pathLst>
                <a:path w="759142" h="535305">
                  <a:moveTo>
                    <a:pt x="0" y="0"/>
                  </a:moveTo>
                  <a:lnTo>
                    <a:pt x="759142" y="5353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018222" y="2139315"/>
              <a:ext cx="588645" cy="1336357"/>
            </a:xfrm>
            <a:custGeom>
              <a:avLst/>
              <a:gdLst/>
              <a:ahLst/>
              <a:cxnLst/>
              <a:rect l="l" t="t" r="r" b="b"/>
              <a:pathLst>
                <a:path w="588645" h="1336357">
                  <a:moveTo>
                    <a:pt x="0" y="0"/>
                  </a:moveTo>
                  <a:lnTo>
                    <a:pt x="588645" y="133635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48690" y="2153602"/>
              <a:ext cx="9525" cy="3552825"/>
            </a:xfrm>
            <a:custGeom>
              <a:avLst/>
              <a:gdLst/>
              <a:ahLst/>
              <a:cxnLst/>
              <a:rect l="l" t="t" r="r" b="b"/>
              <a:pathLst>
                <a:path w="9525" h="3552825">
                  <a:moveTo>
                    <a:pt x="0" y="0"/>
                  </a:moveTo>
                  <a:lnTo>
                    <a:pt x="0" y="35528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489132" y="2062162"/>
              <a:ext cx="190500" cy="3644265"/>
            </a:xfrm>
            <a:custGeom>
              <a:avLst/>
              <a:gdLst/>
              <a:ahLst/>
              <a:cxnLst/>
              <a:rect l="l" t="t" r="r" b="b"/>
              <a:pathLst>
                <a:path w="190500" h="3644265">
                  <a:moveTo>
                    <a:pt x="0" y="0"/>
                  </a:moveTo>
                  <a:lnTo>
                    <a:pt x="190500" y="36442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93720" y="2532698"/>
              <a:ext cx="592455" cy="9525"/>
            </a:xfrm>
            <a:custGeom>
              <a:avLst/>
              <a:gdLst/>
              <a:ahLst/>
              <a:cxnLst/>
              <a:rect l="l" t="t" r="r" b="b"/>
              <a:pathLst>
                <a:path w="592455" h="9525">
                  <a:moveTo>
                    <a:pt x="0" y="0"/>
                  </a:moveTo>
                  <a:lnTo>
                    <a:pt x="5924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197542" y="3952875"/>
              <a:ext cx="903923" cy="9525"/>
            </a:xfrm>
            <a:custGeom>
              <a:avLst/>
              <a:gdLst/>
              <a:ahLst/>
              <a:cxnLst/>
              <a:rect l="l" t="t" r="r" b="b"/>
              <a:pathLst>
                <a:path w="903923" h="9525">
                  <a:moveTo>
                    <a:pt x="0" y="0"/>
                  </a:moveTo>
                  <a:lnTo>
                    <a:pt x="90392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017395" y="4060508"/>
              <a:ext cx="875347" cy="701992"/>
            </a:xfrm>
            <a:custGeom>
              <a:avLst/>
              <a:gdLst/>
              <a:ahLst/>
              <a:cxnLst/>
              <a:rect l="l" t="t" r="r" b="b"/>
              <a:pathLst>
                <a:path w="875347" h="701992">
                  <a:moveTo>
                    <a:pt x="875347" y="0"/>
                  </a:moveTo>
                  <a:lnTo>
                    <a:pt x="0" y="70199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141345" y="4079558"/>
              <a:ext cx="601027" cy="662940"/>
            </a:xfrm>
            <a:custGeom>
              <a:avLst/>
              <a:gdLst/>
              <a:ahLst/>
              <a:cxnLst/>
              <a:rect l="l" t="t" r="r" b="b"/>
              <a:pathLst>
                <a:path w="601027" h="662940">
                  <a:moveTo>
                    <a:pt x="0" y="0"/>
                  </a:moveTo>
                  <a:lnTo>
                    <a:pt x="601027" y="6629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928110" y="4109085"/>
              <a:ext cx="274320" cy="603885"/>
            </a:xfrm>
            <a:custGeom>
              <a:avLst/>
              <a:gdLst/>
              <a:ahLst/>
              <a:cxnLst/>
              <a:rect l="l" t="t" r="r" b="b"/>
              <a:pathLst>
                <a:path w="274320" h="603885">
                  <a:moveTo>
                    <a:pt x="274320" y="0"/>
                  </a:moveTo>
                  <a:lnTo>
                    <a:pt x="0" y="6038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108710" y="5207318"/>
              <a:ext cx="1550670" cy="607695"/>
            </a:xfrm>
            <a:custGeom>
              <a:avLst/>
              <a:gdLst/>
              <a:ahLst/>
              <a:cxnLst/>
              <a:rect l="l" t="t" r="r" b="b"/>
              <a:pathLst>
                <a:path w="1550670" h="607695">
                  <a:moveTo>
                    <a:pt x="1550670" y="0"/>
                  </a:moveTo>
                  <a:lnTo>
                    <a:pt x="0" y="6076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978468" y="5207318"/>
              <a:ext cx="1550670" cy="607695"/>
            </a:xfrm>
            <a:custGeom>
              <a:avLst/>
              <a:gdLst/>
              <a:ahLst/>
              <a:cxnLst/>
              <a:rect l="l" t="t" r="r" b="b"/>
              <a:pathLst>
                <a:path w="1550670" h="607695">
                  <a:moveTo>
                    <a:pt x="0" y="0"/>
                  </a:moveTo>
                  <a:lnTo>
                    <a:pt x="1550670" y="6076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120140" y="5877878"/>
              <a:ext cx="3396615" cy="9525"/>
            </a:xfrm>
            <a:custGeom>
              <a:avLst/>
              <a:gdLst/>
              <a:ahLst/>
              <a:cxnLst/>
              <a:rect l="l" t="t" r="r" b="b"/>
              <a:pathLst>
                <a:path w="3396615" h="9525">
                  <a:moveTo>
                    <a:pt x="0" y="0"/>
                  </a:moveTo>
                  <a:lnTo>
                    <a:pt x="33966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786765" y="1820228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4318635" y="1728788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825942" y="2553652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2760345" y="2370772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3695700" y="2370772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1514475" y="3469958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2864168" y="379095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4110990" y="379095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722120" y="470725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2656522" y="4982528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695700" y="470725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786765" y="5715952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4526280" y="5715952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6963" y="192595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38833" y="183451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46140" y="265938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880543" y="247650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815898" y="247650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634673" y="357568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84365" y="389667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31188" y="389667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859120" y="4813935"/>
              <a:ext cx="49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776720" y="508825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815898" y="481393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6963" y="582168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33036" y="5821680"/>
              <a:ext cx="1103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6032182" y="1524000"/>
            <a:ext cx="5626418" cy="1911668"/>
            <a:chOff x="6032182" y="1524000"/>
            <a:chExt cx="5626418" cy="1911668"/>
          </a:xfrm>
        </p:grpSpPr>
        <p:sp>
          <p:nvSpPr>
            <p:cNvPr id="47" name="Rectangle 47"/>
            <p:cNvSpPr/>
            <p:nvPr/>
          </p:nvSpPr>
          <p:spPr>
            <a:xfrm>
              <a:off x="6032182" y="1524000"/>
              <a:ext cx="5626418" cy="1911668"/>
            </a:xfrm>
            <a:prstGeom prst="roundRect">
              <a:avLst>
                <a:gd name="adj" fmla="val 69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41708" y="1657350"/>
              <a:ext cx="47625" cy="164496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6972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869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50114" y="2054542"/>
              <a:ext cx="4891469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无向图 G 的一个连通子图 Gₖ，如果不存在 G 的另一个连通子图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G′，使得 V(Gₖ) ⊂ V(G′) 或 E(Gₖ) ⊂ E(G′)，则称 Gₖ 为 G 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连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通分量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51258" y="2865596"/>
              <a:ext cx="47693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换句话说，连通分量就是 G 的 </a:t>
              </a: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极大连通子图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：再往里加任何一个顶点或一条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边，它就不再是连通子图了。</a:t>
              </a:r>
            </a:p>
          </p:txBody>
        </p:sp>
      </p:grpSp>
      <p:grpSp>
        <p:nvGrpSpPr>
          <p:cNvPr id="74" name="c2-table-2"/>
          <p:cNvGrpSpPr/>
          <p:nvPr/>
        </p:nvGrpSpPr>
        <p:grpSpPr>
          <a:xfrm>
            <a:off x="6027230" y="3605212"/>
            <a:ext cx="5631370" cy="1863757"/>
            <a:chOff x="6027230" y="3605212"/>
            <a:chExt cx="5631370" cy="1863757"/>
          </a:xfrm>
        </p:grpSpPr>
        <p:sp>
          <p:nvSpPr>
            <p:cNvPr id="54" name="Rectangle 54"/>
            <p:cNvSpPr/>
            <p:nvPr/>
          </p:nvSpPr>
          <p:spPr>
            <a:xfrm>
              <a:off x="6032182" y="3605212"/>
              <a:ext cx="562641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44044" y="37266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连通分量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63636" y="37266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658196" y="37266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边数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02056" y="41267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66635" y="4126706"/>
              <a:ext cx="943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 F J L M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767507" y="41267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32182" y="44005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32182" y="4405312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02056" y="4526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66635" y="4526756"/>
              <a:ext cx="2344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767507" y="45267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032182" y="48006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02056" y="49268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66635" y="4926806"/>
              <a:ext cx="465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H I K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767507" y="49268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032182" y="3605212"/>
              <a:ext cx="5626418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264718" y="36052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966008" y="36052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027230" y="5278279"/>
              <a:ext cx="35719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 + 2 + 4 = 13 个顶点，8 + 1 + 4 = 13 条边，正好把全图分完</a:t>
              </a:r>
            </a:p>
          </p:txBody>
        </p:sp>
      </p:grpSp>
      <p:grpSp>
        <p:nvGrpSpPr>
          <p:cNvPr id="81" name="c2-callout-3"/>
          <p:cNvGrpSpPr/>
          <p:nvPr/>
        </p:nvGrpSpPr>
        <p:grpSpPr>
          <a:xfrm>
            <a:off x="6032182" y="5600700"/>
            <a:ext cx="5626418" cy="729615"/>
            <a:chOff x="6032182" y="5600700"/>
            <a:chExt cx="5626418" cy="729615"/>
          </a:xfrm>
        </p:grpSpPr>
        <p:sp>
          <p:nvSpPr>
            <p:cNvPr id="75" name="Rectangle 75"/>
            <p:cNvSpPr/>
            <p:nvPr/>
          </p:nvSpPr>
          <p:spPr>
            <a:xfrm>
              <a:off x="6032182" y="5600700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6236970" y="5865495"/>
              <a:ext cx="200026" cy="200026"/>
              <a:chOff x="6236970" y="5865495"/>
              <a:chExt cx="200026" cy="200026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6236970" y="58654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336983" y="59321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325870" y="59655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6539674" y="5747385"/>
              <a:ext cx="466001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连通子图可以有很多个，连通分量却是按“可及”对顶点作的划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分，个数与内容唯一确定。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子图、连通性与带权图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强连通分量：有向图里极大的强连通子图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graph-1"/>
          <p:cNvGrpSpPr/>
          <p:nvPr/>
        </p:nvGrpSpPr>
        <p:grpSpPr>
          <a:xfrm>
            <a:off x="1181100" y="1638300"/>
            <a:ext cx="3466148" cy="1423035"/>
            <a:chOff x="1181100" y="1638300"/>
            <a:chExt cx="3466148" cy="1423035"/>
          </a:xfrm>
        </p:grpSpPr>
        <p:sp>
          <p:nvSpPr>
            <p:cNvPr id="7" name="Freeform 7"/>
            <p:cNvSpPr/>
            <p:nvPr/>
          </p:nvSpPr>
          <p:spPr>
            <a:xfrm>
              <a:off x="1609725" y="1847850"/>
              <a:ext cx="2513648" cy="9525"/>
            </a:xfrm>
            <a:custGeom>
              <a:avLst/>
              <a:gdLst/>
              <a:ahLst/>
              <a:cxnLst/>
              <a:rect l="l" t="t" r="r" b="b"/>
              <a:pathLst>
                <a:path w="2513648" h="9525">
                  <a:moveTo>
                    <a:pt x="0" y="0"/>
                  </a:moveTo>
                  <a:lnTo>
                    <a:pt x="25136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123372" y="18002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390650" y="2066925"/>
              <a:ext cx="9525" cy="470535"/>
            </a:xfrm>
            <a:custGeom>
              <a:avLst/>
              <a:gdLst/>
              <a:ahLst/>
              <a:cxnLst/>
              <a:rect l="l" t="t" r="r" b="b"/>
              <a:pathLst>
                <a:path w="9525" h="470535">
                  <a:moveTo>
                    <a:pt x="0" y="0"/>
                  </a:moveTo>
                  <a:lnTo>
                    <a:pt x="0" y="4705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43025" y="25374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609725" y="2851785"/>
              <a:ext cx="2513648" cy="9525"/>
            </a:xfrm>
            <a:custGeom>
              <a:avLst/>
              <a:gdLst/>
              <a:ahLst/>
              <a:cxnLst/>
              <a:rect l="l" t="t" r="r" b="b"/>
              <a:pathLst>
                <a:path w="2513648" h="9525">
                  <a:moveTo>
                    <a:pt x="0" y="0"/>
                  </a:moveTo>
                  <a:lnTo>
                    <a:pt x="25136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123372" y="28041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688782" y="1945958"/>
              <a:ext cx="2540318" cy="837247"/>
            </a:xfrm>
            <a:custGeom>
              <a:avLst/>
              <a:gdLst/>
              <a:ahLst/>
              <a:cxnLst/>
              <a:rect l="l" t="t" r="r" b="b"/>
              <a:pathLst>
                <a:path w="2540318" h="837247">
                  <a:moveTo>
                    <a:pt x="2540318" y="83724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598295" y="1901190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0" y="15240"/>
                  </a:moveTo>
                  <a:lnTo>
                    <a:pt x="105727" y="0"/>
                  </a:lnTo>
                  <a:lnTo>
                    <a:pt x="75247" y="904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181100" y="163830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228148" y="163830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181100" y="264223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228148" y="264223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99065" y="17821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46113" y="17821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99065" y="278606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46113" y="278606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</p:grpSp>
      <p:grpSp>
        <p:nvGrpSpPr>
          <p:cNvPr id="25" name="c1-text-2"/>
          <p:cNvGrpSpPr/>
          <p:nvPr/>
        </p:nvGrpSpPr>
        <p:grpSpPr>
          <a:xfrm>
            <a:off x="1319632" y="3325178"/>
            <a:ext cx="3188132" cy="205359"/>
            <a:chOff x="1319632" y="3325178"/>
            <a:chExt cx="3188132" cy="205359"/>
          </a:xfrm>
        </p:grpSpPr>
        <p:sp>
          <p:nvSpPr>
            <p:cNvPr id="24" name="TextBox 24"/>
            <p:cNvSpPr txBox="1"/>
            <p:nvPr/>
          </p:nvSpPr>
          <p:spPr>
            <a:xfrm>
              <a:off x="1319632" y="3325178"/>
              <a:ext cx="31881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 只有入弧、没有出弧，从它出发回不到任何顶点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5598795" y="1524000"/>
            <a:ext cx="6059805" cy="1671638"/>
            <a:chOff x="5598795" y="1524000"/>
            <a:chExt cx="6059805" cy="1671638"/>
          </a:xfrm>
        </p:grpSpPr>
        <p:sp>
          <p:nvSpPr>
            <p:cNvPr id="26" name="Rectangle 26"/>
            <p:cNvSpPr/>
            <p:nvPr/>
          </p:nvSpPr>
          <p:spPr>
            <a:xfrm>
              <a:off x="5598795" y="1524000"/>
              <a:ext cx="605980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608320" y="1657350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817870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10542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827395" y="209740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82843" y="2045494"/>
              <a:ext cx="52392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设图 G 是有向图，若 G 的子图 Gₖ 是一个强连通图，则称 Gₖ 为 G 的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强连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通子图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827395" y="262509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82843" y="2573179"/>
              <a:ext cx="51661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如果不存在 G 的另一个强连通子图 G′，使得 V(Gₖ) ⊂ V(G′) 或 E(Gₖ) 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E(G′)，则称 Gₖ 是 G 的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强连通分量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，也就是极大强连通子图</a:t>
              </a:r>
            </a:p>
          </p:txBody>
        </p:sp>
      </p:grpSp>
      <p:grpSp>
        <p:nvGrpSpPr>
          <p:cNvPr id="48" name="c2-steps-2"/>
          <p:cNvGrpSpPr/>
          <p:nvPr/>
        </p:nvGrpSpPr>
        <p:grpSpPr>
          <a:xfrm>
            <a:off x="5598795" y="3369945"/>
            <a:ext cx="5703494" cy="1596962"/>
            <a:chOff x="5598795" y="3369945"/>
            <a:chExt cx="5703494" cy="1596962"/>
          </a:xfrm>
        </p:grpSpPr>
        <p:sp>
          <p:nvSpPr>
            <p:cNvPr id="35" name="Rectangle 35"/>
            <p:cNvSpPr/>
            <p:nvPr/>
          </p:nvSpPr>
          <p:spPr>
            <a:xfrm>
              <a:off x="5732145" y="351282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5598795" y="33699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92419" y="34437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5598795" y="39233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92419" y="39971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598795" y="44767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92419" y="45505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11418" y="34009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先找回路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12561" y="3655695"/>
              <a:ext cx="34895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→ V₃ → V₄ → V₁ 构成一条回路，这三个顶点两两可及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11418" y="39543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试着扩大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12561" y="4208145"/>
              <a:ext cx="52897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V₂ 加进来就不再强连通，因为从 V₂ 出不去；所以 V₁ V₃ V₄ 这三个顶点已经极大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11418" y="450675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处理落单的顶点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12561" y="4761548"/>
              <a:ext cx="43189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 自成一个强连通分量。单个顶点按定义总是强连通的，不会被漏掉</a:t>
              </a:r>
            </a:p>
          </p:txBody>
        </p:sp>
      </p:grpSp>
      <p:grpSp>
        <p:nvGrpSpPr>
          <p:cNvPr id="64" name="c2-table-3"/>
          <p:cNvGrpSpPr/>
          <p:nvPr/>
        </p:nvGrpSpPr>
        <p:grpSpPr>
          <a:xfrm>
            <a:off x="5598795" y="5128260"/>
            <a:ext cx="6059805" cy="1143952"/>
            <a:chOff x="5598795" y="5128260"/>
            <a:chExt cx="6059805" cy="1143952"/>
          </a:xfrm>
        </p:grpSpPr>
        <p:sp>
          <p:nvSpPr>
            <p:cNvPr id="49" name="Rectangle 49"/>
            <p:cNvSpPr/>
            <p:nvPr/>
          </p:nvSpPr>
          <p:spPr>
            <a:xfrm>
              <a:off x="5598795" y="5128260"/>
              <a:ext cx="605980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67794" y="524541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强连通分量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34288" y="524541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007155" y="524541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693474" y="56273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47941" y="5627370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V₃ V₄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02409" y="5627370"/>
              <a:ext cx="1825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&lt;V₁,V₃&gt; &lt;V₃,V₄&gt; &lt;V₄,V₁&gt;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598795" y="58864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598795" y="5891212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93474" y="60083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47941" y="6008370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602409" y="60083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598795" y="5128260"/>
              <a:ext cx="6059805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048500" y="512826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8502968" y="512826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子图、连通性与带权图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带权图：给每条边贴一个数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403032"/>
            <a:chOff x="533400" y="1524000"/>
            <a:chExt cx="5410200" cy="14030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67842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G = (V, E) 是图，若对图中的任意一条边 l，都有实数 w(l) 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其对应，则称 G 为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权图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，记为 G = (V, E, w)。记 w(u, v) 为以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u、v 为端点的边的权值。</a:t>
              </a:r>
            </a:p>
          </p:txBody>
        </p:sp>
      </p:grpSp>
      <p:grpSp>
        <p:nvGrpSpPr>
          <p:cNvPr id="19" name="c1-kv-2"/>
          <p:cNvGrpSpPr/>
          <p:nvPr/>
        </p:nvGrpSpPr>
        <p:grpSpPr>
          <a:xfrm>
            <a:off x="526923" y="3113246"/>
            <a:ext cx="5416677" cy="623697"/>
            <a:chOff x="526923" y="3113246"/>
            <a:chExt cx="5416677" cy="623697"/>
          </a:xfrm>
        </p:grpSpPr>
        <p:sp>
          <p:nvSpPr>
            <p:cNvPr id="14" name="TextBox 14"/>
            <p:cNvSpPr txBox="1"/>
            <p:nvPr/>
          </p:nvSpPr>
          <p:spPr>
            <a:xfrm>
              <a:off x="526923" y="3113246"/>
              <a:ext cx="10080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w(u, u) = 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11846" y="3113246"/>
              <a:ext cx="20548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顶点到自己的权值规定为 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3851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6923" y="3487579"/>
              <a:ext cx="10080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w(u, v) = ∞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11846" y="348757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与 v 之间不存在边时的规定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3850958"/>
            <a:ext cx="5410200" cy="702945"/>
            <a:chOff x="533400" y="3850958"/>
            <a:chExt cx="5410200" cy="702945"/>
          </a:xfrm>
        </p:grpSpPr>
        <p:sp>
          <p:nvSpPr>
            <p:cNvPr id="20" name="Rectangle 20"/>
            <p:cNvSpPr/>
            <p:nvPr/>
          </p:nvSpPr>
          <p:spPr>
            <a:xfrm>
              <a:off x="533400" y="3850958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102420"/>
              <a:ext cx="200023" cy="200023"/>
              <a:chOff x="738188" y="4102420"/>
              <a:chExt cx="200023" cy="20002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41024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71538" y="41690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1273" y="3996214"/>
              <a:ext cx="44670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权值通常表示距离或费用。第 15 讲的最短路径、第 16 讲的最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小支撑树都建立在带权图上。</a:t>
              </a:r>
            </a:p>
          </p:txBody>
        </p:sp>
      </p:grpSp>
      <p:grpSp>
        <p:nvGrpSpPr>
          <p:cNvPr id="37" name="c1-card-4"/>
          <p:cNvGrpSpPr/>
          <p:nvPr/>
        </p:nvGrpSpPr>
        <p:grpSpPr>
          <a:xfrm>
            <a:off x="533400" y="4718685"/>
            <a:ext cx="5410200" cy="1487805"/>
            <a:chOff x="533400" y="4718685"/>
            <a:chExt cx="5410200" cy="1487805"/>
          </a:xfrm>
        </p:grpSpPr>
        <p:sp>
          <p:nvSpPr>
            <p:cNvPr id="26" name="Rectangle 26"/>
            <p:cNvSpPr/>
            <p:nvPr/>
          </p:nvSpPr>
          <p:spPr>
            <a:xfrm>
              <a:off x="533400" y="4718685"/>
              <a:ext cx="5410200" cy="1487805"/>
            </a:xfrm>
            <a:prstGeom prst="roundRect">
              <a:avLst>
                <a:gd name="adj" fmla="val 89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4852035"/>
              <a:ext cx="47625" cy="12211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2475" y="489966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8246" y="493252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94625" y="493918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读右图的三个权值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62000" y="53082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7448" y="5255419"/>
              <a:ext cx="42504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w(V₁, V₂) = 5，因为 V₁ 与 V₂ 之间有一条权为 5 的边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559308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5541169"/>
              <a:ext cx="3777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w(V₂, V₄) = ∞，因为这两个顶点之间根本没有边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587787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5825966"/>
              <a:ext cx="3579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w(V₁, V₁) = 0，顶点到自己的权值按规定取 0</a:t>
              </a:r>
            </a:p>
          </p:txBody>
        </p:sp>
      </p:grpSp>
      <p:grpSp>
        <p:nvGrpSpPr>
          <p:cNvPr id="62" name="c2-graph-1"/>
          <p:cNvGrpSpPr/>
          <p:nvPr/>
        </p:nvGrpSpPr>
        <p:grpSpPr>
          <a:xfrm>
            <a:off x="7012305" y="1582102"/>
            <a:ext cx="3882390" cy="1246823"/>
            <a:chOff x="7012305" y="1582102"/>
            <a:chExt cx="3882390" cy="1246823"/>
          </a:xfrm>
        </p:grpSpPr>
        <p:sp>
          <p:nvSpPr>
            <p:cNvPr id="38" name="Freeform 38"/>
            <p:cNvSpPr/>
            <p:nvPr/>
          </p:nvSpPr>
          <p:spPr>
            <a:xfrm>
              <a:off x="7440930" y="1791652"/>
              <a:ext cx="2929890" cy="9525"/>
            </a:xfrm>
            <a:custGeom>
              <a:avLst/>
              <a:gdLst/>
              <a:ahLst/>
              <a:cxnLst/>
              <a:rect l="l" t="t" r="r" b="b"/>
              <a:pathLst>
                <a:path w="2929890" h="9525">
                  <a:moveTo>
                    <a:pt x="0" y="0"/>
                  </a:moveTo>
                  <a:lnTo>
                    <a:pt x="29298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0370820" y="17440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0685145" y="2010728"/>
              <a:ext cx="9525" cy="294323"/>
            </a:xfrm>
            <a:custGeom>
              <a:avLst/>
              <a:gdLst/>
              <a:ahLst/>
              <a:cxnLst/>
              <a:rect l="l" t="t" r="r" b="b"/>
              <a:pathLst>
                <a:path w="9525" h="294323">
                  <a:moveTo>
                    <a:pt x="0" y="0"/>
                  </a:moveTo>
                  <a:lnTo>
                    <a:pt x="0" y="2943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637520" y="23050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7221855" y="2010728"/>
              <a:ext cx="9525" cy="294323"/>
            </a:xfrm>
            <a:custGeom>
              <a:avLst/>
              <a:gdLst/>
              <a:ahLst/>
              <a:cxnLst/>
              <a:rect l="l" t="t" r="r" b="b"/>
              <a:pathLst>
                <a:path w="9525" h="294323">
                  <a:moveTo>
                    <a:pt x="0" y="0"/>
                  </a:moveTo>
                  <a:lnTo>
                    <a:pt x="0" y="2943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174230" y="23050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7440930" y="2619375"/>
              <a:ext cx="2929890" cy="9525"/>
            </a:xfrm>
            <a:custGeom>
              <a:avLst/>
              <a:gdLst/>
              <a:ahLst/>
              <a:cxnLst/>
              <a:rect l="l" t="t" r="r" b="b"/>
              <a:pathLst>
                <a:path w="2929890" h="9525">
                  <a:moveTo>
                    <a:pt x="0" y="0"/>
                  </a:moveTo>
                  <a:lnTo>
                    <a:pt x="29298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370820" y="2571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7012305" y="158210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10475595" y="158210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10475595" y="240982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7012305" y="240982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30270" y="172593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593560" y="172593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593560" y="255365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30270" y="255365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886825" y="17125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918381" y="17416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0618470" y="212693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650026" y="21559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155180" y="212693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186736" y="21559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886825" y="254127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918381" y="25703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6248400" y="3025140"/>
            <a:ext cx="5410200" cy="1532572"/>
            <a:chOff x="6248400" y="3025140"/>
            <a:chExt cx="5410200" cy="1532572"/>
          </a:xfrm>
        </p:grpSpPr>
        <p:sp>
          <p:nvSpPr>
            <p:cNvPr id="63" name="Rectangle 63"/>
            <p:cNvSpPr/>
            <p:nvPr/>
          </p:nvSpPr>
          <p:spPr>
            <a:xfrm>
              <a:off x="6248400" y="3025140"/>
              <a:ext cx="5410200" cy="1532572"/>
            </a:xfrm>
            <a:prstGeom prst="roundRect">
              <a:avLst>
                <a:gd name="adj" fmla="val 87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57925" y="3158490"/>
              <a:ext cx="47625" cy="126587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67475" y="320611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60147" y="323897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033451" y="324564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带权路径的长度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60998" y="356187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路径所含各边的权值之和，称为该路径的长度。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formula10"/>
                <p:cNvSpPr txBox="1">
                  <a:spLocks noGrp="1"/>
                </p:cNvSpPr>
                <p:nvPr/>
              </p:nvSpPr>
              <p:spPr>
                <a:xfrm>
                  <a:off x="6467475" y="3826192"/>
                  <a:ext cx="5010150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87" name="c2-table-3"/>
          <p:cNvGrpSpPr/>
          <p:nvPr/>
        </p:nvGrpSpPr>
        <p:grpSpPr>
          <a:xfrm>
            <a:off x="6243447" y="4722495"/>
            <a:ext cx="5415153" cy="1407509"/>
            <a:chOff x="6243447" y="4722495"/>
            <a:chExt cx="5415153" cy="1407509"/>
          </a:xfrm>
        </p:grpSpPr>
        <p:sp>
          <p:nvSpPr>
            <p:cNvPr id="71" name="Rectangle 71"/>
            <p:cNvSpPr/>
            <p:nvPr/>
          </p:nvSpPr>
          <p:spPr>
            <a:xfrm>
              <a:off x="6248400" y="4722495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162800" y="48396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路径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971217" y="48396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各边权值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756583" y="48396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长度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343079" y="5220652"/>
              <a:ext cx="888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→ V₂ → V₃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094899" y="5220652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+ 2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859062" y="52206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248400" y="54806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248400" y="548544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343079" y="5602605"/>
              <a:ext cx="888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→ V₄ → V₃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094899" y="5602605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+ 7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820190" y="560260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248400" y="4722495"/>
              <a:ext cx="5410200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8364855" y="4722495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10143172" y="4722495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243447" y="5939314"/>
              <a:ext cx="31959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同为 2 条边，长度却不同，这正是最短路径问题的起点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31299" cy="909257"/>
            <a:chOff x="520446" y="342900"/>
            <a:chExt cx="76312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子图、连通性与带权图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312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无向图与有向图的术语，是同一套概念加上“方向”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33400" y="1524000"/>
            <a:ext cx="6276022" cy="4271010"/>
            <a:chOff x="533400" y="1524000"/>
            <a:chExt cx="6276022" cy="42710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88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无向图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1637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有向图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83544" y="16597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加上方向之后的区别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11721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无向边 (v, w)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47126" y="2221706"/>
              <a:ext cx="16068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有向边（弧）&lt;v, w&gt;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30218" y="2108359"/>
              <a:ext cx="24513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圆括号与次序无关，尖括号的次序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决定方向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8970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47126" y="2783681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弧尾（始点）、弧头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（终点）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30218" y="289702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两端要分先后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57235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47126" y="357235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邻接到、邻接自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30218" y="3459004"/>
              <a:ext cx="24513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顺着箭头说是邻接到，逆着说是邻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接自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9478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999548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13432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47126" y="413432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出度、入度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30218" y="4134326"/>
              <a:ext cx="127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 = 出度 + 入度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4434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5839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连通图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47126" y="45839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强连通图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30218" y="458390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有向图要求两个方向都可及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89204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89680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50325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连通子图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47126" y="50325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强连通子图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30218" y="503253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子图自身满足对应的连通性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3406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1223" y="548116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连通分量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47126" y="548116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强连通分量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0218" y="5481161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都是“极大”的那一个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6276022" cy="42710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034540" y="1524000"/>
              <a:ext cx="9525" cy="42710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917632" y="1524000"/>
              <a:ext cx="9525" cy="42710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rd-1"/>
          <p:cNvGrpSpPr/>
          <p:nvPr/>
        </p:nvGrpSpPr>
        <p:grpSpPr>
          <a:xfrm>
            <a:off x="7114222" y="1524000"/>
            <a:ext cx="4544378" cy="1602105"/>
            <a:chOff x="7114222" y="1524000"/>
            <a:chExt cx="4544378" cy="1602105"/>
          </a:xfrm>
        </p:grpSpPr>
        <p:sp>
          <p:nvSpPr>
            <p:cNvPr id="45" name="Rectangle 45"/>
            <p:cNvSpPr/>
            <p:nvPr/>
          </p:nvSpPr>
          <p:spPr>
            <a:xfrm>
              <a:off x="7114222" y="1524000"/>
              <a:ext cx="4544378" cy="1602105"/>
            </a:xfrm>
            <a:prstGeom prst="roundRect">
              <a:avLst>
                <a:gd name="adj" fmla="val 83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323772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01179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一句话记法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16152" y="2110740"/>
              <a:ext cx="3844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把无向图的术语补上“方向”这个维度，就得到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有向图的术语。表里没有一个概念是有向图独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有的。</a:t>
              </a:r>
            </a:p>
          </p:txBody>
        </p:sp>
      </p:grpSp>
      <p:grpSp>
        <p:nvGrpSpPr>
          <p:cNvPr id="57" name="c2-bullets-2"/>
          <p:cNvGrpSpPr/>
          <p:nvPr/>
        </p:nvGrpSpPr>
        <p:grpSpPr>
          <a:xfrm>
            <a:off x="7106602" y="3341370"/>
            <a:ext cx="4282440" cy="1908810"/>
            <a:chOff x="7106602" y="3341370"/>
            <a:chExt cx="4282440" cy="1908810"/>
          </a:xfrm>
        </p:grpSpPr>
        <p:sp>
          <p:nvSpPr>
            <p:cNvPr id="50" name="TextBox 50"/>
            <p:cNvSpPr txBox="1"/>
            <p:nvPr/>
          </p:nvSpPr>
          <p:spPr>
            <a:xfrm>
              <a:off x="7106602" y="334137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三个常见错误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7114222" y="373189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54252" y="3695700"/>
              <a:ext cx="4034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把有向图的“连通”直接当成强连通，忘了还要检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查反方向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7114222" y="43624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354252" y="432625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有向图里算度时只数出度，漏掉入度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7114222" y="470725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354252" y="467106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以为连通分量像连通子图一样可以随便挑，其实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它由图本身唯一确定</a:t>
              </a:r>
            </a:p>
          </p:txBody>
        </p:sp>
      </p:grpSp>
      <p:grpSp>
        <p:nvGrpSpPr>
          <p:cNvPr id="64" name="c2-callout-3"/>
          <p:cNvGrpSpPr/>
          <p:nvPr/>
        </p:nvGrpSpPr>
        <p:grpSpPr>
          <a:xfrm>
            <a:off x="7114222" y="5381625"/>
            <a:ext cx="4544378" cy="782955"/>
            <a:chOff x="7114222" y="5381625"/>
            <a:chExt cx="4544378" cy="782955"/>
          </a:xfrm>
        </p:grpSpPr>
        <p:sp>
          <p:nvSpPr>
            <p:cNvPr id="58" name="Rectangle 58"/>
            <p:cNvSpPr/>
            <p:nvPr/>
          </p:nvSpPr>
          <p:spPr>
            <a:xfrm>
              <a:off x="7114222" y="5381625"/>
              <a:ext cx="4544378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19010" y="5673090"/>
              <a:ext cx="200026" cy="200026"/>
              <a:chOff x="7319010" y="5673090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19010" y="56730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419023" y="57397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407910" y="57731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7620952" y="5530215"/>
              <a:ext cx="3634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到这里图的概念部分结束。下半讲换一个问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题：这些顶点和边在计算机里怎么存。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57399" cy="3351847"/>
            <a:chOff x="667512" y="1835468"/>
            <a:chExt cx="585739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邻接矩阵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8474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顶点表顺序存，边用一个 n×n 的数组把所有顶点对一次记下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非权图与权图的两套规则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三张例图的矩阵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按行列求度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代价与适用场合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25895" cy="909257"/>
            <a:chOff x="520446" y="342900"/>
            <a:chExt cx="67258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邻接矩阵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258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邻接矩阵：把“有没有边”摊成一张 n×n 的表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209675"/>
            <a:chOff x="533400" y="1524000"/>
            <a:chExt cx="4977765" cy="1209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3685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用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顺序方式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存储图的顶点表 v₀, v₁, …, vₙ₋₁；图的边用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n×n 阶矩阵 A = (aᵢⱼ) 表示。</a:t>
              </a:r>
            </a:p>
          </p:txBody>
        </p:sp>
      </p:grpSp>
      <p:grpSp>
        <p:nvGrpSpPr>
          <p:cNvPr id="26" name="c1-cells-2"/>
          <p:cNvGrpSpPr/>
          <p:nvPr/>
        </p:nvGrpSpPr>
        <p:grpSpPr>
          <a:xfrm>
            <a:off x="527685" y="2908935"/>
            <a:ext cx="2242185" cy="596741"/>
            <a:chOff x="527685" y="2908935"/>
            <a:chExt cx="2242185" cy="596741"/>
          </a:xfrm>
        </p:grpSpPr>
        <p:sp>
          <p:nvSpPr>
            <p:cNvPr id="13" name="TextBox 13"/>
            <p:cNvSpPr txBox="1"/>
            <p:nvPr/>
          </p:nvSpPr>
          <p:spPr>
            <a:xfrm>
              <a:off x="527685" y="30294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顶点表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93470" y="290893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10233" y="302942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512570" y="290893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629333" y="302942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931670" y="290893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048433" y="302942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350770" y="290893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467533" y="302942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67901" y="33437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87001" y="33437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06101" y="33437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25201" y="33437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35" name="c1-card-3"/>
          <p:cNvGrpSpPr/>
          <p:nvPr/>
        </p:nvGrpSpPr>
        <p:grpSpPr>
          <a:xfrm>
            <a:off x="533400" y="3646170"/>
            <a:ext cx="4977765" cy="1775460"/>
            <a:chOff x="533400" y="3646170"/>
            <a:chExt cx="4977765" cy="1775460"/>
          </a:xfrm>
        </p:grpSpPr>
        <p:sp>
          <p:nvSpPr>
            <p:cNvPr id="27" name="Rectangle 27"/>
            <p:cNvSpPr/>
            <p:nvPr/>
          </p:nvSpPr>
          <p:spPr>
            <a:xfrm>
              <a:off x="533400" y="3646170"/>
              <a:ext cx="4977765" cy="1775460"/>
            </a:xfrm>
            <a:prstGeom prst="roundRect">
              <a:avLst>
                <a:gd name="adj" fmla="val 751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25805" y="383857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3244" y="387286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怎么用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34378" y="425100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90397" y="4194810"/>
              <a:ext cx="41885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顶点表把顶点名字和下标 0…n−1 对应起来，矩阵里只出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现下标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34378" y="481107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90397" y="4754880"/>
              <a:ext cx="44815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要查 vᵢ 与 vⱼ 之间的关系，直接取 </a:t>
              </a:r>
              <a:r>
                <a:rPr lang="en-US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A[i][j]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这一个单元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0090" y="5053489"/>
              <a:ext cx="4248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对角线 aᵢᵢ 一律写 0：本课程不讨论自环，对角线不承载信息。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5815965" y="1524000"/>
            <a:ext cx="5842635" cy="1636395"/>
            <a:chOff x="5815965" y="1524000"/>
            <a:chExt cx="5842635" cy="1636395"/>
          </a:xfrm>
        </p:grpSpPr>
        <p:sp>
          <p:nvSpPr>
            <p:cNvPr id="36" name="Rectangle 36"/>
            <p:cNvSpPr/>
            <p:nvPr/>
          </p:nvSpPr>
          <p:spPr>
            <a:xfrm>
              <a:off x="5815965" y="1524000"/>
              <a:ext cx="5842635" cy="1636395"/>
            </a:xfrm>
            <a:prstGeom prst="roundRect">
              <a:avLst>
                <a:gd name="adj" fmla="val 81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25490" y="1657350"/>
              <a:ext cx="47625" cy="13696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46470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33910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非权图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formula19"/>
                <p:cNvSpPr txBox="1">
                  <a:spLocks noGrp="1"/>
                </p:cNvSpPr>
                <p:nvPr/>
              </p:nvSpPr>
              <p:spPr>
                <a:xfrm>
                  <a:off x="6046470" y="2050732"/>
                  <a:ext cx="5419725" cy="9001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≠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与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之间存在边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≠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与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之间不存在边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7" name="c2-card-2"/>
          <p:cNvGrpSpPr/>
          <p:nvPr/>
        </p:nvGrpSpPr>
        <p:grpSpPr>
          <a:xfrm>
            <a:off x="5815965" y="3335655"/>
            <a:ext cx="5842635" cy="2085975"/>
            <a:chOff x="5815965" y="3335655"/>
            <a:chExt cx="5842635" cy="2085975"/>
          </a:xfrm>
        </p:grpSpPr>
        <p:sp>
          <p:nvSpPr>
            <p:cNvPr id="42" name="Rectangle 42"/>
            <p:cNvSpPr/>
            <p:nvPr/>
          </p:nvSpPr>
          <p:spPr>
            <a:xfrm>
              <a:off x="5815965" y="3335655"/>
              <a:ext cx="5842635" cy="2085975"/>
            </a:xfrm>
            <a:prstGeom prst="roundRect">
              <a:avLst>
                <a:gd name="adj" fmla="val 63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825490" y="3469005"/>
              <a:ext cx="47625" cy="18192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46470" y="352806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37910" y="35623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权图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formula20"/>
                <p:cNvSpPr txBox="1">
                  <a:spLocks noGrp="1"/>
                </p:cNvSpPr>
                <p:nvPr/>
              </p:nvSpPr>
              <p:spPr>
                <a:xfrm>
                  <a:off x="6046470" y="3862388"/>
                  <a:ext cx="5419725" cy="9001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≠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与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之间存在边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∞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≠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与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之间不存在边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8" name="Rectangle 4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892" y="6023610"/>
              <a:ext cx="7683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非权图里“无边”写 0，权图里“无边”写 ∞。权图不能用 0 表示无边，因为 0 是一个合法的权值。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邻接矩阵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例：无向图的矩阵对称，有向图的不一定对称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graph-1"/>
          <p:cNvGrpSpPr/>
          <p:nvPr/>
        </p:nvGrpSpPr>
        <p:grpSpPr>
          <a:xfrm>
            <a:off x="1415415" y="1566862"/>
            <a:ext cx="3646170" cy="1153478"/>
            <a:chOff x="1415415" y="1566862"/>
            <a:chExt cx="3646170" cy="1153478"/>
          </a:xfrm>
        </p:grpSpPr>
        <p:sp>
          <p:nvSpPr>
            <p:cNvPr id="7" name="Freeform 7"/>
            <p:cNvSpPr/>
            <p:nvPr/>
          </p:nvSpPr>
          <p:spPr>
            <a:xfrm>
              <a:off x="1824990" y="1766888"/>
              <a:ext cx="2827020" cy="9525"/>
            </a:xfrm>
            <a:custGeom>
              <a:avLst/>
              <a:gdLst/>
              <a:ahLst/>
              <a:cxnLst/>
              <a:rect l="l" t="t" r="r" b="b"/>
              <a:pathLst>
                <a:path w="2827020" h="9525">
                  <a:moveTo>
                    <a:pt x="0" y="0"/>
                  </a:moveTo>
                  <a:lnTo>
                    <a:pt x="28270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15440" y="1976438"/>
              <a:ext cx="9525" cy="334327"/>
            </a:xfrm>
            <a:custGeom>
              <a:avLst/>
              <a:gdLst/>
              <a:ahLst/>
              <a:cxnLst/>
              <a:rect l="l" t="t" r="r" b="b"/>
              <a:pathLst>
                <a:path w="9525" h="334327">
                  <a:moveTo>
                    <a:pt x="0" y="0"/>
                  </a:moveTo>
                  <a:lnTo>
                    <a:pt x="0" y="33432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819275" y="1814512"/>
              <a:ext cx="2838450" cy="658178"/>
            </a:xfrm>
            <a:custGeom>
              <a:avLst/>
              <a:gdLst/>
              <a:ahLst/>
              <a:cxnLst/>
              <a:rect l="l" t="t" r="r" b="b"/>
              <a:pathLst>
                <a:path w="2838450" h="658178">
                  <a:moveTo>
                    <a:pt x="0" y="0"/>
                  </a:moveTo>
                  <a:lnTo>
                    <a:pt x="2838450" y="6581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861560" y="1976438"/>
              <a:ext cx="9525" cy="334327"/>
            </a:xfrm>
            <a:custGeom>
              <a:avLst/>
              <a:gdLst/>
              <a:ahLst/>
              <a:cxnLst/>
              <a:rect l="l" t="t" r="r" b="b"/>
              <a:pathLst>
                <a:path w="9525" h="334327">
                  <a:moveTo>
                    <a:pt x="0" y="0"/>
                  </a:moveTo>
                  <a:lnTo>
                    <a:pt x="0" y="33432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824990" y="2520315"/>
              <a:ext cx="2827020" cy="9525"/>
            </a:xfrm>
            <a:custGeom>
              <a:avLst/>
              <a:gdLst/>
              <a:ahLst/>
              <a:cxnLst/>
              <a:rect l="l" t="t" r="r" b="b"/>
              <a:pathLst>
                <a:path w="2827020" h="9525">
                  <a:moveTo>
                    <a:pt x="0" y="0"/>
                  </a:moveTo>
                  <a:lnTo>
                    <a:pt x="28270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415415" y="156686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4661535" y="156686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415415" y="232029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661535" y="232029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523855" y="17011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69975" y="17011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23855" y="245459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69975" y="245459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</p:grpSp>
      <p:grpSp>
        <p:nvGrpSpPr>
          <p:cNvPr id="57" name="c1-table-2"/>
          <p:cNvGrpSpPr/>
          <p:nvPr/>
        </p:nvGrpSpPr>
        <p:grpSpPr>
          <a:xfrm>
            <a:off x="528447" y="2903220"/>
            <a:ext cx="5415153" cy="2170461"/>
            <a:chOff x="528447" y="2903220"/>
            <a:chExt cx="5415153" cy="2170461"/>
          </a:xfrm>
        </p:grpSpPr>
        <p:sp>
          <p:nvSpPr>
            <p:cNvPr id="21" name="Rectangle 21"/>
            <p:cNvSpPr/>
            <p:nvPr/>
          </p:nvSpPr>
          <p:spPr>
            <a:xfrm>
              <a:off x="533400" y="2903220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110311" y="3020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92351" y="3020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74391" y="3020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56431" y="3020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8271" y="34023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12254" y="3402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94294" y="3402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76334" y="3402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58374" y="3402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6614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66617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28271" y="37833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12254" y="3783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94294" y="3783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76334" y="3783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58374" y="3783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0424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28271" y="41643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112254" y="4164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194294" y="4164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76334" y="4164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358374" y="4164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4243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442912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28271" y="45462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112254" y="45462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194294" y="45462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276334" y="45462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358374" y="45462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2903220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610678" y="290322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2692718" y="290322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774758" y="290322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856798" y="290322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8447" y="4882991"/>
              <a:ext cx="16458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 条边在矩阵中出现 10 个 1</a:t>
              </a:r>
            </a:p>
          </p:txBody>
        </p:sp>
      </p:grpSp>
      <p:grpSp>
        <p:nvGrpSpPr>
          <p:cNvPr id="63" name="c1-callout-3"/>
          <p:cNvGrpSpPr/>
          <p:nvPr/>
        </p:nvGrpSpPr>
        <p:grpSpPr>
          <a:xfrm>
            <a:off x="533400" y="5200650"/>
            <a:ext cx="5410200" cy="1083945"/>
            <a:chOff x="533400" y="5200650"/>
            <a:chExt cx="5410200" cy="1083945"/>
          </a:xfrm>
        </p:grpSpPr>
        <p:sp>
          <p:nvSpPr>
            <p:cNvPr id="58" name="Rectangle 58"/>
            <p:cNvSpPr/>
            <p:nvPr/>
          </p:nvSpPr>
          <p:spPr>
            <a:xfrm>
              <a:off x="533400" y="5200650"/>
              <a:ext cx="5410200" cy="1083945"/>
            </a:xfrm>
            <a:prstGeom prst="roundRect">
              <a:avLst>
                <a:gd name="adj" fmla="val 1054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5642610"/>
              <a:ext cx="200026" cy="200026"/>
              <a:chOff x="738188" y="5642610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56426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04863" y="572039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1273" y="5536406"/>
              <a:ext cx="44833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无向图的邻接矩阵是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对称矩阵</a:t>
              </a: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，aᵢⱼ 与 aⱼᵢ 永远相等，只存下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三角就够了。</a:t>
              </a:r>
            </a:p>
          </p:txBody>
        </p:sp>
      </p:grpSp>
      <p:grpSp>
        <p:nvGrpSpPr>
          <p:cNvPr id="88" name="c2-graph-1"/>
          <p:cNvGrpSpPr/>
          <p:nvPr/>
        </p:nvGrpSpPr>
        <p:grpSpPr>
          <a:xfrm>
            <a:off x="6805612" y="1518285"/>
            <a:ext cx="4620578" cy="1249680"/>
            <a:chOff x="6805612" y="1518285"/>
            <a:chExt cx="4620578" cy="1249680"/>
          </a:xfrm>
        </p:grpSpPr>
        <p:sp>
          <p:nvSpPr>
            <p:cNvPr id="64" name="Freeform 64"/>
            <p:cNvSpPr/>
            <p:nvPr/>
          </p:nvSpPr>
          <p:spPr>
            <a:xfrm>
              <a:off x="7181850" y="1831658"/>
              <a:ext cx="1947862" cy="449262"/>
            </a:xfrm>
            <a:custGeom>
              <a:avLst/>
              <a:gdLst/>
              <a:ahLst/>
              <a:cxnLst/>
              <a:rect l="l" t="t" r="r" b="b"/>
              <a:pathLst>
                <a:path w="1947862" h="449262">
                  <a:moveTo>
                    <a:pt x="0" y="0"/>
                  </a:moveTo>
                  <a:cubicBezTo>
                    <a:pt x="676275" y="432435"/>
                    <a:pt x="1325562" y="449262"/>
                    <a:pt x="1947862" y="5048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9103995" y="1831658"/>
              <a:ext cx="105728" cy="91440"/>
            </a:xfrm>
            <a:custGeom>
              <a:avLst/>
              <a:gdLst/>
              <a:ahLst/>
              <a:cxnLst/>
              <a:rect l="l" t="t" r="r" b="b"/>
              <a:pathLst>
                <a:path w="105728" h="91440">
                  <a:moveTo>
                    <a:pt x="105728" y="0"/>
                  </a:moveTo>
                  <a:lnTo>
                    <a:pt x="51435" y="91440"/>
                  </a:lnTo>
                  <a:lnTo>
                    <a:pt x="0" y="1047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7308532" y="1615122"/>
              <a:ext cx="1869758" cy="79375"/>
            </a:xfrm>
            <a:custGeom>
              <a:avLst/>
              <a:gdLst/>
              <a:ahLst/>
              <a:cxnLst/>
              <a:rect l="l" t="t" r="r" b="b"/>
              <a:pathLst>
                <a:path w="1869758" h="79375">
                  <a:moveTo>
                    <a:pt x="1869758" y="79375"/>
                  </a:moveTo>
                  <a:cubicBezTo>
                    <a:pt x="1215073" y="3810"/>
                    <a:pt x="591820" y="0"/>
                    <a:pt x="0" y="6794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7214235" y="1636395"/>
              <a:ext cx="100012" cy="94297"/>
            </a:xfrm>
            <a:custGeom>
              <a:avLst/>
              <a:gdLst/>
              <a:ahLst/>
              <a:cxnLst/>
              <a:rect l="l" t="t" r="r" b="b"/>
              <a:pathLst>
                <a:path w="100012" h="94297">
                  <a:moveTo>
                    <a:pt x="0" y="58102"/>
                  </a:moveTo>
                  <a:lnTo>
                    <a:pt x="88583" y="0"/>
                  </a:lnTo>
                  <a:lnTo>
                    <a:pt x="100012" y="9429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7293292" y="1788795"/>
              <a:ext cx="1895475" cy="677227"/>
            </a:xfrm>
            <a:custGeom>
              <a:avLst/>
              <a:gdLst/>
              <a:ahLst/>
              <a:cxnLst/>
              <a:rect l="l" t="t" r="r" b="b"/>
              <a:pathLst>
                <a:path w="1895475" h="677227">
                  <a:moveTo>
                    <a:pt x="1895475" y="0"/>
                  </a:moveTo>
                  <a:lnTo>
                    <a:pt x="0" y="67722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7202805" y="2421255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0" y="77153"/>
                  </a:moveTo>
                  <a:lnTo>
                    <a:pt x="74295" y="0"/>
                  </a:lnTo>
                  <a:lnTo>
                    <a:pt x="105727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9684068" y="1784985"/>
              <a:ext cx="1337310" cy="300038"/>
            </a:xfrm>
            <a:custGeom>
              <a:avLst/>
              <a:gdLst/>
              <a:ahLst/>
              <a:cxnLst/>
              <a:rect l="l" t="t" r="r" b="b"/>
              <a:pathLst>
                <a:path w="1337310" h="300038">
                  <a:moveTo>
                    <a:pt x="1337310" y="30003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9590722" y="1738312"/>
              <a:ext cx="103822" cy="93345"/>
            </a:xfrm>
            <a:custGeom>
              <a:avLst/>
              <a:gdLst/>
              <a:ahLst/>
              <a:cxnLst/>
              <a:rect l="l" t="t" r="r" b="b"/>
              <a:pathLst>
                <a:path w="103822" h="93345">
                  <a:moveTo>
                    <a:pt x="0" y="25717"/>
                  </a:moveTo>
                  <a:lnTo>
                    <a:pt x="103822" y="0"/>
                  </a:lnTo>
                  <a:lnTo>
                    <a:pt x="82868" y="933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9683115" y="2179320"/>
              <a:ext cx="1339215" cy="319088"/>
            </a:xfrm>
            <a:custGeom>
              <a:avLst/>
              <a:gdLst/>
              <a:ahLst/>
              <a:cxnLst/>
              <a:rect l="l" t="t" r="r" b="b"/>
              <a:pathLst>
                <a:path w="1339215" h="319088">
                  <a:moveTo>
                    <a:pt x="1339215" y="0"/>
                  </a:moveTo>
                  <a:lnTo>
                    <a:pt x="0" y="3190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9589770" y="2451735"/>
              <a:ext cx="103823" cy="92393"/>
            </a:xfrm>
            <a:custGeom>
              <a:avLst/>
              <a:gdLst/>
              <a:ahLst/>
              <a:cxnLst/>
              <a:rect l="l" t="t" r="r" b="b"/>
              <a:pathLst>
                <a:path w="103823" h="92393">
                  <a:moveTo>
                    <a:pt x="0" y="68580"/>
                  </a:moveTo>
                  <a:lnTo>
                    <a:pt x="81915" y="0"/>
                  </a:lnTo>
                  <a:lnTo>
                    <a:pt x="103823" y="9239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4" name="Freeform 74"/>
            <p:cNvSpPr/>
            <p:nvPr/>
          </p:nvSpPr>
          <p:spPr>
            <a:xfrm>
              <a:off x="7293292" y="1821180"/>
              <a:ext cx="1895475" cy="677228"/>
            </a:xfrm>
            <a:custGeom>
              <a:avLst/>
              <a:gdLst/>
              <a:ahLst/>
              <a:cxnLst/>
              <a:rect l="l" t="t" r="r" b="b"/>
              <a:pathLst>
                <a:path w="1895475" h="677228">
                  <a:moveTo>
                    <a:pt x="1895475" y="67722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7202805" y="1776412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0" y="12383"/>
                  </a:moveTo>
                  <a:lnTo>
                    <a:pt x="105727" y="0"/>
                  </a:lnTo>
                  <a:lnTo>
                    <a:pt x="74295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6" name="Freeform 76"/>
            <p:cNvSpPr/>
            <p:nvPr/>
          </p:nvSpPr>
          <p:spPr>
            <a:xfrm>
              <a:off x="7215188" y="2567940"/>
              <a:ext cx="1865947" cy="9525"/>
            </a:xfrm>
            <a:custGeom>
              <a:avLst/>
              <a:gdLst/>
              <a:ahLst/>
              <a:cxnLst/>
              <a:rect l="l" t="t" r="r" b="b"/>
              <a:pathLst>
                <a:path w="1865947" h="9525">
                  <a:moveTo>
                    <a:pt x="0" y="0"/>
                  </a:moveTo>
                  <a:lnTo>
                    <a:pt x="186594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9081135" y="25203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6805612" y="151828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9185910" y="151828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11026140" y="193167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9185910" y="236791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6805612" y="236791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914053" y="165258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294350" y="165258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134580" y="206597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294350" y="250317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914053" y="250317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</p:grpSp>
      <p:grpSp>
        <p:nvGrpSpPr>
          <p:cNvPr id="138" name="c2-table-2"/>
          <p:cNvGrpSpPr/>
          <p:nvPr/>
        </p:nvGrpSpPr>
        <p:grpSpPr>
          <a:xfrm>
            <a:off x="6243447" y="2903220"/>
            <a:ext cx="5415153" cy="2552414"/>
            <a:chOff x="6243447" y="2903220"/>
            <a:chExt cx="5415153" cy="2552414"/>
          </a:xfrm>
        </p:grpSpPr>
        <p:sp>
          <p:nvSpPr>
            <p:cNvPr id="89" name="Rectangle 89"/>
            <p:cNvSpPr/>
            <p:nvPr/>
          </p:nvSpPr>
          <p:spPr>
            <a:xfrm>
              <a:off x="6248400" y="2903220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554801" y="3020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456818" y="3020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357883" y="3020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259901" y="3020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161918" y="3020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652783" y="34023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556744" y="3402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458762" y="3402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359827" y="3402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261844" y="3402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163862" y="3402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6248400" y="36614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6248400" y="366617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652783" y="37833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556744" y="3783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458762" y="3783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9359827" y="3783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0261844" y="3783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163862" y="3783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6248400" y="40424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6652783" y="41643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7556744" y="4164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8458762" y="4164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9359827" y="4164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0261844" y="4164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1163862" y="4164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6248400" y="44243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6248400" y="442912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6652783" y="45462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7556744" y="45462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8458762" y="45462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9359827" y="45462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0261844" y="45462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1163862" y="45462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6248400" y="48053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6652783" y="492728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7556744" y="492728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8458762" y="492728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9359827" y="492728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0261844" y="492728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1163862" y="492728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6248400" y="2903220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7145655" y="290322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8046720" y="290322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4" name="Rectangle 134"/>
            <p:cNvSpPr/>
            <p:nvPr/>
          </p:nvSpPr>
          <p:spPr>
            <a:xfrm>
              <a:off x="8948738" y="290322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5" name="Rectangle 135"/>
            <p:cNvSpPr/>
            <p:nvPr/>
          </p:nvSpPr>
          <p:spPr>
            <a:xfrm>
              <a:off x="9850755" y="290322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10751820" y="290322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6243447" y="5264944"/>
              <a:ext cx="15732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 条弧在矩阵中出现 7 个 1</a:t>
              </a:r>
            </a:p>
          </p:txBody>
        </p:sp>
      </p:grpSp>
      <p:grpSp>
        <p:nvGrpSpPr>
          <p:cNvPr id="145" name="c2-callout-3"/>
          <p:cNvGrpSpPr/>
          <p:nvPr/>
        </p:nvGrpSpPr>
        <p:grpSpPr>
          <a:xfrm>
            <a:off x="6248400" y="5581650"/>
            <a:ext cx="5410200" cy="702945"/>
            <a:chOff x="6248400" y="5581650"/>
            <a:chExt cx="5410200" cy="702945"/>
          </a:xfrm>
        </p:grpSpPr>
        <p:sp>
          <p:nvSpPr>
            <p:cNvPr id="139" name="Rectangle 139"/>
            <p:cNvSpPr/>
            <p:nvPr/>
          </p:nvSpPr>
          <p:spPr>
            <a:xfrm>
              <a:off x="6248400" y="5581650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43" name="Group 143"/>
            <p:cNvGrpSpPr/>
            <p:nvPr/>
          </p:nvGrpSpPr>
          <p:grpSpPr>
            <a:xfrm>
              <a:off x="6441129" y="5829418"/>
              <a:ext cx="224134" cy="192560"/>
              <a:chOff x="6441129" y="5829418"/>
              <a:chExt cx="224134" cy="192560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6553200" y="58997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6441129" y="58294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2" name="Freeform 142"/>
              <p:cNvSpPr/>
              <p:nvPr/>
            </p:nvSpPr>
            <p:spPr>
              <a:xfrm>
                <a:off x="6553200" y="59775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44" name="TextBox 144"/>
            <p:cNvSpPr txBox="1"/>
            <p:nvPr/>
          </p:nvSpPr>
          <p:spPr>
            <a:xfrm>
              <a:off x="6756273" y="5726906"/>
              <a:ext cx="44102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有向图的邻接矩阵不一定对称。a₀₁ 和 a₁₀ 同时为 1，是因为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V₀ 与 V₁ 之间确实有方向相反的两条弧。</a:t>
              </a:r>
            </a:p>
          </p:txBody>
        </p:sp>
      </p:grpSp>
      <p:grpSp>
        <p:nvGrpSpPr>
          <p:cNvPr id="1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6" name="TextBox 146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96013" cy="909257"/>
            <a:chOff x="520446" y="342900"/>
            <a:chExt cx="58960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邻接矩阵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960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例：带权图的矩阵，空位填 ∞ 而不是 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graph-1"/>
          <p:cNvGrpSpPr/>
          <p:nvPr/>
        </p:nvGrpSpPr>
        <p:grpSpPr>
          <a:xfrm>
            <a:off x="1319212" y="1624012"/>
            <a:ext cx="3405188" cy="1552576"/>
            <a:chOff x="1319212" y="1624012"/>
            <a:chExt cx="3405188" cy="1552576"/>
          </a:xfrm>
        </p:grpSpPr>
        <p:sp>
          <p:nvSpPr>
            <p:cNvPr id="7" name="Freeform 7"/>
            <p:cNvSpPr/>
            <p:nvPr/>
          </p:nvSpPr>
          <p:spPr>
            <a:xfrm>
              <a:off x="1747838" y="1833562"/>
              <a:ext cx="2547938" cy="9525"/>
            </a:xfrm>
            <a:custGeom>
              <a:avLst/>
              <a:gdLst/>
              <a:ahLst/>
              <a:cxnLst/>
              <a:rect l="l" t="t" r="r" b="b"/>
              <a:pathLst>
                <a:path w="2547938" h="9525">
                  <a:moveTo>
                    <a:pt x="0" y="0"/>
                  </a:moveTo>
                  <a:lnTo>
                    <a:pt x="25479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528762" y="2052638"/>
              <a:ext cx="9525" cy="695325"/>
            </a:xfrm>
            <a:custGeom>
              <a:avLst/>
              <a:gdLst/>
              <a:ahLst/>
              <a:cxnLst/>
              <a:rect l="l" t="t" r="r" b="b"/>
              <a:pathLst>
                <a:path w="9525" h="695325">
                  <a:moveTo>
                    <a:pt x="0" y="0"/>
                  </a:moveTo>
                  <a:lnTo>
                    <a:pt x="0" y="6953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733550" y="1910715"/>
              <a:ext cx="2576512" cy="979170"/>
            </a:xfrm>
            <a:custGeom>
              <a:avLst/>
              <a:gdLst/>
              <a:ahLst/>
              <a:cxnLst/>
              <a:rect l="l" t="t" r="r" b="b"/>
              <a:pathLst>
                <a:path w="2576512" h="979170">
                  <a:moveTo>
                    <a:pt x="0" y="0"/>
                  </a:moveTo>
                  <a:lnTo>
                    <a:pt x="2576512" y="9791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514850" y="2052638"/>
              <a:ext cx="9525" cy="695325"/>
            </a:xfrm>
            <a:custGeom>
              <a:avLst/>
              <a:gdLst/>
              <a:ahLst/>
              <a:cxnLst/>
              <a:rect l="l" t="t" r="r" b="b"/>
              <a:pathLst>
                <a:path w="9525" h="695325">
                  <a:moveTo>
                    <a:pt x="0" y="0"/>
                  </a:moveTo>
                  <a:lnTo>
                    <a:pt x="0" y="6953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747838" y="2967038"/>
              <a:ext cx="2547938" cy="9525"/>
            </a:xfrm>
            <a:custGeom>
              <a:avLst/>
              <a:gdLst/>
              <a:ahLst/>
              <a:cxnLst/>
              <a:rect l="l" t="t" r="r" b="b"/>
              <a:pathLst>
                <a:path w="2547938" h="9525">
                  <a:moveTo>
                    <a:pt x="0" y="0"/>
                  </a:moveTo>
                  <a:lnTo>
                    <a:pt x="25479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319212" y="162401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4305300" y="162401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319212" y="275748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305300" y="275748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37178" y="176784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23265" y="176784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37178" y="290226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23265" y="290226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955608" y="175450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987163" y="17845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462088" y="23221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93643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955608" y="23221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987163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448175" y="23221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79731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955608" y="288893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987163" y="29179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36" name="c1-callout-2"/>
          <p:cNvGrpSpPr/>
          <p:nvPr/>
        </p:nvGrpSpPr>
        <p:grpSpPr>
          <a:xfrm>
            <a:off x="533400" y="3411855"/>
            <a:ext cx="4977765" cy="729615"/>
            <a:chOff x="533400" y="3411855"/>
            <a:chExt cx="4977765" cy="729615"/>
          </a:xfrm>
        </p:grpSpPr>
        <p:sp>
          <p:nvSpPr>
            <p:cNvPr id="31" name="Rectangle 31"/>
            <p:cNvSpPr/>
            <p:nvPr/>
          </p:nvSpPr>
          <p:spPr>
            <a:xfrm>
              <a:off x="533400" y="3411855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3676652"/>
              <a:ext cx="200023" cy="200023"/>
              <a:chOff x="738188" y="3676652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367665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37433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892" y="3558540"/>
              <a:ext cx="3879913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V₁ 与 V₂ 之间没有边，所以 a₁₂ = a₂₁ = ∞，而不是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0。</a:t>
              </a:r>
            </a:p>
          </p:txBody>
        </p:sp>
      </p:grpSp>
      <p:grpSp>
        <p:nvGrpSpPr>
          <p:cNvPr id="75" name="c2-table-1"/>
          <p:cNvGrpSpPr/>
          <p:nvPr/>
        </p:nvGrpSpPr>
        <p:grpSpPr>
          <a:xfrm>
            <a:off x="5811012" y="1524000"/>
            <a:ext cx="5847588" cy="2263806"/>
            <a:chOff x="5811012" y="1524000"/>
            <a:chExt cx="5847588" cy="2263806"/>
          </a:xfrm>
        </p:grpSpPr>
        <p:sp>
          <p:nvSpPr>
            <p:cNvPr id="37" name="Rectangle 37"/>
            <p:cNvSpPr/>
            <p:nvPr/>
          </p:nvSpPr>
          <p:spPr>
            <a:xfrm>
              <a:off x="5815965" y="1524000"/>
              <a:ext cx="584263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88834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63266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61511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34991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41071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90907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65340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63585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037065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15965" y="23193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815965" y="23241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41071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90907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665340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321165" y="2333625"/>
              <a:ext cx="1179195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863585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37065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815965" y="27193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41071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90907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121968" y="2733675"/>
              <a:ext cx="1179195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665340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863585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037065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815965" y="31194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815965" y="31242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41071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90907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665340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863585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037065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815965" y="1524000"/>
              <a:ext cx="584263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958965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8107680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30687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1050512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811012" y="3597116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无向带权图的矩阵仍然对称</a:t>
              </a:r>
            </a:p>
          </p:txBody>
        </p:sp>
      </p:grpSp>
      <p:grpSp>
        <p:nvGrpSpPr>
          <p:cNvPr id="85" name="c2-card-2"/>
          <p:cNvGrpSpPr/>
          <p:nvPr/>
        </p:nvGrpSpPr>
        <p:grpSpPr>
          <a:xfrm>
            <a:off x="5815965" y="3919538"/>
            <a:ext cx="5842635" cy="1528762"/>
            <a:chOff x="5815965" y="3919538"/>
            <a:chExt cx="5842635" cy="1528762"/>
          </a:xfrm>
        </p:grpSpPr>
        <p:sp>
          <p:nvSpPr>
            <p:cNvPr id="76" name="Rectangle 76"/>
            <p:cNvSpPr/>
            <p:nvPr/>
          </p:nvSpPr>
          <p:spPr>
            <a:xfrm>
              <a:off x="5815965" y="3919538"/>
              <a:ext cx="5842635" cy="1528762"/>
            </a:xfrm>
            <a:prstGeom prst="roundRect">
              <a:avLst>
                <a:gd name="adj" fmla="val 87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002655" y="410622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087224" y="413908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三类单元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6011228" y="450723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167247" y="4451032"/>
              <a:ext cx="2717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对角线：一律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0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，表示顶点到自己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6011228" y="480726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167247" y="4751070"/>
              <a:ext cx="31668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有边：填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权值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，本例是 3、5、8、4、2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6011228" y="510730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167247" y="5051108"/>
              <a:ext cx="5225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无边：填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∞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，程序里常用一个足够大的数（如 0x3f3f3f3f）代替</a:t>
              </a:r>
            </a:p>
          </p:txBody>
        </p:sp>
      </p:grpSp>
      <p:grpSp>
        <p:nvGrpSpPr>
          <p:cNvPr id="92" name="c2-callout-3"/>
          <p:cNvGrpSpPr/>
          <p:nvPr/>
        </p:nvGrpSpPr>
        <p:grpSpPr>
          <a:xfrm>
            <a:off x="5815965" y="5618798"/>
            <a:ext cx="5842635" cy="729615"/>
            <a:chOff x="5815965" y="5618798"/>
            <a:chExt cx="5842635" cy="729615"/>
          </a:xfrm>
        </p:grpSpPr>
        <p:sp>
          <p:nvSpPr>
            <p:cNvPr id="86" name="Rectangle 86"/>
            <p:cNvSpPr/>
            <p:nvPr/>
          </p:nvSpPr>
          <p:spPr>
            <a:xfrm>
              <a:off x="5815965" y="5618798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6020753" y="5883593"/>
              <a:ext cx="200026" cy="200026"/>
              <a:chOff x="6020753" y="5883593"/>
              <a:chExt cx="200026" cy="200026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6020753" y="58835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6120765" y="59502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6109653" y="59836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6323457" y="5764530"/>
              <a:ext cx="470287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0x3f3f3f3f 而不是 INT_MAX，是为了让两个 ∞ 相加时不溢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出，这个技巧在第 15 讲的最短路径里会反复用到。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邻接矩阵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从邻接矩阵求度：无向看行，有向行是出度、列是入度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graph-1"/>
          <p:cNvGrpSpPr/>
          <p:nvPr/>
        </p:nvGrpSpPr>
        <p:grpSpPr>
          <a:xfrm>
            <a:off x="992505" y="1515428"/>
            <a:ext cx="4491990" cy="1267777"/>
            <a:chOff x="992505" y="1515428"/>
            <a:chExt cx="4491990" cy="1267777"/>
          </a:xfrm>
        </p:grpSpPr>
        <p:sp>
          <p:nvSpPr>
            <p:cNvPr id="7" name="Freeform 7"/>
            <p:cNvSpPr/>
            <p:nvPr/>
          </p:nvSpPr>
          <p:spPr>
            <a:xfrm>
              <a:off x="1383030" y="1705928"/>
              <a:ext cx="3710940" cy="9525"/>
            </a:xfrm>
            <a:custGeom>
              <a:avLst/>
              <a:gdLst/>
              <a:ahLst/>
              <a:cxnLst/>
              <a:rect l="l" t="t" r="r" b="b"/>
              <a:pathLst>
                <a:path w="3710940" h="9525">
                  <a:moveTo>
                    <a:pt x="0" y="0"/>
                  </a:moveTo>
                  <a:lnTo>
                    <a:pt x="37109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83005" y="1905952"/>
              <a:ext cx="9525" cy="486727"/>
            </a:xfrm>
            <a:custGeom>
              <a:avLst/>
              <a:gdLst/>
              <a:ahLst/>
              <a:cxnLst/>
              <a:rect l="l" t="t" r="r" b="b"/>
              <a:pathLst>
                <a:path w="9525" h="486727">
                  <a:moveTo>
                    <a:pt x="0" y="0"/>
                  </a:moveTo>
                  <a:lnTo>
                    <a:pt x="0" y="48672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434715" y="1746885"/>
              <a:ext cx="1664017" cy="343852"/>
            </a:xfrm>
            <a:custGeom>
              <a:avLst/>
              <a:gdLst/>
              <a:ahLst/>
              <a:cxnLst/>
              <a:rect l="l" t="t" r="r" b="b"/>
              <a:pathLst>
                <a:path w="1664017" h="343852">
                  <a:moveTo>
                    <a:pt x="1664017" y="0"/>
                  </a:moveTo>
                  <a:lnTo>
                    <a:pt x="0" y="3438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293995" y="1905952"/>
              <a:ext cx="9525" cy="486727"/>
            </a:xfrm>
            <a:custGeom>
              <a:avLst/>
              <a:gdLst/>
              <a:ahLst/>
              <a:cxnLst/>
              <a:rect l="l" t="t" r="r" b="b"/>
              <a:pathLst>
                <a:path w="9525" h="486727">
                  <a:moveTo>
                    <a:pt x="0" y="0"/>
                  </a:moveTo>
                  <a:lnTo>
                    <a:pt x="0" y="48672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78268" y="2174558"/>
              <a:ext cx="1664970" cy="374333"/>
            </a:xfrm>
            <a:custGeom>
              <a:avLst/>
              <a:gdLst/>
              <a:ahLst/>
              <a:cxnLst/>
              <a:rect l="l" t="t" r="r" b="b"/>
              <a:pathLst>
                <a:path w="1664970" h="374333">
                  <a:moveTo>
                    <a:pt x="1664970" y="0"/>
                  </a:moveTo>
                  <a:lnTo>
                    <a:pt x="0" y="3743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433762" y="2174558"/>
              <a:ext cx="1664970" cy="374333"/>
            </a:xfrm>
            <a:custGeom>
              <a:avLst/>
              <a:gdLst/>
              <a:ahLst/>
              <a:cxnLst/>
              <a:rect l="l" t="t" r="r" b="b"/>
              <a:pathLst>
                <a:path w="1664970" h="374333">
                  <a:moveTo>
                    <a:pt x="0" y="0"/>
                  </a:moveTo>
                  <a:lnTo>
                    <a:pt x="1664970" y="3743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992505" y="151542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5103495" y="151542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048000" y="194119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992505" y="240220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5103495" y="240220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91420" y="1641157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02410" y="1641157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46915" y="206597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1420" y="252698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02410" y="252698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</p:grpSp>
      <p:grpSp>
        <p:nvGrpSpPr>
          <p:cNvPr id="80" name="c1-table-2"/>
          <p:cNvGrpSpPr/>
          <p:nvPr/>
        </p:nvGrpSpPr>
        <p:grpSpPr>
          <a:xfrm>
            <a:off x="528447" y="2903220"/>
            <a:ext cx="5415153" cy="2552414"/>
            <a:chOff x="528447" y="2903220"/>
            <a:chExt cx="5415153" cy="2552414"/>
          </a:xfrm>
        </p:grpSpPr>
        <p:sp>
          <p:nvSpPr>
            <p:cNvPr id="24" name="Rectangle 24"/>
            <p:cNvSpPr/>
            <p:nvPr/>
          </p:nvSpPr>
          <p:spPr>
            <a:xfrm>
              <a:off x="533400" y="2903220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634061" y="3020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98918" y="3020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63776" y="3020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28633" y="3020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93491" y="3020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57063" y="302037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9203" y="34023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36004" y="3402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00862" y="3402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65719" y="3402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30577" y="3402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95434" y="3402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488867" y="3402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6614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366617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69203" y="37833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636004" y="3783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400862" y="3783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165719" y="3783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930577" y="3783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95434" y="3783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488867" y="3783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0424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69203" y="41643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636004" y="4164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400862" y="4164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165719" y="4164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930577" y="4164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695434" y="4164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488867" y="4164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44243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33400" y="442912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69203" y="45462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636004" y="45462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400862" y="45462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165719" y="45462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930577" y="45462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695434" y="45462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488867" y="45462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48053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69203" y="492728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636004" y="492728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400862" y="492728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165719" y="492728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930577" y="492728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695434" y="492728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488867" y="492728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33400" y="2903220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1293495" y="290322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2058352" y="290322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2823210" y="290322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3588068" y="290322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4352925" y="290322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5117782" y="290322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28447" y="5264944"/>
              <a:ext cx="14743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度数之和 12 = 2 × 6 条边</a:t>
              </a:r>
            </a:p>
          </p:txBody>
        </p:sp>
      </p:grpSp>
      <p:grpSp>
        <p:nvGrpSpPr>
          <p:cNvPr id="86" name="c1-callout-3"/>
          <p:cNvGrpSpPr/>
          <p:nvPr/>
        </p:nvGrpSpPr>
        <p:grpSpPr>
          <a:xfrm>
            <a:off x="533400" y="5581650"/>
            <a:ext cx="5410200" cy="702945"/>
            <a:chOff x="533400" y="5581650"/>
            <a:chExt cx="5410200" cy="702945"/>
          </a:xfrm>
        </p:grpSpPr>
        <p:sp>
          <p:nvSpPr>
            <p:cNvPr id="81" name="Rectangle 81"/>
            <p:cNvSpPr/>
            <p:nvPr/>
          </p:nvSpPr>
          <p:spPr>
            <a:xfrm>
              <a:off x="533400" y="5581650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38188" y="5833112"/>
              <a:ext cx="200023" cy="200023"/>
              <a:chOff x="738188" y="5833112"/>
              <a:chExt cx="200023" cy="200023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38188" y="58331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71538" y="58997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041273" y="5726906"/>
              <a:ext cx="43939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无向无权图中，矩阵第 i 行（或第 i 列）中 1 的个数就是顶点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Vᵢ 的度。</a:t>
              </a:r>
            </a:p>
          </p:txBody>
        </p:sp>
      </p:grpSp>
      <p:grpSp>
        <p:nvGrpSpPr>
          <p:cNvPr id="103" name="c2-graph-1"/>
          <p:cNvGrpSpPr/>
          <p:nvPr/>
        </p:nvGrpSpPr>
        <p:grpSpPr>
          <a:xfrm>
            <a:off x="7031355" y="1551622"/>
            <a:ext cx="3844290" cy="1183006"/>
            <a:chOff x="7031355" y="1551622"/>
            <a:chExt cx="3844290" cy="1183006"/>
          </a:xfrm>
        </p:grpSpPr>
        <p:sp>
          <p:nvSpPr>
            <p:cNvPr id="87" name="Freeform 87"/>
            <p:cNvSpPr/>
            <p:nvPr/>
          </p:nvSpPr>
          <p:spPr>
            <a:xfrm>
              <a:off x="7421880" y="1742122"/>
              <a:ext cx="2967990" cy="9525"/>
            </a:xfrm>
            <a:custGeom>
              <a:avLst/>
              <a:gdLst/>
              <a:ahLst/>
              <a:cxnLst/>
              <a:rect l="l" t="t" r="r" b="b"/>
              <a:pathLst>
                <a:path w="2967990" h="9525">
                  <a:moveTo>
                    <a:pt x="0" y="0"/>
                  </a:moveTo>
                  <a:lnTo>
                    <a:pt x="29679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10389870" y="16944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9" name="Freeform 89"/>
            <p:cNvSpPr/>
            <p:nvPr/>
          </p:nvSpPr>
          <p:spPr>
            <a:xfrm>
              <a:off x="7221855" y="1942148"/>
              <a:ext cx="9525" cy="306705"/>
            </a:xfrm>
            <a:custGeom>
              <a:avLst/>
              <a:gdLst/>
              <a:ahLst/>
              <a:cxnLst/>
              <a:rect l="l" t="t" r="r" b="b"/>
              <a:pathLst>
                <a:path w="9525" h="306705">
                  <a:moveTo>
                    <a:pt x="0" y="0"/>
                  </a:moveTo>
                  <a:lnTo>
                    <a:pt x="0" y="3067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7174230" y="22488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1" name="Freeform 91"/>
            <p:cNvSpPr/>
            <p:nvPr/>
          </p:nvSpPr>
          <p:spPr>
            <a:xfrm>
              <a:off x="7421880" y="2544128"/>
              <a:ext cx="2967990" cy="9525"/>
            </a:xfrm>
            <a:custGeom>
              <a:avLst/>
              <a:gdLst/>
              <a:ahLst/>
              <a:cxnLst/>
              <a:rect l="l" t="t" r="r" b="b"/>
              <a:pathLst>
                <a:path w="2967990" h="9525">
                  <a:moveTo>
                    <a:pt x="0" y="0"/>
                  </a:moveTo>
                  <a:lnTo>
                    <a:pt x="29679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2" name="Freeform 92"/>
            <p:cNvSpPr/>
            <p:nvPr/>
          </p:nvSpPr>
          <p:spPr>
            <a:xfrm>
              <a:off x="10389870" y="24965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3" name="Freeform 93"/>
            <p:cNvSpPr/>
            <p:nvPr/>
          </p:nvSpPr>
          <p:spPr>
            <a:xfrm>
              <a:off x="7509510" y="1808798"/>
              <a:ext cx="2980372" cy="690562"/>
            </a:xfrm>
            <a:custGeom>
              <a:avLst/>
              <a:gdLst/>
              <a:ahLst/>
              <a:cxnLst/>
              <a:rect l="l" t="t" r="r" b="b"/>
              <a:pathLst>
                <a:path w="2980372" h="690562">
                  <a:moveTo>
                    <a:pt x="2980372" y="69056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7417118" y="1763078"/>
              <a:ext cx="103822" cy="92393"/>
            </a:xfrm>
            <a:custGeom>
              <a:avLst/>
              <a:gdLst/>
              <a:ahLst/>
              <a:cxnLst/>
              <a:rect l="l" t="t" r="r" b="b"/>
              <a:pathLst>
                <a:path w="103822" h="92393">
                  <a:moveTo>
                    <a:pt x="0" y="24765"/>
                  </a:moveTo>
                  <a:lnTo>
                    <a:pt x="103822" y="0"/>
                  </a:lnTo>
                  <a:lnTo>
                    <a:pt x="81915" y="9239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7031355" y="155162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6" name="Ellipse 96"/>
            <p:cNvSpPr/>
            <p:nvPr/>
          </p:nvSpPr>
          <p:spPr>
            <a:xfrm>
              <a:off x="10494645" y="155162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7" name="Ellipse 97"/>
            <p:cNvSpPr/>
            <p:nvPr/>
          </p:nvSpPr>
          <p:spPr>
            <a:xfrm>
              <a:off x="7031355" y="235362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8" name="Ellipse 98"/>
            <p:cNvSpPr/>
            <p:nvPr/>
          </p:nvSpPr>
          <p:spPr>
            <a:xfrm>
              <a:off x="10494645" y="235362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7130270" y="167735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0593560" y="167735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130270" y="247840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593560" y="247840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</p:grpSp>
      <p:grpSp>
        <p:nvGrpSpPr>
          <p:cNvPr id="154" name="c2-table-2"/>
          <p:cNvGrpSpPr/>
          <p:nvPr/>
        </p:nvGrpSpPr>
        <p:grpSpPr>
          <a:xfrm>
            <a:off x="6243447" y="2903220"/>
            <a:ext cx="5415153" cy="2552414"/>
            <a:chOff x="6243447" y="2903220"/>
            <a:chExt cx="5415153" cy="2552414"/>
          </a:xfrm>
        </p:grpSpPr>
        <p:sp>
          <p:nvSpPr>
            <p:cNvPr id="104" name="Rectangle 104"/>
            <p:cNvSpPr/>
            <p:nvPr/>
          </p:nvSpPr>
          <p:spPr>
            <a:xfrm>
              <a:off x="6248400" y="2903220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7650051" y="3020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488251" y="3020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326451" y="3020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0164651" y="3020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0997565" y="30203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出度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6716601" y="34023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7651994" y="3402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8490194" y="3402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9328394" y="3402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0166594" y="3402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1100044" y="3402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6248400" y="36614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6248400" y="366617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6716601" y="37833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7651994" y="3783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8490194" y="3783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9328394" y="3783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0166594" y="3783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1100044" y="3783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6248400" y="40424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6716601" y="41643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7651994" y="4164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8490194" y="4164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9328394" y="4164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0166594" y="4164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1100044" y="4164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6248400" y="44243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6248400" y="442912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6716601" y="45462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7651994" y="45462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8490194" y="45462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9328394" y="45462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10166594" y="45462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11100044" y="45462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6248400" y="48053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0" name="Rectangle 140"/>
            <p:cNvSpPr/>
            <p:nvPr/>
          </p:nvSpPr>
          <p:spPr>
            <a:xfrm>
              <a:off x="6257925" y="4819650"/>
              <a:ext cx="100869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6616065" y="492728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入度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7651994" y="492728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8490194" y="492728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9328394" y="492728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10166594" y="492728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11100044" y="492728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7" name="Rectangle 147"/>
            <p:cNvSpPr/>
            <p:nvPr/>
          </p:nvSpPr>
          <p:spPr>
            <a:xfrm>
              <a:off x="6248400" y="2903220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48" name="Rectangle 148"/>
            <p:cNvSpPr/>
            <p:nvPr/>
          </p:nvSpPr>
          <p:spPr>
            <a:xfrm>
              <a:off x="7271385" y="290322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9" name="Rectangle 149"/>
            <p:cNvSpPr/>
            <p:nvPr/>
          </p:nvSpPr>
          <p:spPr>
            <a:xfrm>
              <a:off x="8110538" y="290322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0" name="Rectangle 150"/>
            <p:cNvSpPr/>
            <p:nvPr/>
          </p:nvSpPr>
          <p:spPr>
            <a:xfrm>
              <a:off x="8948738" y="290322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1" name="Rectangle 151"/>
            <p:cNvSpPr/>
            <p:nvPr/>
          </p:nvSpPr>
          <p:spPr>
            <a:xfrm>
              <a:off x="9786938" y="290322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2" name="Rectangle 152"/>
            <p:cNvSpPr/>
            <p:nvPr/>
          </p:nvSpPr>
          <p:spPr>
            <a:xfrm>
              <a:off x="10626090" y="290322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3" name="TextBox 153"/>
            <p:cNvSpPr txBox="1"/>
            <p:nvPr/>
          </p:nvSpPr>
          <p:spPr>
            <a:xfrm>
              <a:off x="6243447" y="5264944"/>
              <a:ext cx="32883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最后一行是各列之和，即入度；出度之和 = 入度之和 = 4</a:t>
              </a:r>
            </a:p>
          </p:txBody>
        </p:sp>
      </p:grpSp>
      <p:grpSp>
        <p:nvGrpSpPr>
          <p:cNvPr id="160" name="c2-callout-3"/>
          <p:cNvGrpSpPr/>
          <p:nvPr/>
        </p:nvGrpSpPr>
        <p:grpSpPr>
          <a:xfrm>
            <a:off x="6248400" y="5581650"/>
            <a:ext cx="5410200" cy="702945"/>
            <a:chOff x="6248400" y="5581650"/>
            <a:chExt cx="5410200" cy="702945"/>
          </a:xfrm>
        </p:grpSpPr>
        <p:sp>
          <p:nvSpPr>
            <p:cNvPr id="155" name="Rectangle 155"/>
            <p:cNvSpPr/>
            <p:nvPr/>
          </p:nvSpPr>
          <p:spPr>
            <a:xfrm>
              <a:off x="6248400" y="5581650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58" name="Group 158"/>
            <p:cNvGrpSpPr/>
            <p:nvPr/>
          </p:nvGrpSpPr>
          <p:grpSpPr>
            <a:xfrm>
              <a:off x="6453188" y="5833112"/>
              <a:ext cx="200023" cy="200023"/>
              <a:chOff x="6453188" y="5833112"/>
              <a:chExt cx="200023" cy="200023"/>
            </a:xfrm>
          </p:grpSpPr>
          <p:sp>
            <p:nvSpPr>
              <p:cNvPr id="156" name="Freeform 156"/>
              <p:cNvSpPr/>
              <p:nvPr/>
            </p:nvSpPr>
            <p:spPr>
              <a:xfrm>
                <a:off x="6453188" y="58331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57" name="Freeform 157"/>
              <p:cNvSpPr/>
              <p:nvPr/>
            </p:nvSpPr>
            <p:spPr>
              <a:xfrm>
                <a:off x="6586538" y="58997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9" name="TextBox 159"/>
            <p:cNvSpPr txBox="1"/>
            <p:nvPr/>
          </p:nvSpPr>
          <p:spPr>
            <a:xfrm>
              <a:off x="6756273" y="5726906"/>
              <a:ext cx="44589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i 行有一个 1，就意味着有一条由 Vᵢ 引出的边；第 i 列有一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 1，就意味着有一条指向 Vᵢ 的边。</a:t>
              </a:r>
            </a:p>
          </p:txBody>
        </p:sp>
      </p:grpSp>
      <p:grpSp>
        <p:nvGrpSpPr>
          <p:cNvPr id="1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61" name="TextBox 161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邻接矩阵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邻接矩阵的代价：查边极快，存稀疏图极亏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5951220" cy="2434590"/>
            <a:chOff x="533400" y="1524000"/>
            <a:chExt cx="5951220" cy="24345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62304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操作或指标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7627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64938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占用空间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56522" y="2054066"/>
              <a:ext cx="4916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09022" y="2054066"/>
              <a:ext cx="2182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不管有没有边，n² 个单元都要存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595122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17106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 (Vᵢ, Vⱼ) 是否有边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56522" y="2459831"/>
              <a:ext cx="41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09022" y="2459831"/>
              <a:ext cx="16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直接取 A[i][j] 一个单元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65596"/>
              <a:ext cx="150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改边、删边 (Vᵢ, Vⱼ)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56522" y="2865596"/>
              <a:ext cx="41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09022" y="2865596"/>
              <a:ext cx="16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A[i][j] 改成新值即可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4229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47060"/>
              <a:ext cx="595122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27136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找某个点的邻接顶点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56522" y="3271361"/>
              <a:ext cx="4021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09022" y="3271361"/>
              <a:ext cx="21298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必须把第 i 行 n 个单元全扫一遍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480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6771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求某个点的度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56522" y="3677126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09022" y="3677126"/>
              <a:ext cx="2695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行求和；有向图求入度还要扫第 i 列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595122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551748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504248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card-2"/>
          <p:cNvGrpSpPr/>
          <p:nvPr/>
        </p:nvGrpSpPr>
        <p:grpSpPr>
          <a:xfrm>
            <a:off x="533400" y="4133850"/>
            <a:ext cx="5951220" cy="1529715"/>
            <a:chOff x="533400" y="4133850"/>
            <a:chExt cx="5951220" cy="1529715"/>
          </a:xfrm>
        </p:grpSpPr>
        <p:sp>
          <p:nvSpPr>
            <p:cNvPr id="36" name="Rectangle 36"/>
            <p:cNvSpPr/>
            <p:nvPr/>
          </p:nvSpPr>
          <p:spPr>
            <a:xfrm>
              <a:off x="533400" y="4133850"/>
              <a:ext cx="5951220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267200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3905" y="432625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5345" y="43605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7047" y="4682490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存储稀疏图（点多边少）时，邻接矩阵本身就是一个稀疏矩阵，绝大多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数单元是 0，白白占着空间。</a:t>
              </a:r>
            </a:p>
          </p:txBody>
        </p:sp>
      </p:grpSp>
      <p:grpSp>
        <p:nvGrpSpPr>
          <p:cNvPr id="44" name="c2-image-1"/>
          <p:cNvGrpSpPr/>
          <p:nvPr/>
        </p:nvGrpSpPr>
        <p:grpSpPr>
          <a:xfrm>
            <a:off x="7946517" y="1524000"/>
            <a:ext cx="2554986" cy="1729359"/>
            <a:chOff x="7946517" y="1524000"/>
            <a:chExt cx="2554986" cy="1729359"/>
          </a:xfrm>
        </p:grpSpPr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2"/>
            <a:srcRect l="16" t="0" r="17" b="0"/>
            <a:stretch>
              <a:fillRect/>
            </a:stretch>
          </p:blipFill>
          <p:spPr>
            <a:xfrm>
              <a:off x="8270558" y="1524000"/>
              <a:ext cx="1906905" cy="1430655"/>
            </a:xfrm>
            <a:prstGeom prst="roundRect">
              <a:avLst>
                <a:gd name="adj" fmla="val 9320"/>
              </a:avLst>
            </a:prstGeom>
          </p:spPr>
        </p:pic>
        <p:sp>
          <p:nvSpPr>
            <p:cNvPr id="43" name="TextBox 43"/>
            <p:cNvSpPr txBox="1"/>
            <p:nvPr/>
          </p:nvSpPr>
          <p:spPr>
            <a:xfrm>
              <a:off x="7946517" y="304800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格子全都要留着，真正放东西的只有几格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789420" y="3406140"/>
            <a:ext cx="4869180" cy="2257425"/>
            <a:chOff x="6789420" y="3406140"/>
            <a:chExt cx="4869180" cy="2257425"/>
          </a:xfrm>
        </p:grpSpPr>
        <p:sp>
          <p:nvSpPr>
            <p:cNvPr id="45" name="Rectangle 45"/>
            <p:cNvSpPr/>
            <p:nvPr/>
          </p:nvSpPr>
          <p:spPr>
            <a:xfrm>
              <a:off x="6789420" y="3406140"/>
              <a:ext cx="4869180" cy="2257425"/>
            </a:xfrm>
            <a:prstGeom prst="roundRect">
              <a:avLst>
                <a:gd name="adj" fmla="val 5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98945" y="3539490"/>
              <a:ext cx="47625" cy="19907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019925" y="359854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11365" y="36328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03617" y="3637598"/>
              <a:ext cx="24680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10⁴、e = 3×10⁴ 的稀疏图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028498" y="402812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184517" y="3971925"/>
              <a:ext cx="40989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邻接矩阵：10⁸ 个 int，约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381 MiB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，其中只有 6 万个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单元不是 0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028498" y="458819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184517" y="4531995"/>
              <a:ext cx="41122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邻接表：n + 2e = 70 000 个结点，约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1.07 MiB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，相差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357 倍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14210" y="5087779"/>
              <a:ext cx="426440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结点大小用 zig cc 实测：sizeof(Vertex) = sizeof(Edge) = 16 字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节（64 位，含对齐）。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6" name="Rectangle 5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892" y="6023610"/>
              <a:ext cx="87937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上表的 O(1) 都以“矩阵已经建好、可随机访问内存”为前提；建矩阵本身要先把 n² 个单元清零，是 O(n²)。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52407" cy="909257"/>
            <a:chOff x="520446" y="342900"/>
            <a:chExt cx="68524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邻接矩阵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524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课下思考：用邻接矩阵判断 EL 路径是否存在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724025"/>
            <a:chOff x="533400" y="1524000"/>
            <a:chExt cx="5410200" cy="17240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24025"/>
            </a:xfrm>
            <a:prstGeom prst="roundRect">
              <a:avLst>
                <a:gd name="adj" fmla="val 77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573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72001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已知无向连通图 G 由顶点集 V 和边集 E 组成，|E| &gt; 0，当 G 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度为奇数的顶点个数为 0 或 2 时，G 存在包含所有边且长度为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|E| 的路径（称为 EL 路径）。设 G 采用邻接矩阵存储，请设计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算法，判断 G 是否存在 EL 路径。【2021 年考研题全国卷】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423285"/>
            <a:ext cx="5410200" cy="1680210"/>
            <a:chOff x="533400" y="3423285"/>
            <a:chExt cx="5410200" cy="1680210"/>
          </a:xfrm>
        </p:grpSpPr>
        <p:sp>
          <p:nvSpPr>
            <p:cNvPr id="13" name="Rectangle 13"/>
            <p:cNvSpPr/>
            <p:nvPr/>
          </p:nvSpPr>
          <p:spPr>
            <a:xfrm>
              <a:off x="533400" y="3423285"/>
              <a:ext cx="5410200" cy="1680210"/>
            </a:xfrm>
            <a:prstGeom prst="roundRect">
              <a:avLst>
                <a:gd name="adj" fmla="val 793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6156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7245" y="36499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971925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题干已经把判据给出来了，算法要做的只有两件事：按行求和得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到每个顶点的度，再数一数其中有几个是奇数。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0090" y="4527709"/>
              <a:ext cx="482625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度为奇数的顶点只可能有偶数个（握手定理的推论），所以 0 和 2 就是“最多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两个奇点”的全部情形。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5278755"/>
            <a:ext cx="5410200" cy="729615"/>
            <a:chOff x="533400" y="5278755"/>
            <a:chExt cx="5410200" cy="729615"/>
          </a:xfrm>
        </p:grpSpPr>
        <p:sp>
          <p:nvSpPr>
            <p:cNvPr id="19" name="Rectangle 19"/>
            <p:cNvSpPr/>
            <p:nvPr/>
          </p:nvSpPr>
          <p:spPr>
            <a:xfrm>
              <a:off x="533400" y="527875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542598"/>
              <a:ext cx="200026" cy="200026"/>
              <a:chOff x="738188" y="5542598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5425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56092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7088" y="56426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892" y="5424488"/>
              <a:ext cx="446284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 O(n²)（扫完整个矩阵），额外空间 O(1)。题目已给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“G 连通”，否则还要先做一次连通性检查。</a:t>
              </a:r>
            </a:p>
          </p:txBody>
        </p:sp>
      </p:grpSp>
      <p:grpSp>
        <p:nvGrpSpPr>
          <p:cNvPr id="29" name="c2-code-1"/>
          <p:cNvGrpSpPr/>
          <p:nvPr/>
        </p:nvGrpSpPr>
        <p:grpSpPr>
          <a:xfrm>
            <a:off x="6248400" y="1524000"/>
            <a:ext cx="5410200" cy="2268855"/>
            <a:chOff x="6248400" y="1524000"/>
            <a:chExt cx="5410200" cy="2268855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2268855"/>
            </a:xfrm>
            <a:prstGeom prst="roundRect">
              <a:avLst>
                <a:gd name="adj" fmla="val 41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76797" y="1675924"/>
              <a:ext cx="7425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EL 路径判定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76988" y="1935194"/>
              <a:ext cx="3496437" cy="17735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A 是 n×n 邻接矩阵，非权图，元素取 0 或 1 */</a:t>
              </a:r>
              <a:br/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hasELPath(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A[][MAXN],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odd = 0;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 = 0;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0; j &lt; n; j++)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 += A[i][j];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 i 行求和即 vi 的度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(d % 2 == 1) odd++;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统计奇度顶点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(odd == 0 || odd == 2);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5" name="c2-table-2"/>
          <p:cNvGrpSpPr/>
          <p:nvPr/>
        </p:nvGrpSpPr>
        <p:grpSpPr>
          <a:xfrm>
            <a:off x="6243066" y="3968115"/>
            <a:ext cx="5415534" cy="1902714"/>
            <a:chOff x="6243066" y="3968115"/>
            <a:chExt cx="5415534" cy="1902714"/>
          </a:xfrm>
        </p:grpSpPr>
        <p:sp>
          <p:nvSpPr>
            <p:cNvPr id="30" name="Rectangle 30"/>
            <p:cNvSpPr/>
            <p:nvPr/>
          </p:nvSpPr>
          <p:spPr>
            <a:xfrm>
              <a:off x="6248400" y="3968115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2666" y="40924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用哪张图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05406" y="409241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度序列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82569" y="40924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奇度顶点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743520" y="4092416"/>
              <a:ext cx="748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 EL 路径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48412" y="4498181"/>
              <a:ext cx="12164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17 页 6 顶点图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71472" y="4498181"/>
              <a:ext cx="735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2 4 4 4 4 2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03118" y="44981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676572" y="449818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47748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48400" y="477964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8412" y="4903946"/>
              <a:ext cx="13672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32 页左 5 顶点图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71472" y="4903946"/>
              <a:ext cx="606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2 3 3 2 2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03118" y="490394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676572" y="490394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51806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8412" y="5309711"/>
              <a:ext cx="1150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K₄ 四点两两相连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71472" y="5309711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3 3 3 3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03118" y="530971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676572" y="530971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3968115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866698" y="396811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598342" y="396811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571798" y="396811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43066" y="5665470"/>
              <a:ext cx="29578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判据已与暴力搜索在 n ≤ 6 的全部图上对拍通过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01868" cy="3351847"/>
            <a:chOff x="667512" y="1835468"/>
            <a:chExt cx="580186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顶点表照旧顺序存，每个顶点的邻接顶点用一条链表串起来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顶点表与边链表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三张例图的邻接表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统计入度与逆邻接表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两种存储怎么选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邻接表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邻接表：顺序存顶点，链接存邻接关系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842635" cy="2043112"/>
            <a:chOff x="533400" y="1524000"/>
            <a:chExt cx="5842635" cy="20431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043112"/>
            </a:xfrm>
            <a:prstGeom prst="roundRect">
              <a:avLst>
                <a:gd name="adj" fmla="val 65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7641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6762" y="21107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782" y="20545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顺序存储顶点表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4117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355532"/>
              <a:ext cx="49686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对图的每个顶点建立一个单链表，第 i 个单链表中的结点包含顶点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vᵢ 的所有邻接顶点，称为该顶点的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边链表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296894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2912745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由顺序存储的顶点表和链接存储的边链表构成的图存储结构被称为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邻接表</a:t>
              </a:r>
            </a:p>
          </p:txBody>
        </p:sp>
      </p:grpSp>
      <p:grpSp>
        <p:nvGrpSpPr>
          <p:cNvPr id="35" name="c1-cells-2"/>
          <p:cNvGrpSpPr/>
          <p:nvPr/>
        </p:nvGrpSpPr>
        <p:grpSpPr>
          <a:xfrm>
            <a:off x="527685" y="3737610"/>
            <a:ext cx="3386138" cy="1407796"/>
            <a:chOff x="527685" y="3737610"/>
            <a:chExt cx="3386138" cy="1407796"/>
          </a:xfrm>
        </p:grpSpPr>
        <p:sp>
          <p:nvSpPr>
            <p:cNvPr id="18" name="TextBox 18"/>
            <p:cNvSpPr txBox="1"/>
            <p:nvPr/>
          </p:nvSpPr>
          <p:spPr>
            <a:xfrm>
              <a:off x="527685" y="385143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顶点表结点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804988" y="3737610"/>
              <a:ext cx="86772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06891" y="3851434"/>
              <a:ext cx="6629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VerName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671762" y="3737610"/>
              <a:ext cx="86772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771888" y="3851434"/>
              <a:ext cx="668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adjacent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7685" y="437149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边结点（非权图）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804988" y="4256722"/>
              <a:ext cx="70294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904762" y="4371499"/>
              <a:ext cx="5033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VerAdj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507932" y="4256722"/>
              <a:ext cx="70294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719124" y="4371499"/>
              <a:ext cx="280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7685" y="489061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边结点（权图）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804988" y="4776788"/>
              <a:ext cx="70294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904762" y="4890611"/>
              <a:ext cx="5033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VerAdj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507932" y="4776788"/>
              <a:ext cx="70294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679546" y="489061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cost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210878" y="4776788"/>
              <a:ext cx="70294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422069" y="4890611"/>
              <a:ext cx="280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</a:t>
              </a:r>
            </a:p>
          </p:txBody>
        </p:sp>
      </p:grpSp>
      <p:grpSp>
        <p:nvGrpSpPr>
          <p:cNvPr id="44" name="c1-kv-3"/>
          <p:cNvGrpSpPr/>
          <p:nvPr/>
        </p:nvGrpSpPr>
        <p:grpSpPr>
          <a:xfrm>
            <a:off x="526542" y="5337810"/>
            <a:ext cx="5849493" cy="1048893"/>
            <a:chOff x="526542" y="5337810"/>
            <a:chExt cx="5849493" cy="1048893"/>
          </a:xfrm>
        </p:grpSpPr>
        <p:sp>
          <p:nvSpPr>
            <p:cNvPr id="36" name="TextBox 36"/>
            <p:cNvSpPr txBox="1"/>
            <p:nvPr/>
          </p:nvSpPr>
          <p:spPr>
            <a:xfrm>
              <a:off x="526542" y="5337810"/>
              <a:ext cx="7990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VerName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33334" y="5337810"/>
              <a:ext cx="3730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顶点名称；adjacent 是该顶点边链表的头指针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62356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6542" y="5730240"/>
              <a:ext cx="6067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VerAdj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33334" y="5730240"/>
              <a:ext cx="2894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的某个邻接顶点在顶点表中的下标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60159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6542" y="6122670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cost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33334" y="6122670"/>
              <a:ext cx="38755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 (v, VerAdj) 的权值；link 指向下一个边结点</a:t>
              </a:r>
            </a:p>
          </p:txBody>
        </p:sp>
      </p:grpSp>
      <p:grpSp>
        <p:nvGrpSpPr>
          <p:cNvPr id="47" name="c2-image-1"/>
          <p:cNvGrpSpPr/>
          <p:nvPr/>
        </p:nvGrpSpPr>
        <p:grpSpPr>
          <a:xfrm>
            <a:off x="7713561" y="1524000"/>
            <a:ext cx="2912313" cy="1833276"/>
            <a:chOff x="7713561" y="1524000"/>
            <a:chExt cx="2912313" cy="1833276"/>
          </a:xfrm>
        </p:grpSpPr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2"/>
            <a:srcRect l="0" t="8" r="0" b="7"/>
            <a:stretch>
              <a:fillRect/>
            </a:stretch>
          </p:blipFill>
          <p:spPr>
            <a:xfrm>
              <a:off x="8136255" y="1524000"/>
              <a:ext cx="2067878" cy="1550670"/>
            </a:xfrm>
            <a:prstGeom prst="roundRect">
              <a:avLst>
                <a:gd name="adj" fmla="val 8599"/>
              </a:avLst>
            </a:prstGeom>
          </p:spPr>
        </p:pic>
        <p:sp>
          <p:nvSpPr>
            <p:cNvPr id="46" name="TextBox 46"/>
            <p:cNvSpPr txBox="1"/>
            <p:nvPr/>
          </p:nvSpPr>
          <p:spPr>
            <a:xfrm>
              <a:off x="7713561" y="3166586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一排挂钩长度固定，每个钩子上挂的牌子有多有少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680835" y="3508058"/>
            <a:ext cx="4977765" cy="1746885"/>
            <a:chOff x="6680835" y="3508058"/>
            <a:chExt cx="4977765" cy="1746885"/>
          </a:xfrm>
        </p:grpSpPr>
        <p:sp>
          <p:nvSpPr>
            <p:cNvPr id="48" name="Rectangle 48"/>
            <p:cNvSpPr/>
            <p:nvPr/>
          </p:nvSpPr>
          <p:spPr>
            <a:xfrm>
              <a:off x="6680835" y="3508058"/>
              <a:ext cx="4977765" cy="1746885"/>
            </a:xfrm>
            <a:prstGeom prst="roundRect">
              <a:avLst>
                <a:gd name="adj" fmla="val 763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867525" y="369474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44944" y="372760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为什么这样省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876098" y="409575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32117" y="4039552"/>
              <a:ext cx="30759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顶点表长度固定为 n，和边的多少无关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876098" y="439578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32117" y="433959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每条边只在用得着的地方生成一个边结点，没有边就不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占任何空间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61810" y="4893469"/>
              <a:ext cx="4293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这正是第 1 讲说的“顺序存储 + 链接存储”组合使用的典型例子。</a:t>
              </a:r>
            </a:p>
          </p:txBody>
        </p:sp>
      </p:grpSp>
      <p:grpSp>
        <p:nvGrpSpPr>
          <p:cNvPr id="63" name="c2-callout-3"/>
          <p:cNvGrpSpPr/>
          <p:nvPr/>
        </p:nvGrpSpPr>
        <p:grpSpPr>
          <a:xfrm>
            <a:off x="6680835" y="5425440"/>
            <a:ext cx="4977765" cy="907732"/>
            <a:chOff x="6680835" y="5425440"/>
            <a:chExt cx="4977765" cy="907732"/>
          </a:xfrm>
        </p:grpSpPr>
        <p:sp>
          <p:nvSpPr>
            <p:cNvPr id="57" name="Rectangle 57"/>
            <p:cNvSpPr/>
            <p:nvPr/>
          </p:nvSpPr>
          <p:spPr>
            <a:xfrm>
              <a:off x="6680835" y="5425440"/>
              <a:ext cx="4977765" cy="907732"/>
            </a:xfrm>
            <a:prstGeom prst="roundRect">
              <a:avLst>
                <a:gd name="adj" fmla="val 125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885623" y="5779770"/>
              <a:ext cx="200026" cy="200026"/>
              <a:chOff x="6885623" y="5779770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885623" y="57797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985635" y="58464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974523" y="58797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7188327" y="5660708"/>
              <a:ext cx="406850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边结点里的 VerAdj 存的是下标而不是顶点名字，从边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结点跳回顶点表只要一次数组访问。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99660" cy="909257"/>
            <a:chOff x="520446" y="342900"/>
            <a:chExt cx="62996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邻接表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996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邻接表的 C 定义：两个结构体加一个数组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490788"/>
            <a:chOff x="533400" y="1524000"/>
            <a:chExt cx="5410200" cy="24907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90788"/>
            </a:xfrm>
            <a:prstGeom prst="roundRect">
              <a:avLst>
                <a:gd name="adj" fmla="val 382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顶点表结点与边结点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766"/>
              <a:ext cx="2988945" cy="2002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Edge {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边结点的结构 */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VerAdj; 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邻接顶点序号 */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cost;   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边的权值 */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Edge *link;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指向下一个边结点 */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Edge;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Vertex {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顶点表中结点的结构 */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VerName;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顶点名称 */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Edge *adjacent;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边链表的头指针 */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Vertex;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Vertex Head[MAXN];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顺序存储的顶点表 */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195762"/>
            <a:ext cx="5410200" cy="2111692"/>
            <a:chOff x="533400" y="4195762"/>
            <a:chExt cx="5410200" cy="2111692"/>
          </a:xfrm>
        </p:grpSpPr>
        <p:sp>
          <p:nvSpPr>
            <p:cNvPr id="11" name="Rectangle 11"/>
            <p:cNvSpPr/>
            <p:nvPr/>
          </p:nvSpPr>
          <p:spPr>
            <a:xfrm>
              <a:off x="533400" y="4195762"/>
              <a:ext cx="5410200" cy="2111692"/>
            </a:xfrm>
            <a:prstGeom prst="roundRect">
              <a:avLst>
                <a:gd name="adj" fmla="val 63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329112"/>
              <a:ext cx="47625" cy="18449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9620" y="439388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3059" y="442817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写法说明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381" y="4754404"/>
              <a:ext cx="475742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48 页写作 `struct Edge{ … Edge *link; };`，这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C++ 的写法：标准 C 里 `Edge` 在结构体定义结束之前还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不是类型名。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7240" y="567499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3831" y="5614511"/>
              <a:ext cx="451396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本讲义统一写成 `typedef struct Edge { … } Edge;`，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算法主体一行未改；申请与释放用 </a:t>
              </a:r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malloc / free</a:t>
              </a:r>
            </a:p>
          </p:txBody>
        </p:sp>
      </p:grpSp>
      <p:grpSp>
        <p:nvGrpSpPr>
          <p:cNvPr id="32" name="c2-graph-1"/>
          <p:cNvGrpSpPr/>
          <p:nvPr/>
        </p:nvGrpSpPr>
        <p:grpSpPr>
          <a:xfrm>
            <a:off x="7139940" y="1602105"/>
            <a:ext cx="3627120" cy="1213485"/>
            <a:chOff x="7139940" y="1602105"/>
            <a:chExt cx="3627120" cy="1213485"/>
          </a:xfrm>
        </p:grpSpPr>
        <p:sp>
          <p:nvSpPr>
            <p:cNvPr id="19" name="Freeform 19"/>
            <p:cNvSpPr/>
            <p:nvPr/>
          </p:nvSpPr>
          <p:spPr>
            <a:xfrm>
              <a:off x="7530465" y="1792605"/>
              <a:ext cx="2846070" cy="9525"/>
            </a:xfrm>
            <a:custGeom>
              <a:avLst/>
              <a:gdLst/>
              <a:ahLst/>
              <a:cxnLst/>
              <a:rect l="l" t="t" r="r" b="b"/>
              <a:pathLst>
                <a:path w="2846070" h="9525">
                  <a:moveTo>
                    <a:pt x="0" y="0"/>
                  </a:moveTo>
                  <a:lnTo>
                    <a:pt x="28460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330440" y="1992630"/>
              <a:ext cx="9525" cy="432435"/>
            </a:xfrm>
            <a:custGeom>
              <a:avLst/>
              <a:gdLst/>
              <a:ahLst/>
              <a:cxnLst/>
              <a:rect l="l" t="t" r="r" b="b"/>
              <a:pathLst>
                <a:path w="9525" h="432435">
                  <a:moveTo>
                    <a:pt x="0" y="0"/>
                  </a:moveTo>
                  <a:lnTo>
                    <a:pt x="0" y="4324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523798" y="1842135"/>
              <a:ext cx="2859405" cy="733425"/>
            </a:xfrm>
            <a:custGeom>
              <a:avLst/>
              <a:gdLst/>
              <a:ahLst/>
              <a:cxnLst/>
              <a:rect l="l" t="t" r="r" b="b"/>
              <a:pathLst>
                <a:path w="2859405" h="733425">
                  <a:moveTo>
                    <a:pt x="0" y="0"/>
                  </a:moveTo>
                  <a:lnTo>
                    <a:pt x="2859405" y="7334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0576560" y="1992630"/>
              <a:ext cx="9525" cy="432435"/>
            </a:xfrm>
            <a:custGeom>
              <a:avLst/>
              <a:gdLst/>
              <a:ahLst/>
              <a:cxnLst/>
              <a:rect l="l" t="t" r="r" b="b"/>
              <a:pathLst>
                <a:path w="9525" h="432435">
                  <a:moveTo>
                    <a:pt x="0" y="0"/>
                  </a:moveTo>
                  <a:lnTo>
                    <a:pt x="0" y="4324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7530465" y="2625090"/>
              <a:ext cx="2846070" cy="9525"/>
            </a:xfrm>
            <a:custGeom>
              <a:avLst/>
              <a:gdLst/>
              <a:ahLst/>
              <a:cxnLst/>
              <a:rect l="l" t="t" r="r" b="b"/>
              <a:pathLst>
                <a:path w="2846070" h="9525">
                  <a:moveTo>
                    <a:pt x="0" y="0"/>
                  </a:moveTo>
                  <a:lnTo>
                    <a:pt x="28460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139940" y="160210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10386060" y="160210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7139940" y="243459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0386060" y="243459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237653" y="17225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83773" y="17225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37653" y="25550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83773" y="25550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</p:grpSp>
      <p:grpSp>
        <p:nvGrpSpPr>
          <p:cNvPr id="89" name="c2-cells-2"/>
          <p:cNvGrpSpPr/>
          <p:nvPr/>
        </p:nvGrpSpPr>
        <p:grpSpPr>
          <a:xfrm>
            <a:off x="6243066" y="3047048"/>
            <a:ext cx="2826639" cy="2060257"/>
            <a:chOff x="6243066" y="3047048"/>
            <a:chExt cx="2826639" cy="2060257"/>
          </a:xfrm>
        </p:grpSpPr>
        <p:sp>
          <p:nvSpPr>
            <p:cNvPr id="33" name="TextBox 33"/>
            <p:cNvSpPr txBox="1"/>
            <p:nvPr/>
          </p:nvSpPr>
          <p:spPr>
            <a:xfrm>
              <a:off x="6243066" y="317849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36055" y="304704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99456" y="317849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955155" y="3047048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031355" y="321564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7059930" y="324421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402830" y="320135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488555" y="304704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51956" y="317849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907655" y="3047048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7983855" y="321564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8012430" y="324421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355330" y="320135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441055" y="304704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604456" y="317849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860155" y="3047048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926849" y="31870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43066" y="37338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536055" y="360235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99456" y="37338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955155" y="3602355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7031355" y="377094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7059930" y="379952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7402830" y="375666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488555" y="360235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651956" y="37338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907655" y="3602355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974349" y="3742373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43066" y="42891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536055" y="415766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99456" y="428910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955155" y="4157662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7031355" y="432625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7059930" y="435483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7402830" y="431196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488555" y="415766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651956" y="428910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907655" y="4157662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974349" y="429768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243066" y="48444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536055" y="471297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699456" y="48444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955155" y="4712970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7031355" y="488061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77" name="Freeform 77"/>
            <p:cNvSpPr/>
            <p:nvPr/>
          </p:nvSpPr>
          <p:spPr>
            <a:xfrm>
              <a:off x="7059930" y="490918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7402830" y="486632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7488555" y="471297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651956" y="48444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7907655" y="4712970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7983855" y="488061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83" name="Freeform 83"/>
            <p:cNvSpPr/>
            <p:nvPr/>
          </p:nvSpPr>
          <p:spPr>
            <a:xfrm>
              <a:off x="8012430" y="490918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8355330" y="486632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8441055" y="471297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604456" y="48444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8860155" y="4712970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8926849" y="485203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95" name="c2-callout-3"/>
          <p:cNvGrpSpPr/>
          <p:nvPr/>
        </p:nvGrpSpPr>
        <p:grpSpPr>
          <a:xfrm>
            <a:off x="6248400" y="5286375"/>
            <a:ext cx="5410200" cy="1020128"/>
            <a:chOff x="6248400" y="5286375"/>
            <a:chExt cx="5410200" cy="1020128"/>
          </a:xfrm>
        </p:grpSpPr>
        <p:sp>
          <p:nvSpPr>
            <p:cNvPr id="90" name="Rectangle 90"/>
            <p:cNvSpPr/>
            <p:nvPr/>
          </p:nvSpPr>
          <p:spPr>
            <a:xfrm>
              <a:off x="6248400" y="5286375"/>
              <a:ext cx="5410200" cy="1020128"/>
            </a:xfrm>
            <a:prstGeom prst="roundRect">
              <a:avLst>
                <a:gd name="adj" fmla="val 1120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6453188" y="5696905"/>
              <a:ext cx="200023" cy="200023"/>
              <a:chOff x="6453188" y="5696905"/>
              <a:chExt cx="200023" cy="200023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6453188" y="569690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6586538" y="57635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6755511" y="5565934"/>
              <a:ext cx="451396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左边一列是顶点表（下标 0…3），右边每一行是该顶点的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边链表，格子里写的是邻接顶点的下标。</a:t>
              </a:r>
            </a:p>
          </p:txBody>
        </p:sp>
      </p:grpSp>
      <p:grpSp>
        <p:nvGrpSpPr>
          <p:cNvPr id="9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6" name="TextBox 96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邻接表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例：无向图的邻接表，一条边生成两个边结点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graph-1"/>
          <p:cNvGrpSpPr/>
          <p:nvPr/>
        </p:nvGrpSpPr>
        <p:grpSpPr>
          <a:xfrm>
            <a:off x="1276350" y="1641158"/>
            <a:ext cx="3275648" cy="1432560"/>
            <a:chOff x="1276350" y="1641158"/>
            <a:chExt cx="3275648" cy="1432560"/>
          </a:xfrm>
        </p:grpSpPr>
        <p:sp>
          <p:nvSpPr>
            <p:cNvPr id="7" name="Freeform 7"/>
            <p:cNvSpPr/>
            <p:nvPr/>
          </p:nvSpPr>
          <p:spPr>
            <a:xfrm>
              <a:off x="1704975" y="1850708"/>
              <a:ext cx="2418398" cy="9525"/>
            </a:xfrm>
            <a:custGeom>
              <a:avLst/>
              <a:gdLst/>
              <a:ahLst/>
              <a:cxnLst/>
              <a:rect l="l" t="t" r="r" b="b"/>
              <a:pathLst>
                <a:path w="2418398" h="9525">
                  <a:moveTo>
                    <a:pt x="0" y="0"/>
                  </a:moveTo>
                  <a:lnTo>
                    <a:pt x="241839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485900" y="2069782"/>
              <a:ext cx="9525" cy="575310"/>
            </a:xfrm>
            <a:custGeom>
              <a:avLst/>
              <a:gdLst/>
              <a:ahLst/>
              <a:cxnLst/>
              <a:rect l="l" t="t" r="r" b="b"/>
              <a:pathLst>
                <a:path w="9525" h="575310">
                  <a:moveTo>
                    <a:pt x="0" y="0"/>
                  </a:moveTo>
                  <a:lnTo>
                    <a:pt x="0" y="5753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691640" y="1924050"/>
              <a:ext cx="2444115" cy="866775"/>
            </a:xfrm>
            <a:custGeom>
              <a:avLst/>
              <a:gdLst/>
              <a:ahLst/>
              <a:cxnLst/>
              <a:rect l="l" t="t" r="r" b="b"/>
              <a:pathLst>
                <a:path w="2444115" h="866775">
                  <a:moveTo>
                    <a:pt x="0" y="0"/>
                  </a:moveTo>
                  <a:lnTo>
                    <a:pt x="2444115" y="8667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342448" y="2069782"/>
              <a:ext cx="9525" cy="575310"/>
            </a:xfrm>
            <a:custGeom>
              <a:avLst/>
              <a:gdLst/>
              <a:ahLst/>
              <a:cxnLst/>
              <a:rect l="l" t="t" r="r" b="b"/>
              <a:pathLst>
                <a:path w="9525" h="575310">
                  <a:moveTo>
                    <a:pt x="0" y="0"/>
                  </a:moveTo>
                  <a:lnTo>
                    <a:pt x="0" y="5753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704975" y="2864168"/>
              <a:ext cx="2418398" cy="9525"/>
            </a:xfrm>
            <a:custGeom>
              <a:avLst/>
              <a:gdLst/>
              <a:ahLst/>
              <a:cxnLst/>
              <a:rect l="l" t="t" r="r" b="b"/>
              <a:pathLst>
                <a:path w="2418398" h="9525">
                  <a:moveTo>
                    <a:pt x="0" y="0"/>
                  </a:moveTo>
                  <a:lnTo>
                    <a:pt x="241839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276350" y="164115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4132898" y="164115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276350" y="265461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132898" y="265461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98936" y="178593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55483" y="178593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98936" y="279939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55483" y="279939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</p:grpSp>
      <p:grpSp>
        <p:nvGrpSpPr>
          <p:cNvPr id="22" name="c1-text-2"/>
          <p:cNvGrpSpPr/>
          <p:nvPr/>
        </p:nvGrpSpPr>
        <p:grpSpPr>
          <a:xfrm>
            <a:off x="1935488" y="3346609"/>
            <a:ext cx="1956420" cy="220028"/>
            <a:chOff x="1935488" y="3346609"/>
            <a:chExt cx="1956420" cy="220028"/>
          </a:xfrm>
        </p:grpSpPr>
        <p:sp>
          <p:nvSpPr>
            <p:cNvPr id="21" name="TextBox 21"/>
            <p:cNvSpPr txBox="1"/>
            <p:nvPr/>
          </p:nvSpPr>
          <p:spPr>
            <a:xfrm>
              <a:off x="1935488" y="3346609"/>
              <a:ext cx="19564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4，e = 5，度序列 3 2 2 3</a:t>
              </a:r>
            </a:p>
          </p:txBody>
        </p:sp>
      </p:grpSp>
      <p:grpSp>
        <p:nvGrpSpPr>
          <p:cNvPr id="79" name="c2-cells-1"/>
          <p:cNvGrpSpPr/>
          <p:nvPr/>
        </p:nvGrpSpPr>
        <p:grpSpPr>
          <a:xfrm>
            <a:off x="5593842" y="1524000"/>
            <a:ext cx="2815780" cy="1927860"/>
            <a:chOff x="5593842" y="1524000"/>
            <a:chExt cx="2815780" cy="1927860"/>
          </a:xfrm>
        </p:grpSpPr>
        <p:sp>
          <p:nvSpPr>
            <p:cNvPr id="23" name="TextBox 23"/>
            <p:cNvSpPr txBox="1"/>
            <p:nvPr/>
          </p:nvSpPr>
          <p:spPr>
            <a:xfrm>
              <a:off x="5593842" y="164734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875972" y="15240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42475" y="1647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95072" y="1524000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371272" y="168021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6399848" y="170878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742748" y="166592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828472" y="15240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94975" y="1647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247572" y="1524000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7323772" y="168021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352348" y="170878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695248" y="166592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780972" y="15240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947475" y="1647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200072" y="1524000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69728" y="16568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593842" y="216741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75972" y="204406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42475" y="216741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95072" y="2044065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6371272" y="219932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6399848" y="222789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6742748" y="218503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828472" y="204406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94975" y="216741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247572" y="2044065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17228" y="21759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593842" y="268747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875972" y="256317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42475" y="26874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95072" y="2563178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6371272" y="271938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6399848" y="274796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6742748" y="270510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828472" y="256317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94975" y="26874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247572" y="2563178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317228" y="26960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593842" y="320659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875972" y="308324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042475" y="320659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295072" y="3083242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6371272" y="323850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6399848" y="32670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6742748" y="322421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828472" y="308324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994975" y="320659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247572" y="3083242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7323772" y="323850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7352348" y="32670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7695248" y="322421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780972" y="308324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947475" y="320659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200072" y="3083242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269728" y="32151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89" name="c2-card-2"/>
          <p:cNvGrpSpPr/>
          <p:nvPr/>
        </p:nvGrpSpPr>
        <p:grpSpPr>
          <a:xfrm>
            <a:off x="5598795" y="3621405"/>
            <a:ext cx="6059805" cy="2043112"/>
            <a:chOff x="5598795" y="3621405"/>
            <a:chExt cx="6059805" cy="2043112"/>
          </a:xfrm>
        </p:grpSpPr>
        <p:sp>
          <p:nvSpPr>
            <p:cNvPr id="80" name="Rectangle 80"/>
            <p:cNvSpPr/>
            <p:nvPr/>
          </p:nvSpPr>
          <p:spPr>
            <a:xfrm>
              <a:off x="5598795" y="3621405"/>
              <a:ext cx="6059805" cy="2043112"/>
            </a:xfrm>
            <a:prstGeom prst="roundRect">
              <a:avLst>
                <a:gd name="adj" fmla="val 652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5785485" y="380809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871007" y="384095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三条结论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5794058" y="420909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950077" y="4152900"/>
              <a:ext cx="53123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边 (vᵢ, vⱼ) 在 vᵢ 和 vⱼ 两条边链表里各出现一次，边结点共 </a:t>
              </a:r>
              <a:r>
                <a:rPr lang="en-US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2e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个，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本例 10 个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5794058" y="476631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950077" y="4710112"/>
              <a:ext cx="51314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vᵢ 的边链表长度正好是 vᵢ 的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度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，本例 3、2、2、3，合计 10 = 2 ×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5794058" y="532352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5950077" y="5267325"/>
              <a:ext cx="3436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加上 n 个顶点表结点，占用空间 </a:t>
              </a:r>
              <a:r>
                <a:rPr lang="en-US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 + e)</a:t>
              </a:r>
            </a:p>
          </p:txBody>
        </p:sp>
      </p:grpSp>
      <p:grpSp>
        <p:nvGrpSpPr>
          <p:cNvPr id="9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90" name="Rectangle 9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1040892" y="6028373"/>
              <a:ext cx="76928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删除无向图的一条边要同时改两条边链表，代价是 O(dᵢ + dⱼ)，比只看一条链的 O(dᵢ) 略高。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邻接表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例：有向图的邻接表，一条弧只生成一个边结点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graph-1"/>
          <p:cNvGrpSpPr/>
          <p:nvPr/>
        </p:nvGrpSpPr>
        <p:grpSpPr>
          <a:xfrm>
            <a:off x="1000125" y="1594485"/>
            <a:ext cx="4113847" cy="1583055"/>
            <a:chOff x="1000125" y="1594485"/>
            <a:chExt cx="4113847" cy="1583055"/>
          </a:xfrm>
        </p:grpSpPr>
        <p:sp>
          <p:nvSpPr>
            <p:cNvPr id="7" name="Freeform 7"/>
            <p:cNvSpPr/>
            <p:nvPr/>
          </p:nvSpPr>
          <p:spPr>
            <a:xfrm>
              <a:off x="1376362" y="1907858"/>
              <a:ext cx="1662112" cy="388302"/>
            </a:xfrm>
            <a:custGeom>
              <a:avLst/>
              <a:gdLst/>
              <a:ahLst/>
              <a:cxnLst/>
              <a:rect l="l" t="t" r="r" b="b"/>
              <a:pathLst>
                <a:path w="1662112" h="388302">
                  <a:moveTo>
                    <a:pt x="0" y="0"/>
                  </a:moveTo>
                  <a:cubicBezTo>
                    <a:pt x="580390" y="371475"/>
                    <a:pt x="1134428" y="388302"/>
                    <a:pt x="1662112" y="5048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012758" y="1907858"/>
              <a:ext cx="105727" cy="91440"/>
            </a:xfrm>
            <a:custGeom>
              <a:avLst/>
              <a:gdLst/>
              <a:ahLst/>
              <a:cxnLst/>
              <a:rect l="l" t="t" r="r" b="b"/>
              <a:pathLst>
                <a:path w="105727" h="91440">
                  <a:moveTo>
                    <a:pt x="105727" y="0"/>
                  </a:moveTo>
                  <a:lnTo>
                    <a:pt x="50483" y="91440"/>
                  </a:lnTo>
                  <a:lnTo>
                    <a:pt x="0" y="1047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498282" y="1631950"/>
              <a:ext cx="1590675" cy="120650"/>
            </a:xfrm>
            <a:custGeom>
              <a:avLst/>
              <a:gdLst/>
              <a:ahLst/>
              <a:cxnLst/>
              <a:rect l="l" t="t" r="r" b="b"/>
              <a:pathLst>
                <a:path w="1590675" h="120650">
                  <a:moveTo>
                    <a:pt x="1590675" y="120650"/>
                  </a:moveTo>
                  <a:cubicBezTo>
                    <a:pt x="1029335" y="6350"/>
                    <a:pt x="499110" y="0"/>
                    <a:pt x="0" y="10160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404938" y="1686878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0" y="65723"/>
                  </a:moveTo>
                  <a:lnTo>
                    <a:pt x="83820" y="0"/>
                  </a:lnTo>
                  <a:lnTo>
                    <a:pt x="102870" y="933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464945" y="1897380"/>
              <a:ext cx="1647825" cy="930592"/>
            </a:xfrm>
            <a:custGeom>
              <a:avLst/>
              <a:gdLst/>
              <a:ahLst/>
              <a:cxnLst/>
              <a:rect l="l" t="t" r="r" b="b"/>
              <a:pathLst>
                <a:path w="1647825" h="930592">
                  <a:moveTo>
                    <a:pt x="1647825" y="0"/>
                  </a:moveTo>
                  <a:lnTo>
                    <a:pt x="0" y="93059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382078" y="2786062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0" y="88583"/>
                  </a:moveTo>
                  <a:lnTo>
                    <a:pt x="60008" y="0"/>
                  </a:lnTo>
                  <a:lnTo>
                    <a:pt x="106680" y="8286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582352" y="1896428"/>
              <a:ext cx="1133475" cy="402908"/>
            </a:xfrm>
            <a:custGeom>
              <a:avLst/>
              <a:gdLst/>
              <a:ahLst/>
              <a:cxnLst/>
              <a:rect l="l" t="t" r="r" b="b"/>
              <a:pathLst>
                <a:path w="1133475" h="402908">
                  <a:moveTo>
                    <a:pt x="1133475" y="40290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491865" y="1851660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0" y="13335"/>
                  </a:moveTo>
                  <a:lnTo>
                    <a:pt x="105727" y="0"/>
                  </a:lnTo>
                  <a:lnTo>
                    <a:pt x="74295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580448" y="2443162"/>
              <a:ext cx="1137285" cy="426720"/>
            </a:xfrm>
            <a:custGeom>
              <a:avLst/>
              <a:gdLst/>
              <a:ahLst/>
              <a:cxnLst/>
              <a:rect l="l" t="t" r="r" b="b"/>
              <a:pathLst>
                <a:path w="1137285" h="426720">
                  <a:moveTo>
                    <a:pt x="1137285" y="0"/>
                  </a:moveTo>
                  <a:lnTo>
                    <a:pt x="0" y="4267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490912" y="2826068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0" y="78105"/>
                  </a:moveTo>
                  <a:lnTo>
                    <a:pt x="72390" y="0"/>
                  </a:lnTo>
                  <a:lnTo>
                    <a:pt x="105728" y="885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464945" y="1944052"/>
              <a:ext cx="1647825" cy="930593"/>
            </a:xfrm>
            <a:custGeom>
              <a:avLst/>
              <a:gdLst/>
              <a:ahLst/>
              <a:cxnLst/>
              <a:rect l="l" t="t" r="r" b="b"/>
              <a:pathLst>
                <a:path w="1647825" h="930593">
                  <a:moveTo>
                    <a:pt x="1647825" y="93059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382078" y="1897380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0" y="0"/>
                  </a:moveTo>
                  <a:lnTo>
                    <a:pt x="106680" y="5715"/>
                  </a:lnTo>
                  <a:lnTo>
                    <a:pt x="60008" y="885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409700" y="2977515"/>
              <a:ext cx="1580197" cy="9525"/>
            </a:xfrm>
            <a:custGeom>
              <a:avLst/>
              <a:gdLst/>
              <a:ahLst/>
              <a:cxnLst/>
              <a:rect l="l" t="t" r="r" b="b"/>
              <a:pathLst>
                <a:path w="1580197" h="9525">
                  <a:moveTo>
                    <a:pt x="0" y="0"/>
                  </a:moveTo>
                  <a:lnTo>
                    <a:pt x="158019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989898" y="29298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00125" y="159448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3094672" y="159448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713922" y="216884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3094672" y="277749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1000125" y="277749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07363" y="172450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01910" y="172450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21160" y="229885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01910" y="29075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7363" y="29075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</p:grpSp>
      <p:grpSp>
        <p:nvGrpSpPr>
          <p:cNvPr id="33" name="c1-text-2"/>
          <p:cNvGrpSpPr/>
          <p:nvPr/>
        </p:nvGrpSpPr>
        <p:grpSpPr>
          <a:xfrm>
            <a:off x="2319962" y="3407569"/>
            <a:ext cx="1187470" cy="220028"/>
            <a:chOff x="2319962" y="3407569"/>
            <a:chExt cx="1187470" cy="220028"/>
          </a:xfrm>
        </p:grpSpPr>
        <p:sp>
          <p:nvSpPr>
            <p:cNvPr id="32" name="TextBox 32"/>
            <p:cNvSpPr txBox="1"/>
            <p:nvPr/>
          </p:nvSpPr>
          <p:spPr>
            <a:xfrm>
              <a:off x="2319962" y="3407569"/>
              <a:ext cx="1187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5，e = 7 条弧</a:t>
              </a:r>
            </a:p>
          </p:txBody>
        </p:sp>
      </p:grpSp>
      <p:grpSp>
        <p:nvGrpSpPr>
          <p:cNvPr id="71" name="c2-cells-1"/>
          <p:cNvGrpSpPr/>
          <p:nvPr/>
        </p:nvGrpSpPr>
        <p:grpSpPr>
          <a:xfrm>
            <a:off x="5593461" y="1524000"/>
            <a:ext cx="1874139" cy="2530792"/>
            <a:chOff x="5593461" y="1524000"/>
            <a:chExt cx="1874139" cy="2530792"/>
          </a:xfrm>
        </p:grpSpPr>
        <p:sp>
          <p:nvSpPr>
            <p:cNvPr id="34" name="TextBox 34"/>
            <p:cNvSpPr txBox="1"/>
            <p:nvPr/>
          </p:nvSpPr>
          <p:spPr>
            <a:xfrm>
              <a:off x="5593461" y="16497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86450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49851" y="16497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305550" y="1524000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72244" y="165735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93461" y="21869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886450" y="20612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49851" y="21869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305550" y="2061210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381750" y="222313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6410325" y="225171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6753225" y="220884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838950" y="20612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02351" y="21869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258050" y="2061210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24744" y="219456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593461" y="272415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886450" y="259842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49851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305550" y="2598420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6381750" y="276129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6410325" y="278987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6753225" y="274701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38950" y="259842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02351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258050" y="2598420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24744" y="2732723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593461" y="326136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886450" y="313658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049851" y="32613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305550" y="3136582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72244" y="326993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593461" y="379857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886450" y="367379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049851" y="37985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305550" y="3673792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72244" y="380714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81" name="c2-card-2"/>
          <p:cNvGrpSpPr/>
          <p:nvPr/>
        </p:nvGrpSpPr>
        <p:grpSpPr>
          <a:xfrm>
            <a:off x="5598795" y="4230052"/>
            <a:ext cx="6059805" cy="1814512"/>
            <a:chOff x="5598795" y="4230052"/>
            <a:chExt cx="6059805" cy="1814512"/>
          </a:xfrm>
        </p:grpSpPr>
        <p:sp>
          <p:nvSpPr>
            <p:cNvPr id="72" name="Rectangle 72"/>
            <p:cNvSpPr/>
            <p:nvPr/>
          </p:nvSpPr>
          <p:spPr>
            <a:xfrm>
              <a:off x="5598795" y="4230052"/>
              <a:ext cx="6059805" cy="1814512"/>
            </a:xfrm>
            <a:prstGeom prst="roundRect">
              <a:avLst>
                <a:gd name="adj" fmla="val 734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5791200" y="4422458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862638" y="445674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与无向图的区别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5799772" y="483489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955792" y="4778692"/>
              <a:ext cx="5425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弧 &lt;vᵢ, vⱼ&gt; 只挂在始点 vᵢ 的边链表上，边结点共 </a:t>
              </a:r>
              <a:r>
                <a:rPr lang="en-US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e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个，本例 7 个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5799772" y="513778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955792" y="5081588"/>
              <a:ext cx="4975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vᵢ 的边链表长度是 vᵢ 的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出度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，本例 1、2、2、1、1，合计 7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5799772" y="544068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955792" y="5384483"/>
              <a:ext cx="526094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占用空间仍是 </a:t>
              </a:r>
              <a:r>
                <a:rPr lang="en-US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 + e)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，但入度完全看不出来，这是下一页要解决的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70931" cy="909257"/>
            <a:chOff x="520446" y="342900"/>
            <a:chExt cx="68709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邻接表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709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例：带权图的邻接表，边结点多一个 cost 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graph-1"/>
          <p:cNvGrpSpPr/>
          <p:nvPr/>
        </p:nvGrpSpPr>
        <p:grpSpPr>
          <a:xfrm>
            <a:off x="1276350" y="1648778"/>
            <a:ext cx="3275648" cy="1644967"/>
            <a:chOff x="1276350" y="1648778"/>
            <a:chExt cx="3275648" cy="1644967"/>
          </a:xfrm>
        </p:grpSpPr>
        <p:sp>
          <p:nvSpPr>
            <p:cNvPr id="7" name="Freeform 7"/>
            <p:cNvSpPr/>
            <p:nvPr/>
          </p:nvSpPr>
          <p:spPr>
            <a:xfrm>
              <a:off x="1704975" y="1858328"/>
              <a:ext cx="2418398" cy="9525"/>
            </a:xfrm>
            <a:custGeom>
              <a:avLst/>
              <a:gdLst/>
              <a:ahLst/>
              <a:cxnLst/>
              <a:rect l="l" t="t" r="r" b="b"/>
              <a:pathLst>
                <a:path w="2418398" h="9525">
                  <a:moveTo>
                    <a:pt x="0" y="0"/>
                  </a:moveTo>
                  <a:lnTo>
                    <a:pt x="241839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485900" y="2077402"/>
              <a:ext cx="9525" cy="787718"/>
            </a:xfrm>
            <a:custGeom>
              <a:avLst/>
              <a:gdLst/>
              <a:ahLst/>
              <a:cxnLst/>
              <a:rect l="l" t="t" r="r" b="b"/>
              <a:pathLst>
                <a:path w="9525" h="787718">
                  <a:moveTo>
                    <a:pt x="0" y="0"/>
                  </a:moveTo>
                  <a:lnTo>
                    <a:pt x="0" y="78771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686878" y="1945005"/>
              <a:ext cx="2453640" cy="1052512"/>
            </a:xfrm>
            <a:custGeom>
              <a:avLst/>
              <a:gdLst/>
              <a:ahLst/>
              <a:cxnLst/>
              <a:rect l="l" t="t" r="r" b="b"/>
              <a:pathLst>
                <a:path w="2453640" h="1052512">
                  <a:moveTo>
                    <a:pt x="0" y="0"/>
                  </a:moveTo>
                  <a:lnTo>
                    <a:pt x="2453640" y="10525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342448" y="2077402"/>
              <a:ext cx="9525" cy="787718"/>
            </a:xfrm>
            <a:custGeom>
              <a:avLst/>
              <a:gdLst/>
              <a:ahLst/>
              <a:cxnLst/>
              <a:rect l="l" t="t" r="r" b="b"/>
              <a:pathLst>
                <a:path w="9525" h="787718">
                  <a:moveTo>
                    <a:pt x="0" y="0"/>
                  </a:moveTo>
                  <a:lnTo>
                    <a:pt x="0" y="78771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704975" y="3084195"/>
              <a:ext cx="2418398" cy="9525"/>
            </a:xfrm>
            <a:custGeom>
              <a:avLst/>
              <a:gdLst/>
              <a:ahLst/>
              <a:cxnLst/>
              <a:rect l="l" t="t" r="r" b="b"/>
              <a:pathLst>
                <a:path w="2418398" h="9525">
                  <a:moveTo>
                    <a:pt x="0" y="0"/>
                  </a:moveTo>
                  <a:lnTo>
                    <a:pt x="241839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276350" y="164877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4132898" y="164877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276350" y="287464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132898" y="287464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86512" y="178403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43060" y="178403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6512" y="300990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43060" y="300990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841308" y="1764982"/>
              <a:ext cx="144780" cy="173355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872464" y="17997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413510" y="2378392"/>
              <a:ext cx="144780" cy="173355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44667" y="241315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841308" y="2378392"/>
              <a:ext cx="144780" cy="173355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872464" y="241315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270058" y="2378392"/>
              <a:ext cx="144780" cy="173355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301214" y="241315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841308" y="2991802"/>
              <a:ext cx="144780" cy="173355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872464" y="302561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32" name="c1-text-2"/>
          <p:cNvGrpSpPr/>
          <p:nvPr/>
        </p:nvGrpSpPr>
        <p:grpSpPr>
          <a:xfrm>
            <a:off x="1554559" y="3593306"/>
            <a:ext cx="2718278" cy="249364"/>
            <a:chOff x="1554559" y="3593306"/>
            <a:chExt cx="2718278" cy="249364"/>
          </a:xfrm>
        </p:grpSpPr>
        <p:sp>
          <p:nvSpPr>
            <p:cNvPr id="31" name="TextBox 31"/>
            <p:cNvSpPr txBox="1"/>
            <p:nvPr/>
          </p:nvSpPr>
          <p:spPr>
            <a:xfrm>
              <a:off x="1554559" y="3593306"/>
              <a:ext cx="27182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与第 31 页带权邻接矩阵是同一张图</a:t>
              </a:r>
            </a:p>
          </p:txBody>
        </p:sp>
      </p:grpSp>
      <p:grpSp>
        <p:nvGrpSpPr>
          <p:cNvPr id="89" name="c2-cells-1"/>
          <p:cNvGrpSpPr/>
          <p:nvPr/>
        </p:nvGrpSpPr>
        <p:grpSpPr>
          <a:xfrm>
            <a:off x="5593461" y="1524000"/>
            <a:ext cx="3174301" cy="2190750"/>
            <a:chOff x="5593461" y="1524000"/>
            <a:chExt cx="3174301" cy="2190750"/>
          </a:xfrm>
        </p:grpSpPr>
        <p:sp>
          <p:nvSpPr>
            <p:cNvPr id="33" name="TextBox 33"/>
            <p:cNvSpPr txBox="1"/>
            <p:nvPr/>
          </p:nvSpPr>
          <p:spPr>
            <a:xfrm>
              <a:off x="5593461" y="16678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86450" y="1524000"/>
              <a:ext cx="53530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96463" y="1667828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1｜3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21755" y="1524000"/>
              <a:ext cx="20955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6497955" y="170497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6526530" y="17335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6869430" y="16906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955155" y="1524000"/>
              <a:ext cx="53530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65168" y="1667828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2｜5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489508" y="1524000"/>
              <a:ext cx="20955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7565708" y="170497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7594282" y="17335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937182" y="16906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022908" y="1524000"/>
              <a:ext cx="53530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132920" y="1667828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3｜8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558212" y="1524000"/>
              <a:ext cx="20955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624907" y="167640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593461" y="22583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886450" y="2114550"/>
              <a:ext cx="53530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96463" y="2258378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0｜3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21755" y="2114550"/>
              <a:ext cx="20955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6497955" y="229552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6526530" y="23241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6869430" y="228123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955155" y="2114550"/>
              <a:ext cx="53530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65168" y="2258378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3｜4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489508" y="2114550"/>
              <a:ext cx="20955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556202" y="226695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593461" y="28489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886450" y="2705100"/>
              <a:ext cx="53530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996463" y="2848928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0｜5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21755" y="2705100"/>
              <a:ext cx="20955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6497955" y="288607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6526530" y="29146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6869430" y="28717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955155" y="2705100"/>
              <a:ext cx="53530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065168" y="2848928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3｜2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489508" y="2705100"/>
              <a:ext cx="20955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556202" y="285750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593461" y="34394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886450" y="3295650"/>
              <a:ext cx="53530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996463" y="3439478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0｜8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421755" y="3295650"/>
              <a:ext cx="20955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6497955" y="347662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77" name="Freeform 77"/>
            <p:cNvSpPr/>
            <p:nvPr/>
          </p:nvSpPr>
          <p:spPr>
            <a:xfrm>
              <a:off x="6526530" y="35052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6869430" y="346233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955155" y="3295650"/>
              <a:ext cx="53530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065168" y="3439478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1｜4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7489508" y="3295650"/>
              <a:ext cx="20955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7565708" y="347662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83" name="Freeform 83"/>
            <p:cNvSpPr/>
            <p:nvPr/>
          </p:nvSpPr>
          <p:spPr>
            <a:xfrm>
              <a:off x="7594282" y="35052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7937182" y="346233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8022908" y="3295650"/>
              <a:ext cx="53530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132920" y="3439478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2｜2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8558212" y="3295650"/>
              <a:ext cx="20955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8624907" y="344805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91" name="c2-text-2"/>
          <p:cNvGrpSpPr/>
          <p:nvPr/>
        </p:nvGrpSpPr>
        <p:grpSpPr>
          <a:xfrm>
            <a:off x="6011019" y="3926681"/>
            <a:ext cx="5235357" cy="249364"/>
            <a:chOff x="6011019" y="3926681"/>
            <a:chExt cx="5235357" cy="249364"/>
          </a:xfrm>
        </p:grpSpPr>
        <p:sp>
          <p:nvSpPr>
            <p:cNvPr id="90" name="TextBox 90"/>
            <p:cNvSpPr txBox="1"/>
            <p:nvPr/>
          </p:nvSpPr>
          <p:spPr>
            <a:xfrm>
              <a:off x="6011019" y="3926681"/>
              <a:ext cx="52353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每个边结点写成「VerAdj｜cost」，即「邻接顶点下标｜边的权值」</a:t>
              </a:r>
            </a:p>
          </p:txBody>
        </p:sp>
      </p:grpSp>
      <p:grpSp>
        <p:nvGrpSpPr>
          <p:cNvPr id="97" name="c2-callout-3"/>
          <p:cNvGrpSpPr/>
          <p:nvPr/>
        </p:nvGrpSpPr>
        <p:grpSpPr>
          <a:xfrm>
            <a:off x="5598795" y="4315778"/>
            <a:ext cx="6059805" cy="782955"/>
            <a:chOff x="5598795" y="4315778"/>
            <a:chExt cx="6059805" cy="782955"/>
          </a:xfrm>
        </p:grpSpPr>
        <p:sp>
          <p:nvSpPr>
            <p:cNvPr id="92" name="Rectangle 92"/>
            <p:cNvSpPr/>
            <p:nvPr/>
          </p:nvSpPr>
          <p:spPr>
            <a:xfrm>
              <a:off x="5598795" y="4315778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95" name="Group 95"/>
            <p:cNvGrpSpPr/>
            <p:nvPr/>
          </p:nvGrpSpPr>
          <p:grpSpPr>
            <a:xfrm>
              <a:off x="5803583" y="4607245"/>
              <a:ext cx="200023" cy="200023"/>
              <a:chOff x="5803583" y="4607245"/>
              <a:chExt cx="200023" cy="200023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5803583" y="46072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5936933" y="46739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6105525" y="4464368"/>
              <a:ext cx="50063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同一条边的两个边结点 cost 相同，例如 v₀ 链上的 3｜8 与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v₃ 链上的 0｜8 都是边 (v₀, v₃) 的权 8。</a:t>
              </a:r>
            </a:p>
          </p:txBody>
        </p:sp>
      </p:grpSp>
      <p:grpSp>
        <p:nvGrpSpPr>
          <p:cNvPr id="10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98" name="Rectangle 9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1040130" y="5991225"/>
              <a:ext cx="8728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权图的邻接矩阵要为不存在的边留 ∞ 单元，邻接表连这个位置都不用留，稀疏带权图上省得更多。</a:t>
              </a:r>
            </a:p>
          </p:txBody>
        </p:sp>
      </p:grpSp>
      <p:grpSp>
        <p:nvGrpSpPr>
          <p:cNvPr id="10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5" name="TextBox 10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邻接表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统计入度：一次扫描就能把所有顶点算完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graph-1"/>
          <p:cNvGrpSpPr/>
          <p:nvPr/>
        </p:nvGrpSpPr>
        <p:grpSpPr>
          <a:xfrm>
            <a:off x="760095" y="1483995"/>
            <a:ext cx="4573905" cy="1173480"/>
            <a:chOff x="760095" y="1483995"/>
            <a:chExt cx="4573905" cy="1173480"/>
          </a:xfrm>
        </p:grpSpPr>
        <p:sp>
          <p:nvSpPr>
            <p:cNvPr id="7" name="Freeform 7"/>
            <p:cNvSpPr/>
            <p:nvPr/>
          </p:nvSpPr>
          <p:spPr>
            <a:xfrm>
              <a:off x="1112520" y="1671638"/>
              <a:ext cx="1384935" cy="81915"/>
            </a:xfrm>
            <a:custGeom>
              <a:avLst/>
              <a:gdLst/>
              <a:ahLst/>
              <a:cxnLst/>
              <a:rect l="l" t="t" r="r" b="b"/>
              <a:pathLst>
                <a:path w="1384935" h="81915">
                  <a:moveTo>
                    <a:pt x="0" y="81915"/>
                  </a:moveTo>
                  <a:lnTo>
                    <a:pt x="13849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494598" y="1624012"/>
              <a:ext cx="98108" cy="95250"/>
            </a:xfrm>
            <a:custGeom>
              <a:avLst/>
              <a:gdLst/>
              <a:ahLst/>
              <a:cxnLst/>
              <a:rect l="l" t="t" r="r" b="b"/>
              <a:pathLst>
                <a:path w="98108" h="95250">
                  <a:moveTo>
                    <a:pt x="98108" y="41910"/>
                  </a:moveTo>
                  <a:lnTo>
                    <a:pt x="5715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96328" y="1768792"/>
              <a:ext cx="1424940" cy="642938"/>
            </a:xfrm>
            <a:custGeom>
              <a:avLst/>
              <a:gdLst/>
              <a:ahLst/>
              <a:cxnLst/>
              <a:rect l="l" t="t" r="r" b="b"/>
              <a:pathLst>
                <a:path w="1424940" h="642938">
                  <a:moveTo>
                    <a:pt x="0" y="642938"/>
                  </a:moveTo>
                  <a:lnTo>
                    <a:pt x="14249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502218" y="1724978"/>
              <a:ext cx="105728" cy="87630"/>
            </a:xfrm>
            <a:custGeom>
              <a:avLst/>
              <a:gdLst/>
              <a:ahLst/>
              <a:cxnLst/>
              <a:rect l="l" t="t" r="r" b="b"/>
              <a:pathLst>
                <a:path w="105728" h="87630">
                  <a:moveTo>
                    <a:pt x="105728" y="4762"/>
                  </a:moveTo>
                  <a:lnTo>
                    <a:pt x="39053" y="87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110615" y="2058352"/>
              <a:ext cx="2534602" cy="399098"/>
            </a:xfrm>
            <a:custGeom>
              <a:avLst/>
              <a:gdLst/>
              <a:ahLst/>
              <a:cxnLst/>
              <a:rect l="l" t="t" r="r" b="b"/>
              <a:pathLst>
                <a:path w="2534602" h="399098">
                  <a:moveTo>
                    <a:pt x="0" y="399098"/>
                  </a:moveTo>
                  <a:lnTo>
                    <a:pt x="253460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637598" y="2011680"/>
              <a:ext cx="101918" cy="94298"/>
            </a:xfrm>
            <a:custGeom>
              <a:avLst/>
              <a:gdLst/>
              <a:ahLst/>
              <a:cxnLst/>
              <a:rect l="l" t="t" r="r" b="b"/>
              <a:pathLst>
                <a:path w="101918" h="94298">
                  <a:moveTo>
                    <a:pt x="101918" y="32385"/>
                  </a:moveTo>
                  <a:lnTo>
                    <a:pt x="15240" y="94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12520" y="2486025"/>
              <a:ext cx="1384935" cy="9525"/>
            </a:xfrm>
            <a:custGeom>
              <a:avLst/>
              <a:gdLst/>
              <a:ahLst/>
              <a:cxnLst/>
              <a:rect l="l" t="t" r="r" b="b"/>
              <a:pathLst>
                <a:path w="1384935" h="9525">
                  <a:moveTo>
                    <a:pt x="0" y="0"/>
                  </a:moveTo>
                  <a:lnTo>
                    <a:pt x="13849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497455" y="24384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946082" y="1709738"/>
              <a:ext cx="708660" cy="222885"/>
            </a:xfrm>
            <a:custGeom>
              <a:avLst/>
              <a:gdLst/>
              <a:ahLst/>
              <a:cxnLst/>
              <a:rect l="l" t="t" r="r" b="b"/>
              <a:pathLst>
                <a:path w="708660" h="222885">
                  <a:moveTo>
                    <a:pt x="0" y="0"/>
                  </a:moveTo>
                  <a:lnTo>
                    <a:pt x="708660" y="2228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640455" y="1887855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104775" y="73343"/>
                  </a:moveTo>
                  <a:lnTo>
                    <a:pt x="0" y="90488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950845" y="1687830"/>
              <a:ext cx="1940242" cy="354330"/>
            </a:xfrm>
            <a:custGeom>
              <a:avLst/>
              <a:gdLst/>
              <a:ahLst/>
              <a:cxnLst/>
              <a:rect l="l" t="t" r="r" b="b"/>
              <a:pathLst>
                <a:path w="1940242" h="354330">
                  <a:moveTo>
                    <a:pt x="0" y="0"/>
                  </a:moveTo>
                  <a:lnTo>
                    <a:pt x="1940242" y="3543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882515" y="1995488"/>
              <a:ext cx="101917" cy="94298"/>
            </a:xfrm>
            <a:custGeom>
              <a:avLst/>
              <a:gdLst/>
              <a:ahLst/>
              <a:cxnLst/>
              <a:rect l="l" t="t" r="r" b="b"/>
              <a:pathLst>
                <a:path w="101917" h="94298">
                  <a:moveTo>
                    <a:pt x="101917" y="63817"/>
                  </a:moveTo>
                  <a:lnTo>
                    <a:pt x="0" y="94298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098608" y="2026920"/>
              <a:ext cx="787717" cy="48577"/>
            </a:xfrm>
            <a:custGeom>
              <a:avLst/>
              <a:gdLst/>
              <a:ahLst/>
              <a:cxnLst/>
              <a:rect l="l" t="t" r="r" b="b"/>
              <a:pathLst>
                <a:path w="787717" h="48577">
                  <a:moveTo>
                    <a:pt x="0" y="0"/>
                  </a:moveTo>
                  <a:lnTo>
                    <a:pt x="787717" y="4857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883468" y="2027872"/>
              <a:ext cx="98107" cy="95250"/>
            </a:xfrm>
            <a:custGeom>
              <a:avLst/>
              <a:gdLst/>
              <a:ahLst/>
              <a:cxnLst/>
              <a:rect l="l" t="t" r="r" b="b"/>
              <a:pathLst>
                <a:path w="98107" h="95250">
                  <a:moveTo>
                    <a:pt x="98107" y="53340"/>
                  </a:moveTo>
                  <a:lnTo>
                    <a:pt x="0" y="95250"/>
                  </a:lnTo>
                  <a:lnTo>
                    <a:pt x="571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951798" y="2137410"/>
              <a:ext cx="1938338" cy="319087"/>
            </a:xfrm>
            <a:custGeom>
              <a:avLst/>
              <a:gdLst/>
              <a:ahLst/>
              <a:cxnLst/>
              <a:rect l="l" t="t" r="r" b="b"/>
              <a:pathLst>
                <a:path w="1938338" h="319087">
                  <a:moveTo>
                    <a:pt x="0" y="319087"/>
                  </a:moveTo>
                  <a:lnTo>
                    <a:pt x="19383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882515" y="2089785"/>
              <a:ext cx="100965" cy="94298"/>
            </a:xfrm>
            <a:custGeom>
              <a:avLst/>
              <a:gdLst/>
              <a:ahLst/>
              <a:cxnLst/>
              <a:rect l="l" t="t" r="r" b="b"/>
              <a:pathLst>
                <a:path w="100965" h="94298">
                  <a:moveTo>
                    <a:pt x="100965" y="32385"/>
                  </a:moveTo>
                  <a:lnTo>
                    <a:pt x="15240" y="94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760095" y="1592580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602230" y="148399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991100" y="1921192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3746182" y="1844040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760095" y="231457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2602230" y="231457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85396" y="16992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27531" y="158972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116401" y="202692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71483" y="195072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85396" y="24203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27531" y="24203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84" name="c1-cells-2"/>
          <p:cNvGrpSpPr/>
          <p:nvPr/>
        </p:nvGrpSpPr>
        <p:grpSpPr>
          <a:xfrm>
            <a:off x="528638" y="2782252"/>
            <a:ext cx="2804160" cy="2865121"/>
            <a:chOff x="528638" y="2782252"/>
            <a:chExt cx="2804160" cy="2865121"/>
          </a:xfrm>
        </p:grpSpPr>
        <p:sp>
          <p:nvSpPr>
            <p:cNvPr id="36" name="TextBox 36"/>
            <p:cNvSpPr txBox="1"/>
            <p:nvPr/>
          </p:nvSpPr>
          <p:spPr>
            <a:xfrm>
              <a:off x="528638" y="2904173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99148" y="27822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68951" y="290417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218248" y="2782252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290495" y="2913698"/>
              <a:ext cx="650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8638" y="340614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99148" y="328422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68951" y="340614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218248" y="3284220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1294448" y="343281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1323022" y="346138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665922" y="341852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751648" y="328422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921451" y="340614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170748" y="3284220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2246948" y="343281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2275522" y="346138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2618422" y="341852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2704148" y="328422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873951" y="340614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123248" y="3284220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195495" y="3415665"/>
              <a:ext cx="650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28638" y="390810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99148" y="37852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68951" y="390810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218248" y="3785235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1294448" y="393477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1323022" y="396335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1665922" y="392049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751648" y="37852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921451" y="390810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2170748" y="3785235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2242995" y="3917632"/>
              <a:ext cx="650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28638" y="44100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99148" y="428720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68951" y="44100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1218248" y="4287202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290495" y="4418648"/>
              <a:ext cx="650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28638" y="49120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99148" y="478917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68951" y="491204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218248" y="4789170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290495" y="4920615"/>
              <a:ext cx="650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28638" y="54140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v₅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99148" y="529113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43356" y="541401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1218248" y="5291138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290495" y="5423535"/>
              <a:ext cx="650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88" name="c2-code-1"/>
          <p:cNvGrpSpPr/>
          <p:nvPr/>
        </p:nvGrpSpPr>
        <p:grpSpPr>
          <a:xfrm>
            <a:off x="5815965" y="1524000"/>
            <a:ext cx="5842635" cy="1705928"/>
            <a:chOff x="5815965" y="1524000"/>
            <a:chExt cx="5842635" cy="1705928"/>
          </a:xfrm>
        </p:grpSpPr>
        <p:sp>
          <p:nvSpPr>
            <p:cNvPr id="85" name="Rectangle 85"/>
            <p:cNvSpPr/>
            <p:nvPr/>
          </p:nvSpPr>
          <p:spPr>
            <a:xfrm>
              <a:off x="5815965" y="1524000"/>
              <a:ext cx="5842635" cy="1705928"/>
            </a:xfrm>
            <a:prstGeom prst="roundRect">
              <a:avLst>
                <a:gd name="adj" fmla="val 558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944362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统计全部顶点的入度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5944552" y="1935004"/>
              <a:ext cx="3789807" cy="12087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getInDegree(Vertex Head[],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InDegree[])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InDegree[i] = 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外层扫 n 个顶点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 *p = Head[i].adjacent; p !=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p = p-&gt;link)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p-&gt;VerAdj;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这是一条 vi -&gt; vk 的弧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InDegree[k]++;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vk 的入度加 1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08" name="c2-cells-2"/>
          <p:cNvGrpSpPr/>
          <p:nvPr/>
        </p:nvGrpSpPr>
        <p:grpSpPr>
          <a:xfrm>
            <a:off x="5810631" y="3394710"/>
            <a:ext cx="3234309" cy="571976"/>
            <a:chOff x="5810631" y="3394710"/>
            <a:chExt cx="3234309" cy="571976"/>
          </a:xfrm>
        </p:grpSpPr>
        <p:sp>
          <p:nvSpPr>
            <p:cNvPr id="89" name="TextBox 89"/>
            <p:cNvSpPr txBox="1"/>
            <p:nvPr/>
          </p:nvSpPr>
          <p:spPr>
            <a:xfrm>
              <a:off x="5810631" y="3507105"/>
              <a:ext cx="635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InDegree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530340" y="339471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693741" y="35071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949440" y="339471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112841" y="35071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7368540" y="339471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531941" y="35071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7787640" y="339471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7951041" y="35071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8206740" y="339471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370141" y="35071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8625840" y="339471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789241" y="35071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704771" y="38047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123871" y="38047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542971" y="38047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962071" y="38047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381171" y="38047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800271" y="38047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114" name="c2-callout-3"/>
          <p:cNvGrpSpPr/>
          <p:nvPr/>
        </p:nvGrpSpPr>
        <p:grpSpPr>
          <a:xfrm>
            <a:off x="5815965" y="4096702"/>
            <a:ext cx="5842635" cy="1551622"/>
            <a:chOff x="5815965" y="4096702"/>
            <a:chExt cx="5842635" cy="1551622"/>
          </a:xfrm>
        </p:grpSpPr>
        <p:sp>
          <p:nvSpPr>
            <p:cNvPr id="109" name="Rectangle 109"/>
            <p:cNvSpPr/>
            <p:nvPr/>
          </p:nvSpPr>
          <p:spPr>
            <a:xfrm>
              <a:off x="5815965" y="4096702"/>
              <a:ext cx="5842635" cy="1551622"/>
            </a:xfrm>
            <a:prstGeom prst="roundRect">
              <a:avLst>
                <a:gd name="adj" fmla="val 73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12" name="Group 112"/>
            <p:cNvGrpSpPr/>
            <p:nvPr/>
          </p:nvGrpSpPr>
          <p:grpSpPr>
            <a:xfrm>
              <a:off x="6020753" y="4772025"/>
              <a:ext cx="200026" cy="200026"/>
              <a:chOff x="6020753" y="4772025"/>
              <a:chExt cx="200026" cy="200026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6020753" y="47720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6087428" y="484981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13" name="TextBox 113"/>
            <p:cNvSpPr txBox="1"/>
            <p:nvPr/>
          </p:nvSpPr>
          <p:spPr>
            <a:xfrm>
              <a:off x="6323838" y="4665821"/>
              <a:ext cx="463534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外层循环 n 次，内层沿着全部边链表一共只走 e 步，合计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O(n +</a:t>
              </a:r>
              <a:br/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e)</a:t>
              </a: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，本例 n = 6、e = 8。</a:t>
              </a:r>
            </a:p>
          </p:txBody>
        </p:sp>
      </p:grpSp>
      <p:grpSp>
        <p:nvGrpSpPr>
          <p:cNvPr id="12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15" name="Rectangle 11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19" name="Group 119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20" name="TextBox 120"/>
            <p:cNvSpPr txBox="1"/>
            <p:nvPr/>
          </p:nvSpPr>
          <p:spPr>
            <a:xfrm>
              <a:off x="1041273" y="6039326"/>
              <a:ext cx="97522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逐个顶点去“遍历所有边结点”求入度是 O(e)，n 个顶点就成了 O(ne)。上面一趟扫描同时更新所有计数器，才降到 O(n + e)。</a:t>
              </a:r>
            </a:p>
          </p:txBody>
        </p:sp>
      </p:grpSp>
      <p:grpSp>
        <p:nvGrpSpPr>
          <p:cNvPr id="12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2" name="TextBox 122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邻接表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逆邻接表：把箭头方向反过来再建一次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graph-1"/>
          <p:cNvGrpSpPr/>
          <p:nvPr/>
        </p:nvGrpSpPr>
        <p:grpSpPr>
          <a:xfrm>
            <a:off x="1000125" y="1605915"/>
            <a:ext cx="4113847" cy="1633537"/>
            <a:chOff x="1000125" y="1605915"/>
            <a:chExt cx="4113847" cy="1633537"/>
          </a:xfrm>
        </p:grpSpPr>
        <p:sp>
          <p:nvSpPr>
            <p:cNvPr id="7" name="Freeform 7"/>
            <p:cNvSpPr/>
            <p:nvPr/>
          </p:nvSpPr>
          <p:spPr>
            <a:xfrm>
              <a:off x="1376362" y="1919288"/>
              <a:ext cx="1662112" cy="388302"/>
            </a:xfrm>
            <a:custGeom>
              <a:avLst/>
              <a:gdLst/>
              <a:ahLst/>
              <a:cxnLst/>
              <a:rect l="l" t="t" r="r" b="b"/>
              <a:pathLst>
                <a:path w="1662112" h="388302">
                  <a:moveTo>
                    <a:pt x="0" y="0"/>
                  </a:moveTo>
                  <a:cubicBezTo>
                    <a:pt x="580390" y="371475"/>
                    <a:pt x="1134428" y="388302"/>
                    <a:pt x="1662112" y="50483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012758" y="1919288"/>
              <a:ext cx="105727" cy="91440"/>
            </a:xfrm>
            <a:custGeom>
              <a:avLst/>
              <a:gdLst/>
              <a:ahLst/>
              <a:cxnLst/>
              <a:rect l="l" t="t" r="r" b="b"/>
              <a:pathLst>
                <a:path w="105727" h="91440">
                  <a:moveTo>
                    <a:pt x="105727" y="0"/>
                  </a:moveTo>
                  <a:lnTo>
                    <a:pt x="50483" y="91440"/>
                  </a:lnTo>
                  <a:lnTo>
                    <a:pt x="0" y="1047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498282" y="1634808"/>
              <a:ext cx="1591627" cy="127318"/>
            </a:xfrm>
            <a:custGeom>
              <a:avLst/>
              <a:gdLst/>
              <a:ahLst/>
              <a:cxnLst/>
              <a:rect l="l" t="t" r="r" b="b"/>
              <a:pathLst>
                <a:path w="1591627" h="127318">
                  <a:moveTo>
                    <a:pt x="1591627" y="127318"/>
                  </a:moveTo>
                  <a:cubicBezTo>
                    <a:pt x="1029652" y="6668"/>
                    <a:pt x="499110" y="0"/>
                    <a:pt x="0" y="10731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404938" y="1695450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0" y="66675"/>
                  </a:moveTo>
                  <a:lnTo>
                    <a:pt x="82867" y="0"/>
                  </a:lnTo>
                  <a:lnTo>
                    <a:pt x="102870" y="933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463040" y="1912620"/>
              <a:ext cx="1650682" cy="972502"/>
            </a:xfrm>
            <a:custGeom>
              <a:avLst/>
              <a:gdLst/>
              <a:ahLst/>
              <a:cxnLst/>
              <a:rect l="l" t="t" r="r" b="b"/>
              <a:pathLst>
                <a:path w="1650682" h="972502">
                  <a:moveTo>
                    <a:pt x="1650682" y="0"/>
                  </a:moveTo>
                  <a:lnTo>
                    <a:pt x="0" y="97250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380172" y="2844165"/>
              <a:ext cx="106680" cy="88582"/>
            </a:xfrm>
            <a:custGeom>
              <a:avLst/>
              <a:gdLst/>
              <a:ahLst/>
              <a:cxnLst/>
              <a:rect l="l" t="t" r="r" b="b"/>
              <a:pathLst>
                <a:path w="106680" h="88582">
                  <a:moveTo>
                    <a:pt x="0" y="88582"/>
                  </a:moveTo>
                  <a:lnTo>
                    <a:pt x="58102" y="0"/>
                  </a:lnTo>
                  <a:lnTo>
                    <a:pt x="106680" y="8191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580448" y="1911668"/>
              <a:ext cx="1136332" cy="421005"/>
            </a:xfrm>
            <a:custGeom>
              <a:avLst/>
              <a:gdLst/>
              <a:ahLst/>
              <a:cxnLst/>
              <a:rect l="l" t="t" r="r" b="b"/>
              <a:pathLst>
                <a:path w="1136332" h="421005">
                  <a:moveTo>
                    <a:pt x="1136332" y="42100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490912" y="1866900"/>
              <a:ext cx="106680" cy="89535"/>
            </a:xfrm>
            <a:custGeom>
              <a:avLst/>
              <a:gdLst/>
              <a:ahLst/>
              <a:cxnLst/>
              <a:rect l="l" t="t" r="r" b="b"/>
              <a:pathLst>
                <a:path w="106680" h="89535">
                  <a:moveTo>
                    <a:pt x="0" y="11430"/>
                  </a:moveTo>
                  <a:lnTo>
                    <a:pt x="106680" y="0"/>
                  </a:lnTo>
                  <a:lnTo>
                    <a:pt x="73342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578542" y="2481262"/>
              <a:ext cx="1140142" cy="446722"/>
            </a:xfrm>
            <a:custGeom>
              <a:avLst/>
              <a:gdLst/>
              <a:ahLst/>
              <a:cxnLst/>
              <a:rect l="l" t="t" r="r" b="b"/>
              <a:pathLst>
                <a:path w="1140142" h="446722">
                  <a:moveTo>
                    <a:pt x="1140142" y="0"/>
                  </a:moveTo>
                  <a:lnTo>
                    <a:pt x="0" y="4467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489960" y="2884170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0" y="79058"/>
                  </a:moveTo>
                  <a:lnTo>
                    <a:pt x="71438" y="0"/>
                  </a:lnTo>
                  <a:lnTo>
                    <a:pt x="105728" y="885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463040" y="1960245"/>
              <a:ext cx="1650682" cy="972502"/>
            </a:xfrm>
            <a:custGeom>
              <a:avLst/>
              <a:gdLst/>
              <a:ahLst/>
              <a:cxnLst/>
              <a:rect l="l" t="t" r="r" b="b"/>
              <a:pathLst>
                <a:path w="1650682" h="972502">
                  <a:moveTo>
                    <a:pt x="1650682" y="97250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380172" y="1912620"/>
              <a:ext cx="106680" cy="88582"/>
            </a:xfrm>
            <a:custGeom>
              <a:avLst/>
              <a:gdLst/>
              <a:ahLst/>
              <a:cxnLst/>
              <a:rect l="l" t="t" r="r" b="b"/>
              <a:pathLst>
                <a:path w="106680" h="88582">
                  <a:moveTo>
                    <a:pt x="0" y="0"/>
                  </a:moveTo>
                  <a:lnTo>
                    <a:pt x="106680" y="6667"/>
                  </a:lnTo>
                  <a:lnTo>
                    <a:pt x="58102" y="8858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409700" y="3039428"/>
              <a:ext cx="1580197" cy="9525"/>
            </a:xfrm>
            <a:custGeom>
              <a:avLst/>
              <a:gdLst/>
              <a:ahLst/>
              <a:cxnLst/>
              <a:rect l="l" t="t" r="r" b="b"/>
              <a:pathLst>
                <a:path w="1580197" h="9525">
                  <a:moveTo>
                    <a:pt x="0" y="0"/>
                  </a:moveTo>
                  <a:lnTo>
                    <a:pt x="158019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989898" y="29918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00125" y="160591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3094672" y="160591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713922" y="2205038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3094672" y="283940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1000125" y="283940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00762" y="173164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95310" y="173164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14560" y="23307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95310" y="296513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0762" y="296513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3476625"/>
            <a:ext cx="4760595" cy="1602105"/>
            <a:chOff x="533400" y="3476625"/>
            <a:chExt cx="4760595" cy="1602105"/>
          </a:xfrm>
        </p:grpSpPr>
        <p:sp>
          <p:nvSpPr>
            <p:cNvPr id="32" name="Rectangle 32"/>
            <p:cNvSpPr/>
            <p:nvPr/>
          </p:nvSpPr>
          <p:spPr>
            <a:xfrm>
              <a:off x="533400" y="3476625"/>
              <a:ext cx="476059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360997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81050" y="36861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71258" y="37218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3430" y="4063365"/>
              <a:ext cx="4072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对有向图建立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逆邻接表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（顶点的指向关系与邻接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表恰好相反）：第 i 个边链表链接的边都是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指向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顶点 i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的边。</a:t>
              </a:r>
            </a:p>
          </p:txBody>
        </p:sp>
      </p:grpSp>
      <p:grpSp>
        <p:nvGrpSpPr>
          <p:cNvPr id="43" name="c1-callout-3"/>
          <p:cNvGrpSpPr/>
          <p:nvPr/>
        </p:nvGrpSpPr>
        <p:grpSpPr>
          <a:xfrm>
            <a:off x="533400" y="5269230"/>
            <a:ext cx="4760595" cy="824865"/>
            <a:chOff x="533400" y="5269230"/>
            <a:chExt cx="4760595" cy="824865"/>
          </a:xfrm>
        </p:grpSpPr>
        <p:sp>
          <p:nvSpPr>
            <p:cNvPr id="38" name="Rectangle 38"/>
            <p:cNvSpPr/>
            <p:nvPr/>
          </p:nvSpPr>
          <p:spPr>
            <a:xfrm>
              <a:off x="533400" y="5269230"/>
              <a:ext cx="4760595" cy="824865"/>
            </a:xfrm>
            <a:prstGeom prst="roundRect">
              <a:avLst>
                <a:gd name="adj" fmla="val 13857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581652"/>
              <a:ext cx="200023" cy="200023"/>
              <a:chOff x="738188" y="5581652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58165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1538" y="56483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438775"/>
              <a:ext cx="3901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有了逆邻接表，查任意顶点的入度只要数一条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链，是 O(dᵢ)；代价是又多存了 e 个边结点。</a:t>
              </a:r>
            </a:p>
          </p:txBody>
        </p:sp>
      </p:grpSp>
      <p:grpSp>
        <p:nvGrpSpPr>
          <p:cNvPr id="87" name="c2-cells-1"/>
          <p:cNvGrpSpPr/>
          <p:nvPr/>
        </p:nvGrpSpPr>
        <p:grpSpPr>
          <a:xfrm>
            <a:off x="5593842" y="1524000"/>
            <a:ext cx="1863280" cy="2781300"/>
            <a:chOff x="5593842" y="1524000"/>
            <a:chExt cx="1863280" cy="2781300"/>
          </a:xfrm>
        </p:grpSpPr>
        <p:sp>
          <p:nvSpPr>
            <p:cNvPr id="44" name="TextBox 44"/>
            <p:cNvSpPr txBox="1"/>
            <p:nvPr/>
          </p:nvSpPr>
          <p:spPr>
            <a:xfrm>
              <a:off x="5593842" y="167306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75972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42475" y="167306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95072" y="1524000"/>
              <a:ext cx="20955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6371272" y="170497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6399848" y="17335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6742748" y="16906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28472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94975" y="167306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247572" y="1524000"/>
              <a:ext cx="20955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317228" y="16816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593842" y="22636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875972" y="21145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042475" y="22636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95072" y="2114550"/>
              <a:ext cx="20955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6371272" y="229552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6399848" y="23241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6742748" y="228123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828472" y="21145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94975" y="22636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247572" y="2114550"/>
              <a:ext cx="20955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317228" y="22721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593842" y="285416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875972" y="27051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014606" y="285416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295072" y="2705100"/>
              <a:ext cx="20955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64728" y="28627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593842" y="34447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875972" y="32956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042475" y="34447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295072" y="3295650"/>
              <a:ext cx="20955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6371272" y="347662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76" name="Freeform 76"/>
            <p:cNvSpPr/>
            <p:nvPr/>
          </p:nvSpPr>
          <p:spPr>
            <a:xfrm>
              <a:off x="6399848" y="35052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6742748" y="346233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828472" y="32956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994975" y="34447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247572" y="3295650"/>
              <a:ext cx="20955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317228" y="34532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593842" y="403526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5875972" y="38862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042475" y="403526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295072" y="3886200"/>
              <a:ext cx="20955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364728" y="40438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120" name="c2-table-2"/>
          <p:cNvGrpSpPr/>
          <p:nvPr/>
        </p:nvGrpSpPr>
        <p:grpSpPr>
          <a:xfrm>
            <a:off x="5593080" y="4495800"/>
            <a:ext cx="6065520" cy="1642587"/>
            <a:chOff x="5593080" y="4495800"/>
            <a:chExt cx="6065520" cy="1642587"/>
          </a:xfrm>
        </p:grpSpPr>
        <p:sp>
          <p:nvSpPr>
            <p:cNvPr id="88" name="Rectangle 88"/>
            <p:cNvSpPr/>
            <p:nvPr/>
          </p:nvSpPr>
          <p:spPr>
            <a:xfrm>
              <a:off x="5598795" y="4495800"/>
              <a:ext cx="605980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901969" y="46315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870122" y="46315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696892" y="46315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522709" y="46315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349479" y="46315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175297" y="46315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997844" y="46315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901969" y="50801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出度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922247" y="50801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749017" y="50801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574834" y="50801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401604" y="50801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0227422" y="50801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122772" y="50801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5598795" y="53882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5598795" y="539305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5901969" y="55287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入度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922247" y="55287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749017" y="55287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574834" y="55287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401604" y="55287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0227422" y="55287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122772" y="55287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5598795" y="4495800"/>
              <a:ext cx="6059805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6557962" y="44958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7384732" y="44958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8210550" y="44958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9037320" y="44958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9864090" y="44958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10689908" y="44958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5593080" y="5918359"/>
              <a:ext cx="43612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出度看邻接表的链长，入度看逆邻接表的链长，两行之和都等于 e</a:t>
              </a:r>
            </a:p>
          </p:txBody>
        </p:sp>
      </p:grpSp>
      <p:grpSp>
        <p:nvGrpSpPr>
          <p:cNvPr id="1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1" name="TextBox 121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 · 邻接表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邻接矩阵还是邻接表：看图稠密不稠密，看算法在做什么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28447" y="1524000"/>
            <a:ext cx="6280975" cy="2552414"/>
            <a:chOff x="528447" y="1524000"/>
            <a:chExt cx="6280975" cy="25524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30084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操作或指标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97224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邻接矩阵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50040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邻接表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1697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检测是否存在边 (Vᵢ, Vⱼ)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91742" y="2023110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47673" y="2023110"/>
              <a:ext cx="43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O(dᵢ)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04110"/>
              <a:ext cx="1415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改边、删边 (Vᵢ, Vⱼ)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91742" y="2404110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47673" y="2404110"/>
              <a:ext cx="43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O(dᵢ)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631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785110"/>
              <a:ext cx="14080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找顶点 Vᵢ 的邻接顶点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96783" y="2785110"/>
              <a:ext cx="376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36953" y="2785110"/>
              <a:ext cx="4608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O(dᵢ)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4514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04990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167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占用空间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54813" y="3167062"/>
              <a:ext cx="4608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52067" y="3167062"/>
              <a:ext cx="6306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 + e)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42614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548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适用于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73171" y="354806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稠密图、经常查改删边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4636" y="354806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稀疏图、经常找邻接顶点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276022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039428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921568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8447" y="3885724"/>
              <a:ext cx="33999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为顶点个数；e 为边的条数；dᵢ 为顶点 Vᵢ 的度，dᵢ ≤ n</a:t>
              </a:r>
            </a:p>
          </p:txBody>
        </p:sp>
      </p:grpSp>
      <p:grpSp>
        <p:nvGrpSpPr>
          <p:cNvPr id="43" name="c1-callout-2"/>
          <p:cNvGrpSpPr/>
          <p:nvPr/>
        </p:nvGrpSpPr>
        <p:grpSpPr>
          <a:xfrm>
            <a:off x="533400" y="4202430"/>
            <a:ext cx="6276022" cy="1279208"/>
            <a:chOff x="533400" y="4202430"/>
            <a:chExt cx="6276022" cy="1279208"/>
          </a:xfrm>
        </p:grpSpPr>
        <p:sp>
          <p:nvSpPr>
            <p:cNvPr id="37" name="Rectangle 37"/>
            <p:cNvSpPr/>
            <p:nvPr/>
          </p:nvSpPr>
          <p:spPr>
            <a:xfrm>
              <a:off x="533400" y="4202430"/>
              <a:ext cx="6276022" cy="1279208"/>
            </a:xfrm>
            <a:prstGeom prst="roundRect">
              <a:avLst>
                <a:gd name="adj" fmla="val 893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4742498"/>
              <a:ext cx="200026" cy="200026"/>
              <a:chOff x="738188" y="4742498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47424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48091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27088" y="48425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1273" y="4636294"/>
              <a:ext cx="53205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稠密到极点的完全图上，邻接表的结点数 n + 2e = n² 与矩阵同阶，此时矩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阵还省掉了每个结点 8 字节的指针。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7114222" y="1524000"/>
            <a:ext cx="4544378" cy="2200275"/>
            <a:chOff x="7114222" y="1524000"/>
            <a:chExt cx="4544378" cy="2200275"/>
          </a:xfrm>
        </p:grpSpPr>
        <p:sp>
          <p:nvSpPr>
            <p:cNvPr id="44" name="Rectangle 44"/>
            <p:cNvSpPr/>
            <p:nvPr/>
          </p:nvSpPr>
          <p:spPr>
            <a:xfrm>
              <a:off x="7114222" y="1524000"/>
              <a:ext cx="4544378" cy="2200275"/>
            </a:xfrm>
            <a:prstGeom prst="roundRect">
              <a:avLst>
                <a:gd name="adj" fmla="val 606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295198" y="170497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83818" y="17378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怎么选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304722" y="209740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60170" y="2045494"/>
              <a:ext cx="37518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稀疏图（e 只有 n 量级）：邻接表能省几个数量级的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304722" y="262509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60170" y="2573179"/>
              <a:ext cx="37518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稠密图、且主要动作是反复查某条边在不在：邻接矩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阵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304722" y="315372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60170" y="3100864"/>
              <a:ext cx="37680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算法的主要动作是“逐个走访某点的邻接顶点”：一律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邻接表</a:t>
              </a:r>
            </a:p>
          </p:txBody>
        </p:sp>
      </p:grpSp>
      <p:grpSp>
        <p:nvGrpSpPr>
          <p:cNvPr id="64" name="c2-bullets-2"/>
          <p:cNvGrpSpPr/>
          <p:nvPr/>
        </p:nvGrpSpPr>
        <p:grpSpPr>
          <a:xfrm>
            <a:off x="7107746" y="3909536"/>
            <a:ext cx="4597018" cy="1622870"/>
            <a:chOff x="7107746" y="3909536"/>
            <a:chExt cx="4597018" cy="1622870"/>
          </a:xfrm>
        </p:grpSpPr>
        <p:sp>
          <p:nvSpPr>
            <p:cNvPr id="54" name="TextBox 54"/>
            <p:cNvSpPr txBox="1"/>
            <p:nvPr/>
          </p:nvSpPr>
          <p:spPr>
            <a:xfrm>
              <a:off x="7107746" y="39095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三点补充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114222" y="419957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66129" y="423519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83970" y="4210526"/>
              <a:ext cx="40038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无向图在邻接表上删一条边要改两条链，实际是 O(dᵢ +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dⱼ)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114222" y="473583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166129" y="477145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83970" y="474678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邻接表求出度只看链长，求入度要扫全表或另建逆邻接表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114222" y="502920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166129" y="506387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83970" y="5040154"/>
              <a:ext cx="35892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矩阵的 O(1) 以矩阵已建好为前提，建矩阵本身是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65" name="Rectangle 65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5911217"/>
              <a:ext cx="200023" cy="200023"/>
              <a:chOff x="738188" y="5911217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59112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71538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1273" y="5805011"/>
              <a:ext cx="97340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13 讲起的图算法（遍历、拓扑排序、最短路径、最小支撑树）默认用邻接表；只有像 Floyd 这种逐对处理顶点的算法才回头用邻接矩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阵。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42644" cy="909257"/>
            <a:chOff x="520446" y="342900"/>
            <a:chExt cx="13426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269855" cy="293370"/>
            <a:chOff x="525780" y="1548765"/>
            <a:chExt cx="10269855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269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先自己写出答案再看解答。另外自问：带权图的邻接矩阵里 0 和 ∞ 各表示什么？统计全部入度为什么是 O(n + e)？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54530"/>
            <a:ext cx="3505200" cy="1840230"/>
            <a:chOff x="533400" y="1954530"/>
            <a:chExt cx="3505200" cy="1840230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3505200" cy="1840230"/>
            </a:xfrm>
            <a:prstGeom prst="roundRect">
              <a:avLst>
                <a:gd name="adj" fmla="val 724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31520" y="215265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0468" y="218694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4281" y="2513171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个顶点的无向图最多有多少条边？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至少要几条边才能确保它一定连通？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4281" y="3102769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 n(n−1)/2 条；确保连通要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(n−1)(n−2)/2 + 1 条。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974782"/>
            <a:ext cx="3505200" cy="2383155"/>
            <a:chOff x="533400" y="3974782"/>
            <a:chExt cx="3505200" cy="2383155"/>
          </a:xfrm>
        </p:grpSpPr>
        <p:sp>
          <p:nvSpPr>
            <p:cNvPr id="15" name="Rectangle 15"/>
            <p:cNvSpPr/>
            <p:nvPr/>
          </p:nvSpPr>
          <p:spPr>
            <a:xfrm>
              <a:off x="533400" y="3974782"/>
              <a:ext cx="3505200" cy="2383155"/>
            </a:xfrm>
            <a:prstGeom prst="roundRect">
              <a:avLst>
                <a:gd name="adj" fmla="val 559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31520" y="417290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0468" y="420719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4281" y="4533424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连通子图和连通分量有什么不同？一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个图的连通分量唯一吗？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4281" y="5123021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连通子图可以有很多个；连通分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量是极大连通子图，划分唯一确定。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54530"/>
            <a:ext cx="3505200" cy="2383155"/>
            <a:chOff x="4343400" y="1954530"/>
            <a:chExt cx="3505200" cy="238315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54530"/>
              <a:ext cx="3505200" cy="2383155"/>
            </a:xfrm>
            <a:prstGeom prst="roundRect">
              <a:avLst>
                <a:gd name="adj" fmla="val 559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41520" y="215265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30468" y="218694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34281" y="2513171"/>
              <a:ext cx="291795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无向图有 16 条边，3 个 4 度点、4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 3 度点，其余点的度都小于 3，顶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点至少几个？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34281" y="3374231"/>
              <a:ext cx="272859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32 ≤ 4×3 + 3×4 +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2×(n−7) 得 n ≥ 11。“小于 3”是 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517708"/>
            <a:ext cx="3505200" cy="1840230"/>
            <a:chOff x="4343400" y="4517708"/>
            <a:chExt cx="3505200" cy="1840230"/>
          </a:xfrm>
        </p:grpSpPr>
        <p:sp>
          <p:nvSpPr>
            <p:cNvPr id="27" name="Rectangle 27"/>
            <p:cNvSpPr/>
            <p:nvPr/>
          </p:nvSpPr>
          <p:spPr>
            <a:xfrm>
              <a:off x="4343400" y="4517708"/>
              <a:ext cx="3505200" cy="1840230"/>
            </a:xfrm>
            <a:prstGeom prst="roundRect">
              <a:avLst>
                <a:gd name="adj" fmla="val 724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41520" y="471582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30468" y="475011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34281" y="5076349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怎么从邻接矩阵读出顶点的度？无向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图和有向图各怎么读？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34281" y="5665946"/>
              <a:ext cx="290893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无向图看第 i 行 1 的个数；有向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图行是出度、列是入度。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54530"/>
            <a:ext cx="3505200" cy="2111692"/>
            <a:chOff x="8153400" y="1954530"/>
            <a:chExt cx="3505200" cy="2111692"/>
          </a:xfrm>
        </p:grpSpPr>
        <p:sp>
          <p:nvSpPr>
            <p:cNvPr id="33" name="Rectangle 33"/>
            <p:cNvSpPr/>
            <p:nvPr/>
          </p:nvSpPr>
          <p:spPr>
            <a:xfrm>
              <a:off x="8153400" y="1954530"/>
              <a:ext cx="3505200" cy="2111692"/>
            </a:xfrm>
            <a:prstGeom prst="roundRect">
              <a:avLst>
                <a:gd name="adj" fmla="val 6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51520" y="215265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40468" y="218694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44281" y="2513171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路径、简单路径、简单回路三者的区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别是什么？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44281" y="3102769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路径只要每步有边；简单路径还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要顶点不重复；简单回路首尾相同且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 ≥ 2。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246245"/>
            <a:ext cx="3505200" cy="2111692"/>
            <a:chOff x="8153400" y="4246245"/>
            <a:chExt cx="3505200" cy="2111692"/>
          </a:xfrm>
        </p:grpSpPr>
        <p:sp>
          <p:nvSpPr>
            <p:cNvPr id="39" name="Rectangle 39"/>
            <p:cNvSpPr/>
            <p:nvPr/>
          </p:nvSpPr>
          <p:spPr>
            <a:xfrm>
              <a:off x="8153400" y="4246245"/>
              <a:ext cx="3505200" cy="2111692"/>
            </a:xfrm>
            <a:prstGeom prst="roundRect">
              <a:avLst>
                <a:gd name="adj" fmla="val 6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51520" y="444436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40468" y="447865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44281" y="4804886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邻接表存无向图和有向图，边结点各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有多少个？占用空间是多少？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44281" y="5394484"/>
              <a:ext cx="28458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 2e 个、有向 e 个，加上 n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个顶点结点，空间都是 O(n + e)。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第12讲 图的存储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287905"/>
            <a:chOff x="533400" y="1524000"/>
            <a:chExt cx="5842635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0597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9286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9439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 G = (V, E)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96796" y="2023110"/>
              <a:ext cx="2752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非空有穷；无向边记 (v,w)，弧记 &lt;v,w&gt;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96796" y="2404110"/>
              <a:ext cx="2980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无向数端点，有向 = 入度 + 出度；ΣD(vᵢ) = 2e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96796" y="278511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顶点不重复是简单路径，首尾相同是简单回路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连通性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96796" y="3167062"/>
              <a:ext cx="27104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连通分量与强连通分量都是“极大”的那一个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两种存储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96796" y="3548062"/>
              <a:ext cx="30960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 O(n²) 查边快，邻接表 O(n+e) 找邻接点快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697355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2"/>
          <p:cNvGrpSpPr/>
          <p:nvPr/>
        </p:nvGrpSpPr>
        <p:grpSpPr>
          <a:xfrm>
            <a:off x="533400" y="3976688"/>
            <a:ext cx="5842635" cy="1714500"/>
            <a:chOff x="533400" y="3976688"/>
            <a:chExt cx="5842635" cy="1714500"/>
          </a:xfrm>
        </p:grpSpPr>
        <p:sp>
          <p:nvSpPr>
            <p:cNvPr id="29" name="Rectangle 29"/>
            <p:cNvSpPr/>
            <p:nvPr/>
          </p:nvSpPr>
          <p:spPr>
            <a:xfrm>
              <a:off x="533400" y="3976688"/>
              <a:ext cx="5842635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0038"/>
              <a:ext cx="47625" cy="14478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15766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3440" y="41905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5510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4498181"/>
              <a:ext cx="4930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30 页连通子图 (d) 用了 G 中没有的边 (v₁,v₃)，唯一的三角形是</a:t>
              </a:r>
              <a:br/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v₂v₃v₅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507873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5025866"/>
              <a:ext cx="4052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48 页的边结点是 C++ 写法，标准 C 要用 typedef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62000" y="536352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7448" y="5310664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补充欧拉回路判据、连通分量的唯一性、两种存储的实测空间</a:t>
              </a:r>
            </a:p>
          </p:txBody>
        </p:sp>
      </p:grpSp>
      <p:grpSp>
        <p:nvGrpSpPr>
          <p:cNvPr id="55" name="c2-bullets-1"/>
          <p:cNvGrpSpPr/>
          <p:nvPr/>
        </p:nvGrpSpPr>
        <p:grpSpPr>
          <a:xfrm>
            <a:off x="6681788" y="1533525"/>
            <a:ext cx="4564695" cy="1432845"/>
            <a:chOff x="6681788" y="1533525"/>
            <a:chExt cx="4564695" cy="1432845"/>
          </a:xfrm>
        </p:grpSpPr>
        <p:sp>
          <p:nvSpPr>
            <p:cNvPr id="40" name="Ellipse 40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51536" y="154543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握手定理是度数题的入口，奇度顶点必成对出现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81788" y="182689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33694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51536" y="1837849"/>
              <a:ext cx="42949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确保连通按“完全图 + 孤立点”算，是 (n−1)(n−2)/2 + 1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81788" y="212026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33694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51536" y="213121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连通分量是极大连通子图，由图本身唯一确定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681788" y="241363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33694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51536" y="242458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邻接矩阵无向对称，有向图行是出度、列是入度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81788" y="270605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33694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51536" y="2717006"/>
              <a:ext cx="36056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边结点无向 2e 个、有向 e 个，入度靠逆邻接表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6680835" y="3081338"/>
            <a:ext cx="4977765" cy="2609850"/>
            <a:chOff x="6680835" y="3081338"/>
            <a:chExt cx="4977765" cy="2609850"/>
          </a:xfrm>
        </p:grpSpPr>
        <p:sp>
          <p:nvSpPr>
            <p:cNvPr id="56" name="Rectangle 56"/>
            <p:cNvSpPr/>
            <p:nvPr/>
          </p:nvSpPr>
          <p:spPr>
            <a:xfrm>
              <a:off x="6680835" y="3081338"/>
              <a:ext cx="4977765" cy="2609850"/>
            </a:xfrm>
            <a:prstGeom prst="roundRect">
              <a:avLst>
                <a:gd name="adj" fmla="val 510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61810" y="326231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47332" y="32951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71335" y="365474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26783" y="3602831"/>
              <a:ext cx="41663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拿一张 5 个顶点的无向图，写出它的 V、E、度序列、邻接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矩阵、邻接表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871335" y="418242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26783" y="413051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再把它改成有向图重做一遍，逐项说出哪里不一样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56476" y="441198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两遍都能自己写完，本讲就算掌握了。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5" name="Rectangle 6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1273" y="6039326"/>
              <a:ext cx="82323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下一讲是图的遍历及应用，深度优先和广度优先都沿着边链表走，本讲的两种存储结构会一直用到第 16 讲。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第12讲 图的概念与存储结构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12">
  <a:themeElements>
    <a:clrScheme name="ds_l1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12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1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2026-09-19T13:06:22Z</dcterms:created>
  <dcterms:modified xsi:type="dcterms:W3CDTF">2026-09-19T13:06:22Z</dcterms:modified>
  <cp:category/>
  <cp:contentStatus/>
</cp:coreProperties>
</file>