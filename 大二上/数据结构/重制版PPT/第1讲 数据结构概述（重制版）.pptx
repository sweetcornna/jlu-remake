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4804b842e62b41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e38cef2c67ca65b.png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93337de1e551f60.png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数据结构概述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数据、逻辑结构、存储结构与操作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为什么要学数据结构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数据的三个层次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四类逻辑结构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四种存储结构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业界共识、图灵奖、身边的软件、课程地位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数据、数据元素、数据项三个层次与别名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结构（一）逻辑结构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前驱与后继，线性、树、图、集合四类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结构（二）存储结构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顺序、链接、散列、索引四种存储方式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操作与完整定义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六种基本操作，数据结构的三个组成部分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说出数据、数据元素、数据项的关系，并在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一张表格上指出来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给定一张结点关系图，判断它属于线性、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树、图、集合中的哪一类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说出四种存储结构各用什么表示逻辑关系，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各自快在哪、慢在哪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解释同一个逻辑结构为什么可以有多种存储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写出数据结构的完整定义和它的三个组成部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为什么要学数据结构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从业界共识、图灵奖、日常软件和考核方式四个角度看它的位置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写程序的第一步是设计数据结构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图灵奖名单里的数据结构工作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身边软件背后的结构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学分、考研与求职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为什么要学数据结构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写程序的第一步，是把数据结构想清楚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616696" cy="278702"/>
            <a:chOff x="526161" y="1547336"/>
            <a:chExt cx="861669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616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下面这些人分别做出了编程语言、操作系统、办公软件和算法理论，他们对同一件事的说法高度一致。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33400" y="1941195"/>
            <a:ext cx="6276022" cy="3446145"/>
            <a:chOff x="533400" y="1941195"/>
            <a:chExt cx="6276022" cy="344614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0653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提出者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7907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身份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843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3412" y="2471261"/>
              <a:ext cx="1026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Niklaus Wirth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51672" y="2471261"/>
              <a:ext cx="822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Pascal 之父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20440" y="2471261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+ 数据结构 = 程序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877026"/>
              <a:ext cx="73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Bill Gates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51672" y="28770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微软创始人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20440" y="287702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写程序最重要的部分是设计数据结构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153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3282791"/>
              <a:ext cx="11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Linus Torvalds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51672" y="3282791"/>
              <a:ext cx="739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之父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20440" y="328279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差的程序员操心代码，好的操心数据结构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59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564255"/>
              <a:ext cx="6276022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688556"/>
              <a:ext cx="549097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Charles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Simonyi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51672" y="3788569"/>
              <a:ext cx="1257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Word、Excel 之父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20440" y="378856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数据结构想严谨了，代码大多水到渠成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652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4294346"/>
              <a:ext cx="8671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Gary Kildall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51672" y="429434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微机操作系统之父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20440" y="429434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废弃代码常因数据结构太糟，而非算法不好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7104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57581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4700111"/>
              <a:ext cx="1074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Robert Tarjan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51672" y="4700111"/>
              <a:ext cx="991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1986 年图灵奖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20440" y="470011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选对数据结构是设计高效算法的前提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9768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5105876"/>
              <a:ext cx="90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Robert Pike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51672" y="5105876"/>
              <a:ext cx="9823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 语言发明人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20440" y="510587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数据结构选对了，算法往往不言自明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1941195"/>
              <a:ext cx="6276022" cy="34461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846898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15665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2-card-1"/>
          <p:cNvGrpSpPr/>
          <p:nvPr/>
        </p:nvGrpSpPr>
        <p:grpSpPr>
          <a:xfrm>
            <a:off x="7114222" y="1941195"/>
            <a:ext cx="4544378" cy="1747838"/>
            <a:chOff x="7114222" y="1941195"/>
            <a:chExt cx="4544378" cy="1747838"/>
          </a:xfrm>
        </p:grpSpPr>
        <p:sp>
          <p:nvSpPr>
            <p:cNvPr id="47" name="Rectangle 47"/>
            <p:cNvSpPr/>
            <p:nvPr/>
          </p:nvSpPr>
          <p:spPr>
            <a:xfrm>
              <a:off x="7114222" y="1941195"/>
              <a:ext cx="4544378" cy="1747838"/>
            </a:xfrm>
            <a:prstGeom prst="roundRect">
              <a:avLst>
                <a:gd name="adj" fmla="val 762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06628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90067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课程定位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57020" y="217360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数据结构是内功，语言和框架是招式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99770" y="2507932"/>
              <a:ext cx="38799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换一门语言、换一个框架，几周就能上手；判断“这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里该用哪种结构、代价是多少”的能力要靠一门课慢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慢练。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00912" y="3320891"/>
              <a:ext cx="3599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只会调 API、写增删改查，能力就锁死在框架版本上。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7114222" y="3864292"/>
            <a:ext cx="4544378" cy="1786890"/>
            <a:chOff x="7114222" y="3864292"/>
            <a:chExt cx="4544378" cy="1786890"/>
          </a:xfrm>
        </p:grpSpPr>
        <p:sp>
          <p:nvSpPr>
            <p:cNvPr id="54" name="Rectangle 54"/>
            <p:cNvSpPr/>
            <p:nvPr/>
          </p:nvSpPr>
          <p:spPr>
            <a:xfrm>
              <a:off x="7114222" y="3864292"/>
              <a:ext cx="4544378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3748" y="3997642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44728" y="40566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36168" y="40909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28420" y="409670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如果把学编程比作学开车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53300" y="448722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09320" y="443103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程序设计基础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：学会起步、换挡、转弯这些基本驾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驶动作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353300" y="504634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09320" y="499014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：学漂移和侧驶，也学挑车、修车、改装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和设计车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4" name="Rectangle 6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3610"/>
              <a:ext cx="8064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这些话的共同点是把“数据怎么组织”放在“代码怎么写”前面，本讲后半部分就是在回答“怎么组织”。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为什么要学数据结构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图灵奖名单里，一大半工作与数据结构和算法有关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83196" cy="264033"/>
            <a:chOff x="526542" y="1545907"/>
            <a:chExt cx="72831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括号里标出该工作在本课程哪一讲出现，现在看不懂没关系，学到那一讲时可以回头对照。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33400" y="1928812"/>
            <a:ext cx="5410200" cy="3432810"/>
            <a:chOff x="533400" y="1928812"/>
            <a:chExt cx="5410200" cy="343281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581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84807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获奖者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58387" y="20459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与本课相关的工作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078" y="2426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5316" y="2426970"/>
              <a:ext cx="41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Perlis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08376" y="2426970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线索二叉树（第 9 讲）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808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5316" y="2808923"/>
              <a:ext cx="67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McCarthy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08376" y="2808923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博弈树与 α-β 剪枝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189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5316" y="3189923"/>
              <a:ext cx="565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Dijkstra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08376" y="3189923"/>
              <a:ext cx="2229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图的单源最短路径算法（第 15 讲）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453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8078" y="3571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5316" y="3571875"/>
              <a:ext cx="403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Knuth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08376" y="3571875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算法分析、字符串模式匹配（第 6 讲）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830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952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85316" y="3952875"/>
              <a:ext cx="368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Rabin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08376" y="395287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大素数测试、串匹配的随机化方法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1671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4333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85316" y="4333875"/>
              <a:ext cx="368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Floyd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08376" y="4333875"/>
              <a:ext cx="2653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多源最短路径、线性时间建堆（第 18 讲）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593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471582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85316" y="4715828"/>
              <a:ext cx="403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Hoare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08376" y="4715828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快速排序（第 19 讲）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9749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97967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078" y="509682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85316" y="5096828"/>
              <a:ext cx="396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Wirth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08376" y="5096828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+ 数据结构 = 程序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928812"/>
              <a:ext cx="5410200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28587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90893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allout-2"/>
          <p:cNvGrpSpPr/>
          <p:nvPr/>
        </p:nvGrpSpPr>
        <p:grpSpPr>
          <a:xfrm>
            <a:off x="533400" y="5525452"/>
            <a:ext cx="5410200" cy="702945"/>
            <a:chOff x="533400" y="5525452"/>
            <a:chExt cx="5410200" cy="702945"/>
          </a:xfrm>
        </p:grpSpPr>
        <p:sp>
          <p:nvSpPr>
            <p:cNvPr id="52" name="Rectangle 52"/>
            <p:cNvSpPr/>
            <p:nvPr/>
          </p:nvSpPr>
          <p:spPr>
            <a:xfrm>
              <a:off x="533400" y="552545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776913"/>
              <a:ext cx="200026" cy="200025"/>
              <a:chOff x="738188" y="5776913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7769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58213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59324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567070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本课程会直接讲到的图灵奖工作：Dijkstra 最短路、Floyd 建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堆、Hoare 快速排序、Knuth 的 KMP、Aho 的 AC 自动机。</a:t>
              </a:r>
            </a:p>
          </p:txBody>
        </p:sp>
      </p:grpSp>
      <p:grpSp>
        <p:nvGrpSpPr>
          <p:cNvPr id="96" name="c2-table-1"/>
          <p:cNvGrpSpPr/>
          <p:nvPr/>
        </p:nvGrpSpPr>
        <p:grpSpPr>
          <a:xfrm>
            <a:off x="6248400" y="1928812"/>
            <a:ext cx="5410200" cy="3424238"/>
            <a:chOff x="6248400" y="1928812"/>
            <a:chExt cx="5410200" cy="3424238"/>
          </a:xfrm>
        </p:grpSpPr>
        <p:sp>
          <p:nvSpPr>
            <p:cNvPr id="59" name="Rectangle 59"/>
            <p:cNvSpPr/>
            <p:nvPr/>
          </p:nvSpPr>
          <p:spPr>
            <a:xfrm>
              <a:off x="6248400" y="1928812"/>
              <a:ext cx="5410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8081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99807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获奖者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573387" y="20459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与本课相关的工作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43079" y="2426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00316" y="2426970"/>
              <a:ext cx="3260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Karp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23376" y="2426970"/>
              <a:ext cx="1633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网络流算法、NP 完全理论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2687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269176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3079" y="2808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00316" y="2808923"/>
              <a:ext cx="1299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Hopcroft 与 Tarjan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23376" y="2808923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均摊分析、并查集、斐波那契堆、伸展树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3068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43079" y="3189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00316" y="3189923"/>
              <a:ext cx="318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Blum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723376" y="3189923"/>
              <a:ext cx="2019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最坏情况线性时间的 K 选取算法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3449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48400" y="3453765"/>
              <a:ext cx="5410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3079" y="366522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100316" y="366522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姚期智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723376" y="3571875"/>
              <a:ext cx="263766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最小支撑树算法（第 16 讲）、插值查找的复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杂度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40176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43079" y="423291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100316" y="4232910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Rivest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723376" y="4139565"/>
              <a:ext cx="25043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MD5 散列（第 25 讲）、K 选取、《算法导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论》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248400" y="45853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248400" y="4590098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43079" y="470725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100316" y="4707255"/>
              <a:ext cx="445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Liskov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723376" y="470725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抽象数据类型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248400" y="49672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343079" y="508920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100316" y="5089208"/>
              <a:ext cx="903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Aho 与 Ullman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723376" y="5089208"/>
              <a:ext cx="22434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多模式匹配与 AC 自动机、算法教材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248400" y="1928812"/>
              <a:ext cx="5410200" cy="34242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000875" y="1928812"/>
              <a:ext cx="9525" cy="3424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8623935" y="1928812"/>
              <a:ext cx="9525" cy="34242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3" name="c2-callout-2"/>
          <p:cNvGrpSpPr/>
          <p:nvPr/>
        </p:nvGrpSpPr>
        <p:grpSpPr>
          <a:xfrm>
            <a:off x="6248400" y="5517832"/>
            <a:ext cx="5410200" cy="710565"/>
            <a:chOff x="6248400" y="5517832"/>
            <a:chExt cx="5410200" cy="710565"/>
          </a:xfrm>
        </p:grpSpPr>
        <p:sp>
          <p:nvSpPr>
            <p:cNvPr id="97" name="Rectangle 97"/>
            <p:cNvSpPr/>
            <p:nvPr/>
          </p:nvSpPr>
          <p:spPr>
            <a:xfrm>
              <a:off x="6248400" y="5517832"/>
              <a:ext cx="5410200" cy="710565"/>
            </a:xfrm>
            <a:prstGeom prst="roundRect">
              <a:avLst>
                <a:gd name="adj" fmla="val 1608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6453188" y="5773103"/>
              <a:ext cx="200026" cy="200026"/>
              <a:chOff x="6453188" y="5773103"/>
              <a:chExt cx="200026" cy="200026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6453188" y="57731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6553200" y="58397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542088" y="58731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6756273" y="566689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图灵奖是计算机领域的最高奖。名单里反复出现排序、查找、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树、图、散列这些词，它们就是本课程 26 讲的内容。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为什么要学数据结构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身边的软件，每一个背后都有一种数据结构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6708458" cy="4457700"/>
            <a:chOff x="533400" y="1524000"/>
            <a:chExt cx="6708458" cy="44577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197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日常场景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61868" y="164830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背后的数据结构与算法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12282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本课程哪一讲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淘宝按关键词搜商品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46045" y="205406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倒排索引、散列表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97842" y="205406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22、25 讲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670845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地图软件算出一条最快路线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6045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带权图上的最短路径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97842" y="2459831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15 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打车软件给订单派车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6045" y="286559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图上的匹配与就近查找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97842" y="286559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12、16 讲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670845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169484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 的撤销、浏览器的后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6045" y="337137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97842" y="337137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480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877151"/>
              <a:ext cx="1694485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编辑器里按 Ctrl+F 找一段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46045" y="39771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字符串模式匹配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97842" y="3977164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6 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5387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358640"/>
              <a:ext cx="670845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482941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把文件夹压缩成 zip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46045" y="4482941"/>
              <a:ext cx="1124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Huffman 编码树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97842" y="4482941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5964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8887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搜索框打一半就出候选词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46045" y="48887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字典树与散列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97842" y="4888706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25 讲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16540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170170"/>
              <a:ext cx="670845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3412" y="529447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操作系统安排进程先后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46045" y="52944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队列与堆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97842" y="529447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4、18 讲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57117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3412" y="5700236"/>
              <a:ext cx="15434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AlphaGo 选择下一手棋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46045" y="57002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博弈树与剪枝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97842" y="57002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树与图的遍历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6708458" cy="44577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541270" y="1524000"/>
              <a:ext cx="9525" cy="44577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93068" y="1524000"/>
              <a:ext cx="9525" cy="44577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1"/>
          <p:cNvGrpSpPr/>
          <p:nvPr/>
        </p:nvGrpSpPr>
        <p:grpSpPr>
          <a:xfrm>
            <a:off x="7546658" y="1524000"/>
            <a:ext cx="4111942" cy="1483995"/>
            <a:chOff x="7546658" y="1524000"/>
            <a:chExt cx="4111942" cy="1483995"/>
          </a:xfrm>
        </p:grpSpPr>
        <p:sp>
          <p:nvSpPr>
            <p:cNvPr id="54" name="Rectangle 54"/>
            <p:cNvSpPr/>
            <p:nvPr/>
          </p:nvSpPr>
          <p:spPr>
            <a:xfrm>
              <a:off x="7546658" y="1524000"/>
              <a:ext cx="4111942" cy="1483995"/>
            </a:xfrm>
            <a:prstGeom prst="roundRect">
              <a:avLst>
                <a:gd name="adj" fmla="val 898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73906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3050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22754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换个角度看这张表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32204" y="2090738"/>
              <a:ext cx="34427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表的右列几乎覆盖了本课程的全部章节。学完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之后再看任何一个软件功能，都应该能猜出它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大致用了什么结构。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7546658" y="3183255"/>
            <a:ext cx="4111942" cy="2798445"/>
            <a:chOff x="7546658" y="3183255"/>
            <a:chExt cx="4111942" cy="2798445"/>
          </a:xfrm>
        </p:grpSpPr>
        <p:sp>
          <p:nvSpPr>
            <p:cNvPr id="60" name="Rectangle 60"/>
            <p:cNvSpPr/>
            <p:nvPr/>
          </p:nvSpPr>
          <p:spPr>
            <a:xfrm>
              <a:off x="7546658" y="3183255"/>
              <a:ext cx="4111942" cy="2798445"/>
            </a:xfrm>
            <a:prstGeom prst="roundRect">
              <a:avLst>
                <a:gd name="adj" fmla="val 47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556182" y="3316605"/>
              <a:ext cx="47625" cy="2531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777162" y="337566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872603" y="34099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27504" y="341566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为什么搜索不能一条条比对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785735" y="38052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41754" y="3749040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全网商品按顺序逐条比对，规模一大就完全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没法用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785735" y="436530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941754" y="4309110"/>
              <a:ext cx="33141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倒排索引把“词 → 商品列表”预先算好，查询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时只做一次查表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71448" y="4864894"/>
              <a:ext cx="34251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同一个功能，换一种数据组织方式，快慢相差几个数量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级。第 25 讲会算清楚这个差距。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为什么要学数据结构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学分最高、考研占比最大的一门专业课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202055"/>
            <a:chOff x="533400" y="1524000"/>
            <a:chExt cx="5626418" cy="1202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75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在培养方案里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83842" y="1745932"/>
              <a:ext cx="14567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学分、112 学时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8662" y="21278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4682" y="207168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学分最高、学时最长的专业课，操作系统、编译原理、数据库系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统、算法分析等课都以它为基础</a:t>
              </a:r>
            </a:p>
          </p:txBody>
        </p:sp>
      </p:grpSp>
      <p:grpSp>
        <p:nvGrpSpPr>
          <p:cNvPr id="52" name="c1-table-2"/>
          <p:cNvGrpSpPr/>
          <p:nvPr/>
        </p:nvGrpSpPr>
        <p:grpSpPr>
          <a:xfrm>
            <a:off x="528447" y="2896552"/>
            <a:ext cx="5631371" cy="3463957"/>
            <a:chOff x="528447" y="2896552"/>
            <a:chExt cx="5631371" cy="3463957"/>
          </a:xfrm>
        </p:grpSpPr>
        <p:sp>
          <p:nvSpPr>
            <p:cNvPr id="14" name="Rectangle 14"/>
            <p:cNvSpPr/>
            <p:nvPr/>
          </p:nvSpPr>
          <p:spPr>
            <a:xfrm>
              <a:off x="533400" y="2896552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20584" y="30179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招生单位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23399" y="30179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数据结构分值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39922" y="3017996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占专业课 150 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0555" y="3418046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全国统考 408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4793" y="341804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 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55494" y="341804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918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69665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3818096"/>
              <a:ext cx="2201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清华大学 计算机（学硕 + 专硕）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94793" y="381809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5494" y="381809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47%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0919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4218146"/>
              <a:ext cx="2169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清华大学 数据科学与大数据工程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53330" y="421814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14031" y="421814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4919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49675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4618196"/>
              <a:ext cx="1764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吉林大学 计算机学院 学硕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94793" y="461819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 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55494" y="461819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8920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0555" y="5018246"/>
              <a:ext cx="1764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吉林大学 计算机学院 专硕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94793" y="501824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 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55494" y="501824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292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529685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555" y="5418296"/>
              <a:ext cx="2097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吉林大学 软件学院 学硕 / 专硕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94793" y="541829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 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55494" y="541829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6921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5818346"/>
              <a:ext cx="1701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北理工、大连理工等 4 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53330" y="581834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14031" y="581834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2896552"/>
              <a:ext cx="5626418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3116580" y="2896552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635818" y="2896552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447" y="616981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源课件所列数据，报考前以当年简章为准</a:t>
              </a:r>
            </a:p>
          </p:txBody>
        </p:sp>
      </p:grpSp>
      <p:grpSp>
        <p:nvGrpSpPr>
          <p:cNvPr id="90" name="c2-table-1"/>
          <p:cNvGrpSpPr/>
          <p:nvPr/>
        </p:nvGrpSpPr>
        <p:grpSpPr>
          <a:xfrm>
            <a:off x="6459665" y="1524000"/>
            <a:ext cx="5198935" cy="2663856"/>
            <a:chOff x="6459665" y="1524000"/>
            <a:chExt cx="5198935" cy="2663856"/>
          </a:xfrm>
        </p:grpSpPr>
        <p:sp>
          <p:nvSpPr>
            <p:cNvPr id="53" name="Rectangle 53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1200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81087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报名（万人）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13659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录取（万人）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6665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录取率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88631" y="20454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09021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83057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870423" y="20454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34.5%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88631" y="24455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09021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83057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70423" y="244554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31.9%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88631" y="28455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109021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83057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870423" y="28455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29.0%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464618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88631" y="32456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109021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641594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870423" y="324564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26.3%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464618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788631" y="36456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109021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41594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547985" y="3533775"/>
              <a:ext cx="110109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870423" y="36456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26.4%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464618" y="1524000"/>
              <a:ext cx="519398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746760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00112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053369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459665" y="3997166"/>
              <a:ext cx="49637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报名人数 9 年涨到 2.87 倍，录取人数只涨到 2.19 倍，录取率从 34.5% 降到 26.4%</a:t>
              </a:r>
            </a:p>
          </p:txBody>
        </p:sp>
      </p:grpSp>
      <p:grpSp>
        <p:nvGrpSpPr>
          <p:cNvPr id="96" name="c2-bullets-2"/>
          <p:cNvGrpSpPr/>
          <p:nvPr/>
        </p:nvGrpSpPr>
        <p:grpSpPr>
          <a:xfrm>
            <a:off x="6457760" y="4342448"/>
            <a:ext cx="4619243" cy="888873"/>
            <a:chOff x="6457760" y="4342448"/>
            <a:chExt cx="4619243" cy="888873"/>
          </a:xfrm>
        </p:grpSpPr>
        <p:sp>
          <p:nvSpPr>
            <p:cNvPr id="91" name="TextBox 91"/>
            <p:cNvSpPr txBox="1"/>
            <p:nvPr/>
          </p:nvSpPr>
          <p:spPr>
            <a:xfrm>
              <a:off x="6457760" y="434244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除了初试，还有这些地方要考</a:t>
              </a:r>
            </a:p>
          </p:txBody>
        </p:sp>
        <p:sp>
          <p:nvSpPr>
            <p:cNvPr id="92" name="Freeform 92"/>
            <p:cNvSpPr/>
            <p:nvPr/>
          </p:nvSpPr>
          <p:spPr>
            <a:xfrm>
              <a:off x="6464618" y="468725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701599" y="465867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考研复试、保研夏令营、保研预推免几乎都含编程机试</a:t>
              </a:r>
            </a:p>
          </p:txBody>
        </p:sp>
        <p:sp>
          <p:nvSpPr>
            <p:cNvPr id="94" name="Freeform 94"/>
            <p:cNvSpPr/>
            <p:nvPr/>
          </p:nvSpPr>
          <p:spPr>
            <a:xfrm>
              <a:off x="6464618" y="499586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01599" y="496728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各大公司的笔试面试题中数据结构占很大比重</a:t>
              </a:r>
            </a:p>
          </p:txBody>
        </p:sp>
      </p:grpSp>
      <p:grpSp>
        <p:nvGrpSpPr>
          <p:cNvPr id="103" name="c2-callout-3"/>
          <p:cNvGrpSpPr/>
          <p:nvPr/>
        </p:nvGrpSpPr>
        <p:grpSpPr>
          <a:xfrm>
            <a:off x="6464618" y="5348288"/>
            <a:ext cx="5193982" cy="973455"/>
            <a:chOff x="6464618" y="5348288"/>
            <a:chExt cx="5193982" cy="973455"/>
          </a:xfrm>
        </p:grpSpPr>
        <p:sp>
          <p:nvSpPr>
            <p:cNvPr id="97" name="Rectangle 97"/>
            <p:cNvSpPr/>
            <p:nvPr/>
          </p:nvSpPr>
          <p:spPr>
            <a:xfrm>
              <a:off x="6464618" y="5348288"/>
              <a:ext cx="5193982" cy="973455"/>
            </a:xfrm>
            <a:prstGeom prst="roundRect">
              <a:avLst>
                <a:gd name="adj" fmla="val 117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6669405" y="5735003"/>
              <a:ext cx="200026" cy="200025"/>
              <a:chOff x="6669405" y="5735003"/>
              <a:chExt cx="200026" cy="200025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6669405" y="57350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6709144" y="57794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743859" y="58905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6972110" y="5616892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这门课的知识要用四年，考试只是其中一次检查。学的时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候按“能自己写出来”的标准要求自己。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先说清楚这门课要处理的对象到底是什么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数据的含义与分类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数据元素与数据项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一张表格里的三个层次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1922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661" y="407194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数据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数据、数据元素、数据项：一张表格里的三层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760595" cy="1926908"/>
            <a:chOff x="533400" y="1524000"/>
            <a:chExt cx="4760595" cy="1926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26908"/>
            </a:xfrm>
            <a:prstGeom prst="roundRect">
              <a:avLst>
                <a:gd name="adj" fmla="val 6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020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1058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数据（Data）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计算机程序处理的对象统称为数据。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34648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简单数据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：整数、实数、字符串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6841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6312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复杂数据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：图像、音频、视频、计算机程序本身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7141" y="2912745"/>
              <a:ext cx="40111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数据由多个数据元素组成；数据元素又由描述它属性的多个数据项组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成。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6923" y="3637121"/>
            <a:ext cx="4767072" cy="622744"/>
            <a:chOff x="526923" y="3637121"/>
            <a:chExt cx="4767072" cy="622744"/>
          </a:xfrm>
        </p:grpSpPr>
        <p:sp>
          <p:nvSpPr>
            <p:cNvPr id="19" name="TextBox 19"/>
            <p:cNvSpPr txBox="1"/>
            <p:nvPr/>
          </p:nvSpPr>
          <p:spPr>
            <a:xfrm>
              <a:off x="526923" y="36371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数据元素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51800" y="363712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又称数据成分、结点、顶点、记录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090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923" y="40105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51800" y="401050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又称域、字段、属性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5593842" y="1524000"/>
            <a:ext cx="6064758" cy="2552414"/>
            <a:chOff x="5593842" y="1524000"/>
            <a:chExt cx="6064758" cy="2552414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36730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登录号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561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书号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0959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书名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63358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1158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出版社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902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价格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03865" y="202311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80530" y="202311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TP2233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0836" y="2023110"/>
              <a:ext cx="1775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NT4.0 中文版教程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62910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赵健雅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40912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电子工业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64538" y="2023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28.00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98795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598795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03865" y="240411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80530" y="240411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TP1844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50836" y="2404110"/>
              <a:ext cx="14234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Authorware 5.1 速成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33585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孙强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40912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人民邮电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164538" y="2404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40.00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608320" y="2677478"/>
              <a:ext cx="88963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03865" y="2785110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517958" y="2677478"/>
              <a:ext cx="82962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80530" y="278511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TP1684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65682" y="2677478"/>
              <a:ext cx="198024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50836" y="2785110"/>
              <a:ext cx="17307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Lotus Notes 网络办公平台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365932" y="2677478"/>
              <a:ext cx="82962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562910" y="2785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赵丽萍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213658" y="2677478"/>
              <a:ext cx="82962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40912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清华大学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1062335" y="2677478"/>
              <a:ext cx="58674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164538" y="2785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16.00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598795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03865" y="3167062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000004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80530" y="3167062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TP2143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50836" y="3167062"/>
              <a:ext cx="1587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Access 2000 入门与提高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33585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张湛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40912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清华大学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164538" y="316706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22.00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598795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803865" y="3548062"/>
              <a:ext cx="500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000010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62674" y="354806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TP42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50836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633585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江涛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40912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中央电大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64538" y="354806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18.80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598795" y="1524000"/>
              <a:ext cx="605980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50367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5139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935164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19937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104804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593842" y="3885724"/>
              <a:ext cx="28925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个人图书数据（源课件第 44 页，此处摘录 5 行）</a:t>
              </a:r>
            </a:p>
          </p:txBody>
        </p:sp>
      </p:grpSp>
      <p:grpSp>
        <p:nvGrpSpPr>
          <p:cNvPr id="91" name="c2-card-2"/>
          <p:cNvGrpSpPr/>
          <p:nvPr/>
        </p:nvGrpSpPr>
        <p:grpSpPr>
          <a:xfrm>
            <a:off x="5598795" y="4202430"/>
            <a:ext cx="6059805" cy="1471612"/>
            <a:chOff x="5598795" y="4202430"/>
            <a:chExt cx="6059805" cy="1471612"/>
          </a:xfrm>
        </p:grpSpPr>
        <p:sp>
          <p:nvSpPr>
            <p:cNvPr id="82" name="Rectangle 82"/>
            <p:cNvSpPr/>
            <p:nvPr/>
          </p:nvSpPr>
          <p:spPr>
            <a:xfrm>
              <a:off x="5598795" y="4202430"/>
              <a:ext cx="6059805" cy="1471612"/>
            </a:xfrm>
            <a:prstGeom prst="roundRect">
              <a:avLst>
                <a:gd name="adj" fmla="val 906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779770" y="438340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865292" y="441626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对应关系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5789295" y="477583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944743" y="4723924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整张表 = 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5789295" y="50615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944743" y="5008721"/>
              <a:ext cx="3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表中的一行（高亮的那一行）= 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数据元素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5789295" y="53463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944743" y="5293519"/>
              <a:ext cx="2838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表中的一列（书名、作者…）= </a:t>
              </a: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数据项</a:t>
              </a:r>
            </a:p>
          </p:txBody>
        </p:sp>
      </p:grpSp>
      <p:grpSp>
        <p:nvGrpSpPr>
          <p:cNvPr id="9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2" name="Rectangle 9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数据项是不再拆分的最小单位，数据元素才是这门课里插入、删除、查找、排序的对象。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结构（一）数据的逻辑结构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只看数据元素之间的关系，不管它们在内存里放在哪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前驱与后继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四类逻辑结构的划分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四个例子的完整判定过程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结构（一）数据的逻辑结构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逻辑结构只回答一个问题：谁是谁的前驱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1490662"/>
            <a:chOff x="533400" y="1524000"/>
            <a:chExt cx="5842635" cy="14906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数据的逻辑结构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数据由多个数据元素组成，数据的逻辑结构讨论的是数据元素之间的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逻辑关系。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646521"/>
              <a:ext cx="3660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刻画这种关系的办法是引入“前驱”与“后继”两个概念。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189922"/>
            <a:ext cx="5842635" cy="1557338"/>
            <a:chOff x="533400" y="3189922"/>
            <a:chExt cx="5842635" cy="1557338"/>
          </a:xfrm>
        </p:grpSpPr>
        <p:sp>
          <p:nvSpPr>
            <p:cNvPr id="15" name="Rectangle 15"/>
            <p:cNvSpPr/>
            <p:nvPr/>
          </p:nvSpPr>
          <p:spPr>
            <a:xfrm>
              <a:off x="533400" y="3189922"/>
              <a:ext cx="5842635" cy="1557338"/>
            </a:xfrm>
            <a:prstGeom prst="roundRect">
              <a:avLst>
                <a:gd name="adj" fmla="val 85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338232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244" y="34166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画法约定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4378" y="379476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0397" y="373856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（也叫顶点）表示一个数据元素，画成圆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34378" y="409765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0397" y="4041458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</a:t>
              </a: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箭头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表示前驱 / 后继关系，箭头从前驱指向后继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34378" y="439959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0397" y="4343400"/>
              <a:ext cx="4090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图中有 A → B，就说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 是 B 的前驱，B 是 A 的后继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921568"/>
            <a:ext cx="5842635" cy="1285875"/>
            <a:chOff x="533400" y="4921568"/>
            <a:chExt cx="5842635" cy="1285875"/>
          </a:xfrm>
        </p:grpSpPr>
        <p:sp>
          <p:nvSpPr>
            <p:cNvPr id="25" name="Rectangle 25"/>
            <p:cNvSpPr/>
            <p:nvPr/>
          </p:nvSpPr>
          <p:spPr>
            <a:xfrm>
              <a:off x="533400" y="4921568"/>
              <a:ext cx="5842635" cy="1285875"/>
            </a:xfrm>
            <a:prstGeom prst="roundRect">
              <a:avLst>
                <a:gd name="adj" fmla="val 103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054918"/>
              <a:ext cx="47625" cy="10191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511397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7344" y="51482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术语更正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5471160"/>
              <a:ext cx="51057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48、49 页写作“前趋结点”，第 52 页写作“节点”。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规范写法是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前驱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，本讲义统一使用。</a:t>
              </a:r>
            </a:p>
          </p:txBody>
        </p:sp>
      </p:grpSp>
      <p:grpSp>
        <p:nvGrpSpPr>
          <p:cNvPr id="41" name="c2-graph-1"/>
          <p:cNvGrpSpPr/>
          <p:nvPr/>
        </p:nvGrpSpPr>
        <p:grpSpPr>
          <a:xfrm>
            <a:off x="7678102" y="1592580"/>
            <a:ext cx="2834640" cy="937260"/>
            <a:chOff x="7678102" y="1592580"/>
            <a:chExt cx="2834640" cy="937260"/>
          </a:xfrm>
        </p:grpSpPr>
        <p:sp>
          <p:nvSpPr>
            <p:cNvPr id="31" name="Freeform 31"/>
            <p:cNvSpPr/>
            <p:nvPr/>
          </p:nvSpPr>
          <p:spPr>
            <a:xfrm>
              <a:off x="8182928" y="2282190"/>
              <a:ext cx="1729740" cy="9525"/>
            </a:xfrm>
            <a:custGeom>
              <a:avLst/>
              <a:gdLst/>
              <a:ahLst/>
              <a:cxnLst/>
              <a:rect l="l" t="t" r="r" b="b"/>
              <a:pathLst>
                <a:path w="1729740" h="9525">
                  <a:moveTo>
                    <a:pt x="0" y="0"/>
                  </a:moveTo>
                  <a:lnTo>
                    <a:pt x="17297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912668" y="22345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678102" y="203454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017442" y="203454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74037" y="22121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13377" y="22121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731568" y="2196465"/>
              <a:ext cx="72771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39530" y="2228850"/>
              <a:ext cx="7117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的后继是 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79068" y="15925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前驱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18408" y="15925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后继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680835" y="3215640"/>
            <a:ext cx="4977765" cy="1838325"/>
            <a:chOff x="6680835" y="3215640"/>
            <a:chExt cx="4977765" cy="1838325"/>
          </a:xfrm>
        </p:grpSpPr>
        <p:sp>
          <p:nvSpPr>
            <p:cNvPr id="42" name="Rectangle 42"/>
            <p:cNvSpPr/>
            <p:nvPr/>
          </p:nvSpPr>
          <p:spPr>
            <a:xfrm>
              <a:off x="6680835" y="3215640"/>
              <a:ext cx="4977765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90360" y="3348990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11340" y="340804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06781" y="34423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1682" y="34480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读一句话，画一张图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4482" y="3782377"/>
              <a:ext cx="3666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“在排队买饭的队伍里，张三站在李四前面。”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19912" y="414051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5932" y="408432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数据元素：张三、李四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919912" y="44434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075932" y="4387215"/>
              <a:ext cx="313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关系：张三 → 李四，张三是李四的前驱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05625" y="4685824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逻辑结构不关心两人实际站在食堂哪个位置，只关心先后顺序。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680835" y="5229225"/>
            <a:ext cx="4977765" cy="978218"/>
            <a:chOff x="6680835" y="5229225"/>
            <a:chExt cx="4977765" cy="978218"/>
          </a:xfrm>
        </p:grpSpPr>
        <p:sp>
          <p:nvSpPr>
            <p:cNvPr id="54" name="Rectangle 54"/>
            <p:cNvSpPr/>
            <p:nvPr/>
          </p:nvSpPr>
          <p:spPr>
            <a:xfrm>
              <a:off x="6680835" y="5229225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885623" y="5618798"/>
              <a:ext cx="200026" cy="200025"/>
              <a:chOff x="6885623" y="561879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885623" y="56187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925361" y="56632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960077" y="57743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188327" y="5374958"/>
              <a:ext cx="39570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同一批数据元素配上不同的前驱后继关系，就是不同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的逻辑结构，后面四个例子用的都是同一个结点集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结构（一）数据的逻辑结构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按前驱、后继的个数，逻辑结构分成四类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533400" y="1699260"/>
            <a:ext cx="4544378" cy="2900362"/>
            <a:chOff x="533400" y="1699260"/>
            <a:chExt cx="4544378" cy="2900362"/>
          </a:xfrm>
        </p:grpSpPr>
        <p:sp>
          <p:nvSpPr>
            <p:cNvPr id="7" name="Freeform 7"/>
            <p:cNvSpPr/>
            <p:nvPr/>
          </p:nvSpPr>
          <p:spPr>
            <a:xfrm>
              <a:off x="3192780" y="2773680"/>
              <a:ext cx="419100" cy="832485"/>
            </a:xfrm>
            <a:custGeom>
              <a:avLst/>
              <a:gdLst/>
              <a:ahLst/>
              <a:cxnLst/>
              <a:rect l="l" t="t" r="r" b="b"/>
              <a:pathLst>
                <a:path w="419100" h="832485">
                  <a:moveTo>
                    <a:pt x="0" y="832485"/>
                  </a:moveTo>
                  <a:lnTo>
                    <a:pt x="209550" y="8324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92780" y="360616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192780" y="3606165"/>
              <a:ext cx="419100" cy="833438"/>
            </a:xfrm>
            <a:custGeom>
              <a:avLst/>
              <a:gdLst/>
              <a:ahLst/>
              <a:cxnLst/>
              <a:rect l="l" t="t" r="r" b="b"/>
              <a:pathLst>
                <a:path w="419100" h="833438">
                  <a:moveTo>
                    <a:pt x="0" y="0"/>
                  </a:moveTo>
                  <a:lnTo>
                    <a:pt x="209550" y="0"/>
                  </a:lnTo>
                  <a:lnTo>
                    <a:pt x="209550" y="833438"/>
                  </a:lnTo>
                  <a:lnTo>
                    <a:pt x="419100" y="8334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08735" y="1940242"/>
              <a:ext cx="419100" cy="833438"/>
            </a:xfrm>
            <a:custGeom>
              <a:avLst/>
              <a:gdLst/>
              <a:ahLst/>
              <a:cxnLst/>
              <a:rect l="l" t="t" r="r" b="b"/>
              <a:pathLst>
                <a:path w="419100" h="833438">
                  <a:moveTo>
                    <a:pt x="0" y="833438"/>
                  </a:moveTo>
                  <a:lnTo>
                    <a:pt x="209550" y="8334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08735" y="2773680"/>
              <a:ext cx="419100" cy="832485"/>
            </a:xfrm>
            <a:custGeom>
              <a:avLst/>
              <a:gdLst/>
              <a:ahLst/>
              <a:cxnLst/>
              <a:rect l="l" t="t" r="r" b="b"/>
              <a:pathLst>
                <a:path w="419100" h="832485">
                  <a:moveTo>
                    <a:pt x="0" y="0"/>
                  </a:moveTo>
                  <a:lnTo>
                    <a:pt x="209550" y="0"/>
                  </a:lnTo>
                  <a:lnTo>
                    <a:pt x="209550" y="832485"/>
                  </a:lnTo>
                  <a:lnTo>
                    <a:pt x="419100" y="8324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727835" y="1699260"/>
              <a:ext cx="1465898" cy="481965"/>
            </a:xfrm>
            <a:prstGeom prst="roundRect">
              <a:avLst>
                <a:gd name="adj" fmla="val 1976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611880" y="2532698"/>
              <a:ext cx="1465898" cy="481965"/>
            </a:xfrm>
            <a:prstGeom prst="roundRect">
              <a:avLst>
                <a:gd name="adj" fmla="val 1976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611880" y="3365182"/>
              <a:ext cx="1465898" cy="481965"/>
            </a:xfrm>
            <a:prstGeom prst="roundRect">
              <a:avLst>
                <a:gd name="adj" fmla="val 1976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11880" y="4278630"/>
              <a:ext cx="1465898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727835" y="3446145"/>
              <a:ext cx="1465898" cy="320992"/>
            </a:xfrm>
            <a:prstGeom prst="roundRect">
              <a:avLst>
                <a:gd name="adj" fmla="val 29674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12708"/>
              <a:ext cx="775335" cy="320992"/>
            </a:xfrm>
            <a:prstGeom prst="roundRect">
              <a:avLst>
                <a:gd name="adj" fmla="val 296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18132" y="1792129"/>
              <a:ext cx="63220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线性结构</a:t>
              </a:r>
              <a:br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（线性表）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02177" y="2624614"/>
              <a:ext cx="63220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层次结构</a:t>
              </a:r>
              <a:br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（树结构）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02177" y="3458051"/>
              <a:ext cx="63220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网状结构</a:t>
              </a:r>
              <a:br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（图结构）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2177" y="43714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18132" y="353806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非线性结构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3697" y="27055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逻辑结构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5020628"/>
            <a:ext cx="4544378" cy="702945"/>
            <a:chOff x="533400" y="5020628"/>
            <a:chExt cx="4544378" cy="702945"/>
          </a:xfrm>
        </p:grpSpPr>
        <p:sp>
          <p:nvSpPr>
            <p:cNvPr id="25" name="Rectangle 25"/>
            <p:cNvSpPr/>
            <p:nvPr/>
          </p:nvSpPr>
          <p:spPr>
            <a:xfrm>
              <a:off x="533400" y="5020628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272090"/>
              <a:ext cx="200023" cy="200023"/>
              <a:chOff x="738188" y="5272090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2720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3387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1273" y="5165884"/>
              <a:ext cx="3426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判别的办法固定：对每个结点数一数它有几个前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驱、几个后继，再对照下表。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382578" y="1524000"/>
            <a:ext cx="6276022" cy="2466975"/>
            <a:chOff x="5382578" y="1524000"/>
            <a:chExt cx="6276022" cy="2466975"/>
          </a:xfrm>
        </p:grpSpPr>
        <p:sp>
          <p:nvSpPr>
            <p:cNvPr id="31" name="Rectangle 31"/>
            <p:cNvSpPr/>
            <p:nvPr/>
          </p:nvSpPr>
          <p:spPr>
            <a:xfrm>
              <a:off x="5382578" y="1524000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6359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43332" y="1641157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每个结点的前驱个数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37829" y="1641157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每个结点的后继个数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5427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典型代表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77256" y="211645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线性结构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32651" y="2023110"/>
              <a:ext cx="136417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始结点 0 个，其余都是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27148" y="2023110"/>
              <a:ext cx="136417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终结点 0 个，其余都是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21646" y="211645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数组、链表、栈、队列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82578" y="24688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82578" y="2473642"/>
              <a:ext cx="627602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77256" y="268414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层次结构（树）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2651" y="2590800"/>
              <a:ext cx="136417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 0 个，其余都是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27148" y="2684145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个或多个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21646" y="268414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二叉树、查找树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82578" y="303657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77256" y="315849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网状结构（图）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32651" y="31584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任意多个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27148" y="31584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任意多个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21646" y="315849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地图、社交网络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34185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82578" y="3423285"/>
              <a:ext cx="6276022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77256" y="36337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32651" y="363378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个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27148" y="3633788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个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21646" y="3540443"/>
              <a:ext cx="135750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只强调“属于同一批”的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一堆元素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82578" y="1524000"/>
              <a:ext cx="6276022" cy="2466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33210" y="1524000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327708" y="1524000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022205" y="1524000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rd-2"/>
          <p:cNvGrpSpPr/>
          <p:nvPr/>
        </p:nvGrpSpPr>
        <p:grpSpPr>
          <a:xfrm>
            <a:off x="5382578" y="4155758"/>
            <a:ext cx="6276022" cy="1428750"/>
            <a:chOff x="5382578" y="4155758"/>
            <a:chExt cx="6276022" cy="1428750"/>
          </a:xfrm>
        </p:grpSpPr>
        <p:sp>
          <p:nvSpPr>
            <p:cNvPr id="62" name="Rectangle 62"/>
            <p:cNvSpPr/>
            <p:nvPr/>
          </p:nvSpPr>
          <p:spPr>
            <a:xfrm>
              <a:off x="5382578" y="4155758"/>
              <a:ext cx="6276022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92102" y="4289108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601652" y="433673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87174" y="43695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两条定义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611178" y="47291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766626" y="4677251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线性结构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：有且仅有一个始结点和一个终结点；始结点只有一个后继，终结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点只有一个前驱，内结点各有一个前驱和一个后继。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611178" y="52568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766626" y="5204936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非线性结构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：结点可能有 0 个或多个前驱、后继。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1273" y="6039326"/>
              <a:ext cx="84477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集合被归在非线性结构里，因为它的结点前驱后继个数都是 0，不满足线性结构“有且仅有一个始结点”的要求。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31161" cy="909257"/>
            <a:chOff x="520446" y="342900"/>
            <a:chExt cx="61311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结构（一）数据的逻辑结构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311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例1 与 例4：线性结构和集合是两个极端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96990" cy="308039"/>
            <a:chOff x="525399" y="1550194"/>
            <a:chExt cx="6396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96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两例用同一个结点集合，只是关系不同，得到的逻辑结构完全不同。</a:t>
              </a:r>
            </a:p>
          </p:txBody>
        </p:sp>
      </p:grpSp>
      <p:grpSp>
        <p:nvGrpSpPr>
          <p:cNvPr id="27" name="c1-graph-1"/>
          <p:cNvGrpSpPr/>
          <p:nvPr/>
        </p:nvGrpSpPr>
        <p:grpSpPr>
          <a:xfrm>
            <a:off x="765810" y="2339340"/>
            <a:ext cx="4945380" cy="400050"/>
            <a:chOff x="765810" y="2339340"/>
            <a:chExt cx="4945380" cy="400050"/>
          </a:xfrm>
        </p:grpSpPr>
        <p:sp>
          <p:nvSpPr>
            <p:cNvPr id="9" name="Freeform 9"/>
            <p:cNvSpPr/>
            <p:nvPr/>
          </p:nvSpPr>
          <p:spPr>
            <a:xfrm>
              <a:off x="1175385" y="2539365"/>
              <a:ext cx="621982" cy="9525"/>
            </a:xfrm>
            <a:custGeom>
              <a:avLst/>
              <a:gdLst/>
              <a:ahLst/>
              <a:cxnLst/>
              <a:rect l="l" t="t" r="r" b="b"/>
              <a:pathLst>
                <a:path w="621982" h="9525">
                  <a:moveTo>
                    <a:pt x="0" y="0"/>
                  </a:moveTo>
                  <a:lnTo>
                    <a:pt x="6219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97368" y="24917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11718" y="2539365"/>
              <a:ext cx="621983" cy="9525"/>
            </a:xfrm>
            <a:custGeom>
              <a:avLst/>
              <a:gdLst/>
              <a:ahLst/>
              <a:cxnLst/>
              <a:rect l="l" t="t" r="r" b="b"/>
              <a:pathLst>
                <a:path w="621983" h="9525">
                  <a:moveTo>
                    <a:pt x="0" y="0"/>
                  </a:moveTo>
                  <a:lnTo>
                    <a:pt x="6219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33700" y="24917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448050" y="2539365"/>
              <a:ext cx="621983" cy="9525"/>
            </a:xfrm>
            <a:custGeom>
              <a:avLst/>
              <a:gdLst/>
              <a:ahLst/>
              <a:cxnLst/>
              <a:rect l="l" t="t" r="r" b="b"/>
              <a:pathLst>
                <a:path w="621983" h="9525">
                  <a:moveTo>
                    <a:pt x="0" y="0"/>
                  </a:moveTo>
                  <a:lnTo>
                    <a:pt x="6219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070032" y="24917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584382" y="2539365"/>
              <a:ext cx="621983" cy="9525"/>
            </a:xfrm>
            <a:custGeom>
              <a:avLst/>
              <a:gdLst/>
              <a:ahLst/>
              <a:cxnLst/>
              <a:rect l="l" t="t" r="r" b="b"/>
              <a:pathLst>
                <a:path w="621983" h="9525">
                  <a:moveTo>
                    <a:pt x="0" y="0"/>
                  </a:moveTo>
                  <a:lnTo>
                    <a:pt x="6219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06365" y="24917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65810" y="233934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902142" y="233934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038475" y="233934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174808" y="233934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311140" y="233934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3093" y="2464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49426" y="2464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85758" y="2464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22091" y="2464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58423" y="2464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301365"/>
            <a:ext cx="5410200" cy="2016442"/>
            <a:chOff x="533400" y="3301365"/>
            <a:chExt cx="5410200" cy="2016442"/>
          </a:xfrm>
        </p:grpSpPr>
        <p:sp>
          <p:nvSpPr>
            <p:cNvPr id="28" name="Rectangle 28"/>
            <p:cNvSpPr/>
            <p:nvPr/>
          </p:nvSpPr>
          <p:spPr>
            <a:xfrm>
              <a:off x="533400" y="3301365"/>
              <a:ext cx="5410200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3434715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351091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3582" y="354663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2070" y="3546158"/>
              <a:ext cx="29404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线性结构，N = {a, b, c, d, e}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6765" y="39700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880" y="3907155"/>
              <a:ext cx="3387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始结点 a：前驱 0 个，后继 1 个（b）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6765" y="43053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4880" y="4242435"/>
              <a:ext cx="3387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终结点 e：前驱 1 个（d），后继 0 个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6765" y="46405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4880" y="4577715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内结点 b、c、d：前驱后继各 1 个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4573" y="490870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逐条对上线性结构的定义，判定为线性结构。</a:t>
              </a:r>
            </a:p>
          </p:txBody>
        </p:sp>
      </p:grpSp>
      <p:grpSp>
        <p:nvGrpSpPr>
          <p:cNvPr id="51" name="c2-graph-1"/>
          <p:cNvGrpSpPr/>
          <p:nvPr/>
        </p:nvGrpSpPr>
        <p:grpSpPr>
          <a:xfrm>
            <a:off x="6697980" y="2019300"/>
            <a:ext cx="4511040" cy="1062990"/>
            <a:chOff x="6697980" y="2019300"/>
            <a:chExt cx="4511040" cy="1062990"/>
          </a:xfrm>
        </p:grpSpPr>
        <p:sp>
          <p:nvSpPr>
            <p:cNvPr id="41" name="Ellipse 41"/>
            <p:cNvSpPr/>
            <p:nvPr/>
          </p:nvSpPr>
          <p:spPr>
            <a:xfrm>
              <a:off x="6697980" y="211074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753475" y="201930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808970" y="213360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726930" y="265938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455218" y="268224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42623" y="22355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8118" y="214407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53613" y="225837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71573" y="278415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99860" y="28070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248400" y="3301365"/>
            <a:ext cx="5410200" cy="2016442"/>
            <a:chOff x="6248400" y="3301365"/>
            <a:chExt cx="5410200" cy="2016442"/>
          </a:xfrm>
        </p:grpSpPr>
        <p:sp>
          <p:nvSpPr>
            <p:cNvPr id="52" name="Rectangle 52"/>
            <p:cNvSpPr/>
            <p:nvPr/>
          </p:nvSpPr>
          <p:spPr>
            <a:xfrm>
              <a:off x="6248400" y="3301365"/>
              <a:ext cx="5410200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3434715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96050" y="3510915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88582" y="3546634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37070" y="3546158"/>
              <a:ext cx="30299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集合结构，N = {A, B, C, D, E}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01765" y="39700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9880" y="39071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五个结点之间一条箭头都没有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501765" y="43053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59880" y="424243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每个结点的前驱、后继个数都是 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89573" y="4573429"/>
              <a:ext cx="4682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集合只表达“这五个元素属于同一批”，不表达任何先后关系。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3" name="Rectangle 6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易错：只有 1 个结点时，它既是始结点又是终结点，前驱后继都为 0，按定义两类都能套上。教材通常约定空表和单结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点表仍算线性表。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7906" cy="909257"/>
            <a:chOff x="520446" y="342900"/>
            <a:chExt cx="7197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结构（一）数据的逻辑结构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7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例2 层次结构：根没有前驱，其余各有一个前驱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911542" y="1967865"/>
            <a:ext cx="4870133" cy="2884170"/>
            <a:chOff x="911542" y="1967865"/>
            <a:chExt cx="4870133" cy="2884170"/>
          </a:xfrm>
        </p:grpSpPr>
        <p:sp>
          <p:nvSpPr>
            <p:cNvPr id="7" name="Freeform 7"/>
            <p:cNvSpPr/>
            <p:nvPr/>
          </p:nvSpPr>
          <p:spPr>
            <a:xfrm>
              <a:off x="3065145" y="3409950"/>
              <a:ext cx="281940" cy="1257300"/>
            </a:xfrm>
            <a:custGeom>
              <a:avLst/>
              <a:gdLst/>
              <a:ahLst/>
              <a:cxnLst/>
              <a:rect l="l" t="t" r="r" b="b"/>
              <a:pathLst>
                <a:path w="281940" h="1257300">
                  <a:moveTo>
                    <a:pt x="281940" y="0"/>
                  </a:moveTo>
                  <a:lnTo>
                    <a:pt x="0" y="1257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47085" y="3409950"/>
              <a:ext cx="280988" cy="1257300"/>
            </a:xfrm>
            <a:custGeom>
              <a:avLst/>
              <a:gdLst/>
              <a:ahLst/>
              <a:cxnLst/>
              <a:rect l="l" t="t" r="r" b="b"/>
              <a:pathLst>
                <a:path w="280988" h="1257300">
                  <a:moveTo>
                    <a:pt x="0" y="0"/>
                  </a:moveTo>
                  <a:lnTo>
                    <a:pt x="280988" y="1257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596890" y="340995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96328" y="2152650"/>
              <a:ext cx="2250758" cy="1257300"/>
            </a:xfrm>
            <a:custGeom>
              <a:avLst/>
              <a:gdLst/>
              <a:ahLst/>
              <a:cxnLst/>
              <a:rect l="l" t="t" r="r" b="b"/>
              <a:pathLst>
                <a:path w="2250758" h="1257300">
                  <a:moveTo>
                    <a:pt x="2250758" y="0"/>
                  </a:moveTo>
                  <a:lnTo>
                    <a:pt x="0" y="1257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21230" y="2152650"/>
              <a:ext cx="1125855" cy="1257300"/>
            </a:xfrm>
            <a:custGeom>
              <a:avLst/>
              <a:gdLst/>
              <a:ahLst/>
              <a:cxnLst/>
              <a:rect l="l" t="t" r="r" b="b"/>
              <a:pathLst>
                <a:path w="1125855" h="1257300">
                  <a:moveTo>
                    <a:pt x="1125855" y="0"/>
                  </a:moveTo>
                  <a:lnTo>
                    <a:pt x="0" y="1257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47085" y="215265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47085" y="2152650"/>
              <a:ext cx="1124903" cy="1257300"/>
            </a:xfrm>
            <a:custGeom>
              <a:avLst/>
              <a:gdLst/>
              <a:ahLst/>
              <a:cxnLst/>
              <a:rect l="l" t="t" r="r" b="b"/>
              <a:pathLst>
                <a:path w="1124903" h="1257300">
                  <a:moveTo>
                    <a:pt x="0" y="0"/>
                  </a:moveTo>
                  <a:lnTo>
                    <a:pt x="1124903" y="1257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47085" y="2152650"/>
              <a:ext cx="2249805" cy="1257300"/>
            </a:xfrm>
            <a:custGeom>
              <a:avLst/>
              <a:gdLst/>
              <a:ahLst/>
              <a:cxnLst/>
              <a:rect l="l" t="t" r="r" b="b"/>
              <a:pathLst>
                <a:path w="2249805" h="1257300">
                  <a:moveTo>
                    <a:pt x="0" y="0"/>
                  </a:moveTo>
                  <a:lnTo>
                    <a:pt x="2249805" y="12573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11542" y="32251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036445" y="32251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880360" y="44824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443288" y="44824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162300" y="32251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287202" y="32251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412105" y="44824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412105" y="32251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62300" y="196786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363" y="33442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34266" y="33442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78181" y="46015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41108" y="46015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60121" y="33442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85023" y="33442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09926" y="46015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09926" y="33442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60121" y="20869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</p:grpSp>
      <p:grpSp>
        <p:nvGrpSpPr>
          <p:cNvPr id="35" name="c1-text-2"/>
          <p:cNvGrpSpPr/>
          <p:nvPr/>
        </p:nvGrpSpPr>
        <p:grpSpPr>
          <a:xfrm>
            <a:off x="2313508" y="5484019"/>
            <a:ext cx="2067154" cy="220028"/>
            <a:chOff x="2313508" y="5484019"/>
            <a:chExt cx="2067154" cy="220028"/>
          </a:xfrm>
        </p:grpSpPr>
        <p:sp>
          <p:nvSpPr>
            <p:cNvPr id="34" name="TextBox 34"/>
            <p:cNvSpPr txBox="1"/>
            <p:nvPr/>
          </p:nvSpPr>
          <p:spPr>
            <a:xfrm>
              <a:off x="2313508" y="5484019"/>
              <a:ext cx="2067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结点集合 N = {k₁, k₂, …, k₉}</a:t>
              </a:r>
            </a:p>
          </p:txBody>
        </p:sp>
      </p:grpSp>
      <p:grpSp>
        <p:nvGrpSpPr>
          <p:cNvPr id="71" name="c2-table-1"/>
          <p:cNvGrpSpPr/>
          <p:nvPr/>
        </p:nvGrpSpPr>
        <p:grpSpPr>
          <a:xfrm>
            <a:off x="6464618" y="1524000"/>
            <a:ext cx="5193982" cy="2400300"/>
            <a:chOff x="6464618" y="1524000"/>
            <a:chExt cx="5193982" cy="2400300"/>
          </a:xfrm>
        </p:grpSpPr>
        <p:sp>
          <p:nvSpPr>
            <p:cNvPr id="36" name="Rectangle 36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234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49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前驱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5703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2296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1772" y="20454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93305" y="20454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23885" y="2045494"/>
              <a:ext cx="1021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 k₃ k₄ k₇ k₈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97465" y="2045494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根，5 个后继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1772" y="24455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93305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23885" y="2445544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k₅ k₆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97465" y="24455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个后继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1772" y="28455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93305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23885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197465" y="284559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个后继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4618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1772" y="3245644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k₂ k₃ k₇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93305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23885" y="32456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197465" y="32456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64618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1772" y="3645694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k₅ k₆ k₉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93305" y="3645694"/>
              <a:ext cx="584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k₄ 或 k₈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23885" y="36456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97465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64618" y="1524000"/>
              <a:ext cx="519398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29138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12196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009554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rd-2"/>
          <p:cNvGrpSpPr/>
          <p:nvPr/>
        </p:nvGrpSpPr>
        <p:grpSpPr>
          <a:xfrm>
            <a:off x="6464618" y="4093845"/>
            <a:ext cx="5193982" cy="1565910"/>
            <a:chOff x="6464618" y="4093845"/>
            <a:chExt cx="5193982" cy="1565910"/>
          </a:xfrm>
        </p:grpSpPr>
        <p:sp>
          <p:nvSpPr>
            <p:cNvPr id="72" name="Rectangle 72"/>
            <p:cNvSpPr/>
            <p:nvPr/>
          </p:nvSpPr>
          <p:spPr>
            <a:xfrm>
              <a:off x="6464618" y="4093845"/>
              <a:ext cx="5193982" cy="1565910"/>
            </a:xfrm>
            <a:prstGeom prst="roundRect">
              <a:avLst>
                <a:gd name="adj" fmla="val 85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74142" y="4227195"/>
              <a:ext cx="47625" cy="12992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89408" y="42805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782079" y="43133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55954" y="431577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层次结构（树结构）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82549" y="464153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根结点没有前驱；除根结点外，每个结点有且仅有一个前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驱，但可以有多个后继。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83692" y="5195411"/>
              <a:ext cx="4790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上表前驱列除 k₁ 外都只有一项，后继列可以有多项，判定为层次结构。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0" name="Rectangle 8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892" y="6028373"/>
              <a:ext cx="748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树里“一个前驱、多个后继”的限制，正好对应现实中的上下级、目录与子目录、分类与子类。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4625" cy="909257"/>
            <a:chOff x="520446" y="342900"/>
            <a:chExt cx="6854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结构（一）数据的逻辑结构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4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 网状结构：前驱和后继的个数都不受限制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1007745" y="1747838"/>
            <a:ext cx="4514850" cy="3322320"/>
            <a:chOff x="1007745" y="1747838"/>
            <a:chExt cx="4514850" cy="3322320"/>
          </a:xfrm>
        </p:grpSpPr>
        <p:sp>
          <p:nvSpPr>
            <p:cNvPr id="7" name="Freeform 7"/>
            <p:cNvSpPr/>
            <p:nvPr/>
          </p:nvSpPr>
          <p:spPr>
            <a:xfrm>
              <a:off x="1943100" y="2105978"/>
              <a:ext cx="1259205" cy="531495"/>
            </a:xfrm>
            <a:custGeom>
              <a:avLst/>
              <a:gdLst/>
              <a:ahLst/>
              <a:cxnLst/>
              <a:rect l="l" t="t" r="r" b="b"/>
              <a:pathLst>
                <a:path w="1259205" h="531495">
                  <a:moveTo>
                    <a:pt x="0" y="531495"/>
                  </a:moveTo>
                  <a:lnTo>
                    <a:pt x="12592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83255" y="206216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6667"/>
                  </a:moveTo>
                  <a:lnTo>
                    <a:pt x="37148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26908" y="2854642"/>
              <a:ext cx="1730692" cy="1059180"/>
            </a:xfrm>
            <a:custGeom>
              <a:avLst/>
              <a:gdLst/>
              <a:ahLst/>
              <a:cxnLst/>
              <a:rect l="l" t="t" r="r" b="b"/>
              <a:pathLst>
                <a:path w="1730692" h="1059180">
                  <a:moveTo>
                    <a:pt x="0" y="0"/>
                  </a:moveTo>
                  <a:lnTo>
                    <a:pt x="1730692" y="10591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32835" y="387286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90488"/>
                  </a:moveTo>
                  <a:lnTo>
                    <a:pt x="0" y="81915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311592" y="2962275"/>
              <a:ext cx="358140" cy="1554480"/>
            </a:xfrm>
            <a:custGeom>
              <a:avLst/>
              <a:gdLst/>
              <a:ahLst/>
              <a:cxnLst/>
              <a:rect l="l" t="t" r="r" b="b"/>
              <a:pathLst>
                <a:path w="358140" h="1554480">
                  <a:moveTo>
                    <a:pt x="358140" y="0"/>
                  </a:moveTo>
                  <a:lnTo>
                    <a:pt x="0" y="15544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64920" y="4506278"/>
              <a:ext cx="93345" cy="103822"/>
            </a:xfrm>
            <a:custGeom>
              <a:avLst/>
              <a:gdLst/>
              <a:ahLst/>
              <a:cxnLst/>
              <a:rect l="l" t="t" r="r" b="b"/>
              <a:pathLst>
                <a:path w="93345" h="103822">
                  <a:moveTo>
                    <a:pt x="25717" y="103822"/>
                  </a:moveTo>
                  <a:lnTo>
                    <a:pt x="0" y="0"/>
                  </a:lnTo>
                  <a:lnTo>
                    <a:pt x="93345" y="2190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84935" y="2237422"/>
              <a:ext cx="1917382" cy="2418398"/>
            </a:xfrm>
            <a:custGeom>
              <a:avLst/>
              <a:gdLst/>
              <a:ahLst/>
              <a:cxnLst/>
              <a:rect l="l" t="t" r="r" b="b"/>
              <a:pathLst>
                <a:path w="1917382" h="2418398">
                  <a:moveTo>
                    <a:pt x="0" y="2418398"/>
                  </a:moveTo>
                  <a:lnTo>
                    <a:pt x="19173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64218" y="2163128"/>
              <a:ext cx="97155" cy="103823"/>
            </a:xfrm>
            <a:custGeom>
              <a:avLst/>
              <a:gdLst/>
              <a:ahLst/>
              <a:cxnLst/>
              <a:rect l="l" t="t" r="r" b="b"/>
              <a:pathLst>
                <a:path w="97155" h="103823">
                  <a:moveTo>
                    <a:pt x="97155" y="0"/>
                  </a:moveTo>
                  <a:lnTo>
                    <a:pt x="75248" y="103823"/>
                  </a:lnTo>
                  <a:lnTo>
                    <a:pt x="0" y="4476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465898" y="4177665"/>
              <a:ext cx="2154555" cy="600075"/>
            </a:xfrm>
            <a:custGeom>
              <a:avLst/>
              <a:gdLst/>
              <a:ahLst/>
              <a:cxnLst/>
              <a:rect l="l" t="t" r="r" b="b"/>
              <a:pathLst>
                <a:path w="2154555" h="600075">
                  <a:moveTo>
                    <a:pt x="0" y="600075"/>
                  </a:moveTo>
                  <a:lnTo>
                    <a:pt x="21545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08070" y="413194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20002"/>
                  </a:moveTo>
                  <a:lnTo>
                    <a:pt x="25717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820478" y="2094548"/>
              <a:ext cx="1251585" cy="476250"/>
            </a:xfrm>
            <a:custGeom>
              <a:avLst/>
              <a:gdLst/>
              <a:ahLst/>
              <a:cxnLst/>
              <a:rect l="l" t="t" r="r" b="b"/>
              <a:pathLst>
                <a:path w="1251585" h="476250">
                  <a:moveTo>
                    <a:pt x="1251585" y="4762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31895" y="2050732"/>
              <a:ext cx="105727" cy="88582"/>
            </a:xfrm>
            <a:custGeom>
              <a:avLst/>
              <a:gdLst/>
              <a:ahLst/>
              <a:cxnLst/>
              <a:rect l="l" t="t" r="r" b="b"/>
              <a:pathLst>
                <a:path w="105727" h="88582">
                  <a:moveTo>
                    <a:pt x="0" y="10477"/>
                  </a:moveTo>
                  <a:lnTo>
                    <a:pt x="105727" y="0"/>
                  </a:lnTo>
                  <a:lnTo>
                    <a:pt x="71438" y="885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70998" y="2827972"/>
              <a:ext cx="960120" cy="1017270"/>
            </a:xfrm>
            <a:custGeom>
              <a:avLst/>
              <a:gdLst/>
              <a:ahLst/>
              <a:cxnLst/>
              <a:rect l="l" t="t" r="r" b="b"/>
              <a:pathLst>
                <a:path w="960120" h="1017270">
                  <a:moveTo>
                    <a:pt x="960120" y="0"/>
                  </a:moveTo>
                  <a:lnTo>
                    <a:pt x="0" y="1017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05275" y="3812858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0" y="101917"/>
                  </a:moveTo>
                  <a:lnTo>
                    <a:pt x="30480" y="0"/>
                  </a:lnTo>
                  <a:lnTo>
                    <a:pt x="100012" y="657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495425" y="250221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280410" y="174783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065395" y="242697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712845" y="385953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07745" y="461295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672310" y="266080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57295" y="190642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42280" y="25855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89730" y="40181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84630" y="477154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33" name="c1-text-2"/>
          <p:cNvGrpSpPr/>
          <p:nvPr/>
        </p:nvGrpSpPr>
        <p:grpSpPr>
          <a:xfrm>
            <a:off x="1655415" y="5487829"/>
            <a:ext cx="3166171" cy="220028"/>
            <a:chOff x="1655415" y="5487829"/>
            <a:chExt cx="3166171" cy="220028"/>
          </a:xfrm>
        </p:grpSpPr>
        <p:sp>
          <p:nvSpPr>
            <p:cNvPr id="32" name="TextBox 32"/>
            <p:cNvSpPr txBox="1"/>
            <p:nvPr/>
          </p:nvSpPr>
          <p:spPr>
            <a:xfrm>
              <a:off x="1655415" y="5487829"/>
              <a:ext cx="3166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结点集合 N = {A, B, C, D, E}，共 7 条有向边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6248400" y="1524000"/>
            <a:ext cx="5410200" cy="2434590"/>
            <a:chOff x="6248400" y="1524000"/>
            <a:chExt cx="5410200" cy="2434590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710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875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前驱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3001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前驱个数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6283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5602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后继个数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75780" y="20540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05650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9010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69730" y="205406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1611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75780" y="245983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5650" y="2459831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E C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313420" y="2345055"/>
              <a:ext cx="84677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69010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69730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1611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75780" y="28655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05650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9010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69730" y="286559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1611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75780" y="32713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05650" y="3271361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E C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313420" y="3156585"/>
              <a:ext cx="84677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9010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69730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1611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75780" y="36771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05650" y="36771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90105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69730" y="367712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16110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1524000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00087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29913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164955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46321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c2-card-2"/>
          <p:cNvGrpSpPr/>
          <p:nvPr/>
        </p:nvGrpSpPr>
        <p:grpSpPr>
          <a:xfrm>
            <a:off x="6248400" y="4133850"/>
            <a:ext cx="5410200" cy="1530668"/>
            <a:chOff x="6248400" y="4133850"/>
            <a:chExt cx="5410200" cy="1530668"/>
          </a:xfrm>
        </p:grpSpPr>
        <p:sp>
          <p:nvSpPr>
            <p:cNvPr id="79" name="Rectangle 79"/>
            <p:cNvSpPr/>
            <p:nvPr/>
          </p:nvSpPr>
          <p:spPr>
            <a:xfrm>
              <a:off x="6248400" y="4133850"/>
              <a:ext cx="5410200" cy="1530668"/>
            </a:xfrm>
            <a:prstGeom prst="roundRect">
              <a:avLst>
                <a:gd name="adj" fmla="val 87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57925" y="4267200"/>
              <a:ext cx="47625" cy="126396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478905" y="43262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570345" y="43605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62597" y="436626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网状结构（图结构）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72047" y="46996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每个结点可以有任意多个前驱和后继。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73190" y="4999196"/>
              <a:ext cx="4740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和 D 各有 3 个前驱，已经违反了树“最多一个前驱”的要求，所以既不是线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性结构也不是树。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7" name="Rectangle 8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892" y="6023610"/>
              <a:ext cx="106089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判别顺序：先看有没有结点的前驱超过 1 个，有就是图；没有再看后继是否超过 1 个，超过是树，都不超过且首尾唯一是线性结构。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结构（二）数据的存储结构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把逻辑结构真正放进计算机，四种基本方式各有各的代价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存储结构要解决的两个问题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顺序、链接、散列、索引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四种方式的对比与组合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11383" cy="909257"/>
            <a:chOff x="520446" y="342900"/>
            <a:chExt cx="6311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结构（二）数据的存储结构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11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存储结构要同时解决“存元素”和“存关系”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1335405"/>
            <a:chOff x="533400" y="1524000"/>
            <a:chExt cx="432816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数据的存储结构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数据及其逻辑关系在计算机中的存储表示，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称为数据的存储结构（也叫物理结构）。</a:t>
              </a:r>
            </a:p>
          </p:txBody>
        </p:sp>
      </p:grpSp>
      <p:grpSp>
        <p:nvGrpSpPr>
          <p:cNvPr id="23" name="c1-steps-2"/>
          <p:cNvGrpSpPr/>
          <p:nvPr/>
        </p:nvGrpSpPr>
        <p:grpSpPr>
          <a:xfrm>
            <a:off x="533400" y="3059430"/>
            <a:ext cx="4001897" cy="1696689"/>
            <a:chOff x="533400" y="3059430"/>
            <a:chExt cx="4001897" cy="1696689"/>
          </a:xfrm>
        </p:grpSpPr>
        <p:sp>
          <p:nvSpPr>
            <p:cNvPr id="14" name="Rectangle 14"/>
            <p:cNvSpPr/>
            <p:nvPr/>
          </p:nvSpPr>
          <p:spPr>
            <a:xfrm>
              <a:off x="666750" y="3202305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05943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133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452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019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0937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387566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如何存储数据元素本身？连续摆放，还是散落在各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9795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272439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如何存储逻辑关系？靠地址相邻、靠指针、靠函数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算，还是靠额外一张表？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4934902"/>
            <a:ext cx="4328160" cy="782955"/>
            <a:chOff x="533400" y="4934902"/>
            <a:chExt cx="4328160" cy="782955"/>
          </a:xfrm>
        </p:grpSpPr>
        <p:sp>
          <p:nvSpPr>
            <p:cNvPr id="24" name="Rectangle 24"/>
            <p:cNvSpPr/>
            <p:nvPr/>
          </p:nvSpPr>
          <p:spPr>
            <a:xfrm>
              <a:off x="533400" y="4934902"/>
              <a:ext cx="432816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226370"/>
              <a:ext cx="200023" cy="200023"/>
              <a:chOff x="738188" y="5226370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2263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52930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083492"/>
              <a:ext cx="3444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四种基本存储结构的区别，全部体现在它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们对第二个问题的回答上。</a:t>
              </a:r>
            </a:p>
          </p:txBody>
        </p:sp>
      </p:grpSp>
      <p:grpSp>
        <p:nvGrpSpPr>
          <p:cNvPr id="66" name="c2-table-1"/>
          <p:cNvGrpSpPr/>
          <p:nvPr/>
        </p:nvGrpSpPr>
        <p:grpSpPr>
          <a:xfrm>
            <a:off x="5166360" y="1524000"/>
            <a:ext cx="6492240" cy="4038600"/>
            <a:chOff x="5166360" y="1524000"/>
            <a:chExt cx="6492240" cy="4038600"/>
          </a:xfrm>
        </p:grpSpPr>
        <p:sp>
          <p:nvSpPr>
            <p:cNvPr id="30" name="Rectangle 30"/>
            <p:cNvSpPr/>
            <p:nvPr/>
          </p:nvSpPr>
          <p:spPr>
            <a:xfrm>
              <a:off x="5166360" y="1524000"/>
              <a:ext cx="6492240" cy="7543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27333" y="166306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存储结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12205" y="17964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元素怎么放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43800" y="166306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逻辑关系怎么表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98292" y="17964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擅长的操作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96550" y="17964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吃亏的操作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73040" y="241744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81725" y="241744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连续存储单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79983" y="241744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用物理地址的相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邻关系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68765" y="241744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按下标检索</a:t>
              </a:r>
              <a:br/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67022" y="241744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插入删除要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移动元素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66360" y="30279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166360" y="303276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73040" y="317182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链接存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81725" y="317182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任意存储单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79983" y="317182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用结点中的指针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68765" y="317182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插入删除只</a:t>
              </a:r>
              <a:br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改指针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67022" y="317182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检索要沿指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针逐个走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37823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3040" y="405955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散列存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81725" y="405955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由关键字算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出的下标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79983" y="405955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用关键字与地址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的函数关系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68765" y="405955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平均 O(1)</a:t>
              </a:r>
              <a:br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按关键字查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67022" y="3926205"/>
              <a:ext cx="967740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冲突要额外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处理，顺序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全乱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48034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66360" y="480822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73040" y="4947285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索引存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81725" y="494728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数据与索引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分开放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79983" y="494728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用索引表里的指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68765" y="494728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索引小，可</a:t>
              </a:r>
              <a:br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放内存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67022" y="4947285"/>
              <a:ext cx="967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数据一动就</a:t>
              </a:r>
              <a:br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要维护索引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1524000"/>
              <a:ext cx="6492240" cy="4038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70282" y="1524000"/>
              <a:ext cx="9525" cy="4038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368540" y="1524000"/>
              <a:ext cx="9525" cy="4038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057322" y="1524000"/>
              <a:ext cx="9525" cy="4038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355580" y="1524000"/>
              <a:ext cx="9525" cy="4038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结构（二）数据的存储结构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顺序存储：让物理相邻代替逻辑相邻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842635" cy="1671638"/>
            <a:chOff x="533400" y="1524000"/>
            <a:chExt cx="584263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2000" y="209740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7448" y="2045494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数据元素连续地存放在存储空间中，使逻辑上相邻的数据元素存放在物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理上相邻的存储单元中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73179"/>
              <a:ext cx="5076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元素的逻辑关系（前驱 / 后继）就用物理地址的相邻关系表示，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不额外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占用空间存关系</a:t>
              </a:r>
            </a:p>
          </p:txBody>
        </p:sp>
      </p:grpSp>
      <p:grpSp>
        <p:nvGrpSpPr>
          <p:cNvPr id="38" name="c1-cells-2"/>
          <p:cNvGrpSpPr/>
          <p:nvPr/>
        </p:nvGrpSpPr>
        <p:grpSpPr>
          <a:xfrm>
            <a:off x="528066" y="3360420"/>
            <a:ext cx="2587562" cy="1073944"/>
            <a:chOff x="528066" y="3360420"/>
            <a:chExt cx="2587562" cy="1073944"/>
          </a:xfrm>
        </p:grpSpPr>
        <p:sp>
          <p:nvSpPr>
            <p:cNvPr id="16" name="TextBox 16"/>
            <p:cNvSpPr txBox="1"/>
            <p:nvPr/>
          </p:nvSpPr>
          <p:spPr>
            <a:xfrm>
              <a:off x="528066" y="34737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存储单元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200150" y="3360420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1448" y="347376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79258" y="3360420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90556" y="347376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157412" y="3360420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68711" y="347376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636520" y="3360420"/>
              <a:ext cx="47910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7818" y="347376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066" y="39757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线性表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200150" y="38623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22736" y="39757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619250" y="38623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41836" y="39757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38350" y="3862388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60936" y="39757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457450" y="38623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80036" y="397573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74581" y="42724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93681" y="42724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12781" y="42724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1881" y="42724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7"/>
              <p:cNvSpPr txBox="1">
                <a:spLocks noGrp="1"/>
              </p:cNvSpPr>
              <p:nvPr/>
            </p:nvSpPr>
            <p:spPr>
              <a:xfrm>
                <a:off x="533400" y="4564380"/>
                <a:ext cx="584263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Loc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Loc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5" name="c1-callout-4"/>
          <p:cNvGrpSpPr/>
          <p:nvPr/>
        </p:nvGrpSpPr>
        <p:grpSpPr>
          <a:xfrm>
            <a:off x="533400" y="5148262"/>
            <a:ext cx="5842635" cy="1122998"/>
            <a:chOff x="533400" y="5148262"/>
            <a:chExt cx="5842635" cy="1122998"/>
          </a:xfrm>
        </p:grpSpPr>
        <p:sp>
          <p:nvSpPr>
            <p:cNvPr id="40" name="Rectangle 40"/>
            <p:cNvSpPr/>
            <p:nvPr/>
          </p:nvSpPr>
          <p:spPr>
            <a:xfrm>
              <a:off x="533400" y="5148262"/>
              <a:ext cx="5842635" cy="1122998"/>
            </a:xfrm>
            <a:prstGeom prst="roundRect">
              <a:avLst>
                <a:gd name="adj" fmla="val 1017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610227"/>
              <a:ext cx="200023" cy="200023"/>
              <a:chOff x="738188" y="561022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61022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5676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5503069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一次乘法加一次加法就能算出任意元素的地址，与 i 的大小无关，所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以按下标检索是 O(1)。</a:t>
              </a:r>
            </a:p>
          </p:txBody>
        </p:sp>
      </p:grpSp>
      <p:grpSp>
        <p:nvGrpSpPr>
          <p:cNvPr id="49" name="c2-code-1"/>
          <p:cNvGrpSpPr/>
          <p:nvPr/>
        </p:nvGrpSpPr>
        <p:grpSpPr>
          <a:xfrm>
            <a:off x="6680835" y="1524000"/>
            <a:ext cx="4977765" cy="1561148"/>
            <a:chOff x="6680835" y="1524000"/>
            <a:chExt cx="4977765" cy="1561148"/>
          </a:xfrm>
        </p:grpSpPr>
        <p:sp>
          <p:nvSpPr>
            <p:cNvPr id="46" name="Rectangle 46"/>
            <p:cNvSpPr/>
            <p:nvPr/>
          </p:nvSpPr>
          <p:spPr>
            <a:xfrm>
              <a:off x="6680835" y="1524000"/>
              <a:ext cx="4977765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9232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元素可以是很大的结构体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09232" y="1935956"/>
              <a:ext cx="1652778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Ticket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ID;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level;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price;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OwnerName[100];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3249930"/>
            <a:ext cx="4977765" cy="1687830"/>
            <a:chOff x="6680835" y="3249930"/>
            <a:chExt cx="4977765" cy="1687830"/>
          </a:xfrm>
        </p:grpSpPr>
        <p:sp>
          <p:nvSpPr>
            <p:cNvPr id="50" name="Rectangle 50"/>
            <p:cNvSpPr/>
            <p:nvPr/>
          </p:nvSpPr>
          <p:spPr>
            <a:xfrm>
              <a:off x="6680835" y="3249930"/>
              <a:ext cx="497776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0360" y="338328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9910" y="34309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2582" y="34637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66838" y="3470434"/>
              <a:ext cx="12481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上图的 L 不是 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93433" y="3787616"/>
              <a:ext cx="43533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54 页把 A[0]~A[3] 画在 300~303 上，容易读成每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个元素占 1 个单元。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909435" y="436721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64883" y="4315301"/>
              <a:ext cx="410906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实测 `sizeof(struct Ticket)`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120 字节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 + 4 + 8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= 116，按 8 字节对齐补 4）</a:t>
              </a:r>
            </a:p>
          </p:txBody>
        </p:sp>
      </p:grpSp>
      <p:grpSp>
        <p:nvGrpSpPr>
          <p:cNvPr id="75" name="c2-compare-3"/>
          <p:cNvGrpSpPr/>
          <p:nvPr/>
        </p:nvGrpSpPr>
        <p:grpSpPr>
          <a:xfrm>
            <a:off x="6680835" y="5102542"/>
            <a:ext cx="4977765" cy="1168718"/>
            <a:chOff x="6680835" y="5102542"/>
            <a:chExt cx="4977765" cy="1168718"/>
          </a:xfrm>
        </p:grpSpPr>
        <p:sp>
          <p:nvSpPr>
            <p:cNvPr id="59" name="Rectangle 59"/>
            <p:cNvSpPr/>
            <p:nvPr/>
          </p:nvSpPr>
          <p:spPr>
            <a:xfrm>
              <a:off x="6680835" y="5102542"/>
              <a:ext cx="2279332" cy="1168718"/>
            </a:xfrm>
            <a:prstGeom prst="roundRect">
              <a:avLst>
                <a:gd name="adj" fmla="val 11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90360" y="5235892"/>
              <a:ext cx="47625" cy="9020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93433" y="53049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909435" y="56588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64883" y="5605939"/>
              <a:ext cx="13661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按下标检索 O(1)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909435" y="59436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64883" y="589073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不额外占空间存关系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379268" y="5102542"/>
              <a:ext cx="2279332" cy="1168718"/>
            </a:xfrm>
            <a:prstGeom prst="roundRect">
              <a:avLst>
                <a:gd name="adj" fmla="val 11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388792" y="5235892"/>
              <a:ext cx="47625" cy="9020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591866" y="53049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9607868" y="56588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763316" y="56059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插入删除要成批移动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9607868" y="59436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63316" y="589073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容量要事先定好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9007792" y="552545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091026" y="563118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结构（二）数据的存储结构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链接存储：让指针代替物理相邻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059805" cy="1511618"/>
            <a:chOff x="533400" y="1524000"/>
            <a:chExt cx="6059805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数据元素任意地存放在存储单元中，逻辑上相邻的结点不必物理上相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32710"/>
              <a:ext cx="5574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数据元素间的逻辑关系用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指针的指向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表示，每个结点额外存一个指针</a:t>
              </a:r>
            </a:p>
          </p:txBody>
        </p:sp>
      </p:grpSp>
      <p:grpSp>
        <p:nvGrpSpPr>
          <p:cNvPr id="64" name="c1-cells-2"/>
          <p:cNvGrpSpPr/>
          <p:nvPr/>
        </p:nvGrpSpPr>
        <p:grpSpPr>
          <a:xfrm>
            <a:off x="527685" y="3210878"/>
            <a:ext cx="4051935" cy="1134903"/>
            <a:chOff x="527685" y="3210878"/>
            <a:chExt cx="4051935" cy="1134903"/>
          </a:xfrm>
        </p:grpSpPr>
        <p:sp>
          <p:nvSpPr>
            <p:cNvPr id="16" name="TextBox 16"/>
            <p:cNvSpPr txBox="1"/>
            <p:nvPr/>
          </p:nvSpPr>
          <p:spPr>
            <a:xfrm>
              <a:off x="527685" y="33313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逻辑上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93470" y="32108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10233" y="33313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512570" y="3210878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588770" y="337280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617345" y="340137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960245" y="335851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045970" y="32108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62733" y="33313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465070" y="3210878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541270" y="337280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569845" y="340137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912745" y="335851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98470" y="32108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15233" y="33313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417570" y="3210878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3493770" y="337280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522345" y="340137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865245" y="335851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950970" y="321087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67733" y="33313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70070" y="3210878"/>
              <a:ext cx="209550" cy="381000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33612" y="333898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7685" y="38695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内存里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93470" y="3748088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210233" y="38695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512570" y="37480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72869" y="3869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931670" y="3748088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048433" y="38695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350770" y="37480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11069" y="3869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769870" y="3748088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886633" y="38695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188970" y="37480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349269" y="3869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608070" y="374808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768369" y="3869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027170" y="3748088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143933" y="38695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267901" y="41838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87001" y="41838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106101" y="41838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525201" y="41838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944301" y="41838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363401" y="41838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782501" y="41838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201601" y="41838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66" name="c1-text-3"/>
          <p:cNvGrpSpPr/>
          <p:nvPr/>
        </p:nvGrpSpPr>
        <p:grpSpPr>
          <a:xfrm>
            <a:off x="527685" y="4504849"/>
            <a:ext cx="5580126" cy="441008"/>
            <a:chOff x="527685" y="4504849"/>
            <a:chExt cx="5580126" cy="441008"/>
          </a:xfrm>
        </p:grpSpPr>
        <p:sp>
          <p:nvSpPr>
            <p:cNvPr id="65" name="TextBox 65"/>
            <p:cNvSpPr txBox="1"/>
            <p:nvPr/>
          </p:nvSpPr>
          <p:spPr>
            <a:xfrm>
              <a:off x="527685" y="4504849"/>
              <a:ext cx="5580126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上排是逻辑顺序 a₀ → a₁ → a₂ → a₃，下排是同一批结点在内存中的实际位置。物理顺序被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打乱，逻辑顺序由指针维持。</a:t>
              </a:r>
            </a:p>
          </p:txBody>
        </p:sp>
      </p:grpSp>
      <p:grpSp>
        <p:nvGrpSpPr>
          <p:cNvPr id="73" name="c1-callout-4"/>
          <p:cNvGrpSpPr/>
          <p:nvPr/>
        </p:nvGrpSpPr>
        <p:grpSpPr>
          <a:xfrm>
            <a:off x="533400" y="5076825"/>
            <a:ext cx="6059805" cy="1168718"/>
            <a:chOff x="533400" y="5076825"/>
            <a:chExt cx="6059805" cy="1168718"/>
          </a:xfrm>
        </p:grpSpPr>
        <p:sp>
          <p:nvSpPr>
            <p:cNvPr id="67" name="Rectangle 67"/>
            <p:cNvSpPr/>
            <p:nvPr/>
          </p:nvSpPr>
          <p:spPr>
            <a:xfrm>
              <a:off x="533400" y="5076825"/>
              <a:ext cx="6059805" cy="1168718"/>
            </a:xfrm>
            <a:prstGeom prst="roundRect">
              <a:avLst>
                <a:gd name="adj" fmla="val 978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26129" y="5557956"/>
              <a:ext cx="224134" cy="192560"/>
              <a:chOff x="726129" y="5557956"/>
              <a:chExt cx="224134" cy="19256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38200" y="56283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26129" y="55579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8200" y="57061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5442585"/>
              <a:ext cx="51486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想取第 100 个元素，只能从首指针出发走 99 步，没有公式可以直接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算出地址。</a:t>
              </a:r>
            </a:p>
          </p:txBody>
        </p:sp>
      </p:grpSp>
      <p:grpSp>
        <p:nvGrpSpPr>
          <p:cNvPr id="77" name="c2-code-1"/>
          <p:cNvGrpSpPr/>
          <p:nvPr/>
        </p:nvGrpSpPr>
        <p:grpSpPr>
          <a:xfrm>
            <a:off x="6898005" y="1524000"/>
            <a:ext cx="4760595" cy="1450658"/>
            <a:chOff x="6898005" y="1524000"/>
            <a:chExt cx="4760595" cy="1450658"/>
          </a:xfrm>
        </p:grpSpPr>
        <p:sp>
          <p:nvSpPr>
            <p:cNvPr id="74" name="Rectangle 74"/>
            <p:cNvSpPr/>
            <p:nvPr/>
          </p:nvSpPr>
          <p:spPr>
            <a:xfrm>
              <a:off x="6898005" y="1524000"/>
              <a:ext cx="4760595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26402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单链表结点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26021" y="1937385"/>
              <a:ext cx="2610993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data;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数据域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*next;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指针域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Node *first;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头指针 */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898005" y="3149918"/>
            <a:ext cx="4760595" cy="1680210"/>
            <a:chOff x="6898005" y="3149918"/>
            <a:chExt cx="4760595" cy="1680210"/>
          </a:xfrm>
        </p:grpSpPr>
        <p:sp>
          <p:nvSpPr>
            <p:cNvPr id="78" name="Rectangle 78"/>
            <p:cNvSpPr/>
            <p:nvPr/>
          </p:nvSpPr>
          <p:spPr>
            <a:xfrm>
              <a:off x="6898005" y="3149918"/>
              <a:ext cx="4760595" cy="1680210"/>
            </a:xfrm>
            <a:prstGeom prst="roundRect">
              <a:avLst>
                <a:gd name="adj" fmla="val 793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090410" y="334232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157847" y="337661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为什么插入删除快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098982" y="375475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55002" y="3698558"/>
              <a:ext cx="39313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a₀ 后插入：只改 2 个指针，不动其他结点；删除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a₁：把 a₀ 的 next 指向 a₂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84695" y="4255294"/>
              <a:ext cx="37096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前提是已经拿到前驱指针；若还要先找到它，找的过程仍是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O(n)。</a:t>
              </a:r>
            </a:p>
          </p:txBody>
        </p:sp>
      </p:grpSp>
      <p:grpSp>
        <p:nvGrpSpPr>
          <p:cNvPr id="101" name="c2-compare-3"/>
          <p:cNvGrpSpPr/>
          <p:nvPr/>
        </p:nvGrpSpPr>
        <p:grpSpPr>
          <a:xfrm>
            <a:off x="6898005" y="5005388"/>
            <a:ext cx="4760595" cy="1240155"/>
            <a:chOff x="6898005" y="5005388"/>
            <a:chExt cx="4760595" cy="1240155"/>
          </a:xfrm>
        </p:grpSpPr>
        <p:sp>
          <p:nvSpPr>
            <p:cNvPr id="85" name="Rectangle 85"/>
            <p:cNvSpPr/>
            <p:nvPr/>
          </p:nvSpPr>
          <p:spPr>
            <a:xfrm>
              <a:off x="6898005" y="5005388"/>
              <a:ext cx="2170748" cy="1240155"/>
            </a:xfrm>
            <a:prstGeom prst="roundRect">
              <a:avLst>
                <a:gd name="adj" fmla="val 10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907530" y="5138738"/>
              <a:ext cx="47625" cy="973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121652" y="52197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137082" y="55959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293102" y="553974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插入删除只改指针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7137082" y="58988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293102" y="584263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按需申请空间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487852" y="5005388"/>
              <a:ext cx="2170748" cy="1240155"/>
            </a:xfrm>
            <a:prstGeom prst="roundRect">
              <a:avLst>
                <a:gd name="adj" fmla="val 10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9497378" y="5138738"/>
              <a:ext cx="47625" cy="973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711500" y="52197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9726930" y="55959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882950" y="5539740"/>
              <a:ext cx="1608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检索要逐个走 O(n)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9726930" y="58988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9882950" y="584263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每结点多一个指针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9116378" y="546354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9192849" y="556498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结构（二）数据的存储结构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顺序还是链接：先问这批数据主要做什么操作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6059805" cy="3034665"/>
            <a:chOff x="533400" y="1524000"/>
            <a:chExt cx="6059805" cy="30346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443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754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2009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链接存储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3688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8078" y="2023110"/>
              <a:ext cx="992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按下标取第 i 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03514" y="202311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37013" y="2023110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69561" y="2023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顺序存储可以直接算地址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605980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2404110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按关键字查找（无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03514" y="2497455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37013" y="2497455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69561" y="24974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两者都要逐个比较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498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306514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已知位置处插入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03514" y="3065145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37013" y="3065145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69561" y="2971800"/>
              <a:ext cx="147085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顺序存储平均要移动 n/2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个元素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185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23285"/>
              <a:ext cx="605980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63378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已知位置处删除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03514" y="3633788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37013" y="3633788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69561" y="3540443"/>
              <a:ext cx="12108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顺序存储平均要移动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(n−1)/2 个元素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862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4201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空间开销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03514" y="4201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只存元素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37013" y="4108132"/>
              <a:ext cx="10774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每个结点多一个指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69561" y="4108132"/>
              <a:ext cx="14775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元素很小时指针的比例反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而高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059805" cy="30346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104072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437572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70120" y="1524000"/>
              <a:ext cx="9525" cy="30346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1-card-2"/>
          <p:cNvGrpSpPr/>
          <p:nvPr/>
        </p:nvGrpSpPr>
        <p:grpSpPr>
          <a:xfrm>
            <a:off x="533400" y="4723448"/>
            <a:ext cx="6059805" cy="1432560"/>
            <a:chOff x="533400" y="4723448"/>
            <a:chExt cx="6059805" cy="1432560"/>
          </a:xfrm>
        </p:grpSpPr>
        <p:sp>
          <p:nvSpPr>
            <p:cNvPr id="43" name="Rectangle 43"/>
            <p:cNvSpPr/>
            <p:nvPr/>
          </p:nvSpPr>
          <p:spPr>
            <a:xfrm>
              <a:off x="533400" y="4723448"/>
              <a:ext cx="6059805" cy="1432560"/>
            </a:xfrm>
            <a:prstGeom prst="roundRect">
              <a:avLst>
                <a:gd name="adj" fmla="val 9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4856798"/>
              <a:ext cx="47625" cy="11658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2475" y="4904422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1543" y="493728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平均移动次数是怎么来的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2000" y="529685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7448" y="5244941"/>
              <a:ext cx="5268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 n 个元素时插入位置有 n + 1 个，插到第 i 个位置要后移 n − i 个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2000" y="558260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17448" y="5529739"/>
              <a:ext cx="5414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= (n + (n−1) + … + 0) / (n + 1) = n / 2；删除同理为 (n − 1) / 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7141" y="5811202"/>
              <a:ext cx="3562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100 时，插入平均要搬 50 个元素，所以记作 O(n)。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898005" y="1524000"/>
            <a:ext cx="4760595" cy="1202055"/>
            <a:chOff x="6898005" y="1524000"/>
            <a:chExt cx="4760595" cy="1202055"/>
          </a:xfrm>
        </p:grpSpPr>
        <p:sp>
          <p:nvSpPr>
            <p:cNvPr id="53" name="Rectangle 53"/>
            <p:cNvSpPr/>
            <p:nvPr/>
          </p:nvSpPr>
          <p:spPr>
            <a:xfrm>
              <a:off x="6898005" y="1524000"/>
              <a:ext cx="4760595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078980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63549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选择依据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93558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看两类操作哪一类更频繁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088505" y="21135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43953" y="2061686"/>
              <a:ext cx="36832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建好以后主要按下标读、很少改动：选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088505" y="23983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43953" y="2346484"/>
              <a:ext cx="4027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频繁在中间插入删除、总量事先不知道：选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链接存储</a:t>
              </a:r>
            </a:p>
          </p:txBody>
        </p:sp>
      </p:grpSp>
      <p:grpSp>
        <p:nvGrpSpPr>
          <p:cNvPr id="72" name="c2-bullets-2"/>
          <p:cNvGrpSpPr/>
          <p:nvPr/>
        </p:nvGrpSpPr>
        <p:grpSpPr>
          <a:xfrm>
            <a:off x="6891528" y="2912269"/>
            <a:ext cx="4515739" cy="1865757"/>
            <a:chOff x="6891528" y="2912269"/>
            <a:chExt cx="4515739" cy="1865757"/>
          </a:xfrm>
        </p:grpSpPr>
        <p:sp>
          <p:nvSpPr>
            <p:cNvPr id="62" name="TextBox 62"/>
            <p:cNvSpPr txBox="1"/>
            <p:nvPr/>
          </p:nvSpPr>
          <p:spPr>
            <a:xfrm>
              <a:off x="6891528" y="291226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三个常见的判断失误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898005" y="320230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49912" y="32379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67753" y="3213259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以为链表的查找也快。链表只是改得快，找一个元素照样要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从头走。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898005" y="373856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49912" y="377418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67753" y="3749516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以为顺序表插入一定慢。只在表尾插入时不用移动任何元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素，是 O(1)。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898005" y="427386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949912" y="430949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167753" y="4285774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以为链表一定省空间。元素只有一个 int 时，8 字节的指针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比数据本身还大。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898005" y="4892040"/>
            <a:ext cx="4760595" cy="1263968"/>
            <a:chOff x="6898005" y="4892040"/>
            <a:chExt cx="4760595" cy="1263968"/>
          </a:xfrm>
        </p:grpSpPr>
        <p:sp>
          <p:nvSpPr>
            <p:cNvPr id="73" name="Rectangle 73"/>
            <p:cNvSpPr/>
            <p:nvPr/>
          </p:nvSpPr>
          <p:spPr>
            <a:xfrm>
              <a:off x="6898005" y="4892040"/>
              <a:ext cx="4760595" cy="1263968"/>
            </a:xfrm>
            <a:prstGeom prst="roundRect">
              <a:avLst>
                <a:gd name="adj" fmla="val 904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102793" y="5424488"/>
              <a:ext cx="200026" cy="200025"/>
              <a:chOff x="7102793" y="542448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102793" y="54244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142531" y="54689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177247" y="55800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405878" y="5317331"/>
              <a:ext cx="3776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讲会把这两种存储用在线性表上完整实现一遍，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本讲只需要记住它们各自快在哪。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结构（二）数据的存储结构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散列存储：由关键字直接算出该放在哪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1691640"/>
            <a:chOff x="533400" y="1524000"/>
            <a:chExt cx="5842635" cy="1691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4843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散列（Hash，亦称哈希、杂凑）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061686"/>
              <a:ext cx="4954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散列函数 h 的自变量 K 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关键词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，函数值 h(K) 是元素在散列表中的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存储地址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58937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散列表通常就是一个一维数组，散列地址即数组下标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141" y="2870835"/>
              <a:ext cx="3201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存和取都先算一次 h(K)，不必比较，也不必遍历。</a:t>
              </a:r>
            </a:p>
          </p:txBody>
        </p:sp>
      </p:grpSp>
      <p:grpSp>
        <p:nvGrpSpPr>
          <p:cNvPr id="46" name="c1-cells-2"/>
          <p:cNvGrpSpPr/>
          <p:nvPr/>
        </p:nvGrpSpPr>
        <p:grpSpPr>
          <a:xfrm>
            <a:off x="528066" y="3380422"/>
            <a:ext cx="4857370" cy="1359694"/>
            <a:chOff x="528066" y="3380422"/>
            <a:chExt cx="4857370" cy="1359694"/>
          </a:xfrm>
        </p:grpSpPr>
        <p:sp>
          <p:nvSpPr>
            <p:cNvPr id="18" name="TextBox 18"/>
            <p:cNvSpPr txBox="1"/>
            <p:nvPr/>
          </p:nvSpPr>
          <p:spPr>
            <a:xfrm>
              <a:off x="528066" y="3492818"/>
              <a:ext cx="346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h(K)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66800" y="3380422"/>
              <a:ext cx="8639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66428" y="349281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h('d')=0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30718" y="3380422"/>
              <a:ext cx="8639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30345" y="349281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h('a')=1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794635" y="3380422"/>
              <a:ext cx="8639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94263" y="349281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h('b')=2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57600" y="3380422"/>
              <a:ext cx="8639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58180" y="3492818"/>
              <a:ext cx="663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h('c')=3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21518" y="3380422"/>
              <a:ext cx="863918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07803" y="3492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8066" y="428053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散列表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66800" y="41681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30201" y="42805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485900" y="4168140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301" y="42805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905000" y="41681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68401" y="42805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324100" y="416814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487501" y="42805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743200" y="4168140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241231" y="4578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60331" y="4578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79431" y="4578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98531" y="4578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17631" y="4578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2333" y="3926681"/>
              <a:ext cx="1106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h('e')=1 也落在这里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657350" y="40728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4" name="c1-card-3"/>
          <p:cNvGrpSpPr/>
          <p:nvPr/>
        </p:nvGrpSpPr>
        <p:grpSpPr>
          <a:xfrm>
            <a:off x="533400" y="4870132"/>
            <a:ext cx="5842635" cy="1406842"/>
            <a:chOff x="533400" y="4870132"/>
            <a:chExt cx="5842635" cy="1406842"/>
          </a:xfrm>
        </p:grpSpPr>
        <p:sp>
          <p:nvSpPr>
            <p:cNvPr id="47" name="Rectangle 47"/>
            <p:cNvSpPr/>
            <p:nvPr/>
          </p:nvSpPr>
          <p:spPr>
            <a:xfrm>
              <a:off x="533400" y="4870132"/>
              <a:ext cx="5842635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925" y="5003482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2475" y="50511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5147" y="50839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冲突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18450" y="5090636"/>
              <a:ext cx="148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h('e') = 1 怎么办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5998" y="5406866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多个不同的关键词具有相同的散列函数值，即 K₁ ≠ K₂ 而 h(K₁)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h(K₂)，这种情况称为冲突。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7141" y="5931218"/>
              <a:ext cx="53396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冲突无法完全避免：关键词的取值范围通常远大于散列表长度。处理办法在第 25 讲。</a:t>
              </a:r>
            </a:p>
          </p:txBody>
        </p:sp>
      </p:grpSp>
      <p:grpSp>
        <p:nvGrpSpPr>
          <p:cNvPr id="57" name="c2-image-1"/>
          <p:cNvGrpSpPr/>
          <p:nvPr/>
        </p:nvGrpSpPr>
        <p:grpSpPr>
          <a:xfrm>
            <a:off x="6680835" y="1524000"/>
            <a:ext cx="4977765" cy="2088546"/>
            <a:chOff x="6680835" y="1524000"/>
            <a:chExt cx="4977765" cy="2088546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rcRect l="0" t="25813" r="0" b="25813"/>
            <a:stretch>
              <a:fillRect/>
            </a:stretch>
          </p:blipFill>
          <p:spPr>
            <a:xfrm>
              <a:off x="6680835" y="1524000"/>
              <a:ext cx="4977765" cy="1805940"/>
            </a:xfrm>
            <a:prstGeom prst="roundRect">
              <a:avLst>
                <a:gd name="adj" fmla="val 7383"/>
              </a:avLst>
            </a:prstGeom>
          </p:spPr>
        </p:pic>
        <p:sp>
          <p:nvSpPr>
            <p:cNvPr id="56" name="TextBox 56"/>
            <p:cNvSpPr txBox="1"/>
            <p:nvPr/>
          </p:nvSpPr>
          <p:spPr>
            <a:xfrm>
              <a:off x="7713561" y="3421856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邮差不必逐个翻找，按地址直接走到对应的那一格</a:t>
              </a:r>
            </a:p>
          </p:txBody>
        </p:sp>
      </p:grpSp>
      <p:grpSp>
        <p:nvGrpSpPr>
          <p:cNvPr id="61" name="c2-code-2"/>
          <p:cNvGrpSpPr/>
          <p:nvPr/>
        </p:nvGrpSpPr>
        <p:grpSpPr>
          <a:xfrm>
            <a:off x="6680835" y="3758565"/>
            <a:ext cx="4977765" cy="1737360"/>
            <a:chOff x="6680835" y="3758565"/>
            <a:chExt cx="4977765" cy="1737360"/>
          </a:xfrm>
        </p:grpSpPr>
        <p:sp>
          <p:nvSpPr>
            <p:cNvPr id="58" name="Rectangle 58"/>
            <p:cNvSpPr/>
            <p:nvPr/>
          </p:nvSpPr>
          <p:spPr>
            <a:xfrm>
              <a:off x="6680835" y="3758565"/>
              <a:ext cx="4977765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09232" y="391048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被散列的元素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09232" y="4170521"/>
              <a:ext cx="2163064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id;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关键字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name[100];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gender;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age;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score;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6680835" y="5659755"/>
            <a:ext cx="4977765" cy="702945"/>
            <a:chOff x="6680835" y="5659755"/>
            <a:chExt cx="4977765" cy="702945"/>
          </a:xfrm>
        </p:grpSpPr>
        <p:sp>
          <p:nvSpPr>
            <p:cNvPr id="62" name="Rectangle 62"/>
            <p:cNvSpPr/>
            <p:nvPr/>
          </p:nvSpPr>
          <p:spPr>
            <a:xfrm>
              <a:off x="6680835" y="5659755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885623" y="5911217"/>
              <a:ext cx="200023" cy="200023"/>
              <a:chOff x="6885623" y="591121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885623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018973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188708" y="5805011"/>
              <a:ext cx="41013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代价是元素在表中的次序完全由 h 决定，与关键字的大小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顺序无关，所以散列表不支持按序遍历和范围查询。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54664" cy="909257"/>
            <a:chOff x="520446" y="342900"/>
            <a:chExt cx="66546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结构（二）数据的存储结构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546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索引存储：把“找位置”和“读数据”分成两步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059805" cy="1594485"/>
            <a:chOff x="533400" y="1524000"/>
            <a:chExt cx="6059805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51181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维护一个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索引表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，里面存一串指针，每个指针指向一个实际的数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据元素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692241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检索时先在索引表里找，找到指针后再去取真正的数据元素</a:t>
              </a:r>
            </a:p>
          </p:txBody>
        </p:sp>
      </p:grpSp>
      <p:grpSp>
        <p:nvGrpSpPr>
          <p:cNvPr id="42" name="c1-graph-2"/>
          <p:cNvGrpSpPr/>
          <p:nvPr/>
        </p:nvGrpSpPr>
        <p:grpSpPr>
          <a:xfrm>
            <a:off x="1203008" y="3348990"/>
            <a:ext cx="4386262" cy="1942528"/>
            <a:chOff x="1203008" y="3348990"/>
            <a:chExt cx="4386262" cy="1942528"/>
          </a:xfrm>
        </p:grpSpPr>
        <p:sp>
          <p:nvSpPr>
            <p:cNvPr id="16" name="Freeform 16"/>
            <p:cNvSpPr/>
            <p:nvPr/>
          </p:nvSpPr>
          <p:spPr>
            <a:xfrm>
              <a:off x="1933575" y="3820478"/>
              <a:ext cx="2165032" cy="9525"/>
            </a:xfrm>
            <a:custGeom>
              <a:avLst/>
              <a:gdLst/>
              <a:ahLst/>
              <a:cxnLst/>
              <a:rect l="l" t="t" r="r" b="b"/>
              <a:pathLst>
                <a:path w="2165032" h="9525">
                  <a:moveTo>
                    <a:pt x="0" y="0"/>
                  </a:moveTo>
                  <a:lnTo>
                    <a:pt x="21650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098608" y="37728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933575" y="4257675"/>
              <a:ext cx="2165032" cy="9525"/>
            </a:xfrm>
            <a:custGeom>
              <a:avLst/>
              <a:gdLst/>
              <a:ahLst/>
              <a:cxnLst/>
              <a:rect l="l" t="t" r="r" b="b"/>
              <a:pathLst>
                <a:path w="2165032" h="9525">
                  <a:moveTo>
                    <a:pt x="0" y="0"/>
                  </a:moveTo>
                  <a:lnTo>
                    <a:pt x="21650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098608" y="4210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933575" y="4694872"/>
              <a:ext cx="2165032" cy="9525"/>
            </a:xfrm>
            <a:custGeom>
              <a:avLst/>
              <a:gdLst/>
              <a:ahLst/>
              <a:cxnLst/>
              <a:rect l="l" t="t" r="r" b="b"/>
              <a:pathLst>
                <a:path w="2165032" h="9525">
                  <a:moveTo>
                    <a:pt x="0" y="0"/>
                  </a:moveTo>
                  <a:lnTo>
                    <a:pt x="21650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098608" y="46472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933575" y="5132070"/>
              <a:ext cx="2165032" cy="9525"/>
            </a:xfrm>
            <a:custGeom>
              <a:avLst/>
              <a:gdLst/>
              <a:ahLst/>
              <a:cxnLst/>
              <a:rect l="l" t="t" r="r" b="b"/>
              <a:pathLst>
                <a:path w="2165032" h="9525">
                  <a:moveTo>
                    <a:pt x="0" y="0"/>
                  </a:moveTo>
                  <a:lnTo>
                    <a:pt x="21650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98608" y="50844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03008" y="3663315"/>
              <a:ext cx="721042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03008" y="4100512"/>
              <a:ext cx="721042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03008" y="4537710"/>
              <a:ext cx="721042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203008" y="4974908"/>
              <a:ext cx="721042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203382" y="3663315"/>
              <a:ext cx="1385888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203382" y="4100512"/>
              <a:ext cx="1385888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03382" y="4537710"/>
              <a:ext cx="1385888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03382" y="4974908"/>
              <a:ext cx="1385888" cy="314325"/>
            </a:xfrm>
            <a:prstGeom prst="roundRect">
              <a:avLst>
                <a:gd name="adj" fmla="val 3030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14640" y="33489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3665" y="374618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63665" y="418338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63665" y="461962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63665" y="505682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05122" y="33489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实际数据元素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96462" y="374618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96462" y="418338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96462" y="461962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96462" y="505682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</p:grpSp>
      <p:grpSp>
        <p:nvGrpSpPr>
          <p:cNvPr id="48" name="c1-callout-3"/>
          <p:cNvGrpSpPr/>
          <p:nvPr/>
        </p:nvGrpSpPr>
        <p:grpSpPr>
          <a:xfrm>
            <a:off x="533400" y="5475922"/>
            <a:ext cx="6059805" cy="756285"/>
            <a:chOff x="533400" y="5475922"/>
            <a:chExt cx="6059805" cy="756285"/>
          </a:xfrm>
        </p:grpSpPr>
        <p:sp>
          <p:nvSpPr>
            <p:cNvPr id="43" name="Rectangle 43"/>
            <p:cNvSpPr/>
            <p:nvPr/>
          </p:nvSpPr>
          <p:spPr>
            <a:xfrm>
              <a:off x="533400" y="5475922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754055"/>
              <a:ext cx="200023" cy="200023"/>
              <a:chOff x="738188" y="5754055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7540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5820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562308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索引项只有关键字和指针，比完整记录小得多。数据存在外存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时，索引可以整个放进内存，检索只在内存里做。</a:t>
              </a:r>
            </a:p>
          </p:txBody>
        </p:sp>
      </p:grpSp>
      <p:grpSp>
        <p:nvGrpSpPr>
          <p:cNvPr id="51" name="c2-image-1"/>
          <p:cNvGrpSpPr/>
          <p:nvPr/>
        </p:nvGrpSpPr>
        <p:grpSpPr>
          <a:xfrm>
            <a:off x="6898005" y="1524000"/>
            <a:ext cx="4760595" cy="2531269"/>
            <a:chOff x="6898005" y="1524000"/>
            <a:chExt cx="4760595" cy="2531269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rcRect l="0" t="18961" r="0" b="18961"/>
            <a:stretch>
              <a:fillRect/>
            </a:stretch>
          </p:blipFill>
          <p:spPr>
            <a:xfrm>
              <a:off x="6898005" y="1524000"/>
              <a:ext cx="4760595" cy="2216468"/>
            </a:xfrm>
            <a:prstGeom prst="roundRect">
              <a:avLst>
                <a:gd name="adj" fmla="val 6016"/>
              </a:avLst>
            </a:prstGeom>
          </p:spPr>
        </p:pic>
        <p:sp>
          <p:nvSpPr>
            <p:cNvPr id="50" name="TextBox 50"/>
            <p:cNvSpPr txBox="1"/>
            <p:nvPr/>
          </p:nvSpPr>
          <p:spPr>
            <a:xfrm>
              <a:off x="7538682" y="383524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卡片柜就是一张索引表，卡片指向书架上的那一本书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898005" y="4214812"/>
            <a:ext cx="4760595" cy="2147888"/>
            <a:chOff x="6898005" y="4214812"/>
            <a:chExt cx="4760595" cy="2147888"/>
          </a:xfrm>
        </p:grpSpPr>
        <p:sp>
          <p:nvSpPr>
            <p:cNvPr id="52" name="Rectangle 52"/>
            <p:cNvSpPr/>
            <p:nvPr/>
          </p:nvSpPr>
          <p:spPr>
            <a:xfrm>
              <a:off x="6898005" y="4214812"/>
              <a:ext cx="4760595" cy="2147888"/>
            </a:xfrm>
            <a:prstGeom prst="roundRect">
              <a:avLst>
                <a:gd name="adj" fmla="val 620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01840" y="441864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70395" y="44543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为什么这样更快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109460" y="485203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66051" y="4792504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一条图书记录可能有几百字节，一个索引项只有十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几字节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09460" y="544353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66051" y="5384006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同样大小的内存能装下的索引项数量，是完整记录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的几十倍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95744" y="5971222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代价：数据每次插入删除，索引表都要同步维护。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结构（二）数据的存储结构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多级索引：查一条磁盘记录要读几次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56248" cy="264033"/>
            <a:chOff x="526542" y="1545907"/>
            <a:chExt cx="65562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索引表本身也可以再建索引，逐层往上收敛，这就是数据库里最常见的多级索引。</a:t>
              </a:r>
            </a:p>
          </p:txBody>
        </p:sp>
      </p:grpSp>
      <p:grpSp>
        <p:nvGrpSpPr>
          <p:cNvPr id="38" name="c1-graph-1"/>
          <p:cNvGrpSpPr/>
          <p:nvPr/>
        </p:nvGrpSpPr>
        <p:grpSpPr>
          <a:xfrm>
            <a:off x="903922" y="1991678"/>
            <a:ext cx="5117783" cy="1527809"/>
            <a:chOff x="903922" y="1991678"/>
            <a:chExt cx="5117783" cy="1527809"/>
          </a:xfrm>
        </p:grpSpPr>
        <p:sp>
          <p:nvSpPr>
            <p:cNvPr id="9" name="Freeform 9"/>
            <p:cNvSpPr/>
            <p:nvPr/>
          </p:nvSpPr>
          <p:spPr>
            <a:xfrm>
              <a:off x="2407920" y="2283142"/>
              <a:ext cx="691515" cy="282892"/>
            </a:xfrm>
            <a:custGeom>
              <a:avLst/>
              <a:gdLst/>
              <a:ahLst/>
              <a:cxnLst/>
              <a:rect l="l" t="t" r="r" b="b"/>
              <a:pathLst>
                <a:path w="691515" h="282892">
                  <a:moveTo>
                    <a:pt x="691515" y="0"/>
                  </a:moveTo>
                  <a:lnTo>
                    <a:pt x="0" y="2828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10952" y="2283142"/>
              <a:ext cx="690562" cy="282892"/>
            </a:xfrm>
            <a:custGeom>
              <a:avLst/>
              <a:gdLst/>
              <a:ahLst/>
              <a:cxnLst/>
              <a:rect l="l" t="t" r="r" b="b"/>
              <a:pathLst>
                <a:path w="690562" h="282892">
                  <a:moveTo>
                    <a:pt x="0" y="0"/>
                  </a:moveTo>
                  <a:lnTo>
                    <a:pt x="690562" y="2828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60182" y="2857500"/>
              <a:ext cx="424815" cy="370522"/>
            </a:xfrm>
            <a:custGeom>
              <a:avLst/>
              <a:gdLst/>
              <a:ahLst/>
              <a:cxnLst/>
              <a:rect l="l" t="t" r="r" b="b"/>
              <a:pathLst>
                <a:path w="424815" h="370522">
                  <a:moveTo>
                    <a:pt x="424815" y="0"/>
                  </a:moveTo>
                  <a:lnTo>
                    <a:pt x="0" y="3705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06942" y="2857500"/>
              <a:ext cx="392430" cy="370522"/>
            </a:xfrm>
            <a:custGeom>
              <a:avLst/>
              <a:gdLst/>
              <a:ahLst/>
              <a:cxnLst/>
              <a:rect l="l" t="t" r="r" b="b"/>
              <a:pathLst>
                <a:path w="392430" h="370522">
                  <a:moveTo>
                    <a:pt x="0" y="0"/>
                  </a:moveTo>
                  <a:lnTo>
                    <a:pt x="392430" y="3705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311015" y="2857500"/>
              <a:ext cx="391477" cy="370522"/>
            </a:xfrm>
            <a:custGeom>
              <a:avLst/>
              <a:gdLst/>
              <a:ahLst/>
              <a:cxnLst/>
              <a:rect l="l" t="t" r="r" b="b"/>
              <a:pathLst>
                <a:path w="391477" h="370522">
                  <a:moveTo>
                    <a:pt x="391477" y="0"/>
                  </a:moveTo>
                  <a:lnTo>
                    <a:pt x="0" y="3705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024438" y="2857500"/>
              <a:ext cx="424815" cy="370522"/>
            </a:xfrm>
            <a:custGeom>
              <a:avLst/>
              <a:gdLst/>
              <a:ahLst/>
              <a:cxnLst/>
              <a:rect l="l" t="t" r="r" b="b"/>
              <a:pathLst>
                <a:path w="424815" h="370522">
                  <a:moveTo>
                    <a:pt x="0" y="0"/>
                  </a:moveTo>
                  <a:lnTo>
                    <a:pt x="424815" y="3705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785938" y="3373755"/>
              <a:ext cx="474345" cy="9525"/>
            </a:xfrm>
            <a:custGeom>
              <a:avLst/>
              <a:gdLst/>
              <a:ahLst/>
              <a:cxnLst/>
              <a:rect l="l" t="t" r="r" b="b"/>
              <a:pathLst>
                <a:path w="474345" h="9525">
                  <a:moveTo>
                    <a:pt x="0" y="0"/>
                  </a:moveTo>
                  <a:lnTo>
                    <a:pt x="4743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60282" y="3326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690688" y="3326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247072" y="337375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751898" y="3326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151822" y="3326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560570" y="3373755"/>
              <a:ext cx="546735" cy="9525"/>
            </a:xfrm>
            <a:custGeom>
              <a:avLst/>
              <a:gdLst/>
              <a:ahLst/>
              <a:cxnLst/>
              <a:rect l="l" t="t" r="r" b="b"/>
              <a:pathLst>
                <a:path w="546735" h="9525">
                  <a:moveTo>
                    <a:pt x="0" y="0"/>
                  </a:moveTo>
                  <a:lnTo>
                    <a:pt x="5467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107305" y="3326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465320" y="3326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09900" y="1991678"/>
              <a:ext cx="890588" cy="291465"/>
            </a:xfrm>
            <a:prstGeom prst="roundRect">
              <a:avLst>
                <a:gd name="adj" fmla="val 3268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47825" y="2566035"/>
              <a:ext cx="809625" cy="291465"/>
            </a:xfrm>
            <a:prstGeom prst="roundRect">
              <a:avLst>
                <a:gd name="adj" fmla="val 3268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11980" y="2566035"/>
              <a:ext cx="890588" cy="291465"/>
            </a:xfrm>
            <a:prstGeom prst="roundRect">
              <a:avLst>
                <a:gd name="adj" fmla="val 3268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03922" y="3228022"/>
              <a:ext cx="777240" cy="291465"/>
            </a:xfrm>
            <a:prstGeom prst="roundRect">
              <a:avLst>
                <a:gd name="adj" fmla="val 3268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65058" y="3228022"/>
              <a:ext cx="777240" cy="291465"/>
            </a:xfrm>
            <a:prstGeom prst="roundRect">
              <a:avLst>
                <a:gd name="adj" fmla="val 3268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56672" y="3228022"/>
              <a:ext cx="599122" cy="291465"/>
            </a:xfrm>
            <a:prstGeom prst="roundRect">
              <a:avLst>
                <a:gd name="adj" fmla="val 3268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212080" y="3228022"/>
              <a:ext cx="809625" cy="291465"/>
            </a:xfrm>
            <a:prstGeom prst="roundRect">
              <a:avLst>
                <a:gd name="adj" fmla="val 3268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19335" y="2072640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| 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58070" y="2646998"/>
              <a:ext cx="3891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| 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21415" y="2646998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| 25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83316" y="3308032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03635" y="3308032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68793" y="330803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26035" y="3308032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15 25</a:t>
              </a:r>
            </a:p>
          </p:txBody>
        </p:sp>
      </p:grpSp>
      <p:grpSp>
        <p:nvGrpSpPr>
          <p:cNvPr id="84" name="c1-cells-2"/>
          <p:cNvGrpSpPr/>
          <p:nvPr/>
        </p:nvGrpSpPr>
        <p:grpSpPr>
          <a:xfrm>
            <a:off x="528066" y="3833812"/>
            <a:ext cx="4903089" cy="1360171"/>
            <a:chOff x="528066" y="3833812"/>
            <a:chExt cx="4903089" cy="1360171"/>
          </a:xfrm>
        </p:grpSpPr>
        <p:sp>
          <p:nvSpPr>
            <p:cNvPr id="39" name="TextBox 39"/>
            <p:cNvSpPr txBox="1"/>
            <p:nvPr/>
          </p:nvSpPr>
          <p:spPr>
            <a:xfrm>
              <a:off x="528066" y="3947160"/>
              <a:ext cx="143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02982" y="3833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66383" y="39471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422082" y="3833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585483" y="39471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841182" y="3833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004583" y="39471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260282" y="3833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382868" y="39471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679382" y="383381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801968" y="39471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098482" y="3833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221068" y="39471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517582" y="3833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640168" y="39471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8066" y="4449128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Name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02982" y="4335780"/>
              <a:ext cx="6324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89123" y="4449128"/>
              <a:ext cx="26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635442" y="4335780"/>
              <a:ext cx="6324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739953" y="444912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Sunny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267902" y="4335780"/>
              <a:ext cx="6324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416991" y="4449128"/>
              <a:ext cx="334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Mike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901315" y="4335780"/>
              <a:ext cx="6324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005825" y="444912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Peter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533775" y="4335780"/>
              <a:ext cx="63246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638285" y="4449128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Proro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166235" y="4335780"/>
              <a:ext cx="6324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311560" y="4449128"/>
              <a:ext cx="341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John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798695" y="4335780"/>
              <a:ext cx="63246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928968" y="4449128"/>
              <a:ext cx="371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Mary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8066" y="4951095"/>
              <a:ext cx="260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Age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02982" y="4837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125568" y="49510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422082" y="4837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544668" y="49510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841182" y="4837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963768" y="49510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260282" y="4837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423683" y="49510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2679382" y="4837748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842783" y="49510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3098482" y="4837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221068" y="49510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3517582" y="4837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640168" y="495109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86" name="c1-text-3"/>
          <p:cNvGrpSpPr/>
          <p:nvPr/>
        </p:nvGrpSpPr>
        <p:grpSpPr>
          <a:xfrm>
            <a:off x="996944" y="5376862"/>
            <a:ext cx="4915548" cy="205359"/>
            <a:chOff x="996944" y="5376862"/>
            <a:chExt cx="4915548" cy="205359"/>
          </a:xfrm>
        </p:grpSpPr>
        <p:sp>
          <p:nvSpPr>
            <p:cNvPr id="85" name="TextBox 85"/>
            <p:cNvSpPr txBox="1"/>
            <p:nvPr/>
          </p:nvSpPr>
          <p:spPr>
            <a:xfrm>
              <a:off x="996944" y="5376862"/>
              <a:ext cx="4915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存储在磁盘上的实际数据记录，索引的叶结点逐条指向它们（源课件第 60 页）</a:t>
              </a:r>
            </a:p>
          </p:txBody>
        </p:sp>
      </p:grpSp>
      <p:grpSp>
        <p:nvGrpSpPr>
          <p:cNvPr id="100" name="c2-steps-1"/>
          <p:cNvGrpSpPr/>
          <p:nvPr/>
        </p:nvGrpSpPr>
        <p:grpSpPr>
          <a:xfrm>
            <a:off x="6680835" y="1938338"/>
            <a:ext cx="4960734" cy="1596009"/>
            <a:chOff x="6680835" y="1938338"/>
            <a:chExt cx="4960734" cy="1596009"/>
          </a:xfrm>
        </p:grpSpPr>
        <p:sp>
          <p:nvSpPr>
            <p:cNvPr id="87" name="Rectangle 87"/>
            <p:cNvSpPr/>
            <p:nvPr/>
          </p:nvSpPr>
          <p:spPr>
            <a:xfrm>
              <a:off x="6814185" y="20812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6680835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774459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680835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774459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6680835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774459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093458" y="19683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逐层比较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094601" y="2223135"/>
              <a:ext cx="4546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要找 ID = 13。13 落在 10 与 25 之间走右分支，再在 13 | 25 中走左分支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093458" y="25217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查叶块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094601" y="2776538"/>
              <a:ext cx="2611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在叶块中找到 13，取出它指向磁盘的指针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093458" y="30751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读记录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094601" y="3328988"/>
              <a:ext cx="26098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按这个指针去磁盘读出 Proro 那一条记录</a:t>
              </a:r>
            </a:p>
          </p:txBody>
        </p:sp>
      </p:grpSp>
      <p:grpSp>
        <p:nvGrpSpPr>
          <p:cNvPr id="108" name="c2-card-2"/>
          <p:cNvGrpSpPr/>
          <p:nvPr/>
        </p:nvGrpSpPr>
        <p:grpSpPr>
          <a:xfrm>
            <a:off x="6680835" y="3696652"/>
            <a:ext cx="4977765" cy="1428750"/>
            <a:chOff x="6680835" y="3696652"/>
            <a:chExt cx="4977765" cy="1428750"/>
          </a:xfrm>
        </p:grpSpPr>
        <p:sp>
          <p:nvSpPr>
            <p:cNvPr id="101" name="Rectangle 101"/>
            <p:cNvSpPr/>
            <p:nvPr/>
          </p:nvSpPr>
          <p:spPr>
            <a:xfrm>
              <a:off x="6680835" y="3696652"/>
              <a:ext cx="4977765" cy="1428750"/>
            </a:xfrm>
            <a:prstGeom prst="roundRect">
              <a:avLst>
                <a:gd name="adj" fmla="val 933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861810" y="38776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954482" y="39104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6871335" y="427005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026783" y="4217194"/>
              <a:ext cx="414888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逐条扫要访问磁盘最多 7 次，走索引只要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3 次索引 + 1 次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取记录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871335" y="47977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026783" y="474487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记录涨到一百万条时，三层索引仍然只需要几次访问</a:t>
              </a:r>
            </a:p>
          </p:txBody>
        </p:sp>
      </p:grpSp>
      <p:grpSp>
        <p:nvGrpSpPr>
          <p:cNvPr id="115" name="c2-callout-3"/>
          <p:cNvGrpSpPr/>
          <p:nvPr/>
        </p:nvGrpSpPr>
        <p:grpSpPr>
          <a:xfrm>
            <a:off x="6680835" y="5290185"/>
            <a:ext cx="4977765" cy="702945"/>
            <a:chOff x="6680835" y="5290185"/>
            <a:chExt cx="4977765" cy="702945"/>
          </a:xfrm>
        </p:grpSpPr>
        <p:sp>
          <p:nvSpPr>
            <p:cNvPr id="109" name="Rectangle 109"/>
            <p:cNvSpPr/>
            <p:nvPr/>
          </p:nvSpPr>
          <p:spPr>
            <a:xfrm>
              <a:off x="6680835" y="5290185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6885623" y="5541645"/>
              <a:ext cx="200026" cy="200025"/>
              <a:chOff x="6885623" y="5541645"/>
              <a:chExt cx="200026" cy="200025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6885623" y="55416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6925361" y="55860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6960077" y="56972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7188708" y="5435441"/>
              <a:ext cx="39794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叶层用双向箭头串起来，是为了支持“取出 9 到 15 之间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的全部记录”这类范围查询。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结构（二）数据的存储结构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四种存储结构可以组合，也必须按问题挑选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1511618"/>
            <a:chOff x="533400" y="1524000"/>
            <a:chExt cx="5626418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11618"/>
            </a:xfrm>
            <a:prstGeom prst="roundRect">
              <a:avLst>
                <a:gd name="adj" fmla="val 882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2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两条结论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5805" y="206121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1483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6602" y="2072640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将以上 4 种基本存储结构灵活地组合使用，实现复杂逻辑结构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的存储。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5805" y="262032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1483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6602" y="263271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根据问题的特点有针对性地选择合适的存储结构。</a:t>
              </a:r>
            </a:p>
          </p:txBody>
        </p:sp>
      </p:grpSp>
      <p:grpSp>
        <p:nvGrpSpPr>
          <p:cNvPr id="41" name="c1-table-2"/>
          <p:cNvGrpSpPr/>
          <p:nvPr/>
        </p:nvGrpSpPr>
        <p:grpSpPr>
          <a:xfrm>
            <a:off x="533400" y="3210878"/>
            <a:ext cx="5626418" cy="2628900"/>
            <a:chOff x="533400" y="3210878"/>
            <a:chExt cx="5626418" cy="2628900"/>
          </a:xfrm>
        </p:grpSpPr>
        <p:sp>
          <p:nvSpPr>
            <p:cNvPr id="17" name="Rectangle 17"/>
            <p:cNvSpPr/>
            <p:nvPr/>
          </p:nvSpPr>
          <p:spPr>
            <a:xfrm>
              <a:off x="533400" y="3210878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20826" y="33351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76829" y="33351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用到哪几种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21034" y="33351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在哪一讲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3412" y="38409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图的邻接表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21242" y="3740944"/>
              <a:ext cx="19814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顺序（顶点数组）+ 链接（边链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96790" y="3840956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 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176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222432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43467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散列表的链地址法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21242" y="4346734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散列（定桶）+ 链接（同桶结点）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96790" y="4346734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25 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6234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3412" y="4852511"/>
              <a:ext cx="13512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数据库的 B+ 树索引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21242" y="4752499"/>
              <a:ext cx="21023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索引（多级）+ 顺序（块内）+ 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接（叶层）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96790" y="4852511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24 讲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2292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5233988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545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静态链表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21242" y="5358289"/>
              <a:ext cx="212369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顺序（数组）+ 链接（用下标当指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96790" y="545830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讲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210878"/>
              <a:ext cx="5626418" cy="2628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216468" y="3210878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92015" y="3210878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rd-1"/>
          <p:cNvGrpSpPr/>
          <p:nvPr/>
        </p:nvGrpSpPr>
        <p:grpSpPr>
          <a:xfrm>
            <a:off x="6464618" y="1524000"/>
            <a:ext cx="5193982" cy="1226820"/>
            <a:chOff x="6464618" y="1524000"/>
            <a:chExt cx="5193982" cy="1226820"/>
          </a:xfrm>
        </p:grpSpPr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512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8656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关系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78814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逻辑结构与存储结构是两件事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8264" y="20907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逻辑结构由问题本身决定，存储结构由实现者选择。同一个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逻辑结构可以有多种存储结构。</a:t>
              </a:r>
            </a:p>
          </p:txBody>
        </p:sp>
      </p:grpSp>
      <p:grpSp>
        <p:nvGrpSpPr>
          <p:cNvPr id="68" name="c2-table-2"/>
          <p:cNvGrpSpPr/>
          <p:nvPr/>
        </p:nvGrpSpPr>
        <p:grpSpPr>
          <a:xfrm>
            <a:off x="6464618" y="2926080"/>
            <a:ext cx="5193982" cy="2258378"/>
            <a:chOff x="6464618" y="2926080"/>
            <a:chExt cx="5193982" cy="2258378"/>
          </a:xfrm>
        </p:grpSpPr>
        <p:sp>
          <p:nvSpPr>
            <p:cNvPr id="49" name="Rectangle 49"/>
            <p:cNvSpPr/>
            <p:nvPr/>
          </p:nvSpPr>
          <p:spPr>
            <a:xfrm>
              <a:off x="6464618" y="2926080"/>
              <a:ext cx="5193982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65786" y="305371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逻辑结构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77188" y="305371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顺序存储的做法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03155" y="305371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链接存储的做法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63487" y="36185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6487" y="361854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顺序表（数组）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31502" y="3498532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单链表、双链表、循环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40500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4618" y="4054792"/>
              <a:ext cx="5193982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3487" y="430339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06487" y="4183380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顺序表示（完全二叉树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按层放数组）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31502" y="4183380"/>
              <a:ext cx="17282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孩子链表、孩子兄弟链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47348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63487" y="486822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06487" y="486822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31502" y="486822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邻接表、十字链表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2926080"/>
              <a:ext cx="5193982" cy="22583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602855" y="292608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627870" y="2926080"/>
              <a:ext cx="9525" cy="2258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llout-3"/>
          <p:cNvGrpSpPr/>
          <p:nvPr/>
        </p:nvGrpSpPr>
        <p:grpSpPr>
          <a:xfrm>
            <a:off x="6464618" y="5359718"/>
            <a:ext cx="5193982" cy="978218"/>
            <a:chOff x="6464618" y="5359718"/>
            <a:chExt cx="5193982" cy="978218"/>
          </a:xfrm>
        </p:grpSpPr>
        <p:sp>
          <p:nvSpPr>
            <p:cNvPr id="69" name="Rectangle 69"/>
            <p:cNvSpPr/>
            <p:nvPr/>
          </p:nvSpPr>
          <p:spPr>
            <a:xfrm>
              <a:off x="6464618" y="5359718"/>
              <a:ext cx="5193982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657347" y="5744646"/>
              <a:ext cx="224134" cy="192560"/>
              <a:chOff x="6657347" y="5744646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769418" y="58150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657347" y="57446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769418" y="58928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972110" y="5505450"/>
              <a:ext cx="42999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容易混的两句话：链表是一种存储结构，不是一种逻辑结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构；线性表是一种逻辑结构，它可以用顺序存储，也可以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用链接存储。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操作与数据结构的完整定义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凑齐三个组成部分，才叫一个数据结构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六种基本操作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数据结构的定义与三要素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72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 26 讲的地图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操作与数据结构的完整定义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对数据的六种基本操作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6276022" cy="3832860"/>
            <a:chOff x="533400" y="1524000"/>
            <a:chExt cx="6276022" cy="3832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104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700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73955" y="16516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电话簿上的例子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2270" y="20964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5697" y="209645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向数据中插入新的数据元素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3232" y="209645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增加一位联系人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088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13635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2270" y="25412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5697" y="254127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从数据中删除指定的数据元素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23232" y="25412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删掉一位不再联系的人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527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270" y="310610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5697" y="310610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修改指定数据元素某些数据项的值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986088"/>
              <a:ext cx="20711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更改某人的办公电话（先查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找再修改）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375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2348"/>
              <a:ext cx="6276022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2270" y="37909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5697" y="3670935"/>
              <a:ext cx="27569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在数据中查找具有指定关键字值的数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据元素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3232" y="37909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按姓名找出某人的记录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224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2270" y="447484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85697" y="4354830"/>
              <a:ext cx="27569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对数据中所有数据元素按关键字值升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序或降序排列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44748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按姓氏笔画把联系人排序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0728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912042"/>
              <a:ext cx="6276022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2270" y="50396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85697" y="503967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以某种方式访问数据中所有数据元素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23232" y="503967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打印所有人的电话信息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6276022" cy="38328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282065" y="1524000"/>
              <a:ext cx="9525" cy="3832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419600" y="1524000"/>
              <a:ext cx="9525" cy="3832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5531168"/>
            <a:ext cx="6276022" cy="729615"/>
            <a:chOff x="533400" y="5531168"/>
            <a:chExt cx="6276022" cy="729615"/>
          </a:xfrm>
        </p:grpSpPr>
        <p:sp>
          <p:nvSpPr>
            <p:cNvPr id="41" name="Rectangle 41"/>
            <p:cNvSpPr/>
            <p:nvPr/>
          </p:nvSpPr>
          <p:spPr>
            <a:xfrm>
              <a:off x="533400" y="5531168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795965"/>
              <a:ext cx="200023" cy="200023"/>
              <a:chOff x="738188" y="5795965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7959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58626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677852"/>
              <a:ext cx="530294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后面 25 讲的内容，基本上就是在各种逻辑结构 + 存储结构的组合下，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把这六种操作实现得尽量快。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114222" y="1524000"/>
            <a:ext cx="4544378" cy="1743075"/>
            <a:chOff x="7114222" y="1524000"/>
            <a:chExt cx="4544378" cy="1743075"/>
          </a:xfrm>
        </p:grpSpPr>
        <p:sp>
          <p:nvSpPr>
            <p:cNvPr id="47" name="Rectangle 47"/>
            <p:cNvSpPr/>
            <p:nvPr/>
          </p:nvSpPr>
          <p:spPr>
            <a:xfrm>
              <a:off x="7114222" y="1524000"/>
              <a:ext cx="4544378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23748" y="16573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4472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3616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28420" y="1756410"/>
              <a:ext cx="12432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关键字（Key）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37870" y="209073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数据元素中用来标识或检索它的那个数据项。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353300" y="24488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09320" y="2392680"/>
              <a:ext cx="3394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图书数据里的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登录号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、学生记录里的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学号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39012" y="2691289"/>
              <a:ext cx="3851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查找、排序、散列都是围绕关键字进行的，后续各讲会反复用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到这个词。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7114222" y="3442335"/>
            <a:ext cx="4544378" cy="2818448"/>
            <a:chOff x="7114222" y="3442335"/>
            <a:chExt cx="4544378" cy="2818448"/>
          </a:xfrm>
        </p:grpSpPr>
        <p:sp>
          <p:nvSpPr>
            <p:cNvPr id="57" name="Rectangle 57"/>
            <p:cNvSpPr/>
            <p:nvPr/>
          </p:nvSpPr>
          <p:spPr>
            <a:xfrm>
              <a:off x="7114222" y="3442335"/>
              <a:ext cx="4544378" cy="2818448"/>
            </a:xfrm>
            <a:prstGeom prst="roundRect">
              <a:avLst>
                <a:gd name="adj" fmla="val 4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23748" y="3575685"/>
              <a:ext cx="47625" cy="25517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44728" y="363474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40168" y="36690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95070" y="367474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一个操作常常由几个基本操作拼起来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53300" y="406431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09320" y="4008120"/>
              <a:ext cx="3721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“把张三的办公电话改成新号码”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查找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+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353300" y="436721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09320" y="4311015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“按姓氏笔画打印通讯录”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排序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+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遍历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39012" y="4609624"/>
              <a:ext cx="3851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所以查找和排序的效率，会直接决定整个功能的效率。这也是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它们占了本课程 9 讲的原因。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75377" cy="909257"/>
            <a:chOff x="520446" y="342900"/>
            <a:chExt cx="60753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操作与数据结构的完整定义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753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 = 逻辑结构 + 存储结构 + 操作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403032"/>
            <a:chOff x="533400" y="1524000"/>
            <a:chExt cx="4977765" cy="14030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按某种逻辑关系将一批数据元素组织起来，按一定的存储方式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将它们存储起来，并在这些数据元素上定义一个操作集合，就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得到了一个特定的数据结构。</a:t>
              </a:r>
            </a:p>
          </p:txBody>
        </p:sp>
      </p:grpSp>
      <p:grpSp>
        <p:nvGrpSpPr>
          <p:cNvPr id="28" name="c1-flow-2"/>
          <p:cNvGrpSpPr/>
          <p:nvPr/>
        </p:nvGrpSpPr>
        <p:grpSpPr>
          <a:xfrm>
            <a:off x="707708" y="3198495"/>
            <a:ext cx="4629150" cy="2082165"/>
            <a:chOff x="707708" y="3198495"/>
            <a:chExt cx="4629150" cy="2082165"/>
          </a:xfrm>
        </p:grpSpPr>
        <p:sp>
          <p:nvSpPr>
            <p:cNvPr id="14" name="Freeform 14"/>
            <p:cNvSpPr/>
            <p:nvPr/>
          </p:nvSpPr>
          <p:spPr>
            <a:xfrm>
              <a:off x="1777365" y="3750945"/>
              <a:ext cx="2488882" cy="107633"/>
            </a:xfrm>
            <a:custGeom>
              <a:avLst/>
              <a:gdLst/>
              <a:ahLst/>
              <a:cxnLst/>
              <a:rect l="l" t="t" r="r" b="b"/>
              <a:pathLst>
                <a:path w="2488882" h="107633">
                  <a:moveTo>
                    <a:pt x="0" y="0"/>
                  </a:moveTo>
                  <a:lnTo>
                    <a:pt x="0" y="105727"/>
                  </a:lnTo>
                  <a:lnTo>
                    <a:pt x="2488882" y="105727"/>
                  </a:lnTo>
                  <a:lnTo>
                    <a:pt x="2488882" y="1076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213860" y="38585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847975" y="4239578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091815" y="41871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777365" y="4620578"/>
              <a:ext cx="2488882" cy="108585"/>
            </a:xfrm>
            <a:custGeom>
              <a:avLst/>
              <a:gdLst/>
              <a:ahLst/>
              <a:cxnLst/>
              <a:rect l="l" t="t" r="r" b="b"/>
              <a:pathLst>
                <a:path w="2488882" h="108585">
                  <a:moveTo>
                    <a:pt x="0" y="108585"/>
                  </a:moveTo>
                  <a:lnTo>
                    <a:pt x="0" y="1905"/>
                  </a:lnTo>
                  <a:lnTo>
                    <a:pt x="2488882" y="1905"/>
                  </a:lnTo>
                  <a:lnTo>
                    <a:pt x="248888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213860" y="45158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7708" y="3198495"/>
              <a:ext cx="214026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7708" y="3963352"/>
              <a:ext cx="214026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7708" y="4729162"/>
              <a:ext cx="2140268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96590" y="3963352"/>
              <a:ext cx="2140268" cy="551498"/>
            </a:xfrm>
            <a:prstGeom prst="roundRect">
              <a:avLst>
                <a:gd name="adj" fmla="val 17271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05331" y="3310890"/>
              <a:ext cx="5440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05331" y="4076700"/>
              <a:ext cx="5440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存储结构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38656" y="4841558"/>
              <a:ext cx="6774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施加于数据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上的操作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27538" y="4076700"/>
              <a:ext cx="6774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一个特定的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5815965" y="1524000"/>
            <a:ext cx="5842635" cy="1714500"/>
            <a:chOff x="5815965" y="1524000"/>
            <a:chExt cx="5842635" cy="1714500"/>
          </a:xfrm>
        </p:grpSpPr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1714500"/>
            </a:xfrm>
            <a:prstGeom prst="roundRect">
              <a:avLst>
                <a:gd name="adj" fmla="val 777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996940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74359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三者互相牵制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06465" y="2097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61913" y="2045494"/>
              <a:ext cx="4987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逻辑结构由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问题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决定：排队就是线性表，组织架构就是树，路网就是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006465" y="2625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61913" y="2573179"/>
              <a:ext cx="4251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存储结构由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实现者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选择，同一逻辑结构可以有多种选择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006465" y="291084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61913" y="285797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操作的效率由前两者共同决定，换一种存储，同一操作的复杂度就变了</a:t>
              </a:r>
            </a:p>
          </p:txBody>
        </p:sp>
      </p:grpSp>
      <p:grpSp>
        <p:nvGrpSpPr>
          <p:cNvPr id="55" name="c2-table-2"/>
          <p:cNvGrpSpPr/>
          <p:nvPr/>
        </p:nvGrpSpPr>
        <p:grpSpPr>
          <a:xfrm>
            <a:off x="5811012" y="3403282"/>
            <a:ext cx="5847588" cy="1407509"/>
            <a:chOff x="5811012" y="3403282"/>
            <a:chExt cx="5847588" cy="1407509"/>
          </a:xfrm>
        </p:grpSpPr>
        <p:sp>
          <p:nvSpPr>
            <p:cNvPr id="39" name="Rectangle 39"/>
            <p:cNvSpPr/>
            <p:nvPr/>
          </p:nvSpPr>
          <p:spPr>
            <a:xfrm>
              <a:off x="5815965" y="340328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93383" y="352044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同一个线性表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49272" y="35204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63784" y="35204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链接存储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10644" y="3901440"/>
              <a:ext cx="851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取第 i 个元素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43790" y="3901440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63343" y="3901440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41605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15965" y="416528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10644" y="428339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已知前驱后插入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48831" y="4283392"/>
              <a:ext cx="37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58302" y="4283392"/>
              <a:ext cx="387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3403282"/>
              <a:ext cx="584263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24812" y="340328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839325" y="340328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11012" y="4620101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逻辑结构没变，操作的复杂度随存储结构而变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5815965" y="4937760"/>
            <a:ext cx="5842635" cy="702945"/>
            <a:chOff x="5815965" y="4937760"/>
            <a:chExt cx="5842635" cy="702945"/>
          </a:xfrm>
        </p:grpSpPr>
        <p:sp>
          <p:nvSpPr>
            <p:cNvPr id="56" name="Rectangle 56"/>
            <p:cNvSpPr/>
            <p:nvPr/>
          </p:nvSpPr>
          <p:spPr>
            <a:xfrm>
              <a:off x="5815965" y="493776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020753" y="5188268"/>
              <a:ext cx="200026" cy="200026"/>
              <a:chOff x="6020753" y="518826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020753" y="51882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120765" y="52549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09653" y="52882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323838" y="5082064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复杂度写法的前提要写清楚。上表的 O(1) 指“已知下标、元素定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长、随机访问内存”，换成外存就不成立了。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8111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《数据结构》这门课研究的，就是如何组织、存储和操作数据。三者缺一个，就不是一个完整的数据结构。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041632" cy="909257"/>
            <a:chOff x="520446" y="342900"/>
            <a:chExt cx="30416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 · 操作与数据结构的完整定义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0416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 26 讲的地图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673188" cy="308039"/>
            <a:chOff x="525399" y="1550194"/>
            <a:chExt cx="76731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673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前半程把四类逻辑结构逐一展开，后半程集中讲排序和查找这两类最常用的操作。</a:t>
              </a:r>
            </a:p>
          </p:txBody>
        </p:sp>
      </p:grpSp>
      <p:grpSp>
        <p:nvGrpSpPr>
          <p:cNvPr id="53" name="c1-tree-1"/>
          <p:cNvGrpSpPr/>
          <p:nvPr/>
        </p:nvGrpSpPr>
        <p:grpSpPr>
          <a:xfrm>
            <a:off x="533400" y="1968818"/>
            <a:ext cx="5410200" cy="3688079"/>
            <a:chOff x="533400" y="1968818"/>
            <a:chExt cx="5410200" cy="3688079"/>
          </a:xfrm>
        </p:grpSpPr>
        <p:sp>
          <p:nvSpPr>
            <p:cNvPr id="9" name="Freeform 9"/>
            <p:cNvSpPr/>
            <p:nvPr/>
          </p:nvSpPr>
          <p:spPr>
            <a:xfrm>
              <a:off x="3970020" y="2135505"/>
              <a:ext cx="419100" cy="167640"/>
            </a:xfrm>
            <a:custGeom>
              <a:avLst/>
              <a:gdLst/>
              <a:ahLst/>
              <a:cxnLst/>
              <a:rect l="l" t="t" r="r" b="b"/>
              <a:pathLst>
                <a:path w="419100" h="167640">
                  <a:moveTo>
                    <a:pt x="0" y="167640"/>
                  </a:moveTo>
                  <a:lnTo>
                    <a:pt x="209550" y="1676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970020" y="2303145"/>
              <a:ext cx="419100" cy="167640"/>
            </a:xfrm>
            <a:custGeom>
              <a:avLst/>
              <a:gdLst/>
              <a:ahLst/>
              <a:cxnLst/>
              <a:rect l="l" t="t" r="r" b="b"/>
              <a:pathLst>
                <a:path w="419100" h="167640">
                  <a:moveTo>
                    <a:pt x="0" y="0"/>
                  </a:moveTo>
                  <a:lnTo>
                    <a:pt x="209550" y="0"/>
                  </a:lnTo>
                  <a:lnTo>
                    <a:pt x="209550" y="167640"/>
                  </a:lnTo>
                  <a:lnTo>
                    <a:pt x="419100" y="16764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970020" y="2806065"/>
              <a:ext cx="419100" cy="502920"/>
            </a:xfrm>
            <a:custGeom>
              <a:avLst/>
              <a:gdLst/>
              <a:ahLst/>
              <a:cxnLst/>
              <a:rect l="l" t="t" r="r" b="b"/>
              <a:pathLst>
                <a:path w="419100" h="502920">
                  <a:moveTo>
                    <a:pt x="0" y="502920"/>
                  </a:moveTo>
                  <a:lnTo>
                    <a:pt x="209550" y="50292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970020" y="3141345"/>
              <a:ext cx="419100" cy="167640"/>
            </a:xfrm>
            <a:custGeom>
              <a:avLst/>
              <a:gdLst/>
              <a:ahLst/>
              <a:cxnLst/>
              <a:rect l="l" t="t" r="r" b="b"/>
              <a:pathLst>
                <a:path w="419100" h="167640">
                  <a:moveTo>
                    <a:pt x="0" y="167640"/>
                  </a:moveTo>
                  <a:lnTo>
                    <a:pt x="209550" y="1676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970020" y="3308985"/>
              <a:ext cx="419100" cy="168593"/>
            </a:xfrm>
            <a:custGeom>
              <a:avLst/>
              <a:gdLst/>
              <a:ahLst/>
              <a:cxnLst/>
              <a:rect l="l" t="t" r="r" b="b"/>
              <a:pathLst>
                <a:path w="419100" h="168593">
                  <a:moveTo>
                    <a:pt x="0" y="0"/>
                  </a:moveTo>
                  <a:lnTo>
                    <a:pt x="209550" y="0"/>
                  </a:lnTo>
                  <a:lnTo>
                    <a:pt x="209550" y="168593"/>
                  </a:lnTo>
                  <a:lnTo>
                    <a:pt x="419100" y="16859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970020" y="3308985"/>
              <a:ext cx="419100" cy="503873"/>
            </a:xfrm>
            <a:custGeom>
              <a:avLst/>
              <a:gdLst/>
              <a:ahLst/>
              <a:cxnLst/>
              <a:rect l="l" t="t" r="r" b="b"/>
              <a:pathLst>
                <a:path w="419100" h="503873">
                  <a:moveTo>
                    <a:pt x="0" y="0"/>
                  </a:moveTo>
                  <a:lnTo>
                    <a:pt x="209550" y="0"/>
                  </a:lnTo>
                  <a:lnTo>
                    <a:pt x="209550" y="503873"/>
                  </a:lnTo>
                  <a:lnTo>
                    <a:pt x="419100" y="50387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970020" y="4148138"/>
              <a:ext cx="419100" cy="670560"/>
            </a:xfrm>
            <a:custGeom>
              <a:avLst/>
              <a:gdLst/>
              <a:ahLst/>
              <a:cxnLst/>
              <a:rect l="l" t="t" r="r" b="b"/>
              <a:pathLst>
                <a:path w="419100" h="670560">
                  <a:moveTo>
                    <a:pt x="0" y="670560"/>
                  </a:moveTo>
                  <a:lnTo>
                    <a:pt x="209550" y="67056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70020" y="4483418"/>
              <a:ext cx="419100" cy="335280"/>
            </a:xfrm>
            <a:custGeom>
              <a:avLst/>
              <a:gdLst/>
              <a:ahLst/>
              <a:cxnLst/>
              <a:rect l="l" t="t" r="r" b="b"/>
              <a:pathLst>
                <a:path w="419100" h="335280">
                  <a:moveTo>
                    <a:pt x="0" y="335280"/>
                  </a:moveTo>
                  <a:lnTo>
                    <a:pt x="209550" y="3352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70020" y="481869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970020" y="4818698"/>
              <a:ext cx="419100" cy="336233"/>
            </a:xfrm>
            <a:custGeom>
              <a:avLst/>
              <a:gdLst/>
              <a:ahLst/>
              <a:cxnLst/>
              <a:rect l="l" t="t" r="r" b="b"/>
              <a:pathLst>
                <a:path w="419100" h="336233">
                  <a:moveTo>
                    <a:pt x="0" y="0"/>
                  </a:moveTo>
                  <a:lnTo>
                    <a:pt x="209550" y="0"/>
                  </a:lnTo>
                  <a:lnTo>
                    <a:pt x="209550" y="336233"/>
                  </a:lnTo>
                  <a:lnTo>
                    <a:pt x="419100" y="33623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970020" y="4818698"/>
              <a:ext cx="419100" cy="671512"/>
            </a:xfrm>
            <a:custGeom>
              <a:avLst/>
              <a:gdLst/>
              <a:ahLst/>
              <a:cxnLst/>
              <a:rect l="l" t="t" r="r" b="b"/>
              <a:pathLst>
                <a:path w="419100" h="671512">
                  <a:moveTo>
                    <a:pt x="0" y="0"/>
                  </a:moveTo>
                  <a:lnTo>
                    <a:pt x="209550" y="0"/>
                  </a:lnTo>
                  <a:lnTo>
                    <a:pt x="209550" y="671512"/>
                  </a:lnTo>
                  <a:lnTo>
                    <a:pt x="419100" y="6715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023110" y="2303145"/>
              <a:ext cx="419100" cy="1258252"/>
            </a:xfrm>
            <a:custGeom>
              <a:avLst/>
              <a:gdLst/>
              <a:ahLst/>
              <a:cxnLst/>
              <a:rect l="l" t="t" r="r" b="b"/>
              <a:pathLst>
                <a:path w="419100" h="1258252">
                  <a:moveTo>
                    <a:pt x="0" y="1258252"/>
                  </a:moveTo>
                  <a:lnTo>
                    <a:pt x="209550" y="125825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023110" y="3308985"/>
              <a:ext cx="419100" cy="252412"/>
            </a:xfrm>
            <a:custGeom>
              <a:avLst/>
              <a:gdLst/>
              <a:ahLst/>
              <a:cxnLst/>
              <a:rect l="l" t="t" r="r" b="b"/>
              <a:pathLst>
                <a:path w="419100" h="252412">
                  <a:moveTo>
                    <a:pt x="0" y="252412"/>
                  </a:moveTo>
                  <a:lnTo>
                    <a:pt x="209550" y="25241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023110" y="3561398"/>
              <a:ext cx="419100" cy="1257300"/>
            </a:xfrm>
            <a:custGeom>
              <a:avLst/>
              <a:gdLst/>
              <a:ahLst/>
              <a:cxnLst/>
              <a:rect l="l" t="t" r="r" b="b"/>
              <a:pathLst>
                <a:path w="419100" h="1257300">
                  <a:moveTo>
                    <a:pt x="0" y="0"/>
                  </a:moveTo>
                  <a:lnTo>
                    <a:pt x="209550" y="0"/>
                  </a:lnTo>
                  <a:lnTo>
                    <a:pt x="209550" y="1257300"/>
                  </a:lnTo>
                  <a:lnTo>
                    <a:pt x="419100" y="125730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89120" y="1968818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89120" y="2304098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442210" y="2049780"/>
              <a:ext cx="1527810" cy="506730"/>
            </a:xfrm>
            <a:prstGeom prst="roundRect">
              <a:avLst>
                <a:gd name="adj" fmla="val 18797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89120" y="2639378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89120" y="2974658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89120" y="3309938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89120" y="3646170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42210" y="3055620"/>
              <a:ext cx="1527810" cy="506730"/>
            </a:xfrm>
            <a:prstGeom prst="roundRect">
              <a:avLst>
                <a:gd name="adj" fmla="val 18797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89120" y="3981450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89120" y="4316730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389120" y="4652010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89120" y="4987290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89120" y="5323522"/>
              <a:ext cx="1554480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442210" y="4565332"/>
              <a:ext cx="1527810" cy="506730"/>
            </a:xfrm>
            <a:prstGeom prst="roundRect">
              <a:avLst>
                <a:gd name="adj" fmla="val 18797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3307080"/>
              <a:ext cx="1489710" cy="506730"/>
            </a:xfrm>
            <a:prstGeom prst="roundRect">
              <a:avLst>
                <a:gd name="adj" fmla="val 1879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79036" y="20621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数据结构概述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9036" y="239744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算法与复杂度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32126" y="2143125"/>
              <a:ext cx="592407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基础</a:t>
              </a:r>
              <a:br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第 1–2 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79036" y="273272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线性表的链接存储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79036" y="3068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栈和队列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79036" y="340423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数组与矩阵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79036" y="37395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字符串模式匹配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32126" y="3148965"/>
              <a:ext cx="592407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线性结构</a:t>
              </a:r>
              <a:br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第 3–6 讲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79036" y="40747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树和二叉树的性质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79036" y="441007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二叉树的存储和操作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79036" y="474535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线索二叉树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79036" y="508158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树的存储和操作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79036" y="54168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树的应用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532126" y="4658678"/>
              <a:ext cx="669417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树</a:t>
              </a:r>
              <a:br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第 7–11 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3316" y="3401378"/>
              <a:ext cx="669417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前半程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1–11 讲</a:t>
              </a:r>
            </a:p>
          </p:txBody>
        </p:sp>
      </p:grpSp>
      <p:grpSp>
        <p:nvGrpSpPr>
          <p:cNvPr id="107" name="c2-tree-1"/>
          <p:cNvGrpSpPr/>
          <p:nvPr/>
        </p:nvGrpSpPr>
        <p:grpSpPr>
          <a:xfrm>
            <a:off x="6248400" y="1932622"/>
            <a:ext cx="5410200" cy="3759518"/>
            <a:chOff x="6248400" y="1932622"/>
            <a:chExt cx="5410200" cy="3759518"/>
          </a:xfrm>
        </p:grpSpPr>
        <p:sp>
          <p:nvSpPr>
            <p:cNvPr id="54" name="Freeform 54"/>
            <p:cNvSpPr/>
            <p:nvPr/>
          </p:nvSpPr>
          <p:spPr>
            <a:xfrm>
              <a:off x="9670732" y="2099310"/>
              <a:ext cx="419100" cy="526732"/>
            </a:xfrm>
            <a:custGeom>
              <a:avLst/>
              <a:gdLst/>
              <a:ahLst/>
              <a:cxnLst/>
              <a:rect l="l" t="t" r="r" b="b"/>
              <a:pathLst>
                <a:path w="419100" h="526732">
                  <a:moveTo>
                    <a:pt x="0" y="526732"/>
                  </a:moveTo>
                  <a:lnTo>
                    <a:pt x="209550" y="52673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670732" y="2363152"/>
              <a:ext cx="419100" cy="262890"/>
            </a:xfrm>
            <a:custGeom>
              <a:avLst/>
              <a:gdLst/>
              <a:ahLst/>
              <a:cxnLst/>
              <a:rect l="l" t="t" r="r" b="b"/>
              <a:pathLst>
                <a:path w="419100" h="262890">
                  <a:moveTo>
                    <a:pt x="0" y="262890"/>
                  </a:moveTo>
                  <a:lnTo>
                    <a:pt x="209550" y="26289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670732" y="262604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9670732" y="2626042"/>
              <a:ext cx="419100" cy="263842"/>
            </a:xfrm>
            <a:custGeom>
              <a:avLst/>
              <a:gdLst/>
              <a:ahLst/>
              <a:cxnLst/>
              <a:rect l="l" t="t" r="r" b="b"/>
              <a:pathLst>
                <a:path w="419100" h="263842">
                  <a:moveTo>
                    <a:pt x="0" y="0"/>
                  </a:moveTo>
                  <a:lnTo>
                    <a:pt x="209550" y="0"/>
                  </a:lnTo>
                  <a:lnTo>
                    <a:pt x="209550" y="263842"/>
                  </a:lnTo>
                  <a:lnTo>
                    <a:pt x="419100" y="2638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670732" y="2626042"/>
              <a:ext cx="419100" cy="527685"/>
            </a:xfrm>
            <a:custGeom>
              <a:avLst/>
              <a:gdLst/>
              <a:ahLst/>
              <a:cxnLst/>
              <a:rect l="l" t="t" r="r" b="b"/>
              <a:pathLst>
                <a:path w="419100" h="527685">
                  <a:moveTo>
                    <a:pt x="0" y="0"/>
                  </a:moveTo>
                  <a:lnTo>
                    <a:pt x="209550" y="0"/>
                  </a:lnTo>
                  <a:lnTo>
                    <a:pt x="209550" y="527685"/>
                  </a:lnTo>
                  <a:lnTo>
                    <a:pt x="419100" y="5276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670732" y="3417570"/>
              <a:ext cx="419100" cy="526733"/>
            </a:xfrm>
            <a:custGeom>
              <a:avLst/>
              <a:gdLst/>
              <a:ahLst/>
              <a:cxnLst/>
              <a:rect l="l" t="t" r="r" b="b"/>
              <a:pathLst>
                <a:path w="419100" h="526733">
                  <a:moveTo>
                    <a:pt x="0" y="526733"/>
                  </a:moveTo>
                  <a:lnTo>
                    <a:pt x="209550" y="52673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670732" y="3680460"/>
              <a:ext cx="419100" cy="263843"/>
            </a:xfrm>
            <a:custGeom>
              <a:avLst/>
              <a:gdLst/>
              <a:ahLst/>
              <a:cxnLst/>
              <a:rect l="l" t="t" r="r" b="b"/>
              <a:pathLst>
                <a:path w="419100" h="263843">
                  <a:moveTo>
                    <a:pt x="0" y="263843"/>
                  </a:moveTo>
                  <a:lnTo>
                    <a:pt x="209550" y="26384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670732" y="3944302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670732" y="3944302"/>
              <a:ext cx="419100" cy="263842"/>
            </a:xfrm>
            <a:custGeom>
              <a:avLst/>
              <a:gdLst/>
              <a:ahLst/>
              <a:cxnLst/>
              <a:rect l="l" t="t" r="r" b="b"/>
              <a:pathLst>
                <a:path w="419100" h="263842">
                  <a:moveTo>
                    <a:pt x="0" y="0"/>
                  </a:moveTo>
                  <a:lnTo>
                    <a:pt x="209550" y="0"/>
                  </a:lnTo>
                  <a:lnTo>
                    <a:pt x="209550" y="263842"/>
                  </a:lnTo>
                  <a:lnTo>
                    <a:pt x="419100" y="2638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670732" y="3944302"/>
              <a:ext cx="419100" cy="527685"/>
            </a:xfrm>
            <a:custGeom>
              <a:avLst/>
              <a:gdLst/>
              <a:ahLst/>
              <a:cxnLst/>
              <a:rect l="l" t="t" r="r" b="b"/>
              <a:pathLst>
                <a:path w="419100" h="527685">
                  <a:moveTo>
                    <a:pt x="0" y="0"/>
                  </a:moveTo>
                  <a:lnTo>
                    <a:pt x="209550" y="0"/>
                  </a:lnTo>
                  <a:lnTo>
                    <a:pt x="209550" y="527685"/>
                  </a:lnTo>
                  <a:lnTo>
                    <a:pt x="419100" y="5276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670732" y="4734878"/>
              <a:ext cx="419100" cy="396240"/>
            </a:xfrm>
            <a:custGeom>
              <a:avLst/>
              <a:gdLst/>
              <a:ahLst/>
              <a:cxnLst/>
              <a:rect l="l" t="t" r="r" b="b"/>
              <a:pathLst>
                <a:path w="419100" h="396240">
                  <a:moveTo>
                    <a:pt x="0" y="396240"/>
                  </a:moveTo>
                  <a:lnTo>
                    <a:pt x="209550" y="39624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670732" y="4998720"/>
              <a:ext cx="419100" cy="132398"/>
            </a:xfrm>
            <a:custGeom>
              <a:avLst/>
              <a:gdLst/>
              <a:ahLst/>
              <a:cxnLst/>
              <a:rect l="l" t="t" r="r" b="b"/>
              <a:pathLst>
                <a:path w="419100" h="132398">
                  <a:moveTo>
                    <a:pt x="0" y="132398"/>
                  </a:moveTo>
                  <a:lnTo>
                    <a:pt x="209550" y="13239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9670732" y="5131118"/>
              <a:ext cx="419100" cy="131445"/>
            </a:xfrm>
            <a:custGeom>
              <a:avLst/>
              <a:gdLst/>
              <a:ahLst/>
              <a:cxnLst/>
              <a:rect l="l" t="t" r="r" b="b"/>
              <a:pathLst>
                <a:path w="419100" h="131445">
                  <a:moveTo>
                    <a:pt x="0" y="0"/>
                  </a:moveTo>
                  <a:lnTo>
                    <a:pt x="209550" y="0"/>
                  </a:lnTo>
                  <a:lnTo>
                    <a:pt x="209550" y="131445"/>
                  </a:lnTo>
                  <a:lnTo>
                    <a:pt x="419100" y="13144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9670732" y="5131118"/>
              <a:ext cx="419100" cy="395288"/>
            </a:xfrm>
            <a:custGeom>
              <a:avLst/>
              <a:gdLst/>
              <a:ahLst/>
              <a:cxnLst/>
              <a:rect l="l" t="t" r="r" b="b"/>
              <a:pathLst>
                <a:path w="419100" h="395288">
                  <a:moveTo>
                    <a:pt x="0" y="0"/>
                  </a:moveTo>
                  <a:lnTo>
                    <a:pt x="209550" y="0"/>
                  </a:lnTo>
                  <a:lnTo>
                    <a:pt x="209550" y="395288"/>
                  </a:lnTo>
                  <a:lnTo>
                    <a:pt x="419100" y="39528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829550" y="2626042"/>
              <a:ext cx="419100" cy="1252538"/>
            </a:xfrm>
            <a:custGeom>
              <a:avLst/>
              <a:gdLst/>
              <a:ahLst/>
              <a:cxnLst/>
              <a:rect l="l" t="t" r="r" b="b"/>
              <a:pathLst>
                <a:path w="419100" h="1252538">
                  <a:moveTo>
                    <a:pt x="0" y="1252538"/>
                  </a:moveTo>
                  <a:lnTo>
                    <a:pt x="209550" y="125253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7829550" y="3878580"/>
              <a:ext cx="419100" cy="65723"/>
            </a:xfrm>
            <a:custGeom>
              <a:avLst/>
              <a:gdLst/>
              <a:ahLst/>
              <a:cxnLst/>
              <a:rect l="l" t="t" r="r" b="b"/>
              <a:pathLst>
                <a:path w="419100" h="65723">
                  <a:moveTo>
                    <a:pt x="0" y="0"/>
                  </a:moveTo>
                  <a:lnTo>
                    <a:pt x="209550" y="0"/>
                  </a:lnTo>
                  <a:lnTo>
                    <a:pt x="209550" y="65723"/>
                  </a:lnTo>
                  <a:lnTo>
                    <a:pt x="419100" y="6572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829550" y="3878580"/>
              <a:ext cx="419100" cy="1252538"/>
            </a:xfrm>
            <a:custGeom>
              <a:avLst/>
              <a:gdLst/>
              <a:ahLst/>
              <a:cxnLst/>
              <a:rect l="l" t="t" r="r" b="b"/>
              <a:pathLst>
                <a:path w="419100" h="1252538">
                  <a:moveTo>
                    <a:pt x="0" y="0"/>
                  </a:moveTo>
                  <a:lnTo>
                    <a:pt x="209550" y="0"/>
                  </a:lnTo>
                  <a:lnTo>
                    <a:pt x="209550" y="1252538"/>
                  </a:lnTo>
                  <a:lnTo>
                    <a:pt x="419100" y="12525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089832" y="1932622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089832" y="2196465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089832" y="2459355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10089832" y="2723198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089832" y="2987040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8248650" y="2372678"/>
              <a:ext cx="1422082" cy="506730"/>
            </a:xfrm>
            <a:prstGeom prst="roundRect">
              <a:avLst>
                <a:gd name="adj" fmla="val 18797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089832" y="3249930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089832" y="3513772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089832" y="3777615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089832" y="4041458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089832" y="4304348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248650" y="3690938"/>
              <a:ext cx="1422082" cy="506730"/>
            </a:xfrm>
            <a:prstGeom prst="roundRect">
              <a:avLst>
                <a:gd name="adj" fmla="val 18797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089832" y="4568190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10089832" y="4832032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089832" y="5095875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089832" y="5358765"/>
              <a:ext cx="156876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8248650" y="4876800"/>
              <a:ext cx="1422082" cy="506730"/>
            </a:xfrm>
            <a:prstGeom prst="roundRect">
              <a:avLst>
                <a:gd name="adj" fmla="val 18797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248400" y="3625215"/>
              <a:ext cx="1581150" cy="506730"/>
            </a:xfrm>
            <a:prstGeom prst="roundRect">
              <a:avLst>
                <a:gd name="adj" fmla="val 1879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179748" y="202596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图的概念与存储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179748" y="22898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图的遍历及应用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179748" y="25527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拓扑排序与关键路径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179748" y="281654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最短路径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179748" y="30803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最小支撑树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338566" y="2466023"/>
              <a:ext cx="746427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图</a:t>
              </a:r>
              <a:br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第 12–16 讲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179748" y="33442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平方阶排序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179748" y="360711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9748" y="387096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179748" y="4134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归并排序与下界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179748" y="43986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338566" y="3784282"/>
              <a:ext cx="746427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排序</a:t>
              </a:r>
              <a:br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第 17–21 讲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179748" y="466153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线性结构查找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179748" y="492537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179748" y="518922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多叉查找树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179748" y="5453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338566" y="4971098"/>
              <a:ext cx="746427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查找</a:t>
              </a:r>
              <a:br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第 22–25 讲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338316" y="3718560"/>
              <a:ext cx="746427" cy="3787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后半程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12–25 讲</a:t>
              </a:r>
            </a:p>
          </p:txBody>
        </p:sp>
      </p:grpSp>
      <p:grpSp>
        <p:nvGrpSpPr>
          <p:cNvPr id="11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08" name="Rectangle 10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2" name="Group 11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3" name="TextBox 113"/>
            <p:cNvSpPr txBox="1"/>
            <p:nvPr/>
          </p:nvSpPr>
          <p:spPr>
            <a:xfrm>
              <a:off x="1040130" y="5991225"/>
              <a:ext cx="93040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每一讲都可以套本讲的框架来读：它讲的是哪种逻辑结构、用什么存储、把六种操作中的哪几种做快了。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5751" cy="909257"/>
            <a:chOff x="520446" y="342900"/>
            <a:chExt cx="1055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28300" cy="278702"/>
            <a:chOff x="526161" y="1547336"/>
            <a:chExt cx="1052830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283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先自己写出答案再看解答。另外自问两题：索引存储为什么能加快检索、代价是什么？一个完整的数据结构由哪三部分组成？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3505200" cy="2025968"/>
            <a:chOff x="533400" y="1941195"/>
            <a:chExt cx="3505200" cy="202596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数据、数据元素、数据项三者是什么关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系？分别对应表格里的什么？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数据由多个数据元素组成，数据元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素由多个数据项组成。整张表是数据，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一行是数据元素，一列是数据项。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143375"/>
            <a:ext cx="3505200" cy="2025968"/>
            <a:chOff x="533400" y="4143375"/>
            <a:chExt cx="3505200" cy="2025968"/>
          </a:xfrm>
        </p:grpSpPr>
        <p:sp>
          <p:nvSpPr>
            <p:cNvPr id="15" name="Rectangle 15"/>
            <p:cNvSpPr/>
            <p:nvPr/>
          </p:nvSpPr>
          <p:spPr>
            <a:xfrm>
              <a:off x="533400" y="4143375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33578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37007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692015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顺序表有 n 个元素，随机位置插入平均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要移动多少个？删除呢？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5252085"/>
              <a:ext cx="29197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插入有 n + 1 个位置，平均 (n + 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+ 0)/(n + 1) = n/2；删除有 n 个位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置，平均 (n−1)/2。都是 O(n)。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41195"/>
            <a:ext cx="3505200" cy="2025968"/>
            <a:chOff x="4343400" y="1941195"/>
            <a:chExt cx="3505200" cy="2025968"/>
          </a:xfrm>
        </p:grpSpPr>
        <p:sp>
          <p:nvSpPr>
            <p:cNvPr id="21" name="Rectangle 21"/>
            <p:cNvSpPr/>
            <p:nvPr/>
          </p:nvSpPr>
          <p:spPr>
            <a:xfrm>
              <a:off x="4343400" y="1941195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2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8947" y="249078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逻辑结构和存储结构的区别是什么？链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表属于哪一种？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8947" y="304990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逻辑结构只讲前驱后继关系，存储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结构是它们在计算机中的表示。链表是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存储结构，存的逻辑结构是线性表。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143375"/>
            <a:ext cx="3505200" cy="2025968"/>
            <a:chOff x="4343400" y="4143375"/>
            <a:chExt cx="3505200" cy="2025968"/>
          </a:xfrm>
        </p:grpSpPr>
        <p:sp>
          <p:nvSpPr>
            <p:cNvPr id="27" name="Rectangle 27"/>
            <p:cNvSpPr/>
            <p:nvPr/>
          </p:nvSpPr>
          <p:spPr>
            <a:xfrm>
              <a:off x="4343400" y="4143375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5805" y="433578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24753" y="437007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8947" y="4692015"/>
              <a:ext cx="290007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顺序存储按下标检索为什么是 O(1)？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8947" y="525208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Loc(aᵢ) = Loc(a₀) + i × L 可直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接算出地址。前提：元素等长、空间连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续、内存随机访问。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41195"/>
            <a:ext cx="3505200" cy="2025968"/>
            <a:chOff x="8153400" y="1941195"/>
            <a:chExt cx="3505200" cy="2025968"/>
          </a:xfrm>
        </p:grpSpPr>
        <p:sp>
          <p:nvSpPr>
            <p:cNvPr id="33" name="Rectangle 33"/>
            <p:cNvSpPr/>
            <p:nvPr/>
          </p:nvSpPr>
          <p:spPr>
            <a:xfrm>
              <a:off x="8153400" y="1941195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3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8947" y="2490788"/>
              <a:ext cx="28636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某结构中 B 和 D 各有 3 个前驱，它属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于四类逻辑结构中的哪一类？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947" y="3049905"/>
              <a:ext cx="29798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网状结构（图）。树要求除根外每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结点只有 1 个前驱，前驱超过 1 个就只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能是图。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143375"/>
            <a:ext cx="3505200" cy="2025968"/>
            <a:chOff x="8153400" y="4143375"/>
            <a:chExt cx="3505200" cy="2025968"/>
          </a:xfrm>
        </p:grpSpPr>
        <p:sp>
          <p:nvSpPr>
            <p:cNvPr id="39" name="Rectangle 39"/>
            <p:cNvSpPr/>
            <p:nvPr/>
          </p:nvSpPr>
          <p:spPr>
            <a:xfrm>
              <a:off x="8153400" y="4143375"/>
              <a:ext cx="3505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5805" y="433578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4753" y="437007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8947" y="469201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散列存储中什么是冲突？为什么无法完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全避免？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8947" y="525208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 ≠ K₂ 而 h(K₁) = h(K₂)。关键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字取值范围远大于表长，映射必然不是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单射，一定会有冲突。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第1讲 概述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96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09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13954" y="2023110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程序处理的对象；由数据元素组成，元素由数据项组成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13954" y="240411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只讲前驱后继；线性、树、图、集合四类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存储结构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3954" y="2785110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顺序（地址相邻）、链接（指针）、散列（函数）、索引（索引表）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13954" y="316706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插入、删除、修改、查找、排序、遍历六种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数据结构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13954" y="3548062"/>
              <a:ext cx="27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逻辑结构 + 存储结构 + 操作，三者缺一不可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1451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976688"/>
            <a:ext cx="5842635" cy="1671638"/>
            <a:chOff x="533400" y="3976688"/>
            <a:chExt cx="5842635" cy="1671638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术语统一：第 48、49 页的“前趋”应为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前驱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52 页的“节点”应为</a:t>
              </a:r>
              <a:br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78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02586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54 页地址图补上一般式 Loc(aᵢ) = Loc(a₀) + i × L，并实测元素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 120 字节；另补平均移动次数的推导与四种存储的组合用法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4935169" cy="1918621"/>
            <a:chOff x="6681788" y="1533525"/>
            <a:chExt cx="4935169" cy="1918621"/>
          </a:xfrm>
        </p:grpSpPr>
        <p:sp>
          <p:nvSpPr>
            <p:cNvPr id="38" name="Ellipse 38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1536" y="1545431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判断逻辑结构类型时先数前驱个数：超过 1 个是图，最多 1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再看后继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1788" y="206978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208073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顺序存储快在按下标取，链接存储快在改；两者的查找都不快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3631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3987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37410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散列用关键字直接算地址，代价是次序全乱、必须处理冲突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667476"/>
              <a:ext cx="4355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索引把“找位置”和“读数据”分开，适合数据在外存的场合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29489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29845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295989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同一个逻辑结构可以有多种存储结构，操作的复杂度随存储结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构而变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680835" y="3567112"/>
            <a:ext cx="4977765" cy="2082165"/>
            <a:chOff x="6680835" y="3567112"/>
            <a:chExt cx="4977765" cy="2082165"/>
          </a:xfrm>
        </p:grpSpPr>
        <p:sp>
          <p:nvSpPr>
            <p:cNvPr id="54" name="Rectangle 54"/>
            <p:cNvSpPr/>
            <p:nvPr/>
          </p:nvSpPr>
          <p:spPr>
            <a:xfrm>
              <a:off x="6680835" y="3567112"/>
              <a:ext cx="4977765" cy="2082165"/>
            </a:xfrm>
            <a:prstGeom prst="roundRect">
              <a:avLst>
                <a:gd name="adj" fmla="val 640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7480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7332" y="3780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414051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408860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拿任意一个结点关系图，判断它属于哪类逻辑结构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44253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437340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再说出用四种存储各自怎么存、哪种操作会因此变快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6476" y="465486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这两步能答顺，本讲的内容就算掌握了。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7358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下一讲是算法与复杂度分析，会把本讲出现的 O(1)、O(n) 这些记号讲清楚，并给出估算方法。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第1讲 数据结构概述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1">
  <a:themeElements>
    <a:clrScheme name="ds_l0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2026-09-19T09:19:18Z</dcterms:created>
  <dcterms:modified xsi:type="dcterms:W3CDTF">2026-09-19T09:19:18Z</dcterms:modified>
  <cp:category/>
  <cp:contentStatus/>
</cp:coreProperties>
</file>