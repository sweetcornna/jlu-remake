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inux_summa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inux_summa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7cd30e44491642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478c9e088a12ea4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d026b069d0941c.png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772467" cy="3437763"/>
            <a:chOff x="666750" y="1619250"/>
            <a:chExt cx="4772467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4118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181" y="1718310"/>
              <a:ext cx="160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Linux技术 · 期末复习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8082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知识整理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7625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命令、权限、Shell 脚本与 make 的考点复习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文件、目录与权限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391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 基础与进程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条件判断与 test 命令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算术、循环与 make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502679" cy="205359"/>
            <a:chOff x="680466" y="6192202"/>
            <a:chExt cx="650267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50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自学复习版｜据吉林大学《Linux技术》课程整理课件（作业真题与第 5、8、9 章节选）整理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534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734" y="407194"/>
              <a:ext cx="1062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文件、目录与权限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053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路径写法、mv 与 head/tail、ls -l 各列、chmod、ln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0624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基础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93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 的功能、内部命令、通配符、引号、进程与信号、配置文件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脚本与条件判断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277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四种执行方式、if 结构、test 的数值/字符串/文件判断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算术运算与循环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expr、let、$(( ))，for 与 until 循环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0907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 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5626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makefile 规则、按时间戳重编译、make clean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作业真题速查与自测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 道作业题逐题给出答案和理由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看懂 ls -l 的每一列，会用符号和数字两种方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式改权限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./won、bash won、. won 三种执行方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式的区别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test 或 [ ] 正确写出数值、字符串、文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件判断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expr、let 做整数运算，写出 for、until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 makefile，推断 make 在修改某个源文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件后执行哪些命令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57890" cy="3351847"/>
            <a:chOff x="667512" y="1835468"/>
            <a:chExt cx="475789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文件、目录与权限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479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路径怎么写，ls -l 每一列说了什么，权限怎样改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绝对路径、相对路径与 ~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 改名与 head/tail 取行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-l 与 rwx 权限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chmod 与 ln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01318" cy="909257"/>
            <a:chOff x="520446" y="342900"/>
            <a:chExt cx="51013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926" y="407194"/>
              <a:ext cx="245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文件、目录与权限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013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相对路径靠 .. 也能走出当前目录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83509" cy="264033"/>
            <a:chOff x="526542" y="1545907"/>
            <a:chExt cx="658350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83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绝对路径从根目录 / 写起，在哪里执行都指向同一处；相对路径从当前目录写起。</a:t>
              </a:r>
            </a:p>
          </p:txBody>
        </p:sp>
      </p:grpSp>
      <p:grpSp>
        <p:nvGrpSpPr>
          <p:cNvPr id="42" name="c1-table-1"/>
          <p:cNvGrpSpPr/>
          <p:nvPr/>
        </p:nvGrpSpPr>
        <p:grpSpPr>
          <a:xfrm>
            <a:off x="533400" y="1928812"/>
            <a:ext cx="6059805" cy="3000376"/>
            <a:chOff x="533400" y="1928812"/>
            <a:chExt cx="6059805" cy="3000376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269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102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7601" y="2050256"/>
              <a:ext cx="1668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当前在 /var/log 时指向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450306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/var/run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1168" y="2450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绝对路径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87215" y="2450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/var/run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241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289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8503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1168" y="2850356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当前目录下的 run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7215" y="285035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/var/log/run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25040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../run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21168" y="3250406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.. 是上一级目录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7215" y="32504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/var/run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242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29012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3650456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./won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21168" y="365045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 是当前目录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87215" y="365045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/var/log/won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243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150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21168" y="41505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当前用户的主目录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87215" y="4050506"/>
              <a:ext cx="19032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david 为 /home/david，root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/root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243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29138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65058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~david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21168" y="4650581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david 的主目录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87215" y="46505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/home/david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28812"/>
              <a:ext cx="6059805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619250" y="192881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285298" y="192881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ode-2"/>
          <p:cNvGrpSpPr/>
          <p:nvPr/>
        </p:nvGrpSpPr>
        <p:grpSpPr>
          <a:xfrm>
            <a:off x="533400" y="5098732"/>
            <a:ext cx="6059805" cy="1209675"/>
            <a:chOff x="533400" y="5098732"/>
            <a:chExt cx="6059805" cy="1209675"/>
          </a:xfrm>
        </p:grpSpPr>
        <p:sp>
          <p:nvSpPr>
            <p:cNvPr id="43" name="Rectangle 43"/>
            <p:cNvSpPr/>
            <p:nvPr/>
          </p:nvSpPr>
          <p:spPr>
            <a:xfrm>
              <a:off x="533400" y="5098732"/>
              <a:ext cx="6059805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1797" y="5250656"/>
              <a:ext cx="27701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/var/log 到 /var/run，全程只用相对路径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797" y="5511641"/>
              <a:ext cx="2797810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/var/log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../run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先退到 /var，再进入 run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pwd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/var/run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928812"/>
            <a:ext cx="4760595" cy="2211705"/>
            <a:chOff x="6898005" y="1928812"/>
            <a:chExt cx="4760595" cy="2211705"/>
          </a:xfrm>
        </p:grpSpPr>
        <p:sp>
          <p:nvSpPr>
            <p:cNvPr id="47" name="Rectangle 47"/>
            <p:cNvSpPr/>
            <p:nvPr/>
          </p:nvSpPr>
          <p:spPr>
            <a:xfrm>
              <a:off x="6898005" y="1928812"/>
              <a:ext cx="4760595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2062162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22795" y="2115502"/>
              <a:ext cx="9820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98909" y="2148364"/>
              <a:ext cx="828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15937" y="2459355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“使用绝对路径可以表示出文件系统中任意文件的位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置，而使用相对路径只能表示出当前目录内部文件的位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置。”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15937" y="32737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17080" y="3570446"/>
              <a:ext cx="40937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相对路径可以用 .. 逐级向上，再向下进入别的目录，所以同样能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表示任意位置。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898005" y="4310062"/>
            <a:ext cx="4760595" cy="1998345"/>
            <a:chOff x="6898005" y="4310062"/>
            <a:chExt cx="4760595" cy="1998345"/>
          </a:xfrm>
        </p:grpSpPr>
        <p:sp>
          <p:nvSpPr>
            <p:cNvPr id="55" name="Rectangle 55"/>
            <p:cNvSpPr/>
            <p:nvPr/>
          </p:nvSpPr>
          <p:spPr>
            <a:xfrm>
              <a:off x="6898005" y="4310062"/>
              <a:ext cx="4760595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4443412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2795" y="449675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0214" y="45296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主目录的写法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31367" y="489775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87387" y="4841558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~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展开为当前用户的主目录，普通用户一般在 /home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31367" y="545496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87387" y="5398770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~用户名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展开为该用户的主目录，如 </a:t>
              </a:r>
              <a:r>
                <a:rPr lang="en-US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~david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31367" y="57550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87387" y="569880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不带参数也回到自己的主目录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1814" cy="909257"/>
            <a:chOff x="520446" y="342900"/>
            <a:chExt cx="85118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926" y="407194"/>
              <a:ext cx="245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文件、目录与权限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18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 的目标不存在时就是改名；head 加 tail 取中间几行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283142"/>
            <a:chOff x="533400" y="1524000"/>
            <a:chExt cx="4760595" cy="2283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965" y="1750695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713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“dir 是当前目录中的一个目录，当前目录中不存在目录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dir1，</a:t>
              </a:r>
              <a:r>
                <a:rPr lang="en-US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mv dir dir1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执行的结果是目录 dir 被移动到目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 dir1 中。”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39399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。dir1 不存在，这条命令把 dir 改名为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dir1；dir1 已存在且是目录时，dir 才会移进去成为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dir1/dir。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982402"/>
            <a:ext cx="4760595" cy="1261110"/>
            <a:chOff x="533400" y="3982402"/>
            <a:chExt cx="4760595" cy="1261110"/>
          </a:xfrm>
        </p:grpSpPr>
        <p:sp>
          <p:nvSpPr>
            <p:cNvPr id="14" name="Rectangle 14"/>
            <p:cNvSpPr/>
            <p:nvPr/>
          </p:nvSpPr>
          <p:spPr>
            <a:xfrm>
              <a:off x="533400" y="3982402"/>
              <a:ext cx="4760595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13432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416" y="4395788"/>
              <a:ext cx="96412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mkdir dir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mv dir dir1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-d dir*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dir1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598795" y="1524000"/>
            <a:ext cx="6059805" cy="2782252"/>
            <a:chOff x="5598795" y="1524000"/>
            <a:chExt cx="6059805" cy="2782252"/>
          </a:xfrm>
        </p:grpSpPr>
        <p:sp>
          <p:nvSpPr>
            <p:cNvPr id="18" name="Rectangle 18"/>
            <p:cNvSpPr/>
            <p:nvPr/>
          </p:nvSpPr>
          <p:spPr>
            <a:xfrm>
              <a:off x="5598795" y="1524000"/>
              <a:ext cx="6059805" cy="2782252"/>
            </a:xfrm>
            <a:prstGeom prst="roundRect">
              <a:avLst>
                <a:gd name="adj" fmla="val 47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08320" y="1657350"/>
              <a:ext cx="47625" cy="25155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29300" y="1716405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4360" y="1750695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单选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4014" y="1756410"/>
              <a:ext cx="3205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显示文件 filea 第 21 到 30 行的命令是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29300" y="2067878"/>
              <a:ext cx="563689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12966" y="21921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31413" y="21921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29312" y="2597944"/>
              <a:ext cx="1618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tail -n 30-21 filea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09622" y="2597944"/>
              <a:ext cx="2378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-n 只接受一个行数，不接受范围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29300" y="2874645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29300" y="2879408"/>
              <a:ext cx="56368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29312" y="3003709"/>
              <a:ext cx="1698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head -n 21-30 filea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9622" y="300370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同上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29300" y="3280410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38825" y="3294698"/>
              <a:ext cx="246126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29312" y="3409474"/>
              <a:ext cx="2022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head -30 filea | tail -10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9622" y="3409474"/>
              <a:ext cx="2883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前 30 行里的最后 10 行，即第 21–30 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29300" y="3686175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9300" y="3690938"/>
              <a:ext cx="56368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9312" y="3815239"/>
              <a:ext cx="2022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head -30 filea | tail -21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9622" y="3815239"/>
              <a:ext cx="2883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前 30 行里的最后 21 行，即第 10–30 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29300" y="2067878"/>
              <a:ext cx="56368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04848" y="206787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ells-2"/>
          <p:cNvGrpSpPr/>
          <p:nvPr/>
        </p:nvGrpSpPr>
        <p:grpSpPr>
          <a:xfrm>
            <a:off x="5593461" y="4481512"/>
            <a:ext cx="6065139" cy="918210"/>
            <a:chOff x="5593461" y="4481512"/>
            <a:chExt cx="6065139" cy="918210"/>
          </a:xfrm>
        </p:grpSpPr>
        <p:sp>
          <p:nvSpPr>
            <p:cNvPr id="43" name="TextBox 43"/>
            <p:cNvSpPr txBox="1"/>
            <p:nvPr/>
          </p:nvSpPr>
          <p:spPr>
            <a:xfrm>
              <a:off x="5593461" y="460724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head -30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13170" y="4481512"/>
              <a:ext cx="66770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01348" y="46072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981825" y="4481512"/>
              <a:ext cx="66770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70003" y="46072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49528" y="4481512"/>
              <a:ext cx="66770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96891" y="46072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18182" y="4481512"/>
              <a:ext cx="66770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06361" y="46072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85885" y="4481512"/>
              <a:ext cx="66770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33248" y="46072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654540" y="4481512"/>
              <a:ext cx="66770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900951" y="46072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322242" y="4481512"/>
              <a:ext cx="66770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610421" y="46072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990898" y="4481512"/>
              <a:ext cx="66770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237308" y="46072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93461" y="5144452"/>
              <a:ext cx="552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tail -10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313170" y="5018722"/>
              <a:ext cx="66770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81825" y="5018722"/>
              <a:ext cx="66770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649528" y="5018722"/>
              <a:ext cx="66770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18182" y="5018722"/>
              <a:ext cx="66770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985885" y="5018722"/>
              <a:ext cx="66770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654540" y="5018722"/>
              <a:ext cx="66770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900951" y="5144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322242" y="5018722"/>
              <a:ext cx="66770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610421" y="51444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990898" y="5018722"/>
              <a:ext cx="66770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37308" y="5144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3610"/>
              <a:ext cx="7410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取第 m 到 n 行：head -n 的参数取 n，tail -n 的参数取 n − m + 1。本例 30 − 21 + 1 = 10。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0184" cy="909257"/>
            <a:chOff x="520446" y="342900"/>
            <a:chExt cx="6960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926" y="407194"/>
              <a:ext cx="245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文件、目录与权限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01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-l 的七列：第一列 10 个字符是类型加权限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428183" cy="293370"/>
            <a:chOff x="525780" y="1548765"/>
            <a:chExt cx="542818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428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例：drw-r--r-- 2 david student 48 Jun 25 12:28 memos</a:t>
              </a:r>
            </a:p>
          </p:txBody>
        </p:sp>
      </p:grpSp>
      <p:grpSp>
        <p:nvGrpSpPr>
          <p:cNvPr id="40" name="c1-cells-1"/>
          <p:cNvGrpSpPr/>
          <p:nvPr/>
        </p:nvGrpSpPr>
        <p:grpSpPr>
          <a:xfrm>
            <a:off x="527304" y="1954530"/>
            <a:ext cx="6064949" cy="625792"/>
            <a:chOff x="527304" y="1954530"/>
            <a:chExt cx="6064949" cy="625792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第一列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3950" y="1954530"/>
              <a:ext cx="546735" cy="394335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4457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70685" y="1954530"/>
              <a:ext cx="546735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91311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17420" y="1954530"/>
              <a:ext cx="546735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21084" y="2076450"/>
              <a:ext cx="139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64155" y="1954530"/>
              <a:ext cx="546735" cy="3943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8573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11842" y="1954530"/>
              <a:ext cx="546735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3246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58578" y="1954530"/>
              <a:ext cx="546735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7920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05312" y="1954530"/>
              <a:ext cx="546735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593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52048" y="1954530"/>
              <a:ext cx="54673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267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498782" y="1954530"/>
              <a:ext cx="54673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1940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45518" y="1954530"/>
              <a:ext cx="54673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6709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5923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5972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52707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00394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47129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93864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40599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87334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34069" y="24041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8438" y="24041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8" name="c1-table-2"/>
          <p:cNvGrpSpPr/>
          <p:nvPr/>
        </p:nvGrpSpPr>
        <p:grpSpPr>
          <a:xfrm>
            <a:off x="533400" y="2719388"/>
            <a:ext cx="6059805" cy="3609022"/>
            <a:chOff x="533400" y="2719388"/>
            <a:chExt cx="6059805" cy="3609022"/>
          </a:xfrm>
        </p:grpSpPr>
        <p:sp>
          <p:nvSpPr>
            <p:cNvPr id="41" name="Rectangle 41"/>
            <p:cNvSpPr/>
            <p:nvPr/>
          </p:nvSpPr>
          <p:spPr>
            <a:xfrm>
              <a:off x="533400" y="2719388"/>
              <a:ext cx="605980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0387" y="28479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02155" y="2847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68202" y="2847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513" y="33785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62646" y="3378518"/>
              <a:ext cx="932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drw-r--r--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80969" y="3271838"/>
              <a:ext cx="30525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文件类型（第 1 个字符）和权限（第 2–10 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7766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378142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4513" y="39100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62646" y="39100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80969" y="39100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2014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4513" y="43338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62646" y="4333875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david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80969" y="43338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所有者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6253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630102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4513" y="47586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62646" y="475869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180969" y="47586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所属组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50501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4513" y="5183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62646" y="51835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80969" y="51835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大小（字节）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54740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3400" y="5478780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44513" y="560736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362646" y="5607367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Jun 25 12:28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180969" y="560736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最后修改时间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58988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4513" y="60321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62646" y="6032182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memos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180969" y="60321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文件名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2719388"/>
              <a:ext cx="6059805" cy="360902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255395" y="2719388"/>
              <a:ext cx="9525" cy="3609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3073718" y="2719388"/>
              <a:ext cx="9525" cy="3609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9" name="c2-table-1"/>
          <p:cNvGrpSpPr/>
          <p:nvPr/>
        </p:nvGrpSpPr>
        <p:grpSpPr>
          <a:xfrm>
            <a:off x="6898005" y="1954530"/>
            <a:ext cx="4760595" cy="3395662"/>
            <a:chOff x="6898005" y="1954530"/>
            <a:chExt cx="4760595" cy="3395662"/>
          </a:xfrm>
        </p:grpSpPr>
        <p:sp>
          <p:nvSpPr>
            <p:cNvPr id="79" name="Rectangle 79"/>
            <p:cNvSpPr/>
            <p:nvPr/>
          </p:nvSpPr>
          <p:spPr>
            <a:xfrm>
              <a:off x="6898005" y="1954530"/>
              <a:ext cx="476059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79961" y="208311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个字符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58743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文件类型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907530" y="2388870"/>
              <a:ext cx="159924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53936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618792" y="25069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目录文件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898005" y="27984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898005" y="280320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907530" y="2812732"/>
              <a:ext cx="159924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653936" y="2931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618792" y="29317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普通文件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898005" y="32232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53936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618792" y="335661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块设备文件（如磁盘 /dev/sda）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898005" y="36471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898005" y="365188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653936" y="37804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618792" y="378047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字符设备文件（如终端）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898005" y="40719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675138" y="4205288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618792" y="420528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链接文件（符号链接）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898005" y="44967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898005" y="450151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653936" y="4629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618792" y="4629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命名管道（补充）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898005" y="49206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653936" y="50539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618792" y="505396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套接字（补充）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898005" y="1954530"/>
              <a:ext cx="4760595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511540" y="195453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6" name="c2-callout-2"/>
          <p:cNvGrpSpPr/>
          <p:nvPr/>
        </p:nvGrpSpPr>
        <p:grpSpPr>
          <a:xfrm>
            <a:off x="6898005" y="5530215"/>
            <a:ext cx="4760595" cy="798195"/>
            <a:chOff x="6898005" y="5530215"/>
            <a:chExt cx="4760595" cy="798195"/>
          </a:xfrm>
        </p:grpSpPr>
        <p:sp>
          <p:nvSpPr>
            <p:cNvPr id="110" name="Rectangle 110"/>
            <p:cNvSpPr/>
            <p:nvPr/>
          </p:nvSpPr>
          <p:spPr>
            <a:xfrm>
              <a:off x="6898005" y="5530215"/>
              <a:ext cx="4760595" cy="798195"/>
            </a:xfrm>
            <a:prstGeom prst="roundRect">
              <a:avLst>
                <a:gd name="adj" fmla="val 1432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7102793" y="5829300"/>
              <a:ext cx="200026" cy="200025"/>
              <a:chOff x="7102793" y="5829300"/>
              <a:chExt cx="200026" cy="200025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102793" y="58293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7142531" y="58737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177247" y="59848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7405116" y="5698331"/>
              <a:ext cx="385572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上面格子的颜色：第 1 格是类型，后面每 3 格一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组，依次是所有者、组用户、其他人的权限。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0924" cy="909257"/>
            <a:chOff x="520446" y="342900"/>
            <a:chExt cx="77909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926" y="407194"/>
              <a:ext cx="245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文件、目录与权限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09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rwx 对文件和目录含义不同：目录的 x 是“能进入”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8447" y="1524000"/>
            <a:ext cx="6064758" cy="2170461"/>
            <a:chOff x="528447" y="1524000"/>
            <a:chExt cx="6064758" cy="2170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05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5301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对普通文件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604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10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836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读取文件内容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57981" y="2023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列出目录里的文件名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6264" y="2404110"/>
              <a:ext cx="121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54836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修改文件内容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57981" y="240411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在目录里新建、删除、改名文件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10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54836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作为程序执行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72828" y="2677478"/>
              <a:ext cx="301085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57981" y="2785110"/>
              <a:ext cx="2145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进入目录（cd），访问其中的文件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1106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4836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没有这一位的权限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7981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没有这一位的权限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05980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5539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5854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447" y="3503771"/>
              <a:ext cx="5405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2–4 位属于所有者（chmod 里写 u），5–7 位属于组用户（g），8–10 位属于其他人（o）</a:t>
              </a:r>
            </a:p>
          </p:txBody>
        </p:sp>
      </p:grpSp>
      <p:grpSp>
        <p:nvGrpSpPr>
          <p:cNvPr id="37" name="c1-code-2"/>
          <p:cNvGrpSpPr/>
          <p:nvPr/>
        </p:nvGrpSpPr>
        <p:grpSpPr>
          <a:xfrm>
            <a:off x="533400" y="3821430"/>
            <a:ext cx="6059805" cy="1209675"/>
            <a:chOff x="533400" y="3821430"/>
            <a:chExt cx="6059805" cy="1209675"/>
          </a:xfrm>
        </p:grpSpPr>
        <p:sp>
          <p:nvSpPr>
            <p:cNvPr id="34" name="Rectangle 34"/>
            <p:cNvSpPr/>
            <p:nvPr/>
          </p:nvSpPr>
          <p:spPr>
            <a:xfrm>
              <a:off x="533400" y="3821430"/>
              <a:ext cx="6059805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797" y="3973354"/>
              <a:ext cx="4033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本机实测：memos 目录（drw-r--r--）里有文件 a，普通用户操作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797" y="4233386"/>
              <a:ext cx="2337308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memos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bash: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memos: Permission denied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 memos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-????????? ? ? ? ?            ? a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5195888"/>
            <a:ext cx="6059805" cy="1143952"/>
            <a:chOff x="533400" y="5195888"/>
            <a:chExt cx="6059805" cy="1143952"/>
          </a:xfrm>
        </p:grpSpPr>
        <p:sp>
          <p:nvSpPr>
            <p:cNvPr id="38" name="Rectangle 38"/>
            <p:cNvSpPr/>
            <p:nvPr/>
          </p:nvSpPr>
          <p:spPr>
            <a:xfrm>
              <a:off x="533400" y="5195888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532923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2475" y="53768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147" y="54097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998" y="5716429"/>
              <a:ext cx="5344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原课件权限表的表头误写为“代表文件类型”，r、w、x、- 表示的是权限，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应为“代表权限”。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898005" y="1524000"/>
            <a:ext cx="4760595" cy="1428750"/>
            <a:chOff x="6898005" y="1524000"/>
            <a:chExt cx="4760595" cy="1428750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17080" y="1704975"/>
              <a:ext cx="9820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93194" y="1737836"/>
              <a:ext cx="828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0603" y="2045494"/>
              <a:ext cx="4165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“目录执行权限的含义是用户可以执行目录中的程序。”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0603" y="2330291"/>
              <a:ext cx="3938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。目录的 x 表示可以进入；能否执行其中的程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序，看程序文件自己的 x。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898005" y="3117532"/>
            <a:ext cx="4760595" cy="3221355"/>
            <a:chOff x="6898005" y="3117532"/>
            <a:chExt cx="4760595" cy="3221355"/>
          </a:xfrm>
        </p:grpSpPr>
        <p:sp>
          <p:nvSpPr>
            <p:cNvPr id="51" name="Rectangle 51"/>
            <p:cNvSpPr/>
            <p:nvPr/>
          </p:nvSpPr>
          <p:spPr>
            <a:xfrm>
              <a:off x="6898005" y="3117532"/>
              <a:ext cx="4760595" cy="3221355"/>
            </a:xfrm>
            <a:prstGeom prst="roundRect">
              <a:avLst>
                <a:gd name="adj" fmla="val 4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3250882"/>
              <a:ext cx="47625" cy="2954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17080" y="329850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86397" y="333136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看回上一页的例子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10603" y="3639026"/>
              <a:ext cx="4085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memos 的权限是 drw-r--r--，所有者只有 r、w，没有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26605" y="421957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82053" y="4166711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普通用户 david 执行 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cd memos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会被拒绝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26605" y="450437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82053" y="4451509"/>
              <a:ext cx="4011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r，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ls memos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能列出文件名；没有 x，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ls -l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读不到详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细信息，只显示问号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26605" y="503205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82053" y="4980146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执行 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chmod u+x memos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补上 x 后，就能进入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1746" y="5260658"/>
              <a:ext cx="3007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目录一般至少给 r 和 x，常见的是 755 或 750。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1560" cy="909257"/>
            <a:chOff x="520446" y="342900"/>
            <a:chExt cx="76115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926" y="407194"/>
              <a:ext cx="245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文件、目录与权限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15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chmod：符号模式改某几位，数字模式一次设全部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626418" cy="2434590"/>
            <a:chOff x="533400" y="1524000"/>
            <a:chExt cx="5626418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6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0717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可写的字母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402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920" y="205406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g o 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33750" y="205406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所有者、组用户、其他人、全部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592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33750" y="24598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在原有权限上增加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592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3750" y="28655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在原有权限上去掉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4592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33750" y="327136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先清除原有权限，再赋予新权限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45920" y="3677126"/>
              <a:ext cx="380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w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33750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读、写、执行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62641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54114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2897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ode-2"/>
          <p:cNvGrpSpPr/>
          <p:nvPr/>
        </p:nvGrpSpPr>
        <p:grpSpPr>
          <a:xfrm>
            <a:off x="533400" y="4133850"/>
            <a:ext cx="5626418" cy="1450658"/>
            <a:chOff x="533400" y="4133850"/>
            <a:chExt cx="5626418" cy="1450658"/>
          </a:xfrm>
        </p:grpSpPr>
        <p:sp>
          <p:nvSpPr>
            <p:cNvPr id="36" name="Rectangle 36"/>
            <p:cNvSpPr/>
            <p:nvPr/>
          </p:nvSpPr>
          <p:spPr>
            <a:xfrm>
              <a:off x="533400" y="4133850"/>
              <a:ext cx="5626418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1797" y="42857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416" y="4547235"/>
              <a:ext cx="2630996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chmod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754 f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rwxr-xr--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chmod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u=r f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所有者只剩 r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 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-r--r-xr-- 1 ...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chmod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u+x,go-w f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可以用逗号连写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459284" y="1524000"/>
            <a:ext cx="5199316" cy="1902714"/>
            <a:chOff x="6459284" y="1524000"/>
            <a:chExt cx="5199316" cy="1902714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8360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302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694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0870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630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41581" y="205406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rwx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22483" y="205406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+ 2 + 1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1801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4630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组用户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6659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r-x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22483" y="2459831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+ 0 + 1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1801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4630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56659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r--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22483" y="286559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+ 0 + 0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1801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1524000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8859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97540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46702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59284" y="3221355"/>
              <a:ext cx="3678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数字模式：r = 4，w = 2，x = 1，每组相加得一位八进制数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464618" y="3560445"/>
            <a:ext cx="5193982" cy="1511618"/>
            <a:chOff x="6464618" y="3560445"/>
            <a:chExt cx="5193982" cy="1511618"/>
          </a:xfrm>
        </p:grpSpPr>
        <p:sp>
          <p:nvSpPr>
            <p:cNvPr id="66" name="Rectangle 66"/>
            <p:cNvSpPr/>
            <p:nvPr/>
          </p:nvSpPr>
          <p:spPr>
            <a:xfrm>
              <a:off x="6464618" y="3560445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4142" y="3693795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5122" y="3752850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70183" y="3787140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88264" y="4110038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“在 chmod 命令中，使用 = 为用户赋予权限，会先将用户原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有权限清除，再赋予新权限。”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88264" y="4669155"/>
              <a:ext cx="4766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。左边 </a:t>
              </a:r>
              <a:r>
                <a:rPr lang="en-US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u=r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之后，所有者原来的 w、x 都没有了。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464618" y="5247322"/>
            <a:ext cx="5193982" cy="729615"/>
            <a:chOff x="6464618" y="5247322"/>
            <a:chExt cx="5193982" cy="729615"/>
          </a:xfrm>
        </p:grpSpPr>
        <p:sp>
          <p:nvSpPr>
            <p:cNvPr id="73" name="Rectangle 73"/>
            <p:cNvSpPr/>
            <p:nvPr/>
          </p:nvSpPr>
          <p:spPr>
            <a:xfrm>
              <a:off x="6464618" y="524732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669405" y="5512118"/>
              <a:ext cx="200026" cy="200025"/>
              <a:chOff x="6669405" y="551211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669405" y="55121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709144" y="55565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743859" y="56676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972110" y="5394008"/>
              <a:ext cx="40942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换算练习：640 是 rw-r-----，755 是 rwxr-xr-x，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600 是 rw-------。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8724" cy="909257"/>
            <a:chOff x="520446" y="342900"/>
            <a:chExt cx="76287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926" y="407194"/>
              <a:ext cx="2451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文件、目录与权限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87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建链接：硬链接共用 inode，软链接存的是路径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6059804" cy="2560320"/>
            <a:chOff x="533400" y="1524000"/>
            <a:chExt cx="6059804" cy="2560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649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硬链接 ln filea hl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701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filea 共用同一个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inode，链接数加 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2082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 filea 这个名字，数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据仍能通过 hl 访问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7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47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不能跨文件系统，一般不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能给目录建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72852" y="1524000"/>
              <a:ext cx="2820352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82378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12882" y="1758315"/>
              <a:ext cx="1946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软链接 ln -s filea sl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026218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84332" y="2112645"/>
              <a:ext cx="2072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新建一个 inode，里面存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的是路径 filea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26218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84332" y="273367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filea 被删后 sl 失效（断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26218" y="3417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84332" y="33547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可以跨文件系统，可以指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向目录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401378" y="26422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71718" y="27384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1" name="c1-code-2"/>
          <p:cNvGrpSpPr/>
          <p:nvPr/>
        </p:nvGrpSpPr>
        <p:grpSpPr>
          <a:xfrm>
            <a:off x="533400" y="4274820"/>
            <a:ext cx="6059805" cy="1719262"/>
            <a:chOff x="533400" y="4274820"/>
            <a:chExt cx="6059805" cy="1719262"/>
          </a:xfrm>
        </p:grpSpPr>
        <p:sp>
          <p:nvSpPr>
            <p:cNvPr id="28" name="Rectangle 28"/>
            <p:cNvSpPr/>
            <p:nvPr/>
          </p:nvSpPr>
          <p:spPr>
            <a:xfrm>
              <a:off x="533400" y="4274820"/>
              <a:ext cx="605980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797" y="4426744"/>
              <a:ext cx="21187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本机实测：ls -li 第一列是 inode 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035" y="4689634"/>
              <a:ext cx="274955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ln filea hl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ln -s filea sl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-li filea hl sl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269621 -rw-r--r-- 2 ... filea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269621 -rw-r--r-- 2 ... hl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269622 lrwxrwxrwx 1 ... sl -&gt; filea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7010972" y="1524000"/>
            <a:ext cx="4534662" cy="2450307"/>
            <a:chOff x="7010972" y="1524000"/>
            <a:chExt cx="4534662" cy="2450307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5560" t="0" r="5561" b="0"/>
            <a:stretch>
              <a:fillRect/>
            </a:stretch>
          </p:blipFill>
          <p:spPr>
            <a:xfrm>
              <a:off x="7854315" y="1524000"/>
              <a:ext cx="2847022" cy="2135505"/>
            </a:xfrm>
            <a:prstGeom prst="roundRect">
              <a:avLst>
                <a:gd name="adj" fmla="val 6244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010972" y="3754279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两张标签直接系在箱子上（硬链接），路牌只是指向箱子（软链接）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898005" y="4139565"/>
            <a:ext cx="4760595" cy="2223135"/>
            <a:chOff x="6898005" y="4139565"/>
            <a:chExt cx="4760595" cy="2223135"/>
          </a:xfrm>
        </p:grpSpPr>
        <p:sp>
          <p:nvSpPr>
            <p:cNvPr id="35" name="Rectangle 35"/>
            <p:cNvSpPr/>
            <p:nvPr/>
          </p:nvSpPr>
          <p:spPr>
            <a:xfrm>
              <a:off x="6898005" y="4139565"/>
              <a:ext cx="476059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07530" y="4272915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45655" y="434911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17756" y="438483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8035" y="4726305"/>
              <a:ext cx="4034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“使用 ln 命令为文件 filea 创建链接文件，filea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的索引节点号不变，但文件的数据会被复制一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8035" y="563308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。前半句对，数据不会被复制，两种链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接都一样。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257667" cy="3351847"/>
            <a:chOff x="667512" y="1835468"/>
            <a:chExt cx="525766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3181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基础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47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 替你做了哪些事，通配符和引号怎样影响命令行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的功能与内部命令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通配符与三种引号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前后台、ps 与 kill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more、cut、设备名与配置文件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101" cy="909257"/>
            <a:chOff x="520446" y="342900"/>
            <a:chExt cx="71241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1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的功能：解释命令行，内核装载不归它管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5842635" cy="3651885"/>
            <a:chOff x="533400" y="1524000"/>
            <a:chExt cx="5842635" cy="3651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03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9168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命令执行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20327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-l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文件名替换（通配符）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20327" y="2459831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*.c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781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重定向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20327" y="2865596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who &gt; users.txt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20327" y="327136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who | grep emma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环境控制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20327" y="3677126"/>
              <a:ext cx="1625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 PS1、PATH 等变量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后台处理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20327" y="4082891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uon emma &amp;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59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488656"/>
              <a:ext cx="716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脚本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0327" y="4488656"/>
              <a:ext cx="667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bash won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65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77012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48944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内核装载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20327" y="4894421"/>
              <a:ext cx="2565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开机时由引导程序（如 GRUB）完成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842635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1555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5351145"/>
            <a:ext cx="5842635" cy="858202"/>
            <a:chOff x="533400" y="5351145"/>
            <a:chExt cx="5842635" cy="858202"/>
          </a:xfrm>
        </p:grpSpPr>
        <p:sp>
          <p:nvSpPr>
            <p:cNvPr id="40" name="Rectangle 40"/>
            <p:cNvSpPr/>
            <p:nvPr/>
          </p:nvSpPr>
          <p:spPr>
            <a:xfrm>
              <a:off x="533400" y="5351145"/>
              <a:ext cx="5842635" cy="858202"/>
            </a:xfrm>
            <a:prstGeom prst="roundRect">
              <a:avLst>
                <a:gd name="adj" fmla="val 133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679758"/>
              <a:ext cx="200026" cy="200026"/>
              <a:chOff x="738188" y="567975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6797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7464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7797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561648"/>
              <a:ext cx="48571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作业题“下面哪些是 shell 的功能”答案为 ABCDEFH，只有 G 内核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装载不是。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680835" y="1524000"/>
            <a:ext cx="4977765" cy="1775460"/>
            <a:chOff x="6680835" y="1524000"/>
            <a:chExt cx="4977765" cy="1775460"/>
          </a:xfrm>
        </p:grpSpPr>
        <p:sp>
          <p:nvSpPr>
            <p:cNvPr id="47" name="Rectangle 47"/>
            <p:cNvSpPr/>
            <p:nvPr/>
          </p:nvSpPr>
          <p:spPr>
            <a:xfrm>
              <a:off x="6680835" y="1524000"/>
              <a:ext cx="4977765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90360" y="1657350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11340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74777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内部命令与外部命令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19912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75932" y="2072640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内部命令：shell 自己实现，执行时不必到磁盘上找程序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19912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75932" y="2632710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外部命令：磁盘上的独立程序，如 /usr/bin/ls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05625" y="2931319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用 </a:t>
              </a:r>
              <a:r>
                <a:rPr lang="zh-CN" sz="11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type 命令名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可以查看属于哪一种。</a:t>
              </a:r>
            </a:p>
          </p:txBody>
        </p:sp>
      </p:grpSp>
      <p:grpSp>
        <p:nvGrpSpPr>
          <p:cNvPr id="60" name="c2-code-2"/>
          <p:cNvGrpSpPr/>
          <p:nvPr/>
        </p:nvGrpSpPr>
        <p:grpSpPr>
          <a:xfrm>
            <a:off x="6680835" y="3474720"/>
            <a:ext cx="4977765" cy="1829752"/>
            <a:chOff x="6680835" y="3474720"/>
            <a:chExt cx="4977765" cy="1829752"/>
          </a:xfrm>
        </p:grpSpPr>
        <p:sp>
          <p:nvSpPr>
            <p:cNvPr id="57" name="Rectangle 57"/>
            <p:cNvSpPr/>
            <p:nvPr/>
          </p:nvSpPr>
          <p:spPr>
            <a:xfrm>
              <a:off x="6680835" y="3474720"/>
              <a:ext cx="4977765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9232" y="3626644"/>
              <a:ext cx="13763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本机实测（bash 5.2）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08851" y="3888105"/>
              <a:ext cx="2650998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type kill test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 alias set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kill is a shell builtin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test is a shell builtin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 a shell builtin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help is a shell builtin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alias is a shell builtin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 is a shell builtin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680835" y="5479732"/>
            <a:ext cx="4977765" cy="729615"/>
            <a:chOff x="6680835" y="5479732"/>
            <a:chExt cx="4977765" cy="729615"/>
          </a:xfrm>
        </p:grpSpPr>
        <p:sp>
          <p:nvSpPr>
            <p:cNvPr id="61" name="Rectangle 61"/>
            <p:cNvSpPr/>
            <p:nvPr/>
          </p:nvSpPr>
          <p:spPr>
            <a:xfrm>
              <a:off x="6680835" y="547973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885623" y="5743575"/>
              <a:ext cx="200026" cy="200026"/>
              <a:chOff x="6885623" y="5743575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885623" y="57435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952298" y="58213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188327" y="5625465"/>
              <a:ext cx="40770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作业题“属于内部命令的有 kill、help、echo、alias、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set”全选 ABCDE；“test 是 shell 外部命令”判错。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90165" cy="909257"/>
            <a:chOff x="520446" y="342900"/>
            <a:chExt cx="94901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901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通配符：* 匹配任意个字符，? 恰好一个，[ ] 从集合里选一个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167438" cy="3067050"/>
            <a:chOff x="533400" y="1524000"/>
            <a:chExt cx="6167438" cy="3067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887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149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26443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86306" y="2128361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任意个字符（可以是 0 个）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1891" y="2128361"/>
              <a:ext cx="549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*.c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616743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72367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86306" y="2723674"/>
              <a:ext cx="1190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 1 个字符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1891" y="2596991"/>
              <a:ext cx="179984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ab? 匹配 abc，不匹配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7944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318986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[abc]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86306" y="3318986"/>
              <a:ext cx="19547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方括号中任选 1 个字符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1891" y="331898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report[12]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4902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653790"/>
              <a:ext cx="616743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3788569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[a-z]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86306" y="3788569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范围内的 1 个字符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1891" y="3788569"/>
              <a:ext cx="865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file[0-9]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1765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257199"/>
              <a:ext cx="6266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[!1-3]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86306" y="4257199"/>
              <a:ext cx="19547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不在集合里的 1 个字符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1891" y="4257199"/>
              <a:ext cx="1228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report[!1-3]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167438" cy="30670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577340" y="1524000"/>
              <a:ext cx="9525" cy="30670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52925" y="1524000"/>
              <a:ext cx="9525" cy="30670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ode-2"/>
          <p:cNvGrpSpPr/>
          <p:nvPr/>
        </p:nvGrpSpPr>
        <p:grpSpPr>
          <a:xfrm>
            <a:off x="533400" y="4776788"/>
            <a:ext cx="6167438" cy="1516380"/>
            <a:chOff x="533400" y="4776788"/>
            <a:chExt cx="6167438" cy="1516380"/>
          </a:xfrm>
        </p:grpSpPr>
        <p:sp>
          <p:nvSpPr>
            <p:cNvPr id="36" name="Rectangle 36"/>
            <p:cNvSpPr/>
            <p:nvPr/>
          </p:nvSpPr>
          <p:spPr>
            <a:xfrm>
              <a:off x="533400" y="4776788"/>
              <a:ext cx="616743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1797" y="49287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035" y="5191601"/>
              <a:ext cx="392303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touch reporta report report4 report2 a.txt noext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report[!1-3]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report4  reporta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*.*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a.txt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7005638" y="1524000"/>
            <a:ext cx="4652962" cy="3004185"/>
            <a:chOff x="7005638" y="1524000"/>
            <a:chExt cx="4652962" cy="3004185"/>
          </a:xfrm>
        </p:grpSpPr>
        <p:sp>
          <p:nvSpPr>
            <p:cNvPr id="40" name="Rectangle 40"/>
            <p:cNvSpPr/>
            <p:nvPr/>
          </p:nvSpPr>
          <p:spPr>
            <a:xfrm>
              <a:off x="7005638" y="1524000"/>
              <a:ext cx="465296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8116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8781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9083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0984" y="2085022"/>
              <a:ext cx="173393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report[!1-3] 的文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55481" y="219170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63696" y="2085022"/>
              <a:ext cx="1490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reporta、report4；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report 少一个字符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005638" y="2592705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05638" y="2597468"/>
              <a:ext cx="465296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10984" y="2835592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 *.* 可以显示所有文件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68587" y="283559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3696" y="2728912"/>
              <a:ext cx="15590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只显示名字里含 . 的文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005638" y="3236595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10984" y="3372802"/>
              <a:ext cx="165582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通配符 [] 出现的位置可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以没有字符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68587" y="34794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63696" y="3479482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 必须匹配 1 个字符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005638" y="3879532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005638" y="3884295"/>
              <a:ext cx="465296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10984" y="4015740"/>
              <a:ext cx="173545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 可以匹配 0 个或 1 个字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68587" y="41224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3696" y="412242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只能匹配恰好 1 个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05638" y="1524000"/>
              <a:ext cx="4652962" cy="30041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048750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653588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7005638" y="4713922"/>
            <a:ext cx="4652962" cy="1643062"/>
            <a:chOff x="7005638" y="4713922"/>
            <a:chExt cx="4652962" cy="1643062"/>
          </a:xfrm>
        </p:grpSpPr>
        <p:sp>
          <p:nvSpPr>
            <p:cNvPr id="65" name="Rectangle 65"/>
            <p:cNvSpPr/>
            <p:nvPr/>
          </p:nvSpPr>
          <p:spPr>
            <a:xfrm>
              <a:off x="7005638" y="4713922"/>
              <a:ext cx="4652962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015162" y="4847272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247572" y="49177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38733" y="49534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255192" y="53501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11784" y="5290661"/>
              <a:ext cx="4000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通配符由 shell 展开成文件名列表，再交给命令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255192" y="56702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411784" y="561070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*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不匹配以 . 开头的隐藏文件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255192" y="599027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411784" y="5930741"/>
              <a:ext cx="23848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[!…]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仍然要占 1 个字符位置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单引号、双引号、反斜杠：哪些特殊字符还起作用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27685" y="1524000"/>
            <a:ext cx="6065520" cy="2317909"/>
            <a:chOff x="527685" y="1524000"/>
            <a:chExt cx="6065520" cy="23179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9432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8361" y="1773079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$变量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97283" y="1773079"/>
              <a:ext cx="55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`命令`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72993" y="1659731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通配符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41874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2479" y="233505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'…'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34274" y="23350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82951" y="23350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0676" y="23350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55948" y="233505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里面所有字符都按原样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2479" y="278368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"…"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4274" y="278368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82951" y="278368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30676" y="278368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55948" y="2783681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$、` 和 \ 仍有特殊含义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2234" y="323230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4274" y="323230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82951" y="323230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30676" y="323230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55948" y="3232309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只转义紧跟的 1 个字符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605980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498282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4600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194685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43362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7685" y="3621881"/>
              <a:ext cx="38486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✓ 表示在引号内仍被 shell 解释，✗ 表示按普通字符处理</a:t>
              </a:r>
            </a:p>
          </p:txBody>
        </p:sp>
      </p:grpSp>
      <p:grpSp>
        <p:nvGrpSpPr>
          <p:cNvPr id="41" name="c1-code-2"/>
          <p:cNvGrpSpPr/>
          <p:nvPr/>
        </p:nvGrpSpPr>
        <p:grpSpPr>
          <a:xfrm>
            <a:off x="533400" y="3988118"/>
            <a:ext cx="6059805" cy="1719262"/>
            <a:chOff x="533400" y="3988118"/>
            <a:chExt cx="6059805" cy="1719262"/>
          </a:xfrm>
        </p:grpSpPr>
        <p:sp>
          <p:nvSpPr>
            <p:cNvPr id="38" name="Rectangle 38"/>
            <p:cNvSpPr/>
            <p:nvPr/>
          </p:nvSpPr>
          <p:spPr>
            <a:xfrm>
              <a:off x="533400" y="3988118"/>
              <a:ext cx="605980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797" y="4140041"/>
              <a:ext cx="2091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本机实测（HOME=/home/david）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035" y="4401979"/>
              <a:ext cx="2045462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'$HOME `echo hi` *'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$HOME `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hi` *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"$HOME `echo hi` *"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/home/david hi *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\$HOME \*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$HOME *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898005" y="1524000"/>
            <a:ext cx="4760595" cy="2251710"/>
            <a:chOff x="6898005" y="1524000"/>
            <a:chExt cx="4760595" cy="2251710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2251710"/>
            </a:xfrm>
            <a:prstGeom prst="roundRect">
              <a:avLst>
                <a:gd name="adj" fmla="val 59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1657350"/>
              <a:ext cx="47625" cy="19850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45655" y="1733550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17756" y="1769269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多选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38035" y="2110740"/>
              <a:ext cx="3511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消除元字符的特殊含义，可以使用（ 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8035" y="2465070"/>
              <a:ext cx="30830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' B. `（重音符号） C. " D. \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8035" y="2800350"/>
              <a:ext cx="990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9178" y="3132296"/>
              <a:ext cx="40688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重音符号 ` 用来做命令替换，如 hour=`date +%H` 会先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 date，再把输出赋给变量。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898005" y="3966210"/>
            <a:ext cx="4760595" cy="2005965"/>
            <a:chOff x="6898005" y="3966210"/>
            <a:chExt cx="4760595" cy="2005965"/>
          </a:xfrm>
        </p:grpSpPr>
        <p:sp>
          <p:nvSpPr>
            <p:cNvPr id="51" name="Rectangle 51"/>
            <p:cNvSpPr/>
            <p:nvPr/>
          </p:nvSpPr>
          <p:spPr>
            <a:xfrm>
              <a:off x="6898005" y="3966210"/>
              <a:ext cx="4760595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409956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45655" y="4175760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7756" y="4211479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作业题 · 多选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44852" y="4211002"/>
              <a:ext cx="2703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变量（ ）用于保存命令提示符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38035" y="4572000"/>
              <a:ext cx="1943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PS1、D PS2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51370" y="49701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09485" y="4907280"/>
              <a:ext cx="3234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PS1：主提示符，如 [tux@host ~]$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51370" y="53054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09485" y="5242560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PS2：续行提示符，默认是 &gt;。命令没输完就回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车时出现，原课件多行示例里行首的 &gt; 就是它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前台命令占住终端，后台命令加 &amp;；ps 查看进程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193030" cy="1653540"/>
            <a:chOff x="533400" y="1524000"/>
            <a:chExt cx="5193030" cy="16535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386965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788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前台执行 cmd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644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等它结束才显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示下一个提示符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期间键盘被它占用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9465" y="1524000"/>
              <a:ext cx="2386965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48990" y="165735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79495" y="175831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后台执行 cmd &amp;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592830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50945" y="21126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立即回到提示符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92830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50945" y="244792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键盘可以继续输入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别的命令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967990" y="21888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38330" y="22850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27" name="c1-code-2"/>
          <p:cNvGrpSpPr/>
          <p:nvPr/>
        </p:nvGrpSpPr>
        <p:grpSpPr>
          <a:xfrm>
            <a:off x="533400" y="3368040"/>
            <a:ext cx="5193982" cy="1313498"/>
            <a:chOff x="533400" y="3368040"/>
            <a:chExt cx="5193982" cy="1313498"/>
          </a:xfrm>
        </p:grpSpPr>
        <p:sp>
          <p:nvSpPr>
            <p:cNvPr id="24" name="Rectangle 24"/>
            <p:cNvSpPr/>
            <p:nvPr/>
          </p:nvSpPr>
          <p:spPr>
            <a:xfrm>
              <a:off x="533400" y="3368040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797" y="3519964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035" y="3782854"/>
              <a:ext cx="304114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uon emma &amp;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放到后台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[1] 4483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作业号 1，进程号 4483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jobs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列出后台作业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fg %1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把作业 1 调回前台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872038"/>
            <a:ext cx="5193982" cy="964882"/>
            <a:chOff x="533400" y="4872038"/>
            <a:chExt cx="5193982" cy="964882"/>
          </a:xfrm>
        </p:grpSpPr>
        <p:sp>
          <p:nvSpPr>
            <p:cNvPr id="28" name="Rectangle 28"/>
            <p:cNvSpPr/>
            <p:nvPr/>
          </p:nvSpPr>
          <p:spPr>
            <a:xfrm>
              <a:off x="533400" y="4872038"/>
              <a:ext cx="5193982" cy="964882"/>
            </a:xfrm>
            <a:prstGeom prst="roundRect">
              <a:avLst>
                <a:gd name="adj" fmla="val 1184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54943"/>
              <a:ext cx="200026" cy="200026"/>
              <a:chOff x="738188" y="5254943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2549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4863" y="53327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112068"/>
              <a:ext cx="4311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作业题“命令在前台执行时封锁键盘，在后台执行时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不封锁键盘”判对。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032182" y="1524000"/>
            <a:ext cx="5626418" cy="2470785"/>
            <a:chOff x="6032182" y="1524000"/>
            <a:chExt cx="5626418" cy="2470785"/>
          </a:xfrm>
        </p:grpSpPr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25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40622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显示哪些进程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40006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7303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只显示当前终端上的进程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2430780"/>
              <a:ext cx="12192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0006" y="255698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 -ef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77303" y="2556986"/>
              <a:ext cx="3928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系统中所有进程，完整格式（System V 风格选项）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2880360"/>
              <a:ext cx="12192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40006" y="3005614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 aux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77303" y="3005614"/>
              <a:ext cx="41692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系统中所有进程，含 CPU、内存占用（BSD 风格选项）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2182" y="3319462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40006" y="3567589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 ef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7303" y="3454241"/>
              <a:ext cx="39306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显示环境变量、f 画进程树，没有 a、x，列不全所有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1524000"/>
              <a:ext cx="5626418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6471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6032182" y="4185285"/>
            <a:ext cx="5626418" cy="1651635"/>
            <a:chOff x="6032182" y="4185285"/>
            <a:chExt cx="5626418" cy="1651635"/>
          </a:xfrm>
        </p:grpSpPr>
        <p:sp>
          <p:nvSpPr>
            <p:cNvPr id="55" name="Rectangle 55"/>
            <p:cNvSpPr/>
            <p:nvPr/>
          </p:nvSpPr>
          <p:spPr>
            <a:xfrm>
              <a:off x="6032182" y="4185285"/>
              <a:ext cx="5626418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1708" y="431863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79832" y="4394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66091" y="4430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85548" y="48348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43662" y="4772025"/>
              <a:ext cx="4917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查看系统中所有进程的状态可用：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ps -ef、B ps aux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285548" y="51701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43662" y="5107305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“ps 命令不带选项，显示所有终端用户活动进程的状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态”：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，只显示当前终端的进程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0134" cy="909257"/>
            <a:chOff x="520446" y="342900"/>
            <a:chExt cx="79801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01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kill 向进程发信号，不写信号号时发 15 号 SIGTERM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410200" cy="2598420"/>
            <a:chOff x="533400" y="1524000"/>
            <a:chExt cx="5410200" cy="25984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223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8286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3072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661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SIGHUP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21454" y="212836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17901" y="212836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挂起，终端断开时发给进程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596991"/>
              <a:ext cx="608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SIGINT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1454" y="259699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17901" y="2596991"/>
              <a:ext cx="24484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中断，前台按 Ctrl+C 时发送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260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065621"/>
              <a:ext cx="724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SIGKILL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454" y="306562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17901" y="30656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强制终止，进程无法捕获或忽略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956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00425"/>
              <a:ext cx="5410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409950"/>
              <a:ext cx="1495425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3661886"/>
              <a:ext cx="820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SIGTERM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3409950"/>
              <a:ext cx="846772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68885" y="3661886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7901" y="3535204"/>
              <a:ext cx="25392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请求终止，进程可以捕获后先清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理再退出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410200" cy="25984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43112" y="1524000"/>
              <a:ext cx="9525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908935" y="1524000"/>
              <a:ext cx="9525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ode-2"/>
          <p:cNvGrpSpPr/>
          <p:nvPr/>
        </p:nvGrpSpPr>
        <p:grpSpPr>
          <a:xfrm>
            <a:off x="533400" y="4308158"/>
            <a:ext cx="5410200" cy="1110615"/>
            <a:chOff x="533400" y="4308158"/>
            <a:chExt cx="5410200" cy="1110615"/>
          </a:xfrm>
        </p:grpSpPr>
        <p:sp>
          <p:nvSpPr>
            <p:cNvPr id="34" name="Rectangle 34"/>
            <p:cNvSpPr/>
            <p:nvPr/>
          </p:nvSpPr>
          <p:spPr>
            <a:xfrm>
              <a:off x="533400" y="4308158"/>
              <a:ext cx="54102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797" y="4460081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035" y="4722019"/>
              <a:ext cx="280644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kill -l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列出所有信号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kill -9 5025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强制终止 5025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kill -SIGTERM 5025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信号可以写名字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248400" y="1524000"/>
            <a:ext cx="5410200" cy="3894772"/>
            <a:chOff x="6248400" y="1524000"/>
            <a:chExt cx="5410200" cy="3894772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3894772"/>
            </a:xfrm>
            <a:prstGeom prst="roundRect">
              <a:avLst>
                <a:gd name="adj" fmla="val 34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36280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0335" y="172783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2436" y="176355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多选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3096" y="2100739"/>
              <a:ext cx="38453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5025 号进程发送 15 号信号的命令有（ 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90335" y="2415540"/>
              <a:ext cx="496443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15200" y="2546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97415" y="2546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5682" y="2977515"/>
              <a:ext cx="1264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kill -15 5025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81644" y="2977515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用 -编号 指定信号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90335" y="3271838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0335" y="3276600"/>
              <a:ext cx="496443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9860" y="3286125"/>
              <a:ext cx="1966912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95682" y="3513772"/>
              <a:ext cx="1170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kill 15 5025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81644" y="3407092"/>
              <a:ext cx="2435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15 被当成进程号，向 15 和 5025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各发一个 SIGTERM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90335" y="391477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95682" y="4050982"/>
              <a:ext cx="1772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kill -SIGTERM 5025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81644" y="4050982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用信号名指定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90335" y="434530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0335" y="4350068"/>
              <a:ext cx="496443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95682" y="4481512"/>
              <a:ext cx="92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kill 5025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81644" y="4481512"/>
              <a:ext cx="1902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不写信号时默认就是 15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90335" y="2415540"/>
              <a:ext cx="496443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471535" y="241554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83096" y="4896326"/>
              <a:ext cx="937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6004084"/>
              <a:ext cx="6686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先试 kill PID（15 号），给进程留下清理的机会；它不响应时再用 kill -9 PID。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07339" cy="909257"/>
            <a:chOff x="520446" y="342900"/>
            <a:chExt cx="8707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07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看文本的几个命令：more 往后翻，cut 默认按 Tab 分列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410200" cy="2794635"/>
            <a:chOff x="533400" y="1524000"/>
            <a:chExt cx="5410200" cy="2794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729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8239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more file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1806" y="2085022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分页查看，空格翻下一页，q 退出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less file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61806" y="251555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分页查看，可以前后翻页、搜索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111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 -n N file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61806" y="2946082"/>
              <a:ext cx="2137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显示前 N 行，也可写 head -N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1027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tail -n N file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61806" y="3375660"/>
              <a:ext cx="2857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显示后 N 行；tail -f 持续跟踪文件末尾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806190"/>
              <a:ext cx="122948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cut -d 分隔符 -f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61806" y="391287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按分隔符切开每行，取出指定的列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410200" cy="2794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51698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4503420"/>
            <a:ext cx="5410200" cy="1825942"/>
            <a:chOff x="533400" y="4503420"/>
            <a:chExt cx="5410200" cy="1825942"/>
          </a:xfrm>
        </p:grpSpPr>
        <p:sp>
          <p:nvSpPr>
            <p:cNvPr id="29" name="Rectangle 29"/>
            <p:cNvSpPr/>
            <p:nvPr/>
          </p:nvSpPr>
          <p:spPr>
            <a:xfrm>
              <a:off x="533400" y="4503420"/>
              <a:ext cx="5410200" cy="1825942"/>
            </a:xfrm>
            <a:prstGeom prst="roundRect">
              <a:avLst>
                <a:gd name="adj" fmla="val 7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636770"/>
              <a:ext cx="47625" cy="1559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5335" y="470725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7436" y="474297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080159"/>
              <a:ext cx="49464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“more 命令可以分页查看文本文件，但是不能向前翻页。”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096" y="540019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（按教材）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9239" y="5716905"/>
              <a:ext cx="4728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补充：util-linux 的 more 读普通文件时按 b 可以回翻一屏，读管道时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不行。要自由前后翻页，用 less。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1323022"/>
            <a:chOff x="6248400" y="1524000"/>
            <a:chExt cx="5410200" cy="132302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0335" y="172783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2436" y="176355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3096" y="2100739"/>
              <a:ext cx="4478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“对于 cut 命令来说，文本中域默认分隔符是空格。”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3096" y="2420779"/>
              <a:ext cx="32616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，默认分隔符是制表符 Tab。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248400" y="3032760"/>
            <a:ext cx="5410200" cy="1719262"/>
            <a:chOff x="6248400" y="3032760"/>
            <a:chExt cx="5410200" cy="1719262"/>
          </a:xfrm>
        </p:grpSpPr>
        <p:sp>
          <p:nvSpPr>
            <p:cNvPr id="44" name="Rectangle 44"/>
            <p:cNvSpPr/>
            <p:nvPr/>
          </p:nvSpPr>
          <p:spPr>
            <a:xfrm>
              <a:off x="6248400" y="3032760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31846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035" y="3447574"/>
              <a:ext cx="251485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printf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 b\tc\n'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cut -f1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b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"10:24:02"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cut -d : -f1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-ld memos | cut -c1-10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drw-r--r--</a:t>
              </a:r>
            </a:p>
          </p:txBody>
        </p:sp>
      </p:grpSp>
      <p:grpSp>
        <p:nvGrpSpPr>
          <p:cNvPr id="56" name="c2-kv-3"/>
          <p:cNvGrpSpPr/>
          <p:nvPr/>
        </p:nvGrpSpPr>
        <p:grpSpPr>
          <a:xfrm>
            <a:off x="6241161" y="4961096"/>
            <a:ext cx="5417439" cy="1389317"/>
            <a:chOff x="6241161" y="4961096"/>
            <a:chExt cx="5417439" cy="1389317"/>
          </a:xfrm>
        </p:grpSpPr>
        <p:sp>
          <p:nvSpPr>
            <p:cNvPr id="48" name="TextBox 48"/>
            <p:cNvSpPr txBox="1"/>
            <p:nvPr/>
          </p:nvSpPr>
          <p:spPr>
            <a:xfrm>
              <a:off x="6241161" y="496109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1 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1744" y="4961096"/>
              <a:ext cx="3015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空格不算分隔符，a b 被当成同一列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52663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1161" y="5383054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2 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1744" y="5383054"/>
              <a:ext cx="428853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以冒号分列取第 1 列，greetings1 脚本就这样取出小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5955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1161" y="607171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3 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1744" y="607171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-c 按字符位置截取，这里取出 ls -l 的权限列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11245" cy="909257"/>
            <a:chOff x="520446" y="342900"/>
            <a:chExt cx="48112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073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864" y="407194"/>
              <a:ext cx="195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112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磁盘设备名与 bash 的配置文件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4760595" cy="2000250"/>
            <a:chOff x="533400" y="1524000"/>
            <a:chExt cx="476059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576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设备文件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668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/dev/sda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48852" y="2045494"/>
              <a:ext cx="198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块 SATA/SCSI/USB 硬盘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333625"/>
              <a:ext cx="159924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0555" y="2445544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/dev/sdb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48852" y="2445544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块，依次为 sdc、sdd…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2845594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/dev/sda1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48852" y="28455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sda 上的第 1 个分区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245644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/dev/vda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48852" y="3245644"/>
              <a:ext cx="265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块 virtio 虚拟磁盘（云主机常见）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4693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3693795"/>
            <a:ext cx="4760595" cy="2511742"/>
            <a:chOff x="533400" y="3693795"/>
            <a:chExt cx="4760595" cy="2511742"/>
          </a:xfrm>
        </p:grpSpPr>
        <p:sp>
          <p:nvSpPr>
            <p:cNvPr id="27" name="Rectangle 27"/>
            <p:cNvSpPr/>
            <p:nvPr/>
          </p:nvSpPr>
          <p:spPr>
            <a:xfrm>
              <a:off x="533400" y="3693795"/>
              <a:ext cx="4760595" cy="2511742"/>
            </a:xfrm>
            <a:prstGeom prst="roundRect">
              <a:avLst>
                <a:gd name="adj" fmla="val 5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827145"/>
              <a:ext cx="47625" cy="22450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38804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2759" y="39133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命名规律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6762" y="428148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2782" y="4225290"/>
              <a:ext cx="426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后的字母表示第几块盘：a 是第 1 块，b 是第 2 块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6762" y="45815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782" y="4525328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字母后的数字是分区号：sdb2 是第 2 块盘的第 2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6762" y="51387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2782" y="5082540"/>
              <a:ext cx="36998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NVMe 固态盘另有写法：/dev/nvme0n1，分区为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nvme0n1p1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475" y="5636419"/>
              <a:ext cx="40154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作业题“第二块 SATA 硬盘在 /dev 中的文件名”选 D sdb；vda、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vdb 是虚拟磁盘。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5598795" y="1524000"/>
            <a:ext cx="6059805" cy="2200275"/>
            <a:chOff x="5598795" y="1524000"/>
            <a:chExt cx="6059805" cy="2200275"/>
          </a:xfrm>
        </p:grpSpPr>
        <p:sp>
          <p:nvSpPr>
            <p:cNvPr id="39" name="Rectangle 39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19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9757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作用范围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5782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何时读取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95950" y="2045494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/etc/profile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47610" y="1933575"/>
              <a:ext cx="131445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3524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所有用户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68740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登录时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98795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95950" y="2445544"/>
              <a:ext cx="1238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~/.bash_profile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35240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当前用户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68740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登录时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5950" y="2945606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~/.bashrc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35240" y="2945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当前用户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68740" y="2845594"/>
              <a:ext cx="18392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打开交互式 shell 时（通常由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.bash_profile 调用）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98795" y="33242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5950" y="3445669"/>
              <a:ext cx="1190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~/.bash_logout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35240" y="3445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当前用户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68740" y="34456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退出登录时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1524000"/>
              <a:ext cx="605980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33322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66822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2"/>
          <p:cNvGrpSpPr/>
          <p:nvPr/>
        </p:nvGrpSpPr>
        <p:grpSpPr>
          <a:xfrm>
            <a:off x="5598795" y="3893820"/>
            <a:ext cx="6059805" cy="2311718"/>
            <a:chOff x="5598795" y="3893820"/>
            <a:chExt cx="6059805" cy="2311718"/>
          </a:xfrm>
        </p:grpSpPr>
        <p:sp>
          <p:nvSpPr>
            <p:cNvPr id="65" name="Rectangle 65"/>
            <p:cNvSpPr/>
            <p:nvPr/>
          </p:nvSpPr>
          <p:spPr>
            <a:xfrm>
              <a:off x="5598795" y="3893820"/>
              <a:ext cx="6059805" cy="2311718"/>
            </a:xfrm>
            <a:prstGeom prst="roundRect">
              <a:avLst>
                <a:gd name="adj" fmla="val 57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608320" y="4027170"/>
              <a:ext cx="47625" cy="2045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23585" y="4080510"/>
              <a:ext cx="9820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00652" y="4113371"/>
              <a:ext cx="828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多选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16727" y="4425315"/>
              <a:ext cx="5345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openEuler 中，适用于某个使用 bash 的用户的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局部性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用户配置文件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有（ 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816727" y="4982528"/>
              <a:ext cx="5280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ACD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（~/.bashrc、~/.bash_profile、~/.bash_logout）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17870" y="5279231"/>
              <a:ext cx="3388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/etc/profile 对所有用户生效，是全局配置文件。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741292" cy="2997517"/>
            <a:chOff x="667512" y="1835468"/>
            <a:chExt cx="47412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7412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脚本与条件判断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81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脚本怎样执行，if 怎样写，test 能判断什么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85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9.3.3 条件和测试：if 结构与 test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56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9.3.4 数值、字符串、文件三类判断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svi、largest、greetings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8456" cy="909257"/>
            <a:chOff x="520446" y="342900"/>
            <a:chExt cx="8568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8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执行脚本的四种写法：要不要 x 权限，在不在当前 shell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287380" cy="278702"/>
            <a:chOff x="526161" y="1547336"/>
            <a:chExt cx="928738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2873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 脚本是一个文本文件，里面按顺序写着 shell 命令。won 是当前目录下的脚本，当前目录不在 PATH 中。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1941195"/>
            <a:ext cx="6276022" cy="2028825"/>
            <a:chOff x="533400" y="1941195"/>
            <a:chExt cx="6276022" cy="20288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084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00642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需要的权限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33258" y="2065496"/>
              <a:ext cx="1367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在哪个 shell 里运行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./won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1282" y="2471261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和 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4375" y="247126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新的子 shell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139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bash won / sh won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1282" y="287702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4375" y="287702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新的子 shell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1483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 won / source won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41282" y="328279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3888" y="3168015"/>
              <a:ext cx="236601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24375" y="3282791"/>
              <a:ext cx="2028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当前 shell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，变量和 cd 会留下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59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5642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573780"/>
              <a:ext cx="198882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8855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41282" y="3688556"/>
              <a:ext cx="1678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r、x，且目录在 PATH 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4375" y="368855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新的子 shell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41195"/>
              <a:ext cx="627602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3650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1960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ode-2"/>
          <p:cNvGrpSpPr/>
          <p:nvPr/>
        </p:nvGrpSpPr>
        <p:grpSpPr>
          <a:xfrm>
            <a:off x="533400" y="4145280"/>
            <a:ext cx="6276022" cy="2019300"/>
            <a:chOff x="533400" y="4145280"/>
            <a:chExt cx="6276022" cy="2019300"/>
          </a:xfrm>
        </p:grpSpPr>
        <p:sp>
          <p:nvSpPr>
            <p:cNvPr id="36" name="Rectangle 36"/>
            <p:cNvSpPr/>
            <p:nvPr/>
          </p:nvSpPr>
          <p:spPr>
            <a:xfrm>
              <a:off x="533400" y="4145280"/>
              <a:ext cx="6276022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1797" y="4297204"/>
              <a:ext cx="24439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本机实测：won 里有一句 v=set_in_won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416" y="4558665"/>
              <a:ext cx="3897821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. won;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$v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set_in_won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v=; bash won;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$v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空行：子 shell 的变量没带回来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won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won: command not found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chmod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644 won; ./won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./won: Permission denied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7114222" y="1941195"/>
            <a:ext cx="4544378" cy="2228850"/>
            <a:chOff x="7114222" y="1941195"/>
            <a:chExt cx="4544378" cy="2228850"/>
          </a:xfrm>
        </p:grpSpPr>
        <p:sp>
          <p:nvSpPr>
            <p:cNvPr id="40" name="Rectangle 40"/>
            <p:cNvSpPr/>
            <p:nvPr/>
          </p:nvSpPr>
          <p:spPr>
            <a:xfrm>
              <a:off x="7114222" y="1941195"/>
              <a:ext cx="454437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63508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1156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14235" y="2471261"/>
              <a:ext cx="30265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won 有执行权限、所在目录不在 PATH，能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执行它的命令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30905" y="2571274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14222" y="29479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14222" y="295275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14235" y="3077051"/>
              <a:ext cx="2875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 . 和 sh 执行脚本时，也需要执行权限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86948" y="30770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335375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14235" y="3482816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脚本是一个二进制文件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86948" y="34828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375951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14222" y="376428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4235" y="3888581"/>
              <a:ext cx="1612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是 shell 外部命令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86948" y="38885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114222" y="1941195"/>
              <a:ext cx="4544378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471785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7114222" y="4345305"/>
            <a:ext cx="4544378" cy="1819275"/>
            <a:chOff x="7114222" y="4345305"/>
            <a:chExt cx="4544378" cy="1819275"/>
          </a:xfrm>
        </p:grpSpPr>
        <p:sp>
          <p:nvSpPr>
            <p:cNvPr id="59" name="Rectangle 59"/>
            <p:cNvSpPr/>
            <p:nvPr/>
          </p:nvSpPr>
          <p:spPr>
            <a:xfrm>
              <a:off x="7114222" y="4345305"/>
              <a:ext cx="4544378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3748" y="4478655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44728" y="4537710"/>
              <a:ext cx="173831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97779" y="4572000"/>
              <a:ext cx="1631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. won 能找到文件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37870" y="4894898"/>
              <a:ext cx="36313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bash 执行 </a:t>
              </a:r>
              <a:r>
                <a:rPr lang="zh-CN" sz="13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. 文件名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时，文件名里没有 / 就先在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PATH 中找，找不到再看当前目录（bash 的非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POSIX 模式）。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39012" y="5707856"/>
              <a:ext cx="312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en-US" sz="11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. ./won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最稳妥，sh 等其他 shell 也认。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12711" cy="909257"/>
            <a:chOff x="520446" y="342900"/>
            <a:chExt cx="83127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127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的三种结构：then 与 fi 成对，[ ] 内外都要留空格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745286" cy="264033"/>
            <a:chOff x="526542" y="1545907"/>
            <a:chExt cx="107452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745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 后面的命令返回 0 就执行 then 分支。[ condition ] 本身就是一条命令（test 的另一种写法），所以 [ 之后、] 之前必须有空格。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3505200" cy="1561148"/>
            <a:chOff x="533400" y="1928812"/>
            <a:chExt cx="3505200" cy="15611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508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if-then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1105154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condition ]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commands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last-command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59505"/>
            <a:ext cx="3505200" cy="1974532"/>
            <a:chOff x="533400" y="3659505"/>
            <a:chExt cx="3505200" cy="1974532"/>
          </a:xfrm>
        </p:grpSpPr>
        <p:sp>
          <p:nvSpPr>
            <p:cNvPr id="13" name="Rectangle 13"/>
            <p:cNvSpPr/>
            <p:nvPr/>
          </p:nvSpPr>
          <p:spPr>
            <a:xfrm>
              <a:off x="533400" y="3659505"/>
              <a:ext cx="3505200" cy="1974532"/>
            </a:xfrm>
            <a:prstGeom prst="roundRect">
              <a:avLst>
                <a:gd name="adj" fmla="val 6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92855"/>
              <a:ext cx="47625" cy="17078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84619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6811" y="387905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何时用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4191000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条件成立才执行，不成立就什么也不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475" y="4743926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例：svi2 只在参数个数为 1 时备份。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4343400" y="1928812"/>
            <a:ext cx="3505200" cy="1912620"/>
            <a:chOff x="4343400" y="1928812"/>
            <a:chExt cx="3505200" cy="1912620"/>
          </a:xfrm>
        </p:grpSpPr>
        <p:sp>
          <p:nvSpPr>
            <p:cNvPr id="20" name="Rectangle 20"/>
            <p:cNvSpPr/>
            <p:nvPr/>
          </p:nvSpPr>
          <p:spPr>
            <a:xfrm>
              <a:off x="4343400" y="1928812"/>
              <a:ext cx="3505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71797" y="2080736"/>
              <a:ext cx="854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if-then-else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1797" y="2340769"/>
              <a:ext cx="1242060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condition ]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true-commands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false-commands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010978"/>
            <a:ext cx="3505200" cy="1623060"/>
            <a:chOff x="4343400" y="4010978"/>
            <a:chExt cx="3505200" cy="1623060"/>
          </a:xfrm>
        </p:grpSpPr>
        <p:sp>
          <p:nvSpPr>
            <p:cNvPr id="24" name="Rectangle 24"/>
            <p:cNvSpPr/>
            <p:nvPr/>
          </p:nvSpPr>
          <p:spPr>
            <a:xfrm>
              <a:off x="4343400" y="4010978"/>
              <a:ext cx="3505200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52925" y="4144328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68190" y="419766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56811" y="42305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何时用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1332" y="454247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条件为真、为假各做一件事。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2475" y="483917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例：svi3 没给文件名时输出提示。</a:t>
              </a:r>
            </a:p>
          </p:txBody>
        </p:sp>
      </p:grpSp>
      <p:grpSp>
        <p:nvGrpSpPr>
          <p:cNvPr id="34" name="c3-code-1"/>
          <p:cNvGrpSpPr/>
          <p:nvPr/>
        </p:nvGrpSpPr>
        <p:grpSpPr>
          <a:xfrm>
            <a:off x="8153400" y="1928812"/>
            <a:ext cx="3505200" cy="2088832"/>
            <a:chOff x="8153400" y="1928812"/>
            <a:chExt cx="3505200" cy="2088832"/>
          </a:xfrm>
        </p:grpSpPr>
        <p:sp>
          <p:nvSpPr>
            <p:cNvPr id="31" name="Rectangle 31"/>
            <p:cNvSpPr/>
            <p:nvPr/>
          </p:nvSpPr>
          <p:spPr>
            <a:xfrm>
              <a:off x="8153400" y="1928812"/>
              <a:ext cx="3505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81797" y="2080736"/>
              <a:ext cx="8202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if-then-elif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1797" y="2340769"/>
              <a:ext cx="1378966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condition_1 ]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commands_1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condition_2 ]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commands_2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commands_n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</a:p>
          </p:txBody>
        </p:sp>
      </p:grpSp>
      <p:grpSp>
        <p:nvGrpSpPr>
          <p:cNvPr id="41" name="c3-card-2"/>
          <p:cNvGrpSpPr/>
          <p:nvPr/>
        </p:nvGrpSpPr>
        <p:grpSpPr>
          <a:xfrm>
            <a:off x="8153400" y="4187190"/>
            <a:ext cx="3505200" cy="1446848"/>
            <a:chOff x="8153400" y="4187190"/>
            <a:chExt cx="3505200" cy="1446848"/>
          </a:xfrm>
        </p:grpSpPr>
        <p:sp>
          <p:nvSpPr>
            <p:cNvPr id="35" name="Rectangle 35"/>
            <p:cNvSpPr/>
            <p:nvPr/>
          </p:nvSpPr>
          <p:spPr>
            <a:xfrm>
              <a:off x="8153400" y="4187190"/>
              <a:ext cx="3505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62925" y="432054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378190" y="437388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66811" y="440674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何时用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1332" y="471773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多个条件依次判断，elif 可以写多个，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相当于嵌套的 if-else。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2475" y="527161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例：greetings 按小时分三段。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2" name="Rectangle 4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8373"/>
              <a:ext cx="6992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写成 ["$x" = 3] 时，shell 把 [3 当成命令名，报 command not found（本机实测）。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4781" cy="909257"/>
            <a:chOff x="520446" y="342900"/>
            <a:chExt cx="60547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47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svi2 与 svi3：先备份再用 vi 打开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471435" cy="308039"/>
            <a:chOff x="525399" y="1550194"/>
            <a:chExt cx="647143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4714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功能：把参数指定的文件复制到 ~/keep 目录备份，再用 vi 编辑它。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5410200" cy="1922145"/>
            <a:chOff x="533400" y="1967865"/>
            <a:chExt cx="5410200" cy="19221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7586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svi2：参数个数为 1 时才备份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8063" y="2381726"/>
              <a:ext cx="8966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0595" y="2381726"/>
              <a:ext cx="110667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DIR=$HOME/keep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$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= 1 ]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cp $1 $DIR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vi $1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 0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5780" y="4105275"/>
            <a:ext cx="5417820" cy="1613535"/>
            <a:chOff x="525780" y="4105275"/>
            <a:chExt cx="5417820" cy="161353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41052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$#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56360" y="41052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命令行参数的个数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4253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454533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$1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6360" y="4545330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个参数，这里是文件名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8653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49853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56360" y="498538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里判断两个字符串相等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3054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5425440"/>
              <a:ext cx="608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exit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56360" y="5425440"/>
              <a:ext cx="26100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以返回值 0（成功）结束脚本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967865"/>
            <a:ext cx="5410200" cy="2327910"/>
            <a:chOff x="6248400" y="1967865"/>
            <a:chExt cx="5410200" cy="2327910"/>
          </a:xfrm>
        </p:grpSpPr>
        <p:sp>
          <p:nvSpPr>
            <p:cNvPr id="26" name="Rectangle 26"/>
            <p:cNvSpPr/>
            <p:nvPr/>
          </p:nvSpPr>
          <p:spPr>
            <a:xfrm>
              <a:off x="6248400" y="1967865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2119789"/>
              <a:ext cx="1731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svi3：没给文件名时给出提示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3063" y="2381726"/>
              <a:ext cx="8966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5595" y="2381726"/>
              <a:ext cx="392303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DIR=$HOME/keep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$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= 1 ]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cp $1 $DIR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 $1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"You must specify a filename. Try again."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 0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4486275"/>
            <a:ext cx="5410200" cy="1847850"/>
            <a:chOff x="6248400" y="4486275"/>
            <a:chExt cx="5410200" cy="1847850"/>
          </a:xfrm>
        </p:grpSpPr>
        <p:sp>
          <p:nvSpPr>
            <p:cNvPr id="31" name="Rectangle 31"/>
            <p:cNvSpPr/>
            <p:nvPr/>
          </p:nvSpPr>
          <p:spPr>
            <a:xfrm>
              <a:off x="6248400" y="4486275"/>
              <a:ext cx="541020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461962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4695825"/>
              <a:ext cx="97250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1846" y="4731544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svi3 的问题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5073015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参数指定的文件不存在时，cp 仍会执行并报错。下一页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svi4 先用 </a:t>
              </a:r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-f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检查文件是否存在。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573" y="5689759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svi2 不管参数对不对都会执行 vi $1；svi3 把 vi 移进 then 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0636" cy="909257"/>
            <a:chOff x="520446" y="342900"/>
            <a:chExt cx="64006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06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svi4：嵌套 if，先检查文件是否存在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626418" cy="3154680"/>
            <a:chOff x="533400" y="1524000"/>
            <a:chExt cx="5626418" cy="3154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65070"/>
              <a:ext cx="558831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0466" y="1937385"/>
              <a:ext cx="157353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492"/>
                </a:lnSpc>
              </a:pPr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451" y="1937385"/>
              <a:ext cx="3677793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DIR=$HOME/keep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$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= 1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-f $1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cp $1 $DIR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 $1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"File not found. Try again."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"You must specify a filename. Try again."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 0</a:t>
              </a:r>
            </a:p>
          </p:txBody>
        </p:sp>
      </p:grpSp>
      <p:grpSp>
        <p:nvGrpSpPr>
          <p:cNvPr id="18" name="c1-kv-2"/>
          <p:cNvGrpSpPr/>
          <p:nvPr/>
        </p:nvGrpSpPr>
        <p:grpSpPr>
          <a:xfrm>
            <a:off x="526161" y="4882991"/>
            <a:ext cx="5633657" cy="694945"/>
            <a:chOff x="526161" y="4882991"/>
            <a:chExt cx="5633657" cy="694945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4882991"/>
              <a:ext cx="10782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test $# =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19656" y="4882991"/>
              <a:ext cx="3503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[ $# = 1 ] 等价，参数个数为 1 时为真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51863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5299234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test -f $1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19656" y="5299234"/>
              <a:ext cx="23848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$1 存在且是普通文件时为真</a:t>
              </a:r>
            </a:p>
          </p:txBody>
        </p:sp>
      </p:grpSp>
      <p:grpSp>
        <p:nvGrpSpPr>
          <p:cNvPr id="53" name="c2-flow-1"/>
          <p:cNvGrpSpPr/>
          <p:nvPr/>
        </p:nvGrpSpPr>
        <p:grpSpPr>
          <a:xfrm>
            <a:off x="6646545" y="1734502"/>
            <a:ext cx="4830127" cy="3742373"/>
            <a:chOff x="6646545" y="1734502"/>
            <a:chExt cx="4830127" cy="3742373"/>
          </a:xfrm>
        </p:grpSpPr>
        <p:sp>
          <p:nvSpPr>
            <p:cNvPr id="19" name="Freeform 19"/>
            <p:cNvSpPr/>
            <p:nvPr/>
          </p:nvSpPr>
          <p:spPr>
            <a:xfrm>
              <a:off x="7762875" y="2145982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710488" y="23745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880158" y="2772728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38285" y="27203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762875" y="3067050"/>
              <a:ext cx="9525" cy="140017"/>
            </a:xfrm>
            <a:custGeom>
              <a:avLst/>
              <a:gdLst/>
              <a:ahLst/>
              <a:cxnLst/>
              <a:rect l="l" t="t" r="r" b="b"/>
              <a:pathLst>
                <a:path w="9525" h="140017">
                  <a:moveTo>
                    <a:pt x="0" y="0"/>
                  </a:moveTo>
                  <a:lnTo>
                    <a:pt x="0" y="1400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710488" y="32070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880158" y="3606165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138285" y="35537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762875" y="389953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710488" y="41281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762875" y="464439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710488" y="49606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46545" y="1734502"/>
              <a:ext cx="2233612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646545" y="2479358"/>
              <a:ext cx="2233612" cy="587692"/>
            </a:xfrm>
            <a:custGeom>
              <a:avLst/>
              <a:gdLst/>
              <a:ahLst/>
              <a:cxnLst/>
              <a:rect l="l" t="t" r="r" b="b"/>
              <a:pathLst>
                <a:path w="2233612" h="587692">
                  <a:moveTo>
                    <a:pt x="1116330" y="0"/>
                  </a:moveTo>
                  <a:lnTo>
                    <a:pt x="2233612" y="293370"/>
                  </a:lnTo>
                  <a:lnTo>
                    <a:pt x="1116330" y="587692"/>
                  </a:lnTo>
                  <a:lnTo>
                    <a:pt x="0" y="29337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243060" y="2566988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646545" y="3311842"/>
              <a:ext cx="2233612" cy="587692"/>
            </a:xfrm>
            <a:custGeom>
              <a:avLst/>
              <a:gdLst/>
              <a:ahLst/>
              <a:cxnLst/>
              <a:rect l="l" t="t" r="r" b="b"/>
              <a:pathLst>
                <a:path w="2233612" h="587692">
                  <a:moveTo>
                    <a:pt x="1116330" y="0"/>
                  </a:moveTo>
                  <a:lnTo>
                    <a:pt x="2233612" y="294323"/>
                  </a:lnTo>
                  <a:lnTo>
                    <a:pt x="1116330" y="587692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243060" y="3399472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46545" y="4232910"/>
              <a:ext cx="2233612" cy="411480"/>
            </a:xfrm>
            <a:prstGeom prst="roundRect">
              <a:avLst>
                <a:gd name="adj" fmla="val 23148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46545" y="5065395"/>
              <a:ext cx="2233612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95235" y="18564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78294" y="2688907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参数个数 $# = 1 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08070" y="268890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提示必须给文件名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15607" y="3522345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 $1 存在？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88842" y="35223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提示文件不存在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41947" y="435483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 备份，再 vi 打开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19309" y="518731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exit 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51595" y="256698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91168" y="259127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791450" y="310419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15072" y="31284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51595" y="339947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91168" y="342471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791450" y="398049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15072" y="400573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4" name="Rectangle 5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11704"/>
              <a:ext cx="76417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内层 if 必须有自己的 fi。每写一个 if，就在同一缩进层写好对应的 fi，再往中间填内容。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1749" cy="909257"/>
            <a:chOff x="520446" y="342900"/>
            <a:chExt cx="7301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1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与 [ ]：表达式为真返回 0，为假返回非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640205"/>
            <a:chOff x="533400" y="1524000"/>
            <a:chExt cx="5626418" cy="1640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63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$ help [ （bash 的说明）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531108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[: [ arg... 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Evaluate conditional expression.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This is a synonym for the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"test"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builtin,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but the last argument must be a literal `]',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to match the opening `['.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339465"/>
            <a:ext cx="5626418" cy="2028825"/>
            <a:chOff x="533400" y="3339465"/>
            <a:chExt cx="5626418" cy="2028825"/>
          </a:xfrm>
        </p:grpSpPr>
        <p:sp>
          <p:nvSpPr>
            <p:cNvPr id="11" name="Rectangle 11"/>
            <p:cNvSpPr/>
            <p:nvPr/>
          </p:nvSpPr>
          <p:spPr>
            <a:xfrm>
              <a:off x="533400" y="3339465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83753" y="34637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45711" y="34637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等价写法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869531"/>
              <a:ext cx="1863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"$variable" = value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47098" y="3869531"/>
              <a:ext cx="1654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"$variable" = value ]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1462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15099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4275296"/>
              <a:ext cx="1755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表达式1 -a 表达式2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47098" y="42752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与：两个都真才为真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519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4681061"/>
              <a:ext cx="1755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表达式1 -o 表达式2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7098" y="46810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或：有一个真就为真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577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9625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5086826"/>
              <a:ext cx="954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! 表达式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47098" y="50868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非：取反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39465"/>
              <a:ext cx="562641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42322" y="333946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3"/>
          <p:cNvGrpSpPr/>
          <p:nvPr/>
        </p:nvGrpSpPr>
        <p:grpSpPr>
          <a:xfrm>
            <a:off x="533400" y="5543550"/>
            <a:ext cx="5626418" cy="729615"/>
            <a:chOff x="533400" y="5543550"/>
            <a:chExt cx="5626418" cy="729615"/>
          </a:xfrm>
        </p:grpSpPr>
        <p:sp>
          <p:nvSpPr>
            <p:cNvPr id="30" name="Rectangle 30"/>
            <p:cNvSpPr/>
            <p:nvPr/>
          </p:nvSpPr>
          <p:spPr>
            <a:xfrm>
              <a:off x="533400" y="554355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807393"/>
              <a:ext cx="200026" cy="200026"/>
              <a:chOff x="738188" y="5807393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073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8740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9074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5689283"/>
              <a:ext cx="47285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能判断三类表达式：数值、字符串和文件，后面三页逐类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讲。</a:t>
              </a:r>
            </a:p>
          </p:txBody>
        </p:sp>
      </p:grpSp>
      <p:grpSp>
        <p:nvGrpSpPr>
          <p:cNvPr id="40" name="c2-code-1"/>
          <p:cNvGrpSpPr/>
          <p:nvPr/>
        </p:nvGrpSpPr>
        <p:grpSpPr>
          <a:xfrm>
            <a:off x="6464618" y="1524000"/>
            <a:ext cx="5193982" cy="2776538"/>
            <a:chOff x="6464618" y="1524000"/>
            <a:chExt cx="5193982" cy="2776538"/>
          </a:xfrm>
        </p:grpSpPr>
        <p:sp>
          <p:nvSpPr>
            <p:cNvPr id="37" name="Rectangle 37"/>
            <p:cNvSpPr/>
            <p:nvPr/>
          </p:nvSpPr>
          <p:spPr>
            <a:xfrm>
              <a:off x="6464618" y="1524000"/>
              <a:ext cx="5193982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3015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例：根据回答输出不同的话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92634" y="1937385"/>
              <a:ext cx="3017711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"Are you OK?"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-e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"Input Y for yes and N for no:\c"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 answer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"$answer"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= Y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"Glad to hear that!"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 home!"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 0</a:t>
              </a:r>
            </a:p>
          </p:txBody>
        </p:sp>
      </p:grpSp>
      <p:grpSp>
        <p:nvGrpSpPr>
          <p:cNvPr id="49" name="c2-kv-2"/>
          <p:cNvGrpSpPr/>
          <p:nvPr/>
        </p:nvGrpSpPr>
        <p:grpSpPr>
          <a:xfrm>
            <a:off x="6457760" y="4497705"/>
            <a:ext cx="5200840" cy="1312735"/>
            <a:chOff x="6457760" y="4497705"/>
            <a:chExt cx="5200840" cy="1312735"/>
          </a:xfrm>
        </p:grpSpPr>
        <p:sp>
          <p:nvSpPr>
            <p:cNvPr id="41" name="TextBox 41"/>
            <p:cNvSpPr txBox="1"/>
            <p:nvPr/>
          </p:nvSpPr>
          <p:spPr>
            <a:xfrm>
              <a:off x="6457760" y="4497705"/>
              <a:ext cx="1282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echo -e "…\c"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52232" y="4497705"/>
              <a:ext cx="3575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-e 让 echo 解释转义，\c 表示输出后不换行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47863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57760" y="4895850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read answer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52232" y="4895850"/>
              <a:ext cx="2703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从键盘读一行，存进变量 answer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51844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57760" y="5293042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输入 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52232" y="5293042"/>
              <a:ext cx="343414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Glad to hear that!，输入其他内容输出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 home!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35784" cy="909257"/>
            <a:chOff x="520446" y="342900"/>
            <a:chExt cx="6635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35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数值比较用 -eq 这一组，= 比较的是字符串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7685" y="1524000"/>
            <a:ext cx="5956935" cy="4339114"/>
            <a:chOff x="527685" y="1524000"/>
            <a:chExt cx="5956935" cy="43391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5663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1998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8404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9090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128361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-eq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1041" y="212836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$num1 -eq $num2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75089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是否相等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98198" y="2128361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574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62212"/>
              <a:ext cx="595122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2596991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1041" y="259699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$num1 -ne $num2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75089" y="259699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是否不相等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8198" y="2596991"/>
              <a:ext cx="865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 equal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2608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192304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-gt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71041" y="3192304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$num1 -gt $num2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75089" y="3192304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num1 是否大于 num2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198" y="3065621"/>
              <a:ext cx="70878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greater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than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490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53790"/>
              <a:ext cx="595122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3915251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71041" y="391525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$num1 -ge $num2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75089" y="391525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是否大于或等于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98198" y="3788569"/>
              <a:ext cx="71780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greater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equal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3710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4" y="4510564"/>
              <a:ext cx="2954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-lt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71041" y="4510564"/>
              <a:ext cx="1524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$num1 -lt $num2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75089" y="4510564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num1 是否小于 num2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98198" y="4510564"/>
              <a:ext cx="865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less than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8396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844415"/>
              <a:ext cx="595122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7604" y="5106829"/>
              <a:ext cx="2954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71041" y="5106829"/>
              <a:ext cx="1524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$num1 -le $num2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75089" y="510682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是否小于或等于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98198" y="4980146"/>
              <a:ext cx="61861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less or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5951220" cy="40433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362075" y="1524000"/>
              <a:ext cx="9525" cy="40433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266122" y="1524000"/>
              <a:ext cx="9525" cy="40433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89232" y="1524000"/>
              <a:ext cx="9525" cy="40433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564308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 12.5 test 命令的数值判断操作符</a:t>
              </a:r>
            </a:p>
          </p:txBody>
        </p:sp>
      </p:grpSp>
      <p:grpSp>
        <p:nvGrpSpPr>
          <p:cNvPr id="53" name="c2-code-1"/>
          <p:cNvGrpSpPr/>
          <p:nvPr/>
        </p:nvGrpSpPr>
        <p:grpSpPr>
          <a:xfrm>
            <a:off x="6789420" y="1524000"/>
            <a:ext cx="4869180" cy="2125028"/>
            <a:chOff x="6789420" y="1524000"/>
            <a:chExt cx="4869180" cy="2125028"/>
          </a:xfrm>
        </p:grpSpPr>
        <p:sp>
          <p:nvSpPr>
            <p:cNvPr id="50" name="Rectangle 50"/>
            <p:cNvSpPr/>
            <p:nvPr/>
          </p:nvSpPr>
          <p:spPr>
            <a:xfrm>
              <a:off x="6789420" y="1524000"/>
              <a:ext cx="486918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17817" y="1675924"/>
              <a:ext cx="22572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本机实测：echo $? 看 test 的返回值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17055" y="1937861"/>
              <a:ext cx="289890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[ 010 = 10 ];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1          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字符串 "010" 与 "10" 不同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[ 010 -eq 10 ];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0          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按整数比较，两者相等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x=3; [ $x &gt; 5 ];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0          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&gt; 被当成重定向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5          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多出一个名为 5 的空文件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789420" y="3834765"/>
            <a:ext cx="4869180" cy="1984058"/>
            <a:chOff x="6789420" y="3834765"/>
            <a:chExt cx="4869180" cy="1984058"/>
          </a:xfrm>
        </p:grpSpPr>
        <p:sp>
          <p:nvSpPr>
            <p:cNvPr id="54" name="Rectangle 54"/>
            <p:cNvSpPr/>
            <p:nvPr/>
          </p:nvSpPr>
          <p:spPr>
            <a:xfrm>
              <a:off x="6789420" y="3834765"/>
              <a:ext cx="4869180" cy="1984058"/>
            </a:xfrm>
            <a:prstGeom prst="roundRect">
              <a:avLst>
                <a:gd name="adj" fmla="val 67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98945" y="3968115"/>
              <a:ext cx="47625" cy="17173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31355" y="4038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21563" y="4074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38975" y="447103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95566" y="441150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 里的 &gt; 和 &lt; 是输出、输入重定向，数值比较要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-gt、-lt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038975" y="506253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95566" y="5003006"/>
              <a:ext cx="39368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数值用 -eq，字符串用 =，混用时 010 与 10 的结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果不同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0702" cy="909257"/>
            <a:chOff x="520446" y="342900"/>
            <a:chExt cx="76107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07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largest：三个数取最大，两数相等时会出错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735002" cy="2397442"/>
            <a:chOff x="533400" y="1524000"/>
            <a:chExt cx="5735002" cy="2397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910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largest：读 3 个整数，显示最大的数（原课件）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824478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 num1 num2 num3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"$num1"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"$num2"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-a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"$num1"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"$num3"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largest number is: $num1"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"$num2"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"$num1"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-a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"$num2"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"$num3"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largest number is: $num2"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largest number is: $num3"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28066" y="4101465"/>
            <a:ext cx="5740336" cy="1977962"/>
            <a:chOff x="528066" y="4101465"/>
            <a:chExt cx="5740336" cy="1977962"/>
          </a:xfrm>
        </p:grpSpPr>
        <p:sp>
          <p:nvSpPr>
            <p:cNvPr id="11" name="Rectangle 11"/>
            <p:cNvSpPr/>
            <p:nvPr/>
          </p:nvSpPr>
          <p:spPr>
            <a:xfrm>
              <a:off x="533400" y="4101465"/>
              <a:ext cx="5735002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7750" y="42300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84208" y="42300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89423" y="42300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对不对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8470" y="4654868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3 9 5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00822" y="4654868"/>
              <a:ext cx="1940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largest number is: 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50967" y="465486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94633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951095"/>
              <a:ext cx="573500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470" y="5078730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7 2 4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00822" y="5078730"/>
              <a:ext cx="1940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largest number is: 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50967" y="50787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37019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8470" y="5503545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5 5 3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00822" y="5503545"/>
              <a:ext cx="1940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largest number is: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50967" y="55035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101465"/>
              <a:ext cx="573500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93570" y="410146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01552" y="410146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066" y="5874068"/>
              <a:ext cx="3480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本机实测。输入 5 5 3 时前两个 if 都不成立，落到 else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573202" y="1524000"/>
            <a:ext cx="5085398" cy="3845242"/>
            <a:chOff x="6573202" y="1524000"/>
            <a:chExt cx="5085398" cy="3845242"/>
          </a:xfrm>
        </p:grpSpPr>
        <p:sp>
          <p:nvSpPr>
            <p:cNvPr id="32" name="Rectangle 32"/>
            <p:cNvSpPr/>
            <p:nvPr/>
          </p:nvSpPr>
          <p:spPr>
            <a:xfrm>
              <a:off x="6573202" y="1524000"/>
              <a:ext cx="5085398" cy="3845242"/>
            </a:xfrm>
            <a:prstGeom prst="roundRect">
              <a:avLst>
                <a:gd name="adj" fmla="val 34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582728" y="1657350"/>
              <a:ext cx="47625" cy="35785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09422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00862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92734" y="17568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最大值有并列时的漏洞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02184" y="2100739"/>
              <a:ext cx="42164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5 5 3 时，两个 -gt 条件都为假，脚本只能进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else，输出了最小的 3。把 -gt 换成 -ge 就能修好：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09422" y="2666048"/>
              <a:ext cx="465105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37820" y="2817971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37438" y="3079432"/>
              <a:ext cx="3897821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"$num1"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-ge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"$num2"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] &amp;&amp; [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"$num1"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-ge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"$num3"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]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largest number is: $num1"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elif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"$num2"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-ge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"$num3"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]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largest number is: $num2"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largest number is: $num3"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3326" y="4984432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 5 5 3 → 5，3 9 9 → 9，1 2 8 → 8。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573202" y="5550218"/>
            <a:ext cx="5085398" cy="756285"/>
            <a:chOff x="6573202" y="5550218"/>
            <a:chExt cx="5085398" cy="756285"/>
          </a:xfrm>
        </p:grpSpPr>
        <p:sp>
          <p:nvSpPr>
            <p:cNvPr id="43" name="Rectangle 43"/>
            <p:cNvSpPr/>
            <p:nvPr/>
          </p:nvSpPr>
          <p:spPr>
            <a:xfrm>
              <a:off x="6573202" y="5550218"/>
              <a:ext cx="508539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77990" y="5828348"/>
              <a:ext cx="200026" cy="200025"/>
              <a:chOff x="6777990" y="582834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77990" y="58283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17729" y="58727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52444" y="59839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080314" y="569737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设计判断题的测试数据时，除了一般情况，还要试相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等、最大值在各个位置上的情况。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字符串判断：变量两边一定要加双引号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410200" cy="2569845"/>
            <a:chOff x="533400" y="1524000"/>
            <a:chExt cx="5410200" cy="25698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855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857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0123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11978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0569" y="2119789"/>
              <a:ext cx="1820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$string1 = $string2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6064" y="21197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两个字符串是否相同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460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50782"/>
              <a:ext cx="5410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709386"/>
              <a:ext cx="185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!=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0569" y="2582704"/>
              <a:ext cx="97028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$string1 !=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$string2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6064" y="27093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两个字符串是否不同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62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29898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0569" y="329898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-n $string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64" y="3298984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长度是否非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261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630930"/>
              <a:ext cx="5410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3762851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-z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00569" y="376285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-z $string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64" y="3762851"/>
              <a:ext cx="2088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是否为空串（长度为 0）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5698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94460" y="152400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49955" y="152400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ode-2"/>
          <p:cNvGrpSpPr/>
          <p:nvPr/>
        </p:nvGrpSpPr>
        <p:grpSpPr>
          <a:xfrm>
            <a:off x="533400" y="4273868"/>
            <a:ext cx="5410200" cy="2019300"/>
            <a:chOff x="533400" y="4273868"/>
            <a:chExt cx="5410200" cy="2019300"/>
          </a:xfrm>
        </p:grpSpPr>
        <p:sp>
          <p:nvSpPr>
            <p:cNvPr id="32" name="Rectangle 32"/>
            <p:cNvSpPr/>
            <p:nvPr/>
          </p:nvSpPr>
          <p:spPr>
            <a:xfrm>
              <a:off x="533400" y="4273868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797" y="44257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416" y="4687252"/>
              <a:ext cx="2064258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STRING=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test -z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"$STRING"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STRING=abc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test -z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"$STRING"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test -n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"$STRING"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grpSp>
        <p:nvGrpSpPr>
          <p:cNvPr id="41" name="c2-callout-1"/>
          <p:cNvGrpSpPr/>
          <p:nvPr/>
        </p:nvGrpSpPr>
        <p:grpSpPr>
          <a:xfrm>
            <a:off x="6248400" y="1524000"/>
            <a:ext cx="5410200" cy="503872"/>
            <a:chOff x="6248400" y="1524000"/>
            <a:chExt cx="5410200" cy="503872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1675450"/>
              <a:ext cx="200023" cy="200023"/>
              <a:chOff x="6453188" y="167545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16754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86538" y="17421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511" y="1675924"/>
              <a:ext cx="4069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返回值 0 为真，1 为假，和 C 语言的习惯相反。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2207895"/>
            <a:ext cx="5410200" cy="4085272"/>
            <a:chOff x="6248400" y="2207895"/>
            <a:chExt cx="5410200" cy="4085272"/>
          </a:xfrm>
        </p:grpSpPr>
        <p:sp>
          <p:nvSpPr>
            <p:cNvPr id="42" name="Rectangle 42"/>
            <p:cNvSpPr/>
            <p:nvPr/>
          </p:nvSpPr>
          <p:spPr>
            <a:xfrm>
              <a:off x="6248400" y="2207895"/>
              <a:ext cx="5410200" cy="4085272"/>
            </a:xfrm>
            <a:prstGeom prst="roundRect">
              <a:avLst>
                <a:gd name="adj" fmla="val 3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2341245"/>
              <a:ext cx="47625" cy="38185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84620" y="240601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2057" y="244030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为什么必须加引号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7381" y="2766536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STRING 为空时，不加引号的 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test -n $STRING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展开后只剩</a:t>
              </a:r>
              <a:br/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test -n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7381" y="3356134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只收到一个参数时，只看它是不是非空字符串；“-n”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非空，于是返回 0（真），和实际相反。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84620" y="3921442"/>
              <a:ext cx="497586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3017" y="4073366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2636" y="4334828"/>
              <a:ext cx="2164271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STRING=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test -n $STRING;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0          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错：空串被判成非空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test -n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"$STRING"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$?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8524" y="5481638"/>
              <a:ext cx="3800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规则：test 的操作数是变量时，一律写成 "$变量"。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7493" cy="909257"/>
            <a:chOff x="520446" y="342900"/>
            <a:chExt cx="75574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74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比较两次 date 的输出：命令行和脚本里结果不同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207895"/>
            <a:chOff x="533400" y="1524000"/>
            <a:chExt cx="5626418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4009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原课件：在命令行逐行输入（行首 &gt; 是 PS2 续行提示符）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091053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DATE1=`date`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DATE2=`date`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"$DATE1"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=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"$DATE2"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"STOP! The computer clock is dead!"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"Everything is fine."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Everything is fine.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12870"/>
            <a:ext cx="5626418" cy="2445068"/>
            <a:chOff x="533400" y="3912870"/>
            <a:chExt cx="5626418" cy="2445068"/>
          </a:xfrm>
        </p:grpSpPr>
        <p:sp>
          <p:nvSpPr>
            <p:cNvPr id="11" name="Rectangle 11"/>
            <p:cNvSpPr/>
            <p:nvPr/>
          </p:nvSpPr>
          <p:spPr>
            <a:xfrm>
              <a:off x="533400" y="3912870"/>
              <a:ext cx="5626418" cy="2445068"/>
            </a:xfrm>
            <a:prstGeom prst="roundRect">
              <a:avLst>
                <a:gd name="adj" fmla="val 54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046220"/>
              <a:ext cx="47625" cy="21783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411099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3057" y="414528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等号两边必须有空格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4471511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"$DATE1"="$DATE2" 就成了一个非空字符串，test 只收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到一个参数，永远返回真。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9620" y="5036820"/>
              <a:ext cx="5192078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8017" y="51887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7636" y="5450205"/>
              <a:ext cx="285769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D1=abc; D2=xyz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"$D1"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=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"$D2"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真;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真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464618" y="1533525"/>
            <a:ext cx="4943856" cy="2223516"/>
            <a:chOff x="6464618" y="1533525"/>
            <a:chExt cx="4943856" cy="2223516"/>
          </a:xfrm>
        </p:grpSpPr>
        <p:sp>
          <p:nvSpPr>
            <p:cNvPr id="20" name="Rectangle 20"/>
            <p:cNvSpPr/>
            <p:nvPr/>
          </p:nvSpPr>
          <p:spPr>
            <a:xfrm>
              <a:off x="6597968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1507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9879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6479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7622" y="1846898"/>
              <a:ext cx="4341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时钟在走，两次 date 的输出应当不同；相同就说明时钟停了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479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622" y="2464118"/>
              <a:ext cx="3974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两行是手工分别输入的，中间隔了几秒，字符串不同，输出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Everything is fine.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479" y="302085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写进脚本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622" y="3301365"/>
              <a:ext cx="45308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 date 连续执行，通常落在同一秒，输出 STOP! The computer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clock is dead!（本机实测）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3928110"/>
            <a:ext cx="5193982" cy="2429828"/>
            <a:chOff x="6464618" y="3928110"/>
            <a:chExt cx="5193982" cy="2429828"/>
          </a:xfrm>
        </p:grpSpPr>
        <p:sp>
          <p:nvSpPr>
            <p:cNvPr id="34" name="Rectangle 34"/>
            <p:cNvSpPr/>
            <p:nvPr/>
          </p:nvSpPr>
          <p:spPr>
            <a:xfrm>
              <a:off x="6464618" y="3928110"/>
              <a:ext cx="5193982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4061460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00838" y="41262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2278" y="41605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93598" y="4487704"/>
              <a:ext cx="44328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 默认只精确到秒，所以这个例子只在两次调用相隔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秒以上时才能说明问题。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08458" y="51368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65048" y="5076349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反引号 `date` 和 $(date) 都是命令替换，把命令的输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出当成字符串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08458" y="572547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65048" y="5665946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要比较更细的时间，可用 GNU date 的 +%s%N（秒数加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纳秒）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29384" cy="909257"/>
            <a:chOff x="520446" y="342900"/>
            <a:chExt cx="42293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29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文件检测：-r -w -s -f -d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8447" y="1524000"/>
            <a:ext cx="5956173" cy="3775424"/>
            <a:chOff x="528447" y="1524000"/>
            <a:chExt cx="5956173" cy="377542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0179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1072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009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62850" y="2087880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-r filename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28772" y="20878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文件存在并且可读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261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2850" y="2526982"/>
              <a:ext cx="1049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-w filename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28772" y="252698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文件存在并且可写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9660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62850" y="2966085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-s filename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28772" y="2966085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文件存在并且长度非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746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79458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40518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2850" y="340518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-f filename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28772" y="340518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文件存在并且是普通文件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37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384333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2850" y="384333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-d filename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8772" y="384333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文件存在并且是一个目录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29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7662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428244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62850" y="4282440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-e filename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28772" y="42824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文件存在（补充）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920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412" y="47215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62850" y="472154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-x filename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28772" y="47215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文件存在并且可执行（补充）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5951220" cy="35109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62075" y="1524000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027998" y="1524000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447" y="5108734"/>
              <a:ext cx="15270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 命令文件检测操作符</a:t>
              </a:r>
            </a:p>
          </p:txBody>
        </p:sp>
      </p:grpSp>
      <p:grpSp>
        <p:nvGrpSpPr>
          <p:cNvPr id="49" name="c1-code-2"/>
          <p:cNvGrpSpPr/>
          <p:nvPr/>
        </p:nvGrpSpPr>
        <p:grpSpPr>
          <a:xfrm>
            <a:off x="533400" y="5431155"/>
            <a:ext cx="5951220" cy="858202"/>
            <a:chOff x="533400" y="5431155"/>
            <a:chExt cx="5951220" cy="858202"/>
          </a:xfrm>
        </p:grpSpPr>
        <p:sp>
          <p:nvSpPr>
            <p:cNvPr id="46" name="Rectangle 46"/>
            <p:cNvSpPr/>
            <p:nvPr/>
          </p:nvSpPr>
          <p:spPr>
            <a:xfrm>
              <a:off x="533400" y="5431155"/>
              <a:ext cx="595122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1797" y="558307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分别报告可读、可写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1797" y="5843111"/>
              <a:ext cx="2268855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 -r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"$FILE"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] &amp;&amp;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"READABLE"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 -w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"$FILE"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] &amp;&amp;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"WRITABLE"</a:t>
              </a:r>
            </a:p>
          </p:txBody>
        </p:sp>
      </p:grpSp>
      <p:grpSp>
        <p:nvGrpSpPr>
          <p:cNvPr id="53" name="c2-code-1"/>
          <p:cNvGrpSpPr/>
          <p:nvPr/>
        </p:nvGrpSpPr>
        <p:grpSpPr>
          <a:xfrm>
            <a:off x="6789420" y="1524000"/>
            <a:ext cx="4869180" cy="2440305"/>
            <a:chOff x="6789420" y="1524000"/>
            <a:chExt cx="4869180" cy="2440305"/>
          </a:xfrm>
        </p:grpSpPr>
        <p:sp>
          <p:nvSpPr>
            <p:cNvPr id="50" name="Rectangle 50"/>
            <p:cNvSpPr/>
            <p:nvPr/>
          </p:nvSpPr>
          <p:spPr>
            <a:xfrm>
              <a:off x="6789420" y="1524000"/>
              <a:ext cx="486918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17817" y="1675924"/>
              <a:ext cx="13905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例：myfile 权限为只读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17817" y="1935956"/>
              <a:ext cx="2542667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FILE=myfile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-r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"$FILE"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"READABLE"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-w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"$FILE"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"WRITABLE"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 and Write Access Denied"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READABLE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789420" y="4133850"/>
            <a:ext cx="4869180" cy="2154555"/>
            <a:chOff x="6789420" y="4133850"/>
            <a:chExt cx="4869180" cy="2154555"/>
          </a:xfrm>
        </p:grpSpPr>
        <p:sp>
          <p:nvSpPr>
            <p:cNvPr id="54" name="Rectangle 54"/>
            <p:cNvSpPr/>
            <p:nvPr/>
          </p:nvSpPr>
          <p:spPr>
            <a:xfrm>
              <a:off x="6789420" y="4133850"/>
              <a:ext cx="4869180" cy="2154555"/>
            </a:xfrm>
            <a:prstGeom prst="roundRect">
              <a:avLst>
                <a:gd name="adj" fmla="val 61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98945" y="4267200"/>
              <a:ext cx="47625" cy="18878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14210" y="4320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06882" y="4353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07352" y="4665345"/>
              <a:ext cx="41970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第一个条件 -r 已经成立，elif 不再判断，所以只输出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READABLE。想分别报告可读、可写，写成两个独立的判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断（左下）。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08495" y="5476399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&amp;&amp; 左边的命令返回 0 时才执行右边。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63561" cy="909257"/>
            <a:chOff x="520446" y="342900"/>
            <a:chExt cx="9463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63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greetings1：用 set 和 cut 从 date 的输出里取出小时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951220" cy="3139440"/>
            <a:chOff x="533400" y="1524000"/>
            <a:chExt cx="5951220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11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greetings1：根据一天的不同时间显示不同的问候语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1895475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098358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831" y="1937861"/>
              <a:ext cx="167894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0595" y="1937861"/>
              <a:ext cx="2280158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 `date`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hour=`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$4 | cut -d : -f1`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"$hour"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-lt 12 ]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"GOOD MORNING"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"$hour"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-lt 18 ]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"GOOD AFTERNOON"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"GOOD EVENING"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</a:t>
              </a:r>
            </a:p>
          </p:txBody>
        </p:sp>
      </p:grpSp>
      <p:grpSp>
        <p:nvGrpSpPr>
          <p:cNvPr id="39" name="c1-cells-2"/>
          <p:cNvGrpSpPr/>
          <p:nvPr/>
        </p:nvGrpSpPr>
        <p:grpSpPr>
          <a:xfrm>
            <a:off x="527304" y="4849178"/>
            <a:ext cx="5957316" cy="748378"/>
            <a:chOff x="527304" y="4849178"/>
            <a:chExt cx="5957316" cy="748378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4977765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set 之后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83970" y="4849178"/>
              <a:ext cx="8667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68684" y="4977765"/>
              <a:ext cx="29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50745" y="4849178"/>
              <a:ext cx="8667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35459" y="4977765"/>
              <a:ext cx="29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17520" y="4849178"/>
              <a:ext cx="8667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98166" y="4977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84295" y="4849178"/>
              <a:ext cx="866775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38420" y="4977765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09:13:45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751070" y="4849178"/>
              <a:ext cx="8667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030503" y="497776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617845" y="4849178"/>
              <a:ext cx="86677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8553" y="497776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679258" y="527399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36216" y="5406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$1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546032" y="527399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02991" y="5406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$2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3412808" y="527399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69766" y="5406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$3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4279582" y="527399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36541" y="5406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$4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146358" y="527399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103316" y="5406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$5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013132" y="527399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70091" y="5406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$6</a:t>
              </a:r>
            </a:p>
          </p:txBody>
        </p:sp>
      </p:grpSp>
      <p:grpSp>
        <p:nvGrpSpPr>
          <p:cNvPr id="57" name="c2-steps-1"/>
          <p:cNvGrpSpPr/>
          <p:nvPr/>
        </p:nvGrpSpPr>
        <p:grpSpPr>
          <a:xfrm>
            <a:off x="6789420" y="1533525"/>
            <a:ext cx="4616196" cy="2632139"/>
            <a:chOff x="6789420" y="1533525"/>
            <a:chExt cx="4616196" cy="2632139"/>
          </a:xfrm>
        </p:grpSpPr>
        <p:sp>
          <p:nvSpPr>
            <p:cNvPr id="40" name="Rectangle 40"/>
            <p:cNvSpPr/>
            <p:nvPr/>
          </p:nvSpPr>
          <p:spPr>
            <a:xfrm>
              <a:off x="692277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89420" y="23755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304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89420" y="29965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8304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89420" y="36166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304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01281" y="1566386"/>
              <a:ext cx="10682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 `date`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2424" y="1846898"/>
              <a:ext cx="4203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 输出 Sun Dec 3 09:13:45 CST 2023，set 把这 6 个字段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依次放进 $1 … $6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01281" y="2408396"/>
              <a:ext cx="4866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$4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2424" y="2688907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$4 是 09:13:45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1281" y="3029426"/>
              <a:ext cx="1188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cut -d : -f1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02424" y="3309938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以冒号为分隔符取第 1 列，hour = 09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1281" y="36504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02424" y="3930968"/>
              <a:ext cx="3470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09 小于 12，输出 GOOD MORNING（本机实测）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789420" y="4341495"/>
            <a:ext cx="4869180" cy="1865948"/>
            <a:chOff x="6789420" y="4341495"/>
            <a:chExt cx="4869180" cy="1865948"/>
          </a:xfrm>
        </p:grpSpPr>
        <p:sp>
          <p:nvSpPr>
            <p:cNvPr id="58" name="Rectangle 58"/>
            <p:cNvSpPr/>
            <p:nvPr/>
          </p:nvSpPr>
          <p:spPr>
            <a:xfrm>
              <a:off x="6789420" y="4341495"/>
              <a:ext cx="486918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98945" y="4474845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31355" y="45453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21563" y="45810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038975" y="497871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5566" y="4918234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这种写法依赖 date 的英文输出格式；中文环境下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字段顺序不同，$4 不是时间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038975" y="55702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95566" y="5509736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 里的 -lt 把 09 当十进制处理没问题；换成 ((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hour &lt; 12 )) 会把 09 当八进制而报错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0951" cy="909257"/>
            <a:chOff x="520446" y="342900"/>
            <a:chExt cx="68109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211" y="407194"/>
              <a:ext cx="271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Shell 脚本与条件判断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09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 greetings2：date +%H 直接输出小时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2966085"/>
            <a:chOff x="533400" y="1524000"/>
            <a:chExt cx="5410200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37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greetings2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8692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0466" y="1937385"/>
              <a:ext cx="157353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492"/>
                </a:lnSpc>
              </a:pPr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451" y="1937385"/>
              <a:ext cx="1844231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hour=`date +%H`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"$hour"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-lt 12 ]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"GOOD MORNING"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elif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[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"$hour"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-lt 18 ]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then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"GOOD AFTERNOON"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"GOOD EVENING"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4664392"/>
            <a:ext cx="5410200" cy="1623060"/>
            <a:chOff x="533400" y="4664392"/>
            <a:chExt cx="5410200" cy="1623060"/>
          </a:xfrm>
        </p:grpSpPr>
        <p:sp>
          <p:nvSpPr>
            <p:cNvPr id="13" name="Rectangle 13"/>
            <p:cNvSpPr/>
            <p:nvPr/>
          </p:nvSpPr>
          <p:spPr>
            <a:xfrm>
              <a:off x="533400" y="4664392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48549" y="4788694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hour 的取值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26928" y="4788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7428" y="5194459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– 11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2295" y="5194459"/>
              <a:ext cx="111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 MORNING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4711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547592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07428" y="5600224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– 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22295" y="5600224"/>
              <a:ext cx="132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 AFTERNOON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876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07428" y="6005989"/>
              <a:ext cx="541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– 23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22295" y="6005989"/>
              <a:ext cx="1046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 EVENING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6439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017520" y="46643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248400" y="1524000"/>
            <a:ext cx="5410200" cy="3325178"/>
            <a:chOff x="6248400" y="1524000"/>
            <a:chExt cx="5410200" cy="3325178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325178"/>
            </a:xfrm>
            <a:prstGeom prst="roundRect">
              <a:avLst>
                <a:gd name="adj" fmla="val 40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305847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1716405"/>
              <a:ext cx="122682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8080" y="1750695"/>
              <a:ext cx="1088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date 的格式参数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2072640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参数以 + 开头，后面紧跟字段描述符，date 就只按这个格式输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8905" y="2610802"/>
              <a:ext cx="498729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6651" y="27351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93201" y="27351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72610" y="27351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54084" y="31408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59115" y="3140869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小时（00–23）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65072" y="314086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78905" y="3417570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3422332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37357" y="3546634"/>
              <a:ext cx="262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59115" y="3546634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分钟（00–59）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65072" y="354663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78905" y="382333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54084" y="395239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59115" y="3952399"/>
              <a:ext cx="87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秒（00–59）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65072" y="39523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8905" y="4229100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8905" y="4233862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43432" y="4358164"/>
              <a:ext cx="850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%Y-%m-%d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59115" y="4358164"/>
              <a:ext cx="629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年-月-日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33368" y="435816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2023-12-03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8905" y="2610802"/>
              <a:ext cx="498729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54340" y="261080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836468" y="261080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248400" y="5024438"/>
            <a:ext cx="5410200" cy="1263968"/>
            <a:chOff x="6248400" y="5024438"/>
            <a:chExt cx="5410200" cy="1263968"/>
          </a:xfrm>
        </p:grpSpPr>
        <p:sp>
          <p:nvSpPr>
            <p:cNvPr id="58" name="Rectangle 58"/>
            <p:cNvSpPr/>
            <p:nvPr/>
          </p:nvSpPr>
          <p:spPr>
            <a:xfrm>
              <a:off x="6248400" y="5024438"/>
              <a:ext cx="5410200" cy="1263968"/>
            </a:xfrm>
            <a:prstGeom prst="roundRect">
              <a:avLst>
                <a:gd name="adj" fmla="val 105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5157788"/>
              <a:ext cx="47625" cy="997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487478" y="52949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43497" y="5238750"/>
              <a:ext cx="3697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+%H 总是输出两位数的小时，与语言环境无关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87478" y="559784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43497" y="5541645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greetings1 相比，不用 set 和 cut，也不依赖 date 默认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输出的字段顺序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46203" cy="2997517"/>
            <a:chOff x="667512" y="1835468"/>
            <a:chExt cx="604620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算术运算与循环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36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 变量都是字符串，整数运算要借助 expr、let 或 $(( ))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 算术运算：expr 与 let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0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9.5.1 for-in-done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9.5.3 until-do-done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5849" cy="909257"/>
            <a:chOff x="520446" y="342900"/>
            <a:chExt cx="78458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876" y="407194"/>
              <a:ext cx="2300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算术运算与循环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58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expr：运算符两边留空格，只算整数，乘号写成 \*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3319462"/>
            <a:chOff x="533400" y="1524000"/>
            <a:chExt cx="4977765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461768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x=10; x=$x+1;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$x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10+1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只是拼接字符串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1 + 2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1+1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1+1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没有空格，当成一个字符串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6 - 15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-9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2.4 - 1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expr: non-integer argument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10 / 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10 \* 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expr 10 \% 3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5008245"/>
            <a:ext cx="4977765" cy="1176338"/>
            <a:chOff x="533400" y="5008245"/>
            <a:chExt cx="4977765" cy="1176338"/>
          </a:xfrm>
        </p:grpSpPr>
        <p:sp>
          <p:nvSpPr>
            <p:cNvPr id="11" name="Rectangle 11"/>
            <p:cNvSpPr/>
            <p:nvPr/>
          </p:nvSpPr>
          <p:spPr>
            <a:xfrm>
              <a:off x="533400" y="5008245"/>
              <a:ext cx="4977765" cy="1176338"/>
            </a:xfrm>
            <a:prstGeom prst="roundRect">
              <a:avLst>
                <a:gd name="adj" fmla="val 9717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496880"/>
              <a:ext cx="200023" cy="200023"/>
              <a:chOff x="738188" y="5496880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968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563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1273" y="5389721"/>
              <a:ext cx="3963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shell 变量不分类型，都按字符串保存。x=$x+1 只是把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10、+、1 拼在一起，要算数就得借助 expr 这类命令。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5815965" y="1524000"/>
            <a:ext cx="5842635" cy="2669858"/>
            <a:chOff x="5815965" y="1524000"/>
            <a:chExt cx="5842635" cy="2669858"/>
          </a:xfrm>
        </p:grpSpPr>
        <p:sp>
          <p:nvSpPr>
            <p:cNvPr id="17" name="Rectangle 17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208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3013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原因或例子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10644" y="2023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运算符两边要有空格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13764" y="2023110"/>
              <a:ext cx="266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每个数和运算符都是 expr 的一个单独参数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0644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参数只能是整数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13764" y="2404110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不是整数，报错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10644" y="2785110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乘号写成 \*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13764" y="2785110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 不转义会被 shell 当通配符展开成文件名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15965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10644" y="3167062"/>
              <a:ext cx="1013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取余写 \% 或 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13764" y="3167062"/>
              <a:ext cx="239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 不是 shell 元字符，反斜杠可有可无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0644" y="3548062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变量要加 $ 取值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3764" y="3548062"/>
              <a:ext cx="7598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 $x + 1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807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3811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0644" y="393001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结果赋给变量用命令替换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13764" y="3930015"/>
              <a:ext cx="1812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x=`expr $x + 1`，x 变成 11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1524000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1432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5815965" y="4358640"/>
            <a:ext cx="5842635" cy="1826895"/>
            <a:chOff x="5815965" y="4358640"/>
            <a:chExt cx="5842635" cy="1826895"/>
          </a:xfrm>
        </p:grpSpPr>
        <p:sp>
          <p:nvSpPr>
            <p:cNvPr id="43" name="Rectangle 43"/>
            <p:cNvSpPr/>
            <p:nvPr/>
          </p:nvSpPr>
          <p:spPr>
            <a:xfrm>
              <a:off x="5815965" y="4358640"/>
              <a:ext cx="5842635" cy="1826895"/>
            </a:xfrm>
            <a:prstGeom prst="roundRect">
              <a:avLst>
                <a:gd name="adj" fmla="val 72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25490" y="4491990"/>
              <a:ext cx="47625" cy="15601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5040" y="45396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6759" y="4572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28563" y="4879181"/>
              <a:ext cx="51904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 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expr 2.4 - 1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的报错写作 expr:nonnumeric argument，那是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旧版本的措辞；GNU coreutils 8.32 和 9.4 实测均为 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expr:</a:t>
              </a:r>
              <a:br/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non-integer argument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29706" y="5646420"/>
              <a:ext cx="51779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原课件说 \* 和 \% 是 expr 的乘号和取余符号。准确说反斜杠由 shell 去掉，expr 收到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的是 * 和 %。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07597" cy="909257"/>
            <a:chOff x="520446" y="342900"/>
            <a:chExt cx="37075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876" y="407194"/>
              <a:ext cx="2300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算术运算与循环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075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 作业题与 let 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card-1"/>
          <p:cNvGrpSpPr/>
          <p:nvPr/>
        </p:nvGrpSpPr>
        <p:grpSpPr>
          <a:xfrm>
            <a:off x="533400" y="1524000"/>
            <a:ext cx="5410200" cy="3798570"/>
            <a:chOff x="533400" y="1524000"/>
            <a:chExt cx="5410200" cy="3798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98570"/>
            </a:xfrm>
            <a:prstGeom prst="roundRect">
              <a:avLst>
                <a:gd name="adj" fmla="val 3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436" y="176355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多选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775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下面用于算数计算的 expr 表达式正确的是（ 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75335" y="2415540"/>
              <a:ext cx="496443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50670" y="2546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80898" y="2546985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判断（本机实测，x=10）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0681" y="2977515"/>
              <a:ext cx="106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expr 1 + 1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67584" y="2977515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输出 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5335" y="3271838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276600"/>
              <a:ext cx="496443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4860" y="3286125"/>
              <a:ext cx="1867852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0681" y="3513772"/>
              <a:ext cx="1159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expr x \*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67584" y="340709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x 少了 $，是字符串，报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non-integer argument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5335" y="391477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0681" y="4050982"/>
              <a:ext cx="1287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expr $x \%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67584" y="405098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输出 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5335" y="434530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4350068"/>
              <a:ext cx="496443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4860" y="4359592"/>
              <a:ext cx="186785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0681" y="4481512"/>
              <a:ext cx="964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expr 1+1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67584" y="4481512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没有空格，原样输出 1+1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75335" y="2415540"/>
              <a:ext cx="496443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57475" y="241554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8096" y="4896326"/>
              <a:ext cx="8212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AC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5507355"/>
            <a:ext cx="5410200" cy="756285"/>
            <a:chOff x="533400" y="5507355"/>
            <a:chExt cx="5410200" cy="756285"/>
          </a:xfrm>
        </p:grpSpPr>
        <p:sp>
          <p:nvSpPr>
            <p:cNvPr id="34" name="Rectangle 34"/>
            <p:cNvSpPr/>
            <p:nvPr/>
          </p:nvSpPr>
          <p:spPr>
            <a:xfrm>
              <a:off x="533400" y="550735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785485"/>
              <a:ext cx="200026" cy="200025"/>
              <a:chOff x="738188" y="5785485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785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5829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941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65546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做这类题逐项检查三件事：运算符两边有没有空格，参数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是不是整数，变量有没有加 $。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248400" y="1524000"/>
            <a:ext cx="5410200" cy="2327910"/>
            <a:chOff x="6248400" y="1524000"/>
            <a:chExt cx="5410200" cy="232791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6797" y="1675924"/>
              <a:ext cx="1786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let：计算表达式并赋值给变量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6035" y="1937861"/>
              <a:ext cx="212369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x=100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let x=x+1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$x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let y=x*2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$y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202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x=10; x=$((x+1));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$x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</p:grpSp>
      <p:grpSp>
        <p:nvGrpSpPr>
          <p:cNvPr id="65" name="c2-table-2"/>
          <p:cNvGrpSpPr/>
          <p:nvPr/>
        </p:nvGrpSpPr>
        <p:grpSpPr>
          <a:xfrm>
            <a:off x="6242685" y="4037648"/>
            <a:ext cx="5415915" cy="2229326"/>
            <a:chOff x="6242685" y="4037648"/>
            <a:chExt cx="5415915" cy="2229326"/>
          </a:xfrm>
        </p:grpSpPr>
        <p:sp>
          <p:nvSpPr>
            <p:cNvPr id="45" name="Rectangle 45"/>
            <p:cNvSpPr/>
            <p:nvPr/>
          </p:nvSpPr>
          <p:spPr>
            <a:xfrm>
              <a:off x="6248400" y="4037648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54215" y="41681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02078" y="41681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93874" y="416814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变量要加 $ 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3747" y="459867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 $x + 1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1609" y="459867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运算符两边必须有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49472" y="459867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8929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4897755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3747" y="5135880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let x=x+1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01609" y="5029200"/>
              <a:ext cx="15133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和运算符两边都不能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49472" y="51358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55359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3747" y="5672138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$((x + 1))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01609" y="56721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49472" y="56721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037648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91500" y="403764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139362" y="403764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2685" y="6046946"/>
              <a:ext cx="335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$(( )) 是 bash 的算术展开，课本未讲，作为补充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2266" cy="909257"/>
            <a:chOff x="520446" y="342900"/>
            <a:chExt cx="79522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876" y="407194"/>
              <a:ext cx="2300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算术运算与循环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22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for-in-done：依次把列表里的每个值赋给循环变量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1922145"/>
            <a:chOff x="533400" y="1524000"/>
            <a:chExt cx="5626418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187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 for_in_done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06247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 2 3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 the loop for $count times"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done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 0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3636645"/>
            <a:ext cx="5626418" cy="1110615"/>
            <a:chOff x="533400" y="3636645"/>
            <a:chExt cx="5626418" cy="1110615"/>
          </a:xfrm>
        </p:grpSpPr>
        <p:sp>
          <p:nvSpPr>
            <p:cNvPr id="12" name="Rectangle 12"/>
            <p:cNvSpPr/>
            <p:nvPr/>
          </p:nvSpPr>
          <p:spPr>
            <a:xfrm>
              <a:off x="533400" y="3636645"/>
              <a:ext cx="562641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378856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运行结果（本机实测）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4050506"/>
              <a:ext cx="181076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 the loop for 1 times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 the loop for 2 times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 the loop for 3 times</a:t>
              </a:r>
            </a:p>
          </p:txBody>
        </p:sp>
      </p:grpSp>
      <p:grpSp>
        <p:nvGrpSpPr>
          <p:cNvPr id="21" name="c1-kv-3"/>
          <p:cNvGrpSpPr/>
          <p:nvPr/>
        </p:nvGrpSpPr>
        <p:grpSpPr>
          <a:xfrm>
            <a:off x="525780" y="4962525"/>
            <a:ext cx="5634038" cy="733425"/>
            <a:chOff x="525780" y="4962525"/>
            <a:chExt cx="5634038" cy="733425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4962525"/>
              <a:ext cx="1543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for 变量 in 列表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13610" y="49625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列表里有几个词，循环体就执行几次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2825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5402580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do … done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13610" y="54025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循环体的开始和结束</a:t>
              </a:r>
            </a:p>
          </p:txBody>
        </p:sp>
      </p:grpSp>
      <p:grpSp>
        <p:nvGrpSpPr>
          <p:cNvPr id="46" name="c2-flow-1"/>
          <p:cNvGrpSpPr/>
          <p:nvPr/>
        </p:nvGrpSpPr>
        <p:grpSpPr>
          <a:xfrm>
            <a:off x="6436995" y="1909762"/>
            <a:ext cx="5039677" cy="4163378"/>
            <a:chOff x="6436995" y="1909762"/>
            <a:chExt cx="5039677" cy="4163378"/>
          </a:xfrm>
        </p:grpSpPr>
        <p:sp>
          <p:nvSpPr>
            <p:cNvPr id="22" name="Freeform 22"/>
            <p:cNvSpPr/>
            <p:nvPr/>
          </p:nvSpPr>
          <p:spPr>
            <a:xfrm>
              <a:off x="7762875" y="2347912"/>
              <a:ext cx="9525" cy="584835"/>
            </a:xfrm>
            <a:custGeom>
              <a:avLst/>
              <a:gdLst/>
              <a:ahLst/>
              <a:cxnLst/>
              <a:rect l="l" t="t" r="r" b="b"/>
              <a:pathLst>
                <a:path w="9525" h="584835">
                  <a:moveTo>
                    <a:pt x="0" y="0"/>
                  </a:moveTo>
                  <a:lnTo>
                    <a:pt x="0" y="584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710488" y="2932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762875" y="3639502"/>
              <a:ext cx="9525" cy="584835"/>
            </a:xfrm>
            <a:custGeom>
              <a:avLst/>
              <a:gdLst/>
              <a:ahLst/>
              <a:cxnLst/>
              <a:rect l="l" t="t" r="r" b="b"/>
              <a:pathLst>
                <a:path w="9525" h="584835">
                  <a:moveTo>
                    <a:pt x="0" y="0"/>
                  </a:moveTo>
                  <a:lnTo>
                    <a:pt x="0" y="584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10488" y="4224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880158" y="3338512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138285" y="3286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762875" y="4767262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710488" y="53387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36995" y="3072765"/>
              <a:ext cx="209550" cy="2708910"/>
            </a:xfrm>
            <a:custGeom>
              <a:avLst/>
              <a:gdLst/>
              <a:ahLst/>
              <a:cxnLst/>
              <a:rect l="l" t="t" r="r" b="b"/>
              <a:pathLst>
                <a:path w="209550" h="2708910">
                  <a:moveTo>
                    <a:pt x="209550" y="2685098"/>
                  </a:moveTo>
                  <a:lnTo>
                    <a:pt x="0" y="2685098"/>
                  </a:lnTo>
                  <a:lnTo>
                    <a:pt x="0" y="2708910"/>
                  </a:lnTo>
                  <a:lnTo>
                    <a:pt x="0" y="0"/>
                  </a:lnTo>
                  <a:lnTo>
                    <a:pt x="0" y="265747"/>
                  </a:lnTo>
                  <a:lnTo>
                    <a:pt x="104775" y="2657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41770" y="3286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46545" y="1909762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646545" y="3037522"/>
              <a:ext cx="2233612" cy="601980"/>
            </a:xfrm>
            <a:custGeom>
              <a:avLst/>
              <a:gdLst/>
              <a:ahLst/>
              <a:cxnLst/>
              <a:rect l="l" t="t" r="r" b="b"/>
              <a:pathLst>
                <a:path w="2233612" h="601980">
                  <a:moveTo>
                    <a:pt x="1116330" y="0"/>
                  </a:moveTo>
                  <a:lnTo>
                    <a:pt x="2233612" y="300990"/>
                  </a:lnTo>
                  <a:lnTo>
                    <a:pt x="111633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46545" y="4329112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46545" y="5443538"/>
              <a:ext cx="2233612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43060" y="3119438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84084" y="20397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53300" y="32494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列表里还有值？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62836" y="4459129"/>
              <a:ext cx="1400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取下一个值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02958" y="5559266"/>
              <a:ext cx="17198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do 与 done 之间的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09238" y="32494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结束循环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791450" y="38919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14691" y="39185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81110" y="312229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15400" y="31489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101" cy="909257"/>
            <a:chOff x="520446" y="342900"/>
            <a:chExt cx="71241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876" y="407194"/>
              <a:ext cx="2300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算术运算与循环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1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until 循环：条件为假时一直执行，直到它变真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86204" cy="293370"/>
            <a:chOff x="525780" y="1548765"/>
            <a:chExt cx="848620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862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 uon 查看指定用户当前是否登录到系统；如果没有，就每 30 秒查一次，等他登录时报告。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626418" cy="2125028"/>
            <a:chOff x="533400" y="1954530"/>
            <a:chExt cx="5626418" cy="212502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855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 uon（原课件第 5–12 行）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340418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68391"/>
              <a:ext cx="259308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until who |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grep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"$1"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&gt; /dev/null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sleep 30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done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"\07\07$1 is on the system"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echo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exit 0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65295"/>
            <a:ext cx="5626418" cy="2018348"/>
            <a:chOff x="533400" y="4265295"/>
            <a:chExt cx="5626418" cy="2018348"/>
          </a:xfrm>
        </p:grpSpPr>
        <p:sp>
          <p:nvSpPr>
            <p:cNvPr id="14" name="Rectangle 14"/>
            <p:cNvSpPr/>
            <p:nvPr/>
          </p:nvSpPr>
          <p:spPr>
            <a:xfrm>
              <a:off x="533400" y="4265295"/>
              <a:ext cx="5626418" cy="2018348"/>
            </a:xfrm>
            <a:prstGeom prst="roundRect">
              <a:avLst>
                <a:gd name="adj" fmla="val 66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398645"/>
              <a:ext cx="47625" cy="17516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44691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543" y="45048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842034"/>
              <a:ext cx="46852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bash 的 echo 默认不解释转义，高亮这一行（原课件第 10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行）会原样打印 \07\07emma is on the system（本机实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测）。要响铃，写 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echo -e "\a\a$1 is on the system"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239" y="5700712"/>
              <a:ext cx="3251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也可以用 printf，它总会解释 \a 这类转义。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6464618" y="1964055"/>
            <a:ext cx="5231130" cy="2853119"/>
            <a:chOff x="6464618" y="1964055"/>
            <a:chExt cx="5231130" cy="2853119"/>
          </a:xfrm>
        </p:grpSpPr>
        <p:sp>
          <p:nvSpPr>
            <p:cNvPr id="21" name="Rectangle 21"/>
            <p:cNvSpPr/>
            <p:nvPr/>
          </p:nvSpPr>
          <p:spPr>
            <a:xfrm>
              <a:off x="6597968" y="210693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464618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8241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64618" y="28060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58241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4618" y="342709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8241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4618" y="404717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58241" y="4120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6479" y="1996916"/>
              <a:ext cx="15098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who | grep "$1"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7622" y="2277428"/>
              <a:ext cx="4568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who 列出已登录用户，grep 在其中找 $1；找到返回 0，找不到返回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 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6479" y="2838926"/>
              <a:ext cx="10782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/dev/null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7622" y="3119438"/>
              <a:ext cx="353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grep 的输出丢进空设备，屏幕上什么也不显示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6479" y="345995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until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7622" y="3740468"/>
              <a:ext cx="4818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条件返回非 0（没登录）时执行循环体 sleep 30，暂停 30 秒后再查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6479" y="40809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后台运行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7622" y="4361498"/>
              <a:ext cx="4454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uon emma &amp; 放到后台，[1] 是作业号，4483 是进程号，终端可以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继续用</a:t>
              </a:r>
            </a:p>
          </p:txBody>
        </p:sp>
      </p:grpSp>
      <p:grpSp>
        <p:nvGrpSpPr>
          <p:cNvPr id="50" name="c2-table-2"/>
          <p:cNvGrpSpPr/>
          <p:nvPr/>
        </p:nvGrpSpPr>
        <p:grpSpPr>
          <a:xfrm>
            <a:off x="6464618" y="4993005"/>
            <a:ext cx="5193982" cy="1290638"/>
            <a:chOff x="6464618" y="4993005"/>
            <a:chExt cx="5193982" cy="1290638"/>
          </a:xfrm>
        </p:grpSpPr>
        <p:sp>
          <p:nvSpPr>
            <p:cNvPr id="39" name="Rectangle 39"/>
            <p:cNvSpPr/>
            <p:nvPr/>
          </p:nvSpPr>
          <p:spPr>
            <a:xfrm>
              <a:off x="6464618" y="4993005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66635" y="5124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60242" y="51244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何时执行循环体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9964" y="5554028"/>
              <a:ext cx="801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条件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09279" y="5554028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条件为真（返回 0）时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58483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5853112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9964" y="5984558"/>
              <a:ext cx="767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until 条件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09279" y="5984558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条件为假（返回非 0）时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4993005"/>
              <a:ext cx="5193982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99170" y="499300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3797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 工具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按文件的修改时间，只重新编译过期的部分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90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 makefile 的组成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17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 应用实例：编译 cal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默认目标、多个目标与 make clean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4362" cy="909257"/>
            <a:chOff x="520446" y="342900"/>
            <a:chExt cx="71043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135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784" y="407194"/>
              <a:ext cx="1973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make 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43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makefile 的一条规则：目标、依赖文件、命令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342322"/>
            <a:chOff x="533400" y="1524000"/>
            <a:chExt cx="5842635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560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编译软件 cal 的 makefile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831" y="1937861"/>
              <a:ext cx="167894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0595" y="1937861"/>
              <a:ext cx="2514854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cal:cal.o sub.o sum.o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gcc cal.o sub.o sum.o -o cal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cal.o:cal.c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gcc -c cal.c -o cal.o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sub.o:sub.c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gcc -c sub.c -o sub.o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sum.o:sum.c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gcc -c sum.c -o sum.o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clean: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rm -rf *.o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5780" y="5081588"/>
            <a:ext cx="5850255" cy="1173480"/>
            <a:chOff x="525780" y="5081588"/>
            <a:chExt cx="5850255" cy="1173480"/>
          </a:xfrm>
        </p:grpSpPr>
        <p:sp>
          <p:nvSpPr>
            <p:cNvPr id="12" name="TextBox 12"/>
            <p:cNvSpPr txBox="1"/>
            <p:nvPr/>
          </p:nvSpPr>
          <p:spPr>
            <a:xfrm>
              <a:off x="525780" y="508158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6862" y="5081588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冒号左边，要生成的文件或要做的事（如 clean）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54016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552164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依赖文件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6862" y="552164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冒号右边，生成目标需要的文件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58416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59616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6862" y="5961698"/>
              <a:ext cx="3732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下一行起，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必须以 Tab 开头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，不能用空格</a:t>
              </a:r>
            </a:p>
          </p:txBody>
        </p:sp>
      </p:grpSp>
      <p:grpSp>
        <p:nvGrpSpPr>
          <p:cNvPr id="23" name="c2-image-1"/>
          <p:cNvGrpSpPr/>
          <p:nvPr/>
        </p:nvGrpSpPr>
        <p:grpSpPr>
          <a:xfrm>
            <a:off x="7365682" y="1524000"/>
            <a:ext cx="3609022" cy="3021807"/>
            <a:chOff x="7365682" y="1524000"/>
            <a:chExt cx="3609022" cy="3021807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5560" t="0" r="5559" b="0"/>
            <a:stretch>
              <a:fillRect/>
            </a:stretch>
          </p:blipFill>
          <p:spPr>
            <a:xfrm>
              <a:off x="7365682" y="1524000"/>
              <a:ext cx="3609022" cy="2707005"/>
            </a:xfrm>
            <a:prstGeom prst="roundRect">
              <a:avLst>
                <a:gd name="adj" fmla="val 4926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7731646" y="432577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只重做过期的零件，其余部件原样拿来组装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680835" y="4711065"/>
            <a:ext cx="4977765" cy="1651635"/>
            <a:chOff x="6680835" y="4711065"/>
            <a:chExt cx="4977765" cy="1651635"/>
          </a:xfrm>
        </p:grpSpPr>
        <p:sp>
          <p:nvSpPr>
            <p:cNvPr id="24" name="Rectangle 24"/>
            <p:cNvSpPr/>
            <p:nvPr/>
          </p:nvSpPr>
          <p:spPr>
            <a:xfrm>
              <a:off x="6680835" y="4711065"/>
              <a:ext cx="497776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484441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28485" y="492061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01539" y="495633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多选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0865" y="5297805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makefile 文件内容的组成部分包括（ ）：A 命令 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 C 依赖文件 D 版本号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5918835"/>
              <a:ext cx="990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ABC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48325" cy="909257"/>
            <a:chOff x="520446" y="342900"/>
            <a:chExt cx="61483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135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784" y="407194"/>
              <a:ext cx="1973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make 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483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 比较修改时间，只重做过期的目标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748088"/>
            <a:chOff x="533400" y="1524000"/>
            <a:chExt cx="5410200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02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本机实测（GNU Make 4.3）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201926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make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-c cal.c -o cal.o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-c sub.c -o sub.o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-c sum.c -o sum.o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cal.o sub.o sum.o -o cal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./cal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1200 + 600 = 1800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1200 - 600 = 600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make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make: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'cal'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 up to date.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touch sum.c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make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-c sum.c -o sum.o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cal.o sub.o sum.o -o cal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make clean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rm -rf *.o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462588"/>
            <a:ext cx="5410200" cy="782955"/>
            <a:chOff x="533400" y="5462588"/>
            <a:chExt cx="5410200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546258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754053"/>
              <a:ext cx="200026" cy="200025"/>
              <a:chOff x="738188" y="575405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7540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7985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9096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611178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make clean 删掉 .o 之后再 make，三个 .o 都不存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在，四条 gcc 命令会全部重新执行。</a:t>
              </a:r>
            </a:p>
          </p:txBody>
        </p:sp>
      </p:grpSp>
      <p:grpSp>
        <p:nvGrpSpPr>
          <p:cNvPr id="44" name="c2-graph-1"/>
          <p:cNvGrpSpPr/>
          <p:nvPr/>
        </p:nvGrpSpPr>
        <p:grpSpPr>
          <a:xfrm>
            <a:off x="6907530" y="1592580"/>
            <a:ext cx="4500563" cy="1768221"/>
            <a:chOff x="6907530" y="1592580"/>
            <a:chExt cx="4500563" cy="1768221"/>
          </a:xfrm>
        </p:grpSpPr>
        <p:sp>
          <p:nvSpPr>
            <p:cNvPr id="18" name="Freeform 18"/>
            <p:cNvSpPr/>
            <p:nvPr/>
          </p:nvSpPr>
          <p:spPr>
            <a:xfrm>
              <a:off x="7536180" y="1884045"/>
              <a:ext cx="1102995" cy="461010"/>
            </a:xfrm>
            <a:custGeom>
              <a:avLst/>
              <a:gdLst/>
              <a:ahLst/>
              <a:cxnLst/>
              <a:rect l="l" t="t" r="r" b="b"/>
              <a:pathLst>
                <a:path w="1102995" h="461010">
                  <a:moveTo>
                    <a:pt x="0" y="461010"/>
                  </a:moveTo>
                  <a:lnTo>
                    <a:pt x="11029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621078" y="184023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6668"/>
                  </a:moveTo>
                  <a:lnTo>
                    <a:pt x="36195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953500" y="2007870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3086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905875" y="1912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267825" y="1884045"/>
              <a:ext cx="1066800" cy="445770"/>
            </a:xfrm>
            <a:custGeom>
              <a:avLst/>
              <a:gdLst/>
              <a:ahLst/>
              <a:cxnLst/>
              <a:rect l="l" t="t" r="r" b="b"/>
              <a:pathLst>
                <a:path w="1066800" h="445770">
                  <a:moveTo>
                    <a:pt x="1066800" y="4457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180195" y="184023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0" y="6668"/>
                  </a:moveTo>
                  <a:lnTo>
                    <a:pt x="105728" y="0"/>
                  </a:lnTo>
                  <a:lnTo>
                    <a:pt x="69533" y="8763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221855" y="2731770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3086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174230" y="2636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953500" y="2731770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3086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905875" y="2636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685145" y="2731770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3086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637520" y="2636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726805" y="1592580"/>
              <a:ext cx="45243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2316480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19172" y="2316480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334625" y="2316480"/>
              <a:ext cx="70104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7530" y="3040380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619172" y="3040380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962198" y="3040380"/>
              <a:ext cx="1445895" cy="320040"/>
            </a:xfrm>
            <a:prstGeom prst="roundRect">
              <a:avLst>
                <a:gd name="adj" fmla="val 29762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28669" y="167830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3733" y="2402205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cal.o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4175" y="240220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28858" y="2402205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sum.o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03733" y="3126105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cal.c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4175" y="312610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sub.c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34085" y="3126105"/>
              <a:ext cx="13021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sum.c（touch）</a:t>
              </a:r>
            </a:p>
          </p:txBody>
        </p:sp>
      </p:grpSp>
      <p:grpSp>
        <p:nvGrpSpPr>
          <p:cNvPr id="58" name="c2-steps-2"/>
          <p:cNvGrpSpPr/>
          <p:nvPr/>
        </p:nvGrpSpPr>
        <p:grpSpPr>
          <a:xfrm>
            <a:off x="6248400" y="3629025"/>
            <a:ext cx="5188585" cy="2112931"/>
            <a:chOff x="6248400" y="3629025"/>
            <a:chExt cx="5188585" cy="2112931"/>
          </a:xfrm>
        </p:grpSpPr>
        <p:sp>
          <p:nvSpPr>
            <p:cNvPr id="45" name="Rectangle 45"/>
            <p:cNvSpPr/>
            <p:nvPr/>
          </p:nvSpPr>
          <p:spPr>
            <a:xfrm>
              <a:off x="6381750" y="37719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248400" y="36290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2024" y="3702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48400" y="42795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2024" y="4353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48400" y="49301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2024" y="50039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59880" y="36633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选目标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1023" y="3957161"/>
              <a:ext cx="3700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没指定目标时，实现 makefile 的第一个目标 cal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9880" y="43138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查依赖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1023" y="4607719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递归检查 cal.o、sub.o、sum.o 各自的依赖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9880" y="49644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比时间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1023" y="5258276"/>
              <a:ext cx="47759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目标不存在或比某个依赖旧，就执行它的命令。touch sum.c 后只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sum.o 和 cal 过期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00852" cy="909257"/>
            <a:chOff x="520446" y="342900"/>
            <a:chExt cx="75008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135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784" y="407194"/>
              <a:ext cx="1973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 · make 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008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 的命令格式：输入文件、多个目标与 clean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516380"/>
            <a:chOff x="533400" y="1524000"/>
            <a:chExt cx="5626418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592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make [ -f file ] [ targets 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183382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make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实现第一个目标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make sub.o sum.o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依次实现两个目标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-c sub.c -o sub.o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gcc -c sum.c -o sum.o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make -f mk.txt clean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指定输入文件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226118"/>
            <a:ext cx="5626418" cy="2364105"/>
            <a:chOff x="533400" y="3226118"/>
            <a:chExt cx="5626418" cy="2364105"/>
          </a:xfrm>
        </p:grpSpPr>
        <p:sp>
          <p:nvSpPr>
            <p:cNvPr id="11" name="Rectangle 11"/>
            <p:cNvSpPr/>
            <p:nvPr/>
          </p:nvSpPr>
          <p:spPr>
            <a:xfrm>
              <a:off x="533400" y="3226118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09675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3360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38938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默认输入文件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6576" y="3787140"/>
              <a:ext cx="32354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在工作目录里依次找 GNUmakefile、makefile、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Makefile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2948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29958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4431030"/>
              <a:ext cx="53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-f file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6576" y="443103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用上述名字以外的文件作为输入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7244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486060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默认目标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6576" y="4860608"/>
              <a:ext cx="2823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makefile 中的第一个目标，实现后退出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1549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15969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52911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26576" y="529113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可以写一个或多个，用空格分隔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26118"/>
              <a:ext cx="5626418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16468" y="3226118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2-card-1"/>
          <p:cNvGrpSpPr/>
          <p:nvPr/>
        </p:nvGrpSpPr>
        <p:grpSpPr>
          <a:xfrm>
            <a:off x="6464618" y="1524000"/>
            <a:ext cx="5193982" cy="1865948"/>
            <a:chOff x="6464618" y="1524000"/>
            <a:chExt cx="5193982" cy="1865948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06552" y="172783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79606" y="176355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作业题 · 判断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9314" y="2100739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“make 若没有指定目标，默认实现 makefile 文件的第一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个目标，然后退出；编译时只能指定一个实现目标。”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99314" y="269224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。前半句对，后半句错：可以指定多个目标（左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边实测）。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3575685"/>
            <a:ext cx="5193982" cy="2777490"/>
            <a:chOff x="6464618" y="3575685"/>
            <a:chExt cx="5193982" cy="2777490"/>
          </a:xfrm>
        </p:grpSpPr>
        <p:sp>
          <p:nvSpPr>
            <p:cNvPr id="37" name="Rectangle 37"/>
            <p:cNvSpPr/>
            <p:nvPr/>
          </p:nvSpPr>
          <p:spPr>
            <a:xfrm>
              <a:off x="6464618" y="3575685"/>
              <a:ext cx="5193982" cy="2777490"/>
            </a:xfrm>
            <a:prstGeom prst="roundRect">
              <a:avLst>
                <a:gd name="adj" fmla="val 4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3709035"/>
              <a:ext cx="47625" cy="25107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06552" y="3779520"/>
              <a:ext cx="162306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3019" y="3815239"/>
              <a:ext cx="1510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补充：clean 这类目标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9314" y="4152424"/>
              <a:ext cx="43246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clean 不生成名为 clean 的文件。目录里恰好有一个叫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clean 的文件时：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06552" y="4720590"/>
              <a:ext cx="4748212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4950" y="4872514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34188" y="5135404"/>
              <a:ext cx="220192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touch clean; make clean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make: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'clean'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 up to date.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0456" y="5740717"/>
              <a:ext cx="4561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在 makefile 里加一行 </a:t>
              </a:r>
              <a:r>
                <a:rPr lang="en-US" sz="12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.PHONY: clean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，声明它是伪目标，就总会执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3864" cy="909257"/>
            <a:chOff x="520446" y="342900"/>
            <a:chExt cx="72438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2014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432" y="4071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作业真题速查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38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作业真题速查（一）：路径、文件与 Shell 基础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11125200" cy="4463415"/>
            <a:chOff x="533400" y="1524000"/>
            <a:chExt cx="11125200" cy="4463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353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47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89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相对路径只能表示当前目录内部文件的位置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0143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2272" y="2054066"/>
              <a:ext cx="2529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.. 可以到上级目录，如 cd ../run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3625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当前目录没有 dir1，mv dir dir1 把 dir 移到 dir1 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70143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2272" y="2459831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相当于把 dir 改名为 dir1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754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 filea 第 21 到 30 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01720" y="286559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2272" y="286559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head -30 filea | tail -10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2018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变量（ ）用于保存命令提示符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57910" y="327136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2272" y="3271361"/>
              <a:ext cx="21404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PS1 主提示符，PS2 续行提示符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337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kill、help、echo、alias、set 中属于内部命令的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26480" y="367712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ABCDE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2272" y="367712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全是 bash 内部命令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2557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消除元字符特殊含义可用 ' ` " \ 中的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4100" y="4082891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2272" y="40828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反引号是命令替换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491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 report[!1-3] 的是 reporta、report、report4、report2 中的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7910" y="44886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2272" y="448865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必须有 1 个不在 1–3 中的字符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4894421"/>
              <a:ext cx="3318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的功能（环境控制…内核装载、shell 脚本）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38861" y="4894421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ABCDEFH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2272" y="48944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内核装载由引导程序完成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5300186"/>
              <a:ext cx="2811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 ls *.* 显示当前目录下的所有文件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70143" y="5300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2272" y="530018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只显示名字含 . 的文件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5768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58165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412" y="5705951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命令在前台执行时封锁键盘，在后台执行时不封锁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70143" y="57059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52272" y="570595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后台命令加 &amp;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11125200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646420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47498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2014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432" y="4071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作业真题速查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作业真题速查（二）：通配符、文本命令与脚本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11125200" cy="4732020"/>
            <a:chOff x="533400" y="1524000"/>
            <a:chExt cx="11125200" cy="47320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241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36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8779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25621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通配符 [] 出现的位置可以没有字符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64377" y="208502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7606" y="2085022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 必须匹配 1 个字符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2443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cut 命令中域的默认分隔符是空格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4377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7606" y="2515552"/>
              <a:ext cx="1302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默认是制表符 Tab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2808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 可以匹配文件名中的 0 个或 1 个字符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64377" y="294608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7606" y="2946082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只匹配恰好 1 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2731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more 可以分页查看，但不能向前翻页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64377" y="33756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7606" y="337566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按教材；要前后翻页用 less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806190"/>
              <a:ext cx="39627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建链接时 filea 的 inode 不变，但数据会被复制一次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64377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7606" y="380619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两种链接都不复制数据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052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4235768"/>
              <a:ext cx="4628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 1 + 1、expr x \* 2、expr $x \% 2、expr 1+1 中正确的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1271" y="4235768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7606" y="4235768"/>
              <a:ext cx="1247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少 $，D 少空格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30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4666298"/>
              <a:ext cx="3624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won 有执行权限、不在 PATH 中，能执行它的命令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04331" y="4666298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7606" y="466629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 won、bash won、./won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606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6538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5096828"/>
              <a:ext cx="17273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是 shell 外部命令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64377" y="50968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7606" y="5096828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是内部命令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901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8746" y="5526405"/>
              <a:ext cx="2060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脚本是一个二进制文件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64377" y="55264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7606" y="552640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是文本文件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820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825490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746" y="5956935"/>
              <a:ext cx="2595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. 和 sh 执行脚本也需要执行权限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64377" y="59569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57606" y="59569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只要读权限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11125200" cy="47320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646420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47498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1606" cy="909257"/>
            <a:chOff x="520446" y="342900"/>
            <a:chExt cx="64916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2014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432" y="4071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作业真题速查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16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作业真题速查（三）：权限、进程与 make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11125200" cy="4057650"/>
            <a:chOff x="533400" y="1524000"/>
            <a:chExt cx="1112520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353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47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89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2969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chmod 中用 = 会先清除原有权限再赋新权限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0143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2272" y="2054066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u=r 之后所有者只剩 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461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makefile 的组成部分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4100" y="2459831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2272" y="24598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目标、依赖文件、命令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2382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5025 号进程发 15 号信号的命令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4100" y="286559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2272" y="2865596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kill 15 5025 把 15 当成进程号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查看系统中所有进程的状态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57910" y="327136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2272" y="3271361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 -ef 或 ps aux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25815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第二块 SATA 硬盘在 /dev 中的文件名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01720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2272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2758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openEuler 中 bash 用户的局部配置文件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4100" y="4082891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2272" y="4082891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/etc/profile 是全局的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目录执行权限表示可以执行目录中的程序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70143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2272" y="44886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目录的 x 表示可以进入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4894421"/>
              <a:ext cx="3755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 没指定目标时实现第一个目标；只能指定一个目标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70143" y="48944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2272" y="489442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可以指定多个目标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5300186"/>
              <a:ext cx="2947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 不带选项，显示所有终端用户的活动进程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70143" y="5300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2272" y="530018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只显示当前终端的进程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1112520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46420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4749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683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判断题常把一句对的话和一句错的话拼在一起（ln、make 两题都是），要逐句检查。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37385"/>
            <a:chOff x="533400" y="1524000"/>
            <a:chExt cx="3505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8845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chmod 640 f 后，ls -l 第一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15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-rw-r-----：所有者读写，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组用户只读，其他人无权限。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3505200" cy="2223135"/>
            <a:chOff x="533400" y="365188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2959894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s.sh 里只有 cd /tmp，用 bash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s.sh 和 . s.sh 执行后，当前目录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377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前者不变（cd 发生在子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shell）；后者变成 /tmp。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70700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x=7 时，expr $x \* 3 和 expr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$x*3 分别输出什么？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910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 21；后者 expr 只收到一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个参数，原样输出 7*3（实测）。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223135"/>
            <a:chOff x="4343400" y="365188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879884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cal 的 makefile，touch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sub.c 后再 make，会执行哪些命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844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gcc -c sub.c -o sub.o，再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gcc cal.o sub.o sum.o -o cal。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317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写出判断 $1 是否为已存在目录的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条件。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958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[ -d "$1" ]，注意 [ ] 内侧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的空格和双引号。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223135"/>
            <a:chOff x="8153400" y="3651885"/>
            <a:chExt cx="3505200" cy="22231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43697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a=05 时，[ "$a" = 5 ] 和 [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"$a" -eq 5 ] 的结果？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前者按字符串比较为假，后者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按整数比较为真（实测）。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534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8734" y="407194"/>
              <a:ext cx="1062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Linux 知识整理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6059805" cy="3871912"/>
            <a:chOff x="533400" y="1524000"/>
            <a:chExt cx="6059805" cy="3871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251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39325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要记住的规则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路径与权限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2246" y="2085022"/>
              <a:ext cx="4317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相对路径可用 ..；目录的 x 是进入；chmod = 先清空再赋值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2246" y="2515552"/>
              <a:ext cx="353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硬链接共用 inode，软链接存路径，都不复制数据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通配符与引号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2246" y="294608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 恰好 1 个字符；单引号全屏蔽，双引号保留 $ 和 `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执行脚本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2246" y="337566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 和 bash 只要 r；. 在当前 shell 运行；./ 要 x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80619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72246" y="3806190"/>
              <a:ext cx="3953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数值用 -eq、-lt，字符串用 =、-z、-n，变量加双引号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00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0527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2357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2246" y="4235768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 留空格、乘号 \*；let 不留空格、变量不加 $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30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46662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2246" y="4666298"/>
              <a:ext cx="4055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后台加 &amp;；ps 只看当前终端；kill 默认发 15 号 SIGTERM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606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6538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5096828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2246" y="5096828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默认第一个目标；按修改时间只重做过期目标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059805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213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1"/>
          <p:cNvGrpSpPr/>
          <p:nvPr/>
        </p:nvGrpSpPr>
        <p:grpSpPr>
          <a:xfrm>
            <a:off x="6898005" y="1524000"/>
            <a:ext cx="4760595" cy="2185988"/>
            <a:chOff x="6898005" y="1524000"/>
            <a:chExt cx="4760595" cy="2185988"/>
          </a:xfrm>
        </p:grpSpPr>
        <p:sp>
          <p:nvSpPr>
            <p:cNvPr id="40" name="Rectangle 40"/>
            <p:cNvSpPr/>
            <p:nvPr/>
          </p:nvSpPr>
          <p:spPr>
            <a:xfrm>
              <a:off x="6898005" y="1524000"/>
              <a:ext cx="4760595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39940" y="17278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95693" y="17635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47560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04151" y="2100739"/>
              <a:ext cx="3503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权限表的表头应为“代表权限”（第 7 页）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47560" y="24812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04151" y="2420779"/>
              <a:ext cx="33327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 2.4 - 1 的报错在当前 GNU 版本中为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non-integer argument（第 32 页）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47560" y="307276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04151" y="3012281"/>
              <a:ext cx="38286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uon 脚本的 echo "\07…" 在 bash 中不响铃，应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echo -e "\a…"（第 35 页）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898005" y="3895725"/>
            <a:ext cx="4760595" cy="1643062"/>
            <a:chOff x="6898005" y="3895725"/>
            <a:chExt cx="4760595" cy="1643062"/>
          </a:xfrm>
        </p:grpSpPr>
        <p:sp>
          <p:nvSpPr>
            <p:cNvPr id="51" name="Rectangle 51"/>
            <p:cNvSpPr/>
            <p:nvPr/>
          </p:nvSpPr>
          <p:spPr>
            <a:xfrm>
              <a:off x="6898005" y="3895725"/>
              <a:ext cx="4760595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4029075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39940" y="409956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3397" y="41352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补充的易错点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47560" y="453294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04151" y="4472464"/>
              <a:ext cx="39523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largest 在最大值并列时输出错误（第 25 页）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47560" y="48529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04151" y="4792504"/>
              <a:ext cx="3933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 date 比较在脚本中通常相等（第 27 页）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47560" y="517302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04151" y="5112544"/>
              <a:ext cx="27958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 里的 &gt; 是重定向（第 24 页）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04084"/>
              <a:ext cx="69344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复习时把每个命令例子在终端里敲一遍，再用 echo $? 看返回值，比背结论更牢。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62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Linux技术 · Linux 知识整理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inux_summary">
  <a:themeElements>
    <a:clrScheme name="linux_summar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inux_summary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inux_summ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2026-09-23T07:18:12Z</dcterms:created>
  <dcterms:modified xsi:type="dcterms:W3CDTF">2026-09-23T07:18:12Z</dcterms:modified>
  <cp:category/>
  <cp:contentStatus/>
</cp:coreProperties>
</file>