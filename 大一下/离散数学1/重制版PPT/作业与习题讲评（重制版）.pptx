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1_exercis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1_exercis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66fecd011df4a8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21171d054393ea3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889289f1f3f453e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95928" cy="3437763"/>
            <a:chOff x="666750" y="1619250"/>
            <a:chExt cx="399592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94510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847" y="1718310"/>
              <a:ext cx="1564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离散数学I · 期末复习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作业与习题讲评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9438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第5–10次作业、典型例题与五章要点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992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谓词逻辑与 Skolem 范式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70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最短路、最优树与 H 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辗转相除与一次同余式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集合关系与命题逻辑例题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58557" cy="205359"/>
            <a:chOff x="680466" y="6192202"/>
            <a:chExt cx="445855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58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自学复习版｜据吉林大学《离散数学I》作业与习题课件整理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620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482" y="4071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集合、关系与映射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55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关系五种性质、等价关系与商集、公式蕴涵偏序的 Hasse 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命题逻辑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主析取范式、主合取范式、形式演绎法的两种写法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谓词逻辑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2236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第5次作业：构造解释举反例、前束范式与 Skolem 范式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6669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第6–8次作业：Dijkstra、树与最优树、欧拉图、Hamilton 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初等数论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93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第9–10次作业：辗转相除表格法、一次同余式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综合练习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判断题 12 道、简答题 4 道、自测题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构造一个解释，说明两个谓词公式不等价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把谓词公式化成前束范式，再化成 Skolem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按课上的表格格式写出 Dijkstra 和 Kruskal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的完整过程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40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r、q、S、T 表把最高公因数写成倍数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和，并解一次同余式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用真值表核对主范式和公式之间的蕴涵关系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集合、关系与映射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第一章要点，以及等价关系、偏序关系的四道例题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关系五种性质的四种刻画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97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等价关系的证明、商集与 R² = 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20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公式蕴涵构成的偏序与 Hasse 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第一章要点：集合、关系、映射各要掌握什么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3505200" cy="2499360"/>
            <a:chOff x="533400" y="1524000"/>
            <a:chExt cx="3505200" cy="24993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99360"/>
            </a:xfrm>
            <a:prstGeom prst="roundRect">
              <a:avLst>
                <a:gd name="adj" fmla="val 53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326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 集合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子集（空集、全集）、幂集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基本运算及运算定律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67843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集合间的关系：包含、相等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8190" y="2977039"/>
              <a:ext cx="28277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幂集 ρ(A) 的元素是 A 的子集，n 元集合的幂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集有 2ⁿ 个元素。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190" y="3447574"/>
              <a:ext cx="2813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例：A = {1, 3}，ρ(A) = {∅, {1}, {3}, {1,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3}}（判断题 (2) 要用）。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197668"/>
            <a:ext cx="3505200" cy="1412558"/>
            <a:chOff x="533400" y="4197668"/>
            <a:chExt cx="3505200" cy="1412558"/>
          </a:xfrm>
        </p:grpSpPr>
        <p:sp>
          <p:nvSpPr>
            <p:cNvPr id="20" name="Rectangle 20"/>
            <p:cNvSpPr/>
            <p:nvPr/>
          </p:nvSpPr>
          <p:spPr>
            <a:xfrm>
              <a:off x="533400" y="4197668"/>
              <a:ext cx="3505200" cy="1412558"/>
            </a:xfrm>
            <a:prstGeom prst="roundRect">
              <a:avLst>
                <a:gd name="adj" fmla="val 80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804410"/>
              <a:ext cx="200026" cy="200026"/>
              <a:chOff x="738188" y="4804410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8044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8710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49044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561522"/>
              <a:ext cx="237972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 与 ⊆ 可以同时成立：A = ∅，B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{∅} 时 A∈B 且 A ⊆ B（判断题</a:t>
              </a:r>
            </a:p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(1)）。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4343400" y="1524000"/>
            <a:ext cx="3505200" cy="2933700"/>
            <a:chOff x="4343400" y="1524000"/>
            <a:chExt cx="3505200" cy="2933700"/>
          </a:xfrm>
        </p:grpSpPr>
        <p:sp>
          <p:nvSpPr>
            <p:cNvPr id="27" name="Rectangle 27"/>
            <p:cNvSpPr/>
            <p:nvPr/>
          </p:nvSpPr>
          <p:spPr>
            <a:xfrm>
              <a:off x="4343400" y="1524000"/>
              <a:ext cx="3505200" cy="29337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52925" y="1657350"/>
              <a:ext cx="47625" cy="26670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7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 关系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458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38497" y="2072640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关系的定义、二元关系、特殊关系、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逆关系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582478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38497" y="263271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关系的 5 条性质、关系乘积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582478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38497" y="2935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关系闭包（了解）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4582478" y="32937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38497" y="3237548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等价关系、等价类、商集；划分与等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价关系一一对应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582478" y="38538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38497" y="3797618"/>
              <a:ext cx="2414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偏序关系：最大（小）元、极大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（小）元、上下界、Hasse 图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4343400" y="4632960"/>
            <a:ext cx="3505200" cy="978218"/>
            <a:chOff x="4343400" y="4632960"/>
            <a:chExt cx="3505200" cy="978218"/>
          </a:xfrm>
        </p:grpSpPr>
        <p:sp>
          <p:nvSpPr>
            <p:cNvPr id="42" name="Rectangle 42"/>
            <p:cNvSpPr/>
            <p:nvPr/>
          </p:nvSpPr>
          <p:spPr>
            <a:xfrm>
              <a:off x="4343400" y="4632960"/>
              <a:ext cx="3505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548188" y="5021580"/>
              <a:ext cx="200026" cy="200026"/>
              <a:chOff x="4548188" y="502158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548188" y="50215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648200" y="50882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37088" y="51215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850892" y="4778692"/>
              <a:ext cx="262832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关系乘积：(a,c)∈R·S 当且仅当存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b，使 (a,b)∈R 且 (b,c)∈S。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就是 R·R。</a:t>
              </a:r>
            </a:p>
          </p:txBody>
        </p:sp>
      </p:grpSp>
      <p:grpSp>
        <p:nvGrpSpPr>
          <p:cNvPr id="60" name="c3-card-1"/>
          <p:cNvGrpSpPr/>
          <p:nvPr/>
        </p:nvGrpSpPr>
        <p:grpSpPr>
          <a:xfrm>
            <a:off x="8153400" y="1524000"/>
            <a:ext cx="3505200" cy="2542222"/>
            <a:chOff x="8153400" y="1524000"/>
            <a:chExt cx="3505200" cy="2542222"/>
          </a:xfrm>
        </p:grpSpPr>
        <p:sp>
          <p:nvSpPr>
            <p:cNvPr id="49" name="Rectangle 49"/>
            <p:cNvSpPr/>
            <p:nvPr/>
          </p:nvSpPr>
          <p:spPr>
            <a:xfrm>
              <a:off x="8153400" y="1524000"/>
              <a:ext cx="3505200" cy="2542222"/>
            </a:xfrm>
            <a:prstGeom prst="roundRect">
              <a:avLst>
                <a:gd name="adj" fmla="val 5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62925" y="1657350"/>
              <a:ext cx="47625" cy="22755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8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7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 映射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9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48497" y="2072640"/>
              <a:ext cx="27483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1-1 映射（单射、满射）、逆映射、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映射的复合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392478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48497" y="26327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可数集合的定义及判定方法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392478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48497" y="2935605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了解：实数集合不可数；一个集合与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它的幂集之间不能建立 1-1 映射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78190" y="3491389"/>
              <a:ext cx="2941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例：σ: x ↦ eˣ 是 R 到 R⁺ 的 1-1 映射，逆映射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 ln x（判断题 (4)）。</a:t>
              </a:r>
            </a:p>
          </p:txBody>
        </p:sp>
      </p:grpSp>
      <p:grpSp>
        <p:nvGrpSpPr>
          <p:cNvPr id="67" name="c3-callout-2"/>
          <p:cNvGrpSpPr/>
          <p:nvPr/>
        </p:nvGrpSpPr>
        <p:grpSpPr>
          <a:xfrm>
            <a:off x="8153400" y="4241482"/>
            <a:ext cx="3505200" cy="1369695"/>
            <a:chOff x="8153400" y="4241482"/>
            <a:chExt cx="3505200" cy="1369695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1482"/>
              <a:ext cx="3505200" cy="1369695"/>
            </a:xfrm>
            <a:prstGeom prst="roundRect">
              <a:avLst>
                <a:gd name="adj" fmla="val 834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358188" y="4826318"/>
              <a:ext cx="200026" cy="200026"/>
              <a:chOff x="8358188" y="482631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58188" y="48263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458200" y="4892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447088" y="49263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60892" y="4583430"/>
              <a:ext cx="25854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可数集合：能与自然数集建立 1-1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映射的无限集，如整数集、有理数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8" name="Rectangle 6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3610"/>
              <a:ext cx="9127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偏序集里最大元若存在则唯一，它一定是极大元；反过来，极大元可以有好几个，这时没有最大元（见第 8 页）。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关系的五种性质：定义、集合、关系图、矩阵四种写法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7685" y="1524000"/>
            <a:ext cx="11130915" cy="3668554"/>
            <a:chOff x="527685" y="1524000"/>
            <a:chExt cx="11130915" cy="366855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61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806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38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集合表示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1127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3973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关系矩阵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5186" y="2108359"/>
              <a:ext cx="1776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 a∈A，有 (a,a)∈R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8418" y="2108359"/>
              <a:ext cx="377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⊆ 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37198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每个结点都有自回路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9940" y="2108359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主对角线全为 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反自反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5186" y="2556986"/>
              <a:ext cx="1776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 a∈A，有 (a,a)∉R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8418" y="2556986"/>
              <a:ext cx="68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∩ R = 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37198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每个结点都没有自回路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9940" y="2556986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主对角线全为 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1189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5186" y="3118961"/>
              <a:ext cx="1987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(a,b)∈R，则 (b,a)∈R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68418" y="3118961"/>
              <a:ext cx="622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R⁻¹ = 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37198" y="3005614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两个不同结点间要么没有弧，要么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有一对方向相反的弧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29940" y="31189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对称矩阵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546158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7942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反对称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65186" y="3794284"/>
              <a:ext cx="2651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(a,b)∈R 且 (b,a)∈R，则 a = 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68418" y="3794284"/>
              <a:ext cx="886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∩ R⁻¹ ⊆ 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7198" y="379428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两个不同结点间至多有一条弧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29940" y="3680936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关于主对角线对称的两个元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素不同时为 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6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44705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65186" y="4357211"/>
              <a:ext cx="25570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(a,b)∈R 且 (b,c)∈R，则 (a,c)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68418" y="4470559"/>
              <a:ext cx="522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⊆ 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37198" y="4357211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到 b、b 到 c 有弧，则 a 到 c 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29940" y="4357211"/>
              <a:ext cx="1890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的矩阵中为 1 的位置，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的矩阵中也为 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752600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75583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2461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317355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4972526"/>
              <a:ext cx="4206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为 A 上的恒等关系 {(a,a) | a∈A}，R⁻¹ 为逆关系，R² = R·R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101622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易错：不自反不等于反自反，对称和反对称也能同时成立（恒等关系的任何子集都是）。简答题 (1) 就考这一点。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例：证明“差为 5 的倍数”是等价关系，并求商集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91626" cy="278702"/>
            <a:chOff x="526161" y="1547336"/>
            <a:chExt cx="879162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916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A = {1, 2, …, 10}，R = {(x, y) | x − y 是 5 的倍数}。证明 R 是 A 上的等价关系，并求商集 A/R。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50720"/>
            <a:ext cx="5773039" cy="2487454"/>
            <a:chOff x="533400" y="1950720"/>
            <a:chExt cx="5773039" cy="2487454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195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93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831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自反性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50281"/>
              <a:ext cx="2912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x∈A，x − x = 0，且 5 | 0，所以 xRx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5698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837021"/>
              <a:ext cx="4673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xRy，则 x − y = 5k（k∈Z），于是 y − x = −5k，5 | −5k，所以 yRx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565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24714"/>
              <a:ext cx="53596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xRy、yRz，则 x − y = 5i，y − z = 5j（i, j∈Z），x − z = (x − y) + (y − z) = 5(i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j)，所以 xRz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9509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18146"/>
              <a:ext cx="274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自反、对称、传递，是 A 上的等价关系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07242"/>
            <a:ext cx="6276022" cy="1256348"/>
            <a:chOff x="533400" y="4607242"/>
            <a:chExt cx="6276022" cy="1256348"/>
          </a:xfrm>
        </p:grpSpPr>
        <p:sp>
          <p:nvSpPr>
            <p:cNvPr id="27" name="Rectangle 27"/>
            <p:cNvSpPr/>
            <p:nvPr/>
          </p:nvSpPr>
          <p:spPr>
            <a:xfrm>
              <a:off x="533400" y="4607242"/>
              <a:ext cx="6276022" cy="1256348"/>
            </a:xfrm>
            <a:prstGeom prst="roundRect">
              <a:avLst>
                <a:gd name="adj" fmla="val 909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135880"/>
              <a:ext cx="200026" cy="200025"/>
              <a:chOff x="738188" y="5135880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135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180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291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016818"/>
              <a:ext cx="51229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等价类 [x] = {y∈A | xRy}。例如 [1] = {1, 6}：11 − 1 也是 5 的倍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数，但 11∉A。</a:t>
              </a:r>
            </a:p>
          </p:txBody>
        </p:sp>
      </p:grpSp>
      <p:grpSp>
        <p:nvGrpSpPr>
          <p:cNvPr id="59" name="c2-cells-1"/>
          <p:cNvGrpSpPr/>
          <p:nvPr/>
        </p:nvGrpSpPr>
        <p:grpSpPr>
          <a:xfrm>
            <a:off x="7108508" y="1941195"/>
            <a:ext cx="2229802" cy="2530793"/>
            <a:chOff x="7108508" y="1941195"/>
            <a:chExt cx="2229802" cy="2530793"/>
          </a:xfrm>
        </p:grpSpPr>
        <p:sp>
          <p:nvSpPr>
            <p:cNvPr id="34" name="TextBox 34"/>
            <p:cNvSpPr txBox="1"/>
            <p:nvPr/>
          </p:nvSpPr>
          <p:spPr>
            <a:xfrm>
              <a:off x="7108508" y="20626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[1]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494270" y="194119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06029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16290" y="194119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28049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08508" y="259984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[2]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494270" y="2479358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06029" y="25998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16290" y="2479358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28049" y="25998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08508" y="313705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[3]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94270" y="3016568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06029" y="31370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16290" y="3016568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828049" y="31370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8508" y="367426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[4]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94270" y="3553778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06029" y="3674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16290" y="3553778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828049" y="3674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08508" y="421147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[5]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94270" y="4090988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06029" y="42114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416290" y="4090988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84513" y="42114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114222" y="4647248"/>
            <a:ext cx="4635018" cy="1216342"/>
            <a:chOff x="7114222" y="4647248"/>
            <a:chExt cx="4635018" cy="1216342"/>
          </a:xfrm>
        </p:grpSpPr>
        <p:sp>
          <p:nvSpPr>
            <p:cNvPr id="60" name="Rectangle 60"/>
            <p:cNvSpPr/>
            <p:nvPr/>
          </p:nvSpPr>
          <p:spPr>
            <a:xfrm>
              <a:off x="7114222" y="4647248"/>
              <a:ext cx="4544378" cy="1216342"/>
            </a:xfrm>
            <a:prstGeom prst="roundRect">
              <a:avLst>
                <a:gd name="adj" fmla="val 109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06628" y="483965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98068" y="48739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商集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9770" y="5196840"/>
              <a:ext cx="4449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A/R = {{1, 6}, {2, 7}, {3, 8}, {4, 9}, {5, 10}}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00912" y="5495449"/>
              <a:ext cx="3976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 x 除以 5 的余数分类，余数相同的数在同一个等价类里。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76504" cy="909257"/>
            <a:chOff x="520446" y="342900"/>
            <a:chExt cx="42765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76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例：R 是等价关系时 R² = 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951220" cy="2291715"/>
            <a:chOff x="533400" y="1524000"/>
            <a:chExt cx="595122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分两个方向证包含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⊆ R：R 是等价关系，有传递性，而传递性的集合刻画就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R² ⊆ R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⊆ R²：任取 (x,y)∈R。R 有自反性，所以 (y,y)∈R。由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(x,y)∈R、(y,y)∈R 得 (x,y)∈R·R，即 (x,y)∈R²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3585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371850"/>
              <a:ext cx="2833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两个方向合起来，R² = R。证毕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006215"/>
            <a:ext cx="5951220" cy="1316355"/>
            <a:chOff x="533400" y="4006215"/>
            <a:chExt cx="5951220" cy="1316355"/>
          </a:xfrm>
        </p:grpSpPr>
        <p:sp>
          <p:nvSpPr>
            <p:cNvPr id="22" name="Rectangle 22"/>
            <p:cNvSpPr/>
            <p:nvPr/>
          </p:nvSpPr>
          <p:spPr>
            <a:xfrm>
              <a:off x="533400" y="4006215"/>
              <a:ext cx="595122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3956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2157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4507" y="42514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反过来不成立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592955"/>
              <a:ext cx="5092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= R 推不出 R 是等价关系。例：A = {1, 2}，R = ∅，则 R²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∅ = R，但 R 不自反。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789420" y="1524000"/>
            <a:ext cx="4869180" cy="3798570"/>
            <a:chOff x="6789420" y="1524000"/>
            <a:chExt cx="4869180" cy="3798570"/>
          </a:xfrm>
        </p:grpSpPr>
        <p:sp>
          <p:nvSpPr>
            <p:cNvPr id="28" name="Rectangle 28"/>
            <p:cNvSpPr/>
            <p:nvPr/>
          </p:nvSpPr>
          <p:spPr>
            <a:xfrm>
              <a:off x="6789420" y="1524000"/>
              <a:ext cx="4869180" cy="3798570"/>
            </a:xfrm>
            <a:prstGeom prst="roundRect">
              <a:avLst>
                <a:gd name="adj" fmla="val 3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98945" y="1657350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3707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1447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用矩阵验证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9450" y="2110740"/>
              <a:ext cx="4070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{1,2,3}，划分 {{1,2},{3}} 对应的 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37070" y="2440305"/>
              <a:ext cx="44119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2784" y="2576036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6285" y="25760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50707" y="25760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45130" y="25760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44717" y="30246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58654" y="30246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53077" y="30246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47499" y="30246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37070" y="3332798"/>
              <a:ext cx="44119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37070" y="3337560"/>
              <a:ext cx="44119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4717" y="34732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58654" y="34732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3077" y="34732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47499" y="34732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37070" y="3782378"/>
              <a:ext cx="44119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44717" y="392191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58654" y="39219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53077" y="39219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47499" y="39219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37070" y="2440305"/>
              <a:ext cx="44119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61020" y="24403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255442" y="24403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349865" y="24403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30593" y="4351496"/>
              <a:ext cx="419074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是 R 的关系矩阵。按布尔乘法计算 M·M，例如第 1 行第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列 = (1∧1)∨(1∧1)∨(0∧0) = 1。逐个算下来结果与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相同，所以 R² = R。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9647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R² ⊆ R 来自传递性，R ⊆ R² 用到了自反性。只传递不自反时 R² 可能比 R 小，例如 R = {(1,2)}，R² = ∅。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69972" cy="909257"/>
            <a:chOff x="520446" y="342900"/>
            <a:chExt cx="60699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699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例：公式蕴涵偏序 (A, ⇒) 的 Hasse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221722" cy="541592"/>
            <a:chOff x="526161" y="1547336"/>
            <a:chExt cx="10221722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22172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{P, Q, R, P∧Q, P∨Q, Q∨R, Q∧R, P∧Q∧R}，“⇒”是公式间的蕴涵关系。画出 (A, ⇒) 的 Hasse 图，指出最大元、最小元、极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大元和极小元。</a:t>
              </a:r>
            </a:p>
          </p:txBody>
        </p:sp>
      </p:grpSp>
      <p:grpSp>
        <p:nvGrpSpPr>
          <p:cNvPr id="35" name="c1-graph-1"/>
          <p:cNvGrpSpPr/>
          <p:nvPr/>
        </p:nvGrpSpPr>
        <p:grpSpPr>
          <a:xfrm>
            <a:off x="905828" y="2363152"/>
            <a:ext cx="4881562" cy="3582354"/>
            <a:chOff x="905828" y="2363152"/>
            <a:chExt cx="4881562" cy="3582354"/>
          </a:xfrm>
        </p:grpSpPr>
        <p:sp>
          <p:nvSpPr>
            <p:cNvPr id="9" name="Freeform 9"/>
            <p:cNvSpPr/>
            <p:nvPr/>
          </p:nvSpPr>
          <p:spPr>
            <a:xfrm>
              <a:off x="2396490" y="4979670"/>
              <a:ext cx="775335" cy="665798"/>
            </a:xfrm>
            <a:custGeom>
              <a:avLst/>
              <a:gdLst/>
              <a:ahLst/>
              <a:cxnLst/>
              <a:rect l="l" t="t" r="r" b="b"/>
              <a:pathLst>
                <a:path w="775335" h="665798">
                  <a:moveTo>
                    <a:pt x="775335" y="6657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21392" y="4979670"/>
              <a:ext cx="775335" cy="665798"/>
            </a:xfrm>
            <a:custGeom>
              <a:avLst/>
              <a:gdLst/>
              <a:ahLst/>
              <a:cxnLst/>
              <a:rect l="l" t="t" r="r" b="b"/>
              <a:pathLst>
                <a:path w="775335" h="665798">
                  <a:moveTo>
                    <a:pt x="0" y="665798"/>
                  </a:moveTo>
                  <a:lnTo>
                    <a:pt x="7753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42060" y="3821430"/>
              <a:ext cx="833438" cy="858203"/>
            </a:xfrm>
            <a:custGeom>
              <a:avLst/>
              <a:gdLst/>
              <a:ahLst/>
              <a:cxnLst/>
              <a:rect l="l" t="t" r="r" b="b"/>
              <a:pathLst>
                <a:path w="833438" h="858203">
                  <a:moveTo>
                    <a:pt x="833438" y="85820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66962" y="3821430"/>
              <a:ext cx="834390" cy="858203"/>
            </a:xfrm>
            <a:custGeom>
              <a:avLst/>
              <a:gdLst/>
              <a:ahLst/>
              <a:cxnLst/>
              <a:rect l="l" t="t" r="r" b="b"/>
              <a:pathLst>
                <a:path w="834390" h="858203">
                  <a:moveTo>
                    <a:pt x="0" y="858203"/>
                  </a:moveTo>
                  <a:lnTo>
                    <a:pt x="8343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92818" y="3821430"/>
              <a:ext cx="833438" cy="858203"/>
            </a:xfrm>
            <a:custGeom>
              <a:avLst/>
              <a:gdLst/>
              <a:ahLst/>
              <a:cxnLst/>
              <a:rect l="l" t="t" r="r" b="b"/>
              <a:pathLst>
                <a:path w="833438" h="858203">
                  <a:moveTo>
                    <a:pt x="833438" y="85820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17720" y="3821430"/>
              <a:ext cx="833437" cy="858203"/>
            </a:xfrm>
            <a:custGeom>
              <a:avLst/>
              <a:gdLst/>
              <a:ahLst/>
              <a:cxnLst/>
              <a:rect l="l" t="t" r="r" b="b"/>
              <a:pathLst>
                <a:path w="833437" h="858203">
                  <a:moveTo>
                    <a:pt x="0" y="858203"/>
                  </a:moveTo>
                  <a:lnTo>
                    <a:pt x="83343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42060" y="2663190"/>
              <a:ext cx="833438" cy="858202"/>
            </a:xfrm>
            <a:custGeom>
              <a:avLst/>
              <a:gdLst/>
              <a:ahLst/>
              <a:cxnLst/>
              <a:rect l="l" t="t" r="r" b="b"/>
              <a:pathLst>
                <a:path w="833438" h="858202">
                  <a:moveTo>
                    <a:pt x="0" y="858202"/>
                  </a:moveTo>
                  <a:lnTo>
                    <a:pt x="8334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66962" y="2663190"/>
              <a:ext cx="834390" cy="858202"/>
            </a:xfrm>
            <a:custGeom>
              <a:avLst/>
              <a:gdLst/>
              <a:ahLst/>
              <a:cxnLst/>
              <a:rect l="l" t="t" r="r" b="b"/>
              <a:pathLst>
                <a:path w="834390" h="858202">
                  <a:moveTo>
                    <a:pt x="834390" y="8582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492818" y="2663190"/>
              <a:ext cx="833438" cy="858202"/>
            </a:xfrm>
            <a:custGeom>
              <a:avLst/>
              <a:gdLst/>
              <a:ahLst/>
              <a:cxnLst/>
              <a:rect l="l" t="t" r="r" b="b"/>
              <a:pathLst>
                <a:path w="833438" h="858202">
                  <a:moveTo>
                    <a:pt x="0" y="858202"/>
                  </a:moveTo>
                  <a:lnTo>
                    <a:pt x="8334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17720" y="2663190"/>
              <a:ext cx="833437" cy="858202"/>
            </a:xfrm>
            <a:custGeom>
              <a:avLst/>
              <a:gdLst/>
              <a:ahLst/>
              <a:cxnLst/>
              <a:rect l="l" t="t" r="r" b="b"/>
              <a:pathLst>
                <a:path w="833437" h="858202">
                  <a:moveTo>
                    <a:pt x="833437" y="8582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44052" y="2363152"/>
              <a:ext cx="55530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94810" y="2363152"/>
              <a:ext cx="55530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05828" y="3521392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56585" y="3521392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06390" y="3521392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44052" y="4679632"/>
              <a:ext cx="55530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94810" y="4679632"/>
              <a:ext cx="55530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62275" y="5645468"/>
              <a:ext cx="76962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60786" y="244268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P∨Q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1544" y="244268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Q∨R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4612" y="36009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78642" y="360092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45175" y="36009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60786" y="476011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P∧Q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11544" y="476011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Q∧R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94640" y="5725001"/>
              <a:ext cx="504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P∧Q∧R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464618" y="2204085"/>
            <a:ext cx="5193982" cy="2028825"/>
            <a:chOff x="6464618" y="2204085"/>
            <a:chExt cx="5193982" cy="2028825"/>
          </a:xfrm>
        </p:grpSpPr>
        <p:sp>
          <p:nvSpPr>
            <p:cNvPr id="36" name="Rectangle 36"/>
            <p:cNvSpPr/>
            <p:nvPr/>
          </p:nvSpPr>
          <p:spPr>
            <a:xfrm>
              <a:off x="6464618" y="2204085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60451" y="2328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32353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4630" y="27341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19098" y="2734151"/>
              <a:ext cx="1799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无：P∨Q 与 Q∨R 互不蕴涵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0108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301561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4630" y="31399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9098" y="3139916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P∧Q∧R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4166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4630" y="35456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19098" y="3545681"/>
              <a:ext cx="75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P∨Q、Q∨R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8223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82714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4630" y="39514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极小元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19098" y="3951446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P∧Q∧R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2204085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14322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6464618" y="4408170"/>
            <a:ext cx="5193982" cy="1768792"/>
            <a:chOff x="6464618" y="4408170"/>
            <a:chExt cx="5193982" cy="1768792"/>
          </a:xfrm>
        </p:grpSpPr>
        <p:sp>
          <p:nvSpPr>
            <p:cNvPr id="55" name="Rectangle 55"/>
            <p:cNvSpPr/>
            <p:nvPr/>
          </p:nvSpPr>
          <p:spPr>
            <a:xfrm>
              <a:off x="6464618" y="4408170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54152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5122" y="460057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78562" y="46348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画图方法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703695" y="501300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59714" y="4956810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⇒ H：凡使 G 为真的解释都使 H 为真，例如 P∧Q ⇒ P，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⇒ P∨Q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03695" y="557307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59714" y="5516880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下方的公式蕴涵上方的公式，只画“紧挨着”的覆盖关系，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自回路和由传递性推出的连线都不画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9188" cy="909257"/>
            <a:chOff x="520446" y="342900"/>
            <a:chExt cx="72491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91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例：B = {H∈A | G₂ ⇒ H}，先用真值表逐个判断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117710" cy="264033"/>
            <a:chOff x="526542" y="1545907"/>
            <a:chExt cx="111177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117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{G₀, …, G₁₅} 是 P、Q 上的 16 个公式。写出 B = {H | (H∈A) ∧ (G₂ ⇒ H)}，并画 (B, ⇒) 的 Hasse 图；只用 G₀～G₁₅ 的名字作答。</a:t>
              </a:r>
            </a:p>
          </p:txBody>
        </p:sp>
      </p:grpSp>
      <p:grpSp>
        <p:nvGrpSpPr>
          <p:cNvPr id="61" name="c1-table-1"/>
          <p:cNvGrpSpPr/>
          <p:nvPr/>
        </p:nvGrpSpPr>
        <p:grpSpPr>
          <a:xfrm>
            <a:off x="533400" y="1928812"/>
            <a:ext cx="5410200" cy="3432810"/>
            <a:chOff x="533400" y="1928812"/>
            <a:chExt cx="5410200" cy="34328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1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7170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96358" y="2045970"/>
              <a:ext cx="1124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 00 01 10 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19580" y="20459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∈B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250" y="24269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3958" y="2426970"/>
              <a:ext cx="428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↔ ¬P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34187" y="242697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35156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250" y="28089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7951" y="2808923"/>
              <a:ext cx="540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 ∧ ¬Q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34187" y="2808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35156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4250" y="31899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9023" y="3189923"/>
              <a:ext cx="458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 ∧ Q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34187" y="3189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35156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4250" y="3571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89023" y="3571875"/>
              <a:ext cx="458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∧ ¬Q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34187" y="3571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35156" y="3571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4250" y="3952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30095" y="3952875"/>
              <a:ext cx="376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∧ Q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4187" y="3952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35156" y="3952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4250" y="4333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30907" y="433387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34187" y="4333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35156" y="4333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4250" y="47158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15972" y="4715828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¬Q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34187" y="4715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1 0 1 0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35156" y="4715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974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49796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4250" y="50968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30095" y="5096828"/>
              <a:ext cx="376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↔ Q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34187" y="5096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35156" y="5096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928812"/>
              <a:ext cx="541020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39446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23373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07301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4" name="c2-table-1"/>
          <p:cNvGrpSpPr/>
          <p:nvPr/>
        </p:nvGrpSpPr>
        <p:grpSpPr>
          <a:xfrm>
            <a:off x="6248400" y="1928812"/>
            <a:ext cx="5410200" cy="3432810"/>
            <a:chOff x="6248400" y="1928812"/>
            <a:chExt cx="5410200" cy="3432810"/>
          </a:xfrm>
        </p:grpSpPr>
        <p:sp>
          <p:nvSpPr>
            <p:cNvPr id="62" name="Rectangle 62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341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8670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11358" y="2045970"/>
              <a:ext cx="1124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 00 01 10 11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34580" y="20459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∈B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89250" y="24269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04023" y="2426970"/>
              <a:ext cx="458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 ↔ Q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49187" y="242697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0 1 1 0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50155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89250" y="28089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86979" y="2808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49187" y="2808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150155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46125" y="31899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G₁₀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72044" y="3189923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649187" y="3189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50155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46125" y="357187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762951" y="3571875"/>
              <a:ext cx="540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 ∨ ¬Q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49187" y="3571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1 1 1 0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150155" y="3571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46125" y="395287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804023" y="3952875"/>
              <a:ext cx="458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 ∨ Q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49187" y="3952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150155" y="3952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48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546125" y="433387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G₁₃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804023" y="4333875"/>
              <a:ext cx="458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∨ ¬Q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49187" y="4333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1 0 1 1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150155" y="4333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248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546125" y="4715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G₁₄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845095" y="4715828"/>
              <a:ext cx="376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∨ Q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649187" y="4715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0 1 1 1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150155" y="4715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48400" y="4974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248400" y="49796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546125" y="50968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G₁₅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860030" y="5096828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↔ P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649187" y="5096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1 1 1 1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150155" y="5096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248400" y="1928812"/>
              <a:ext cx="541020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710946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894873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78801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5" name="Rectangle 11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1041273" y="6039326"/>
              <a:ext cx="1061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G₂ = ¬P∧Q 只在 PQ = 01 时为真，所以 G₂ ⇒ H 当且仅当 H 在 01 下为真。(1) 的答案：B = {G₂, G₅, G₈, G₁₀, G₁₁, G₁₂, G₁₄, G₁₅}。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9156" cy="909257"/>
            <a:chOff x="520446" y="342900"/>
            <a:chExt cx="5269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集合、关系与映射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9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(B, ⇒) 的 Hasse 图是一个立方体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764939" y="1591628"/>
            <a:ext cx="4947123" cy="3510914"/>
            <a:chOff x="764939" y="1591628"/>
            <a:chExt cx="4947123" cy="3510914"/>
          </a:xfrm>
        </p:grpSpPr>
        <p:sp>
          <p:nvSpPr>
            <p:cNvPr id="7" name="Freeform 7"/>
            <p:cNvSpPr/>
            <p:nvPr/>
          </p:nvSpPr>
          <p:spPr>
            <a:xfrm>
              <a:off x="1514475" y="3978592"/>
              <a:ext cx="1554480" cy="848678"/>
            </a:xfrm>
            <a:custGeom>
              <a:avLst/>
              <a:gdLst/>
              <a:ahLst/>
              <a:cxnLst/>
              <a:rect l="l" t="t" r="r" b="b"/>
              <a:pathLst>
                <a:path w="1554480" h="848678">
                  <a:moveTo>
                    <a:pt x="1554480" y="84867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38500" y="4079558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6477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08045" y="3999548"/>
              <a:ext cx="1516380" cy="827723"/>
            </a:xfrm>
            <a:custGeom>
              <a:avLst/>
              <a:gdLst/>
              <a:ahLst/>
              <a:cxnLst/>
              <a:rect l="l" t="t" r="r" b="b"/>
              <a:pathLst>
                <a:path w="1516380" h="827723">
                  <a:moveTo>
                    <a:pt x="0" y="827723"/>
                  </a:moveTo>
                  <a:lnTo>
                    <a:pt x="1516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44930" y="3089910"/>
              <a:ext cx="9525" cy="603885"/>
            </a:xfrm>
            <a:custGeom>
              <a:avLst/>
              <a:gdLst/>
              <a:ahLst/>
              <a:cxnLst/>
              <a:rect l="l" t="t" r="r" b="b"/>
              <a:pathLst>
                <a:path w="9525" h="603885">
                  <a:moveTo>
                    <a:pt x="0" y="60388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14475" y="2966085"/>
              <a:ext cx="1516380" cy="827723"/>
            </a:xfrm>
            <a:custGeom>
              <a:avLst/>
              <a:gdLst/>
              <a:ahLst/>
              <a:cxnLst/>
              <a:rect l="l" t="t" r="r" b="b"/>
              <a:pathLst>
                <a:path w="1516380" h="827723">
                  <a:moveTo>
                    <a:pt x="0" y="827723"/>
                  </a:moveTo>
                  <a:lnTo>
                    <a:pt x="1516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52575" y="2966085"/>
              <a:ext cx="1516380" cy="827723"/>
            </a:xfrm>
            <a:custGeom>
              <a:avLst/>
              <a:gdLst/>
              <a:ahLst/>
              <a:cxnLst/>
              <a:rect l="l" t="t" r="r" b="b"/>
              <a:pathLst>
                <a:path w="1516380" h="827723">
                  <a:moveTo>
                    <a:pt x="1516380" y="82772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08045" y="2966085"/>
              <a:ext cx="1516380" cy="827723"/>
            </a:xfrm>
            <a:custGeom>
              <a:avLst/>
              <a:gdLst/>
              <a:ahLst/>
              <a:cxnLst/>
              <a:rect l="l" t="t" r="r" b="b"/>
              <a:pathLst>
                <a:path w="1516380" h="827723">
                  <a:moveTo>
                    <a:pt x="0" y="827723"/>
                  </a:moveTo>
                  <a:lnTo>
                    <a:pt x="1516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46145" y="2966085"/>
              <a:ext cx="1478280" cy="806768"/>
            </a:xfrm>
            <a:custGeom>
              <a:avLst/>
              <a:gdLst/>
              <a:ahLst/>
              <a:cxnLst/>
              <a:rect l="l" t="t" r="r" b="b"/>
              <a:pathLst>
                <a:path w="1478280" h="806768">
                  <a:moveTo>
                    <a:pt x="1478280" y="80676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32070" y="3089910"/>
              <a:ext cx="9525" cy="560070"/>
            </a:xfrm>
            <a:custGeom>
              <a:avLst/>
              <a:gdLst/>
              <a:ahLst/>
              <a:cxnLst/>
              <a:rect l="l" t="t" r="r" b="b"/>
              <a:pathLst>
                <a:path w="9525" h="560070">
                  <a:moveTo>
                    <a:pt x="0" y="5600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52575" y="1932622"/>
              <a:ext cx="1478280" cy="806768"/>
            </a:xfrm>
            <a:custGeom>
              <a:avLst/>
              <a:gdLst/>
              <a:ahLst/>
              <a:cxnLst/>
              <a:rect l="l" t="t" r="r" b="b"/>
              <a:pathLst>
                <a:path w="1478280" h="806768">
                  <a:moveTo>
                    <a:pt x="0" y="806768"/>
                  </a:moveTo>
                  <a:lnTo>
                    <a:pt x="1478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238500" y="2056448"/>
              <a:ext cx="9525" cy="559118"/>
            </a:xfrm>
            <a:custGeom>
              <a:avLst/>
              <a:gdLst/>
              <a:ahLst/>
              <a:cxnLst/>
              <a:rect l="l" t="t" r="r" b="b"/>
              <a:pathLst>
                <a:path w="9525" h="559118">
                  <a:moveTo>
                    <a:pt x="0" y="55911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446145" y="1932622"/>
              <a:ext cx="1478280" cy="806768"/>
            </a:xfrm>
            <a:custGeom>
              <a:avLst/>
              <a:gdLst/>
              <a:ahLst/>
              <a:cxnLst/>
              <a:rect l="l" t="t" r="r" b="b"/>
              <a:pathLst>
                <a:path w="1478280" h="806768">
                  <a:moveTo>
                    <a:pt x="1478280" y="80676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010852" y="1591628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17282" y="2625090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010852" y="2625090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904422" y="2625090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162050" y="3703320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055620" y="3703320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904422" y="3658552"/>
              <a:ext cx="455295" cy="45529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055620" y="4736782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84546" y="174498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344" y="1758791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90976" y="277844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4939" y="279225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4546" y="277844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18344" y="279225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1101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78116" y="277844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11915" y="279225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0111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40262" y="38119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706" y="3825716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33832" y="38119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73577" y="3825716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0110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78116" y="381190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1915" y="3825716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0101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33832" y="484536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73577" y="485917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0100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2184082"/>
            <a:chOff x="6248400" y="1524000"/>
            <a:chExt cx="5410200" cy="2184082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184082"/>
            </a:xfrm>
            <a:prstGeom prst="roundRect">
              <a:avLst>
                <a:gd name="adj" fmla="val 61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1657350"/>
              <a:ext cx="47625" cy="19173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为什么是立方体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8430" y="2110740"/>
              <a:ext cx="45205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把每个公式看成它的成真解释集合，蕴涵就是集合包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含。B 中公式的成真集合都含 01，其余三个解释 00、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10、11 可以任意取舍，所以 (B, ⇒) 与 {00, 10, 11}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的幂集在 ⊆ 下同构。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9573" y="3299936"/>
              <a:ext cx="4286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从下往上，各层公式的成真解释依次有 1、2、3、4 个。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3898582"/>
            <a:ext cx="5410200" cy="1316355"/>
            <a:chOff x="6248400" y="3898582"/>
            <a:chExt cx="5410200" cy="1316355"/>
          </a:xfrm>
        </p:grpSpPr>
        <p:sp>
          <p:nvSpPr>
            <p:cNvPr id="51" name="Rectangle 51"/>
            <p:cNvSpPr/>
            <p:nvPr/>
          </p:nvSpPr>
          <p:spPr>
            <a:xfrm>
              <a:off x="6248400" y="3898582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03193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41081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86258" y="4143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8430" y="4485322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Hasse 图右侧中间那个结点漏标了名字，它是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G₁₀（图中橙色结点）。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9345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最小元 G₂，最大元 G₁₅。结点旁的四位数是 PQ = 00、01、10、11 时的真值，连线两端恰好相差一位。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命题逻辑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主范式的两种求法，形式演绎法的两种写法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第二章要点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同一公式的主析取范式与主合取范式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形式演绎法：直接证明与附加前提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命题逻辑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第二章要点：命题公式、等价与蕴涵、范式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命题与公式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48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逻辑连接词：¬P、P∨Q、P∧Q、P→Q、P↔Q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命题公式、解释、真值表；判定公式恒真、恒假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080385"/>
            <a:ext cx="5410200" cy="2533650"/>
            <a:chOff x="533400" y="3080385"/>
            <a:chExt cx="5410200" cy="2533650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410200" cy="25336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13735"/>
              <a:ext cx="47625" cy="22669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2899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8457" y="33256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等价与蕴涵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7299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3866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⇔ H 当且仅当 G↔H 恒真；记住常用等价式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0652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002405"/>
              <a:ext cx="3866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⇒ H 当且仅当 G→H 恒真；记住常用蕴涵式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4005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33768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多个公式共同蕴涵；用形式演绎法证明公式集 S 蕴涵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某公式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248400" y="1524000"/>
            <a:ext cx="5410200" cy="1346835"/>
            <a:chOff x="6248400" y="1524000"/>
            <a:chExt cx="5410200" cy="134683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593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062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216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唯一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6223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合取范式、析取范式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9238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7789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25569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主析取范式、主合取范式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92386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07789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02208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33843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kv-2"/>
          <p:cNvGrpSpPr/>
          <p:nvPr/>
        </p:nvGrpSpPr>
        <p:grpSpPr>
          <a:xfrm>
            <a:off x="6240780" y="3086100"/>
            <a:ext cx="5417820" cy="1613535"/>
            <a:chOff x="6240780" y="3086100"/>
            <a:chExt cx="5417820" cy="1613535"/>
          </a:xfrm>
        </p:grpSpPr>
        <p:sp>
          <p:nvSpPr>
            <p:cNvPr id="43" name="TextBox 43"/>
            <p:cNvSpPr txBox="1"/>
            <p:nvPr/>
          </p:nvSpPr>
          <p:spPr>
            <a:xfrm>
              <a:off x="6240780" y="30861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极小项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81862" y="30861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只有一个解释使它为真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4061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0780" y="35261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极大项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81862" y="35261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只有一个解释使它为假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8461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0780" y="3966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恒真公式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81862" y="396621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主析取范式包含全部极小项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286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0780" y="44062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恒假公式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81862" y="44062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主合取范式包含全部极大项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248400" y="4831080"/>
            <a:ext cx="5410200" cy="782955"/>
            <a:chOff x="6248400" y="4831080"/>
            <a:chExt cx="5410200" cy="782955"/>
          </a:xfrm>
        </p:grpSpPr>
        <p:sp>
          <p:nvSpPr>
            <p:cNvPr id="55" name="Rectangle 55"/>
            <p:cNvSpPr/>
            <p:nvPr/>
          </p:nvSpPr>
          <p:spPr>
            <a:xfrm>
              <a:off x="6248400" y="483108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122545"/>
              <a:ext cx="200026" cy="200025"/>
              <a:chOff x="6453188" y="5122545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122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92926" y="5166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27642" y="5278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130" y="497967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主范式唯一，所以可以用来判断两个公式是否等价：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化成主析取范式后比较极小项。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1480" cy="909257"/>
            <a:chOff x="520446" y="342900"/>
            <a:chExt cx="69614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命题逻辑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14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例：G = ¬(R→P)∨(Q∧(P∨R)) 的主析取范式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3372802"/>
            <a:chOff x="533400" y="1524000"/>
            <a:chExt cx="6276022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0794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273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457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719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0325" y="2108359"/>
              <a:ext cx="2206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¬(¬R∨P) ∨ (Q∧P) ∨ (Q∧R)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48478" y="2108359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 →，分配律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19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0325" y="2556986"/>
              <a:ext cx="2106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(¬P∧R) ∨ (P∧Q) ∨ (Q∧R)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8478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摩根律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195" y="31189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0325" y="3005614"/>
              <a:ext cx="3028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((¬P∧R)∧(¬Q∨Q)) ∨ ((P∧Q)∧(¬R∨R)) ∨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((Q∧R)∧(¬P∨P))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48478" y="3005614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每项补齐缺少的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7195" y="379428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0325" y="3680936"/>
              <a:ext cx="30853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(¬P∧Q∧R) ∨ (¬P∧¬Q∧R) ∨ (P∧Q∧¬R) ∨ (P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∧Q∧R) ∨ (P∧Q∧R) ∨ (¬P∧Q∧R)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8478" y="37942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分配律展开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7195" y="44705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0325" y="4357211"/>
              <a:ext cx="30853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(¬P∧¬Q∧R) ∨ (¬P∧Q∧R) ∨ (P∧Q∧¬R) ∨ (P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∧Q∧R)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8478" y="435721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相同的极小项只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留一个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67740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3589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5087302"/>
            <a:ext cx="6276022" cy="727710"/>
            <a:chOff x="533400" y="5087302"/>
            <a:chExt cx="6276022" cy="727710"/>
          </a:xfrm>
        </p:grpSpPr>
        <p:sp>
          <p:nvSpPr>
            <p:cNvPr id="36" name="Rectangle 36"/>
            <p:cNvSpPr/>
            <p:nvPr/>
          </p:nvSpPr>
          <p:spPr>
            <a:xfrm>
              <a:off x="533400" y="5087302"/>
              <a:ext cx="6276022" cy="727710"/>
            </a:xfrm>
            <a:prstGeom prst="roundRect">
              <a:avLst>
                <a:gd name="adj" fmla="val 15707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351147"/>
              <a:ext cx="200023" cy="200023"/>
              <a:chOff x="738188" y="5351147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3511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54178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346382"/>
              <a:ext cx="5074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= m₁ ∨ m₃ ∨ m₆ ∨ m₇（下标是 PQR 取值的二进制数）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7108508" y="1524000"/>
            <a:ext cx="4550092" cy="4335304"/>
            <a:chOff x="7108508" y="1524000"/>
            <a:chExt cx="4550092" cy="4335304"/>
          </a:xfrm>
        </p:grpSpPr>
        <p:sp>
          <p:nvSpPr>
            <p:cNvPr id="42" name="Rectangle 42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01272" y="1659731"/>
              <a:ext cx="481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Q 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7733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543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极小项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31910" y="2108359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251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14222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14222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31910" y="2556986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80120" y="2430780"/>
              <a:ext cx="11134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8251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05219" y="2556986"/>
              <a:ext cx="75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¬P∧¬Q∧R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31910" y="3005614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8251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33147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14222" y="331946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31910" y="345424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580120" y="3328988"/>
              <a:ext cx="11134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8251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55288" y="3454241"/>
              <a:ext cx="650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¬P∧Q∧R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4222" y="37633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31910" y="390382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8251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14222" y="42119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114222" y="4216718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631910" y="4352449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82517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114222" y="46605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31910" y="4801076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80120" y="4674870"/>
              <a:ext cx="11134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82517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55288" y="4801076"/>
              <a:ext cx="650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P∧Q∧¬R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114222" y="51101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114222" y="511492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631910" y="5249704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80120" y="5124450"/>
              <a:ext cx="11134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82517" y="5249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405356" y="5249704"/>
              <a:ext cx="550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P∧Q∧R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114222" y="1524000"/>
              <a:ext cx="4544378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56583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69740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108508" y="5639276"/>
              <a:ext cx="3810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真值表复核：G 为 1 的四行正好对应第 5 步的四个极小项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命题逻辑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同一公式的主合取范式：等价变换与查成假解释两条路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276022" cy="3611880"/>
            <a:chOff x="533400" y="1524000"/>
            <a:chExt cx="6276022" cy="3611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6559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3846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569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068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4992" y="2076450"/>
              <a:ext cx="1650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(R∧¬P) ∨ (Q∧(P∨R))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43144" y="207645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 →，摩根律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686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4992" y="2501265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((R∧¬P)∨Q) ∧ ((R∧¬P)∨P∨R)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3144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686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4992" y="2926080"/>
              <a:ext cx="31101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(R∨Q) ∧ (¬P∨Q) ∧ (R∨P∨R) ∧ (¬P∨P∨R)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43144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686" y="34566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4992" y="3456622"/>
              <a:ext cx="1975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(R∨Q) ∧ (¬P∨Q) ∧ (P∨R)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3144" y="3349942"/>
              <a:ext cx="10104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R∨P∨R = P∨R，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¬P∨P∨R 恒真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54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0686" y="40947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4992" y="3988118"/>
              <a:ext cx="3136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(R∨Q∨(P∧¬P)) ∧ (¬P∨Q∨(R∧¬R)) ∧ (P∨R∨(Q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∧¬Q))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3144" y="40947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补齐变元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929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97705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686" y="47320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4992" y="4625340"/>
              <a:ext cx="30906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(P∨Q∨R) ∧ (¬P∨Q∨R) ∧ (¬P∨Q∨¬R) ∧ (P∨¬Q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∨R)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3144" y="462534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展开，重复项只留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276022" cy="361092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67740" y="1524000"/>
              <a:ext cx="9525" cy="36109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235892" y="1524000"/>
              <a:ext cx="9525" cy="36109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2"/>
          <p:cNvGrpSpPr/>
          <p:nvPr/>
        </p:nvGrpSpPr>
        <p:grpSpPr>
          <a:xfrm>
            <a:off x="533400" y="5314950"/>
            <a:ext cx="6276022" cy="987742"/>
            <a:chOff x="533400" y="5314950"/>
            <a:chExt cx="6276022" cy="987742"/>
          </a:xfrm>
        </p:grpSpPr>
        <p:sp>
          <p:nvSpPr>
            <p:cNvPr id="41" name="Rectangle 41"/>
            <p:cNvSpPr/>
            <p:nvPr/>
          </p:nvSpPr>
          <p:spPr>
            <a:xfrm>
              <a:off x="533400" y="5314950"/>
              <a:ext cx="6276022" cy="987742"/>
            </a:xfrm>
            <a:prstGeom prst="roundRect">
              <a:avLst>
                <a:gd name="adj" fmla="val 115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709285"/>
              <a:ext cx="200026" cy="200025"/>
              <a:chOff x="738188" y="570928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7092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7537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8648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5578316"/>
              <a:ext cx="527138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步先删掉恒真的子句、合并重复的变元，再补齐变元，展开的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项数少一半。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1540192"/>
            <a:chOff x="7114222" y="1524000"/>
            <a:chExt cx="4544378" cy="1540192"/>
          </a:xfrm>
        </p:grpSpPr>
        <p:sp>
          <p:nvSpPr>
            <p:cNvPr id="48" name="Rectangle 48"/>
            <p:cNvSpPr/>
            <p:nvPr/>
          </p:nvSpPr>
          <p:spPr>
            <a:xfrm>
              <a:off x="7114222" y="1524000"/>
              <a:ext cx="4544378" cy="1540192"/>
            </a:xfrm>
            <a:prstGeom prst="roundRect">
              <a:avLst>
                <a:gd name="adj" fmla="val 865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12342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03783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捷径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95654" y="17568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由主析取范式直接写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5104" y="2100739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的成假解释是 000、010、100、101，也就是主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析取范式没用到的四个编号。每个成假解释对应一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个极大项。</a:t>
              </a:r>
            </a:p>
          </p:txBody>
        </p:sp>
      </p:grpSp>
      <p:grpSp>
        <p:nvGrpSpPr>
          <p:cNvPr id="72" name="c2-table-2"/>
          <p:cNvGrpSpPr/>
          <p:nvPr/>
        </p:nvGrpSpPr>
        <p:grpSpPr>
          <a:xfrm>
            <a:off x="7114222" y="3244215"/>
            <a:ext cx="4544378" cy="2123122"/>
            <a:chOff x="7114222" y="3244215"/>
            <a:chExt cx="4544378" cy="2123122"/>
          </a:xfrm>
        </p:grpSpPr>
        <p:sp>
          <p:nvSpPr>
            <p:cNvPr id="54" name="Rectangle 54"/>
            <p:cNvSpPr/>
            <p:nvPr/>
          </p:nvSpPr>
          <p:spPr>
            <a:xfrm>
              <a:off x="7114222" y="3244215"/>
              <a:ext cx="4544378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51567" y="3372802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成假解释 PQR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96715" y="33728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极大项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76495" y="3797618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87267" y="3797618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P∨Q∨R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4222" y="40890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14222" y="4093845"/>
              <a:ext cx="45443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76495" y="4221480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40328" y="4221480"/>
              <a:ext cx="609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P∨¬Q∨R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4222" y="45129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76495" y="4646295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40328" y="4646295"/>
              <a:ext cx="609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¬P∨Q∨R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14222" y="49377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114222" y="4942522"/>
              <a:ext cx="45443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076495" y="5071110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193388" y="5071110"/>
              <a:ext cx="703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¬P∨Q∨¬R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114222" y="3244215"/>
              <a:ext cx="454437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427845" y="324421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llout-3"/>
          <p:cNvGrpSpPr/>
          <p:nvPr/>
        </p:nvGrpSpPr>
        <p:grpSpPr>
          <a:xfrm>
            <a:off x="7114222" y="5547360"/>
            <a:ext cx="4544378" cy="756285"/>
            <a:chOff x="7114222" y="5547360"/>
            <a:chExt cx="4544378" cy="756285"/>
          </a:xfrm>
        </p:grpSpPr>
        <p:sp>
          <p:nvSpPr>
            <p:cNvPr id="73" name="Rectangle 73"/>
            <p:cNvSpPr/>
            <p:nvPr/>
          </p:nvSpPr>
          <p:spPr>
            <a:xfrm>
              <a:off x="7114222" y="5547360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06952" y="5821798"/>
              <a:ext cx="224134" cy="192560"/>
              <a:chOff x="7306952" y="5821798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419023" y="58921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306952" y="58217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419023" y="59699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621334" y="5694521"/>
              <a:ext cx="36483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写法相反：极小项里取 1 的变元写原变元；极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大项里取 0 的变元写原变元。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44368" cy="909257"/>
            <a:chOff x="520446" y="342900"/>
            <a:chExt cx="93443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命题逻辑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443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形式演绎法：{(A∧B)→C, C→D, ¬D∧A} 蕴涵 B→G（方法一）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table-1"/>
          <p:cNvGrpSpPr/>
          <p:nvPr/>
        </p:nvGrpSpPr>
        <p:grpSpPr>
          <a:xfrm>
            <a:off x="533400" y="1524000"/>
            <a:ext cx="6059805" cy="4800600"/>
            <a:chOff x="533400" y="1524000"/>
            <a:chExt cx="6059805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076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620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1549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090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004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7312" y="2045494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(A∧B)→C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4035" y="204549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00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7312" y="2445544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C→D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4035" y="24455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800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57312" y="2845594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(A∧B)→D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74035" y="284559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12775" y="284559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8004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57312" y="3245644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¬D→¬(A∧B)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74035" y="32456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18317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004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57312" y="364569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¬D∧A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74035" y="364569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195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9243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8004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57312" y="404574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74035" y="40457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18317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195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8004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57312" y="444579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¬(A∧B)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74035" y="444579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12775" y="444579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7196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7244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8004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57312" y="48458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74035" y="48458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1831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1196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8004" y="5245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57312" y="524589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74035" y="524589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12775" y="524589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7, 8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5197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55245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4468" y="56459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57312" y="564594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¬B∨G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274035" y="56459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18317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9197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4468" y="60459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357312" y="6045994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B→G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274035" y="604599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776854" y="60459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1524000"/>
              <a:ext cx="6059805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255395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3800475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33975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kv-1"/>
          <p:cNvGrpSpPr/>
          <p:nvPr/>
        </p:nvGrpSpPr>
        <p:grpSpPr>
          <a:xfrm>
            <a:off x="6891147" y="1545907"/>
            <a:ext cx="4767453" cy="1048894"/>
            <a:chOff x="6891147" y="1545907"/>
            <a:chExt cx="4767453" cy="1048894"/>
          </a:xfrm>
        </p:grpSpPr>
        <p:sp>
          <p:nvSpPr>
            <p:cNvPr id="73" name="TextBox 73"/>
            <p:cNvSpPr txBox="1"/>
            <p:nvPr/>
          </p:nvSpPr>
          <p:spPr>
            <a:xfrm>
              <a:off x="6891147" y="1545907"/>
              <a:ext cx="482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98854" y="1545907"/>
              <a:ext cx="2902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前提引入：S 中的公式随时可以写出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898005" y="183261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91147" y="1938338"/>
              <a:ext cx="482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98854" y="19383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前面已写出的公式共同蕴涵的公式可以写出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898005" y="22250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891147" y="2330768"/>
              <a:ext cx="482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规则3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98854" y="2330768"/>
              <a:ext cx="3414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若由 S∪{R} 能推出 C，则可由 S 推出 R→C</a:t>
              </a:r>
            </a:p>
          </p:txBody>
        </p:sp>
      </p:grpSp>
      <p:grpSp>
        <p:nvGrpSpPr>
          <p:cNvPr id="94" name="c2-card-2"/>
          <p:cNvGrpSpPr/>
          <p:nvPr/>
        </p:nvGrpSpPr>
        <p:grpSpPr>
          <a:xfrm>
            <a:off x="6898005" y="2711768"/>
            <a:ext cx="4760595" cy="3612832"/>
            <a:chOff x="6898005" y="2711768"/>
            <a:chExt cx="4760595" cy="3612832"/>
          </a:xfrm>
        </p:grpSpPr>
        <p:sp>
          <p:nvSpPr>
            <p:cNvPr id="82" name="Rectangle 82"/>
            <p:cNvSpPr/>
            <p:nvPr/>
          </p:nvSpPr>
          <p:spPr>
            <a:xfrm>
              <a:off x="6898005" y="2711768"/>
              <a:ext cx="4760595" cy="3612832"/>
            </a:xfrm>
            <a:prstGeom prst="roundRect">
              <a:avLst>
                <a:gd name="adj" fmla="val 3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907530" y="2845118"/>
              <a:ext cx="47625" cy="33461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122795" y="289845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92112" y="293131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每一步用的蕴涵式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131367" y="32994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287387" y="3243262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3：假言三段论；4：逆否等价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131367" y="35994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87387" y="3543300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6、8：化简式；7：假言推理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131367" y="38995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287387" y="3843338"/>
              <a:ext cx="3534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9：¬(A∧B) = ¬A∨¬B，再与 A 用析取三段论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131367" y="419957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287387" y="4143375"/>
              <a:ext cx="2464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10：附加式；11：¬B∨G = B→G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71029" cy="909257"/>
            <a:chOff x="520446" y="342900"/>
            <a:chExt cx="78710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命题逻辑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71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方法二：把 B 作为附加前提，推出矛盾后再用规则3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3259455" cy="3590925"/>
            <a:chOff x="533400" y="1524000"/>
            <a:chExt cx="3259455" cy="3590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25945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75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33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405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35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815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3193" y="2108359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(A∧B)→C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93198" y="2108359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815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63193" y="2556986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C→D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93198" y="255698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607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815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63193" y="3005614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(A∧B)→D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3198" y="3005614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7847" y="3005614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14700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319462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815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3193" y="3454241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¬D∧A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93198" y="3454241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63328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815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63193" y="3903821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93198" y="3903821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4846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1195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216718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815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3193" y="4352449"/>
              <a:ext cx="61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¬(A∧B)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93198" y="4352449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27847" y="4352449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66058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815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63193" y="4801076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¬A∨¬B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93198" y="480107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48467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3259455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5060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22408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00609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callout-2"/>
          <p:cNvGrpSpPr/>
          <p:nvPr/>
        </p:nvGrpSpPr>
        <p:grpSpPr>
          <a:xfrm>
            <a:off x="533400" y="5305425"/>
            <a:ext cx="3259455" cy="837248"/>
            <a:chOff x="533400" y="5305425"/>
            <a:chExt cx="3259455" cy="837248"/>
          </a:xfrm>
        </p:grpSpPr>
        <p:sp>
          <p:nvSpPr>
            <p:cNvPr id="51" name="Rectangle 51"/>
            <p:cNvSpPr/>
            <p:nvPr/>
          </p:nvSpPr>
          <p:spPr>
            <a:xfrm>
              <a:off x="533400" y="5305425"/>
              <a:ext cx="3259455" cy="837248"/>
            </a:xfrm>
            <a:prstGeom prst="roundRect">
              <a:avLst>
                <a:gd name="adj" fmla="val 136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623560"/>
              <a:ext cx="200026" cy="200026"/>
              <a:chOff x="738188" y="562356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6235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6902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57235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480685"/>
              <a:ext cx="227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步的 0 表示恒假公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式，由 ¬B 与 B 合取得到。</a:t>
              </a:r>
            </a:p>
          </p:txBody>
        </p:sp>
      </p:grpSp>
      <p:grpSp>
        <p:nvGrpSpPr>
          <p:cNvPr id="101" name="c2-table-1"/>
          <p:cNvGrpSpPr/>
          <p:nvPr/>
        </p:nvGrpSpPr>
        <p:grpSpPr>
          <a:xfrm>
            <a:off x="4097655" y="1524000"/>
            <a:ext cx="3259455" cy="3368040"/>
            <a:chOff x="4097655" y="1524000"/>
            <a:chExt cx="3259455" cy="3368040"/>
          </a:xfrm>
        </p:grpSpPr>
        <p:sp>
          <p:nvSpPr>
            <p:cNvPr id="58" name="Rectangle 58"/>
            <p:cNvSpPr/>
            <p:nvPr/>
          </p:nvSpPr>
          <p:spPr>
            <a:xfrm>
              <a:off x="4097655" y="1524000"/>
              <a:ext cx="325945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266006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275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057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877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30240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727448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58406" y="2108359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1272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097655" y="241649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097655" y="2421255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30240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727448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58406" y="255698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92102" y="2556986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7, 8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097655" y="286607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252652" y="311896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629150" y="2880360"/>
              <a:ext cx="115443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727448" y="311896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958406" y="3118961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716268" y="3005614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附加前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097655" y="354139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4097655" y="3546158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252652" y="368093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727448" y="36809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958406" y="368093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44716" y="3680936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9, 10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097655" y="399002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252652" y="41305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727448" y="413051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958406" y="413051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65336" y="413051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097655" y="4438650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4097655" y="4443412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252652" y="457914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629150" y="4452938"/>
              <a:ext cx="115443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727448" y="457914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B→G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958406" y="4579144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697330" y="457914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10, 12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097655" y="1524000"/>
              <a:ext cx="3259455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461486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578834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570345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8" name="c2-callout-2"/>
          <p:cNvGrpSpPr/>
          <p:nvPr/>
        </p:nvGrpSpPr>
        <p:grpSpPr>
          <a:xfrm>
            <a:off x="4097655" y="5082540"/>
            <a:ext cx="3259455" cy="1059180"/>
            <a:chOff x="4097655" y="5082540"/>
            <a:chExt cx="3259455" cy="1059180"/>
          </a:xfrm>
        </p:grpSpPr>
        <p:sp>
          <p:nvSpPr>
            <p:cNvPr id="102" name="Rectangle 102"/>
            <p:cNvSpPr/>
            <p:nvPr/>
          </p:nvSpPr>
          <p:spPr>
            <a:xfrm>
              <a:off x="4097655" y="5082540"/>
              <a:ext cx="325945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4302443" y="5512118"/>
              <a:ext cx="200026" cy="200025"/>
              <a:chOff x="4302443" y="5512118"/>
              <a:chExt cx="200026" cy="200025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4302443" y="55121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4342181" y="55565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4376897" y="56676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4604385" y="5231130"/>
              <a:ext cx="24345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对照方法一：前 9 步推出的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内容相同，区别从第 10 步开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始。</a:t>
              </a:r>
            </a:p>
          </p:txBody>
        </p:sp>
      </p:grpSp>
      <p:grpSp>
        <p:nvGrpSpPr>
          <p:cNvPr id="120" name="c3-card-1"/>
          <p:cNvGrpSpPr/>
          <p:nvPr/>
        </p:nvGrpSpPr>
        <p:grpSpPr>
          <a:xfrm>
            <a:off x="7662862" y="1524000"/>
            <a:ext cx="3995738" cy="2893695"/>
            <a:chOff x="7662862" y="1524000"/>
            <a:chExt cx="3995738" cy="2893695"/>
          </a:xfrm>
        </p:grpSpPr>
        <p:sp>
          <p:nvSpPr>
            <p:cNvPr id="109" name="Rectangle 109"/>
            <p:cNvSpPr/>
            <p:nvPr/>
          </p:nvSpPr>
          <p:spPr>
            <a:xfrm>
              <a:off x="7662862" y="1524000"/>
              <a:ext cx="3995738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672388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791051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00072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902892" y="2110740"/>
              <a:ext cx="3044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要证 S ⇒ B→G，由规则3，只需证 S 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{B} ⇒ G。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791622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8074342" y="2731770"/>
              <a:ext cx="2948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步引入 B，与第 9 步的 ¬B 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盾，得到恒假公式 0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791622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074342" y="3352800"/>
              <a:ext cx="3196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恒假公式蕴涵任何公式，所以第 12 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可以写出 G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791622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8074342" y="3973830"/>
              <a:ext cx="3177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 步撤掉附加前提 B，得到 B→G</a:t>
              </a:r>
            </a:p>
          </p:txBody>
        </p:sp>
      </p:grpSp>
      <p:grpSp>
        <p:nvGrpSpPr>
          <p:cNvPr id="127" name="c3-callout-2"/>
          <p:cNvGrpSpPr/>
          <p:nvPr/>
        </p:nvGrpSpPr>
        <p:grpSpPr>
          <a:xfrm>
            <a:off x="7662862" y="4608195"/>
            <a:ext cx="3995738" cy="1533525"/>
            <a:chOff x="7662862" y="4608195"/>
            <a:chExt cx="3995738" cy="1533525"/>
          </a:xfrm>
        </p:grpSpPr>
        <p:sp>
          <p:nvSpPr>
            <p:cNvPr id="121" name="Rectangle 121"/>
            <p:cNvSpPr/>
            <p:nvPr/>
          </p:nvSpPr>
          <p:spPr>
            <a:xfrm>
              <a:off x="7662862" y="4608195"/>
              <a:ext cx="3995738" cy="1533525"/>
            </a:xfrm>
            <a:prstGeom prst="roundRect">
              <a:avLst>
                <a:gd name="adj" fmla="val 74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7867650" y="5274945"/>
              <a:ext cx="200026" cy="200025"/>
              <a:chOff x="7867650" y="5274945"/>
              <a:chExt cx="200026" cy="200025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7867650" y="52749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7907389" y="53193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7942104" y="54305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169592" y="4855845"/>
              <a:ext cx="3063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结论是 R→C 的形式时，可以把 R 当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附加前提。本题两种写法长度相近，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前提更多、结论更复杂时附加前提法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通常更省步骤。</a:t>
              </a:r>
            </a:p>
          </p:txBody>
        </p:sp>
      </p:grpSp>
      <p:grpSp>
        <p:nvGrpSpPr>
          <p:cNvPr id="1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8" name="TextBox 128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566047" cy="2997517"/>
            <a:chOff x="667512" y="1835468"/>
            <a:chExt cx="456604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谓词逻辑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556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第5次作业：构造解释举反例，化 Skolem 范式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第三章要点与前束范式四步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作业5-1：两个公式不等价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48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作业5-2 与例题：Skolem 范式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谓词逻辑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第三章要点，以及化前束范式的四步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5430"/>
            <a:ext cx="3718751" cy="2030730"/>
            <a:chOff x="533400" y="1535430"/>
            <a:chExt cx="3718751" cy="203073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元谓词；全称量词、存在量词的语义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正确使用改名规则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250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238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谓词公式及其解释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698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612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583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恒真、恒假、可满足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9146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2956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29279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谓词公式的蕴涵与等价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2594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301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272790"/>
              <a:ext cx="2152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前束范式、Skolem 范式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697605"/>
            <a:ext cx="4328160" cy="1602105"/>
            <a:chOff x="533400" y="3697605"/>
            <a:chExt cx="4328160" cy="1602105"/>
          </a:xfrm>
        </p:grpSpPr>
        <p:sp>
          <p:nvSpPr>
            <p:cNvPr id="26" name="Rectangle 26"/>
            <p:cNvSpPr/>
            <p:nvPr/>
          </p:nvSpPr>
          <p:spPr>
            <a:xfrm>
              <a:off x="533400" y="3697605"/>
              <a:ext cx="432816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830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3907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8457" y="3942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改名的例子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4284345"/>
              <a:ext cx="3329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∀xP(x) ∨ ∃xQ(x) 中两个 x 属于不同量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词，先把后一个改成 y：∀xP(x) ∨ 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yQ(y)，再提成 ∀x∃y(P(x) ∨ Q(y))。</a:t>
              </a:r>
            </a:p>
          </p:txBody>
        </p:sp>
      </p:grpSp>
      <p:grpSp>
        <p:nvGrpSpPr>
          <p:cNvPr id="49" name="c2-steps-1"/>
          <p:cNvGrpSpPr/>
          <p:nvPr/>
        </p:nvGrpSpPr>
        <p:grpSpPr>
          <a:xfrm>
            <a:off x="5166360" y="1533525"/>
            <a:ext cx="5741289" cy="2764440"/>
            <a:chOff x="5166360" y="1533525"/>
            <a:chExt cx="5741289" cy="2764440"/>
          </a:xfrm>
        </p:grpSpPr>
        <p:sp>
          <p:nvSpPr>
            <p:cNvPr id="32" name="Rectangle 32"/>
            <p:cNvSpPr/>
            <p:nvPr/>
          </p:nvSpPr>
          <p:spPr>
            <a:xfrm>
              <a:off x="529971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16636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998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16636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998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16636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998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7840" y="1567815"/>
              <a:ext cx="1045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↔ 和 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8983" y="1861661"/>
              <a:ext cx="3107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(K↔H) = (K→H)∧(H→K)，(K→H) = ¬K∨H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7784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否定号内移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78983" y="2512219"/>
              <a:ext cx="5328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¬(¬H) = H、摩根律和引理 3.2.1 的 (3)(4)（¬∀xG = ∃x¬G，¬∃xG = ∀x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¬G），把 ¬ 都移到原子前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77840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78983" y="339709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必要时把约束变元改名，避免不同量词的变元同名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77840" y="3754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量词左移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78983" y="4048601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用引理 3.2.1、3.2.2 把所有量词提到公式最左边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5166360" y="4475798"/>
            <a:ext cx="6492240" cy="823912"/>
            <a:chOff x="5166360" y="4475798"/>
            <a:chExt cx="6492240" cy="823912"/>
          </a:xfrm>
        </p:grpSpPr>
        <p:sp>
          <p:nvSpPr>
            <p:cNvPr id="50" name="Rectangle 50"/>
            <p:cNvSpPr/>
            <p:nvPr/>
          </p:nvSpPr>
          <p:spPr>
            <a:xfrm>
              <a:off x="5166360" y="4475798"/>
              <a:ext cx="6492240" cy="823912"/>
            </a:xfrm>
            <a:prstGeom prst="roundRect">
              <a:avLst>
                <a:gd name="adj" fmla="val 1387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371148" y="4788218"/>
              <a:ext cx="200026" cy="200026"/>
              <a:chOff x="5371148" y="478821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371148" y="47882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471160" y="4854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460048" y="48882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5673090" y="4645342"/>
              <a:ext cx="4663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小例：¬∀x(P(x)→∃yQ(y)) = ¬∀x(¬P(x)∨∃yQ(y)) = 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x(P(x)∧∀y¬Q(y)) = ∃x∀y(P(x)∧¬Q(y))。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7" name="Rectangle 5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728335"/>
              <a:ext cx="9587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Skolem 范式再多两步：母式化成合取范式；从左到右消去 ∃。∃x 左边没有 ∀ 时用新常量代 x，左边有 ∀y₁…∀yₖ 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用新函数 f(y₁, …, yₖ) 代 x。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16288" cy="909257"/>
            <a:chOff x="520446" y="342900"/>
            <a:chExt cx="86162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谓词逻辑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162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作业5-1：∀xG(x)∨∀xH(x) 与 ∀x(G(x)∨H(x)) 不等价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ard-1"/>
          <p:cNvGrpSpPr/>
          <p:nvPr/>
        </p:nvGrpSpPr>
        <p:grpSpPr>
          <a:xfrm>
            <a:off x="533400" y="1524000"/>
            <a:ext cx="6059805" cy="2405062"/>
            <a:chOff x="533400" y="1524000"/>
            <a:chExt cx="6059805" cy="24050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05062"/>
            </a:xfrm>
            <a:prstGeom prst="roundRect">
              <a:avLst>
                <a:gd name="adj" fmla="val 5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383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3869" y="1767364"/>
              <a:ext cx="3732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不等价。构造解释 I，使前者为 0、后者为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0566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个体域 D = {a, b}，谓词的指定取下表任一行：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5335" y="2415540"/>
              <a:ext cx="561403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11580" y="2546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34738" y="2546985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G(a)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36780" y="2546985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G(b)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38823" y="2546985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H(a)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9913" y="2546985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H(b)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808" y="29775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82177" y="29775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4219" y="29775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86262" y="29775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87352" y="29775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75335" y="3271838"/>
              <a:ext cx="56140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3276600"/>
              <a:ext cx="56140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0808" y="34070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82177" y="34070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84219" y="34070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86262" y="34070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87352" y="34070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5335" y="2415540"/>
              <a:ext cx="561403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77390" y="241554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79432" y="241554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80522" y="241554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82565" y="241554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steps-2"/>
          <p:cNvGrpSpPr/>
          <p:nvPr/>
        </p:nvGrpSpPr>
        <p:grpSpPr>
          <a:xfrm>
            <a:off x="533400" y="4113848"/>
            <a:ext cx="6059806" cy="1398270"/>
            <a:chOff x="533400" y="4113848"/>
            <a:chExt cx="6059806" cy="1398270"/>
          </a:xfrm>
        </p:grpSpPr>
        <p:sp>
          <p:nvSpPr>
            <p:cNvPr id="37" name="Rectangle 37"/>
            <p:cNvSpPr/>
            <p:nvPr/>
          </p:nvSpPr>
          <p:spPr>
            <a:xfrm>
              <a:off x="533400" y="4113848"/>
              <a:ext cx="2887028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66750" y="42471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883" y="43176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9511" y="46515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654" y="4951095"/>
              <a:ext cx="2397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反例一中 G(b) = 0，H(a) = 0，∀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xG(x) 与 ∀xH(x) 都为 0，左式为 0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496628" y="472725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706178" y="4113848"/>
              <a:ext cx="2887028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839528" y="42471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29661" y="43176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32289" y="46515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33432" y="4951095"/>
              <a:ext cx="2305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 时 G(a)∨H(a) = 1，x = b 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G(b)∨H(b) = 1，右式为 1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898005" y="1524000"/>
            <a:ext cx="4760595" cy="1865948"/>
            <a:chOff x="6898005" y="1524000"/>
            <a:chExt cx="4760595" cy="1865948"/>
          </a:xfrm>
        </p:grpSpPr>
        <p:sp>
          <p:nvSpPr>
            <p:cNvPr id="49" name="Rectangle 49"/>
            <p:cNvSpPr/>
            <p:nvPr/>
          </p:nvSpPr>
          <p:spPr>
            <a:xfrm>
              <a:off x="6898005" y="1524000"/>
              <a:ext cx="476059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3994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2129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需要注意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39940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9828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29881" y="210073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不等价要举反例：按公式等价的定义，构造解释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I，使两公式在 I 下真值不同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39940" y="26803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98285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9881" y="2692241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构造解释时先给出个体域 D，再给出谓词在 D 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的指定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898005" y="3575685"/>
            <a:ext cx="4760595" cy="1936432"/>
            <a:chOff x="6898005" y="3575685"/>
            <a:chExt cx="4760595" cy="1936432"/>
          </a:xfrm>
        </p:grpSpPr>
        <p:sp>
          <p:nvSpPr>
            <p:cNvPr id="60" name="Rectangle 60"/>
            <p:cNvSpPr/>
            <p:nvPr/>
          </p:nvSpPr>
          <p:spPr>
            <a:xfrm>
              <a:off x="6898005" y="3575685"/>
              <a:ext cx="4760595" cy="1936432"/>
            </a:xfrm>
            <a:prstGeom prst="roundRect">
              <a:avLst>
                <a:gd name="adj" fmla="val 68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07530" y="3709035"/>
              <a:ext cx="47625" cy="16697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39940" y="37795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21296" y="38152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单向蕴涵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32701" y="4152424"/>
              <a:ext cx="38016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∀xG(x)∨∀xH(x) ⇒ ∀x(G(x)∨H(x)) 成立，反方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向不成立。∀ 对 ∧ 可以分配：∀x(G(x)∧H(x))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∀xG(x)∧∀xH(x)。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3844" y="5012055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判断题 (6) 考的就是反方向。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7" name="Rectangle 6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6004084"/>
              <a:ext cx="10217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构造思路：让 G 和 H 分别在不同的个体上为假，两个 ∀ 就都为假；同时让每个个体上 G、H 至少一个为真，右式就为真。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9045" cy="909257"/>
            <a:chOff x="520446" y="342900"/>
            <a:chExt cx="71490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谓词逻辑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90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作业5-2：Skolem 范式，∃y 必须留在 ∀x 之后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48794" cy="308039"/>
            <a:chOff x="525399" y="1550194"/>
            <a:chExt cx="804879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487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 ∀x(¬Q(x,a) → ∃y(Q(y,f(x)) ∧ ∀z(Q(z,f(x)) → Q(y,z)))) 的 Skolem 范式。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4141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1613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4440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542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8925" y="2551271"/>
              <a:ext cx="4884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∀x(Q(x,a) ∨ ∃y(Q(y,f(x)) ∧ ∀z(¬Q(z,f(x)) ∨ Q(y,z))))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6566" y="2551271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消去两个 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0542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8925" y="3000851"/>
              <a:ext cx="4884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∀x∃y(Q(x,a) ∨ (Q(y,f(x)) ∧ ∀z(¬Q(z,f(x)) ∨ Q(y,z))))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6566" y="3000851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∃y 左移，仍在 ∀x 之后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0542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08925" y="3449479"/>
              <a:ext cx="4884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∀x∃y(Q(x,a) ∨ ∀z(Q(y,f(x)) ∧ (¬Q(z,f(x)) ∨ Q(y,z))))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6566" y="3449479"/>
              <a:ext cx="745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∀z 移出 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0542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8925" y="3898106"/>
              <a:ext cx="4884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∀x∃y∀z(Q(x,a) ∨ (Q(y,f(x)) ∧ (¬Q(z,f(x)) ∨ Q(y,z))))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6566" y="3898106"/>
              <a:ext cx="1779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∀z 移出 ∨，得前束范式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0542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08925" y="4346734"/>
              <a:ext cx="5701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∀x∃y∀z((Q(x,a) ∨ Q(y,f(x))) ∧ (Q(x,a) ∨ ¬Q(z,f(x)) ∨ Q(y,z)))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96566" y="43467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母式化成合取范式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542" y="47953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210628" y="4670108"/>
              <a:ext cx="77685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08925" y="4795361"/>
              <a:ext cx="6081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∀x∀z((Q(x,a) ∨ Q(g(x),f(x))) ∧ (Q(x,a) ∨ ¬Q(z,f(x)) ∨ Q(g(x),z)))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6566" y="4795361"/>
              <a:ext cx="2158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∃y 左边有 ∀x，用 g(x) 代 y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19634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8398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8344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6 步前面不能写“＝”：Skolem 范式 S 与原式 G 一般不等价，要写成“得 Skolem 范式：”。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18305" cy="909257"/>
            <a:chOff x="520446" y="342900"/>
            <a:chExt cx="38183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谓词逻辑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183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作业5-2 的六类常见错误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708458" cy="3821430"/>
            <a:chOff x="533400" y="1524000"/>
            <a:chExt cx="6708458" cy="3821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23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759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06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92872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没注意 ∃y 的作用范围，把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量词写成 ∃y∀x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56763" y="2108359"/>
              <a:ext cx="16141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前束范式错，y 被换成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69396" y="2108359"/>
              <a:ext cx="18173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∃y 在 ∀x 辖域内，只能是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∀x∃y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母式没有化成合取范式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56763" y="27836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停在前束范式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69396" y="27836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用分配律把 ∨ 分配进 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母式化成错误的合取范式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56763" y="323230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漏掉某个合取项里的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Q(x,a)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69396" y="3345656"/>
              <a:ext cx="2058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每个合取项都带上 Q(x,a)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1922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没写或写错 Skolem 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56763" y="39076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用常量 b 代替 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9396" y="3907631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依赖 x，写成 g(x)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357211"/>
              <a:ext cx="166375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前束范式之后用“＝”接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Skolem 范式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56763" y="435721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把不等价的公式连成等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69396" y="4470559"/>
              <a:ext cx="17337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写“得 Skolem 范式：”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9204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896802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0325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整个母式外层没加括号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56763" y="5032534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∀z 的辖域不清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69396" y="50325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母式整体加一层括号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708458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4417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956810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1"/>
          <p:cNvGrpSpPr/>
          <p:nvPr/>
        </p:nvGrpSpPr>
        <p:grpSpPr>
          <a:xfrm>
            <a:off x="7546658" y="1524000"/>
            <a:ext cx="4111942" cy="1866900"/>
            <a:chOff x="7546658" y="1524000"/>
            <a:chExt cx="4111942" cy="1866900"/>
          </a:xfrm>
        </p:grpSpPr>
        <p:sp>
          <p:nvSpPr>
            <p:cNvPr id="41" name="Rectangle 41"/>
            <p:cNvSpPr/>
            <p:nvPr/>
          </p:nvSpPr>
          <p:spPr>
            <a:xfrm>
              <a:off x="7546658" y="1524000"/>
              <a:ext cx="4111942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56182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9430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8546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95335" y="1768792"/>
              <a:ext cx="2390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Skolem 范式与原式的关系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86688" y="2129790"/>
              <a:ext cx="3501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S 是 G 的 Skolem 范式，则 G 恒假当且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仅当 S 恒假。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87830" y="2747486"/>
              <a:ext cx="3483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两者只是恒假性等价。判断题 (12) 说“恒真性等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价”，所以是错的。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7546658" y="3581400"/>
            <a:ext cx="4111942" cy="1764982"/>
            <a:chOff x="7546658" y="3581400"/>
            <a:chExt cx="4111942" cy="1764982"/>
          </a:xfrm>
        </p:grpSpPr>
        <p:sp>
          <p:nvSpPr>
            <p:cNvPr id="49" name="Rectangle 49"/>
            <p:cNvSpPr/>
            <p:nvPr/>
          </p:nvSpPr>
          <p:spPr>
            <a:xfrm>
              <a:off x="7546658" y="3581400"/>
              <a:ext cx="4111942" cy="1764982"/>
            </a:xfrm>
            <a:prstGeom prst="roundRect">
              <a:avLst>
                <a:gd name="adj" fmla="val 75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56182" y="3714750"/>
              <a:ext cx="47625" cy="14982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94308" y="3790950"/>
              <a:ext cx="11420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92126" y="3826669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消去 ∃ 的口诀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86688" y="4168140"/>
              <a:ext cx="3444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∃ 左边有哪些 ∀：没有就用新常量，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有几个就用几元的新函数，函数名不能与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公式里已有的重复。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5" name="Rectangle 5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728335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写完回头核对：每个 Skolem 函数的自变量，恰好是对应 ∃ 左边的全称变元。本题 f(x) 已在原式里出现，所以代 y 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函数另取名 g。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29187" cy="909257"/>
            <a:chOff x="520446" y="342900"/>
            <a:chExt cx="10129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谓词逻辑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29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例：∀x∀y(A(x)→B(x,y)) → (∃yC(y)→∃zD(z)) 的 Skolem 范式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11130915" cy="3709512"/>
            <a:chOff x="527685" y="1524000"/>
            <a:chExt cx="11130915" cy="3709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8190" y="16630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8537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364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0848" y="21507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7782" y="2150745"/>
              <a:ext cx="44528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¬∀x∀y(¬A(x) ∨ B(x,y)) ∨ (¬∃yC(y) ∨ ∃zD(z))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5422" y="2150745"/>
              <a:ext cx="59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 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0848" y="2638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7782" y="2638425"/>
              <a:ext cx="4339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∃x∃y(A(x) ∧ ¬B(x,y)) ∨ (∀y¬C(y) ∨ ∃zD(z))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5422" y="2638425"/>
              <a:ext cx="59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¬ 内移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0848" y="31261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7782" y="3126105"/>
              <a:ext cx="4339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∃x∃y(A(x) ∧ ¬B(x,y)) ∨ (∀t¬C(t) ∨ ∃zD(z))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5422" y="31261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改名：后一个 y 改为 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0848" y="36137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7782" y="3613785"/>
              <a:ext cx="4339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∃x∃y∀t∃z((A(x) ∧ ¬B(x,y)) ∨ ¬C(t) ∨ D(z))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5422" y="36137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量词左移，得前束范式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0848" y="41014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7782" y="4101465"/>
              <a:ext cx="60705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∃x∃y∀t∃z((A(x) ∨ ¬C(t) ∨ D(z)) ∧ (¬B(x,y) ∨ ¬C(t) ∨ D(z)))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5422" y="41014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母式化成合取范式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453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500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0848" y="45891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210628" y="4459605"/>
              <a:ext cx="776859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07782" y="4589145"/>
              <a:ext cx="6077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∀t((A(a) ∨ ¬C(t) ∨ D(f(t))) ∧ (¬B(a,b) ∨ ¬C(t) ∨ D(f(t))))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95422" y="4589145"/>
              <a:ext cx="2387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代 x，b 代 y，f(t) 代 z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9634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8398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5013484"/>
              <a:ext cx="473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更正：原课件把第 4 步（量词左移）的标注写作“前提”，应为“前束”。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9778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∃x、∃y 左边没有 ∀，用常量 a、b；∃z 左边有 ∀t，用一元函数 f(t)。第 3 步不改名的话两个 y 会混在一起。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86998" cy="2997517"/>
            <a:chOff x="667512" y="1835468"/>
            <a:chExt cx="588699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77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第6–8次作业：最短路、树与最优树、欧拉图与 Hamilton 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82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算法的表格写法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85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树的性质与 Kruskal 最优树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273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欧拉图、Hamilton 图与连接图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2303" cy="909257"/>
            <a:chOff x="520446" y="342900"/>
            <a:chExt cx="67723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2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第四章要点：图、树、有向图、Hamilton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322195"/>
            <a:chOff x="533400" y="1524000"/>
            <a:chExt cx="5410200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 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有限图、母图、子图、完全图、补图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所有点的度之和等于边数的 2 倍；关联矩阵、相邻矩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路、简单路、回路；连通图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02330"/>
              <a:ext cx="17380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 Dijkstra 算法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36695"/>
            <a:ext cx="5410200" cy="1701165"/>
            <a:chOff x="533400" y="4036695"/>
            <a:chExt cx="5410200" cy="1701165"/>
          </a:xfrm>
        </p:grpSpPr>
        <p:sp>
          <p:nvSpPr>
            <p:cNvPr id="20" name="Rectangle 20"/>
            <p:cNvSpPr/>
            <p:nvPr/>
          </p:nvSpPr>
          <p:spPr>
            <a:xfrm>
              <a:off x="533400" y="403669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17004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246245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1742" y="428196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 树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62343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 5 个等价命题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02158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958715"/>
              <a:ext cx="2283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Kruskal 算法求最优树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2322195"/>
            <a:chOff x="6248400" y="1524000"/>
            <a:chExt cx="5410200" cy="232219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1733550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8843" y="176926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 有向图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有限有向图、有向子图、有向路、简单有向路、有向回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27317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强连通、根、有向树；了解转化定理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30670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欧拉路的定义和充要条件，判断欧拉图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34651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340233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了解欧拉路与有向树的转换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4036695"/>
            <a:ext cx="5410200" cy="1701165"/>
            <a:chOff x="6248400" y="4036695"/>
            <a:chExt cx="5410200" cy="1701165"/>
          </a:xfrm>
        </p:grpSpPr>
        <p:sp>
          <p:nvSpPr>
            <p:cNvPr id="42" name="Rectangle 42"/>
            <p:cNvSpPr/>
            <p:nvPr/>
          </p:nvSpPr>
          <p:spPr>
            <a:xfrm>
              <a:off x="6248400" y="403669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417004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6050" y="4246245"/>
              <a:ext cx="113633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4125" y="4281964"/>
              <a:ext cx="999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 Hamilton 图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01765" y="46863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9880" y="4623435"/>
              <a:ext cx="1791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路、H 回路的定义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01765" y="502158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9880" y="4958715"/>
              <a:ext cx="2417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图的必要条件、充分条件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01765" y="53568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9880" y="5293995"/>
              <a:ext cx="3173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闭合图、连接图的定义，会画 Cₘ,ₙ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9204" cy="909257"/>
            <a:chOff x="520446" y="342900"/>
            <a:chExt cx="76792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92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作业6：Dijkstra 求 A 到各点的最短路（前三步）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graph-1"/>
          <p:cNvGrpSpPr/>
          <p:nvPr/>
        </p:nvGrpSpPr>
        <p:grpSpPr>
          <a:xfrm>
            <a:off x="673418" y="1731645"/>
            <a:ext cx="4589144" cy="3606450"/>
            <a:chOff x="673418" y="1731645"/>
            <a:chExt cx="4589144" cy="3606450"/>
          </a:xfrm>
        </p:grpSpPr>
        <p:sp>
          <p:nvSpPr>
            <p:cNvPr id="7" name="Freeform 7"/>
            <p:cNvSpPr/>
            <p:nvPr/>
          </p:nvSpPr>
          <p:spPr>
            <a:xfrm>
              <a:off x="928688" y="2008822"/>
              <a:ext cx="1156335" cy="1390650"/>
            </a:xfrm>
            <a:custGeom>
              <a:avLst/>
              <a:gdLst/>
              <a:ahLst/>
              <a:cxnLst/>
              <a:rect l="l" t="t" r="r" b="b"/>
              <a:pathLst>
                <a:path w="1156335" h="1390650">
                  <a:moveTo>
                    <a:pt x="0" y="1390650"/>
                  </a:moveTo>
                  <a:lnTo>
                    <a:pt x="11563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28688" y="3649028"/>
              <a:ext cx="1156335" cy="1390650"/>
            </a:xfrm>
            <a:custGeom>
              <a:avLst/>
              <a:gdLst/>
              <a:ahLst/>
              <a:cxnLst/>
              <a:rect l="l" t="t" r="r" b="b"/>
              <a:pathLst>
                <a:path w="1156335" h="1390650">
                  <a:moveTo>
                    <a:pt x="0" y="0"/>
                  </a:moveTo>
                  <a:lnTo>
                    <a:pt x="1156335" y="1390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88845" y="2045970"/>
              <a:ext cx="9525" cy="2956560"/>
            </a:xfrm>
            <a:custGeom>
              <a:avLst/>
              <a:gdLst/>
              <a:ahLst/>
              <a:cxnLst/>
              <a:rect l="l" t="t" r="r" b="b"/>
              <a:pathLst>
                <a:path w="9525" h="2956560">
                  <a:moveTo>
                    <a:pt x="0" y="0"/>
                  </a:moveTo>
                  <a:lnTo>
                    <a:pt x="0" y="29565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00288" y="2001202"/>
              <a:ext cx="1141095" cy="1205865"/>
            </a:xfrm>
            <a:custGeom>
              <a:avLst/>
              <a:gdLst/>
              <a:ahLst/>
              <a:cxnLst/>
              <a:rect l="l" t="t" r="r" b="b"/>
              <a:pathLst>
                <a:path w="1141095" h="1205865">
                  <a:moveTo>
                    <a:pt x="0" y="0"/>
                  </a:moveTo>
                  <a:lnTo>
                    <a:pt x="1141095" y="12058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85048" y="3454718"/>
              <a:ext cx="1170622" cy="1579245"/>
            </a:xfrm>
            <a:custGeom>
              <a:avLst/>
              <a:gdLst/>
              <a:ahLst/>
              <a:cxnLst/>
              <a:rect l="l" t="t" r="r" b="b"/>
              <a:pathLst>
                <a:path w="1170622" h="1579245">
                  <a:moveTo>
                    <a:pt x="0" y="1579245"/>
                  </a:moveTo>
                  <a:lnTo>
                    <a:pt x="11706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50770" y="5164455"/>
              <a:ext cx="1818322" cy="9525"/>
            </a:xfrm>
            <a:custGeom>
              <a:avLst/>
              <a:gdLst/>
              <a:ahLst/>
              <a:cxnLst/>
              <a:rect l="l" t="t" r="r" b="b"/>
              <a:pathLst>
                <a:path w="1818322" h="9525">
                  <a:moveTo>
                    <a:pt x="0" y="0"/>
                  </a:moveTo>
                  <a:lnTo>
                    <a:pt x="18183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15690" y="3473768"/>
              <a:ext cx="652462" cy="1541145"/>
            </a:xfrm>
            <a:custGeom>
              <a:avLst/>
              <a:gdLst/>
              <a:ahLst/>
              <a:cxnLst/>
              <a:rect l="l" t="t" r="r" b="b"/>
              <a:pathLst>
                <a:path w="652462" h="1541145">
                  <a:moveTo>
                    <a:pt x="0" y="0"/>
                  </a:moveTo>
                  <a:lnTo>
                    <a:pt x="652462" y="15411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13798" y="3324225"/>
              <a:ext cx="1234440" cy="9525"/>
            </a:xfrm>
            <a:custGeom>
              <a:avLst/>
              <a:gdLst/>
              <a:ahLst/>
              <a:cxnLst/>
              <a:rect l="l" t="t" r="r" b="b"/>
              <a:pathLst>
                <a:path w="1234440" h="9525">
                  <a:moveTo>
                    <a:pt x="0" y="0"/>
                  </a:moveTo>
                  <a:lnTo>
                    <a:pt x="12344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394835" y="3473768"/>
              <a:ext cx="652462" cy="1541145"/>
            </a:xfrm>
            <a:custGeom>
              <a:avLst/>
              <a:gdLst/>
              <a:ahLst/>
              <a:cxnLst/>
              <a:rect l="l" t="t" r="r" b="b"/>
              <a:pathLst>
                <a:path w="652462" h="1541145">
                  <a:moveTo>
                    <a:pt x="0" y="1541145"/>
                  </a:moveTo>
                  <a:lnTo>
                    <a:pt x="6524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73418" y="337185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036445" y="17316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036445" y="50120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399472" y="31718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178618" y="50120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957762" y="31718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0435" y="34499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33463" y="18097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3463" y="50901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6490" y="32499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75635" y="50901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54780" y="32499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423988" y="2583180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52992" y="26284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23988" y="4223385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52992" y="42686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105978" y="3402330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134982" y="34485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787968" y="2483168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16972" y="25284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87968" y="4123372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816972" y="416861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177540" y="5043488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206544" y="50887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58578" y="4123372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87582" y="416861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248150" y="3202305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77154" y="32485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637722" y="4123372"/>
              <a:ext cx="165735" cy="22669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66727" y="416861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2"/>
              <p:cNvSpPr txBox="1">
                <a:spLocks noGrp="1"/>
              </p:cNvSpPr>
              <p:nvPr/>
            </p:nvSpPr>
            <p:spPr>
              <a:xfrm>
                <a:off x="533400" y="5715000"/>
                <a:ext cx="486918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</m:d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1" name="c2-steps-1"/>
          <p:cNvGrpSpPr/>
          <p:nvPr/>
        </p:nvGrpSpPr>
        <p:grpSpPr>
          <a:xfrm>
            <a:off x="5707380" y="1533525"/>
            <a:ext cx="5684393" cy="2582514"/>
            <a:chOff x="5707380" y="1533525"/>
            <a:chExt cx="5684393" cy="2582514"/>
          </a:xfrm>
        </p:grpSpPr>
        <p:sp>
          <p:nvSpPr>
            <p:cNvPr id="48" name="Rectangle 48"/>
            <p:cNvSpPr/>
            <p:nvPr/>
          </p:nvSpPr>
          <p:spPr>
            <a:xfrm>
              <a:off x="584073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70738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100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707380" y="33042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010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18860" y="1567815"/>
              <a:ext cx="1615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步：S = {A}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0003" y="1861661"/>
              <a:ext cx="52717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l(B) = w(AB) = 6，l(C) = w(AC) = 3，l(D) = l(E) = l(F) = ∞。最小的是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l(C) = 3，C 并入 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18860" y="2453640"/>
              <a:ext cx="1728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步：用 C 更新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003" y="2746534"/>
              <a:ext cx="480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l(B) = min{6, 3+2} = 5，l(D) = min{∞, 3+3} = 6，l(E) = min{∞,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3+4} = 7，l(F) = min{∞, 3+∞} = ∞。B 并入 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8860" y="3338512"/>
              <a:ext cx="1728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步：用 B 更新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20003" y="3632359"/>
              <a:ext cx="5027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l(D) = min{6, 5+5} = 6，l(E) = min{7, 5+∞} = 7，l(F) = min{∞, 5+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∞} = ∞。D 并入 S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5707380" y="4294822"/>
            <a:ext cx="5951220" cy="1801178"/>
            <a:chOff x="5707380" y="4294822"/>
            <a:chExt cx="5951220" cy="1801178"/>
          </a:xfrm>
        </p:grpSpPr>
        <p:sp>
          <p:nvSpPr>
            <p:cNvPr id="62" name="Rectangle 62"/>
            <p:cNvSpPr/>
            <p:nvPr/>
          </p:nvSpPr>
          <p:spPr>
            <a:xfrm>
              <a:off x="5707380" y="4294822"/>
              <a:ext cx="5951220" cy="1801178"/>
            </a:xfrm>
            <a:prstGeom prst="roundRect">
              <a:avLst>
                <a:gd name="adj" fmla="val 7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16905" y="4428172"/>
              <a:ext cx="47625" cy="15344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955030" y="4504372"/>
              <a:ext cx="176593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07170" y="4540091"/>
              <a:ext cx="1661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为什么每步选 l 最小的点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47410" y="4881562"/>
              <a:ext cx="5187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边权都非负。S′ 中 l 最小的点 u，若还有更短的路，那条路要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先经过 S′ 里另一个 l 不比 u 小的点，长度不会更短，所以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l(u) 已是最短距离，可以并入 S。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作业6（续）：后两步、整体表格和结论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0" name="c1-table-1"/>
          <p:cNvGrpSpPr/>
          <p:nvPr/>
        </p:nvGrpSpPr>
        <p:grpSpPr>
          <a:xfrm>
            <a:off x="528066" y="1524000"/>
            <a:ext cx="5956554" cy="3250501"/>
            <a:chOff x="528066" y="1524000"/>
            <a:chExt cx="5956554" cy="325050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4657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0045" y="165258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63259" y="16525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4728" y="1652588"/>
              <a:ext cx="352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l(B)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9103" y="1652588"/>
              <a:ext cx="352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l(C)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3478" y="1652588"/>
              <a:ext cx="352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l(D)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36900" y="1652588"/>
              <a:ext cx="352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l(E)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51275" y="1652588"/>
              <a:ext cx="352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l(F)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78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2139" y="207645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23694" y="20764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BCDEF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036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37598" y="1958340"/>
              <a:ext cx="6953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3473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911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6253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7691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3679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37267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8783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2139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23694" y="250126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BDEF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923222" y="2382202"/>
              <a:ext cx="6953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2036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911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6253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7691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27927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8783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2139" y="292608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23694" y="292608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51972" y="2807018"/>
              <a:ext cx="6953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4911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6253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7691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2165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322135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8783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2139" y="3349942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ACBD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23694" y="334994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EF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065395" y="3230880"/>
              <a:ext cx="6953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6253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76912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36414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8783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2139" y="3774757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ACBDE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23694" y="3774757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79770" y="3655695"/>
              <a:ext cx="6953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76912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0662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07098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8783" y="41986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2139" y="419862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ACBDEF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524000"/>
              <a:ext cx="595122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0488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01644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90893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62331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33768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05110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76548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28066" y="4569142"/>
              <a:ext cx="388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橙色格是该步选中并入 S 的点；已并入 S 的点在后面各行留空</a:t>
              </a:r>
            </a:p>
          </p:txBody>
        </p:sp>
      </p:grpSp>
      <p:grpSp>
        <p:nvGrpSpPr>
          <p:cNvPr id="82" name="c1-steps-2"/>
          <p:cNvGrpSpPr/>
          <p:nvPr/>
        </p:nvGrpSpPr>
        <p:grpSpPr>
          <a:xfrm>
            <a:off x="533400" y="4913948"/>
            <a:ext cx="5951220" cy="1398270"/>
            <a:chOff x="533400" y="4913948"/>
            <a:chExt cx="5951220" cy="1398270"/>
          </a:xfrm>
        </p:grpSpPr>
        <p:sp>
          <p:nvSpPr>
            <p:cNvPr id="71" name="Rectangle 71"/>
            <p:cNvSpPr/>
            <p:nvPr/>
          </p:nvSpPr>
          <p:spPr>
            <a:xfrm>
              <a:off x="533400" y="4913948"/>
              <a:ext cx="2832735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66750" y="50472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6883" y="51177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9511" y="5451634"/>
              <a:ext cx="16361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步：用 D 更新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0654" y="5751195"/>
              <a:ext cx="2199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l(E) = min{7, 6+2} = 7，l(F)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min{∞, 6+3} = 9。E 并入 S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3442335" y="552735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3651885" y="4913948"/>
              <a:ext cx="2832735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3785235" y="50472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875368" y="51177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777996" y="5451634"/>
              <a:ext cx="16361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步：用 E 更新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779139" y="5751195"/>
              <a:ext cx="2206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l(F) = min{9, 7+5} = 9。F 并入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S，结束</a:t>
              </a:r>
            </a:p>
          </p:txBody>
        </p:sp>
      </p:grpSp>
      <p:grpSp>
        <p:nvGrpSpPr>
          <p:cNvPr id="111" name="c2-table-1"/>
          <p:cNvGrpSpPr/>
          <p:nvPr/>
        </p:nvGrpSpPr>
        <p:grpSpPr>
          <a:xfrm>
            <a:off x="6789420" y="1524000"/>
            <a:ext cx="4869180" cy="2779395"/>
            <a:chOff x="6789420" y="1524000"/>
            <a:chExt cx="4869180" cy="2779395"/>
          </a:xfrm>
        </p:grpSpPr>
        <p:sp>
          <p:nvSpPr>
            <p:cNvPr id="83" name="Rectangle 83"/>
            <p:cNvSpPr/>
            <p:nvPr/>
          </p:nvSpPr>
          <p:spPr>
            <a:xfrm>
              <a:off x="6789420" y="1524000"/>
              <a:ext cx="4869180" cy="4629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7777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终点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30030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最短路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77344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10612" y="2119789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908750" y="2119789"/>
              <a:ext cx="630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 C)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912039" y="211978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789420" y="244602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789420" y="2450782"/>
              <a:ext cx="486918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10612" y="2582704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767364" y="2582704"/>
              <a:ext cx="913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 C, B)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912039" y="258270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789420" y="290893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410612" y="3045619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767364" y="3045619"/>
              <a:ext cx="913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 C, D)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912039" y="304561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789420" y="337280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789420" y="3377565"/>
              <a:ext cx="486918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410612" y="3509486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767364" y="3509486"/>
              <a:ext cx="913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 C, E)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912039" y="350948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789420" y="383571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410612" y="397240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625977" y="3972401"/>
              <a:ext cx="11960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 C, D, F)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912039" y="397240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789420" y="1524000"/>
              <a:ext cx="4869180" cy="27793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8159115" y="152400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279380" y="152400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8" name="c2-callout-2"/>
          <p:cNvGrpSpPr/>
          <p:nvPr/>
        </p:nvGrpSpPr>
        <p:grpSpPr>
          <a:xfrm>
            <a:off x="6789420" y="4484370"/>
            <a:ext cx="4869180" cy="1827848"/>
            <a:chOff x="6789420" y="4484370"/>
            <a:chExt cx="4869180" cy="1827848"/>
          </a:xfrm>
        </p:grpSpPr>
        <p:sp>
          <p:nvSpPr>
            <p:cNvPr id="112" name="Rectangle 112"/>
            <p:cNvSpPr/>
            <p:nvPr/>
          </p:nvSpPr>
          <p:spPr>
            <a:xfrm>
              <a:off x="6789420" y="4484370"/>
              <a:ext cx="4869180" cy="1827848"/>
            </a:xfrm>
            <a:prstGeom prst="roundRect">
              <a:avLst>
                <a:gd name="adj" fmla="val 62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6994208" y="5297805"/>
              <a:ext cx="200026" cy="200025"/>
              <a:chOff x="6994208" y="5297805"/>
              <a:chExt cx="200026" cy="20002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6994208" y="52978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033946" y="53422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7068662" y="54533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7296531" y="5166836"/>
              <a:ext cx="397294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路线从后往前找：F 的 9 来自 l(D) + 3，D 的 6 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 l(C) + 3，C 的 3 来自 A，所以是 A, C, D, F。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2985" cy="909257"/>
            <a:chOff x="520446" y="342900"/>
            <a:chExt cx="70429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2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阅卷要求：Dijkstra 要按本课的算法格式书写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5430"/>
            <a:ext cx="5727954" cy="2316480"/>
            <a:chOff x="533400" y="1535430"/>
            <a:chExt cx="5727954" cy="231648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3555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用数据结构课里的 Dijkstra 写法不给分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表格和实现步骤缺一不可，另外给出一张整体表格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250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238375"/>
              <a:ext cx="3693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用文字写明 A 到其他各点的最短路和距离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698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612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583180"/>
              <a:ext cx="368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权值记作 l(v)（小写字母 l），不是 I(v)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9146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2956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2927985"/>
              <a:ext cx="5396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表格每一行只写 S′ 中点的权值。例如第 2 步 C 已并入 S，S′ 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不再有 C，第 2 行 l(C) 处留空，以此类推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5452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5874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558540"/>
              <a:ext cx="5426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仍有同学没掌握算法本身，建议照第 25、26 页自己重算一遍</a:t>
              </a:r>
            </a:p>
          </p:txBody>
        </p:sp>
      </p:grpSp>
      <p:grpSp>
        <p:nvGrpSpPr>
          <p:cNvPr id="34" name="c1-kv-2"/>
          <p:cNvGrpSpPr/>
          <p:nvPr/>
        </p:nvGrpSpPr>
        <p:grpSpPr>
          <a:xfrm>
            <a:off x="525780" y="4008120"/>
            <a:ext cx="6067425" cy="1173480"/>
            <a:chOff x="525780" y="4008120"/>
            <a:chExt cx="6067425" cy="1173480"/>
          </a:xfrm>
        </p:grpSpPr>
        <p:sp>
          <p:nvSpPr>
            <p:cNvPr id="26" name="TextBox 26"/>
            <p:cNvSpPr txBox="1"/>
            <p:nvPr/>
          </p:nvSpPr>
          <p:spPr>
            <a:xfrm>
              <a:off x="525780" y="400812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80148" y="40081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已经求出最短距离的点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2816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780" y="44481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80148" y="4448175"/>
              <a:ext cx="3407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其余的点，每步从中选 l 最小的并入 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682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780" y="4888230"/>
              <a:ext cx="428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l(v)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80148" y="4888230"/>
              <a:ext cx="4746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目前找到的 A 到 v 的最短距离；v 并入 S 后不再改变</a:t>
              </a:r>
            </a:p>
          </p:txBody>
        </p:sp>
      </p:grpSp>
      <p:grpSp>
        <p:nvGrpSpPr>
          <p:cNvPr id="41" name="c1-callout-3"/>
          <p:cNvGrpSpPr/>
          <p:nvPr/>
        </p:nvGrpSpPr>
        <p:grpSpPr>
          <a:xfrm>
            <a:off x="533400" y="5313045"/>
            <a:ext cx="6059805" cy="782955"/>
            <a:chOff x="533400" y="5313045"/>
            <a:chExt cx="6059805" cy="782955"/>
          </a:xfrm>
        </p:grpSpPr>
        <p:sp>
          <p:nvSpPr>
            <p:cNvPr id="35" name="Rectangle 35"/>
            <p:cNvSpPr/>
            <p:nvPr/>
          </p:nvSpPr>
          <p:spPr>
            <a:xfrm>
              <a:off x="533400" y="531304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600818"/>
              <a:ext cx="224134" cy="192560"/>
              <a:chOff x="726129" y="5600818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56711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6008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7489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461635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原课件展示的学生手写表格在第 2 行以后仍然填了已并入 S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的点，这正是第 5 条说的错误。</a:t>
              </a:r>
            </a:p>
          </p:txBody>
        </p:sp>
      </p:grpSp>
      <p:grpSp>
        <p:nvGrpSpPr>
          <p:cNvPr id="44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7447079" y="5189696"/>
              <a:ext cx="3662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像水波从 A 向外扩散：先被波及的点，最短距离先确定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0622" cy="909257"/>
            <a:chOff x="520446" y="342900"/>
            <a:chExt cx="8240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0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作业7-1：n 个点 m 条边的简单图，m ≥ n 时必有回路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70655" cy="308039"/>
            <a:chOff x="525399" y="1550194"/>
            <a:chExt cx="897065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706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答：对。简答题按要求回答即可，题目明确要求写“为什么”时才写原因。下面两种证法供理解。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5410200" cy="2912745"/>
            <a:chOff x="533400" y="1967865"/>
            <a:chExt cx="5410200" cy="29127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000" y="22126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反证，按连通分支数算边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 G 没有回路。若 G 连通，则 G 是树，应有 n − 1 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边，与 m ≥ n 矛盾。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1946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不连通，设有 k（k &gt; 1）个连通分支 G₁, …, Gₖ，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分别有 n₁, …, nₖ 个点。每个分支都是树，边数合计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5"/>
                <p:cNvSpPr txBox="1">
                  <a:spLocks noGrp="1"/>
                </p:cNvSpPr>
                <p:nvPr/>
              </p:nvSpPr>
              <p:spPr>
                <a:xfrm>
                  <a:off x="781050" y="3790950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3430" y="4291965"/>
              <a:ext cx="3087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也与题设矛盾。故 G 中必有回路。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967865"/>
            <a:ext cx="5410200" cy="2912745"/>
            <a:chOff x="6248400" y="1967865"/>
            <a:chExt cx="5410200" cy="2912745"/>
          </a:xfrm>
        </p:grpSpPr>
        <p:sp>
          <p:nvSpPr>
            <p:cNvPr id="19" name="Rectangle 19"/>
            <p:cNvSpPr/>
            <p:nvPr/>
          </p:nvSpPr>
          <p:spPr>
            <a:xfrm>
              <a:off x="6248400" y="1967865"/>
              <a:ext cx="541020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2101215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6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2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9000" y="2212658"/>
              <a:ext cx="248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 个孤立点开始逐条加边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573655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的边为 l₁, l₂, …, lₘ。先放 n 个点，再依次加入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l₁, l₂, …。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01765" y="32575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59880" y="31946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若加到某条边时出现回路，结论成立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01765" y="35928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9880" y="352996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否则加完前 n − 1 条边时，图无回路且有 n − 1 条边，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由树的等价命题，它已是一棵树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01765" y="42138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4150995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 m ≥ n，至少还有一条边；在树上任加一条边必形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成回路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7395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两种证法都用到同一件事：n 个点的无回路图若有 k 个连通分支，边数恰为 n − k。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59326" cy="909257"/>
            <a:chOff x="520446" y="342900"/>
            <a:chExt cx="69593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593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作业7-2、7-3、8-4：树与有向树的四个简答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4305300"/>
            <a:chOff x="533400" y="1524000"/>
            <a:chExt cx="6276022" cy="4305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638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480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90122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理由或反例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959769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 2 个以上顶点的有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限树，至少有几个度为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的点？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25140" y="241744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3345" y="2150745"/>
              <a:ext cx="26346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度数和为 2(n−1)。若度为 1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点不到 2 个，其余点度 ≥ 2，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度数和 ≥ 1 + 2(n−1)，矛盾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279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32760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171825"/>
              <a:ext cx="202882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是简单图，有 n 个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点、n − 1 条边，G 一定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是树吗？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25140" y="3438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3345" y="3305175"/>
              <a:ext cx="26536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三角形加一个孤立点：4 个点、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条边，不连通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490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43262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有向图中一定有根吗？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25140" y="43262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3345" y="4192905"/>
              <a:ext cx="23964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v₁→v₃、v₂→v₃：没有一个点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能到达其余所有点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8034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808220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508063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有根的有向图中一定存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在有向支撑树吗？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25140" y="52139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3345" y="4947285"/>
              <a:ext cx="2682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从根出发搜索，每个点保留第一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次到达它的那条弧，即得以该点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为根的有向支撑树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4305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13698" y="1524000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91902" y="1524000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1"/>
          <p:cNvGrpSpPr/>
          <p:nvPr/>
        </p:nvGrpSpPr>
        <p:grpSpPr>
          <a:xfrm>
            <a:off x="7114222" y="1524000"/>
            <a:ext cx="4544378" cy="3011805"/>
            <a:chOff x="7114222" y="1524000"/>
            <a:chExt cx="4544378" cy="3011805"/>
          </a:xfrm>
        </p:grpSpPr>
        <p:sp>
          <p:nvSpPr>
            <p:cNvPr id="32" name="Rectangle 32"/>
            <p:cNvSpPr/>
            <p:nvPr/>
          </p:nvSpPr>
          <p:spPr>
            <a:xfrm>
              <a:off x="7114222" y="1524000"/>
              <a:ext cx="4544378" cy="3011805"/>
            </a:xfrm>
            <a:prstGeom prst="roundRect">
              <a:avLst>
                <a:gd name="adj" fmla="val 44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23748" y="1657350"/>
              <a:ext cx="47625" cy="27451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61872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35329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树的等价命题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54252" y="2110740"/>
              <a:ext cx="3297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有 n 个点、m 条边，以下说法等价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1872" y="24517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3722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62862" y="2465070"/>
              <a:ext cx="2215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是树（连通且无回路）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361872" y="27870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23722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62862" y="2800350"/>
              <a:ext cx="2104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无回路，且 m = n − 1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1872" y="31222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3722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62862" y="3135630"/>
              <a:ext cx="1902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连通，且 m = n − 1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61872" y="345757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23722" y="34998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62862" y="347091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无回路，但任加一条新边恰好得到一个回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61872" y="40786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23722" y="41208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62862" y="4091940"/>
              <a:ext cx="3225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连通，但删去任一条边就不再连通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7114222" y="4726305"/>
            <a:ext cx="4544378" cy="1102995"/>
            <a:chOff x="7114222" y="4726305"/>
            <a:chExt cx="4544378" cy="1102995"/>
          </a:xfrm>
        </p:grpSpPr>
        <p:sp>
          <p:nvSpPr>
            <p:cNvPr id="53" name="Rectangle 53"/>
            <p:cNvSpPr/>
            <p:nvPr/>
          </p:nvSpPr>
          <p:spPr>
            <a:xfrm>
              <a:off x="7114222" y="4726305"/>
              <a:ext cx="4544378" cy="1102995"/>
            </a:xfrm>
            <a:prstGeom prst="roundRect">
              <a:avLst>
                <a:gd name="adj" fmla="val 1036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06952" y="5174098"/>
              <a:ext cx="224134" cy="192560"/>
              <a:chOff x="7306952" y="5174098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419023" y="52444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306952" y="51740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419023" y="5322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620952" y="5034915"/>
              <a:ext cx="3558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7-3 的反例说明：只有“n − 1 条边”不够，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还要连通或无回路之一。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75178" cy="909257"/>
            <a:chOff x="520446" y="342900"/>
            <a:chExt cx="5975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75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作业7-4：Kruskal 求最优树，权值 47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813435" y="1662112"/>
            <a:ext cx="4850130" cy="3828575"/>
            <a:chOff x="813435" y="1662112"/>
            <a:chExt cx="4850130" cy="3828575"/>
          </a:xfrm>
        </p:grpSpPr>
        <p:sp>
          <p:nvSpPr>
            <p:cNvPr id="7" name="Freeform 7"/>
            <p:cNvSpPr/>
            <p:nvPr/>
          </p:nvSpPr>
          <p:spPr>
            <a:xfrm>
              <a:off x="1104900" y="1897380"/>
              <a:ext cx="1994535" cy="1201103"/>
            </a:xfrm>
            <a:custGeom>
              <a:avLst/>
              <a:gdLst/>
              <a:ahLst/>
              <a:cxnLst/>
              <a:rect l="l" t="t" r="r" b="b"/>
              <a:pathLst>
                <a:path w="1994535" h="1201103">
                  <a:moveTo>
                    <a:pt x="1994535" y="0"/>
                  </a:moveTo>
                  <a:lnTo>
                    <a:pt x="0" y="120110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377565" y="1897380"/>
              <a:ext cx="1994535" cy="1201103"/>
            </a:xfrm>
            <a:custGeom>
              <a:avLst/>
              <a:gdLst/>
              <a:ahLst/>
              <a:cxnLst/>
              <a:rect l="l" t="t" r="r" b="b"/>
              <a:pathLst>
                <a:path w="1994535" h="1201103">
                  <a:moveTo>
                    <a:pt x="0" y="0"/>
                  </a:moveTo>
                  <a:lnTo>
                    <a:pt x="1994535" y="120110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127760" y="3182302"/>
              <a:ext cx="4221480" cy="9525"/>
            </a:xfrm>
            <a:custGeom>
              <a:avLst/>
              <a:gdLst/>
              <a:ahLst/>
              <a:cxnLst/>
              <a:rect l="l" t="t" r="r" b="b"/>
              <a:pathLst>
                <a:path w="4221480" h="9525">
                  <a:moveTo>
                    <a:pt x="0" y="0"/>
                  </a:moveTo>
                  <a:lnTo>
                    <a:pt x="422148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891665" y="1965008"/>
              <a:ext cx="1286828" cy="3223260"/>
            </a:xfrm>
            <a:custGeom>
              <a:avLst/>
              <a:gdLst/>
              <a:ahLst/>
              <a:cxnLst/>
              <a:rect l="l" t="t" r="r" b="b"/>
              <a:pathLst>
                <a:path w="1286828" h="3223260">
                  <a:moveTo>
                    <a:pt x="1286828" y="0"/>
                  </a:moveTo>
                  <a:lnTo>
                    <a:pt x="0" y="322326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3298508" y="1965008"/>
              <a:ext cx="1286827" cy="3223260"/>
            </a:xfrm>
            <a:custGeom>
              <a:avLst/>
              <a:gdLst/>
              <a:ahLst/>
              <a:cxnLst/>
              <a:rect l="l" t="t" r="r" b="b"/>
              <a:pathLst>
                <a:path w="1286827" h="3223260">
                  <a:moveTo>
                    <a:pt x="0" y="0"/>
                  </a:moveTo>
                  <a:lnTo>
                    <a:pt x="1286827" y="322326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05852" y="3264218"/>
              <a:ext cx="3399472" cy="1992630"/>
            </a:xfrm>
            <a:custGeom>
              <a:avLst/>
              <a:gdLst/>
              <a:ahLst/>
              <a:cxnLst/>
              <a:rect l="l" t="t" r="r" b="b"/>
              <a:pathLst>
                <a:path w="3399472" h="1992630">
                  <a:moveTo>
                    <a:pt x="0" y="0"/>
                  </a:moveTo>
                  <a:lnTo>
                    <a:pt x="3399472" y="199263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1971675" y="3264218"/>
              <a:ext cx="3399472" cy="1992630"/>
            </a:xfrm>
            <a:custGeom>
              <a:avLst/>
              <a:gdLst/>
              <a:ahLst/>
              <a:cxnLst/>
              <a:rect l="l" t="t" r="r" b="b"/>
              <a:pathLst>
                <a:path w="3399472" h="1992630">
                  <a:moveTo>
                    <a:pt x="3399472" y="0"/>
                  </a:moveTo>
                  <a:lnTo>
                    <a:pt x="0" y="199263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05350" y="3332798"/>
              <a:ext cx="744855" cy="1855470"/>
            </a:xfrm>
            <a:custGeom>
              <a:avLst/>
              <a:gdLst/>
              <a:ahLst/>
              <a:cxnLst/>
              <a:rect l="l" t="t" r="r" b="b"/>
              <a:pathLst>
                <a:path w="744855" h="1855470">
                  <a:moveTo>
                    <a:pt x="744855" y="0"/>
                  </a:moveTo>
                  <a:lnTo>
                    <a:pt x="0" y="1855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6795" y="3332798"/>
              <a:ext cx="744855" cy="1855470"/>
            </a:xfrm>
            <a:custGeom>
              <a:avLst/>
              <a:gdLst/>
              <a:ahLst/>
              <a:cxnLst/>
              <a:rect l="l" t="t" r="r" b="b"/>
              <a:pathLst>
                <a:path w="744855" h="1855470">
                  <a:moveTo>
                    <a:pt x="0" y="0"/>
                  </a:moveTo>
                  <a:lnTo>
                    <a:pt x="744855" y="185547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93582" y="5337810"/>
              <a:ext cx="2489835" cy="9525"/>
            </a:xfrm>
            <a:custGeom>
              <a:avLst/>
              <a:gdLst/>
              <a:ahLst/>
              <a:cxnLst/>
              <a:rect l="l" t="t" r="r" b="b"/>
              <a:pathLst>
                <a:path w="2489835" h="9525">
                  <a:moveTo>
                    <a:pt x="0" y="0"/>
                  </a:moveTo>
                  <a:lnTo>
                    <a:pt x="2489835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086100" y="1662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13435" y="30299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358765" y="30299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679258" y="51854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492942" y="51854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86785" y="17445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4120" y="31122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9450" y="31122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9942" y="52678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93627" y="52678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85962" y="2390775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13527" y="24312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58628" y="2390775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86192" y="24312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122295" y="3075622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49859" y="31151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418398" y="3469005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46914" y="35094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25240" y="3469005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52804" y="35094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88908" y="4152900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17424" y="4193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593782" y="4152900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23757" y="4193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61572" y="4152900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89137" y="4193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322070" y="4152900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52045" y="4193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22295" y="5231130"/>
              <a:ext cx="23241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9859" y="52706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90" name="c2-table-1"/>
          <p:cNvGrpSpPr/>
          <p:nvPr/>
        </p:nvGrpSpPr>
        <p:grpSpPr>
          <a:xfrm>
            <a:off x="6243066" y="1524000"/>
            <a:ext cx="5415534" cy="3250501"/>
            <a:chOff x="6243066" y="1524000"/>
            <a:chExt cx="5415534" cy="3250501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332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160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28520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1367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810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40053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6486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05556" y="20764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48108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40053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6486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5556" y="250126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48108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40053" y="292608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20442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05556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48108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40053" y="334994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20442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05556" y="3349942"/>
              <a:ext cx="1620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弃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 CD、DE 成回路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48108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40053" y="3774757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20442" y="3774757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05556" y="3774757"/>
              <a:ext cx="1620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弃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 BD、CD 成回路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4066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48400" y="40709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48108" y="41986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40053" y="419862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720442" y="41986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05556" y="419862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，已有 4 条边，停止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1524000"/>
              <a:ext cx="541020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34758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32294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29830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43066" y="456914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个点的树有 4 条边，取满 4 条即可结束</a:t>
              </a:r>
            </a:p>
          </p:txBody>
        </p:sp>
      </p:grpSp>
      <p:grpSp>
        <p:nvGrpSpPr>
          <p:cNvPr id="96" name="c2-callout-2"/>
          <p:cNvGrpSpPr/>
          <p:nvPr/>
        </p:nvGrpSpPr>
        <p:grpSpPr>
          <a:xfrm>
            <a:off x="6248400" y="4913948"/>
            <a:ext cx="5410200" cy="756285"/>
            <a:chOff x="6248400" y="4913948"/>
            <a:chExt cx="5410200" cy="756285"/>
          </a:xfrm>
        </p:grpSpPr>
        <p:sp>
          <p:nvSpPr>
            <p:cNvPr id="91" name="Rectangle 91"/>
            <p:cNvSpPr/>
            <p:nvPr/>
          </p:nvSpPr>
          <p:spPr>
            <a:xfrm>
              <a:off x="6248400" y="491394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6453188" y="5192080"/>
              <a:ext cx="200023" cy="200023"/>
              <a:chOff x="6453188" y="5192080"/>
              <a:chExt cx="200023" cy="200023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453188" y="51920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586538" y="52587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6755511" y="5061109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最优树的边为 BD、CD、DE、AE，权值 8 + 9 + 10 + 20 =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47。</a:t>
              </a:r>
            </a:p>
          </p:txBody>
        </p:sp>
      </p:grpSp>
      <p:grpSp>
        <p:nvGrpSpPr>
          <p:cNvPr id="10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97" name="Rectangle 9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1040511" y="6011704"/>
              <a:ext cx="5825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题目要求给出权值，答案要写出 47；只画出树、不写权值不算答完。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1789" cy="909257"/>
            <a:chOff x="520446" y="342900"/>
            <a:chExt cx="80517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17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作业8-1：7 个点 16 条边的图不一定是 Hamilton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9202" y="1768792"/>
              <a:ext cx="32584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不一定；至少 17 条边才一定是 H 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个点、边数最多的非 H 图有 ½ × 6 × 5 + 1 = 16 条边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（右图 C₁,₇），所以 16 条边不够，17 条才够。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049905"/>
            <a:ext cx="5410200" cy="2590800"/>
            <a:chOff x="533400" y="3049905"/>
            <a:chExt cx="5410200" cy="2590800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410200" cy="2590800"/>
            </a:xfrm>
            <a:prstGeom prst="roundRect">
              <a:avLst>
                <a:gd name="adj" fmla="val 5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23241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2951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636645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个点、边数最多的非 H 图有 ½(n−1)(n−2) + 1 条边，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C₁,ₙ 就是这样的图。因此 n ≥ 3 时，边数满足下式的简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单图一定是 H 图：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7"/>
                <p:cNvSpPr txBox="1">
                  <a:spLocks noGrp="1"/>
                </p:cNvSpPr>
                <p:nvPr/>
              </p:nvSpPr>
              <p:spPr>
                <a:xfrm>
                  <a:off x="781050" y="4518660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c2-graph-1"/>
          <p:cNvGrpSpPr/>
          <p:nvPr/>
        </p:nvGrpSpPr>
        <p:grpSpPr>
          <a:xfrm>
            <a:off x="6434545" y="1695450"/>
            <a:ext cx="4987835" cy="2674620"/>
            <a:chOff x="6434545" y="1695450"/>
            <a:chExt cx="4987835" cy="2674620"/>
          </a:xfrm>
        </p:grpSpPr>
        <p:sp>
          <p:nvSpPr>
            <p:cNvPr id="21" name="Freeform 21"/>
            <p:cNvSpPr/>
            <p:nvPr/>
          </p:nvSpPr>
          <p:spPr>
            <a:xfrm>
              <a:off x="6779895" y="3095625"/>
              <a:ext cx="939165" cy="9525"/>
            </a:xfrm>
            <a:custGeom>
              <a:avLst/>
              <a:gdLst/>
              <a:ahLst/>
              <a:cxnLst/>
              <a:rect l="l" t="t" r="r" b="b"/>
              <a:pathLst>
                <a:path w="939165" h="9525">
                  <a:moveTo>
                    <a:pt x="0" y="0"/>
                  </a:moveTo>
                  <a:lnTo>
                    <a:pt x="939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04810" y="1911668"/>
              <a:ext cx="2005965" cy="1110615"/>
            </a:xfrm>
            <a:custGeom>
              <a:avLst/>
              <a:gdLst/>
              <a:ahLst/>
              <a:cxnLst/>
              <a:rect l="l" t="t" r="r" b="b"/>
              <a:pathLst>
                <a:path w="2005965" h="1110615">
                  <a:moveTo>
                    <a:pt x="0" y="1110615"/>
                  </a:moveTo>
                  <a:lnTo>
                    <a:pt x="20059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022908" y="2735580"/>
              <a:ext cx="3105150" cy="342900"/>
            </a:xfrm>
            <a:custGeom>
              <a:avLst/>
              <a:gdLst/>
              <a:ahLst/>
              <a:cxnLst/>
              <a:rect l="l" t="t" r="r" b="b"/>
              <a:pathLst>
                <a:path w="3105150" h="342900">
                  <a:moveTo>
                    <a:pt x="0" y="342900"/>
                  </a:moveTo>
                  <a:lnTo>
                    <a:pt x="31051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014335" y="3149918"/>
              <a:ext cx="2689860" cy="1022985"/>
            </a:xfrm>
            <a:custGeom>
              <a:avLst/>
              <a:gdLst/>
              <a:ahLst/>
              <a:cxnLst/>
              <a:rect l="l" t="t" r="r" b="b"/>
              <a:pathLst>
                <a:path w="2689860" h="1022985">
                  <a:moveTo>
                    <a:pt x="0" y="0"/>
                  </a:moveTo>
                  <a:lnTo>
                    <a:pt x="2689860" y="10229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995285" y="3185160"/>
              <a:ext cx="1321118" cy="952500"/>
            </a:xfrm>
            <a:custGeom>
              <a:avLst/>
              <a:gdLst/>
              <a:ahLst/>
              <a:cxnLst/>
              <a:rect l="l" t="t" r="r" b="b"/>
              <a:pathLst>
                <a:path w="1321118" h="952500">
                  <a:moveTo>
                    <a:pt x="0" y="0"/>
                  </a:moveTo>
                  <a:lnTo>
                    <a:pt x="1321118" y="9525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016240" y="2766060"/>
              <a:ext cx="846772" cy="281940"/>
            </a:xfrm>
            <a:custGeom>
              <a:avLst/>
              <a:gdLst/>
              <a:ahLst/>
              <a:cxnLst/>
              <a:rect l="l" t="t" r="r" b="b"/>
              <a:pathLst>
                <a:path w="846772" h="281940">
                  <a:moveTo>
                    <a:pt x="0" y="281940"/>
                  </a:moveTo>
                  <a:lnTo>
                    <a:pt x="8467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264140" y="1931670"/>
              <a:ext cx="895350" cy="693420"/>
            </a:xfrm>
            <a:custGeom>
              <a:avLst/>
              <a:gdLst/>
              <a:ahLst/>
              <a:cxnLst/>
              <a:rect l="l" t="t" r="r" b="b"/>
              <a:pathLst>
                <a:path w="895350" h="693420">
                  <a:moveTo>
                    <a:pt x="0" y="0"/>
                  </a:moveTo>
                  <a:lnTo>
                    <a:pt x="895350" y="693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186988" y="1984058"/>
              <a:ext cx="617220" cy="2097405"/>
            </a:xfrm>
            <a:custGeom>
              <a:avLst/>
              <a:gdLst/>
              <a:ahLst/>
              <a:cxnLst/>
              <a:rect l="l" t="t" r="r" b="b"/>
              <a:pathLst>
                <a:path w="617220" h="2097405">
                  <a:moveTo>
                    <a:pt x="0" y="0"/>
                  </a:moveTo>
                  <a:lnTo>
                    <a:pt x="617220" y="20974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483090" y="1984058"/>
              <a:ext cx="617220" cy="2097405"/>
            </a:xfrm>
            <a:custGeom>
              <a:avLst/>
              <a:gdLst/>
              <a:ahLst/>
              <a:cxnLst/>
              <a:rect l="l" t="t" r="r" b="b"/>
              <a:pathLst>
                <a:path w="617220" h="2097405">
                  <a:moveTo>
                    <a:pt x="617220" y="0"/>
                  </a:moveTo>
                  <a:lnTo>
                    <a:pt x="0" y="20974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27808" y="1931670"/>
              <a:ext cx="895350" cy="693420"/>
            </a:xfrm>
            <a:custGeom>
              <a:avLst/>
              <a:gdLst/>
              <a:ahLst/>
              <a:cxnLst/>
              <a:rect l="l" t="t" r="r" b="b"/>
              <a:pathLst>
                <a:path w="895350" h="693420">
                  <a:moveTo>
                    <a:pt x="895350" y="0"/>
                  </a:moveTo>
                  <a:lnTo>
                    <a:pt x="0" y="693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888980" y="2865120"/>
              <a:ext cx="348615" cy="1215390"/>
            </a:xfrm>
            <a:custGeom>
              <a:avLst/>
              <a:gdLst/>
              <a:ahLst/>
              <a:cxnLst/>
              <a:rect l="l" t="t" r="r" b="b"/>
              <a:pathLst>
                <a:path w="348615" h="1215390">
                  <a:moveTo>
                    <a:pt x="348615" y="0"/>
                  </a:moveTo>
                  <a:lnTo>
                    <a:pt x="0" y="1215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558338" y="2814638"/>
              <a:ext cx="1604010" cy="1316355"/>
            </a:xfrm>
            <a:custGeom>
              <a:avLst/>
              <a:gdLst/>
              <a:ahLst/>
              <a:cxnLst/>
              <a:rect l="l" t="t" r="r" b="b"/>
              <a:pathLst>
                <a:path w="1604010" h="1316355">
                  <a:moveTo>
                    <a:pt x="1604010" y="0"/>
                  </a:moveTo>
                  <a:lnTo>
                    <a:pt x="0" y="13163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160192" y="2718435"/>
              <a:ext cx="1966912" cy="9525"/>
            </a:xfrm>
            <a:custGeom>
              <a:avLst/>
              <a:gdLst/>
              <a:ahLst/>
              <a:cxnLst/>
              <a:rect l="l" t="t" r="r" b="b"/>
              <a:pathLst>
                <a:path w="1966912" h="9525">
                  <a:moveTo>
                    <a:pt x="196691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592628" y="4227195"/>
              <a:ext cx="1102042" cy="9525"/>
            </a:xfrm>
            <a:custGeom>
              <a:avLst/>
              <a:gdLst/>
              <a:ahLst/>
              <a:cxnLst/>
              <a:rect l="l" t="t" r="r" b="b"/>
              <a:pathLst>
                <a:path w="1102042" h="9525">
                  <a:moveTo>
                    <a:pt x="110204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125902" y="2814638"/>
              <a:ext cx="1603058" cy="1316355"/>
            </a:xfrm>
            <a:custGeom>
              <a:avLst/>
              <a:gdLst/>
              <a:ahLst/>
              <a:cxnLst/>
              <a:rect l="l" t="t" r="r" b="b"/>
              <a:pathLst>
                <a:path w="1603058" h="1316355">
                  <a:moveTo>
                    <a:pt x="1603058" y="13163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49702" y="2865120"/>
              <a:ext cx="348615" cy="1215390"/>
            </a:xfrm>
            <a:custGeom>
              <a:avLst/>
              <a:gdLst/>
              <a:ahLst/>
              <a:cxnLst/>
              <a:rect l="l" t="t" r="r" b="b"/>
              <a:pathLst>
                <a:path w="348615" h="1215390">
                  <a:moveTo>
                    <a:pt x="348615" y="12153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484620" y="2952750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728585" y="29527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001250" y="16954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36630" y="257556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704195" y="408432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297352" y="408432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864918" y="257556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4753" y="30213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4545" y="3276124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度为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18718" y="30213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248400" y="4857750"/>
            <a:ext cx="5410200" cy="782955"/>
            <a:chOff x="6248400" y="4857750"/>
            <a:chExt cx="5410200" cy="782955"/>
          </a:xfrm>
        </p:grpSpPr>
        <p:sp>
          <p:nvSpPr>
            <p:cNvPr id="48" name="Rectangle 48"/>
            <p:cNvSpPr/>
            <p:nvPr/>
          </p:nvSpPr>
          <p:spPr>
            <a:xfrm>
              <a:off x="6248400" y="48577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5149215"/>
              <a:ext cx="200026" cy="200026"/>
              <a:chOff x="6453188" y="514921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149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53200" y="5215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42088" y="5249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5006340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C₁,₇：u 只连 v，v 与 K₅ 的 5 个点全相连，共 1 + 5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+ 10 = 16 条边。u 的度为 1，不可能在回路上。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94965" cy="909257"/>
            <a:chOff x="520446" y="342900"/>
            <a:chExt cx="102949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949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作业8-3：C₂,₈ 的不减度序列为 (2,2,5,5,5,5,7,7)，不是 H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777785" y="2101215"/>
            <a:ext cx="4917212" cy="3330512"/>
            <a:chOff x="777785" y="2101215"/>
            <a:chExt cx="4917212" cy="3330512"/>
          </a:xfrm>
        </p:grpSpPr>
        <p:sp>
          <p:nvSpPr>
            <p:cNvPr id="7" name="Freeform 7"/>
            <p:cNvSpPr/>
            <p:nvPr/>
          </p:nvSpPr>
          <p:spPr>
            <a:xfrm>
              <a:off x="1048702" y="2417445"/>
              <a:ext cx="1295400" cy="259080"/>
            </a:xfrm>
            <a:custGeom>
              <a:avLst/>
              <a:gdLst/>
              <a:ahLst/>
              <a:cxnLst/>
              <a:rect l="l" t="t" r="r" b="b"/>
              <a:pathLst>
                <a:path w="1295400" h="259080">
                  <a:moveTo>
                    <a:pt x="0" y="0"/>
                  </a:moveTo>
                  <a:lnTo>
                    <a:pt x="1295400" y="2590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01078" y="2496502"/>
              <a:ext cx="1390650" cy="1674495"/>
            </a:xfrm>
            <a:custGeom>
              <a:avLst/>
              <a:gdLst/>
              <a:ahLst/>
              <a:cxnLst/>
              <a:rect l="l" t="t" r="r" b="b"/>
              <a:pathLst>
                <a:path w="1390650" h="1674495">
                  <a:moveTo>
                    <a:pt x="0" y="0"/>
                  </a:moveTo>
                  <a:lnTo>
                    <a:pt x="1390650" y="16744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01078" y="2811780"/>
              <a:ext cx="1390650" cy="1673542"/>
            </a:xfrm>
            <a:custGeom>
              <a:avLst/>
              <a:gdLst/>
              <a:ahLst/>
              <a:cxnLst/>
              <a:rect l="l" t="t" r="r" b="b"/>
              <a:pathLst>
                <a:path w="1390650" h="1673542">
                  <a:moveTo>
                    <a:pt x="0" y="1673542"/>
                  </a:moveTo>
                  <a:lnTo>
                    <a:pt x="13906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48702" y="4305300"/>
              <a:ext cx="1295400" cy="260033"/>
            </a:xfrm>
            <a:custGeom>
              <a:avLst/>
              <a:gdLst/>
              <a:ahLst/>
              <a:cxnLst/>
              <a:rect l="l" t="t" r="r" b="b"/>
              <a:pathLst>
                <a:path w="1295400" h="260033">
                  <a:moveTo>
                    <a:pt x="0" y="260033"/>
                  </a:moveTo>
                  <a:lnTo>
                    <a:pt x="12954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81262" y="2844165"/>
              <a:ext cx="9525" cy="1294447"/>
            </a:xfrm>
            <a:custGeom>
              <a:avLst/>
              <a:gdLst/>
              <a:ahLst/>
              <a:cxnLst/>
              <a:rect l="l" t="t" r="r" b="b"/>
              <a:pathLst>
                <a:path w="9525" h="1294447">
                  <a:moveTo>
                    <a:pt x="0" y="0"/>
                  </a:moveTo>
                  <a:lnTo>
                    <a:pt x="0" y="12944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14612" y="2270760"/>
              <a:ext cx="1355408" cy="394335"/>
            </a:xfrm>
            <a:custGeom>
              <a:avLst/>
              <a:gdLst/>
              <a:ahLst/>
              <a:cxnLst/>
              <a:rect l="l" t="t" r="r" b="b"/>
              <a:pathLst>
                <a:path w="1355408" h="394335">
                  <a:moveTo>
                    <a:pt x="0" y="394335"/>
                  </a:moveTo>
                  <a:lnTo>
                    <a:pt x="13554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19375" y="2253615"/>
              <a:ext cx="2807970" cy="429577"/>
            </a:xfrm>
            <a:custGeom>
              <a:avLst/>
              <a:gdLst/>
              <a:ahLst/>
              <a:cxnLst/>
              <a:rect l="l" t="t" r="r" b="b"/>
              <a:pathLst>
                <a:path w="2807970" h="429577">
                  <a:moveTo>
                    <a:pt x="0" y="429577"/>
                  </a:moveTo>
                  <a:lnTo>
                    <a:pt x="28079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67940" y="2813685"/>
              <a:ext cx="1449705" cy="1826895"/>
            </a:xfrm>
            <a:custGeom>
              <a:avLst/>
              <a:gdLst/>
              <a:ahLst/>
              <a:cxnLst/>
              <a:rect l="l" t="t" r="r" b="b"/>
              <a:pathLst>
                <a:path w="1449705" h="1826895">
                  <a:moveTo>
                    <a:pt x="0" y="0"/>
                  </a:moveTo>
                  <a:lnTo>
                    <a:pt x="1449705" y="18268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97468" y="2781300"/>
              <a:ext cx="2850832" cy="1891665"/>
            </a:xfrm>
            <a:custGeom>
              <a:avLst/>
              <a:gdLst/>
              <a:ahLst/>
              <a:cxnLst/>
              <a:rect l="l" t="t" r="r" b="b"/>
              <a:pathLst>
                <a:path w="2850832" h="1891665">
                  <a:moveTo>
                    <a:pt x="0" y="0"/>
                  </a:moveTo>
                  <a:lnTo>
                    <a:pt x="2850832" y="1891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67940" y="2341245"/>
              <a:ext cx="1449705" cy="1827847"/>
            </a:xfrm>
            <a:custGeom>
              <a:avLst/>
              <a:gdLst/>
              <a:ahLst/>
              <a:cxnLst/>
              <a:rect l="l" t="t" r="r" b="b"/>
              <a:pathLst>
                <a:path w="1449705" h="1827847">
                  <a:moveTo>
                    <a:pt x="0" y="1827847"/>
                  </a:moveTo>
                  <a:lnTo>
                    <a:pt x="14497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597468" y="2308860"/>
              <a:ext cx="2850832" cy="1891665"/>
            </a:xfrm>
            <a:custGeom>
              <a:avLst/>
              <a:gdLst/>
              <a:ahLst/>
              <a:cxnLst/>
              <a:rect l="l" t="t" r="r" b="b"/>
              <a:pathLst>
                <a:path w="2850832" h="1891665">
                  <a:moveTo>
                    <a:pt x="0" y="1891665"/>
                  </a:moveTo>
                  <a:lnTo>
                    <a:pt x="28508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14612" y="4316730"/>
              <a:ext cx="1355408" cy="394335"/>
            </a:xfrm>
            <a:custGeom>
              <a:avLst/>
              <a:gdLst/>
              <a:ahLst/>
              <a:cxnLst/>
              <a:rect l="l" t="t" r="r" b="b"/>
              <a:pathLst>
                <a:path w="1355408" h="394335">
                  <a:moveTo>
                    <a:pt x="0" y="0"/>
                  </a:moveTo>
                  <a:lnTo>
                    <a:pt x="1355408" y="3943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619375" y="4298632"/>
              <a:ext cx="2807970" cy="430530"/>
            </a:xfrm>
            <a:custGeom>
              <a:avLst/>
              <a:gdLst/>
              <a:ahLst/>
              <a:cxnLst/>
              <a:rect l="l" t="t" r="r" b="b"/>
              <a:pathLst>
                <a:path w="2807970" h="430530">
                  <a:moveTo>
                    <a:pt x="0" y="0"/>
                  </a:moveTo>
                  <a:lnTo>
                    <a:pt x="2807970" y="4305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43388" y="2231708"/>
              <a:ext cx="1182053" cy="9525"/>
            </a:xfrm>
            <a:custGeom>
              <a:avLst/>
              <a:gdLst/>
              <a:ahLst/>
              <a:cxnLst/>
              <a:rect l="l" t="t" r="r" b="b"/>
              <a:pathLst>
                <a:path w="1182053" h="9525">
                  <a:moveTo>
                    <a:pt x="0" y="0"/>
                  </a:moveTo>
                  <a:lnTo>
                    <a:pt x="11820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04322" y="237172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173855" y="2352675"/>
              <a:ext cx="1321118" cy="2276475"/>
            </a:xfrm>
            <a:custGeom>
              <a:avLst/>
              <a:gdLst/>
              <a:ahLst/>
              <a:cxnLst/>
              <a:rect l="l" t="t" r="r" b="b"/>
              <a:pathLst>
                <a:path w="1321118" h="2276475">
                  <a:moveTo>
                    <a:pt x="0" y="0"/>
                  </a:moveTo>
                  <a:lnTo>
                    <a:pt x="1321118" y="2276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173855" y="2352675"/>
              <a:ext cx="1321118" cy="2276475"/>
            </a:xfrm>
            <a:custGeom>
              <a:avLst/>
              <a:gdLst/>
              <a:ahLst/>
              <a:cxnLst/>
              <a:rect l="l" t="t" r="r" b="b"/>
              <a:pathLst>
                <a:path w="1321118" h="2276475">
                  <a:moveTo>
                    <a:pt x="1321118" y="0"/>
                  </a:moveTo>
                  <a:lnTo>
                    <a:pt x="0" y="2276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64505" y="237172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243388" y="4750118"/>
              <a:ext cx="1182053" cy="9525"/>
            </a:xfrm>
            <a:custGeom>
              <a:avLst/>
              <a:gdLst/>
              <a:ahLst/>
              <a:cxnLst/>
              <a:rect l="l" t="t" r="r" b="b"/>
              <a:pathLst>
                <a:path w="1182053" h="9525">
                  <a:moveTo>
                    <a:pt x="0" y="0"/>
                  </a:moveTo>
                  <a:lnTo>
                    <a:pt x="11820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82002" y="2259330"/>
              <a:ext cx="260985" cy="26098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82002" y="4462462"/>
              <a:ext cx="260985" cy="26098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350770" y="2573655"/>
              <a:ext cx="260985" cy="26098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350770" y="4147185"/>
              <a:ext cx="260985" cy="26098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973830" y="2101215"/>
              <a:ext cx="260985" cy="26098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434012" y="2101215"/>
              <a:ext cx="260985" cy="26098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973830" y="4619625"/>
              <a:ext cx="260985" cy="26098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434012" y="4619625"/>
              <a:ext cx="260985" cy="26098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7785" y="522636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K₂ᶜ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9678" y="52263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69975" y="52263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K₄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5633085"/>
            <a:ext cx="5410200" cy="729615"/>
            <a:chOff x="533400" y="5633085"/>
            <a:chExt cx="5410200" cy="729615"/>
          </a:xfrm>
        </p:grpSpPr>
        <p:sp>
          <p:nvSpPr>
            <p:cNvPr id="38" name="Rectangle 38"/>
            <p:cNvSpPr/>
            <p:nvPr/>
          </p:nvSpPr>
          <p:spPr>
            <a:xfrm>
              <a:off x="533400" y="563308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577977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常见扣分：不写度序列、度序列写错、度序列外面没加小括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号。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248400" y="1524000"/>
            <a:ext cx="5410200" cy="1483995"/>
            <a:chOff x="6248400" y="1524000"/>
            <a:chExt cx="5410200" cy="1483995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3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连接图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95947" y="1756410"/>
              <a:ext cx="1822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Cₘ,ₙ（1 ≤ m &lt; n/2）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2090738"/>
              <a:ext cx="46171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个点分三组：m 个互不相邻的点 Kₘᶜ、完全图 Kₘ、完全图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Kₙ₋₂ₘ。Kₘᶜ 的每个点连 Kₘ 的每个点，Kₘ 的每个点连 Kₙ₋₂ₘ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的每个点。</a:t>
              </a:r>
            </a:p>
          </p:txBody>
        </p:sp>
      </p:grpSp>
      <p:grpSp>
        <p:nvGrpSpPr>
          <p:cNvPr id="71" name="c2-table-2"/>
          <p:cNvGrpSpPr/>
          <p:nvPr/>
        </p:nvGrpSpPr>
        <p:grpSpPr>
          <a:xfrm>
            <a:off x="6248400" y="3183255"/>
            <a:ext cx="5410200" cy="1623060"/>
            <a:chOff x="6248400" y="3183255"/>
            <a:chExt cx="5410200" cy="1623060"/>
          </a:xfrm>
        </p:grpSpPr>
        <p:sp>
          <p:nvSpPr>
            <p:cNvPr id="52" name="Rectangle 52"/>
            <p:cNvSpPr/>
            <p:nvPr/>
          </p:nvSpPr>
          <p:spPr>
            <a:xfrm>
              <a:off x="6248400" y="3183255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76910" y="3307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39798" y="3307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84511" y="3307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每点的度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14296" y="371332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49110" y="3713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24962" y="3713321"/>
              <a:ext cx="144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2（连 K₂ 的 2 个点）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990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994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60297" y="41190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49110" y="4119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24962" y="411908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+ 2 = 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395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60297" y="45248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49110" y="4524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24962" y="4524851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+ 4 = 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18325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662862" y="31832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120188" y="31832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3"/>
          <p:cNvGrpSpPr/>
          <p:nvPr/>
        </p:nvGrpSpPr>
        <p:grpSpPr>
          <a:xfrm>
            <a:off x="6248400" y="4981575"/>
            <a:ext cx="5410200" cy="1209675"/>
            <a:chOff x="6248400" y="4981575"/>
            <a:chExt cx="5410200" cy="1209675"/>
          </a:xfrm>
        </p:grpSpPr>
        <p:sp>
          <p:nvSpPr>
            <p:cNvPr id="72" name="Rectangle 72"/>
            <p:cNvSpPr/>
            <p:nvPr/>
          </p:nvSpPr>
          <p:spPr>
            <a:xfrm>
              <a:off x="6248400" y="4981575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57925" y="511492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78905" y="5173980"/>
              <a:ext cx="213074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16154" y="5208270"/>
              <a:ext cx="2057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为什么不是 H 图（引理 4.4.3）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72047" y="5530215"/>
              <a:ext cx="46857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K₂ 的 2 个点，剩下 3 个连通分支（2 个孤立点和 K₄）。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图删去任意 k 个点后，连通分支数不超过 k。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6419" cy="909257"/>
            <a:chOff x="520446" y="342900"/>
            <a:chExt cx="6456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6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作业8-2：这个有向图不平衡，不是欧拉图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graph-1"/>
          <p:cNvGrpSpPr/>
          <p:nvPr/>
        </p:nvGrpSpPr>
        <p:grpSpPr>
          <a:xfrm>
            <a:off x="828675" y="1836420"/>
            <a:ext cx="4819650" cy="3870579"/>
            <a:chOff x="828675" y="1836420"/>
            <a:chExt cx="4819650" cy="3870579"/>
          </a:xfrm>
        </p:grpSpPr>
        <p:sp>
          <p:nvSpPr>
            <p:cNvPr id="7" name="Freeform 7"/>
            <p:cNvSpPr/>
            <p:nvPr/>
          </p:nvSpPr>
          <p:spPr>
            <a:xfrm>
              <a:off x="1208722" y="1973580"/>
              <a:ext cx="1883093" cy="9525"/>
            </a:xfrm>
            <a:custGeom>
              <a:avLst/>
              <a:gdLst/>
              <a:ahLst/>
              <a:cxnLst/>
              <a:rect l="l" t="t" r="r" b="b"/>
              <a:pathLst>
                <a:path w="1883093" h="9525">
                  <a:moveTo>
                    <a:pt x="188309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13472" y="19259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85185" y="1973580"/>
              <a:ext cx="1883093" cy="9525"/>
            </a:xfrm>
            <a:custGeom>
              <a:avLst/>
              <a:gdLst/>
              <a:ahLst/>
              <a:cxnLst/>
              <a:rect l="l" t="t" r="r" b="b"/>
              <a:pathLst>
                <a:path w="1883093" h="9525">
                  <a:moveTo>
                    <a:pt x="0" y="0"/>
                  </a:moveTo>
                  <a:lnTo>
                    <a:pt x="18830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68278" y="19259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68040" y="2097405"/>
              <a:ext cx="2064067" cy="3265170"/>
            </a:xfrm>
            <a:custGeom>
              <a:avLst/>
              <a:gdLst/>
              <a:ahLst/>
              <a:cxnLst/>
              <a:rect l="l" t="t" r="r" b="b"/>
              <a:pathLst>
                <a:path w="2064067" h="3265170">
                  <a:moveTo>
                    <a:pt x="2064067" y="0"/>
                  </a:moveTo>
                  <a:lnTo>
                    <a:pt x="0" y="3265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17558" y="5336858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0" y="105728"/>
                  </a:moveTo>
                  <a:lnTo>
                    <a:pt x="10477" y="0"/>
                  </a:lnTo>
                  <a:lnTo>
                    <a:pt x="90488" y="514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13472" y="5567362"/>
              <a:ext cx="1883093" cy="9525"/>
            </a:xfrm>
            <a:custGeom>
              <a:avLst/>
              <a:gdLst/>
              <a:ahLst/>
              <a:cxnLst/>
              <a:rect l="l" t="t" r="r" b="b"/>
              <a:pathLst>
                <a:path w="1883093" h="9525">
                  <a:moveTo>
                    <a:pt x="0" y="0"/>
                  </a:moveTo>
                  <a:lnTo>
                    <a:pt x="18830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96565" y="55197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65835" y="2120265"/>
              <a:ext cx="9525" cy="3204210"/>
            </a:xfrm>
            <a:custGeom>
              <a:avLst/>
              <a:gdLst/>
              <a:ahLst/>
              <a:cxnLst/>
              <a:rect l="l" t="t" r="r" b="b"/>
              <a:pathLst>
                <a:path w="9525" h="3204210">
                  <a:moveTo>
                    <a:pt x="0" y="0"/>
                  </a:moveTo>
                  <a:lnTo>
                    <a:pt x="0" y="32042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18210" y="5324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95375" y="2097405"/>
              <a:ext cx="2064068" cy="3265170"/>
            </a:xfrm>
            <a:custGeom>
              <a:avLst/>
              <a:gdLst/>
              <a:ahLst/>
              <a:cxnLst/>
              <a:rect l="l" t="t" r="r" b="b"/>
              <a:pathLst>
                <a:path w="2064068" h="3265170">
                  <a:moveTo>
                    <a:pt x="2064068" y="0"/>
                  </a:moveTo>
                  <a:lnTo>
                    <a:pt x="0" y="3265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44892" y="5336858"/>
              <a:ext cx="91440" cy="105728"/>
            </a:xfrm>
            <a:custGeom>
              <a:avLst/>
              <a:gdLst/>
              <a:ahLst/>
              <a:cxnLst/>
              <a:rect l="l" t="t" r="r" b="b"/>
              <a:pathLst>
                <a:path w="91440" h="105728">
                  <a:moveTo>
                    <a:pt x="0" y="105728"/>
                  </a:moveTo>
                  <a:lnTo>
                    <a:pt x="10477" y="0"/>
                  </a:lnTo>
                  <a:lnTo>
                    <a:pt x="91440" y="514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38500" y="2120265"/>
              <a:ext cx="9525" cy="3204210"/>
            </a:xfrm>
            <a:custGeom>
              <a:avLst/>
              <a:gdLst/>
              <a:ahLst/>
              <a:cxnLst/>
              <a:rect l="l" t="t" r="r" b="b"/>
              <a:pathLst>
                <a:path w="9525" h="3204210">
                  <a:moveTo>
                    <a:pt x="0" y="0"/>
                  </a:moveTo>
                  <a:lnTo>
                    <a:pt x="0" y="32042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90875" y="5324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278505" y="2206942"/>
              <a:ext cx="317183" cy="3218498"/>
            </a:xfrm>
            <a:custGeom>
              <a:avLst/>
              <a:gdLst/>
              <a:ahLst/>
              <a:cxnLst/>
              <a:rect l="l" t="t" r="r" b="b"/>
              <a:pathLst>
                <a:path w="317183" h="3218498">
                  <a:moveTo>
                    <a:pt x="0" y="3218498"/>
                  </a:moveTo>
                  <a:cubicBezTo>
                    <a:pt x="308610" y="2114868"/>
                    <a:pt x="317183" y="1042035"/>
                    <a:pt x="25717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257550" y="2114550"/>
              <a:ext cx="92392" cy="104775"/>
            </a:xfrm>
            <a:custGeom>
              <a:avLst/>
              <a:gdLst/>
              <a:ahLst/>
              <a:cxnLst/>
              <a:rect l="l" t="t" r="r" b="b"/>
              <a:pathLst>
                <a:path w="92392" h="104775">
                  <a:moveTo>
                    <a:pt x="20955" y="0"/>
                  </a:moveTo>
                  <a:lnTo>
                    <a:pt x="92392" y="79058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348038" y="2205038"/>
              <a:ext cx="2093595" cy="3263265"/>
            </a:xfrm>
            <a:custGeom>
              <a:avLst/>
              <a:gdLst/>
              <a:ahLst/>
              <a:cxnLst/>
              <a:rect l="l" t="t" r="r" b="b"/>
              <a:pathLst>
                <a:path w="2093595" h="3263265">
                  <a:moveTo>
                    <a:pt x="0" y="3263265"/>
                  </a:moveTo>
                  <a:cubicBezTo>
                    <a:pt x="1019810" y="2343150"/>
                    <a:pt x="1717675" y="1255395"/>
                    <a:pt x="209359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395912" y="2114550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2390" y="0"/>
                  </a:moveTo>
                  <a:lnTo>
                    <a:pt x="91440" y="104775"/>
                  </a:lnTo>
                  <a:lnTo>
                    <a:pt x="0" y="771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28675" y="1836420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101340" y="1836420"/>
              <a:ext cx="274320" cy="27432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374005" y="1836420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28675" y="543020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101340" y="543020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8871" y="19078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51536" y="19078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24201" y="19078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8871" y="5501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51536" y="5501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95488" y="1880235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024654" y="191500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68152" y="1880235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97319" y="191500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268152" y="367760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97319" y="37123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e₃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95488" y="5474018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24654" y="550878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60108" y="367760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8322" y="37123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e₅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995488" y="367760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24654" y="37123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131820" y="367760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60987" y="37123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e₇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03282" y="367760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32449" y="37123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36758" y="3847148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65924" y="38819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e₉</a:t>
              </a:r>
            </a:p>
          </p:txBody>
        </p:sp>
      </p:grpSp>
      <p:grpSp>
        <p:nvGrpSpPr>
          <p:cNvPr id="55" name="c1-text-2"/>
          <p:cNvGrpSpPr/>
          <p:nvPr/>
        </p:nvGrpSpPr>
        <p:grpSpPr>
          <a:xfrm>
            <a:off x="528066" y="6198870"/>
            <a:ext cx="4321874" cy="205359"/>
            <a:chOff x="528066" y="6198870"/>
            <a:chExt cx="4321874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6198870"/>
              <a:ext cx="43218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原图没有给点命名，这里按位置记为 v₁～v₅，弧的方向与原图一致。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6248400" y="1524000"/>
            <a:ext cx="5410200" cy="2287905"/>
            <a:chOff x="6248400" y="1524000"/>
            <a:chExt cx="5410200" cy="2287905"/>
          </a:xfrm>
        </p:grpSpPr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6756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600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4118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2135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95801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6253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4365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92028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95801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6253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4365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92028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95801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6253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4365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892028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95801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6253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54365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892028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95801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62534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54365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892028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751141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89254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2727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c2-card-2"/>
          <p:cNvGrpSpPr/>
          <p:nvPr/>
        </p:nvGrpSpPr>
        <p:grpSpPr>
          <a:xfrm>
            <a:off x="6248400" y="3976688"/>
            <a:ext cx="5410200" cy="1428750"/>
            <a:chOff x="6248400" y="3976688"/>
            <a:chExt cx="5410200" cy="1428750"/>
          </a:xfrm>
        </p:grpSpPr>
        <p:sp>
          <p:nvSpPr>
            <p:cNvPr id="92" name="Rectangle 92"/>
            <p:cNvSpPr/>
            <p:nvPr/>
          </p:nvSpPr>
          <p:spPr>
            <a:xfrm>
              <a:off x="6248400" y="397668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257925" y="4110038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467475" y="41576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552044" y="41905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判定定理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6477000" y="45510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632448" y="449818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有向图有欧拉回路（是欧拉图）⇔ 连通，且每个点出度 = 入度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477000" y="48358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32448" y="478297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有不闭合的欧拉路 ⇔ 连通，且只有起点出度比入度多 1、终点入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度比出度多 1，其余点平衡</a:t>
              </a:r>
            </a:p>
          </p:txBody>
        </p:sp>
      </p:grpSp>
      <p:grpSp>
        <p:nvGrpSpPr>
          <p:cNvPr id="106" name="c2-callout-3"/>
          <p:cNvGrpSpPr/>
          <p:nvPr/>
        </p:nvGrpSpPr>
        <p:grpSpPr>
          <a:xfrm>
            <a:off x="6248400" y="5571172"/>
            <a:ext cx="5410200" cy="702945"/>
            <a:chOff x="6248400" y="5571172"/>
            <a:chExt cx="5410200" cy="702945"/>
          </a:xfrm>
        </p:grpSpPr>
        <p:sp>
          <p:nvSpPr>
            <p:cNvPr id="101" name="Rectangle 101"/>
            <p:cNvSpPr/>
            <p:nvPr/>
          </p:nvSpPr>
          <p:spPr>
            <a:xfrm>
              <a:off x="6248400" y="557117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453188" y="5822635"/>
              <a:ext cx="200023" cy="200023"/>
              <a:chOff x="6453188" y="5822635"/>
              <a:chExt cx="200023" cy="20002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6453188" y="58226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586538" y="58893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56273" y="5715476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答：不是，因为该图不平衡。v₂ 的出度比入度多 3，连不闭合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的欧拉路也没有。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34953" cy="909257"/>
            <a:chOff x="520446" y="342900"/>
            <a:chExt cx="41349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图论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349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三类不是 Hamilton 图的图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3505200" cy="1768792"/>
            <a:chOff x="533400" y="1524000"/>
            <a:chExt cx="3505200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2866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37" y="175641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① 连接图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5344" y="1756886"/>
              <a:ext cx="18578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Cₘ,ₙ（引理 4.4.3）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29179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Kₘ 的 m 个点后剩 m + 1 个连通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分支，违反 H 图的必要条件。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2686050"/>
              <a:ext cx="2724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31、32 页的 C₁,₇、C₂,₈ 都属于这一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72815"/>
            <a:ext cx="3505200" cy="2148840"/>
            <a:chOff x="533400" y="3472815"/>
            <a:chExt cx="3505200" cy="2148840"/>
          </a:xfrm>
        </p:grpSpPr>
        <p:sp>
          <p:nvSpPr>
            <p:cNvPr id="15" name="Rectangle 15"/>
            <p:cNvSpPr/>
            <p:nvPr/>
          </p:nvSpPr>
          <p:spPr>
            <a:xfrm>
              <a:off x="533400" y="3472815"/>
              <a:ext cx="3505200" cy="2148840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06165"/>
              <a:ext cx="47625" cy="18821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3670935"/>
              <a:ext cx="11287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7465" y="3705225"/>
              <a:ext cx="992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 图的必要条件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031456"/>
              <a:ext cx="29269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是 H 图，则对 G 的任一非空点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 S，从 G 中删去 S 后，连通分支数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|S|。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524" y="4889182"/>
              <a:ext cx="2930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回路删去 k 个点至多断成 k 段，所以这个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条件成立。</a:t>
              </a:r>
            </a:p>
          </p:txBody>
        </p:sp>
      </p:grpSp>
      <p:grpSp>
        <p:nvGrpSpPr>
          <p:cNvPr id="33" name="c2-graph-1"/>
          <p:cNvGrpSpPr/>
          <p:nvPr/>
        </p:nvGrpSpPr>
        <p:grpSpPr>
          <a:xfrm>
            <a:off x="4630102" y="1698308"/>
            <a:ext cx="2931795" cy="1710689"/>
            <a:chOff x="4630102" y="1698308"/>
            <a:chExt cx="2931795" cy="1710689"/>
          </a:xfrm>
        </p:grpSpPr>
        <p:sp>
          <p:nvSpPr>
            <p:cNvPr id="22" name="Freeform 22"/>
            <p:cNvSpPr/>
            <p:nvPr/>
          </p:nvSpPr>
          <p:spPr>
            <a:xfrm>
              <a:off x="4821555" y="1965008"/>
              <a:ext cx="515302" cy="1177290"/>
            </a:xfrm>
            <a:custGeom>
              <a:avLst/>
              <a:gdLst/>
              <a:ahLst/>
              <a:cxnLst/>
              <a:rect l="l" t="t" r="r" b="b"/>
              <a:pathLst>
                <a:path w="515302" h="1177290">
                  <a:moveTo>
                    <a:pt x="515302" y="0"/>
                  </a:moveTo>
                  <a:lnTo>
                    <a:pt x="0" y="1177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457825" y="1962150"/>
              <a:ext cx="575310" cy="1183005"/>
            </a:xfrm>
            <a:custGeom>
              <a:avLst/>
              <a:gdLst/>
              <a:ahLst/>
              <a:cxnLst/>
              <a:rect l="l" t="t" r="r" b="b"/>
              <a:pathLst>
                <a:path w="575310" h="1183005">
                  <a:moveTo>
                    <a:pt x="0" y="0"/>
                  </a:moveTo>
                  <a:lnTo>
                    <a:pt x="575310" y="1183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12118" y="1916430"/>
              <a:ext cx="1798320" cy="1274445"/>
            </a:xfrm>
            <a:custGeom>
              <a:avLst/>
              <a:gdLst/>
              <a:ahLst/>
              <a:cxnLst/>
              <a:rect l="l" t="t" r="r" b="b"/>
              <a:pathLst>
                <a:path w="1798320" h="1274445">
                  <a:moveTo>
                    <a:pt x="0" y="0"/>
                  </a:moveTo>
                  <a:lnTo>
                    <a:pt x="1798320" y="12744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881562" y="1916430"/>
              <a:ext cx="1798320" cy="1274445"/>
            </a:xfrm>
            <a:custGeom>
              <a:avLst/>
              <a:gdLst/>
              <a:ahLst/>
              <a:cxnLst/>
              <a:rect l="l" t="t" r="r" b="b"/>
              <a:pathLst>
                <a:path w="1798320" h="1274445">
                  <a:moveTo>
                    <a:pt x="1798320" y="0"/>
                  </a:moveTo>
                  <a:lnTo>
                    <a:pt x="0" y="12744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158865" y="1962150"/>
              <a:ext cx="575310" cy="1183005"/>
            </a:xfrm>
            <a:custGeom>
              <a:avLst/>
              <a:gdLst/>
              <a:ahLst/>
              <a:cxnLst/>
              <a:rect l="l" t="t" r="r" b="b"/>
              <a:pathLst>
                <a:path w="575310" h="1183005">
                  <a:moveTo>
                    <a:pt x="575310" y="0"/>
                  </a:moveTo>
                  <a:lnTo>
                    <a:pt x="0" y="1183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855142" y="1965008"/>
              <a:ext cx="515302" cy="1177290"/>
            </a:xfrm>
            <a:custGeom>
              <a:avLst/>
              <a:gdLst/>
              <a:ahLst/>
              <a:cxnLst/>
              <a:rect l="l" t="t" r="r" b="b"/>
              <a:pathLst>
                <a:path w="515302" h="1177290">
                  <a:moveTo>
                    <a:pt x="0" y="0"/>
                  </a:moveTo>
                  <a:lnTo>
                    <a:pt x="515302" y="1177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260658" y="1698308"/>
              <a:ext cx="268605" cy="2686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662738" y="1698308"/>
              <a:ext cx="268605" cy="2686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630102" y="3140392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961698" y="3140392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293292" y="3140392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</p:grpSp>
      <p:grpSp>
        <p:nvGrpSpPr>
          <p:cNvPr id="40" name="c2-card-2"/>
          <p:cNvGrpSpPr/>
          <p:nvPr/>
        </p:nvGrpSpPr>
        <p:grpSpPr>
          <a:xfrm>
            <a:off x="4343400" y="3763328"/>
            <a:ext cx="3505200" cy="1858328"/>
            <a:chOff x="4343400" y="3763328"/>
            <a:chExt cx="3505200" cy="1858328"/>
          </a:xfrm>
        </p:grpSpPr>
        <p:sp>
          <p:nvSpPr>
            <p:cNvPr id="34" name="Rectangle 34"/>
            <p:cNvSpPr/>
            <p:nvPr/>
          </p:nvSpPr>
          <p:spPr>
            <a:xfrm>
              <a:off x="4343400" y="3763328"/>
              <a:ext cx="3505200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52925" y="3896678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79620" y="3961448"/>
              <a:ext cx="89344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83180" y="3995738"/>
              <a:ext cx="686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② m ≠ n 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72381" y="4321969"/>
              <a:ext cx="30466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Kₘᶜ 与 Kₙᶜ 的连接（习题 4.4-1）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72381" y="4658201"/>
              <a:ext cx="29089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即完全二部图 Kₘ,ₙ（上图为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K₂,₃）。H 回路在两侧之间交替走，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两侧点数必须相等。</a:t>
              </a:r>
            </a:p>
          </p:txBody>
        </p:sp>
      </p:grpSp>
      <p:grpSp>
        <p:nvGrpSpPr>
          <p:cNvPr id="66" name="c3-graph-1"/>
          <p:cNvGrpSpPr/>
          <p:nvPr/>
        </p:nvGrpSpPr>
        <p:grpSpPr>
          <a:xfrm>
            <a:off x="8456295" y="1620202"/>
            <a:ext cx="2899410" cy="1764030"/>
            <a:chOff x="8456295" y="1620202"/>
            <a:chExt cx="2899410" cy="1764030"/>
          </a:xfrm>
        </p:grpSpPr>
        <p:sp>
          <p:nvSpPr>
            <p:cNvPr id="41" name="Freeform 41"/>
            <p:cNvSpPr/>
            <p:nvPr/>
          </p:nvSpPr>
          <p:spPr>
            <a:xfrm>
              <a:off x="9958388" y="1691640"/>
              <a:ext cx="1297305" cy="571500"/>
            </a:xfrm>
            <a:custGeom>
              <a:avLst/>
              <a:gdLst/>
              <a:ahLst/>
              <a:cxnLst/>
              <a:rect l="l" t="t" r="r" b="b"/>
              <a:pathLst>
                <a:path w="1297305" h="571500">
                  <a:moveTo>
                    <a:pt x="0" y="0"/>
                  </a:moveTo>
                  <a:lnTo>
                    <a:pt x="1297305" y="5715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808018" y="2337435"/>
              <a:ext cx="474345" cy="947737"/>
            </a:xfrm>
            <a:custGeom>
              <a:avLst/>
              <a:gdLst/>
              <a:ahLst/>
              <a:cxnLst/>
              <a:rect l="l" t="t" r="r" b="b"/>
              <a:pathLst>
                <a:path w="474345" h="947737">
                  <a:moveTo>
                    <a:pt x="474345" y="0"/>
                  </a:moveTo>
                  <a:lnTo>
                    <a:pt x="0" y="94773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086850" y="3336608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16383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529638" y="2337435"/>
              <a:ext cx="474345" cy="947737"/>
            </a:xfrm>
            <a:custGeom>
              <a:avLst/>
              <a:gdLst/>
              <a:ahLst/>
              <a:cxnLst/>
              <a:rect l="l" t="t" r="r" b="b"/>
              <a:pathLst>
                <a:path w="474345" h="947737">
                  <a:moveTo>
                    <a:pt x="474345" y="94773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556308" y="1691640"/>
              <a:ext cx="1297305" cy="571500"/>
            </a:xfrm>
            <a:custGeom>
              <a:avLst/>
              <a:gdLst/>
              <a:ahLst/>
              <a:cxnLst/>
              <a:rect l="l" t="t" r="r" b="b"/>
              <a:pathLst>
                <a:path w="1297305" h="571500">
                  <a:moveTo>
                    <a:pt x="0" y="571500"/>
                  </a:moveTo>
                  <a:lnTo>
                    <a:pt x="12973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906000" y="1724978"/>
              <a:ext cx="9525" cy="339090"/>
            </a:xfrm>
            <a:custGeom>
              <a:avLst/>
              <a:gdLst/>
              <a:ahLst/>
              <a:cxnLst/>
              <a:rect l="l" t="t" r="r" b="b"/>
              <a:pathLst>
                <a:path w="9525" h="339090">
                  <a:moveTo>
                    <a:pt x="0" y="0"/>
                  </a:moveTo>
                  <a:lnTo>
                    <a:pt x="0" y="3390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627995" y="2296478"/>
              <a:ext cx="623888" cy="122873"/>
            </a:xfrm>
            <a:custGeom>
              <a:avLst/>
              <a:gdLst/>
              <a:ahLst/>
              <a:cxnLst/>
              <a:rect l="l" t="t" r="r" b="b"/>
              <a:pathLst>
                <a:path w="623888" h="122873">
                  <a:moveTo>
                    <a:pt x="623888" y="0"/>
                  </a:moveTo>
                  <a:lnTo>
                    <a:pt x="0" y="1228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69868" y="2982278"/>
              <a:ext cx="368618" cy="316230"/>
            </a:xfrm>
            <a:custGeom>
              <a:avLst/>
              <a:gdLst/>
              <a:ahLst/>
              <a:cxnLst/>
              <a:rect l="l" t="t" r="r" b="b"/>
              <a:pathLst>
                <a:path w="368618" h="316230">
                  <a:moveTo>
                    <a:pt x="368618" y="3162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073515" y="2982278"/>
              <a:ext cx="368617" cy="316230"/>
            </a:xfrm>
            <a:custGeom>
              <a:avLst/>
              <a:gdLst/>
              <a:ahLst/>
              <a:cxnLst/>
              <a:rect l="l" t="t" r="r" b="b"/>
              <a:pathLst>
                <a:path w="368617" h="316230">
                  <a:moveTo>
                    <a:pt x="0" y="316230"/>
                  </a:moveTo>
                  <a:lnTo>
                    <a:pt x="3686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560118" y="2296478"/>
              <a:ext cx="623888" cy="122873"/>
            </a:xfrm>
            <a:custGeom>
              <a:avLst/>
              <a:gdLst/>
              <a:ahLst/>
              <a:cxnLst/>
              <a:rect l="l" t="t" r="r" b="b"/>
              <a:pathLst>
                <a:path w="623888" h="122873">
                  <a:moveTo>
                    <a:pt x="0" y="0"/>
                  </a:moveTo>
                  <a:lnTo>
                    <a:pt x="623888" y="1228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931718" y="2171700"/>
              <a:ext cx="368618" cy="721995"/>
            </a:xfrm>
            <a:custGeom>
              <a:avLst/>
              <a:gdLst/>
              <a:ahLst/>
              <a:cxnLst/>
              <a:rect l="l" t="t" r="r" b="b"/>
              <a:pathLst>
                <a:path w="368618" h="721995">
                  <a:moveTo>
                    <a:pt x="0" y="0"/>
                  </a:moveTo>
                  <a:lnTo>
                    <a:pt x="368618" y="721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291638" y="2454592"/>
              <a:ext cx="982980" cy="465773"/>
            </a:xfrm>
            <a:custGeom>
              <a:avLst/>
              <a:gdLst/>
              <a:ahLst/>
              <a:cxnLst/>
              <a:rect l="l" t="t" r="r" b="b"/>
              <a:pathLst>
                <a:path w="982980" h="465773">
                  <a:moveTo>
                    <a:pt x="982980" y="46577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297352" y="2429828"/>
              <a:ext cx="1217295" cy="9525"/>
            </a:xfrm>
            <a:custGeom>
              <a:avLst/>
              <a:gdLst/>
              <a:ahLst/>
              <a:cxnLst/>
              <a:rect l="l" t="t" r="r" b="b"/>
              <a:pathLst>
                <a:path w="1217295" h="9525">
                  <a:moveTo>
                    <a:pt x="0" y="0"/>
                  </a:moveTo>
                  <a:lnTo>
                    <a:pt x="12172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537382" y="2454592"/>
              <a:ext cx="982980" cy="465773"/>
            </a:xfrm>
            <a:custGeom>
              <a:avLst/>
              <a:gdLst/>
              <a:ahLst/>
              <a:cxnLst/>
              <a:rect l="l" t="t" r="r" b="b"/>
              <a:pathLst>
                <a:path w="982980" h="465773">
                  <a:moveTo>
                    <a:pt x="982980" y="0"/>
                  </a:moveTo>
                  <a:lnTo>
                    <a:pt x="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511665" y="2171700"/>
              <a:ext cx="368617" cy="721995"/>
            </a:xfrm>
            <a:custGeom>
              <a:avLst/>
              <a:gdLst/>
              <a:ahLst/>
              <a:cxnLst/>
              <a:rect l="l" t="t" r="r" b="b"/>
              <a:pathLst>
                <a:path w="368617" h="721995">
                  <a:moveTo>
                    <a:pt x="0" y="721995"/>
                  </a:moveTo>
                  <a:lnTo>
                    <a:pt x="3686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858375" y="162020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1260455" y="223837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734675" y="328898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982075" y="328898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456295" y="223837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858375" y="207359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0524172" y="238220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0279380" y="289750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437370" y="289750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9192578" y="238220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</p:grpSp>
      <p:grpSp>
        <p:nvGrpSpPr>
          <p:cNvPr id="73" name="c3-card-2"/>
          <p:cNvGrpSpPr/>
          <p:nvPr/>
        </p:nvGrpSpPr>
        <p:grpSpPr>
          <a:xfrm>
            <a:off x="8153400" y="3763328"/>
            <a:ext cx="3505200" cy="1858328"/>
            <a:chOff x="8153400" y="3763328"/>
            <a:chExt cx="3505200" cy="1858328"/>
          </a:xfrm>
        </p:grpSpPr>
        <p:sp>
          <p:nvSpPr>
            <p:cNvPr id="67" name="Rectangle 67"/>
            <p:cNvSpPr/>
            <p:nvPr/>
          </p:nvSpPr>
          <p:spPr>
            <a:xfrm>
              <a:off x="8153400" y="3763328"/>
              <a:ext cx="3505200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162925" y="3896678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9620" y="3961448"/>
              <a:ext cx="112014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458905" y="3995738"/>
              <a:ext cx="981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③ Petersen 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16821" y="3997166"/>
              <a:ext cx="15322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个点、15 条边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82381" y="4340066"/>
              <a:ext cx="29450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每个点的度都是 3，却没有 H 回路。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说明“度数都不小”并不保证是 H 图。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4" name="Rectangle 7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511" y="6011704"/>
              <a:ext cx="100657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判断不是 H 图先看：度为 1 的点、删去少数点后分支过多、二部图两侧点数不等。要证是 H 图，用边数条件或闭合图。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513555" cy="2997517"/>
            <a:chOff x="667512" y="1835468"/>
            <a:chExt cx="451355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初等数论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503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第9–10次作业：辗转相除表格法与一次同余式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15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第五章要点与 r、q、S、T 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最高公因数表示为倍数和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一次同余式的两种解法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初等数论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第五章要点，以及把最高公因数写成倍数和的表格算法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5431"/>
            <a:ext cx="4476242" cy="1409510"/>
            <a:chOff x="542925" y="1545431"/>
            <a:chExt cx="4476242" cy="1409510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整除的定义、带余除法定理、整除的性质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9030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185118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用辗转相除法把两整数的最高公因数表示为倍数和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2098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15693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互质、质数的定义和性质；算术基本定理、欧几里得定理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51555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462689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合同的定义和性质、完全剩余系；会解一次同余式，并判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断何时无解、何时有唯一解、何时有多个解</a:t>
              </a:r>
            </a:p>
          </p:txBody>
        </p:sp>
      </p:grpSp>
      <p:grpSp>
        <p:nvGrpSpPr>
          <p:cNvPr id="18" name="c1-image-2"/>
          <p:cNvGrpSpPr/>
          <p:nvPr/>
        </p:nvGrpSpPr>
        <p:grpSpPr>
          <a:xfrm>
            <a:off x="666750" y="3095625"/>
            <a:ext cx="4278630" cy="3292317"/>
            <a:chOff x="666750" y="3095625"/>
            <a:chExt cx="4278630" cy="3292317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rcRect l="22232" t="0" r="22233" b="0"/>
            <a:stretch>
              <a:fillRect/>
            </a:stretch>
          </p:blipFill>
          <p:spPr>
            <a:xfrm>
              <a:off x="948690" y="3095625"/>
              <a:ext cx="3712845" cy="2785110"/>
            </a:xfrm>
            <a:prstGeom prst="roundRect">
              <a:avLst>
                <a:gd name="adj" fmla="val 4787"/>
              </a:avLst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66750" y="5975509"/>
              <a:ext cx="4278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辗转相除像铺地砖：先铺尽量大的正方形，剩下的长条再用小一号的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铺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5382578" y="1524000"/>
            <a:ext cx="6276022" cy="2668905"/>
            <a:chOff x="5382578" y="1524000"/>
            <a:chExt cx="6276022" cy="2668905"/>
          </a:xfrm>
        </p:grpSpPr>
        <p:sp>
          <p:nvSpPr>
            <p:cNvPr id="19" name="Rectangle 19"/>
            <p:cNvSpPr/>
            <p:nvPr/>
          </p:nvSpPr>
          <p:spPr>
            <a:xfrm>
              <a:off x="5382578" y="1524000"/>
              <a:ext cx="6276022" cy="2668905"/>
            </a:xfrm>
            <a:prstGeom prst="roundRect">
              <a:avLst>
                <a:gd name="adj" fmla="val 49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59212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7443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表格算法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84508" y="2110740"/>
              <a:ext cx="5577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a、b 连续做带余除法：a = q₁b + r₁，b = q₂r₁ + r₂，…，rₖ₋₂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 qₖrₖ₋₁ + rₖ，直到 rₙ₊₁ = 0。rₙ 就是最高公因数 d。同时按递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推式填 S、T：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1"/>
                <p:cNvSpPr txBox="1">
                  <a:spLocks noGrp="1"/>
                </p:cNvSpPr>
                <p:nvPr/>
              </p:nvSpPr>
              <p:spPr>
                <a:xfrm>
                  <a:off x="5592128" y="2992755"/>
                  <a:ext cx="5856922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2"/>
                <p:cNvSpPr txBox="1">
                  <a:spLocks noGrp="1"/>
                </p:cNvSpPr>
                <p:nvPr/>
              </p:nvSpPr>
              <p:spPr>
                <a:xfrm>
                  <a:off x="5592128" y="3583305"/>
                  <a:ext cx="585692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2-callout-2"/>
          <p:cNvGrpSpPr/>
          <p:nvPr/>
        </p:nvGrpSpPr>
        <p:grpSpPr>
          <a:xfrm>
            <a:off x="5382578" y="4383405"/>
            <a:ext cx="6276022" cy="533400"/>
            <a:chOff x="5382578" y="4383405"/>
            <a:chExt cx="6276022" cy="533400"/>
          </a:xfrm>
        </p:grpSpPr>
        <p:sp>
          <p:nvSpPr>
            <p:cNvPr id="26" name="Rectangle 26"/>
            <p:cNvSpPr/>
            <p:nvPr/>
          </p:nvSpPr>
          <p:spPr>
            <a:xfrm>
              <a:off x="5382578" y="4383405"/>
              <a:ext cx="6276022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575307" y="4546401"/>
              <a:ext cx="224134" cy="192560"/>
              <a:chOff x="5575307" y="4546401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687378" y="46167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575307" y="45464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687378" y="46945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889308" y="4545330"/>
              <a:ext cx="5399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rₙ₊₁ = 0 那一列只需再写出 qₙ₊₁，不要再算 Sₙ₊₁、Tₙ₊₁。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5382578" y="5107305"/>
            <a:ext cx="6276022" cy="782955"/>
            <a:chOff x="5382578" y="5107305"/>
            <a:chExt cx="6276022" cy="782955"/>
          </a:xfrm>
        </p:grpSpPr>
        <p:sp>
          <p:nvSpPr>
            <p:cNvPr id="33" name="Rectangle 33"/>
            <p:cNvSpPr/>
            <p:nvPr/>
          </p:nvSpPr>
          <p:spPr>
            <a:xfrm>
              <a:off x="5382578" y="510730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587365" y="5398770"/>
              <a:ext cx="200026" cy="200025"/>
              <a:chOff x="5587365" y="5398770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587365" y="53987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627104" y="54432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661819" y="55543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889308" y="5255895"/>
              <a:ext cx="5273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自查：每一列都满足 rₖ = (−1)ᵏ⁻¹Sₖa + (−1)ᵏTₖb，算完可以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挑一两列代进去核对。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1754" cy="909257"/>
            <a:chOff x="520446" y="342900"/>
            <a:chExt cx="66117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初等数论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17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作业9-1：(2683, 1046) = 1，写成倍数和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554709" cy="308039"/>
            <a:chOff x="525399" y="1550194"/>
            <a:chExt cx="655470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5547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a = 2683，b = 1046，连续做带余除法，同时按递推式填 Sₖ、Tₖ。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3678555" cy="2327910"/>
            <a:chOff x="533400" y="1967865"/>
            <a:chExt cx="3678555" cy="232791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678555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带余除法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59518"/>
              <a:ext cx="364045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81726"/>
              <a:ext cx="165430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2683 = 2 × 1046 + 591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1046 = 1 × 591  + 455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591 = 1 × 455  + 136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455 = 3 × 136  + 47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136 = 2 × 47   + 42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47 = 1 × 42   + 5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42 = 8 × 5    + 2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5 = 2 × 2    + 1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2 = 2 × 1    + 0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486275"/>
            <a:ext cx="3678555" cy="1059180"/>
            <a:chOff x="533400" y="4486275"/>
            <a:chExt cx="3678555" cy="1059180"/>
          </a:xfrm>
        </p:grpSpPr>
        <p:sp>
          <p:nvSpPr>
            <p:cNvPr id="14" name="Rectangle 14"/>
            <p:cNvSpPr/>
            <p:nvPr/>
          </p:nvSpPr>
          <p:spPr>
            <a:xfrm>
              <a:off x="533400" y="4486275"/>
              <a:ext cx="3678555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915853"/>
              <a:ext cx="200026" cy="200026"/>
              <a:chOff x="738188" y="491585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9158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499364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634865"/>
              <a:ext cx="2682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验算：423 × 2683 = 1134909，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1085 × 1046 = 1134910，相差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4511040" y="1967865"/>
            <a:ext cx="7147560" cy="2539842"/>
            <a:chOff x="4511040" y="1967865"/>
            <a:chExt cx="7147560" cy="2539842"/>
          </a:xfrm>
        </p:grpSpPr>
        <p:sp>
          <p:nvSpPr>
            <p:cNvPr id="20" name="Rectangle 20"/>
            <p:cNvSpPr/>
            <p:nvPr/>
          </p:nvSpPr>
          <p:spPr>
            <a:xfrm>
              <a:off x="4516755" y="1967865"/>
              <a:ext cx="714184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6818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682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5213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079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945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1445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4676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62075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2406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79395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4138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8424" y="255127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59734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8394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77054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6428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01743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6444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2643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344150" y="2426018"/>
              <a:ext cx="7839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8176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4375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516755" y="286035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16755" y="2865120"/>
              <a:ext cx="714184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18424" y="300085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5450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316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182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3381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49129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6444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2643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8176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4375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516755" y="330898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12792" y="344947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3919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5450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316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7182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33814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01743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17058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31659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344150" y="3323272"/>
              <a:ext cx="7839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586992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516755" y="375761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516755" y="3762375"/>
              <a:ext cx="714184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712792" y="38981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339192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5450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6316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7182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86428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01743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17058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31659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344150" y="3771900"/>
              <a:ext cx="7839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539606" y="38981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1085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516755" y="1967865"/>
              <a:ext cx="714184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12730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64832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35793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06659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77525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39057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00588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2120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32986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113282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511040" y="4287679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r₉ = 0，所以 n = 8，d = r₈ = 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formula14"/>
              <p:cNvSpPr txBox="1">
                <a:spLocks noGrp="1"/>
              </p:cNvSpPr>
              <p:nvPr/>
            </p:nvSpPr>
            <p:spPr>
              <a:xfrm>
                <a:off x="4516755" y="4653915"/>
                <a:ext cx="714184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423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2683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1085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1046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423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2683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1085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1046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0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4" name="Rectangle 9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130" y="5991225"/>
              <a:ext cx="6455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常见扣分：r₉ = 0 后还写 S₉、T₉；没有表格；最后没把 d 写成倍数和。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9906" cy="909257"/>
            <a:chOff x="520446" y="342900"/>
            <a:chExt cx="9279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初等数论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9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5.1-2：(5709, 1331) = 11；判断题：0 与 1、0 与 100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1516380"/>
            <a:chOff x="533400" y="1524000"/>
            <a:chExt cx="6276022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13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带余除法（a = 5709，b = 1331）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654302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5709 = 4 × 1331 + 385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1331 = 3 × 385  + 176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385 = 2 × 176  + 33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176 = 5 × 33   + 11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33 = 3 × 11   + 0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33400" y="3230880"/>
            <a:ext cx="6276022" cy="2244090"/>
            <a:chOff x="533400" y="3230880"/>
            <a:chExt cx="6276022" cy="2244090"/>
          </a:xfrm>
        </p:grpSpPr>
        <p:sp>
          <p:nvSpPr>
            <p:cNvPr id="11" name="Rectangle 11"/>
            <p:cNvSpPr/>
            <p:nvPr/>
          </p:nvSpPr>
          <p:spPr>
            <a:xfrm>
              <a:off x="533400" y="3230880"/>
              <a:ext cx="627602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9127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54470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8390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4702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5295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74935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7902" y="33666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9372" y="381523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45987" y="381523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22299" y="381523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0278" y="381523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52060" y="3689032"/>
              <a:ext cx="9582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29918" y="381523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60272" y="38152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233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2813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9372" y="42638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40759" y="42638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7072" y="42638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47664" y="42638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77304" y="42638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60272" y="42638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729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3739" y="471249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56839" y="47124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40759" y="47124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17072" y="47124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47664" y="47124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052060" y="4587240"/>
              <a:ext cx="9582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29918" y="471249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0215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02634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3739" y="51611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56839" y="51611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40759" y="51611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69686" y="51611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00278" y="51611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52060" y="5035868"/>
              <a:ext cx="9582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82532" y="51611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3230880"/>
              <a:ext cx="627602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411605" y="32308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201228" y="32308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178492" y="32308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154805" y="32308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037772" y="32308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15038" y="32308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16"/>
              <p:cNvSpPr txBox="1">
                <a:spLocks noGrp="1"/>
              </p:cNvSpPr>
              <p:nvPr/>
            </p:nvSpPr>
            <p:spPr>
              <a:xfrm>
                <a:off x="533400" y="5665470"/>
                <a:ext cx="627602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38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5709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163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1331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1" name="c2-card-1"/>
          <p:cNvGrpSpPr/>
          <p:nvPr/>
        </p:nvGrpSpPr>
        <p:grpSpPr>
          <a:xfrm>
            <a:off x="7114222" y="1524000"/>
            <a:ext cx="4544378" cy="1897380"/>
            <a:chOff x="7114222" y="1524000"/>
            <a:chExt cx="4544378" cy="1897380"/>
          </a:xfrm>
        </p:grpSpPr>
        <p:sp>
          <p:nvSpPr>
            <p:cNvPr id="60" name="Rectangle 60"/>
            <p:cNvSpPr/>
            <p:nvPr/>
          </p:nvSpPr>
          <p:spPr>
            <a:xfrm>
              <a:off x="7114222" y="1524000"/>
              <a:ext cx="4544378" cy="189738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23748" y="1657350"/>
              <a:ext cx="47625" cy="16306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61872" y="1733550"/>
              <a:ext cx="13325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6962" y="1769269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第9次作业 判断题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61872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23722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62862" y="2110740"/>
              <a:ext cx="2993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和 1 是互质的。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：(0, 1) = 1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61872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23722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62862" y="2446020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和 100 的最高公因数是 ±100。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55396" y="2777966"/>
              <a:ext cx="3824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 整除 0 和 100，且 0 与 100 的任一公因数都整除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100。课件说明：答“100”和“±100”都算对。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7114222" y="3611880"/>
            <a:ext cx="4544378" cy="1316355"/>
            <a:chOff x="7114222" y="3611880"/>
            <a:chExt cx="4544378" cy="1316355"/>
          </a:xfrm>
        </p:grpSpPr>
        <p:sp>
          <p:nvSpPr>
            <p:cNvPr id="72" name="Rectangle 72"/>
            <p:cNvSpPr/>
            <p:nvPr/>
          </p:nvSpPr>
          <p:spPr>
            <a:xfrm>
              <a:off x="7114222" y="3611880"/>
              <a:ext cx="454437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123748" y="374523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361872" y="38214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52081" y="3857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54252" y="4198620"/>
              <a:ext cx="3853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任何整数都整除 0，所以 0 与 a 的最高公因数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 ±a。0 与 a 互质当且仅当 a = ±1。</a:t>
              </a:r>
            </a:p>
          </p:txBody>
        </p:sp>
      </p:grpSp>
      <p:grpSp>
        <p:nvGrpSpPr>
          <p:cNvPr id="83" name="c2-callout-3"/>
          <p:cNvGrpSpPr/>
          <p:nvPr/>
        </p:nvGrpSpPr>
        <p:grpSpPr>
          <a:xfrm>
            <a:off x="7114222" y="5118735"/>
            <a:ext cx="4544378" cy="889635"/>
            <a:chOff x="7114222" y="5118735"/>
            <a:chExt cx="4544378" cy="889635"/>
          </a:xfrm>
        </p:grpSpPr>
        <p:sp>
          <p:nvSpPr>
            <p:cNvPr id="78" name="Rectangle 78"/>
            <p:cNvSpPr/>
            <p:nvPr/>
          </p:nvSpPr>
          <p:spPr>
            <a:xfrm>
              <a:off x="7114222" y="5118735"/>
              <a:ext cx="4544378" cy="889635"/>
            </a:xfrm>
            <a:prstGeom prst="roundRect">
              <a:avLst>
                <a:gd name="adj" fmla="val 1284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19010" y="5463540"/>
              <a:ext cx="200026" cy="200026"/>
              <a:chOff x="7319010" y="5463540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19010" y="54635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385685" y="55413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620952" y="5320665"/>
              <a:ext cx="3425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验算：38 × 5709 = 216942，163 × 1331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216953，相差 11。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14078" cy="909257"/>
            <a:chOff x="520446" y="342900"/>
            <a:chExt cx="101140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初等数论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140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作业10：206x ≡ 114 (mod 422) 有 2 个解（方法一：合同性质）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725033" cy="3414998"/>
            <a:chOff x="533400" y="1533525"/>
            <a:chExt cx="5725033" cy="34149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837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710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444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5061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(206, 422) = 2，且 2 | 114，所以有解，恰有 2 个解（mod 422）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3597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两边和模同除以 2，先解 103x ≡ 57 (mod 211)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5312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两边乘 2：206x ≡ 114 (mod 211)；又 211x ≡ 0 (mod 211)，由性质 4 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减得 5x ≡ −114 ≡ 97 ≡ 730 (mod 211)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75475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约去 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48601"/>
              <a:ext cx="3743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与 211 互质，由性质 10 得 x ≡ 146 (mod 211)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4053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回到原模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699159"/>
              <a:ext cx="4475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≡ 146 (mod 422)，x₂ ≡ 146 + 422/2 = 357 (mod 422)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5126355"/>
            <a:ext cx="6059805" cy="533400"/>
            <a:chOff x="533400" y="5126355"/>
            <a:chExt cx="6059805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126355"/>
              <a:ext cx="6059805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293043"/>
              <a:ext cx="200026" cy="200025"/>
              <a:chOff x="738188" y="5293043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2930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3374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4486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288280"/>
              <a:ext cx="5124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97 ≡ 730 是加了 3 个 211，凑出 5 的倍数，才能约去 5。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898005" y="1524000"/>
            <a:ext cx="4760595" cy="1956435"/>
            <a:chOff x="6898005" y="1524000"/>
            <a:chExt cx="4760595" cy="1956435"/>
          </a:xfrm>
        </p:grpSpPr>
        <p:sp>
          <p:nvSpPr>
            <p:cNvPr id="36" name="Rectangle 36"/>
            <p:cNvSpPr/>
            <p:nvPr/>
          </p:nvSpPr>
          <p:spPr>
            <a:xfrm>
              <a:off x="6898005" y="1524000"/>
              <a:ext cx="476059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7530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4565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23061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一次同余式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2450" y="1768792"/>
              <a:ext cx="2772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 ≡ b (mod m)，d = (a, m)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51370" y="21926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09485" y="212979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∤ b：无解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51370" y="25279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9485" y="2465070"/>
              <a:ext cx="3796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| b：恰有 d 个解。先解 (a/d)x ≡ b/d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(mod m/d) 得 x₀，全部解为 x₀ + k·m/d（k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0, 1, …, d − 1），模 m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898005" y="3670935"/>
            <a:ext cx="4760595" cy="1988820"/>
            <a:chOff x="6898005" y="3670935"/>
            <a:chExt cx="4760595" cy="1988820"/>
          </a:xfrm>
        </p:grpSpPr>
        <p:sp>
          <p:nvSpPr>
            <p:cNvPr id="46" name="Rectangle 46"/>
            <p:cNvSpPr/>
            <p:nvPr/>
          </p:nvSpPr>
          <p:spPr>
            <a:xfrm>
              <a:off x="6898005" y="3670935"/>
              <a:ext cx="4760595" cy="1988820"/>
            </a:xfrm>
            <a:prstGeom prst="roundRect">
              <a:avLst>
                <a:gd name="adj" fmla="val 574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102793" y="4565333"/>
              <a:ext cx="200026" cy="200026"/>
              <a:chOff x="7102793" y="4565333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102793" y="45653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69468" y="46431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404735" y="4284345"/>
              <a:ext cx="33394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验算：206 × 146 = 30076 = 71 × 422 +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114；206 × 357 = 73542 = 174 × 422 +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114。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3688" cy="909257"/>
            <a:chOff x="520446" y="342900"/>
            <a:chExt cx="74836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初等数论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3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方法二：用辗转相除求出 103 关于模 211 的系数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516380"/>
            <a:chOff x="533400" y="1524000"/>
            <a:chExt cx="5626418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61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带余除法（a = 211，b = 103）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419606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211 = 2  × 103 + 5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103 = 20 × 5   + 3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5 = 1  × 3   + 2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3 = 1  × 2   + 1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2 = 2  × 1   + 0</a:t>
              </a:r>
            </a:p>
          </p:txBody>
        </p:sp>
      </p:grpSp>
      <p:grpSp>
        <p:nvGrpSpPr>
          <p:cNvPr id="56" name="c1-table-2"/>
          <p:cNvGrpSpPr/>
          <p:nvPr/>
        </p:nvGrpSpPr>
        <p:grpSpPr>
          <a:xfrm>
            <a:off x="533400" y="3226118"/>
            <a:ext cx="5626418" cy="2150745"/>
            <a:chOff x="533400" y="3226118"/>
            <a:chExt cx="5626418" cy="2150745"/>
          </a:xfrm>
        </p:grpSpPr>
        <p:sp>
          <p:nvSpPr>
            <p:cNvPr id="11" name="Rectangle 11"/>
            <p:cNvSpPr/>
            <p:nvPr/>
          </p:nvSpPr>
          <p:spPr>
            <a:xfrm>
              <a:off x="533400" y="3226118"/>
              <a:ext cx="562641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1663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890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52333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4957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58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32643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30838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5017" y="37871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54554" y="37871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51797" y="37871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93807" y="37871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34864" y="37871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33059" y="37871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81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8622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5017" y="42176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54554" y="42176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07372" y="421767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93807" y="42176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34864" y="42176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33059" y="42176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5110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9737" y="464724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01127" y="46472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54554" y="46472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07372" y="46472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9382" y="46472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90440" y="46472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41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94633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9737" y="507777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01127" y="50777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54554" y="50777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07372" y="507777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49382" y="507777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74858" y="4955858"/>
              <a:ext cx="82200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890440" y="507777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226118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369695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124075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877502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718560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560570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01628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steps-1"/>
          <p:cNvGrpSpPr/>
          <p:nvPr/>
        </p:nvGrpSpPr>
        <p:grpSpPr>
          <a:xfrm>
            <a:off x="6464618" y="1533525"/>
            <a:ext cx="4706112" cy="2411159"/>
            <a:chOff x="6464618" y="1533525"/>
            <a:chExt cx="4706112" cy="2411159"/>
          </a:xfrm>
        </p:grpSpPr>
        <p:sp>
          <p:nvSpPr>
            <p:cNvPr id="57" name="Rectangle 57"/>
            <p:cNvSpPr/>
            <p:nvPr/>
          </p:nvSpPr>
          <p:spPr>
            <a:xfrm>
              <a:off x="6597968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6461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824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6461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824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64618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8241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76479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写成倍数和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7622" y="1846898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4，1 = (−1)³ × 41 × 211 + (−1)⁴ × 84 × 103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6479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得到系数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7622" y="2467927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(−1)⁴ × 84 = 84，即 84 × 103 ≡ 1 (mod 211)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6479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乘上右端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77622" y="3088957"/>
              <a:ext cx="4293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≡ sb = 84 × 57 = 4788 = 22 × 211 + 146 ≡ 146 (mod 211)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6479" y="3429476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写全 2 个解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77622" y="3709988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≡ 146 (mod 422)，x₂ ≡ 357 (mod 422)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464618" y="4120515"/>
            <a:ext cx="5193982" cy="1545908"/>
            <a:chOff x="6464618" y="4120515"/>
            <a:chExt cx="5193982" cy="1545908"/>
          </a:xfrm>
        </p:grpSpPr>
        <p:sp>
          <p:nvSpPr>
            <p:cNvPr id="75" name="Rectangle 75"/>
            <p:cNvSpPr/>
            <p:nvPr/>
          </p:nvSpPr>
          <p:spPr>
            <a:xfrm>
              <a:off x="6464618" y="4120515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4142" y="425386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706552" y="4324350"/>
              <a:ext cx="124110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74933" y="4360069"/>
              <a:ext cx="1105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为什么取 x = sb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99314" y="4697254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1 = 211t + 103s，两边乘 57 得 57 = 211·57t + 103·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(57s)，所以 103·(57s) ≡ 57 (mod 211)，x = sb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57s 就是解（b = 57 是同余式右端）。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1" name="Rectangle 8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511" y="6004084"/>
              <a:ext cx="58639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注意：最后的解是 mod 422，不是 mod 211；d = 2，要写全 2 个解。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0882" cy="909257"/>
            <a:chOff x="520446" y="342900"/>
            <a:chExt cx="84508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初等数论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08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习题5.3-2：35x ≡ 1 (mod 97)，两种排法都得 x ≡ 61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0" name="c1-card-1"/>
          <p:cNvGrpSpPr/>
          <p:nvPr/>
        </p:nvGrpSpPr>
        <p:grpSpPr>
          <a:xfrm>
            <a:off x="533400" y="1524000"/>
            <a:ext cx="5410200" cy="4115752"/>
            <a:chOff x="533400" y="1524000"/>
            <a:chExt cx="5410200" cy="41157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15752"/>
            </a:xfrm>
            <a:prstGeom prst="roundRect">
              <a:avLst>
                <a:gd name="adj" fmla="val 3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490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排法一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281" y="1756886"/>
              <a:ext cx="2415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在前（a = 35，m = 97）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9620" y="2077402"/>
              <a:ext cx="497586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8343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6506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4668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66646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4808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42971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24948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7878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46041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697" y="26298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42465" y="26298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24442" y="26298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07029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5192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27169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10099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48262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9620" y="2921318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9620" y="2926080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1697" y="30546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8688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68867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0702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45192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2716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1009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48262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9620" y="3346132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6417" y="347853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48727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86889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68867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07029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00767" y="3478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82745" y="3478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65675" y="3478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9620" y="3769995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9620" y="3774758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56417" y="3903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48727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86889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68867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207029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45192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27169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65675" y="390334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9620" y="2077402"/>
              <a:ext cx="497586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346835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841182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42316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00609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499485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082415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664392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24637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62381" y="4312444"/>
              <a:ext cx="39523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6：1 = (−1)⁵ × 36 × 35 + (−1)⁶ × 13 × 97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381" y="4630579"/>
              <a:ext cx="35605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−36，x ≡ sb = −36 × 1 ≡ 61 (mod 97)</a:t>
              </a:r>
            </a:p>
          </p:txBody>
        </p:sp>
      </p:grpSp>
      <p:grpSp>
        <p:nvGrpSpPr>
          <p:cNvPr id="131" name="c2-card-1"/>
          <p:cNvGrpSpPr/>
          <p:nvPr/>
        </p:nvGrpSpPr>
        <p:grpSpPr>
          <a:xfrm>
            <a:off x="6248400" y="1524000"/>
            <a:ext cx="5410200" cy="4115752"/>
            <a:chOff x="6248400" y="1524000"/>
            <a:chExt cx="5410200" cy="4115752"/>
          </a:xfrm>
        </p:grpSpPr>
        <p:sp>
          <p:nvSpPr>
            <p:cNvPr id="71" name="Rectangle 71"/>
            <p:cNvSpPr/>
            <p:nvPr/>
          </p:nvSpPr>
          <p:spPr>
            <a:xfrm>
              <a:off x="6248400" y="1524000"/>
              <a:ext cx="5410200" cy="4115752"/>
            </a:xfrm>
            <a:prstGeom prst="roundRect">
              <a:avLst>
                <a:gd name="adj" fmla="val 3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1657350"/>
              <a:ext cx="47625" cy="38490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84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72060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排法二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01281" y="1756886"/>
              <a:ext cx="20646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 在前（用 35 除 97）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84620" y="2077402"/>
              <a:ext cx="497586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59538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70091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81596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92148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203653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858021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513341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123893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712892" y="26298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939392" y="26298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594369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205874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60242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515562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903268" y="2510790"/>
              <a:ext cx="54768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1126114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484620" y="2921318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484620" y="2926080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12892" y="30546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qₖ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83817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59436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205874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860242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515562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903268" y="2935605"/>
              <a:ext cx="54768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1126114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484620" y="3346132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707612" y="347853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372312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983817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594369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205874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860242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471137" y="3478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484620" y="3769995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84620" y="3774758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707612" y="3903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372312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983817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594369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161450" y="390334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815817" y="390334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471137" y="390334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484620" y="2077402"/>
              <a:ext cx="497586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7135178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7701915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8357235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923972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957834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023366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1088898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477381" y="4312444"/>
              <a:ext cx="39523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5：1 = (−1)⁴ × 13 × 97 + (−1)⁵ × 36 × 35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477381" y="4630579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的系数 s = −36，x ≡ −36 ≡ 61 (mod 97)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6477381" y="4947761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：原课件此表 k = 6 一列写作 r₆ = 1、q₆ = 0，应为 r₆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0、q₆ = 2（2 = 2 × 1 + 0）。其余各列和结论无误。</a:t>
              </a:r>
            </a:p>
          </p:txBody>
        </p:sp>
      </p:grpSp>
      <p:grpSp>
        <p:nvGrpSpPr>
          <p:cNvPr id="13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32" name="Rectangle 13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1040511" y="6011704"/>
              <a:ext cx="926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验算：35 × 61 = 2135 = 22 × 97 + 1。两种排法的 S、T 两行互换（下标错开一位），取 35 的那个系数就行。</a:t>
              </a:r>
            </a:p>
          </p:txBody>
        </p:sp>
      </p:grpSp>
      <p:grpSp>
        <p:nvGrpSpPr>
          <p:cNvPr id="1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9" name="TextBox 139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13689" cy="2997517"/>
            <a:chOff x="667512" y="1835468"/>
            <a:chExt cx="421368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综合练习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03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判断题 12 道、简答题 4 道，每题给出理由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判断题 (1)～(6)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判断题 (7)～(12)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简答题与闭合图的例子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56320" cy="909257"/>
            <a:chOff x="520446" y="342900"/>
            <a:chExt cx="47563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综合练习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563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判断题 (1)～(6)：答案与理由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3789998"/>
            <a:chOff x="533400" y="1524000"/>
            <a:chExt cx="11125200" cy="3789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5398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0587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3097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847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5386" y="2128361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7238" y="2128361"/>
              <a:ext cx="27960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存在集合 A、B，使 A∈B 且 A ⊆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6556" y="21283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79348" y="2128361"/>
              <a:ext cx="13367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∅，B = {∅}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62212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5386" y="2723674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7238" y="2596991"/>
              <a:ext cx="368439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{1,3}，B = {2,3}，ρ(A) − ρ(B) = {{1},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{1,3}}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6556" y="272367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79348" y="2596991"/>
              <a:ext cx="423443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ρ(A) = {∅, {1}, {3}, {1,3}}，去掉 ρ(B) 中也有的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∅ 和 {3}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79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5386" y="3318986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27238" y="3318986"/>
              <a:ext cx="4054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R₁、R₂ 有反对称性，则 R₁ ∪ R₂ 有反对称性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26556" y="331898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79348" y="3318986"/>
              <a:ext cx="45411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 = {(a,b)}，R₂ = {(b,a)}，a ≠ b，并集不反对称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490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53790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5386" y="378856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7238" y="3788569"/>
              <a:ext cx="34377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σ: x ↦ eˣ（x∈R）是 R 到 R⁺ 的一一映射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26556" y="378856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79348" y="3788569"/>
              <a:ext cx="36234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eˣ 严格递增，值域恰为 R⁺，逆映射是 ln x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17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5386" y="425719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7238" y="4257199"/>
              <a:ext cx="25659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(P→Q) ∧ (P∧¬Q) 为恒假公式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6556" y="425719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79348" y="4257199"/>
              <a:ext cx="3238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P∧¬Q 等价于 ¬(P→Q)，两者合取恒假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5862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591050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5386" y="4853464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27238" y="4853464"/>
              <a:ext cx="3145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∀x(G(x)∨H(x)) ⇒ ∀xG(x) ∨ ∀xH(x)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26556" y="485346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9348" y="4726781"/>
              <a:ext cx="427951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作业5-1 的反例使前者为 1、后者为 0；反方向的蕴涵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才成立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18272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979795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70382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04084"/>
              <a:ext cx="63610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判断“错”时给一个具体反例最稳妥，判断“对”时说出所依据的定义或定律。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54565" cy="909257"/>
            <a:chOff x="520446" y="342900"/>
            <a:chExt cx="49545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综合练习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54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判断题 (7)～(12)：答案与理由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3680460"/>
            <a:chOff x="533400" y="1524000"/>
            <a:chExt cx="11125200" cy="3680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632" y="16630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9472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1982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5732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5676" y="215074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9715" y="2150745"/>
              <a:ext cx="2541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(P→Q)→R 与 (P∧Q)→R 等价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0790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81825" y="2150745"/>
              <a:ext cx="3488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Q = R = 0 时，前者为 0，后者为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5676" y="263842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9715" y="2638425"/>
              <a:ext cx="3692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A∪B = A∪C 且 ~A∪B = ~A∪C，则 B = 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0790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1825" y="2638425"/>
              <a:ext cx="380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(A∪B)∩(~A∪B) = (A∪C)∩(~A∪C) = 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5676" y="312610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29715" y="3126105"/>
              <a:ext cx="3111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{1,2,3} 上共有 6 个等价关系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20790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81825" y="312610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等价关系与划分一一对应，3 元集合只有 5 种划分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368" y="361378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9715" y="3613785"/>
              <a:ext cx="286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 ⇒ B，则 A∧B = A，A∨B =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20790" y="361378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1825" y="3613785"/>
              <a:ext cx="4480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为真的解释下 B 必为真，逐个解释比较真值即得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7368" y="423481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9715" y="4234815"/>
              <a:ext cx="3403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(P→Q)→((Q→R)→(P→R)) 是恒真公式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0790" y="423481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81825" y="4101465"/>
              <a:ext cx="39490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 P→R 为假须 P = 1、R = 0，此时 P→Q 与 Q→R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不能同真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7120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7167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7368" y="485584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29715" y="4855845"/>
              <a:ext cx="3874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是 G 的 Skolem 范式，S 与 G 恒真性等价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20790" y="48558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1825" y="4855845"/>
              <a:ext cx="304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只有恒假性等价：G 恒假 ⇔ S 恒假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6804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18272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979795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70382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6839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原课件答案：(3)、(6)、(7)、(9)、(12) 错，其余对。~A 表示 A 的补集。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 · 综合练习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简答题四道：关系计数、极小项、闭合图、连通图的边数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6492240" cy="3188970"/>
            <a:chOff x="533400" y="1524000"/>
            <a:chExt cx="6492240" cy="3188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945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98314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答案与理由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250469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集合 A 有 n 个元素，A 上有多少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个既对称又反对称的关系？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92437" y="2076450"/>
              <a:ext cx="3098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 个。这样的关系不能含 a ≠ b 的有序对，只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能是恒等关系 I 的子集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12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6492240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714625"/>
              <a:ext cx="2497074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P、Q、R 共有多少个极小项？满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足（弄假）某个极小项 mᵢ 的解释唯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92437" y="2821305"/>
              <a:ext cx="3159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个；满足 mᵢ 的解释唯一；弄假 mᵢ 的解释不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唯一，有 7 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43281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566160"/>
              <a:ext cx="236867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有限图 G 的闭合图一定是 H 图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2437" y="3672840"/>
              <a:ext cx="3439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不一定。右图的闭合图就是它自身，没有 H 回路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700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074795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4203382"/>
              <a:ext cx="244144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n 个点的连通图至少要有多少条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2437" y="4203382"/>
              <a:ext cx="3166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 条。树是 n 个点的连通图中边最少的，少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任意一条边都不再连通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492240" cy="31889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85185" y="1524000"/>
              <a:ext cx="9525" cy="31889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llout-2"/>
          <p:cNvGrpSpPr/>
          <p:nvPr/>
        </p:nvGrpSpPr>
        <p:grpSpPr>
          <a:xfrm>
            <a:off x="533400" y="4892992"/>
            <a:ext cx="6492240" cy="756285"/>
            <a:chOff x="533400" y="4892992"/>
            <a:chExt cx="6492240" cy="756285"/>
          </a:xfrm>
        </p:grpSpPr>
        <p:sp>
          <p:nvSpPr>
            <p:cNvPr id="26" name="Rectangle 26"/>
            <p:cNvSpPr/>
            <p:nvPr/>
          </p:nvSpPr>
          <p:spPr>
            <a:xfrm>
              <a:off x="533400" y="4892992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171125"/>
              <a:ext cx="200023" cy="200023"/>
              <a:chOff x="738188" y="5171125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1711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5237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5040154"/>
              <a:ext cx="54787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闭合图定理：G 是 H 图 ⇔ G 的闭合图是 H 图。闭合图是完全图时 G 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定是 H 图；闭合图不完全时，要另行判断。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7541590" y="1693545"/>
            <a:ext cx="3905859" cy="1504950"/>
            <a:chOff x="7541590" y="1693545"/>
            <a:chExt cx="3905859" cy="1504950"/>
          </a:xfrm>
        </p:grpSpPr>
        <p:sp>
          <p:nvSpPr>
            <p:cNvPr id="32" name="Freeform 32"/>
            <p:cNvSpPr/>
            <p:nvPr/>
          </p:nvSpPr>
          <p:spPr>
            <a:xfrm>
              <a:off x="7980045" y="200787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8763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141018" y="1845945"/>
              <a:ext cx="2707005" cy="9525"/>
            </a:xfrm>
            <a:custGeom>
              <a:avLst/>
              <a:gdLst/>
              <a:ahLst/>
              <a:cxnLst/>
              <a:rect l="l" t="t" r="r" b="b"/>
              <a:pathLst>
                <a:path w="2707005" h="9525">
                  <a:moveTo>
                    <a:pt x="0" y="0"/>
                  </a:moveTo>
                  <a:lnTo>
                    <a:pt x="27070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1008995" y="200787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827645" y="289369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827645" y="16935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856595" y="16935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856595" y="289369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87258" y="29760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41590" y="2989898"/>
              <a:ext cx="233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87258" y="17759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41590" y="1790700"/>
              <a:ext cx="233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16208" y="17759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3782" y="1790700"/>
              <a:ext cx="233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16208" y="29760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13782" y="2989898"/>
              <a:ext cx="233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 1</a:t>
              </a:r>
            </a:p>
          </p:txBody>
        </p:sp>
      </p:grpSp>
      <p:grpSp>
        <p:nvGrpSpPr>
          <p:cNvPr id="61" name="c2-steps-2"/>
          <p:cNvGrpSpPr/>
          <p:nvPr/>
        </p:nvGrpSpPr>
        <p:grpSpPr>
          <a:xfrm>
            <a:off x="7330440" y="3504248"/>
            <a:ext cx="3963010" cy="1782508"/>
            <a:chOff x="7330440" y="3504248"/>
            <a:chExt cx="3963010" cy="1782508"/>
          </a:xfrm>
        </p:grpSpPr>
        <p:sp>
          <p:nvSpPr>
            <p:cNvPr id="48" name="Rectangle 48"/>
            <p:cNvSpPr/>
            <p:nvPr/>
          </p:nvSpPr>
          <p:spPr>
            <a:xfrm>
              <a:off x="7463790" y="3647122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330440" y="35042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24064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330440" y="41214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24064" y="41952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30440" y="4737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24064" y="4811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42301" y="35371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闭合的规则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43444" y="381762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4，不相邻的两点度数和 ≥ 4 时才加边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2301" y="41543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逐对检查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43444" y="4434840"/>
              <a:ext cx="3550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v₁v₃、v₂v₄ 的度数和为 3，v₁v₄ 为 2，都不加边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42301" y="477154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43444" y="5052060"/>
              <a:ext cx="2995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闭合图与原图同构，v₁ 度为 1，无 H 回路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2" name="Rectangle 6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11704"/>
              <a:ext cx="9419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简答题按题目要求作答：题目问“为什么”或要求“举例说明”时，理由和例子不能省；没有要求时写出答案即可。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综合练习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8872"/>
            <a:chOff x="533400" y="1524000"/>
            <a:chExt cx="3505200" cy="2408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93192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{1, 2}，G(1) = 1，G(2) = 0，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H(1) = 0，H(2) = 1。∃xG(x)∧∃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xH(x) 与 ∃x(G(x)∧H(x)) 的真值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3235166"/>
              <a:ext cx="28728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前者为 1，后者为 0。说明 ∃ 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 不能分配，两式不等价。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18610"/>
            <a:ext cx="3505200" cy="2137410"/>
            <a:chOff x="533400" y="4118610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695349"/>
              <a:ext cx="28688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用辗转相除求 (252, 198)，并写成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倍数和。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286851"/>
              <a:ext cx="265645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1, 3, 1, 2，n = 3，S₃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4，T₃ = 5：18 = 4 × 252 − 5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594485"/>
            <a:chOff x="4343400" y="1524000"/>
            <a:chExt cx="3505200" cy="15944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4405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分别写出 ∀x∃yP(x,y) 与 ∃y∀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xP(x,y) 的 Skolem 范式。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9178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∀xP(x, f(x))；∀xP(x, a)。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304222"/>
            <a:ext cx="3505200" cy="2951798"/>
            <a:chOff x="4343400" y="3304222"/>
            <a:chExt cx="3505200" cy="2951798"/>
          </a:xfrm>
        </p:grpSpPr>
        <p:sp>
          <p:nvSpPr>
            <p:cNvPr id="25" name="Rectangle 25"/>
            <p:cNvSpPr/>
            <p:nvPr/>
          </p:nvSpPr>
          <p:spPr>
            <a:xfrm>
              <a:off x="4343400" y="3304222"/>
              <a:ext cx="3505200" cy="2951798"/>
            </a:xfrm>
            <a:prstGeom prst="roundRect">
              <a:avLst>
                <a:gd name="adj" fmla="val 451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350805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354377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3880961"/>
              <a:ext cx="25258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解同余式 6x ≡ 4 (mod 10)。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4201001"/>
              <a:ext cx="298107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10) = 2，2 | 4，有 2 个解。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 ≡ 2 (mod 5) 得 x ≡ 4，所以 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≡ 4、9 (mod 10)。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408872"/>
            <a:chOff x="8153400" y="1524000"/>
            <a:chExt cx="3505200" cy="240887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6614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 的图中若把边 CD 的权改为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5，A 到 F 的最短距离是多少？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89090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l(C) = 3，l(B) = 5，l(E) = 7，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l(D) = min{3+5, 5+5, 7+2} = 8，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l(F) = min{8+3, 7+5} = 11，路线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C, D, F。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118610"/>
            <a:ext cx="3505200" cy="2137410"/>
            <a:chOff x="8153400" y="4118610"/>
            <a:chExt cx="3505200" cy="2137410"/>
          </a:xfrm>
        </p:grpSpPr>
        <p:sp>
          <p:nvSpPr>
            <p:cNvPr id="37" name="Rectangle 37"/>
            <p:cNvSpPr/>
            <p:nvPr/>
          </p:nvSpPr>
          <p:spPr>
            <a:xfrm>
              <a:off x="815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695349"/>
              <a:ext cx="28805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个点的简单图至少要有多少条边，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才一定是 Hamilton 图？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286851"/>
              <a:ext cx="23466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½ × 5 × 4 + 2 = 12 条。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620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482" y="4071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作业与习题讲评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4005262"/>
            <a:chOff x="533400" y="1524000"/>
            <a:chExt cx="6276022" cy="4005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686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842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61322" y="165877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答卷里必须出现的内容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7604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不等价证明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3506" y="2128361"/>
              <a:ext cx="4009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个体域 D、谓词的指定、两式在该解释下的真值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574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62212"/>
              <a:ext cx="6276022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04" y="2723674"/>
              <a:ext cx="1116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Skolem 范式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3506" y="2596991"/>
              <a:ext cx="426148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前束范式、合取范式母式、Skolem 函数；最后一步不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用“＝”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794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04" y="3318986"/>
              <a:ext cx="802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3506" y="3318986"/>
              <a:ext cx="45163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整体表格、每步的 l(v) 计算、用文字写出路线和距离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490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53790"/>
              <a:ext cx="627602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37885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3506" y="378856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按权从小到大取边的过程；题目问权值就写出权值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176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04" y="425719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度序列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3506" y="425719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不减顺序，外面加小括号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862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591050"/>
              <a:ext cx="627602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04" y="472678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倍数和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43506" y="4726781"/>
              <a:ext cx="2830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r、q、S、T 表和 d 的倍数和表示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558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04" y="519541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一次同余式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43506" y="5195411"/>
              <a:ext cx="3359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 d | b，写全 d 个解，模取原来的 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40052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034540" y="1524000"/>
              <a:ext cx="9525" cy="4005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1"/>
          <p:cNvGrpSpPr/>
          <p:nvPr/>
        </p:nvGrpSpPr>
        <p:grpSpPr>
          <a:xfrm>
            <a:off x="7114222" y="1524000"/>
            <a:ext cx="4544378" cy="2457450"/>
            <a:chOff x="7114222" y="1524000"/>
            <a:chExt cx="4544378" cy="2457450"/>
          </a:xfrm>
        </p:grpSpPr>
        <p:sp>
          <p:nvSpPr>
            <p:cNvPr id="36" name="Rectangle 36"/>
            <p:cNvSpPr/>
            <p:nvPr/>
          </p:nvSpPr>
          <p:spPr>
            <a:xfrm>
              <a:off x="7114222" y="1524000"/>
              <a:ext cx="4544378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56158" y="17278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11910" y="17635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363777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0368" y="2100739"/>
              <a:ext cx="36032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习题5.3-2 第二种排法的表中 k = 6 一列（第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363777" y="27527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20368" y="2692241"/>
              <a:ext cx="37835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Skolem 例题第 4 步标注“前提”应为“前束”（第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363777" y="33442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20368" y="3283744"/>
              <a:ext cx="34499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(B, ⇒) 的 Hasse 图补上漏标的 G₁₀（第 10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</p:grpSp>
      <p:grpSp>
        <p:nvGrpSpPr>
          <p:cNvPr id="53" name="c2-bullets-2"/>
          <p:cNvGrpSpPr/>
          <p:nvPr/>
        </p:nvGrpSpPr>
        <p:grpSpPr>
          <a:xfrm>
            <a:off x="7114222" y="4190524"/>
            <a:ext cx="2742832" cy="937832"/>
            <a:chOff x="7114222" y="4190524"/>
            <a:chExt cx="2742832" cy="937832"/>
          </a:xfrm>
        </p:grpSpPr>
        <p:sp>
          <p:nvSpPr>
            <p:cNvPr id="47" name="Freeform 47"/>
            <p:cNvSpPr/>
            <p:nvPr/>
          </p:nvSpPr>
          <p:spPr>
            <a:xfrm>
              <a:off x="7114222" y="4220528"/>
              <a:ext cx="136208" cy="111442"/>
            </a:xfrm>
            <a:custGeom>
              <a:avLst/>
              <a:gdLst/>
              <a:ahLst/>
              <a:cxnLst/>
              <a:rect l="l" t="t" r="r" b="b"/>
              <a:pathLst>
                <a:path w="136208" h="111442">
                  <a:moveTo>
                    <a:pt x="0" y="59055"/>
                  </a:moveTo>
                  <a:lnTo>
                    <a:pt x="52388" y="111442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57491" y="419052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主范式可以用真值表复核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7114222" y="4550092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9055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57491" y="452008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数论题最后一定要代回验算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114222" y="487965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57491" y="484965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图论题的反例画出图再下结论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04084"/>
              <a:ext cx="93552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这门课的作业按过程给分：表格、步骤和文字结论缺一不可，记号也要与课本一致，例如 l(v) 不要写成 I(v)。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6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离散数学I · 作业与习题讲评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1_exercises">
  <a:themeElements>
    <a:clrScheme name="dm1_exercise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m1_exercise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1_exercis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2026-09-23T07:31:28Z</dcterms:created>
  <dcterms:modified xsi:type="dcterms:W3CDTF">2026-09-23T07:31:28Z</dcterms:modified>
  <cp:category/>
  <cp:contentStatus/>
</cp:coreProperties>
</file>