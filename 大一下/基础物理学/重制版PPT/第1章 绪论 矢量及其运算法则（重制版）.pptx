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ys_ch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ys_ch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764b7a6a0677db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fdc6e637bd8893c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04baa6c6a4fe415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870242" cy="3437763"/>
            <a:chOff x="666750" y="1619250"/>
            <a:chExt cx="587024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7459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438" y="171831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基础物理学 · 第一章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8702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绪论 矢量及其运算法则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后面每一章都要用到的一套数学工具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标量和矢量怎么分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加减法的几何法与解析法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标积、矢积与右手法则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分量运算与行列式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72401" cy="205359"/>
            <a:chOff x="680466" y="6192202"/>
            <a:chExt cx="427240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724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自学复习版｜据吉林大学《基础物理学》第一章课件整理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标量和矢量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定义、例子、记号、模与单位矢量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加法和减法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平行四边形法则、三角形法则、余弦定理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合成的解析法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平面与空间分量、方向角与方向余弦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矢量的乘积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数乘、标积、矢积三种乘法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分量形式的乘法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点积展开式与行列式法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自测与记号预告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七道自测题，以及后面各章要用的矢量记号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判断一个物理量是标量还是矢量，并按统一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记号把它写出来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用三角形法则作出 A+B 与 A−B，并算出合矢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量的大小和方向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把矢量分解成分量，求出模、方向角和方向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余弦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用分量算标积和矢积，判断两个矢量是否垂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直或平行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用右手螺旋法则定出矢积的方向，并用点积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自检结果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802761" cy="3351847"/>
            <a:chOff x="667512" y="1835468"/>
            <a:chExt cx="380276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标量和矢量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先把两类物理量分开，再固定一套写法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定义与常见例子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模、单位矢量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矢量相等与负矢量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平移不变性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标量和矢量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标量只有大小，矢量还要服从平行四边形法则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375404" cy="264033"/>
            <a:chOff x="526542" y="1545907"/>
            <a:chExt cx="437540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这一页决定了后面所有公式的写法，先把记号定下来。</a:t>
              </a:r>
            </a:p>
          </p:txBody>
        </p:sp>
      </p:grpSp>
      <p:grpSp>
        <p:nvGrpSpPr>
          <p:cNvPr id="37" name="c1-table-1"/>
          <p:cNvGrpSpPr/>
          <p:nvPr/>
        </p:nvGrpSpPr>
        <p:grpSpPr>
          <a:xfrm>
            <a:off x="533400" y="1928812"/>
            <a:ext cx="5951220" cy="2600325"/>
            <a:chOff x="533400" y="1928812"/>
            <a:chExt cx="5951220" cy="26003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6836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9815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7845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矢量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0555" y="2450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21180" y="24503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只有大小，没有方向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82415" y="24503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既有大小又有方向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241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28912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555" y="29503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常见例子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21180" y="2850356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质量、时间、能量、温度、电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82415" y="2850356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位移、速度、加速度、力、电场强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2422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4504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21180" y="34504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普通字母，大小带正负号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2415" y="345043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黑体字母，或在字母上加箭头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242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29038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38504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加减法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21180" y="38504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82415" y="385048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平行四边形法则（三角形法则）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2432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2505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相等的条件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21180" y="42505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数值相等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82415" y="42505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大小相等且方向相同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28812"/>
              <a:ext cx="5951220" cy="26003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719262" y="1928812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980498" y="1928812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4698682"/>
            <a:ext cx="5951220" cy="978218"/>
            <a:chOff x="533400" y="4698682"/>
            <a:chExt cx="5951220" cy="978218"/>
          </a:xfrm>
        </p:grpSpPr>
        <p:sp>
          <p:nvSpPr>
            <p:cNvPr id="38" name="Rectangle 38"/>
            <p:cNvSpPr/>
            <p:nvPr/>
          </p:nvSpPr>
          <p:spPr>
            <a:xfrm>
              <a:off x="533400" y="4698682"/>
              <a:ext cx="595122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084563"/>
              <a:ext cx="224134" cy="192560"/>
              <a:chOff x="726129" y="5084563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51549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0845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2327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4845368"/>
              <a:ext cx="49857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有大小又有方向的量不一定是矢量。绕定轴转过的有限角度有大小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也有转向，但先绕 x 轴转 90° 再绕 y 轴转 90°，与交换次序的结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果不同，它不服从平行四边形法则，所以不是矢量。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789420" y="1928812"/>
            <a:ext cx="4869180" cy="1760220"/>
            <a:chOff x="6789420" y="1928812"/>
            <a:chExt cx="4869180" cy="1760220"/>
          </a:xfrm>
        </p:grpSpPr>
        <p:sp>
          <p:nvSpPr>
            <p:cNvPr id="45" name="Rectangle 45"/>
            <p:cNvSpPr/>
            <p:nvPr/>
          </p:nvSpPr>
          <p:spPr>
            <a:xfrm>
              <a:off x="6789420" y="1928812"/>
              <a:ext cx="486918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98945" y="2062162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1421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0688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79804" y="215074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标量与矢量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022782" y="253269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78802" y="247650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：只有大小、没有方向的物理量，一个带正负号的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数加上单位就能确定它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22782" y="308991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78802" y="303371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矢量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：既有大小又有方向，并且按平行四边形法则相加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的物理量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789420" y="3858578"/>
            <a:ext cx="4869180" cy="1818322"/>
            <a:chOff x="6789420" y="3858578"/>
            <a:chExt cx="4869180" cy="1818322"/>
          </a:xfrm>
        </p:grpSpPr>
        <p:sp>
          <p:nvSpPr>
            <p:cNvPr id="55" name="Rectangle 55"/>
            <p:cNvSpPr/>
            <p:nvPr/>
          </p:nvSpPr>
          <p:spPr>
            <a:xfrm>
              <a:off x="6789420" y="3858578"/>
              <a:ext cx="4869180" cy="1818322"/>
            </a:xfrm>
            <a:prstGeom prst="roundRect">
              <a:avLst>
                <a:gd name="adj" fmla="val 73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98945" y="3991928"/>
              <a:ext cx="47625" cy="15516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014210" y="404526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84479" y="407812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本讲义的记号约定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022782" y="444531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78802" y="4389120"/>
              <a:ext cx="4380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公式里矢量一律在字母上加箭头，正文里写成“矢量 A”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022782" y="474535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78802" y="4689158"/>
              <a:ext cx="2875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模（大小）写成 |A| 或 A，永远非负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022782" y="50463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78802" y="4990148"/>
              <a:ext cx="40599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分量写成 Ax、Ay、Az，数值与单位之间空一格，例如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N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6" name="Rectangle 6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8373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判断是不是矢量，除了看有没有方向，还要看两个这样的量相加时是不是服从平行四边形法则。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标量和矢量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矢量只由大小和方向决定，与画在哪里无关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74445"/>
            <a:chOff x="533400" y="1524000"/>
            <a:chExt cx="5410200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0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63118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矢量的大小叫做它的模，记作 |A| 或 A。模是非负的标量，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量纲和单位与该矢量相同。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2984182"/>
            <a:ext cx="5410200" cy="1643062"/>
            <a:chOff x="533400" y="2984182"/>
            <a:chExt cx="5410200" cy="1643062"/>
          </a:xfrm>
        </p:grpSpPr>
        <p:sp>
          <p:nvSpPr>
            <p:cNvPr id="13" name="Rectangle 13"/>
            <p:cNvSpPr/>
            <p:nvPr/>
          </p:nvSpPr>
          <p:spPr>
            <a:xfrm>
              <a:off x="533400" y="2984182"/>
              <a:ext cx="5410200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117532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318801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7644" y="32237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单位矢量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6214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560921"/>
              <a:ext cx="48470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模等于 1、方向与矢量 A 相同的矢量，叫做 A 的单位矢量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2955" y="39414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546" y="388096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单位矢量只携带方向信息，量纲为一，不带单位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426148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420100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直角坐标系中 i、j、k 分别是 x、y、z 轴的单位矢量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3"/>
              <p:cNvSpPr txBox="1">
                <a:spLocks noGrp="1"/>
              </p:cNvSpPr>
              <p:nvPr/>
            </p:nvSpPr>
            <p:spPr>
              <a:xfrm>
                <a:off x="533400" y="4812982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51" name="c2-graph-1"/>
          <p:cNvGrpSpPr/>
          <p:nvPr/>
        </p:nvGrpSpPr>
        <p:grpSpPr>
          <a:xfrm>
            <a:off x="6652260" y="1711642"/>
            <a:ext cx="4493895" cy="2203799"/>
            <a:chOff x="6652260" y="1711642"/>
            <a:chExt cx="4493895" cy="2203799"/>
          </a:xfrm>
        </p:grpSpPr>
        <p:sp>
          <p:nvSpPr>
            <p:cNvPr id="25" name="Freeform 25"/>
            <p:cNvSpPr/>
            <p:nvPr/>
          </p:nvSpPr>
          <p:spPr>
            <a:xfrm>
              <a:off x="6718935" y="1766888"/>
              <a:ext cx="1346835" cy="278130"/>
            </a:xfrm>
            <a:custGeom>
              <a:avLst/>
              <a:gdLst/>
              <a:ahLst/>
              <a:cxnLst/>
              <a:rect l="l" t="t" r="r" b="b"/>
              <a:pathLst>
                <a:path w="1346835" h="278130">
                  <a:moveTo>
                    <a:pt x="0" y="278130"/>
                  </a:moveTo>
                  <a:lnTo>
                    <a:pt x="134683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056245" y="172021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3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9315450" y="2295525"/>
              <a:ext cx="1346835" cy="278130"/>
            </a:xfrm>
            <a:custGeom>
              <a:avLst/>
              <a:gdLst/>
              <a:ahLst/>
              <a:cxnLst/>
              <a:rect l="l" t="t" r="r" b="b"/>
              <a:pathLst>
                <a:path w="1346835" h="278130">
                  <a:moveTo>
                    <a:pt x="0" y="278130"/>
                  </a:moveTo>
                  <a:lnTo>
                    <a:pt x="134683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652760" y="224885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3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827520" y="3397568"/>
              <a:ext cx="1560195" cy="9525"/>
            </a:xfrm>
            <a:custGeom>
              <a:avLst/>
              <a:gdLst/>
              <a:ahLst/>
              <a:cxnLst/>
              <a:rect l="l" t="t" r="r" b="b"/>
              <a:pathLst>
                <a:path w="1560195" h="9525">
                  <a:moveTo>
                    <a:pt x="0" y="0"/>
                  </a:moveTo>
                  <a:lnTo>
                    <a:pt x="156019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387715" y="33499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519285" y="3397568"/>
              <a:ext cx="1560195" cy="9525"/>
            </a:xfrm>
            <a:custGeom>
              <a:avLst/>
              <a:gdLst/>
              <a:ahLst/>
              <a:cxnLst/>
              <a:rect l="l" t="t" r="r" b="b"/>
              <a:pathLst>
                <a:path w="1560195" h="9525">
                  <a:moveTo>
                    <a:pt x="156019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424035" y="33499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652260" y="202406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167688" y="17116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249728" y="25527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764202" y="224028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760845" y="33689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492490" y="33689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089005" y="33689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357360" y="33689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69492" y="181070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99058" y="184308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966008" y="2339340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995573" y="2370773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585710" y="331184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15276" y="334422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150792" y="3311842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176586" y="3344228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63307" y="2812256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平行、同向、等长的两条有向线段是同一个矢量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59090" y="3724751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大小相等、方向相反，互称负矢量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248400" y="4111942"/>
            <a:ext cx="5410200" cy="1163955"/>
            <a:chOff x="6248400" y="4111942"/>
            <a:chExt cx="5410200" cy="1163955"/>
          </a:xfrm>
        </p:grpSpPr>
        <p:sp>
          <p:nvSpPr>
            <p:cNvPr id="52" name="Rectangle 52"/>
            <p:cNvSpPr/>
            <p:nvPr/>
          </p:nvSpPr>
          <p:spPr>
            <a:xfrm>
              <a:off x="6248400" y="4111942"/>
              <a:ext cx="5410200" cy="1163955"/>
            </a:xfrm>
            <a:prstGeom prst="roundRect">
              <a:avLst>
                <a:gd name="adj" fmla="val 982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53188" y="4593908"/>
              <a:ext cx="200026" cy="200025"/>
              <a:chOff x="6453188" y="4593908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45939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492926" y="46383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27642" y="47494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5511" y="4462939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平移不变性让我们可以把两个矢量搬到一起作图，这是三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角形法则和共尾作差的前提。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9" name="Rectangle 5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04084"/>
              <a:ext cx="75820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A = A e 的好处是把大小和方向拆开：算大小时只管标量 A，定方向时只管单位矢量 e。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矢量的加法和减法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先用作图法看清楚方向，再用公式算大小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平行四边形法则与三角形法则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减法就是加上负矢量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余弦定理与正切公式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矢量的加法和减法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三角形法则：和矢量从第一个矢量的尾指向第二个矢量的头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graph-1"/>
          <p:cNvGrpSpPr/>
          <p:nvPr/>
        </p:nvGrpSpPr>
        <p:grpSpPr>
          <a:xfrm>
            <a:off x="729615" y="1606391"/>
            <a:ext cx="5177790" cy="2350294"/>
            <a:chOff x="729615" y="1606391"/>
            <a:chExt cx="5177790" cy="2350294"/>
          </a:xfrm>
        </p:grpSpPr>
        <p:sp>
          <p:nvSpPr>
            <p:cNvPr id="7" name="Freeform 7"/>
            <p:cNvSpPr/>
            <p:nvPr/>
          </p:nvSpPr>
          <p:spPr>
            <a:xfrm>
              <a:off x="796290" y="3833812"/>
              <a:ext cx="1403985" cy="9525"/>
            </a:xfrm>
            <a:custGeom>
              <a:avLst/>
              <a:gdLst/>
              <a:ahLst/>
              <a:cxnLst/>
              <a:rect l="l" t="t" r="r" b="b"/>
              <a:pathLst>
                <a:path w="1403985" h="9525">
                  <a:moveTo>
                    <a:pt x="0" y="0"/>
                  </a:moveTo>
                  <a:lnTo>
                    <a:pt x="140398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00275" y="37861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346960" y="2401252"/>
              <a:ext cx="503873" cy="1397318"/>
            </a:xfrm>
            <a:custGeom>
              <a:avLst/>
              <a:gdLst/>
              <a:ahLst/>
              <a:cxnLst/>
              <a:rect l="l" t="t" r="r" b="b"/>
              <a:pathLst>
                <a:path w="503873" h="1397318">
                  <a:moveTo>
                    <a:pt x="0" y="1397318"/>
                  </a:moveTo>
                  <a:lnTo>
                    <a:pt x="503873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06065" y="2311718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77152" y="0"/>
                  </a:moveTo>
                  <a:lnTo>
                    <a:pt x="89535" y="105728"/>
                  </a:lnTo>
                  <a:lnTo>
                    <a:pt x="0" y="73343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89622" y="2354580"/>
              <a:ext cx="1999298" cy="1457325"/>
            </a:xfrm>
            <a:custGeom>
              <a:avLst/>
              <a:gdLst/>
              <a:ahLst/>
              <a:cxnLst/>
              <a:rect l="l" t="t" r="r" b="b"/>
              <a:pathLst>
                <a:path w="1999298" h="1457325">
                  <a:moveTo>
                    <a:pt x="0" y="1457325"/>
                  </a:moveTo>
                  <a:lnTo>
                    <a:pt x="199929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60345" y="2298382"/>
              <a:ext cx="105727" cy="94297"/>
            </a:xfrm>
            <a:custGeom>
              <a:avLst/>
              <a:gdLst/>
              <a:ahLst/>
              <a:cxnLst/>
              <a:rect l="l" t="t" r="r" b="b"/>
              <a:pathLst>
                <a:path w="105727" h="94297">
                  <a:moveTo>
                    <a:pt x="105727" y="0"/>
                  </a:moveTo>
                  <a:lnTo>
                    <a:pt x="56197" y="94297"/>
                  </a:lnTo>
                  <a:lnTo>
                    <a:pt x="0" y="18097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778568" y="3833812"/>
              <a:ext cx="1403985" cy="9525"/>
            </a:xfrm>
            <a:custGeom>
              <a:avLst/>
              <a:gdLst/>
              <a:ahLst/>
              <a:cxnLst/>
              <a:rect l="l" t="t" r="r" b="b"/>
              <a:pathLst>
                <a:path w="1403985" h="9525">
                  <a:moveTo>
                    <a:pt x="0" y="0"/>
                  </a:moveTo>
                  <a:lnTo>
                    <a:pt x="140398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82552" y="37861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753802" y="2401252"/>
              <a:ext cx="503872" cy="1397318"/>
            </a:xfrm>
            <a:custGeom>
              <a:avLst/>
              <a:gdLst/>
              <a:ahLst/>
              <a:cxnLst/>
              <a:rect l="l" t="t" r="r" b="b"/>
              <a:pathLst>
                <a:path w="503872" h="1397318">
                  <a:moveTo>
                    <a:pt x="0" y="1397318"/>
                  </a:moveTo>
                  <a:lnTo>
                    <a:pt x="503872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212908" y="2311718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77152" y="0"/>
                  </a:moveTo>
                  <a:lnTo>
                    <a:pt x="89535" y="105728"/>
                  </a:lnTo>
                  <a:lnTo>
                    <a:pt x="0" y="73343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770948" y="2354580"/>
              <a:ext cx="2000250" cy="1457325"/>
            </a:xfrm>
            <a:custGeom>
              <a:avLst/>
              <a:gdLst/>
              <a:ahLst/>
              <a:cxnLst/>
              <a:rect l="l" t="t" r="r" b="b"/>
              <a:pathLst>
                <a:path w="2000250" h="1457325">
                  <a:moveTo>
                    <a:pt x="0" y="1457325"/>
                  </a:moveTo>
                  <a:lnTo>
                    <a:pt x="200025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742622" y="2298382"/>
              <a:ext cx="105728" cy="94297"/>
            </a:xfrm>
            <a:custGeom>
              <a:avLst/>
              <a:gdLst/>
              <a:ahLst/>
              <a:cxnLst/>
              <a:rect l="l" t="t" r="r" b="b"/>
              <a:pathLst>
                <a:path w="105728" h="94297">
                  <a:moveTo>
                    <a:pt x="105728" y="0"/>
                  </a:moveTo>
                  <a:lnTo>
                    <a:pt x="56197" y="94297"/>
                  </a:lnTo>
                  <a:lnTo>
                    <a:pt x="0" y="18097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341495" y="2276475"/>
              <a:ext cx="1499235" cy="9525"/>
            </a:xfrm>
            <a:custGeom>
              <a:avLst/>
              <a:gdLst/>
              <a:ahLst/>
              <a:cxnLst/>
              <a:rect l="l" t="t" r="r" b="b"/>
              <a:pathLst>
                <a:path w="1499235" h="9525">
                  <a:moveTo>
                    <a:pt x="0" y="0"/>
                  </a:moveTo>
                  <a:lnTo>
                    <a:pt x="149923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5329238" y="2311718"/>
              <a:ext cx="536257" cy="1486853"/>
            </a:xfrm>
            <a:custGeom>
              <a:avLst/>
              <a:gdLst/>
              <a:ahLst/>
              <a:cxnLst/>
              <a:rect l="l" t="t" r="r" b="b"/>
              <a:pathLst>
                <a:path w="536257" h="1486853">
                  <a:moveTo>
                    <a:pt x="0" y="1486853"/>
                  </a:moveTo>
                  <a:lnTo>
                    <a:pt x="53625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1" name="Ellipse 21"/>
            <p:cNvSpPr/>
            <p:nvPr/>
          </p:nvSpPr>
          <p:spPr>
            <a:xfrm>
              <a:off x="729615" y="380523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305050" y="380523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867978" y="22479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711892" y="380523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287328" y="380523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274820" y="22479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850255" y="22479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476375" y="3748088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05941" y="3780473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546032" y="296894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75598" y="300132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758315" y="296894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787881" y="300132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458652" y="3748088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88218" y="3780473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951922" y="296894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81488" y="300132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739640" y="296894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69206" y="300132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49273" y="160639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三角形法则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55820" y="160639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平行四边形法则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formula7"/>
              <p:cNvSpPr txBox="1">
                <a:spLocks noGrp="1"/>
              </p:cNvSpPr>
              <p:nvPr/>
            </p:nvSpPr>
            <p:spPr>
              <a:xfrm>
                <a:off x="533400" y="4390072"/>
                <a:ext cx="562641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</m:ac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0" name="c1-callout-3"/>
          <p:cNvGrpSpPr/>
          <p:nvPr/>
        </p:nvGrpSpPr>
        <p:grpSpPr>
          <a:xfrm>
            <a:off x="533400" y="4874895"/>
            <a:ext cx="5626418" cy="756285"/>
            <a:chOff x="533400" y="4874895"/>
            <a:chExt cx="5626418" cy="756285"/>
          </a:xfrm>
        </p:grpSpPr>
        <p:sp>
          <p:nvSpPr>
            <p:cNvPr id="44" name="Rectangle 44"/>
            <p:cNvSpPr/>
            <p:nvPr/>
          </p:nvSpPr>
          <p:spPr>
            <a:xfrm>
              <a:off x="533400" y="4874895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153025"/>
              <a:ext cx="200026" cy="200025"/>
              <a:chOff x="738188" y="5153025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1530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1974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53086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5023009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两条规律都可以从平行四边形图上直接看出来，所以矢量求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和不必在意先加哪一个。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464618" y="1524000"/>
            <a:ext cx="5193982" cy="1615440"/>
            <a:chOff x="6464618" y="1524000"/>
            <a:chExt cx="5193982" cy="1615440"/>
          </a:xfrm>
        </p:grpSpPr>
        <p:sp>
          <p:nvSpPr>
            <p:cNvPr id="51" name="Rectangle 51"/>
            <p:cNvSpPr/>
            <p:nvPr/>
          </p:nvSpPr>
          <p:spPr>
            <a:xfrm>
              <a:off x="6464618" y="1524000"/>
              <a:ext cx="5193982" cy="1615440"/>
            </a:xfrm>
            <a:prstGeom prst="roundRect">
              <a:avLst>
                <a:gd name="adj" fmla="val 825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62738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6177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作图步骤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63690" y="207073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22035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53631" y="2082641"/>
              <a:ext cx="31358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平移矢量 B，使 B 的尾接在 A 的头上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663690" y="2387918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22035" y="24282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53631" y="2400776"/>
              <a:ext cx="26909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和矢量 C 从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 的尾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画到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B 的头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663690" y="270605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22035" y="274639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53631" y="2717959"/>
              <a:ext cx="2884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换成先画 B 再画 A，得到同一条 C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464618" y="3319462"/>
            <a:ext cx="5193982" cy="2311718"/>
            <a:chOff x="6464618" y="3319462"/>
            <a:chExt cx="5193982" cy="2311718"/>
          </a:xfrm>
        </p:grpSpPr>
        <p:sp>
          <p:nvSpPr>
            <p:cNvPr id="64" name="Rectangle 64"/>
            <p:cNvSpPr/>
            <p:nvPr/>
          </p:nvSpPr>
          <p:spPr>
            <a:xfrm>
              <a:off x="6464618" y="3319462"/>
              <a:ext cx="5193982" cy="2311718"/>
            </a:xfrm>
            <a:prstGeom prst="roundRect">
              <a:avLst>
                <a:gd name="adj" fmla="val 57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4142" y="3452812"/>
              <a:ext cx="47625" cy="20450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700838" y="351758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92278" y="355187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708458" y="393858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65048" y="3878104"/>
              <a:ext cx="437870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原课件两处标注写作“从矢量A的头到矢量B的尾的矢量”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“从矢量B的头到矢量A的尾的矢量”。按图中画法，和矢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量是从第一个矢量的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尾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指向第二个矢量的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头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，头和尾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写反了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94742" y="5006340"/>
              <a:ext cx="4584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平行四边形法则里两矢量共尾，和矢量是以它们为邻边的平行四边形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的对角线。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2" name="Rectangle 7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511" y="6011704"/>
              <a:ext cx="88078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多个矢量相加时按三角形法则首尾相接连成折线，合矢量从第一个矢量的尾直接指到最后一个矢量的头。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80287" cy="909257"/>
            <a:chOff x="520446" y="342900"/>
            <a:chExt cx="74802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矢量的加法和减法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802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减法：两矢量共尾时，A−B 从 B 的头指向 A 的头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1002982" y="1828800"/>
            <a:ext cx="3043238" cy="2066639"/>
            <a:chOff x="1002982" y="1828800"/>
            <a:chExt cx="3043238" cy="2066639"/>
          </a:xfrm>
        </p:grpSpPr>
        <p:sp>
          <p:nvSpPr>
            <p:cNvPr id="7" name="Freeform 7"/>
            <p:cNvSpPr/>
            <p:nvPr/>
          </p:nvSpPr>
          <p:spPr>
            <a:xfrm>
              <a:off x="1055370" y="1959292"/>
              <a:ext cx="1383030" cy="1630680"/>
            </a:xfrm>
            <a:custGeom>
              <a:avLst/>
              <a:gdLst/>
              <a:ahLst/>
              <a:cxnLst/>
              <a:rect l="l" t="t" r="r" b="b"/>
              <a:pathLst>
                <a:path w="1383030" h="1630680">
                  <a:moveTo>
                    <a:pt x="0" y="1630680"/>
                  </a:moveTo>
                  <a:lnTo>
                    <a:pt x="138303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02205" y="1886902"/>
              <a:ext cx="97155" cy="102870"/>
            </a:xfrm>
            <a:custGeom>
              <a:avLst/>
              <a:gdLst/>
              <a:ahLst/>
              <a:cxnLst/>
              <a:rect l="l" t="t" r="r" b="b"/>
              <a:pathLst>
                <a:path w="97155" h="102870">
                  <a:moveTo>
                    <a:pt x="97155" y="0"/>
                  </a:moveTo>
                  <a:lnTo>
                    <a:pt x="72390" y="102870"/>
                  </a:lnTo>
                  <a:lnTo>
                    <a:pt x="0" y="40958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67752" y="2890838"/>
              <a:ext cx="2820352" cy="719138"/>
            </a:xfrm>
            <a:custGeom>
              <a:avLst/>
              <a:gdLst/>
              <a:ahLst/>
              <a:cxnLst/>
              <a:rect l="l" t="t" r="r" b="b"/>
              <a:pathLst>
                <a:path w="2820352" h="719138">
                  <a:moveTo>
                    <a:pt x="0" y="719138"/>
                  </a:moveTo>
                  <a:lnTo>
                    <a:pt x="2820352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76675" y="2844165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103822" y="22860"/>
                  </a:moveTo>
                  <a:lnTo>
                    <a:pt x="23812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35568" y="1931670"/>
              <a:ext cx="1350645" cy="904875"/>
            </a:xfrm>
            <a:custGeom>
              <a:avLst/>
              <a:gdLst/>
              <a:ahLst/>
              <a:cxnLst/>
              <a:rect l="l" t="t" r="r" b="b"/>
              <a:pathLst>
                <a:path w="1350645" h="904875">
                  <a:moveTo>
                    <a:pt x="1350645" y="9048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55558" y="1878330"/>
              <a:ext cx="105727" cy="92393"/>
            </a:xfrm>
            <a:custGeom>
              <a:avLst/>
              <a:gdLst/>
              <a:ahLst/>
              <a:cxnLst/>
              <a:rect l="l" t="t" r="r" b="b"/>
              <a:pathLst>
                <a:path w="105727" h="92393">
                  <a:moveTo>
                    <a:pt x="0" y="0"/>
                  </a:moveTo>
                  <a:lnTo>
                    <a:pt x="105727" y="13335"/>
                  </a:lnTo>
                  <a:lnTo>
                    <a:pt x="53340" y="9239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02982" y="359092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495550" y="18288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989070" y="282892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704975" y="2646045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34078" y="2679859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51735" y="3145155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80838" y="3179921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129915" y="2265045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50931" y="2298859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A−B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31545" y="3704749"/>
              <a:ext cx="1579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差矢量的箭头指向被减数 A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9"/>
              <p:cNvSpPr txBox="1">
                <a:spLocks noGrp="1"/>
              </p:cNvSpPr>
              <p:nvPr/>
            </p:nvSpPr>
            <p:spPr>
              <a:xfrm>
                <a:off x="533400" y="4095750"/>
                <a:ext cx="497776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2" name="c2-card-1"/>
          <p:cNvGrpSpPr/>
          <p:nvPr/>
        </p:nvGrpSpPr>
        <p:grpSpPr>
          <a:xfrm>
            <a:off x="5815965" y="1524000"/>
            <a:ext cx="5842635" cy="1365885"/>
            <a:chOff x="5815965" y="1524000"/>
            <a:chExt cx="5842635" cy="1365885"/>
          </a:xfrm>
        </p:grpSpPr>
        <p:sp>
          <p:nvSpPr>
            <p:cNvPr id="25" name="Rectangle 25"/>
            <p:cNvSpPr/>
            <p:nvPr/>
          </p:nvSpPr>
          <p:spPr>
            <a:xfrm>
              <a:off x="5815965" y="1524000"/>
              <a:ext cx="5842635" cy="1365885"/>
            </a:xfrm>
            <a:prstGeom prst="roundRect">
              <a:avLst>
                <a:gd name="adj" fmla="val 97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25515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94070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两种等价的做法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031230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89345" y="2110740"/>
              <a:ext cx="4035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B 反向得到 −B，再按三角形法则与 A 相加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31230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89345" y="2446020"/>
              <a:ext cx="4501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把 A 和 B 画成共尾，差矢量从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B 的头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指向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 的头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5815965" y="3080385"/>
            <a:ext cx="5842635" cy="1602105"/>
            <a:chOff x="5815965" y="3080385"/>
            <a:chExt cx="5842635" cy="1602105"/>
          </a:xfrm>
        </p:grpSpPr>
        <p:sp>
          <p:nvSpPr>
            <p:cNvPr id="33" name="Rectangle 33"/>
            <p:cNvSpPr/>
            <p:nvPr/>
          </p:nvSpPr>
          <p:spPr>
            <a:xfrm>
              <a:off x="5815965" y="3080385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25490" y="321373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63615" y="3289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53823" y="3325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69330" y="37299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27445" y="3667125"/>
              <a:ext cx="5025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原课件标注写作“从矢量B的尾到矢量A的尾的矢量”。图中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 共尾，从 B 的尾到 A 的尾只是同一个点，得到的是零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矢量；差矢量应当是从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 的头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指向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的头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5815965" y="4872990"/>
            <a:ext cx="5842635" cy="782955"/>
            <a:chOff x="5815965" y="4872990"/>
            <a:chExt cx="5842635" cy="782955"/>
          </a:xfrm>
        </p:grpSpPr>
        <p:sp>
          <p:nvSpPr>
            <p:cNvPr id="40" name="Rectangle 40"/>
            <p:cNvSpPr/>
            <p:nvPr/>
          </p:nvSpPr>
          <p:spPr>
            <a:xfrm>
              <a:off x="5815965" y="487299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008694" y="5160763"/>
              <a:ext cx="224134" cy="192560"/>
              <a:chOff x="6008694" y="5160763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120765" y="52311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008694" y="51607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120765" y="53089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322695" y="5021580"/>
              <a:ext cx="4815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减法没有交换律。A−B 与 B−A 大小相同、方向相反，作图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时一定要先看清楚谁是被减数。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8633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质点的位移就是位置矢量之差，Δr = r₂ − r₁，箭头由初位置指向末位置，这正是共尾作差的图。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矢量的加法和减法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合矢量的大小和方向：余弦定理配一个正切公式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graph-1"/>
          <p:cNvGrpSpPr/>
          <p:nvPr/>
        </p:nvGrpSpPr>
        <p:grpSpPr>
          <a:xfrm>
            <a:off x="920115" y="2044065"/>
            <a:ext cx="3900487" cy="1532286"/>
            <a:chOff x="920115" y="2044065"/>
            <a:chExt cx="3900487" cy="1532286"/>
          </a:xfrm>
        </p:grpSpPr>
        <p:sp>
          <p:nvSpPr>
            <p:cNvPr id="7" name="Freeform 7"/>
            <p:cNvSpPr/>
            <p:nvPr/>
          </p:nvSpPr>
          <p:spPr>
            <a:xfrm>
              <a:off x="986790" y="3444240"/>
              <a:ext cx="2426018" cy="9525"/>
            </a:xfrm>
            <a:custGeom>
              <a:avLst/>
              <a:gdLst/>
              <a:ahLst/>
              <a:cxnLst/>
              <a:rect l="l" t="t" r="r" b="b"/>
              <a:pathLst>
                <a:path w="2426018" h="9525">
                  <a:moveTo>
                    <a:pt x="0" y="0"/>
                  </a:moveTo>
                  <a:lnTo>
                    <a:pt x="242601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12808" y="33966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74408" y="2171700"/>
              <a:ext cx="1131570" cy="1243965"/>
            </a:xfrm>
            <a:custGeom>
              <a:avLst/>
              <a:gdLst/>
              <a:ahLst/>
              <a:cxnLst/>
              <a:rect l="l" t="t" r="r" b="b"/>
              <a:pathLst>
                <a:path w="1131570" h="1243965">
                  <a:moveTo>
                    <a:pt x="0" y="1243965"/>
                  </a:moveTo>
                  <a:lnTo>
                    <a:pt x="113157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70735" y="2101215"/>
              <a:ext cx="99060" cy="101918"/>
            </a:xfrm>
            <a:custGeom>
              <a:avLst/>
              <a:gdLst/>
              <a:ahLst/>
              <a:cxnLst/>
              <a:rect l="l" t="t" r="r" b="b"/>
              <a:pathLst>
                <a:path w="99060" h="101918">
                  <a:moveTo>
                    <a:pt x="99060" y="0"/>
                  </a:moveTo>
                  <a:lnTo>
                    <a:pt x="70485" y="101918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84885" y="2117408"/>
              <a:ext cx="3681412" cy="1314450"/>
            </a:xfrm>
            <a:custGeom>
              <a:avLst/>
              <a:gdLst/>
              <a:ahLst/>
              <a:cxnLst/>
              <a:rect l="l" t="t" r="r" b="b"/>
              <a:pathLst>
                <a:path w="3681412" h="1314450">
                  <a:moveTo>
                    <a:pt x="0" y="1314450"/>
                  </a:moveTo>
                  <a:lnTo>
                    <a:pt x="368141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51058" y="207264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12383"/>
                  </a:moveTo>
                  <a:lnTo>
                    <a:pt x="31433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233612" y="2072640"/>
              <a:ext cx="2520315" cy="9525"/>
            </a:xfrm>
            <a:custGeom>
              <a:avLst/>
              <a:gdLst/>
              <a:ahLst/>
              <a:cxnLst/>
              <a:rect l="l" t="t" r="r" b="b"/>
              <a:pathLst>
                <a:path w="2520315" h="9525">
                  <a:moveTo>
                    <a:pt x="0" y="0"/>
                  </a:moveTo>
                  <a:lnTo>
                    <a:pt x="252031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571875" y="2101215"/>
              <a:ext cx="1194435" cy="1314450"/>
            </a:xfrm>
            <a:custGeom>
              <a:avLst/>
              <a:gdLst/>
              <a:ahLst/>
              <a:cxnLst/>
              <a:rect l="l" t="t" r="r" b="b"/>
              <a:pathLst>
                <a:path w="1194435" h="1314450">
                  <a:moveTo>
                    <a:pt x="0" y="1314450"/>
                  </a:moveTo>
                  <a:lnTo>
                    <a:pt x="119443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Ellipse 15"/>
            <p:cNvSpPr/>
            <p:nvPr/>
          </p:nvSpPr>
          <p:spPr>
            <a:xfrm>
              <a:off x="920115" y="341566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517582" y="341566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166938" y="204406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763452" y="204406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174558" y="3351848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03661" y="3385661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500188" y="2666048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29291" y="2699861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798445" y="2666048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827548" y="2699861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67780" y="27579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35457" y="312372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4000500"/>
            <a:ext cx="5193982" cy="1296352"/>
            <a:chOff x="533400" y="4000500"/>
            <a:chExt cx="5193982" cy="1296352"/>
          </a:xfrm>
        </p:grpSpPr>
        <p:sp>
          <p:nvSpPr>
            <p:cNvPr id="28" name="Rectangle 28"/>
            <p:cNvSpPr/>
            <p:nvPr/>
          </p:nvSpPr>
          <p:spPr>
            <a:xfrm>
              <a:off x="533400" y="4000500"/>
              <a:ext cx="5193982" cy="1296352"/>
            </a:xfrm>
            <a:prstGeom prst="roundRect">
              <a:avLst>
                <a:gd name="adj" fmla="val 881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4548188"/>
              <a:ext cx="200026" cy="200025"/>
              <a:chOff x="738188" y="454818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5481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45926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47037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4543425"/>
              <a:ext cx="4368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θ 是 A 与 B 的夹角，φ 是合矢量 C 与 A 的夹角。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3"/>
              <p:cNvSpPr txBox="1">
                <a:spLocks noGrp="1"/>
              </p:cNvSpPr>
              <p:nvPr/>
            </p:nvSpPr>
            <p:spPr>
              <a:xfrm>
                <a:off x="6032182" y="1524000"/>
                <a:ext cx="562641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2AB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14"/>
              <p:cNvSpPr txBox="1">
                <a:spLocks noGrp="1"/>
              </p:cNvSpPr>
              <p:nvPr/>
            </p:nvSpPr>
            <p:spPr>
              <a:xfrm>
                <a:off x="6032182" y="2171700"/>
                <a:ext cx="5626418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tan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func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ormula15"/>
              <p:cNvSpPr txBox="1">
                <a:spLocks noGrp="1"/>
              </p:cNvSpPr>
              <p:nvPr/>
            </p:nvSpPr>
            <p:spPr>
              <a:xfrm>
                <a:off x="6032182" y="2876550"/>
                <a:ext cx="5626418" cy="4343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2AB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62" name="c2-table-4"/>
          <p:cNvGrpSpPr/>
          <p:nvPr/>
        </p:nvGrpSpPr>
        <p:grpSpPr>
          <a:xfrm>
            <a:off x="6032182" y="3501390"/>
            <a:ext cx="5626418" cy="1795462"/>
            <a:chOff x="6032182" y="3501390"/>
            <a:chExt cx="5626418" cy="1795462"/>
          </a:xfrm>
        </p:grpSpPr>
        <p:sp>
          <p:nvSpPr>
            <p:cNvPr id="38" name="Rectangle 38"/>
            <p:cNvSpPr/>
            <p:nvPr/>
          </p:nvSpPr>
          <p:spPr>
            <a:xfrm>
              <a:off x="6032182" y="3501390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69332" y="36371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40397" y="363712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两矢量的关系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73904" y="3637121"/>
              <a:ext cx="443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|A+B|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49339" y="3637121"/>
              <a:ext cx="443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|A−B|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19577" y="40857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27723" y="40857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84145" y="4085749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04960" y="4085749"/>
              <a:ext cx="531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 − B|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32182" y="43938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32182" y="439864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69821" y="453437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27723" y="45343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互相垂直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88423" y="4534376"/>
              <a:ext cx="814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√(A²+B²)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63858" y="4534376"/>
              <a:ext cx="814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√(A²+B²)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4843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20066" y="498300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27723" y="49830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29525" y="4983004"/>
              <a:ext cx="531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 − B|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59580" y="4983004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3501390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815138" y="35013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502968" y="35013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078402" y="35013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3" name="Rectangle 6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728335"/>
              <a:ext cx="9892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原课件先写成 C = √(A²+B²−2AB cos(180°−θ))，式中的角是三角形的内角 180°−θ，化简后才是 +2AB cos θ。代公式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前先看清楚手里的角是共尾夹角还是三角形内角。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21815" cy="909257"/>
            <a:chOff x="520446" y="342900"/>
            <a:chExt cx="34218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矢量的加法和减法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218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两个共点力的合成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428750"/>
            <a:chOff x="533400" y="1524000"/>
            <a:chExt cx="4760595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作用在同一点上的两个力 F₁ = 30 N，F₂ = 40 N，两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者夹角 θ = 60°。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33517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合力 F 的大小，以及 F 与 F₁ 的夹角 φ。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117532"/>
            <a:ext cx="4760595" cy="2495550"/>
            <a:chOff x="533400" y="3117532"/>
            <a:chExt cx="4760595" cy="2495550"/>
          </a:xfrm>
        </p:grpSpPr>
        <p:sp>
          <p:nvSpPr>
            <p:cNvPr id="14" name="Rectangle 14"/>
            <p:cNvSpPr/>
            <p:nvPr/>
          </p:nvSpPr>
          <p:spPr>
            <a:xfrm>
              <a:off x="533400" y="3117532"/>
              <a:ext cx="4760595" cy="249555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250882"/>
              <a:ext cx="47625" cy="22288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29850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2744" y="333136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量纲与合理性检验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6918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639026"/>
              <a:ext cx="369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根号内每项都是 N²，开方后单位为 N，与力一致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397668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3923824"/>
              <a:ext cx="3792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应满足 |F₁−F₂| ≤ F ≤ F₁+F₂，即 10 ≤ 60.8 ≤ 70，成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2000" y="450437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448" y="4451509"/>
              <a:ext cx="3906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 &gt; F₁，合力偏向 F₂ 一侧，故 φ 应大于 θ/2 = 30°，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算得 34.7°，一致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5598795" y="1533525"/>
            <a:ext cx="5613829" cy="2149412"/>
            <a:chOff x="5598795" y="1533525"/>
            <a:chExt cx="5613829" cy="2149412"/>
          </a:xfrm>
        </p:grpSpPr>
        <p:sp>
          <p:nvSpPr>
            <p:cNvPr id="25" name="Rectangle 25"/>
            <p:cNvSpPr/>
            <p:nvPr/>
          </p:nvSpPr>
          <p:spPr>
            <a:xfrm>
              <a:off x="573214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59879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9241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418" y="15644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代余弦公式求大小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2561" y="1818322"/>
              <a:ext cx="5200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√(30² + 40² + 2×30×40×cos60°) = √(900 + 1600 + 1200) = √3700 ≈ 60.8 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418" y="21169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代正切公式求方向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2561" y="2371725"/>
              <a:ext cx="48024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tan φ = 40 sin60° / (30 + 40 cos60°) = 34.641 / 50 = 0.6928，φ ≈ 34.7°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1418" y="26703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换解析法复核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2561" y="2925128"/>
              <a:ext cx="463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F₁ 为 x 轴，Fx = 30 + 40 cos60° = 50 N，Fy = 40 sin60° = 34.641 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1418" y="322278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两法结果一致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2561" y="3477578"/>
              <a:ext cx="4545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√(50² + 34.641²) = 60.83 N，φ = arctan(34.641/50) = 34.72°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5598795" y="3844290"/>
            <a:ext cx="6059805" cy="901065"/>
            <a:chOff x="5598795" y="3844290"/>
            <a:chExt cx="6059805" cy="901065"/>
          </a:xfrm>
        </p:grpSpPr>
        <p:sp>
          <p:nvSpPr>
            <p:cNvPr id="43" name="Rectangle 43"/>
            <p:cNvSpPr/>
            <p:nvPr/>
          </p:nvSpPr>
          <p:spPr>
            <a:xfrm>
              <a:off x="5598795" y="3844290"/>
              <a:ext cx="6059805" cy="901065"/>
            </a:xfrm>
            <a:prstGeom prst="roundRect">
              <a:avLst>
                <a:gd name="adj" fmla="val 147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779770" y="402526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76493" y="40581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73293" y="4365784"/>
              <a:ext cx="5178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合力大小约为 60.8 N，方向与 F₁ 成 34.7°，位于 F₁ 与 F₂ 之间。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5598795" y="4911090"/>
            <a:ext cx="6059805" cy="702945"/>
            <a:chOff x="5598795" y="4911090"/>
            <a:chExt cx="6059805" cy="702945"/>
          </a:xfrm>
        </p:grpSpPr>
        <p:sp>
          <p:nvSpPr>
            <p:cNvPr id="48" name="Rectangle 48"/>
            <p:cNvSpPr/>
            <p:nvPr/>
          </p:nvSpPr>
          <p:spPr>
            <a:xfrm>
              <a:off x="5598795" y="4911090"/>
              <a:ext cx="605980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5803583" y="5161598"/>
              <a:ext cx="200026" cy="200025"/>
              <a:chOff x="5803583" y="516159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803583" y="51615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843321" y="52060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878037" y="53171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106668" y="5055394"/>
              <a:ext cx="51417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先画一张平行四边形草图确认 φ 落在 F₁ 与 F₂ 之间，再代公式，可以避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免把角取错。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5" name="Rectangle 5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1273" y="6039326"/>
              <a:ext cx="9096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同样两个力改成反向夹角，即求 F₁−F₂ 时大小为 √(900+1600−1200) = √1300 ≈ 36.1 N，可见夹角变了结果差很多。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矢量合成的解析法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把作图问题变成加减数字的问题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平面直角坐标系的二分矢量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空间直角坐标系的三分矢量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方向角与方向余弦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矢量合成的解析法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解析法：把矢量拆成两个互相垂直的分量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graph-1"/>
          <p:cNvGrpSpPr/>
          <p:nvPr/>
        </p:nvGrpSpPr>
        <p:grpSpPr>
          <a:xfrm>
            <a:off x="642433" y="1688306"/>
            <a:ext cx="4468403" cy="3137631"/>
            <a:chOff x="642433" y="1688306"/>
            <a:chExt cx="4468403" cy="3137631"/>
          </a:xfrm>
        </p:grpSpPr>
        <p:sp>
          <p:nvSpPr>
            <p:cNvPr id="7" name="Freeform 7"/>
            <p:cNvSpPr/>
            <p:nvPr/>
          </p:nvSpPr>
          <p:spPr>
            <a:xfrm>
              <a:off x="1155382" y="4399598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0" y="0"/>
                  </a:moveTo>
                  <a:lnTo>
                    <a:pt x="37338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889182" y="43519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17282" y="1967865"/>
              <a:ext cx="9525" cy="2393632"/>
            </a:xfrm>
            <a:custGeom>
              <a:avLst/>
              <a:gdLst/>
              <a:ahLst/>
              <a:cxnLst/>
              <a:rect l="l" t="t" r="r" b="b"/>
              <a:pathLst>
                <a:path w="9525" h="2393632">
                  <a:moveTo>
                    <a:pt x="0" y="239363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69658" y="18726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47762" y="2340292"/>
              <a:ext cx="2687955" cy="2035492"/>
            </a:xfrm>
            <a:custGeom>
              <a:avLst/>
              <a:gdLst/>
              <a:ahLst/>
              <a:cxnLst/>
              <a:rect l="l" t="t" r="r" b="b"/>
              <a:pathLst>
                <a:path w="2687955" h="2035492">
                  <a:moveTo>
                    <a:pt x="0" y="2035492"/>
                  </a:moveTo>
                  <a:lnTo>
                    <a:pt x="268795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07142" y="2282190"/>
              <a:ext cx="104775" cy="96202"/>
            </a:xfrm>
            <a:custGeom>
              <a:avLst/>
              <a:gdLst/>
              <a:ahLst/>
              <a:cxnLst/>
              <a:rect l="l" t="t" r="r" b="b"/>
              <a:pathLst>
                <a:path w="104775" h="96202">
                  <a:moveTo>
                    <a:pt x="104775" y="0"/>
                  </a:moveTo>
                  <a:lnTo>
                    <a:pt x="57150" y="96202"/>
                  </a:lnTo>
                  <a:lnTo>
                    <a:pt x="0" y="20002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941445" y="2297430"/>
              <a:ext cx="9525" cy="2064068"/>
            </a:xfrm>
            <a:custGeom>
              <a:avLst/>
              <a:gdLst/>
              <a:ahLst/>
              <a:cxnLst/>
              <a:rect l="l" t="t" r="r" b="b"/>
              <a:pathLst>
                <a:path w="9525" h="2064068">
                  <a:moveTo>
                    <a:pt x="0" y="0"/>
                  </a:moveTo>
                  <a:lnTo>
                    <a:pt x="0" y="206406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155382" y="2259330"/>
              <a:ext cx="2747962" cy="9525"/>
            </a:xfrm>
            <a:custGeom>
              <a:avLst/>
              <a:gdLst/>
              <a:ahLst/>
              <a:cxnLst/>
              <a:rect l="l" t="t" r="r" b="b"/>
              <a:pathLst>
                <a:path w="2747962" h="9525">
                  <a:moveTo>
                    <a:pt x="274796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Ellipse 15"/>
            <p:cNvSpPr/>
            <p:nvPr/>
          </p:nvSpPr>
          <p:spPr>
            <a:xfrm>
              <a:off x="1088708" y="437102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912870" y="223075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912870" y="437102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88708" y="223075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12334" y="43295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8031" y="1688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60308" y="324326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89873" y="327564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93140" y="4620578"/>
              <a:ext cx="170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433" y="3148965"/>
              <a:ext cx="170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97953" y="40024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591" y="459438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19"/>
              <p:cNvSpPr txBox="1">
                <a:spLocks noGrp="1"/>
              </p:cNvSpPr>
              <p:nvPr/>
            </p:nvSpPr>
            <p:spPr>
              <a:xfrm>
                <a:off x="5707380" y="1524000"/>
                <a:ext cx="595122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20"/>
              <p:cNvSpPr txBox="1">
                <a:spLocks noGrp="1"/>
              </p:cNvSpPr>
              <p:nvPr/>
            </p:nvSpPr>
            <p:spPr>
              <a:xfrm>
                <a:off x="5707380" y="2095500"/>
                <a:ext cx="595122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21"/>
              <p:cNvSpPr txBox="1">
                <a:spLocks noGrp="1"/>
              </p:cNvSpPr>
              <p:nvPr/>
            </p:nvSpPr>
            <p:spPr>
              <a:xfrm>
                <a:off x="5707380" y="2667000"/>
                <a:ext cx="595122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tan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6" name="c2-card-4"/>
          <p:cNvGrpSpPr/>
          <p:nvPr/>
        </p:nvGrpSpPr>
        <p:grpSpPr>
          <a:xfrm>
            <a:off x="5707380" y="3371850"/>
            <a:ext cx="5951220" cy="1602105"/>
            <a:chOff x="5707380" y="3371850"/>
            <a:chExt cx="5951220" cy="1602105"/>
          </a:xfrm>
        </p:grpSpPr>
        <p:sp>
          <p:nvSpPr>
            <p:cNvPr id="31" name="Rectangle 31"/>
            <p:cNvSpPr/>
            <p:nvPr/>
          </p:nvSpPr>
          <p:spPr>
            <a:xfrm>
              <a:off x="5707380" y="3371850"/>
              <a:ext cx="595122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716905" y="350520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955030" y="358140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41288" y="36171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47410" y="3958590"/>
              <a:ext cx="5234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arctan 的值域只有 −90° 到 90°，只用 tan θ = Ay/Ax 算出的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角可能差 180°。要看 Ax、Ay 的正负号定象限：Ax &lt; 0 时把算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得的角加 180°。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8161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分量是带正负号的标量，正负号表示分矢量与坐标轴同向还是反向；分矢量 Ax i 才是矢量。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矢量合成的解析法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空间中要三个分量，方向由三个方向角确定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graph-1"/>
          <p:cNvGrpSpPr/>
          <p:nvPr/>
        </p:nvGrpSpPr>
        <p:grpSpPr>
          <a:xfrm>
            <a:off x="769899" y="1728311"/>
            <a:ext cx="4287597" cy="3584258"/>
            <a:chOff x="769899" y="1728311"/>
            <a:chExt cx="4287597" cy="3584258"/>
          </a:xfrm>
        </p:grpSpPr>
        <p:sp>
          <p:nvSpPr>
            <p:cNvPr id="7" name="Freeform 7"/>
            <p:cNvSpPr/>
            <p:nvPr/>
          </p:nvSpPr>
          <p:spPr>
            <a:xfrm>
              <a:off x="2000250" y="3950018"/>
              <a:ext cx="2835592" cy="9525"/>
            </a:xfrm>
            <a:custGeom>
              <a:avLst/>
              <a:gdLst/>
              <a:ahLst/>
              <a:cxnLst/>
              <a:rect l="l" t="t" r="r" b="b"/>
              <a:pathLst>
                <a:path w="2835592" h="9525">
                  <a:moveTo>
                    <a:pt x="0" y="0"/>
                  </a:moveTo>
                  <a:lnTo>
                    <a:pt x="283559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835842" y="39023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62150" y="2007870"/>
              <a:ext cx="9525" cy="1904047"/>
            </a:xfrm>
            <a:custGeom>
              <a:avLst/>
              <a:gdLst/>
              <a:ahLst/>
              <a:cxnLst/>
              <a:rect l="l" t="t" r="r" b="b"/>
              <a:pathLst>
                <a:path w="9525" h="1904047">
                  <a:moveTo>
                    <a:pt x="0" y="190404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14525" y="19126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62025" y="3977640"/>
              <a:ext cx="973455" cy="1033462"/>
            </a:xfrm>
            <a:custGeom>
              <a:avLst/>
              <a:gdLst/>
              <a:ahLst/>
              <a:cxnLst/>
              <a:rect l="l" t="t" r="r" b="b"/>
              <a:pathLst>
                <a:path w="973455" h="1033462">
                  <a:moveTo>
                    <a:pt x="973455" y="0"/>
                  </a:moveTo>
                  <a:lnTo>
                    <a:pt x="0" y="103346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96302" y="4978718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0" y="101917"/>
                  </a:moveTo>
                  <a:lnTo>
                    <a:pt x="30480" y="0"/>
                  </a:lnTo>
                  <a:lnTo>
                    <a:pt x="100012" y="65722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92630" y="2382202"/>
              <a:ext cx="2240280" cy="1545907"/>
            </a:xfrm>
            <a:custGeom>
              <a:avLst/>
              <a:gdLst/>
              <a:ahLst/>
              <a:cxnLst/>
              <a:rect l="l" t="t" r="r" b="b"/>
              <a:pathLst>
                <a:path w="2240280" h="1545907">
                  <a:moveTo>
                    <a:pt x="0" y="1545907"/>
                  </a:moveTo>
                  <a:lnTo>
                    <a:pt x="224028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05288" y="2327910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0"/>
                  </a:moveTo>
                  <a:lnTo>
                    <a:pt x="54292" y="93345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933575" y="39214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313872" y="227838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58994" y="3880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2899" y="17283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9899" y="5092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82290" y="304228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11856" y="3074670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7619" y="346138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α 与 x 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5619" y="240506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β 与 y 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38822" y="455676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γ 与 z 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62049" y="4196239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25"/>
              <p:cNvSpPr txBox="1">
                <a:spLocks noGrp="1"/>
              </p:cNvSpPr>
              <p:nvPr/>
            </p:nvSpPr>
            <p:spPr>
              <a:xfrm>
                <a:off x="5598795" y="1524000"/>
                <a:ext cx="605980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b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26"/>
              <p:cNvSpPr txBox="1">
                <a:spLocks noGrp="1"/>
              </p:cNvSpPr>
              <p:nvPr/>
            </p:nvSpPr>
            <p:spPr>
              <a:xfrm>
                <a:off x="5598795" y="2125980"/>
                <a:ext cx="605980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4" name="c2-card-3"/>
          <p:cNvGrpSpPr/>
          <p:nvPr/>
        </p:nvGrpSpPr>
        <p:grpSpPr>
          <a:xfrm>
            <a:off x="5598795" y="2779395"/>
            <a:ext cx="6059805" cy="1684020"/>
            <a:chOff x="5598795" y="2779395"/>
            <a:chExt cx="6059805" cy="1684020"/>
          </a:xfrm>
        </p:grpSpPr>
        <p:sp>
          <p:nvSpPr>
            <p:cNvPr id="29" name="Rectangle 29"/>
            <p:cNvSpPr/>
            <p:nvPr/>
          </p:nvSpPr>
          <p:spPr>
            <a:xfrm>
              <a:off x="5598795" y="2779395"/>
              <a:ext cx="6059805" cy="1684020"/>
            </a:xfrm>
            <a:prstGeom prst="roundRect">
              <a:avLst>
                <a:gd name="adj" fmla="val 791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808345" y="298894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73902" y="302466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三个方向角不独立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27"/>
                <p:cNvSpPr txBox="1">
                  <a:spLocks noGrp="1"/>
                </p:cNvSpPr>
                <p:nvPr/>
              </p:nvSpPr>
              <p:spPr>
                <a:xfrm>
                  <a:off x="5808345" y="3341370"/>
                  <a:ext cx="564070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5801868" y="3820001"/>
              <a:ext cx="53611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 Ax²+Ay²+Az² = A² 直接得到。算完三个方向角用它自检，是很快的检查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手段；原课件没有给这一条。</a:t>
              </a:r>
            </a:p>
          </p:txBody>
        </p:sp>
      </p:grpSp>
      <p:grpSp>
        <p:nvGrpSpPr>
          <p:cNvPr id="41" name="c2-callout-4"/>
          <p:cNvGrpSpPr/>
          <p:nvPr/>
        </p:nvGrpSpPr>
        <p:grpSpPr>
          <a:xfrm>
            <a:off x="5598795" y="4653915"/>
            <a:ext cx="6059805" cy="782955"/>
            <a:chOff x="5598795" y="4653915"/>
            <a:chExt cx="6059805" cy="782955"/>
          </a:xfrm>
        </p:grpSpPr>
        <p:sp>
          <p:nvSpPr>
            <p:cNvPr id="35" name="Rectangle 35"/>
            <p:cNvSpPr/>
            <p:nvPr/>
          </p:nvSpPr>
          <p:spPr>
            <a:xfrm>
              <a:off x="5598795" y="465391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803583" y="4945380"/>
              <a:ext cx="200026" cy="200025"/>
              <a:chOff x="5803583" y="4945380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803583" y="49453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843321" y="49898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878037" y="51009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105525" y="4802505"/>
              <a:ext cx="5044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方向角 α、β、γ 都从坐标轴的正方向量起，取值范围是 0 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180°，所以由方向余弦反求角度没有多值问题。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10545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三个方向余弦正好是单位矢量 e 的三个分量，所以 e = cos α i + cos β j + cos γ k，平方和为 1 也就是 e 的模等于 1。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矢量合成的解析法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分量形式下，加减法就是对应分量各算各的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9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2038350"/>
            <a:ext cx="5626418" cy="1997392"/>
            <a:chOff x="533400" y="2038350"/>
            <a:chExt cx="5626418" cy="1997392"/>
          </a:xfrm>
        </p:grpSpPr>
        <p:sp>
          <p:nvSpPr>
            <p:cNvPr id="8" name="Rectangle 8"/>
            <p:cNvSpPr/>
            <p:nvPr/>
          </p:nvSpPr>
          <p:spPr>
            <a:xfrm>
              <a:off x="533400" y="2038350"/>
              <a:ext cx="5626418" cy="1997392"/>
            </a:xfrm>
            <a:prstGeom prst="roundRect">
              <a:avLst>
                <a:gd name="adj" fmla="val 66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171700"/>
              <a:ext cx="47625" cy="17306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81050" y="224790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3359" y="22836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一步看懂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625090"/>
              <a:ext cx="2809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2i + 3j + 6k，B = 3i − 4j 时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232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960370"/>
              <a:ext cx="427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 = (2+3)i + (3−4)j + (6+0)k = 5i − j + 6k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3585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295650"/>
              <a:ext cx="4387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− B = (2−3)i + (3+4)j + (6−0)k = −i + 7j + 6k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627596"/>
              <a:ext cx="3672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没有写出 k 项，说明 Bz = 0，不是把它漏掉。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226242"/>
            <a:ext cx="5626418" cy="1422082"/>
            <a:chOff x="533400" y="4226242"/>
            <a:chExt cx="5626418" cy="1422082"/>
          </a:xfrm>
        </p:grpSpPr>
        <p:sp>
          <p:nvSpPr>
            <p:cNvPr id="19" name="Rectangle 19"/>
            <p:cNvSpPr/>
            <p:nvPr/>
          </p:nvSpPr>
          <p:spPr>
            <a:xfrm>
              <a:off x="533400" y="4226242"/>
              <a:ext cx="5626418" cy="1422082"/>
            </a:xfrm>
            <a:prstGeom prst="roundRect">
              <a:avLst>
                <a:gd name="adj" fmla="val 803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4834056"/>
              <a:ext cx="224134" cy="192560"/>
              <a:chOff x="726129" y="4834056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49044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48340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9822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694872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分量加减只有在同一套坐标系、同一组单位矢量下才成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立。换坐标系时分量全变，但矢量本身和它的模不变。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464618" y="1524000"/>
            <a:ext cx="5193982" cy="3150870"/>
            <a:chOff x="6464618" y="1524000"/>
            <a:chExt cx="5193982" cy="3150870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049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475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几何作图法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8216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解析分量法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72441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11618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平移后首尾相接量长度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和角度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89020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分解到坐标轴后逐项加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643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64618" y="264795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72441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11618" y="278368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两个矢量，要看清方向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89020" y="278368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三个以上矢量，或要精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确数值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3319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72441" y="35723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11618" y="3459004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直观，容易发现方向取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89020" y="3459004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不用作图，可以直接算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9947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4618" y="3999548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2441" y="42476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1618" y="424767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精度受作图限制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89020" y="4134326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先要选好坐标系并定正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1524000"/>
              <a:ext cx="5193982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49903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57643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6464618" y="4865370"/>
            <a:ext cx="5193982" cy="782955"/>
            <a:chOff x="6464618" y="4865370"/>
            <a:chExt cx="5193982" cy="782955"/>
          </a:xfrm>
        </p:grpSpPr>
        <p:sp>
          <p:nvSpPr>
            <p:cNvPr id="51" name="Rectangle 51"/>
            <p:cNvSpPr/>
            <p:nvPr/>
          </p:nvSpPr>
          <p:spPr>
            <a:xfrm>
              <a:off x="6464618" y="486537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69405" y="5156835"/>
              <a:ext cx="200026" cy="200025"/>
              <a:chOff x="6669405" y="5156835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69405" y="51568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09144" y="52012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43859" y="53124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348" y="501396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做题时常见的配合方式是先草画一张图判断方向大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致朝哪，再用分量法算准数值。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8" name="Rectangle 5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991225"/>
              <a:ext cx="96775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多个矢量求和时把各自的 x 分量、y 分量、z 分量分别相加，比一次次作平行四边形快得多，也不容易出错。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1501" cy="909257"/>
            <a:chOff x="520446" y="342900"/>
            <a:chExt cx="54815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矢量合成的解析法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15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用分量法求合矢量的模和方向角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544378" cy="1185862"/>
            <a:chOff x="533400" y="1524000"/>
            <a:chExt cx="4544378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27417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A = 2i + 3j + 6k，B = 3i − 4j。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330291"/>
              <a:ext cx="32908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C = A + B 的模，以及 C 的三个方向角。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36"/>
              <p:cNvSpPr txBox="1">
                <a:spLocks noGrp="1"/>
              </p:cNvSpPr>
              <p:nvPr/>
            </p:nvSpPr>
            <p:spPr>
              <a:xfrm>
                <a:off x="533400" y="2874645"/>
                <a:ext cx="4544378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5" name="c1-card-3"/>
          <p:cNvGrpSpPr/>
          <p:nvPr/>
        </p:nvGrpSpPr>
        <p:grpSpPr>
          <a:xfrm>
            <a:off x="533400" y="3399472"/>
            <a:ext cx="4544378" cy="2200275"/>
            <a:chOff x="533400" y="3399472"/>
            <a:chExt cx="4544378" cy="2200275"/>
          </a:xfrm>
        </p:grpSpPr>
        <p:sp>
          <p:nvSpPr>
            <p:cNvPr id="15" name="Rectangle 15"/>
            <p:cNvSpPr/>
            <p:nvPr/>
          </p:nvSpPr>
          <p:spPr>
            <a:xfrm>
              <a:off x="533400" y="3399472"/>
              <a:ext cx="4544378" cy="220027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32822"/>
              <a:ext cx="47625" cy="19335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5804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36133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2000" y="397383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448" y="3920966"/>
              <a:ext cx="3044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方向余弦平方和 (0.635)² + (−0.127)²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(0.762)² = (25+1+36)/62 = 1，成立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2000" y="450151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7448" y="4448651"/>
              <a:ext cx="3743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Cy &lt; 0，所以 β 应当大于 90°，算得 97.3°，符号一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50292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448" y="4976336"/>
              <a:ext cx="3483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|A| = 7、|B| = 5，合矢量的模 7.87 落在 |7−5| 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7+5 之间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5382578" y="1533525"/>
            <a:ext cx="5696826" cy="2149412"/>
            <a:chOff x="5382578" y="1533525"/>
            <a:chExt cx="5696826" cy="2149412"/>
          </a:xfrm>
        </p:grpSpPr>
        <p:sp>
          <p:nvSpPr>
            <p:cNvPr id="26" name="Rectangle 26"/>
            <p:cNvSpPr/>
            <p:nvPr/>
          </p:nvSpPr>
          <p:spPr>
            <a:xfrm>
              <a:off x="5515928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382578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76201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382578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76201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382578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76201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5201" y="15644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对应分量相加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96344" y="1818322"/>
              <a:ext cx="42767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Cx = 2+3 = 5，Cy = 3+(−4) = −1，Cz = 6+0 = 6，即 C = 5i − j + 6k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5201" y="21169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96344" y="2371725"/>
              <a:ext cx="35876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√(5² + (−1)² + 6²) = √(25+1+36) = √62 ≈ 7.874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95201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求方向余弦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96344" y="2925128"/>
              <a:ext cx="5283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α = 5/7.874 = 0.635，cos β = −1/7.874 = −0.127，cos γ = 6/7.874 = 0.762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95201" y="32227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反求方向角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96344" y="3477578"/>
              <a:ext cx="2180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≈ 50.6°，β ≈ 97.3°，γ ≈ 40.4°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5382578" y="3844290"/>
            <a:ext cx="6276022" cy="1755458"/>
            <a:chOff x="5382578" y="3844290"/>
            <a:chExt cx="6276022" cy="1755458"/>
          </a:xfrm>
        </p:grpSpPr>
        <p:sp>
          <p:nvSpPr>
            <p:cNvPr id="44" name="Rectangle 44"/>
            <p:cNvSpPr/>
            <p:nvPr/>
          </p:nvSpPr>
          <p:spPr>
            <a:xfrm>
              <a:off x="5382578" y="3844290"/>
              <a:ext cx="6276022" cy="1755458"/>
            </a:xfrm>
            <a:prstGeom prst="roundRect">
              <a:avLst>
                <a:gd name="adj" fmla="val 759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63552" y="402526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60276" y="40581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57076" y="4365784"/>
              <a:ext cx="55074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= 5i − j + 6k，模约 7.87；与 x、y、z 轴的夹角分别约为 50.6°、97.3°、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40.4°。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9" name="Rectangle 4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8701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同一组数据还可以算差矢量：A − B = −i + 7j + 6k，模为 √86 ≈ 9.27，比和矢量还长，因为 A 与 B 的夹角是钝角。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矢量的乘积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三种乘法各自得到什么，怎么算，用在哪里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矢量乘以标量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标积（点积）得标量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矢积（叉积）得矢量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分量式与行列式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矢量的乘积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矢量乘以标量：改变长度，标量为负时还要反向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graph-1"/>
          <p:cNvGrpSpPr/>
          <p:nvPr/>
        </p:nvGrpSpPr>
        <p:grpSpPr>
          <a:xfrm>
            <a:off x="753428" y="1832610"/>
            <a:ext cx="3511867" cy="1879949"/>
            <a:chOff x="753428" y="1832610"/>
            <a:chExt cx="3511867" cy="1879949"/>
          </a:xfrm>
        </p:grpSpPr>
        <p:sp>
          <p:nvSpPr>
            <p:cNvPr id="7" name="Freeform 7"/>
            <p:cNvSpPr/>
            <p:nvPr/>
          </p:nvSpPr>
          <p:spPr>
            <a:xfrm>
              <a:off x="969645" y="1918335"/>
              <a:ext cx="1322070" cy="9525"/>
            </a:xfrm>
            <a:custGeom>
              <a:avLst/>
              <a:gdLst/>
              <a:ahLst/>
              <a:cxnLst/>
              <a:rect l="l" t="t" r="r" b="b"/>
              <a:pathLst>
                <a:path w="1322070" h="9525">
                  <a:moveTo>
                    <a:pt x="0" y="0"/>
                  </a:moveTo>
                  <a:lnTo>
                    <a:pt x="132207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91715" y="18707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69645" y="2619375"/>
              <a:ext cx="2814638" cy="9525"/>
            </a:xfrm>
            <a:custGeom>
              <a:avLst/>
              <a:gdLst/>
              <a:ahLst/>
              <a:cxnLst/>
              <a:rect l="l" t="t" r="r" b="b"/>
              <a:pathLst>
                <a:path w="2814638" h="9525">
                  <a:moveTo>
                    <a:pt x="0" y="0"/>
                  </a:moveTo>
                  <a:lnTo>
                    <a:pt x="281463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84282" y="2571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15352" y="3364230"/>
              <a:ext cx="2068830" cy="9525"/>
            </a:xfrm>
            <a:custGeom>
              <a:avLst/>
              <a:gdLst/>
              <a:ahLst/>
              <a:cxnLst/>
              <a:rect l="l" t="t" r="r" b="b"/>
              <a:pathLst>
                <a:path w="2068830" h="9525">
                  <a:moveTo>
                    <a:pt x="206883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20102" y="33166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02970" y="18897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396490" y="18897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02970" y="25908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889058" y="25908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993708" y="333565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53428" y="333565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08772" y="1832610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38338" y="1864995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324100" y="2533650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49894" y="2566035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2A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06880" y="3278505"/>
              <a:ext cx="39052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21358" y="3310890"/>
              <a:ext cx="3615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−1.5A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76475" y="352186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长度按 |m| 倍缩放，m 为负时掉头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39"/>
              <p:cNvSpPr txBox="1">
                <a:spLocks noGrp="1"/>
              </p:cNvSpPr>
              <p:nvPr/>
            </p:nvSpPr>
            <p:spPr>
              <a:xfrm>
                <a:off x="533400" y="3905250"/>
                <a:ext cx="497776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7" name="c2-card-1"/>
          <p:cNvGrpSpPr/>
          <p:nvPr/>
        </p:nvGrpSpPr>
        <p:grpSpPr>
          <a:xfrm>
            <a:off x="5815965" y="1524000"/>
            <a:ext cx="5842635" cy="1670685"/>
            <a:chOff x="5815965" y="1524000"/>
            <a:chExt cx="5842635" cy="1670685"/>
          </a:xfrm>
        </p:grpSpPr>
        <p:sp>
          <p:nvSpPr>
            <p:cNvPr id="28" name="Rectangle 28"/>
            <p:cNvSpPr/>
            <p:nvPr/>
          </p:nvSpPr>
          <p:spPr>
            <a:xfrm>
              <a:off x="5815965" y="1524000"/>
              <a:ext cx="5842635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25490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6361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5382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3690" y="176879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数乘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069330" y="21926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27445" y="2129790"/>
              <a:ext cx="15640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大小：|C| = |m| A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69330" y="25279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27445" y="2465070"/>
              <a:ext cx="4882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方向：m &gt; 0 时与 A 同向，m &lt; 0 时与 A 反向，m = 0 时得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零矢量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5815965" y="3385185"/>
            <a:ext cx="5842635" cy="1316355"/>
            <a:chOff x="5815965" y="3385185"/>
            <a:chExt cx="5842635" cy="1316355"/>
          </a:xfrm>
        </p:grpSpPr>
        <p:sp>
          <p:nvSpPr>
            <p:cNvPr id="38" name="Rectangle 38"/>
            <p:cNvSpPr/>
            <p:nvPr/>
          </p:nvSpPr>
          <p:spPr>
            <a:xfrm>
              <a:off x="5815965" y="3385185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25490" y="351853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63615" y="35947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53823" y="36304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69330" y="40347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27445" y="3971925"/>
              <a:ext cx="5006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原课件写“矢量 C 的大小为 C = mA”。m &lt; 0 时 mA 是负数，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而模不可能为负，应写成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 = |m| A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formula40"/>
              <p:cNvSpPr txBox="1">
                <a:spLocks noGrp="1"/>
              </p:cNvSpPr>
              <p:nvPr/>
            </p:nvSpPr>
            <p:spPr>
              <a:xfrm>
                <a:off x="5815965" y="4892040"/>
                <a:ext cx="584263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52" name="c2-callout-4"/>
          <p:cNvGrpSpPr/>
          <p:nvPr/>
        </p:nvGrpSpPr>
        <p:grpSpPr>
          <a:xfrm>
            <a:off x="5815965" y="5444490"/>
            <a:ext cx="5842635" cy="782955"/>
            <a:chOff x="5815965" y="5444490"/>
            <a:chExt cx="5842635" cy="782955"/>
          </a:xfrm>
        </p:grpSpPr>
        <p:sp>
          <p:nvSpPr>
            <p:cNvPr id="46" name="Rectangle 46"/>
            <p:cNvSpPr/>
            <p:nvPr/>
          </p:nvSpPr>
          <p:spPr>
            <a:xfrm>
              <a:off x="5815965" y="544449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020753" y="5735955"/>
              <a:ext cx="200026" cy="200025"/>
              <a:chOff x="6020753" y="5735955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020753" y="57359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060491" y="57804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095207" y="58915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322695" y="5593080"/>
              <a:ext cx="4882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物理里的定义式多半就是数乘，例如 p = mv、F = ma；电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场力 F = qE 中电荷 q 为负时，受力方向与场强方向相反。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7619" cy="909257"/>
            <a:chOff x="520446" y="342900"/>
            <a:chExt cx="6947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矢量的乘积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76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标积 A·B：把一个矢量投影到另一个上再相乘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53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AB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2"/>
          <p:cNvGrpSpPr/>
          <p:nvPr/>
        </p:nvGrpSpPr>
        <p:grpSpPr>
          <a:xfrm>
            <a:off x="533400" y="2012632"/>
            <a:ext cx="5626418" cy="1390650"/>
            <a:chOff x="533400" y="2012632"/>
            <a:chExt cx="5626418" cy="1390650"/>
          </a:xfrm>
        </p:grpSpPr>
        <p:sp>
          <p:nvSpPr>
            <p:cNvPr id="8" name="Rectangle 8"/>
            <p:cNvSpPr/>
            <p:nvPr/>
          </p:nvSpPr>
          <p:spPr>
            <a:xfrm>
              <a:off x="533400" y="2012632"/>
              <a:ext cx="5626418" cy="1390650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145982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2475" y="21936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5147" y="22264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34126"/>
              <a:ext cx="48653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两个矢量按这种方式相乘得到一个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标量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，叫做它们的标积或点积。θ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是两矢量共尾时的夹角。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3057525"/>
              <a:ext cx="47394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也可以读成“B 的模乘上 A 在 B 方向上的投影”，投影 A cos θ 可以是负值。</a:t>
              </a:r>
            </a:p>
          </p:txBody>
        </p:sp>
      </p:grpSp>
      <p:grpSp>
        <p:nvGrpSpPr>
          <p:cNvPr id="33" name="c1-table-3"/>
          <p:cNvGrpSpPr/>
          <p:nvPr/>
        </p:nvGrpSpPr>
        <p:grpSpPr>
          <a:xfrm>
            <a:off x="533400" y="3568065"/>
            <a:ext cx="5626418" cy="2093595"/>
            <a:chOff x="533400" y="3568065"/>
            <a:chExt cx="5626418" cy="2093595"/>
          </a:xfrm>
        </p:grpSpPr>
        <p:sp>
          <p:nvSpPr>
            <p:cNvPr id="15" name="Rectangle 15"/>
            <p:cNvSpPr/>
            <p:nvPr/>
          </p:nvSpPr>
          <p:spPr>
            <a:xfrm>
              <a:off x="533400" y="3568065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30630" y="36852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73640" y="36852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8078" y="40662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15908" y="4066223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A·B = B·A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3253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3300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44481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15908" y="4448175"/>
              <a:ext cx="142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A·(B+C) = A·B + A·C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7072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48291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自身点积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15908" y="4829175"/>
              <a:ext cx="1667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A·A = A²，即 A = √(A·A)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0882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5093018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530352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随夹角变化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15908" y="5210175"/>
              <a:ext cx="33444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= 0 时取最大值 AB；θ = π/2 时为 0；θ = π 时取最小值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−AB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568065"/>
              <a:ext cx="5626418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216468" y="3568065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2-image-1"/>
          <p:cNvGrpSpPr/>
          <p:nvPr/>
        </p:nvGrpSpPr>
        <p:grpSpPr>
          <a:xfrm>
            <a:off x="7605928" y="1524000"/>
            <a:ext cx="2912313" cy="2306669"/>
            <a:chOff x="7605928" y="1524000"/>
            <a:chExt cx="2912313" cy="2306669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6" t="0" r="6" b="0"/>
            <a:stretch>
              <a:fillRect/>
            </a:stretch>
          </p:blipFill>
          <p:spPr>
            <a:xfrm>
              <a:off x="7712392" y="1524000"/>
              <a:ext cx="2698432" cy="2024062"/>
            </a:xfrm>
            <a:prstGeom prst="roundRect">
              <a:avLst>
                <a:gd name="adj" fmla="val 6588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605928" y="363997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推力与位移成角度时，只有沿位移方向的分量做功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464618" y="3976688"/>
            <a:ext cx="5193982" cy="1684972"/>
            <a:chOff x="6464618" y="3976688"/>
            <a:chExt cx="5193982" cy="1684972"/>
          </a:xfrm>
        </p:grpSpPr>
        <p:sp>
          <p:nvSpPr>
            <p:cNvPr id="37" name="Rectangle 37"/>
            <p:cNvSpPr/>
            <p:nvPr/>
          </p:nvSpPr>
          <p:spPr>
            <a:xfrm>
              <a:off x="6464618" y="3976688"/>
              <a:ext cx="5193982" cy="1684972"/>
            </a:xfrm>
            <a:prstGeom prst="roundRect">
              <a:avLst>
                <a:gd name="adj" fmla="val 678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657347" y="4714993"/>
              <a:ext cx="224134" cy="192560"/>
              <a:chOff x="6657347" y="4714993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769418" y="47853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57347" y="47149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69418" y="48631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972491" y="4612481"/>
              <a:ext cx="43207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A·B = 0 不能推出 A = 0 或 B = 0，更常见的原因是两者垂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直。标积也没有结合律，(A·B)C 与 A(B·C) 连类型都不同。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59404" cy="467678"/>
            <a:chOff x="533400" y="5895022"/>
            <a:chExt cx="11159404" cy="467678"/>
          </a:xfrm>
        </p:grpSpPr>
        <p:sp>
          <p:nvSpPr>
            <p:cNvPr id="44" name="Rectangle 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10651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常用的标积：恒力做功 W = F·s、瞬时功率 P = F·v、匀强磁场的磁通量 Φ = B·S。凡是公式里出现 cos θ 的乘积，多半背后就是一个标积。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矢量的乘积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标积的分量式：对应分量相乘再相加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8447" y="1524000"/>
            <a:ext cx="4549331" cy="1789461"/>
            <a:chOff x="528447" y="1524000"/>
            <a:chExt cx="4549331" cy="17894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440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9826" y="1641157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46158" y="1641157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6393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3493" y="202311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321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2954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6588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3493" y="240411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9321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2954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6588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663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4941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93217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2954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6588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4544378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66497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801302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936682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447" y="3122771"/>
              <a:ext cx="3571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i、j、k 互相垂直且模为 1，所以自身点积为 1，互相点积为 0</a:t>
              </a:r>
            </a:p>
          </p:txBody>
        </p:sp>
      </p:grpSp>
      <p:grpSp>
        <p:nvGrpSpPr>
          <p:cNvPr id="39" name="c1-callout-2"/>
          <p:cNvGrpSpPr/>
          <p:nvPr/>
        </p:nvGrpSpPr>
        <p:grpSpPr>
          <a:xfrm>
            <a:off x="533400" y="3439478"/>
            <a:ext cx="4544378" cy="702945"/>
            <a:chOff x="533400" y="3439478"/>
            <a:chExt cx="4544378" cy="702945"/>
          </a:xfrm>
        </p:grpSpPr>
        <p:sp>
          <p:nvSpPr>
            <p:cNvPr id="33" name="Rectangle 33"/>
            <p:cNvSpPr/>
            <p:nvPr/>
          </p:nvSpPr>
          <p:spPr>
            <a:xfrm>
              <a:off x="533400" y="3439478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3690938"/>
              <a:ext cx="200026" cy="200025"/>
              <a:chOff x="738188" y="369093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36909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37353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38465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3584734"/>
              <a:ext cx="35405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A、B 按分量展开后逐项相乘，凡是不同单位矢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量的交叉项都因为点积为零而消失，只剩三项。</a:t>
              </a:r>
            </a:p>
          </p:txBody>
        </p:sp>
      </p:grpSp>
      <p:grpSp>
        <p:nvGrpSpPr>
          <p:cNvPr id="49" name="c1-card-3"/>
          <p:cNvGrpSpPr/>
          <p:nvPr/>
        </p:nvGrpSpPr>
        <p:grpSpPr>
          <a:xfrm>
            <a:off x="533400" y="4307205"/>
            <a:ext cx="4544378" cy="1642110"/>
            <a:chOff x="533400" y="4307205"/>
            <a:chExt cx="4544378" cy="1642110"/>
          </a:xfrm>
        </p:grpSpPr>
        <p:sp>
          <p:nvSpPr>
            <p:cNvPr id="40" name="Rectangle 40"/>
            <p:cNvSpPr/>
            <p:nvPr/>
          </p:nvSpPr>
          <p:spPr>
            <a:xfrm>
              <a:off x="533400" y="4307205"/>
              <a:ext cx="4544378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4440555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2475" y="44881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147" y="45210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18450" y="45277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用分量式算功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5998" y="4844891"/>
              <a:ext cx="34938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 F = (5i + 3j) N 使物体产生位移 s = 4i m。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62000" y="51816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17448" y="5129689"/>
              <a:ext cx="2213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F·s = 5×4 + 3×0 = 20 J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7141" y="5411152"/>
              <a:ext cx="38778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与位移垂直的 3j 分量点积为零，不做功，这就是“只有沿位移方向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的分量做功”的由来。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73"/>
              <p:cNvSpPr txBox="1">
                <a:spLocks noGrp="1"/>
              </p:cNvSpPr>
              <p:nvPr/>
            </p:nvSpPr>
            <p:spPr>
              <a:xfrm>
                <a:off x="5382578" y="1524000"/>
                <a:ext cx="6276022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formula74"/>
              <p:cNvSpPr txBox="1">
                <a:spLocks noGrp="1"/>
              </p:cNvSpPr>
              <p:nvPr/>
            </p:nvSpPr>
            <p:spPr>
              <a:xfrm>
                <a:off x="5382578" y="2012632"/>
                <a:ext cx="6276022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bSup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sub>
                                <m:sup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Sup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sub>
                                <m:sup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Sup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sub>
                                <m:sup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ad>
                            <m:radPr>
                              <m:degHide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bSup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sub>
                                <m:sup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Sup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sub>
                                <m:sup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Sup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sub>
                                <m:sup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75"/>
              <p:cNvSpPr txBox="1">
                <a:spLocks noGrp="1"/>
              </p:cNvSpPr>
              <p:nvPr/>
            </p:nvSpPr>
            <p:spPr>
              <a:xfrm>
                <a:off x="5382578" y="2537460"/>
                <a:ext cx="6276022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acc>
                        <m:accPr>
                          <m:chr m:val="⃗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acc>
                        <m:accPr>
                          <m:chr m:val="⃗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60" name="c2-card-4"/>
          <p:cNvGrpSpPr/>
          <p:nvPr/>
        </p:nvGrpSpPr>
        <p:grpSpPr>
          <a:xfrm>
            <a:off x="5382578" y="2987992"/>
            <a:ext cx="6276022" cy="2961322"/>
            <a:chOff x="5382578" y="2987992"/>
            <a:chExt cx="6276022" cy="2961322"/>
          </a:xfrm>
        </p:grpSpPr>
        <p:sp>
          <p:nvSpPr>
            <p:cNvPr id="53" name="Rectangle 53"/>
            <p:cNvSpPr/>
            <p:nvPr/>
          </p:nvSpPr>
          <p:spPr>
            <a:xfrm>
              <a:off x="5382578" y="2987992"/>
              <a:ext cx="6276022" cy="2961322"/>
            </a:xfrm>
            <a:prstGeom prst="roundRect">
              <a:avLst>
                <a:gd name="adj" fmla="val 450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563552" y="316896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33822" y="320182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两条最常用的判据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573078" y="356139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28526" y="3509486"/>
              <a:ext cx="34158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垂直：A·B = 0，即 AxBx + AyBy + AzBz = 0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573078" y="38461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728526" y="3794284"/>
              <a:ext cx="44681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求任意方向上的投影：先把方向写成单位矢量 e，再算 A·e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765096" cy="909257"/>
            <a:chOff x="520446" y="342900"/>
            <a:chExt cx="37650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矢量的乘积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7650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用标积求夹角与投影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254442"/>
            <a:chOff x="533400" y="1524000"/>
            <a:chExt cx="4760595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2891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A = 2i + 3j + 6k，B = 3i − 4j。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375535"/>
              <a:ext cx="393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两矢量的夹角 θ，以及 A 在 B 方向上的投影。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2953702"/>
            <a:ext cx="4760595" cy="2328862"/>
            <a:chOff x="533400" y="2953702"/>
            <a:chExt cx="4760595" cy="2328862"/>
          </a:xfrm>
        </p:grpSpPr>
        <p:sp>
          <p:nvSpPr>
            <p:cNvPr id="14" name="Rectangle 14"/>
            <p:cNvSpPr/>
            <p:nvPr/>
          </p:nvSpPr>
          <p:spPr>
            <a:xfrm>
              <a:off x="533400" y="2953702"/>
              <a:ext cx="4760595" cy="2328862"/>
            </a:xfrm>
            <a:prstGeom prst="roundRect">
              <a:avLst>
                <a:gd name="adj" fmla="val 5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087052"/>
              <a:ext cx="47625" cy="2062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14610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1803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355949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3503295"/>
              <a:ext cx="39999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A·B 为负，说明夹角是钝角，算得 99.9° 大于 90°，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411861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4062412"/>
              <a:ext cx="38284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投影 −1.2 为负，表示 A 在 B 方向上的分量与 B 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向，与钝角的结论一致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8" y="467868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497" y="4622482"/>
              <a:ext cx="37598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|投影| = 1.2 小于 |A| = 7，投影不可能比矢量本身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长，合理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5457825"/>
            <a:ext cx="4760595" cy="862012"/>
            <a:chOff x="533400" y="5457825"/>
            <a:chExt cx="4760595" cy="862012"/>
          </a:xfrm>
        </p:grpSpPr>
        <p:sp>
          <p:nvSpPr>
            <p:cNvPr id="25" name="Rectangle 25"/>
            <p:cNvSpPr/>
            <p:nvPr/>
          </p:nvSpPr>
          <p:spPr>
            <a:xfrm>
              <a:off x="533400" y="5457825"/>
              <a:ext cx="4760595" cy="862012"/>
            </a:xfrm>
            <a:prstGeom prst="roundRect">
              <a:avLst>
                <a:gd name="adj" fmla="val 13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788343"/>
              <a:ext cx="200026" cy="200025"/>
              <a:chOff x="738188" y="5788343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7883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58327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59439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5670233"/>
              <a:ext cx="359702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投影是标量，可正可负；分矢量 (A·e)e 才是矢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量。</a:t>
              </a:r>
            </a:p>
          </p:txBody>
        </p:sp>
      </p:grpSp>
      <p:grpSp>
        <p:nvGrpSpPr>
          <p:cNvPr id="49" name="c2-steps-1"/>
          <p:cNvGrpSpPr/>
          <p:nvPr/>
        </p:nvGrpSpPr>
        <p:grpSpPr>
          <a:xfrm>
            <a:off x="5598795" y="1533525"/>
            <a:ext cx="4128176" cy="2279809"/>
            <a:chOff x="5598795" y="1533525"/>
            <a:chExt cx="4128176" cy="2279809"/>
          </a:xfrm>
        </p:grpSpPr>
        <p:sp>
          <p:nvSpPr>
            <p:cNvPr id="32" name="Rectangle 32"/>
            <p:cNvSpPr/>
            <p:nvPr/>
          </p:nvSpPr>
          <p:spPr>
            <a:xfrm>
              <a:off x="5732145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598795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9241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1037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算标积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2180" y="1833086"/>
              <a:ext cx="31338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A·B = 2×3 + 3×(−4) + 6×0 = 6 − 12 + 0 = −6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1037" y="2152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算两个模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2180" y="2419826"/>
              <a:ext cx="3714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√(4+9+36) = √49 = 7，B = √(9+16+0) = √25 = 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1037" y="27393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求夹角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2180" y="3006566"/>
              <a:ext cx="3388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θ = −6/(7×5) = −6/35 = −0.1714，θ ≈ 99.9°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1037" y="33261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求投影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12180" y="3593306"/>
              <a:ext cx="27725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在 B 上的投影 = A·B/B = −6/5 = −1.2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5598795" y="3982402"/>
            <a:ext cx="6059805" cy="952500"/>
            <a:chOff x="5598795" y="3982402"/>
            <a:chExt cx="6059805" cy="952500"/>
          </a:xfrm>
        </p:grpSpPr>
        <p:sp>
          <p:nvSpPr>
            <p:cNvPr id="50" name="Rectangle 50"/>
            <p:cNvSpPr/>
            <p:nvPr/>
          </p:nvSpPr>
          <p:spPr>
            <a:xfrm>
              <a:off x="5598795" y="3982402"/>
              <a:ext cx="6059805" cy="952500"/>
            </a:xfrm>
            <a:prstGeom prst="roundRect">
              <a:avLst>
                <a:gd name="adj" fmla="val 14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791200" y="417480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86641" y="42090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784342" y="4531995"/>
              <a:ext cx="5625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夹角约 99.9°，A 在 B 方向上的投影为 −1.2（负号表示与 B 反向）。</a:t>
              </a:r>
            </a:p>
          </p:txBody>
        </p:sp>
      </p:grpSp>
      <p:grpSp>
        <p:nvGrpSpPr>
          <p:cNvPr id="60" name="c2-card-3"/>
          <p:cNvGrpSpPr/>
          <p:nvPr/>
        </p:nvGrpSpPr>
        <p:grpSpPr>
          <a:xfrm>
            <a:off x="5598795" y="5110162"/>
            <a:ext cx="6059805" cy="1209675"/>
            <a:chOff x="5598795" y="5110162"/>
            <a:chExt cx="6059805" cy="1209675"/>
          </a:xfrm>
        </p:grpSpPr>
        <p:sp>
          <p:nvSpPr>
            <p:cNvPr id="55" name="Rectangle 55"/>
            <p:cNvSpPr/>
            <p:nvPr/>
          </p:nvSpPr>
          <p:spPr>
            <a:xfrm>
              <a:off x="5598795" y="5110162"/>
              <a:ext cx="605980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608320" y="524351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29300" y="530256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20740" y="53368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822442" y="5658802"/>
              <a:ext cx="52772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B 换成 B′ = 3i − 2j，则 A·B′ = 6 − 6 + 0 = 0，说明 A 与 B′ 垂直。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判断垂直根本不必先求夹角。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4024" cy="909257"/>
            <a:chOff x="520446" y="342900"/>
            <a:chExt cx="86640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矢量的乘积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40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矢积 A×B：大小是平行四边形面积，方向按右手螺旋法则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88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AB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2"/>
          <p:cNvGrpSpPr/>
          <p:nvPr/>
        </p:nvGrpSpPr>
        <p:grpSpPr>
          <a:xfrm>
            <a:off x="533400" y="2012632"/>
            <a:ext cx="5410200" cy="1428750"/>
            <a:chOff x="533400" y="2012632"/>
            <a:chExt cx="5410200" cy="1428750"/>
          </a:xfrm>
        </p:grpSpPr>
        <p:sp>
          <p:nvSpPr>
            <p:cNvPr id="8" name="Rectangle 8"/>
            <p:cNvSpPr/>
            <p:nvPr/>
          </p:nvSpPr>
          <p:spPr>
            <a:xfrm>
              <a:off x="533400" y="201263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145982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2475" y="21936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5147" y="22264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58603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534126"/>
              <a:ext cx="4712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大小：C = AB sin θ，等于以 A、B 为邻边的平行四边形的面积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87083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818924"/>
              <a:ext cx="45565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方向：垂直于 A 与 B 所决定的平面，右手四指由 A 经小于 180°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的角转向 B，拇指所指即 C 的方向</a:t>
              </a:r>
            </a:p>
          </p:txBody>
        </p:sp>
      </p:grpSp>
      <p:grpSp>
        <p:nvGrpSpPr>
          <p:cNvPr id="35" name="c1-table-3"/>
          <p:cNvGrpSpPr/>
          <p:nvPr/>
        </p:nvGrpSpPr>
        <p:grpSpPr>
          <a:xfrm>
            <a:off x="533400" y="3606165"/>
            <a:ext cx="5410200" cy="1906905"/>
            <a:chOff x="533400" y="3606165"/>
            <a:chExt cx="5410200" cy="1906905"/>
          </a:xfrm>
        </p:grpSpPr>
        <p:sp>
          <p:nvSpPr>
            <p:cNvPr id="17" name="Rectangle 17"/>
            <p:cNvSpPr/>
            <p:nvPr/>
          </p:nvSpPr>
          <p:spPr>
            <a:xfrm>
              <a:off x="533400" y="3606165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52538" y="37242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86962" y="37242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078" y="41052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反交换律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59724" y="4105275"/>
              <a:ext cx="757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A×B = −B×A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3643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3691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448627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对加法的分配律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59724" y="4486275"/>
              <a:ext cx="142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A×(B+C) = A×B + A×C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7463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4868228"/>
              <a:ext cx="1222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= 0 或 π（平行）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59724" y="4868228"/>
              <a:ext cx="16215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A×B = 0，特别地 A×A = 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1273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13207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5249228"/>
              <a:ext cx="1073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= π/2（垂直）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59724" y="5249228"/>
              <a:ext cx="1248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|A×B| = AB（最大）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06165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260282" y="360616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2-image-1"/>
          <p:cNvGrpSpPr/>
          <p:nvPr/>
        </p:nvGrpSpPr>
        <p:grpSpPr>
          <a:xfrm>
            <a:off x="7658100" y="1524000"/>
            <a:ext cx="2590800" cy="2225706"/>
            <a:chOff x="7658100" y="1524000"/>
            <a:chExt cx="2590800" cy="2225706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58100" y="1524000"/>
              <a:ext cx="2590800" cy="1943100"/>
            </a:xfrm>
            <a:prstGeom prst="roundRect">
              <a:avLst>
                <a:gd name="adj" fmla="val 6862"/>
              </a:avLst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8013603" y="3559016"/>
              <a:ext cx="18797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四指从 A 弯向 B，拇指指向 A×B</a:t>
              </a:r>
            </a:p>
          </p:txBody>
        </p:sp>
      </p:grpSp>
      <p:grpSp>
        <p:nvGrpSpPr>
          <p:cNvPr id="59" name="c2-graph-2"/>
          <p:cNvGrpSpPr/>
          <p:nvPr/>
        </p:nvGrpSpPr>
        <p:grpSpPr>
          <a:xfrm>
            <a:off x="7913370" y="4003358"/>
            <a:ext cx="3124200" cy="1596866"/>
            <a:chOff x="7913370" y="4003358"/>
            <a:chExt cx="3124200" cy="1596866"/>
          </a:xfrm>
        </p:grpSpPr>
        <p:sp>
          <p:nvSpPr>
            <p:cNvPr id="39" name="Freeform 39"/>
            <p:cNvSpPr/>
            <p:nvPr/>
          </p:nvSpPr>
          <p:spPr>
            <a:xfrm>
              <a:off x="8017192" y="5090160"/>
              <a:ext cx="1885950" cy="218122"/>
            </a:xfrm>
            <a:custGeom>
              <a:avLst/>
              <a:gdLst/>
              <a:ahLst/>
              <a:cxnLst/>
              <a:rect l="l" t="t" r="r" b="b"/>
              <a:pathLst>
                <a:path w="1885950" h="218122">
                  <a:moveTo>
                    <a:pt x="0" y="0"/>
                  </a:moveTo>
                  <a:lnTo>
                    <a:pt x="1885950" y="21812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897428" y="5260658"/>
              <a:ext cx="100012" cy="95250"/>
            </a:xfrm>
            <a:custGeom>
              <a:avLst/>
              <a:gdLst/>
              <a:ahLst/>
              <a:cxnLst/>
              <a:rect l="l" t="t" r="r" b="b"/>
              <a:pathLst>
                <a:path w="100012" h="95250">
                  <a:moveTo>
                    <a:pt x="100012" y="59055"/>
                  </a:moveTo>
                  <a:lnTo>
                    <a:pt x="0" y="95250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016240" y="4819650"/>
              <a:ext cx="809625" cy="254318"/>
            </a:xfrm>
            <a:custGeom>
              <a:avLst/>
              <a:gdLst/>
              <a:ahLst/>
              <a:cxnLst/>
              <a:rect l="l" t="t" r="r" b="b"/>
              <a:pathLst>
                <a:path w="809625" h="254318">
                  <a:moveTo>
                    <a:pt x="0" y="254318"/>
                  </a:moveTo>
                  <a:lnTo>
                    <a:pt x="80962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811578" y="4773930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17145"/>
                  </a:moveTo>
                  <a:lnTo>
                    <a:pt x="28575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980045" y="4165282"/>
              <a:ext cx="9525" cy="882015"/>
            </a:xfrm>
            <a:custGeom>
              <a:avLst/>
              <a:gdLst/>
              <a:ahLst/>
              <a:cxnLst/>
              <a:rect l="l" t="t" r="r" b="b"/>
              <a:pathLst>
                <a:path w="9525" h="882015">
                  <a:moveTo>
                    <a:pt x="0" y="8820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932420" y="40700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071735" y="5029200"/>
              <a:ext cx="901065" cy="282893"/>
            </a:xfrm>
            <a:custGeom>
              <a:avLst/>
              <a:gdLst/>
              <a:ahLst/>
              <a:cxnLst/>
              <a:rect l="l" t="t" r="r" b="b"/>
              <a:pathLst>
                <a:path w="901065" h="282893">
                  <a:moveTo>
                    <a:pt x="0" y="282893"/>
                  </a:moveTo>
                  <a:lnTo>
                    <a:pt x="9010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8991600" y="4784408"/>
              <a:ext cx="1980248" cy="228600"/>
            </a:xfrm>
            <a:custGeom>
              <a:avLst/>
              <a:gdLst/>
              <a:ahLst/>
              <a:cxnLst/>
              <a:rect l="l" t="t" r="r" b="b"/>
              <a:pathLst>
                <a:path w="1980248" h="228600">
                  <a:moveTo>
                    <a:pt x="0" y="0"/>
                  </a:moveTo>
                  <a:lnTo>
                    <a:pt x="1980248" y="22860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7" name="Ellipse 47"/>
            <p:cNvSpPr/>
            <p:nvPr/>
          </p:nvSpPr>
          <p:spPr>
            <a:xfrm>
              <a:off x="7951470" y="505682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006965" y="529494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924925" y="475107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0980420" y="498919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951470" y="40033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941118" y="51263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70955" y="5155406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400098" y="48539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29935" y="4882991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913370" y="447960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943207" y="4509611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20611" y="5438299"/>
              <a:ext cx="21306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虚线围出的平行四边形的面积就是 C 的大小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9986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常用的矢积：力矩 M = r×F、洛伦兹力 F = qv×B、角动量 L = r×p。凡是公式里出现 sin θ 且结果有方向的，多半背后是一个矢积。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34925" cy="909257"/>
            <a:chOff x="520446" y="342900"/>
            <a:chExt cx="66349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矢量的乘积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349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单位矢量的矢积：顺着 i → j → k 循环取正号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graph-1"/>
          <p:cNvGrpSpPr/>
          <p:nvPr/>
        </p:nvGrpSpPr>
        <p:grpSpPr>
          <a:xfrm>
            <a:off x="1162050" y="1694498"/>
            <a:ext cx="3504248" cy="2087593"/>
            <a:chOff x="1162050" y="1694498"/>
            <a:chExt cx="3504248" cy="2087593"/>
          </a:xfrm>
        </p:grpSpPr>
        <p:sp>
          <p:nvSpPr>
            <p:cNvPr id="7" name="Freeform 7"/>
            <p:cNvSpPr/>
            <p:nvPr/>
          </p:nvSpPr>
          <p:spPr>
            <a:xfrm>
              <a:off x="2997518" y="2145982"/>
              <a:ext cx="1112520" cy="1000125"/>
            </a:xfrm>
            <a:custGeom>
              <a:avLst/>
              <a:gdLst/>
              <a:ahLst/>
              <a:cxnLst/>
              <a:rect l="l" t="t" r="r" b="b"/>
              <a:pathLst>
                <a:path w="1112520" h="1000125">
                  <a:moveTo>
                    <a:pt x="0" y="0"/>
                  </a:moveTo>
                  <a:cubicBezTo>
                    <a:pt x="212090" y="564515"/>
                    <a:pt x="582930" y="897890"/>
                    <a:pt x="1112520" y="1000125"/>
                  </a:cubicBez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01465" y="3099435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101917" y="64770"/>
                  </a:moveTo>
                  <a:lnTo>
                    <a:pt x="0" y="93345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81162" y="2586355"/>
              <a:ext cx="2548890" cy="506412"/>
            </a:xfrm>
            <a:custGeom>
              <a:avLst/>
              <a:gdLst/>
              <a:ahLst/>
              <a:cxnLst/>
              <a:rect l="l" t="t" r="r" b="b"/>
              <a:pathLst>
                <a:path w="2548890" h="506412">
                  <a:moveTo>
                    <a:pt x="2548890" y="506412"/>
                  </a:moveTo>
                  <a:cubicBezTo>
                    <a:pt x="1671320" y="15557"/>
                    <a:pt x="821690" y="0"/>
                    <a:pt x="0" y="459740"/>
                  </a:cubicBez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98295" y="3005138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7630"/>
                  </a:moveTo>
                  <a:lnTo>
                    <a:pt x="60007" y="0"/>
                  </a:lnTo>
                  <a:lnTo>
                    <a:pt x="106680" y="82867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24012" y="2235518"/>
              <a:ext cx="1172528" cy="928688"/>
            </a:xfrm>
            <a:custGeom>
              <a:avLst/>
              <a:gdLst/>
              <a:ahLst/>
              <a:cxnLst/>
              <a:rect l="l" t="t" r="r" b="b"/>
              <a:pathLst>
                <a:path w="1172528" h="928688">
                  <a:moveTo>
                    <a:pt x="0" y="928688"/>
                  </a:moveTo>
                  <a:cubicBezTo>
                    <a:pt x="592455" y="814388"/>
                    <a:pt x="983298" y="504825"/>
                    <a:pt x="1172528" y="0"/>
                  </a:cubicBez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51772" y="2145982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78105" y="0"/>
                  </a:moveTo>
                  <a:lnTo>
                    <a:pt x="89535" y="105727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685098" y="1694498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209098" y="2980372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162050" y="2980372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880081" y="1843564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04081" y="3129439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34417" y="31294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51215" y="3591401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顺箭头相乘取正，逆箭头取负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927158"/>
            <a:ext cx="4760595" cy="2001202"/>
            <a:chOff x="533400" y="3927158"/>
            <a:chExt cx="4760595" cy="2001202"/>
          </a:xfrm>
        </p:grpSpPr>
        <p:sp>
          <p:nvSpPr>
            <p:cNvPr id="21" name="Rectangle 21"/>
            <p:cNvSpPr/>
            <p:nvPr/>
          </p:nvSpPr>
          <p:spPr>
            <a:xfrm>
              <a:off x="533400" y="3927158"/>
              <a:ext cx="4760595" cy="2001202"/>
            </a:xfrm>
            <a:prstGeom prst="roundRect">
              <a:avLst>
                <a:gd name="adj" fmla="val 6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060508"/>
              <a:ext cx="47625" cy="17345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413099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5543" y="41667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76744" y="41705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不写行列式也能算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096" y="4521994"/>
              <a:ext cx="41626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 + 2j) × 3i = 3(i×i) + 6(j×i) = 0 + 6(−k) = −6k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9239" y="4838700"/>
              <a:ext cx="41041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逐项展开时先看是不是同一个单位矢量（得 0），再看循环方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向定正负号。分量少的时候这样算比写行列式快。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598795" y="1524000"/>
            <a:ext cx="6059805" cy="1720215"/>
            <a:chOff x="5598795" y="1524000"/>
            <a:chExt cx="6059805" cy="1720215"/>
          </a:xfrm>
        </p:grpSpPr>
        <p:sp>
          <p:nvSpPr>
            <p:cNvPr id="29" name="Rectangle 29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96356" y="165544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顺循环（结果为正）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56613" y="165544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逆循环（结果为负）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5977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自身相乘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81594" y="2085022"/>
              <a:ext cx="495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i×j = 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08937" y="2085022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j×i = −k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52659" y="2085022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i×i = 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598795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598795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1594" y="2515552"/>
              <a:ext cx="495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j×k = 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8937" y="2515552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k×j = −i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52659" y="2515552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j×j = 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98795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81594" y="2946082"/>
              <a:ext cx="495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k×i = j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08937" y="2946082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i×k = −j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12273" y="294608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k×k = 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1524000"/>
              <a:ext cx="605980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5429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71454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2"/>
          <p:cNvGrpSpPr/>
          <p:nvPr/>
        </p:nvGrpSpPr>
        <p:grpSpPr>
          <a:xfrm>
            <a:off x="5598795" y="3429952"/>
            <a:ext cx="6059805" cy="756285"/>
            <a:chOff x="5598795" y="3429952"/>
            <a:chExt cx="6059805" cy="756285"/>
          </a:xfrm>
        </p:grpSpPr>
        <p:sp>
          <p:nvSpPr>
            <p:cNvPr id="49" name="Rectangle 49"/>
            <p:cNvSpPr/>
            <p:nvPr/>
          </p:nvSpPr>
          <p:spPr>
            <a:xfrm>
              <a:off x="5598795" y="3429952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791524" y="3704391"/>
              <a:ext cx="224134" cy="192560"/>
              <a:chOff x="5791524" y="3704391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903595" y="37747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791524" y="37043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903595" y="38525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105906" y="3577114"/>
              <a:ext cx="485660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点积表里 i·j = 0、i·i = 1，矢积表里恰好相反：i×i = 0、i×j =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k。两张表容易记混，记住“同类相点得 1、同类相叉得 0”。</a:t>
              </a:r>
            </a:p>
          </p:txBody>
        </p:sp>
      </p:grpSp>
      <p:grpSp>
        <p:nvGrpSpPr>
          <p:cNvPr id="61" name="c2-card-3"/>
          <p:cNvGrpSpPr/>
          <p:nvPr/>
        </p:nvGrpSpPr>
        <p:grpSpPr>
          <a:xfrm>
            <a:off x="5598795" y="4371975"/>
            <a:ext cx="6059805" cy="1556385"/>
            <a:chOff x="5598795" y="4371975"/>
            <a:chExt cx="6059805" cy="1556385"/>
          </a:xfrm>
        </p:grpSpPr>
        <p:sp>
          <p:nvSpPr>
            <p:cNvPr id="56" name="Rectangle 56"/>
            <p:cNvSpPr/>
            <p:nvPr/>
          </p:nvSpPr>
          <p:spPr>
            <a:xfrm>
              <a:off x="5598795" y="4371975"/>
              <a:ext cx="6059805" cy="1556385"/>
            </a:xfrm>
            <a:prstGeom prst="roundRect">
              <a:avLst>
                <a:gd name="adj" fmla="val 856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02630" y="457581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68187" y="461152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为什么是这个循环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795391" y="4948714"/>
              <a:ext cx="52533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我们约定用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右手系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坐标系，即 i×j = k。若把 x 轴与 y 轴对调，就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得到左手系，全部矢积都要反号，物理公式中的方向也会跟着错。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796534" y="5535930"/>
              <a:ext cx="43658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画三维坐标系时先按右手法则摆好 x、y、z，再往上画矢量。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矢量的乘积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用行列式算矢积，算完用点积自检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02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03"/>
              <p:cNvSpPr txBox="1">
                <a:spLocks noGrp="1"/>
              </p:cNvSpPr>
              <p:nvPr/>
            </p:nvSpPr>
            <p:spPr>
              <a:xfrm>
                <a:off x="533400" y="2279332"/>
                <a:ext cx="5626418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⃗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⃗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</m:sSub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⃗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21" name="c1-card-3"/>
          <p:cNvGrpSpPr/>
          <p:nvPr/>
        </p:nvGrpSpPr>
        <p:grpSpPr>
          <a:xfrm>
            <a:off x="533400" y="2691765"/>
            <a:ext cx="5626418" cy="2245042"/>
            <a:chOff x="533400" y="2691765"/>
            <a:chExt cx="5626418" cy="2245042"/>
          </a:xfrm>
        </p:grpSpPr>
        <p:sp>
          <p:nvSpPr>
            <p:cNvPr id="9" name="Rectangle 9"/>
            <p:cNvSpPr/>
            <p:nvPr/>
          </p:nvSpPr>
          <p:spPr>
            <a:xfrm>
              <a:off x="533400" y="2691765"/>
              <a:ext cx="5626418" cy="2245042"/>
            </a:xfrm>
            <a:prstGeom prst="roundRect">
              <a:avLst>
                <a:gd name="adj" fmla="val 59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825115"/>
              <a:ext cx="47625" cy="19783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872740"/>
              <a:ext cx="170307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7491" y="2905601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展开时算的都是二阶行列式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321325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二阶行列式的值等于主对角线之积减去副对角线之积。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355092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3498056"/>
              <a:ext cx="4767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的系数：划掉第一行第一列，剩下 Ay、Az 与 By、Bz，得 AyBz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AzBy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40786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4026694"/>
              <a:ext cx="5116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的系数：划掉第一行第二列，得 AxBz − AzBx，前面再添一个负号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436340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4311491"/>
              <a:ext cx="3608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的系数：划掉第一行第三列，得 AxBy − AyBx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7141" y="4592955"/>
              <a:ext cx="41144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三个系数前的符号依次是 </a:t>
              </a:r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+、−、+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，中间那一项最容易漏掉负号。</a:t>
              </a:r>
            </a:p>
          </p:txBody>
        </p:sp>
      </p:grpSp>
      <p:grpSp>
        <p:nvGrpSpPr>
          <p:cNvPr id="27" name="c1-card-4"/>
          <p:cNvGrpSpPr/>
          <p:nvPr/>
        </p:nvGrpSpPr>
        <p:grpSpPr>
          <a:xfrm>
            <a:off x="533400" y="5102542"/>
            <a:ext cx="5626418" cy="1143952"/>
            <a:chOff x="533400" y="5102542"/>
            <a:chExt cx="5626418" cy="1143952"/>
          </a:xfrm>
        </p:grpSpPr>
        <p:sp>
          <p:nvSpPr>
            <p:cNvPr id="22" name="Rectangle 22"/>
            <p:cNvSpPr/>
            <p:nvPr/>
          </p:nvSpPr>
          <p:spPr>
            <a:xfrm>
              <a:off x="533400" y="5102542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523589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2475" y="52835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5147" y="53163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5623084"/>
              <a:ext cx="4849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i + 2j + 3k，B = 4i + 5j + 6k 的 j 系数应为 AzBx − AxBz = 3×4 −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1×6 = 6；漏掉负号会写成 1×6 − 3×4 = −6，正好差一个符号。</a:t>
              </a:r>
            </a:p>
          </p:txBody>
        </p:sp>
      </p:grpSp>
      <p:grpSp>
        <p:nvGrpSpPr>
          <p:cNvPr id="41" name="c2-steps-1"/>
          <p:cNvGrpSpPr/>
          <p:nvPr/>
        </p:nvGrpSpPr>
        <p:grpSpPr>
          <a:xfrm>
            <a:off x="6464618" y="1533525"/>
            <a:ext cx="5173828" cy="1790319"/>
            <a:chOff x="6464618" y="1533525"/>
            <a:chExt cx="5173828" cy="1790319"/>
          </a:xfrm>
        </p:grpSpPr>
        <p:sp>
          <p:nvSpPr>
            <p:cNvPr id="28" name="Rectangle 28"/>
            <p:cNvSpPr/>
            <p:nvPr/>
          </p:nvSpPr>
          <p:spPr>
            <a:xfrm>
              <a:off x="6597968" y="1676400"/>
              <a:ext cx="19050" cy="1299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64618" y="22802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8241" y="2354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64618" y="28327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8241" y="2906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7241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摆好三行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8384" y="1818322"/>
              <a:ext cx="449122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第一行写单位矢量 i、j、k，第二行写前一个矢量 A 的分量，第三行写后一个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 B 的分量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7241" y="23102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按第一行展开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8384" y="2565082"/>
              <a:ext cx="47600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每个系数是划掉该单位矢量所在行列后的二阶行列式，j 的那一项前面带负号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7241" y="28636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检查下标循环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8384" y="3118485"/>
              <a:ext cx="4569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每一项的下标都按 x → y → z → x 循环，写完对一遍循环顺序就能发现抄错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464618" y="3485198"/>
            <a:ext cx="5193982" cy="1185862"/>
            <a:chOff x="6464618" y="3485198"/>
            <a:chExt cx="5193982" cy="1185862"/>
          </a:xfrm>
        </p:grpSpPr>
        <p:sp>
          <p:nvSpPr>
            <p:cNvPr id="42" name="Rectangle 42"/>
            <p:cNvSpPr/>
            <p:nvPr/>
          </p:nvSpPr>
          <p:spPr>
            <a:xfrm>
              <a:off x="6464618" y="3485198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361854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83692" y="366617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61112" y="369903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两个自检办法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93218" y="405860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48666" y="4005739"/>
              <a:ext cx="4619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结果应与 A、B 都垂直：算 (A×B)·A 和 (A×B)·B，都应为 0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93218" y="43434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48666" y="4291489"/>
              <a:ext cx="36099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结果的模应等于 AB sin θ，θ 可以先用点积求出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464618" y="4835842"/>
            <a:ext cx="5193982" cy="1410652"/>
            <a:chOff x="6464618" y="4835842"/>
            <a:chExt cx="5193982" cy="1410652"/>
          </a:xfrm>
        </p:grpSpPr>
        <p:sp>
          <p:nvSpPr>
            <p:cNvPr id="51" name="Rectangle 51"/>
            <p:cNvSpPr/>
            <p:nvPr/>
          </p:nvSpPr>
          <p:spPr>
            <a:xfrm>
              <a:off x="6464618" y="4835842"/>
              <a:ext cx="5193982" cy="1410652"/>
            </a:xfrm>
            <a:prstGeom prst="roundRect">
              <a:avLst>
                <a:gd name="adj" fmla="val 810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57347" y="5437941"/>
              <a:ext cx="224134" cy="192560"/>
              <a:chOff x="6657347" y="5437941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769418" y="55083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657347" y="54379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69418" y="55860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2491" y="5334476"/>
              <a:ext cx="39469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行列式里两行交换一次，值要变号，这正对应 A×B =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−B×A。写行列式时第二行必须是被乘在前的那个矢量。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8063" cy="909257"/>
            <a:chOff x="520446" y="342900"/>
            <a:chExt cx="6168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矢量的乘积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8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 矢积的计算、自检与一个力矩的应用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185862"/>
            <a:chOff x="533400" y="1524000"/>
            <a:chExt cx="4977765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27417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A = 2i + 3j + 6k，B = 3i − 4j。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330291"/>
              <a:ext cx="1746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A×B，并检验结果。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2874645"/>
            <a:ext cx="4977765" cy="1714500"/>
            <a:chOff x="533400" y="2874645"/>
            <a:chExt cx="4977765" cy="1714500"/>
          </a:xfrm>
        </p:grpSpPr>
        <p:sp>
          <p:nvSpPr>
            <p:cNvPr id="14" name="Rectangle 14"/>
            <p:cNvSpPr/>
            <p:nvPr/>
          </p:nvSpPr>
          <p:spPr>
            <a:xfrm>
              <a:off x="533400" y="2874645"/>
              <a:ext cx="497776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007995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05562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0884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44900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396139"/>
              <a:ext cx="3196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(A×B)·A = 48 + 54 − 102 = 0，垂直于 A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37338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3680936"/>
              <a:ext cx="299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(A×B)·B = 72 − 72 + 0 = 0，垂直于 B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2000" y="401859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448" y="3965734"/>
              <a:ext cx="3971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由例3 的 cos θ = −6/35 得 sin θ = √1189/35，于是 AB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 θ = 35×√1189/35 = √1189，与直接求模完全一致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4753928"/>
            <a:ext cx="4977765" cy="1386840"/>
            <a:chOff x="533400" y="4753928"/>
            <a:chExt cx="4977765" cy="1386840"/>
          </a:xfrm>
        </p:grpSpPr>
        <p:sp>
          <p:nvSpPr>
            <p:cNvPr id="25" name="Rectangle 25"/>
            <p:cNvSpPr/>
            <p:nvPr/>
          </p:nvSpPr>
          <p:spPr>
            <a:xfrm>
              <a:off x="533400" y="4753928"/>
              <a:ext cx="497776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887278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493490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9894" y="496776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力矩的小应用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5998" y="5275421"/>
              <a:ext cx="424764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扳手长 r = 0.3 m 沿 x 轴，施力 F = 10 N 沿 y 轴，则 M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r×F = 3k，大小 3 N·m，方向沿 z 轴正向；沿手柄方向施力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r 与 F 平行，M = 0。</a:t>
              </a:r>
            </a:p>
          </p:txBody>
        </p:sp>
      </p:grpSp>
      <p:grpSp>
        <p:nvGrpSpPr>
          <p:cNvPr id="52" name="c2-steps-1"/>
          <p:cNvGrpSpPr/>
          <p:nvPr/>
        </p:nvGrpSpPr>
        <p:grpSpPr>
          <a:xfrm>
            <a:off x="5815965" y="1533525"/>
            <a:ext cx="2707253" cy="2702814"/>
            <a:chOff x="5815965" y="1533525"/>
            <a:chExt cx="2707253" cy="2702814"/>
          </a:xfrm>
        </p:grpSpPr>
        <p:sp>
          <p:nvSpPr>
            <p:cNvPr id="31" name="Rectangle 31"/>
            <p:cNvSpPr/>
            <p:nvPr/>
          </p:nvSpPr>
          <p:spPr>
            <a:xfrm>
              <a:off x="5949315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1596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958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1596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0958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1596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958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815965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09589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588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写出三行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9731" y="1818322"/>
              <a:ext cx="20178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i、j、k ； 2、3、6 ； 3、−4、0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8588" y="2116931"/>
              <a:ext cx="865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i 的系数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9731" y="2371725"/>
              <a:ext cx="21982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AyBz − AzBy = 3×0 − 6×(−4) = 24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8588" y="2670334"/>
              <a:ext cx="865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j 的系数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9731" y="2925128"/>
              <a:ext cx="1958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AzBx − AxBz = 6×3 − 2×0 = 18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8588" y="322278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k 的系数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9731" y="3477578"/>
              <a:ext cx="2278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AxBy − AyBx = 2×(−4) − 3×3 = −17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8588" y="37761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9731" y="403098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√(24² + 18² + 17²) = √1189 ≈ 34.5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5815965" y="4397692"/>
            <a:ext cx="5842635" cy="901065"/>
            <a:chOff x="5815965" y="4397692"/>
            <a:chExt cx="5842635" cy="901065"/>
          </a:xfrm>
        </p:grpSpPr>
        <p:sp>
          <p:nvSpPr>
            <p:cNvPr id="53" name="Rectangle 53"/>
            <p:cNvSpPr/>
            <p:nvPr/>
          </p:nvSpPr>
          <p:spPr>
            <a:xfrm>
              <a:off x="5815965" y="4397692"/>
              <a:ext cx="5842635" cy="901065"/>
            </a:xfrm>
            <a:prstGeom prst="roundRect">
              <a:avLst>
                <a:gd name="adj" fmla="val 147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996940" y="457866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092711" y="46115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90463" y="4919186"/>
              <a:ext cx="2815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A×B = 24i + 18j − 17k，模约 34.5。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5815965" y="5463540"/>
            <a:ext cx="5842635" cy="677228"/>
            <a:chOff x="5815965" y="5463540"/>
            <a:chExt cx="5842635" cy="677228"/>
          </a:xfrm>
        </p:grpSpPr>
        <p:sp>
          <p:nvSpPr>
            <p:cNvPr id="58" name="Rectangle 58"/>
            <p:cNvSpPr/>
            <p:nvPr/>
          </p:nvSpPr>
          <p:spPr>
            <a:xfrm>
              <a:off x="5815965" y="5463540"/>
              <a:ext cx="5842635" cy="677228"/>
            </a:xfrm>
            <a:prstGeom prst="roundRect">
              <a:avLst>
                <a:gd name="adj" fmla="val 1687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020753" y="5702618"/>
              <a:ext cx="200026" cy="200025"/>
              <a:chOff x="6020753" y="570261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020753" y="57026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60491" y="57470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095207" y="58581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323838" y="571357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两个自检都通过，说明分量和符号都没有抄错。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矢量的乘积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三种乘法放在一起比较，顺便收齐易错点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11125200" cy="3413760"/>
            <a:chOff x="533400" y="1524000"/>
            <a:chExt cx="11125200" cy="34137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2520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64103" y="1663065"/>
              <a:ext cx="767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数乘 mA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24283" y="1663065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标积 A·B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61843" y="1663065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矢积 A×B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结果类型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20302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90160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27720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20302" y="2638425"/>
              <a:ext cx="472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|m|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90160" y="2638425"/>
              <a:ext cx="2029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 cos θ（可正可负）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27720" y="2638425"/>
              <a:ext cx="15739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 sin θ（非负）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20302" y="312610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&gt; 0 同向，m &lt; 0 反向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90160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没有方向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27720" y="3126105"/>
              <a:ext cx="3003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垂直于 A、B 所在平面，右手螺旋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36137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20302" y="3613785"/>
              <a:ext cx="793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 = Am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90160" y="3613785"/>
              <a:ext cx="964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A·B = B·A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27720" y="361378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A×B = −B×A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57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080" y="41014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结果为零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20302" y="4101465"/>
              <a:ext cx="1316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0 或 A = 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90160" y="41014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两者垂直，或有一个为零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27720" y="41014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两者平行，或有一个为零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4453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4500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0080" y="45891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典型物理量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20302" y="458914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mv，F = ma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90160" y="4589145"/>
              <a:ext cx="1675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F·s，Φ = B·S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7720" y="4589145"/>
              <a:ext cx="1770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r×F，F = qv×B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11125200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30886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978718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316278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9" name="Rectangle 4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728335"/>
              <a:ext cx="9825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三处最常错：把 A·B 的结果又当成矢量写方向；用 A×B = 0 推出其中一个矢量为零；矢积按左手或者按 B 到 A 的转向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定方向，整体差一个负号。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 · 矢量的乘积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这些记号后面每一章都会再见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374784" cy="308039"/>
            <a:chOff x="525399" y="1550194"/>
            <a:chExt cx="93747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3747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本章的矢量运算会以微元和积分的形式反复出现，先认下记号，学到对应章节时就不会卡在写法上。</a:t>
              </a:r>
            </a:p>
          </p:txBody>
        </p:sp>
      </p:grpSp>
      <p:grpSp>
        <p:nvGrpSpPr>
          <p:cNvPr id="23" name="c1-kv-1"/>
          <p:cNvGrpSpPr/>
          <p:nvPr/>
        </p:nvGrpSpPr>
        <p:grpSpPr>
          <a:xfrm>
            <a:off x="525780" y="1992630"/>
            <a:ext cx="4985385" cy="2617470"/>
            <a:chOff x="525780" y="1992630"/>
            <a:chExt cx="4985385" cy="261747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630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dr、dl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51622" y="1992630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位移微元和线元，本身是矢量，方向沿路径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的切向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9461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714625"/>
              <a:ext cx="25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51622" y="271462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面元矢量，大小是面积，方向取该处的法线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166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436620"/>
              <a:ext cx="736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∫ … · dl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51622" y="343662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沿一段路径的线积分，被积的是标积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75666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3876675"/>
              <a:ext cx="736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∮ … · 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51622" y="38766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沿闭合回路一周的线积分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1967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4316730"/>
              <a:ext cx="8110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∮ … · dS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51622" y="43167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通过闭合曲面的通量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106"/>
              <p:cNvSpPr txBox="1">
                <a:spLocks noGrp="1"/>
              </p:cNvSpPr>
              <p:nvPr/>
            </p:nvSpPr>
            <p:spPr>
              <a:xfrm>
                <a:off x="5815965" y="1967865"/>
                <a:ext cx="5842635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07"/>
              <p:cNvSpPr txBox="1">
                <a:spLocks noGrp="1"/>
              </p:cNvSpPr>
              <p:nvPr/>
            </p:nvSpPr>
            <p:spPr>
              <a:xfrm>
                <a:off x="5815965" y="2638425"/>
                <a:ext cx="5842635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36" name="c2-card-3"/>
          <p:cNvGrpSpPr/>
          <p:nvPr/>
        </p:nvGrpSpPr>
        <p:grpSpPr>
          <a:xfrm>
            <a:off x="5815965" y="3266122"/>
            <a:ext cx="5842635" cy="1986915"/>
            <a:chOff x="5815965" y="3266122"/>
            <a:chExt cx="5842635" cy="1986915"/>
          </a:xfrm>
        </p:grpSpPr>
        <p:sp>
          <p:nvSpPr>
            <p:cNvPr id="26" name="Rectangle 26"/>
            <p:cNvSpPr/>
            <p:nvPr/>
          </p:nvSpPr>
          <p:spPr>
            <a:xfrm>
              <a:off x="5815965" y="3266122"/>
              <a:ext cx="584263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25490" y="3399472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63615" y="3475672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19368" y="35113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三个记号里的矢量运算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69330" y="391572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27445" y="3852862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功和通量用的是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标积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，所以公式里会出现 cos θ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69330" y="425100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27445" y="4188142"/>
              <a:ext cx="4922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洛伦兹力和力矩用的是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矢积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，所以要用右手螺旋定方向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069330" y="458628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27445" y="4523422"/>
              <a:ext cx="4996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库仑定律里的 e 是从源电荷指向场点的单位矢量，它只负责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方向，大小由前面的标量部分决定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7" name="Rectangle 3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728335"/>
              <a:ext cx="9997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 章求电场强度、第 5 章求磁感应强度时都是“先写出一个微元的矢量贡献，再按分量分别积分”，那一步用的正是本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章的分量加法。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自测题（上）概念与加减法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2842260" cy="293370"/>
            <a:chOff x="525780" y="1548765"/>
            <a:chExt cx="28422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遮住答案先自己做，算完再对。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54530"/>
            <a:ext cx="5410200" cy="1865948"/>
            <a:chOff x="533400" y="1954530"/>
            <a:chExt cx="5410200" cy="186594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7235" y="215836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4722" y="219408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2531269"/>
              <a:ext cx="47781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两个大小分别为 6 和 8 的矢量相加，合矢量的模能取到哪些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9996" y="3122771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2 到 14。同向时最大为 14，反向时最小为 |6−8|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2，中间随夹角连续变化。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6215"/>
            <a:ext cx="5410200" cy="1594485"/>
            <a:chOff x="533400" y="4006215"/>
            <a:chExt cx="5410200" cy="1594485"/>
          </a:xfrm>
        </p:grpSpPr>
        <p:sp>
          <p:nvSpPr>
            <p:cNvPr id="15" name="Rectangle 15"/>
            <p:cNvSpPr/>
            <p:nvPr/>
          </p:nvSpPr>
          <p:spPr>
            <a:xfrm>
              <a:off x="533400" y="4006215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7235" y="42100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4722" y="42457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996" y="4582954"/>
              <a:ext cx="34914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A = 3i − 4j，求它的模和单位矢量。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996" y="4902994"/>
              <a:ext cx="43065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√(9+16) = 5，e = A/A = 0.6i − 0.8j，可验证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0.6²+0.8² = 1。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54530"/>
            <a:ext cx="5410200" cy="1594485"/>
            <a:chOff x="6248400" y="1954530"/>
            <a:chExt cx="5410200" cy="159448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5453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2235" y="215836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39722" y="219408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4996" y="2531269"/>
              <a:ext cx="44842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 共尾时，作图求 A−B，箭头从哪里指向哪里？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44996" y="2851309"/>
              <a:ext cx="47303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B 的头指向 A 的头，箭头指向被减数 A。反过来画得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到的是 B−A。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34752"/>
            <a:ext cx="5410200" cy="1865948"/>
            <a:chOff x="6248400" y="3734752"/>
            <a:chExt cx="5410200" cy="1865948"/>
          </a:xfrm>
        </p:grpSpPr>
        <p:sp>
          <p:nvSpPr>
            <p:cNvPr id="27" name="Rectangle 27"/>
            <p:cNvSpPr/>
            <p:nvPr/>
          </p:nvSpPr>
          <p:spPr>
            <a:xfrm>
              <a:off x="6248400" y="3734752"/>
              <a:ext cx="5410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52235" y="3938588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39722" y="397430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44996" y="4311491"/>
              <a:ext cx="50630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某矢量的方向余弦为 0.6 和 0.8，第三个方向余弦是多少？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44996" y="4631531"/>
              <a:ext cx="47934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0.6²+0.8² = 1，故第三个必须为 0，该矢量落在前两个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坐标轴决定的平面内。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3" name="Rectangle 3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511" y="6004084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前两题只要会作图就能答，第三、四题考的是模与方向余弦的关系。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自测题（下）三种乘法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3456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A·B = 0，能断定 A = 0 或 B = 0 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577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不能。更常见的情况是两者互相垂直。同样地 A×B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 也可能只是两者平行。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66135"/>
            <a:ext cx="5410200" cy="1651635"/>
            <a:chOff x="533400" y="3366135"/>
            <a:chExt cx="5410200" cy="1651635"/>
          </a:xfrm>
        </p:grpSpPr>
        <p:sp>
          <p:nvSpPr>
            <p:cNvPr id="13" name="Rectangle 13"/>
            <p:cNvSpPr/>
            <p:nvPr/>
          </p:nvSpPr>
          <p:spPr>
            <a:xfrm>
              <a:off x="533400" y="3366135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952875"/>
              <a:ext cx="29760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用行列式求 (2i + 3j) × (i − j)。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288155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系数 3×0−0×(−1) = 0，j 系数 0×1−2×0 = 0，k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 2×(−1)−3×1 = −5，得 −5k。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651635"/>
            <a:chOff x="6248400" y="1524000"/>
            <a:chExt cx="5410200" cy="16516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51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i + 2j + 2k 与 B = 2i + j − 2k 的夹角是多少？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A·B = 2+2−4 = 0，两个模都是 3，cos θ = 0，夹角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90°，互相垂直。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366135"/>
            <a:ext cx="5410200" cy="1651635"/>
            <a:chOff x="6248400" y="3366135"/>
            <a:chExt cx="5410200" cy="16516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366135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395287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沿扳手手柄方向去拧螺母，力矩是多少？为什么？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2881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零。M = r×F 中 r 与 F 平行，sin θ = 0，所以 M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0，这也是垂直于手柄施力最省力的原因。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991225"/>
              <a:ext cx="81429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题这种“分量点积恰好为零”的题很常见，看到问是否垂直就先算点积，不必去求夹角。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第1章 矢量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5159502" cy="2647283"/>
            <a:chOff x="533400" y="1533525"/>
            <a:chExt cx="5159502" cy="2647283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矢量既有大小又有方向，并且服从平行四边形法则；模非负，单位矢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量只带方向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6978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2080736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加法用三角形法则：和矢量从第一个矢量的尾指向第二个矢量的头；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减法共尾时从 B 的头指向 A 的头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0604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616994"/>
              <a:ext cx="46946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大小用 C = √(A²+B²+2AB cos θ)，方向用 tan φ = B sin θ/(A + B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θ)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4134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31769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3153251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解析法把矢量拆成分量，加减就是对应分量各算各的，方向由方向余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弦确定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67760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371322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3688556"/>
              <a:ext cx="47109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三种乘法：数乘得矢量，标积得标量（cos θ），矢积得矢量（sin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θ，右手螺旋）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295775"/>
            <a:ext cx="5410200" cy="1348740"/>
            <a:chOff x="533400" y="4295775"/>
            <a:chExt cx="5410200" cy="1348740"/>
          </a:xfrm>
        </p:grpSpPr>
        <p:sp>
          <p:nvSpPr>
            <p:cNvPr id="23" name="Rectangle 23"/>
            <p:cNvSpPr/>
            <p:nvPr/>
          </p:nvSpPr>
          <p:spPr>
            <a:xfrm>
              <a:off x="533400" y="4295775"/>
              <a:ext cx="5410200" cy="1348740"/>
            </a:xfrm>
            <a:prstGeom prst="roundRect">
              <a:avLst>
                <a:gd name="adj" fmla="val 847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870133"/>
              <a:ext cx="200026" cy="200025"/>
              <a:chOff x="738188" y="4870133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8701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9145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0257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4763929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分量法的三个自检：方向余弦平方和为 1、矢积结果与两个因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子点积为 0、模落在 |A−B| 与 A+B 之间。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2200275"/>
            <a:chOff x="6248400" y="1524000"/>
            <a:chExt cx="5410200" cy="220027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20027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19335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7475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642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77000" y="20974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32448" y="204549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三角形法则的两处标注把头和尾写反了，和矢量应从第一个矢量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的尾指向第二个矢量的头（第 7 页）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7000" y="26250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32448" y="2573179"/>
              <a:ext cx="46296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减法标注写成“从 B 的尾到 A 的尾”，共尾时那是零矢量，应为从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的头到 A 的头（第 8 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77000" y="315372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32448" y="3100864"/>
              <a:ext cx="45077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数乘写作 C = mA，m &lt; 0 时模会成负数，应写 C = |m| A（第 17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3889058"/>
            <a:ext cx="5410200" cy="1756410"/>
            <a:chOff x="6248400" y="3889058"/>
            <a:chExt cx="5410200" cy="1756410"/>
          </a:xfrm>
        </p:grpSpPr>
        <p:sp>
          <p:nvSpPr>
            <p:cNvPr id="41" name="Rectangle 41"/>
            <p:cNvSpPr/>
            <p:nvPr/>
          </p:nvSpPr>
          <p:spPr>
            <a:xfrm>
              <a:off x="6248400" y="3889058"/>
              <a:ext cx="5410200" cy="1756410"/>
            </a:xfrm>
            <a:prstGeom prst="roundRect">
              <a:avLst>
                <a:gd name="adj" fmla="val 759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29375" y="407003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02743" y="410289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补充进来的内容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38900" y="446246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4348" y="4409599"/>
              <a:ext cx="3381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方向余弦的约束 cos²α + cos²β + cos²γ = 1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38900" y="474726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4348" y="4694396"/>
              <a:ext cx="4777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arctan 定象限的易错点，以及 θ 与三角形内角 180°−θ 的区别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38900" y="503205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94348" y="498014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矢积大小的几何意义（平行四边形面积）与右手系约定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38900" y="531685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94348" y="526494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四道完整例题，以及后面各章要用的矢量积分记号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3" name="Rectangle 5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6039326"/>
              <a:ext cx="96797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后面学振动、电场、磁场时，遇到方向问题就回到本章：先判断该用标积还是矢积，再决定是取 cos θ 还是用右手螺旋定方向。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第1章 绪论 矢量及其运算法则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hys_ch1">
  <a:themeElements>
    <a:clrScheme name="phys_ch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hys_ch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_ch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2026-09-19T13:08:11Z</dcterms:created>
  <dcterms:modified xsi:type="dcterms:W3CDTF">2026-09-19T13:08:11Z</dcterms:modified>
  <cp:category/>
  <cp:contentStatus/>
</cp:coreProperties>
</file>