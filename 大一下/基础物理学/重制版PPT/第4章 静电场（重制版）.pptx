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hys_ch4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hys_ch4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f78cdade2a5018fc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ebb0918010893c13.png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7d06445eeb29b629.png"/>
</Relationships>
</file>

<file path=ppt/slides/_rels/slide5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4632198" cy="3437763"/>
            <a:chOff x="666750" y="1619250"/>
            <a:chExt cx="4632198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745932" cy="3429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09438" y="1718310"/>
              <a:ext cx="14996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基础物理学 · 第四章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173431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静电场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46222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从库仑定律到高斯定理、电势、导体与电容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场强叠加与积分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高斯定理与对称性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电势与电势梯度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导体、电容与电场能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208793" cy="205359"/>
            <a:chOff x="680466" y="6192202"/>
            <a:chExt cx="4208793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2087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自学复习版｜据吉林大学《基础物理学》第4章课件整理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1049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5916" y="407194"/>
              <a:ext cx="899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静电场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4" name="c1-agenda-1"/>
          <p:cNvGrpSpPr/>
          <p:nvPr/>
        </p:nvGrpSpPr>
        <p:grpSpPr>
          <a:xfrm>
            <a:off x="523113" y="1520666"/>
            <a:ext cx="6718745" cy="4735831"/>
            <a:chOff x="523113" y="1520666"/>
            <a:chExt cx="6718745" cy="4735831"/>
          </a:xfrm>
        </p:grpSpPr>
        <p:sp>
          <p:nvSpPr>
            <p:cNvPr id="7" name="TextBox 7"/>
            <p:cNvSpPr txBox="1"/>
            <p:nvPr/>
          </p:nvSpPr>
          <p:spPr>
            <a:xfrm>
              <a:off x="523113" y="1520666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31558" y="1548765"/>
              <a:ext cx="14923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点电荷 库仑定律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33462" y="1839754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电荷的性质、电荷密度、库仑力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39178" y="2119312"/>
              <a:ext cx="62026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3113" y="2219801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1558" y="2247900"/>
              <a:ext cx="12904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电场 电场强度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33462" y="2538889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定义、叠加、积分求场与八道例题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39178" y="2819400"/>
              <a:ext cx="62026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3113" y="2919889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31558" y="2947988"/>
              <a:ext cx="16942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电介质 电位移矢量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33462" y="3238976"/>
              <a:ext cx="22423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极化机制、极化强度 P、电位移 D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39178" y="3518535"/>
              <a:ext cx="62026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3113" y="3619024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31558" y="3647122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静电场的高斯定理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33462" y="3938111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电通量、定理的验证、对称求场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39178" y="4217670"/>
              <a:ext cx="62026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3113" y="4319111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31558" y="4347210"/>
              <a:ext cx="31496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环路定理 电势 · 场强与电势的关系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33462" y="4638199"/>
              <a:ext cx="29575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保守力、电势能、电势的两种求法、E = −∇U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39178" y="4917758"/>
              <a:ext cx="62026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3113" y="5018246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31558" y="504634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静电场中的导体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33462" y="5337334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静电平衡、电荷分布、静电屏蔽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039178" y="5616892"/>
              <a:ext cx="62026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23113" y="5717381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31558" y="574548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电容器与电场能量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33462" y="6036469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三种电容器、储能、能量密度</a:t>
              </a:r>
            </a:p>
          </p:txBody>
        </p:sp>
      </p:grpSp>
      <p:grpSp>
        <p:nvGrpSpPr>
          <p:cNvPr id="49" name="c2-card-1"/>
          <p:cNvGrpSpPr/>
          <p:nvPr/>
        </p:nvGrpSpPr>
        <p:grpSpPr>
          <a:xfrm>
            <a:off x="7546658" y="1524000"/>
            <a:ext cx="4111942" cy="4688205"/>
            <a:chOff x="7546658" y="1524000"/>
            <a:chExt cx="4111942" cy="4688205"/>
          </a:xfrm>
        </p:grpSpPr>
        <p:sp>
          <p:nvSpPr>
            <p:cNvPr id="35" name="Rectangle 35"/>
            <p:cNvSpPr/>
            <p:nvPr/>
          </p:nvSpPr>
          <p:spPr>
            <a:xfrm>
              <a:off x="7546658" y="1524000"/>
              <a:ext cx="4111942" cy="4688205"/>
            </a:xfrm>
            <a:prstGeom prst="roundRect">
              <a:avLst>
                <a:gd name="adj" fmla="val 32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7556182" y="1657350"/>
              <a:ext cx="47625" cy="442150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777162" y="171640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860602" y="175069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785735" y="2128838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941754" y="2072640"/>
              <a:ext cx="32304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能用 dq 积分求直线、圆环、圆盘的场强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785735" y="2431732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941754" y="2375535"/>
              <a:ext cx="33887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能选高斯面求球、柱、面对称分布的 E(r)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785735" y="2734627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941754" y="2678430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能用定义法和叠加法求电势，会分段积分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785735" y="303657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941754" y="298037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能由电势求导得到场强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7785735" y="3339465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941754" y="328326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能分析导体球壳组合的电荷、电势与电容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第4章 静电场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012885" cy="3351847"/>
            <a:chOff x="667512" y="1835468"/>
            <a:chExt cx="6012885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581659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点电荷 库仑定律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0029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对应原课件 4.1，先认识电荷，再写出两个电荷之间的作用力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电荷的基本性质与量子化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电荷守恒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点电荷与电荷密度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真空与介质中的库仑定律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第4章 静电场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1743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9219" y="407194"/>
              <a:ext cx="21848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静电场 · 点电荷 库仑定律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电荷：两种、量子化、守恒，连续分布用密度描述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card-1"/>
          <p:cNvGrpSpPr/>
          <p:nvPr/>
        </p:nvGrpSpPr>
        <p:grpSpPr>
          <a:xfrm>
            <a:off x="533400" y="1524000"/>
            <a:ext cx="5410200" cy="1814512"/>
            <a:chOff x="533400" y="1524000"/>
            <a:chExt cx="5410200" cy="181451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814512"/>
            </a:xfrm>
            <a:prstGeom prst="roundRect">
              <a:avLst>
                <a:gd name="adj" fmla="val 734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4781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140970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7341" y="1750695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电荷的三条基本性质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63905" y="2061210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19583" y="209959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44702" y="2072640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自然界只有正、负两种电荷，同种相斥、异种相吸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63905" y="2363152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9583" y="240153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44702" y="2375535"/>
              <a:ext cx="435997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量子化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：物体的电量只能是 q = ne（n 取正负整数），e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1.602×10⁻¹⁹ C 是电荷的基本单元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63905" y="2923222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19583" y="296160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44702" y="2935605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守恒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：不与外界交换电荷的系统，电量的代数和始终不变</a:t>
              </a:r>
            </a:p>
          </p:txBody>
        </p:sp>
      </p:grpSp>
      <p:grpSp>
        <p:nvGrpSpPr>
          <p:cNvPr id="30" name="c1-card-2"/>
          <p:cNvGrpSpPr/>
          <p:nvPr/>
        </p:nvGrpSpPr>
        <p:grpSpPr>
          <a:xfrm>
            <a:off x="533400" y="3513772"/>
            <a:ext cx="5410200" cy="1814512"/>
            <a:chOff x="533400" y="3513772"/>
            <a:chExt cx="5410200" cy="1814512"/>
          </a:xfrm>
        </p:grpSpPr>
        <p:sp>
          <p:nvSpPr>
            <p:cNvPr id="21" name="Rectangle 21"/>
            <p:cNvSpPr/>
            <p:nvPr/>
          </p:nvSpPr>
          <p:spPr>
            <a:xfrm>
              <a:off x="533400" y="3513772"/>
              <a:ext cx="5410200" cy="1814512"/>
            </a:xfrm>
            <a:prstGeom prst="roundRect">
              <a:avLst>
                <a:gd name="adj" fmla="val 734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3647122"/>
              <a:ext cx="47625" cy="154781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63905" y="3706178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51344" y="374046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点电荷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7047" y="4062412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忽略带电体的大小和形状，把它抽象成一个带电的质点。这是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一个理想模型。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72478" y="467868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28497" y="4622482"/>
              <a:ext cx="45844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相对概念：带电体的线度 d ≪ 它到场点的距离 r 时才能用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72478" y="4980622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28497" y="492442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点电荷的带电量不一定小</a:t>
              </a:r>
            </a:p>
          </p:txBody>
        </p:sp>
      </p:grpSp>
      <p:grpSp>
        <p:nvGrpSpPr>
          <p:cNvPr id="50" name="c2-table-1"/>
          <p:cNvGrpSpPr/>
          <p:nvPr/>
        </p:nvGrpSpPr>
        <p:grpSpPr>
          <a:xfrm>
            <a:off x="6248400" y="1524000"/>
            <a:ext cx="5410200" cy="1623060"/>
            <a:chOff x="6248400" y="1524000"/>
            <a:chExt cx="5410200" cy="1623060"/>
          </a:xfrm>
        </p:grpSpPr>
        <p:sp>
          <p:nvSpPr>
            <p:cNvPr id="31" name="Rectangle 31"/>
            <p:cNvSpPr/>
            <p:nvPr/>
          </p:nvSpPr>
          <p:spPr>
            <a:xfrm>
              <a:off x="6248400" y="1524000"/>
              <a:ext cx="5410200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9485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分布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49056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电荷密度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425646" y="164830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电荷元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348412" y="205406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线分布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755255" y="2054066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 = dq/dl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756458" y="2054066"/>
              <a:ext cx="5617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dq = λdl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248400" y="23307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248400" y="233553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48412" y="245983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面分布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755255" y="2459831"/>
              <a:ext cx="6899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 = dq/dS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756458" y="2459831"/>
              <a:ext cx="6061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dq = σdS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248400" y="27365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48412" y="286559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体分布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755255" y="2865596"/>
              <a:ext cx="6899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ρ = dq/dV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756458" y="2865596"/>
              <a:ext cx="6061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dq = ρdV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248400" y="1524000"/>
              <a:ext cx="5410200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7650480" y="1524000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9651682" y="1524000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5" name="c2-card-2"/>
          <p:cNvGrpSpPr/>
          <p:nvPr/>
        </p:nvGrpSpPr>
        <p:grpSpPr>
          <a:xfrm>
            <a:off x="6248400" y="3322320"/>
            <a:ext cx="5410200" cy="2005965"/>
            <a:chOff x="6248400" y="3322320"/>
            <a:chExt cx="5410200" cy="2005965"/>
          </a:xfrm>
        </p:grpSpPr>
        <p:sp>
          <p:nvSpPr>
            <p:cNvPr id="51" name="Rectangle 51"/>
            <p:cNvSpPr/>
            <p:nvPr/>
          </p:nvSpPr>
          <p:spPr>
            <a:xfrm>
              <a:off x="6248400" y="3322320"/>
              <a:ext cx="5410200" cy="2005965"/>
            </a:xfrm>
            <a:prstGeom prst="roundRect">
              <a:avLst>
                <a:gd name="adj" fmla="val 6648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440805" y="3514725"/>
              <a:ext cx="154305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500241" y="3549015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连续带电体的处理办法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433947" y="3870960"/>
              <a:ext cx="483146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不论哪种分布，都把带电体切成许多电荷元 dq，每个 dq 当点电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荷处理，最后把各个 dq 的贡献积分起来。本章求场强、求电势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都走这条路。</a:t>
              </a:r>
            </a:p>
          </p:txBody>
        </p:sp>
      </p:grpSp>
      <p:grpSp>
        <p:nvGrpSpPr>
          <p:cNvPr id="62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6" name="Rectangle 56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1040892" y="6023610"/>
              <a:ext cx="87123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量子化在宏观问题里感觉不到：1 μC 就相当于约 6.24×10¹² 个电子，所以宏观上照样把电荷当成连续分布。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第4章 静电场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1743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9219" y="407194"/>
              <a:ext cx="21848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静电场 · 点电荷 库仑定律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库仑定律：力与电量乘积成正比，与距离平方成反比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6" name="c1-graph-1"/>
          <p:cNvGrpSpPr/>
          <p:nvPr/>
        </p:nvGrpSpPr>
        <p:grpSpPr>
          <a:xfrm>
            <a:off x="861060" y="1597342"/>
            <a:ext cx="4971098" cy="1641824"/>
            <a:chOff x="861060" y="1597342"/>
            <a:chExt cx="4971098" cy="1641824"/>
          </a:xfrm>
        </p:grpSpPr>
        <p:sp>
          <p:nvSpPr>
            <p:cNvPr id="7" name="Freeform 7"/>
            <p:cNvSpPr/>
            <p:nvPr/>
          </p:nvSpPr>
          <p:spPr>
            <a:xfrm>
              <a:off x="984885" y="2044065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952500" y="0"/>
                  </a:moveTo>
                  <a:lnTo>
                    <a:pt x="0" y="0"/>
                  </a:lnTo>
                </a:path>
              </a:pathLst>
            </a:custGeom>
            <a:noFill/>
            <a:ln w="22860">
              <a:solidFill>
                <a:srgbClr val="B42318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889635" y="199644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4755832" y="2044065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noFill/>
            <a:ln w="22860">
              <a:solidFill>
                <a:srgbClr val="B42318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5708332" y="199644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786062" y="1644968"/>
              <a:ext cx="1216342" cy="9525"/>
            </a:xfrm>
            <a:custGeom>
              <a:avLst/>
              <a:gdLst/>
              <a:ahLst/>
              <a:cxnLst/>
              <a:rect l="l" t="t" r="r" b="b"/>
              <a:pathLst>
                <a:path w="1216342" h="9525">
                  <a:moveTo>
                    <a:pt x="1216342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26B3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690812" y="159734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280285" y="2841308"/>
              <a:ext cx="670560" cy="9525"/>
            </a:xfrm>
            <a:custGeom>
              <a:avLst/>
              <a:gdLst/>
              <a:ahLst/>
              <a:cxnLst/>
              <a:rect l="l" t="t" r="r" b="b"/>
              <a:pathLst>
                <a:path w="670560" h="9525">
                  <a:moveTo>
                    <a:pt x="0" y="0"/>
                  </a:moveTo>
                  <a:lnTo>
                    <a:pt x="670560" y="0"/>
                  </a:lnTo>
                </a:path>
              </a:pathLst>
            </a:custGeom>
            <a:noFill/>
            <a:ln w="22860">
              <a:solidFill>
                <a:srgbClr val="B42318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950845" y="279368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3742372" y="2841308"/>
              <a:ext cx="670560" cy="9525"/>
            </a:xfrm>
            <a:custGeom>
              <a:avLst/>
              <a:gdLst/>
              <a:ahLst/>
              <a:cxnLst/>
              <a:rect l="l" t="t" r="r" b="b"/>
              <a:pathLst>
                <a:path w="670560" h="9525">
                  <a:moveTo>
                    <a:pt x="670560" y="0"/>
                  </a:moveTo>
                  <a:lnTo>
                    <a:pt x="0" y="0"/>
                  </a:lnTo>
                </a:path>
              </a:pathLst>
            </a:custGeom>
            <a:noFill/>
            <a:ln w="22860">
              <a:solidFill>
                <a:srgbClr val="B42318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647122" y="279368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1946910" y="1882140"/>
              <a:ext cx="323850" cy="323850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4422458" y="1882140"/>
              <a:ext cx="323850" cy="323850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861060" y="203454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5813108" y="203454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4011930" y="163544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2662238" y="163544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1946910" y="2679382"/>
              <a:ext cx="323850" cy="323850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422458" y="2679382"/>
              <a:ext cx="323850" cy="323850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055620" y="283178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618548" y="283178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989600" y="1983581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+q₁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465147" y="1983581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+q₂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989600" y="2780824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+q₁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465147" y="2780824"/>
              <a:ext cx="238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−q₂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240992" y="1749266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f₁₂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179579" y="1749266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f₂₁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254298" y="169687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er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078277" y="218170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同号相斥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078277" y="304847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异号相吸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formula9"/>
              <p:cNvSpPr txBox="1">
                <a:spLocks noGrp="1"/>
              </p:cNvSpPr>
              <p:nvPr/>
            </p:nvSpPr>
            <p:spPr>
              <a:xfrm>
                <a:off x="533400" y="3432810"/>
                <a:ext cx="5626418" cy="514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acc>
                            <m:accPr>
                              <m:chr m:val="⃗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</m:e>
                          </m:acc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=−</m:t>
                      </m:r>
                      <m:sSub>
                        <m:e>
                          <m:acc>
                            <m:accPr>
                              <m:chr m:val="⃗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</m:e>
                          </m:acc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4π</m:t>
                          </m:r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ε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q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q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Sup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12</m:t>
                              </m:r>
                            </m:sub>
                            <m:sup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sSub>
                        <m:e>
                          <m:acc>
                            <m:accPr>
                              <m:chr m:val="⃗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</m:e>
                          </m:acc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</mc:AlternateContent>
      <p:grpSp>
        <p:nvGrpSpPr>
          <p:cNvPr id="43" name="c1-card-3"/>
          <p:cNvGrpSpPr/>
          <p:nvPr/>
        </p:nvGrpSpPr>
        <p:grpSpPr>
          <a:xfrm>
            <a:off x="533400" y="4122420"/>
            <a:ext cx="5626418" cy="1363028"/>
            <a:chOff x="533400" y="4122420"/>
            <a:chExt cx="5626418" cy="1363028"/>
          </a:xfrm>
        </p:grpSpPr>
        <p:sp>
          <p:nvSpPr>
            <p:cNvPr id="38" name="Rectangle 38"/>
            <p:cNvSpPr/>
            <p:nvPr/>
          </p:nvSpPr>
          <p:spPr>
            <a:xfrm>
              <a:off x="533400" y="4122420"/>
              <a:ext cx="5626418" cy="1363028"/>
            </a:xfrm>
            <a:prstGeom prst="roundRect">
              <a:avLst>
                <a:gd name="adj" fmla="val 97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42925" y="4255770"/>
              <a:ext cx="47625" cy="109632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763905" y="431482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47344" y="434911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两个常量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57047" y="4671060"/>
              <a:ext cx="459143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= 1/(4πε₀) ≈ 9.0×10⁹ N·m²·C⁻²；ε₀ = 8.85×10⁻¹² C²·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N⁻¹·m⁻²，叫真空介电常数。</a:t>
              </a:r>
            </a:p>
          </p:txBody>
        </p:sp>
      </p:grpSp>
      <p:grpSp>
        <p:nvGrpSpPr>
          <p:cNvPr id="51" name="c2-card-1"/>
          <p:cNvGrpSpPr/>
          <p:nvPr/>
        </p:nvGrpSpPr>
        <p:grpSpPr>
          <a:xfrm>
            <a:off x="6464618" y="1524000"/>
            <a:ext cx="5193982" cy="1971675"/>
            <a:chOff x="6464618" y="1524000"/>
            <a:chExt cx="5193982" cy="1971675"/>
          </a:xfrm>
        </p:grpSpPr>
        <p:sp>
          <p:nvSpPr>
            <p:cNvPr id="44" name="Rectangle 44"/>
            <p:cNvSpPr/>
            <p:nvPr/>
          </p:nvSpPr>
          <p:spPr>
            <a:xfrm>
              <a:off x="6464618" y="1524000"/>
              <a:ext cx="5193982" cy="1971675"/>
            </a:xfrm>
            <a:prstGeom prst="roundRect">
              <a:avLst>
                <a:gd name="adj" fmla="val 67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474142" y="1657350"/>
              <a:ext cx="47625" cy="170497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695122" y="1716405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774561" y="175069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在电介质中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88264" y="2072640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同样两个电荷放进各向同性的电介质里，作用力变成真空中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 1/εr：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9" name="formula10"/>
                <p:cNvSpPr txBox="1">
                  <a:spLocks noGrp="1"/>
                </p:cNvSpPr>
                <p:nvPr/>
              </p:nvSpPr>
              <p:spPr>
                <a:xfrm>
                  <a:off x="6695122" y="2610802"/>
                  <a:ext cx="4771072" cy="411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acc>
                              <m:accPr>
                                <m:chr m:val="⃗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</m:e>
                            </m:acc>
                          </m:e>
                          <m:sub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4π</m:t>
                            </m:r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ε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ε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</m:t>
                                </m:r>
                              </m:sub>
                            </m:sSub>
                          </m:den>
                        </m:f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sSubSup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12</m:t>
                                </m:r>
                              </m:sub>
                              <m:sup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  <m:sSub>
                          <m:e>
                            <m:acc>
                              <m:accPr>
                                <m:chr m:val="⃗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</m:acc>
                          </m:e>
                          <m:sub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4πε</m:t>
                            </m:r>
                          </m:den>
                        </m:f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sSubSup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12</m:t>
                                </m:r>
                              </m:sub>
                              <m:sup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  <m:sSub>
                          <m:e>
                            <m:acc>
                              <m:accPr>
                                <m:chr m:val="⃗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</m:acc>
                          </m:e>
                          <m:sub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sub>
                        </m:sSub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50" name="TextBox 50"/>
            <p:cNvSpPr txBox="1"/>
            <p:nvPr/>
          </p:nvSpPr>
          <p:spPr>
            <a:xfrm>
              <a:off x="6689408" y="3127534"/>
              <a:ext cx="30721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εr ≥ 1 是相对介电常数，ε = ε₀εr 是介电常数</a:t>
              </a:r>
            </a:p>
          </p:txBody>
        </p:sp>
      </p:grpSp>
      <p:grpSp>
        <p:nvGrpSpPr>
          <p:cNvPr id="59" name="c2-card-2"/>
          <p:cNvGrpSpPr/>
          <p:nvPr/>
        </p:nvGrpSpPr>
        <p:grpSpPr>
          <a:xfrm>
            <a:off x="6464618" y="3669982"/>
            <a:ext cx="5193982" cy="1814512"/>
            <a:chOff x="6464618" y="3669982"/>
            <a:chExt cx="5193982" cy="1814512"/>
          </a:xfrm>
        </p:grpSpPr>
        <p:sp>
          <p:nvSpPr>
            <p:cNvPr id="52" name="Rectangle 52"/>
            <p:cNvSpPr/>
            <p:nvPr/>
          </p:nvSpPr>
          <p:spPr>
            <a:xfrm>
              <a:off x="6464618" y="3669982"/>
              <a:ext cx="5193982" cy="1814512"/>
            </a:xfrm>
            <a:prstGeom prst="roundRect">
              <a:avLst>
                <a:gd name="adj" fmla="val 734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474142" y="3803332"/>
              <a:ext cx="47625" cy="154781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695122" y="3862388"/>
              <a:ext cx="1704022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750180" y="3896678"/>
              <a:ext cx="15948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小例 · 氢原子里的两种力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688264" y="4219575"/>
              <a:ext cx="30214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电子与质子相距 r = 5.29×10⁻¹¹ m：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688264" y="4521518"/>
              <a:ext cx="415423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Fe = e²/(4πε₀r²) ≈ 8.24×10⁻⁸ N，Fg = Gmₑmₚ/r² ≈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3.63×10⁻⁴⁷ N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688264" y="5081588"/>
              <a:ext cx="47571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Fe/Fg ≈ 2.27×10³⁹，原子尺度上万有引力完全可以忽略。</a:t>
              </a:r>
            </a:p>
          </p:txBody>
        </p:sp>
      </p:grpSp>
      <p:grpSp>
        <p:nvGrpSpPr>
          <p:cNvPr id="66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0" name="Rectangle 60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726129" y="6014203"/>
              <a:ext cx="224134" cy="192560"/>
              <a:chOff x="726129" y="6014203"/>
              <a:chExt cx="224134" cy="192560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838200" y="60845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726129" y="60142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38200" y="61623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1040892" y="6023610"/>
              <a:ext cx="96548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f₁₂ 是 q₂ 对 q₁ 的力，er 由施力电荷 q₂ 指向受力电荷 q₁；q₁q₂ &gt; 0 时力沿 er（相斥），q₁q₂ &lt; 0 时逆 er（相吸）。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第4章 静电场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235901" cy="3351847"/>
            <a:chOff x="667512" y="1835468"/>
            <a:chExt cx="4235901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09702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电场 电场强度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22599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对应原课件 4.2，本章计算量最集中的一节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电场强度的定义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点电荷与点电荷系的场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连续带电体的积分方法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直线、圆环、圆盘、平面的场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第4章 静电场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7455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4121" y="407194"/>
              <a:ext cx="20340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静电场 · 电场 电场强度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电场是一种物质，电场强度描述它对电荷的作用力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143952"/>
            <a:chOff x="533400" y="1524000"/>
            <a:chExt cx="5410200" cy="114395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电场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045494"/>
              <a:ext cx="45646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电荷周围存在的一种特殊形态的物质。电荷之间的作用靠电场传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递：电荷 ⇔ 电场 ⇔ 电荷。</a:t>
              </a:r>
            </a:p>
          </p:txBody>
        </p:sp>
      </p:grpSp>
      <p:grpSp>
        <p:nvGrpSpPr>
          <p:cNvPr id="26" name="c1-bullets-2"/>
          <p:cNvGrpSpPr/>
          <p:nvPr/>
        </p:nvGrpSpPr>
        <p:grpSpPr>
          <a:xfrm>
            <a:off x="526923" y="2854166"/>
            <a:ext cx="3563137" cy="1429512"/>
            <a:chOff x="526923" y="2854166"/>
            <a:chExt cx="3563137" cy="1429512"/>
          </a:xfrm>
        </p:grpSpPr>
        <p:sp>
          <p:nvSpPr>
            <p:cNvPr id="13" name="TextBox 13"/>
            <p:cNvSpPr txBox="1"/>
            <p:nvPr/>
          </p:nvSpPr>
          <p:spPr>
            <a:xfrm>
              <a:off x="526923" y="285416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电场对外的四种表现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144202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85307" y="317982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03148" y="3155156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对引入其中的电荷有力的作用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3437572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85307" y="3472243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03148" y="3448526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电荷移动时电场力做功，说明电场具有能量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533400" y="3729990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85307" y="3765613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03148" y="374094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使场中的导体产生静电感应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533400" y="4023360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85307" y="405898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03148" y="403431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使场中的电介质发生极化</a:t>
              </a:r>
            </a:p>
          </p:txBody>
        </p:sp>
      </p:grpSp>
      <p:grpSp>
        <p:nvGrpSpPr>
          <p:cNvPr id="32" name="c1-card-3"/>
          <p:cNvGrpSpPr/>
          <p:nvPr/>
        </p:nvGrpSpPr>
        <p:grpSpPr>
          <a:xfrm>
            <a:off x="533400" y="4398645"/>
            <a:ext cx="5410200" cy="1143952"/>
            <a:chOff x="533400" y="4398645"/>
            <a:chExt cx="5410200" cy="1143952"/>
          </a:xfrm>
        </p:grpSpPr>
        <p:sp>
          <p:nvSpPr>
            <p:cNvPr id="27" name="Rectangle 27"/>
            <p:cNvSpPr/>
            <p:nvPr/>
          </p:nvSpPr>
          <p:spPr>
            <a:xfrm>
              <a:off x="533400" y="4398645"/>
              <a:ext cx="5410200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2925" y="4531995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52475" y="4579620"/>
              <a:ext cx="1329690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18693" y="4612481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为什么说场是实在的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45998" y="4919186"/>
              <a:ext cx="47271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电荷之间的作用以光速传递，要过一段时间才到达远处；学到电磁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波会看到场本身携带能量。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formula17"/>
              <p:cNvSpPr txBox="1">
                <a:spLocks noGrp="1"/>
              </p:cNvSpPr>
              <p:nvPr/>
            </p:nvSpPr>
            <p:spPr>
              <a:xfrm>
                <a:off x="6248400" y="1524000"/>
                <a:ext cx="5410200" cy="617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⃗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acc>
                            <m:accPr>
                              <m:chr m:val="⃗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</m:e>
                          </m:acc>
                        </m:num>
                        <m:den>
                          <m:sSub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q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43" name="c2-card-2"/>
          <p:cNvGrpSpPr/>
          <p:nvPr/>
        </p:nvGrpSpPr>
        <p:grpSpPr>
          <a:xfrm>
            <a:off x="6248400" y="2306002"/>
            <a:ext cx="5410200" cy="1471612"/>
            <a:chOff x="6248400" y="2306002"/>
            <a:chExt cx="5410200" cy="1471612"/>
          </a:xfrm>
        </p:grpSpPr>
        <p:sp>
          <p:nvSpPr>
            <p:cNvPr id="34" name="Rectangle 34"/>
            <p:cNvSpPr/>
            <p:nvPr/>
          </p:nvSpPr>
          <p:spPr>
            <a:xfrm>
              <a:off x="6248400" y="2306002"/>
              <a:ext cx="5410200" cy="1471612"/>
            </a:xfrm>
            <a:prstGeom prst="roundRect">
              <a:avLst>
                <a:gd name="adj" fmla="val 9061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429375" y="2486978"/>
              <a:ext cx="1454468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491542" y="251983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电场强度（简称场强）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438900" y="2879408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94348" y="2827496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大小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：单位正试验电荷在该点受的力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438900" y="316420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94348" y="3112294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方向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：正试验电荷在该点的受力方向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438900" y="344995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94348" y="3397091"/>
              <a:ext cx="19005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单位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：N/C，也写作 V/m</a:t>
              </a:r>
            </a:p>
          </p:txBody>
        </p:sp>
      </p:grpSp>
      <p:grpSp>
        <p:nvGrpSpPr>
          <p:cNvPr id="57" name="c2-card-3"/>
          <p:cNvGrpSpPr/>
          <p:nvPr/>
        </p:nvGrpSpPr>
        <p:grpSpPr>
          <a:xfrm>
            <a:off x="6248400" y="3942398"/>
            <a:ext cx="5410200" cy="1600200"/>
            <a:chOff x="6248400" y="3942398"/>
            <a:chExt cx="5410200" cy="1600200"/>
          </a:xfrm>
        </p:grpSpPr>
        <p:sp>
          <p:nvSpPr>
            <p:cNvPr id="44" name="Rectangle 44"/>
            <p:cNvSpPr/>
            <p:nvPr/>
          </p:nvSpPr>
          <p:spPr>
            <a:xfrm>
              <a:off x="6248400" y="3942398"/>
              <a:ext cx="5410200" cy="16002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257925" y="4075748"/>
              <a:ext cx="47625" cy="133350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467475" y="4123372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52044" y="415623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三点说明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467475" y="4451985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519382" y="448760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737223" y="4462939"/>
              <a:ext cx="30453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由场源电荷决定，与试验电荷 q₀ 无关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467475" y="4736782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519382" y="477240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737223" y="4747736"/>
              <a:ext cx="44380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 E = E(x, y, z) 随位置变化；各处 E 相同的叫匀强场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467475" y="5021580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519382" y="5057203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737223" y="5033486"/>
              <a:ext cx="36417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 E 求力：点电荷 F = qE，带电体 F = ∫E dq</a:t>
              </a:r>
            </a:p>
          </p:txBody>
        </p:sp>
      </p:grpSp>
      <p:grpSp>
        <p:nvGrpSpPr>
          <p:cNvPr id="64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8" name="Rectangle 58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1041273" y="6039326"/>
              <a:ext cx="72501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试验电荷要满足两个条件：电量足够小，不扰动原来的场；线度足够小，能代表场中的一个点。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第4章 静电场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7455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4121" y="407194"/>
              <a:ext cx="20340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静电场 · 电场 电场强度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点电荷的场球对称，多个电荷的场逐个矢量相加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3" name="c1-graph-1"/>
          <p:cNvGrpSpPr/>
          <p:nvPr/>
        </p:nvGrpSpPr>
        <p:grpSpPr>
          <a:xfrm>
            <a:off x="1822132" y="1687830"/>
            <a:ext cx="3572085" cy="1553527"/>
            <a:chOff x="1822132" y="1687830"/>
            <a:chExt cx="3572085" cy="1553527"/>
          </a:xfrm>
        </p:grpSpPr>
        <p:sp>
          <p:nvSpPr>
            <p:cNvPr id="7" name="Freeform 7"/>
            <p:cNvSpPr/>
            <p:nvPr/>
          </p:nvSpPr>
          <p:spPr>
            <a:xfrm>
              <a:off x="2876550" y="2180272"/>
              <a:ext cx="613410" cy="217170"/>
            </a:xfrm>
            <a:custGeom>
              <a:avLst/>
              <a:gdLst/>
              <a:ahLst/>
              <a:cxnLst/>
              <a:rect l="l" t="t" r="r" b="b"/>
              <a:pathLst>
                <a:path w="613410" h="217170">
                  <a:moveTo>
                    <a:pt x="0" y="217170"/>
                  </a:moveTo>
                  <a:lnTo>
                    <a:pt x="613410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473768" y="2135505"/>
              <a:ext cx="105728" cy="89535"/>
            </a:xfrm>
            <a:custGeom>
              <a:avLst/>
              <a:gdLst/>
              <a:ahLst/>
              <a:cxnLst/>
              <a:rect l="l" t="t" r="r" b="b"/>
              <a:pathLst>
                <a:path w="105728" h="89535">
                  <a:moveTo>
                    <a:pt x="105728" y="13335"/>
                  </a:moveTo>
                  <a:lnTo>
                    <a:pt x="32385" y="89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789872" y="1800225"/>
              <a:ext cx="243840" cy="501015"/>
            </a:xfrm>
            <a:custGeom>
              <a:avLst/>
              <a:gdLst/>
              <a:ahLst/>
              <a:cxnLst/>
              <a:rect l="l" t="t" r="r" b="b"/>
              <a:pathLst>
                <a:path w="243840" h="501015">
                  <a:moveTo>
                    <a:pt x="0" y="501015"/>
                  </a:moveTo>
                  <a:lnTo>
                    <a:pt x="243840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990850" y="1714500"/>
              <a:ext cx="85725" cy="106680"/>
            </a:xfrm>
            <a:custGeom>
              <a:avLst/>
              <a:gdLst/>
              <a:ahLst/>
              <a:cxnLst/>
              <a:rect l="l" t="t" r="r" b="b"/>
              <a:pathLst>
                <a:path w="85725" h="106680">
                  <a:moveTo>
                    <a:pt x="84772" y="0"/>
                  </a:moveTo>
                  <a:lnTo>
                    <a:pt x="85725" y="106680"/>
                  </a:lnTo>
                  <a:lnTo>
                    <a:pt x="0" y="6477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396490" y="1800225"/>
              <a:ext cx="242888" cy="501015"/>
            </a:xfrm>
            <a:custGeom>
              <a:avLst/>
              <a:gdLst/>
              <a:ahLst/>
              <a:cxnLst/>
              <a:rect l="l" t="t" r="r" b="b"/>
              <a:pathLst>
                <a:path w="242888" h="501015">
                  <a:moveTo>
                    <a:pt x="242888" y="50101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353628" y="1714500"/>
              <a:ext cx="84773" cy="106680"/>
            </a:xfrm>
            <a:custGeom>
              <a:avLst/>
              <a:gdLst/>
              <a:ahLst/>
              <a:cxnLst/>
              <a:rect l="l" t="t" r="r" b="b"/>
              <a:pathLst>
                <a:path w="84773" h="106680">
                  <a:moveTo>
                    <a:pt x="952" y="0"/>
                  </a:moveTo>
                  <a:lnTo>
                    <a:pt x="84773" y="64770"/>
                  </a:lnTo>
                  <a:lnTo>
                    <a:pt x="0" y="10668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939290" y="2180272"/>
              <a:ext cx="614363" cy="217170"/>
            </a:xfrm>
            <a:custGeom>
              <a:avLst/>
              <a:gdLst/>
              <a:ahLst/>
              <a:cxnLst/>
              <a:rect l="l" t="t" r="r" b="b"/>
              <a:pathLst>
                <a:path w="614363" h="217170">
                  <a:moveTo>
                    <a:pt x="614363" y="21717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849755" y="2135505"/>
              <a:ext cx="105728" cy="89535"/>
            </a:xfrm>
            <a:custGeom>
              <a:avLst/>
              <a:gdLst/>
              <a:ahLst/>
              <a:cxnLst/>
              <a:rect l="l" t="t" r="r" b="b"/>
              <a:pathLst>
                <a:path w="105728" h="89535">
                  <a:moveTo>
                    <a:pt x="0" y="13335"/>
                  </a:moveTo>
                  <a:lnTo>
                    <a:pt x="105728" y="0"/>
                  </a:lnTo>
                  <a:lnTo>
                    <a:pt x="74295" y="89535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939290" y="2512695"/>
              <a:ext cx="614363" cy="217170"/>
            </a:xfrm>
            <a:custGeom>
              <a:avLst/>
              <a:gdLst/>
              <a:ahLst/>
              <a:cxnLst/>
              <a:rect l="l" t="t" r="r" b="b"/>
              <a:pathLst>
                <a:path w="614363" h="217170">
                  <a:moveTo>
                    <a:pt x="614363" y="0"/>
                  </a:moveTo>
                  <a:lnTo>
                    <a:pt x="0" y="21717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849755" y="2685098"/>
              <a:ext cx="105728" cy="89535"/>
            </a:xfrm>
            <a:custGeom>
              <a:avLst/>
              <a:gdLst/>
              <a:ahLst/>
              <a:cxnLst/>
              <a:rect l="l" t="t" r="r" b="b"/>
              <a:pathLst>
                <a:path w="105728" h="89535">
                  <a:moveTo>
                    <a:pt x="0" y="76200"/>
                  </a:moveTo>
                  <a:lnTo>
                    <a:pt x="74295" y="0"/>
                  </a:lnTo>
                  <a:lnTo>
                    <a:pt x="105728" y="89535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396490" y="2608898"/>
              <a:ext cx="242888" cy="501015"/>
            </a:xfrm>
            <a:custGeom>
              <a:avLst/>
              <a:gdLst/>
              <a:ahLst/>
              <a:cxnLst/>
              <a:rect l="l" t="t" r="r" b="b"/>
              <a:pathLst>
                <a:path w="242888" h="501015">
                  <a:moveTo>
                    <a:pt x="242888" y="0"/>
                  </a:moveTo>
                  <a:lnTo>
                    <a:pt x="0" y="501015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353628" y="3088958"/>
              <a:ext cx="84773" cy="106680"/>
            </a:xfrm>
            <a:custGeom>
              <a:avLst/>
              <a:gdLst/>
              <a:ahLst/>
              <a:cxnLst/>
              <a:rect l="l" t="t" r="r" b="b"/>
              <a:pathLst>
                <a:path w="84773" h="106680">
                  <a:moveTo>
                    <a:pt x="952" y="106680"/>
                  </a:moveTo>
                  <a:lnTo>
                    <a:pt x="0" y="0"/>
                  </a:lnTo>
                  <a:lnTo>
                    <a:pt x="84773" y="4191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2789872" y="2608898"/>
              <a:ext cx="243840" cy="501015"/>
            </a:xfrm>
            <a:custGeom>
              <a:avLst/>
              <a:gdLst/>
              <a:ahLst/>
              <a:cxnLst/>
              <a:rect l="l" t="t" r="r" b="b"/>
              <a:pathLst>
                <a:path w="243840" h="501015">
                  <a:moveTo>
                    <a:pt x="0" y="0"/>
                  </a:moveTo>
                  <a:lnTo>
                    <a:pt x="243840" y="501015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2990850" y="3088958"/>
              <a:ext cx="85725" cy="106680"/>
            </a:xfrm>
            <a:custGeom>
              <a:avLst/>
              <a:gdLst/>
              <a:ahLst/>
              <a:cxnLst/>
              <a:rect l="l" t="t" r="r" b="b"/>
              <a:pathLst>
                <a:path w="85725" h="106680">
                  <a:moveTo>
                    <a:pt x="84772" y="106680"/>
                  </a:moveTo>
                  <a:lnTo>
                    <a:pt x="0" y="41910"/>
                  </a:lnTo>
                  <a:lnTo>
                    <a:pt x="85725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2876550" y="2512695"/>
              <a:ext cx="613410" cy="217170"/>
            </a:xfrm>
            <a:custGeom>
              <a:avLst/>
              <a:gdLst/>
              <a:ahLst/>
              <a:cxnLst/>
              <a:rect l="l" t="t" r="r" b="b"/>
              <a:pathLst>
                <a:path w="613410" h="217170">
                  <a:moveTo>
                    <a:pt x="0" y="0"/>
                  </a:moveTo>
                  <a:lnTo>
                    <a:pt x="613410" y="21717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3473768" y="2685098"/>
              <a:ext cx="105728" cy="89535"/>
            </a:xfrm>
            <a:custGeom>
              <a:avLst/>
              <a:gdLst/>
              <a:ahLst/>
              <a:cxnLst/>
              <a:rect l="l" t="t" r="r" b="b"/>
              <a:pathLst>
                <a:path w="105728" h="89535">
                  <a:moveTo>
                    <a:pt x="105728" y="76200"/>
                  </a:moveTo>
                  <a:lnTo>
                    <a:pt x="0" y="89535"/>
                  </a:lnTo>
                  <a:lnTo>
                    <a:pt x="32385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2886075" y="2455545"/>
              <a:ext cx="425767" cy="9525"/>
            </a:xfrm>
            <a:custGeom>
              <a:avLst/>
              <a:gdLst/>
              <a:ahLst/>
              <a:cxnLst/>
              <a:rect l="l" t="t" r="r" b="b"/>
              <a:pathLst>
                <a:path w="425767" h="9525">
                  <a:moveTo>
                    <a:pt x="0" y="0"/>
                  </a:moveTo>
                  <a:lnTo>
                    <a:pt x="425767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3426142" y="2455545"/>
              <a:ext cx="763905" cy="9525"/>
            </a:xfrm>
            <a:custGeom>
              <a:avLst/>
              <a:gdLst/>
              <a:ahLst/>
              <a:cxnLst/>
              <a:rect l="l" t="t" r="r" b="b"/>
              <a:pathLst>
                <a:path w="763905" h="9525">
                  <a:moveTo>
                    <a:pt x="0" y="0"/>
                  </a:moveTo>
                  <a:lnTo>
                    <a:pt x="763905" y="0"/>
                  </a:lnTo>
                </a:path>
              </a:pathLst>
            </a:custGeom>
            <a:noFill/>
            <a:ln w="24765">
              <a:solidFill>
                <a:srgbClr val="B42318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4190048" y="240792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2552700" y="2293620"/>
              <a:ext cx="323850" cy="323850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3588068" y="213264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3073718" y="168783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2336482" y="168783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1822132" y="213264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1822132" y="275844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2336482" y="320325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3073718" y="320325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3588068" y="275844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3321368" y="2407920"/>
              <a:ext cx="95250" cy="952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4294822" y="244602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2639894" y="239934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+q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3032760" y="237648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064316" y="240553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269098" y="256508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411146" y="221170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397483" y="3065145"/>
              <a:ext cx="99673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q &gt; 0：E 背离电荷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formula30"/>
              <p:cNvSpPr txBox="1">
                <a:spLocks noGrp="1"/>
              </p:cNvSpPr>
              <p:nvPr/>
            </p:nvSpPr>
            <p:spPr>
              <a:xfrm>
                <a:off x="533400" y="3550920"/>
                <a:ext cx="5193982" cy="514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⃗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q</m:t>
                          </m:r>
                        </m:num>
                        <m:den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4π</m:t>
                          </m:r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ε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  <m:sSup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p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b>
                        <m:e>
                          <m:acc>
                            <m:accPr>
                              <m:chr m:val="⃗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</m:e>
                          </m:acc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</mc:AlternateContent>
      <p:grpSp>
        <p:nvGrpSpPr>
          <p:cNvPr id="50" name="c1-card-3"/>
          <p:cNvGrpSpPr/>
          <p:nvPr/>
        </p:nvGrpSpPr>
        <p:grpSpPr>
          <a:xfrm>
            <a:off x="533400" y="4230052"/>
            <a:ext cx="5193982" cy="1166812"/>
            <a:chOff x="533400" y="4230052"/>
            <a:chExt cx="5193982" cy="1166812"/>
          </a:xfrm>
        </p:grpSpPr>
        <p:sp>
          <p:nvSpPr>
            <p:cNvPr id="45" name="Rectangle 45"/>
            <p:cNvSpPr/>
            <p:nvPr/>
          </p:nvSpPr>
          <p:spPr>
            <a:xfrm>
              <a:off x="533400" y="4230052"/>
              <a:ext cx="5193982" cy="1166812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542925" y="4363402"/>
              <a:ext cx="47625" cy="90011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752475" y="441102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45147" y="444388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小例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45998" y="4751546"/>
              <a:ext cx="445084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 = 1 nC 的点电荷，r = 0.3 m 处：E = 9.0×10⁹ × 10⁻⁹/0.3²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≈ 100 N/C；距离加倍，E 降为四分之一，约 25 N/C。</a:t>
              </a:r>
            </a:p>
          </p:txBody>
        </p:sp>
      </p:grpSp>
      <p:grpSp>
        <p:nvGrpSpPr>
          <p:cNvPr id="56" name="c2-card-1"/>
          <p:cNvGrpSpPr/>
          <p:nvPr/>
        </p:nvGrpSpPr>
        <p:grpSpPr>
          <a:xfrm>
            <a:off x="6032182" y="1524000"/>
            <a:ext cx="5626418" cy="1143952"/>
            <a:chOff x="6032182" y="1524000"/>
            <a:chExt cx="5626418" cy="1143952"/>
          </a:xfrm>
        </p:grpSpPr>
        <p:sp>
          <p:nvSpPr>
            <p:cNvPr id="51" name="Rectangle 51"/>
            <p:cNvSpPr/>
            <p:nvPr/>
          </p:nvSpPr>
          <p:spPr>
            <a:xfrm>
              <a:off x="6032182" y="1524000"/>
              <a:ext cx="5626418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041708" y="1657350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251258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34297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推导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244780" y="2045494"/>
              <a:ext cx="502793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试验电荷 q₀ 放在距 q 为 r 的 P 点，受库仑力 F = qq₀er/(4πε₀r²)，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除以 q₀ 就得到左边的式子。er 是由 q 指向 P 的单位矢量。</a:t>
              </a:r>
            </a:p>
          </p:txBody>
        </p:sp>
      </p:grpSp>
      <p:grpSp>
        <p:nvGrpSpPr>
          <p:cNvPr id="62" name="c2-card-2"/>
          <p:cNvGrpSpPr/>
          <p:nvPr/>
        </p:nvGrpSpPr>
        <p:grpSpPr>
          <a:xfrm>
            <a:off x="6032182" y="2832735"/>
            <a:ext cx="5626418" cy="1696402"/>
            <a:chOff x="6032182" y="2832735"/>
            <a:chExt cx="5626418" cy="1696402"/>
          </a:xfrm>
        </p:grpSpPr>
        <p:sp>
          <p:nvSpPr>
            <p:cNvPr id="57" name="Rectangle 57"/>
            <p:cNvSpPr/>
            <p:nvPr/>
          </p:nvSpPr>
          <p:spPr>
            <a:xfrm>
              <a:off x="6032182" y="2832735"/>
              <a:ext cx="5626418" cy="1696402"/>
            </a:xfrm>
            <a:prstGeom prst="roundRect">
              <a:avLst>
                <a:gd name="adj" fmla="val 7861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213158" y="3013710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290577" y="3046571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场强叠加原理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206680" y="3354229"/>
              <a:ext cx="502793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q₀ 处在 q₁、q₂、…、qₙ 共同产生的场中时，所受的力是各个力的矢量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和，所以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1" name="formula31"/>
                <p:cNvSpPr txBox="1">
                  <a:spLocks noGrp="1"/>
                </p:cNvSpPr>
                <p:nvPr/>
              </p:nvSpPr>
              <p:spPr>
                <a:xfrm>
                  <a:off x="6213158" y="3860482"/>
                  <a:ext cx="5264468" cy="4714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acc>
                          <m:accPr>
                            <m:chr m:val="⃗"/>
                            <m:ctrl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limLoc m:val="undOvr"/>
                                <m:grow m:val="off"/>
                                <m:subHide m:val="on"/>
                                <m:supHide m:val="on"/>
                                <m:ctrl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b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zh-CN" sz="112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zh-CN" sz="112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F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nary>
                          </m:num>
                          <m:den>
                            <m:sSub>
                              <m:e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n"/>
                            <m:ctrl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  <m:sup/>
                          <m:e>
                            <m:sSub>
                              <m:e>
                                <m:acc>
                                  <m:accPr>
                                    <m:chr m:val="⃗"/>
                                    <m:ctrlP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</m:e>
                        </m:nary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n"/>
                            <m:ctrl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  <m:sup/>
                          <m:e>
                            <m:f>
                              <m:fPr>
                                <m:type m:val="bar"/>
                                <m:ctrlP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sSub>
                                  <m:e>
                                    <m: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4π</m:t>
                                </m:r>
                                <m:sSub>
                                  <m:e>
                                    <m: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ε</m:t>
                                    </m:r>
                                  </m:e>
                                  <m:sub>
                                    <m: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0</m:t>
                                    </m:r>
                                  </m:sub>
                                </m:sSub>
                                <m:sSubSup>
                                  <m:e>
                                    <m: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  <m:sup>
                                    <m: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bSup>
                              </m:den>
                            </m:f>
                            <m:sSub>
                              <m:e>
                                <m:acc>
                                  <m:accPr>
                                    <m:chr m:val="⃗"/>
                                    <m:ctrlP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CN" sz="11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zh-CN" sz="11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ri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69" name="c2-callout-3"/>
          <p:cNvGrpSpPr/>
          <p:nvPr/>
        </p:nvGrpSpPr>
        <p:grpSpPr>
          <a:xfrm>
            <a:off x="6032182" y="4693920"/>
            <a:ext cx="5626418" cy="702945"/>
            <a:chOff x="6032182" y="4693920"/>
            <a:chExt cx="5626418" cy="702945"/>
          </a:xfrm>
        </p:grpSpPr>
        <p:sp>
          <p:nvSpPr>
            <p:cNvPr id="63" name="Rectangle 63"/>
            <p:cNvSpPr/>
            <p:nvPr/>
          </p:nvSpPr>
          <p:spPr>
            <a:xfrm>
              <a:off x="6032182" y="4693920"/>
              <a:ext cx="5626418" cy="702945"/>
            </a:xfrm>
            <a:prstGeom prst="roundRect">
              <a:avLst>
                <a:gd name="adj" fmla="val 16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6236970" y="4945380"/>
              <a:ext cx="200026" cy="200025"/>
              <a:chOff x="6236970" y="4945380"/>
              <a:chExt cx="200026" cy="200025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6236970" y="494538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6276709" y="498983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6311424" y="510095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6540056" y="4839176"/>
              <a:ext cx="458901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叠加是矢量相加：先把各个 E 分解到坐标轴上再分别求和，不能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把大小直接相加。</a:t>
              </a:r>
            </a:p>
          </p:txBody>
        </p:sp>
      </p:grpSp>
      <p:grpSp>
        <p:nvGrpSpPr>
          <p:cNvPr id="76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70" name="Rectangle 70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1041273" y="6039326"/>
              <a:ext cx="8547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 &gt; 0 时 E 背离电荷，q &lt; 0 时 E 指向电荷；各向同性空间里点电荷的场一定球对称，同一球面上场强大小相等。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第4章 静电场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39688" cy="909257"/>
            <a:chOff x="520446" y="342900"/>
            <a:chExt cx="733968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7455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4121" y="407194"/>
              <a:ext cx="20340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静电场 · 电场 电场强度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3968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连续带电体：切成 dq，写出 dE 的分量，再积分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34"/>
              <p:cNvSpPr txBox="1">
                <a:spLocks noGrp="1"/>
              </p:cNvSpPr>
              <p:nvPr/>
            </p:nvSpPr>
            <p:spPr>
              <a:xfrm>
                <a:off x="533400" y="1524000"/>
                <a:ext cx="4869180" cy="617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</m:t>
                      </m:r>
                      <m:acc>
                        <m:accPr>
                          <m:chr m:val="⃗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dq</m:t>
                          </m:r>
                        </m:num>
                        <m:den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4π</m:t>
                          </m:r>
                          <m:sSub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ε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  <m:sSup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p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b>
                        <m:e>
                          <m:acc>
                            <m:accPr>
                              <m:chr m:val="⃗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</m:e>
                          </m:acc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formula35"/>
              <p:cNvSpPr txBox="1">
                <a:spLocks noGrp="1"/>
              </p:cNvSpPr>
              <p:nvPr/>
            </p:nvSpPr>
            <p:spPr>
              <a:xfrm>
                <a:off x="533400" y="2331720"/>
                <a:ext cx="486918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⃗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∫"/>
                          <m:limLoc m:val="subSup"/>
                          <m:grow m:val="off"/>
                          <m:subHide m:val="on"/>
                          <m:supHide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  <m:acc>
                            <m:accPr>
                              <m:chr m:val="⃗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</m:e>
                          </m:acc>
                        </m:e>
                      </m:nary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z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e>
                      </m:acc>
                    </m:oMath>
                  </m:oMathPara>
                </a14:m>
              </a:p>
            </p:txBody>
          </p:sp>
        </mc:Choice>
      </mc:AlternateContent>
      <p:grpSp>
        <p:nvGrpSpPr>
          <p:cNvPr id="14" name="c1-card-3"/>
          <p:cNvGrpSpPr/>
          <p:nvPr/>
        </p:nvGrpSpPr>
        <p:grpSpPr>
          <a:xfrm>
            <a:off x="533400" y="2903220"/>
            <a:ext cx="4869180" cy="2121218"/>
            <a:chOff x="533400" y="2903220"/>
            <a:chExt cx="4869180" cy="2121218"/>
          </a:xfrm>
        </p:grpSpPr>
        <p:sp>
          <p:nvSpPr>
            <p:cNvPr id="9" name="Rectangle 9"/>
            <p:cNvSpPr/>
            <p:nvPr/>
          </p:nvSpPr>
          <p:spPr>
            <a:xfrm>
              <a:off x="533400" y="2903220"/>
              <a:ext cx="4869180" cy="2121218"/>
            </a:xfrm>
            <a:prstGeom prst="roundRect">
              <a:avLst>
                <a:gd name="adj" fmla="val 62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3036570"/>
              <a:ext cx="47625" cy="185451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81050" y="311277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8457" y="314848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最常犯的错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3430" y="3489960"/>
              <a:ext cx="42252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 是矢量，各电荷元的 dE 方向一般不同，不能直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接对大小积分。只有所有 dE 同方向时（比如直线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延长线上的点）才能写 E = ∫dE。</a:t>
              </a:r>
            </a:p>
          </p:txBody>
        </p:sp>
      </p:grpSp>
      <p:grpSp>
        <p:nvGrpSpPr>
          <p:cNvPr id="32" name="c2-steps-1"/>
          <p:cNvGrpSpPr/>
          <p:nvPr/>
        </p:nvGrpSpPr>
        <p:grpSpPr>
          <a:xfrm>
            <a:off x="5707380" y="1533525"/>
            <a:ext cx="4483887" cy="2529173"/>
            <a:chOff x="5707380" y="1533525"/>
            <a:chExt cx="4483887" cy="2529173"/>
          </a:xfrm>
        </p:grpSpPr>
        <p:sp>
          <p:nvSpPr>
            <p:cNvPr id="15" name="Rectangle 15"/>
            <p:cNvSpPr/>
            <p:nvPr/>
          </p:nvSpPr>
          <p:spPr>
            <a:xfrm>
              <a:off x="5840730" y="1676400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570738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0100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707380" y="218408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80100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5707380" y="283464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801004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707380" y="348615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801004" y="35599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118860" y="15678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切电荷元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120003" y="1861661"/>
              <a:ext cx="36183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按分布选 dq = λdl、σdS 或 ρdV，把它当点电荷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118860" y="2218372"/>
              <a:ext cx="15974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 dE 并画方向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120003" y="2512219"/>
              <a:ext cx="31778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 = dq/(4πε₀r²)，在图上标出它的方向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118860" y="286893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选坐标、看对称性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120003" y="3162776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判断哪些分量两两抵消，只算剩下的分量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118860" y="352044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统一变量再积分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120003" y="3813334"/>
              <a:ext cx="40712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r、角度都换成同一个积分变量，求出 Ex、Ey、Ez</a:t>
              </a:r>
            </a:p>
          </p:txBody>
        </p:sp>
      </p:grpSp>
      <p:grpSp>
        <p:nvGrpSpPr>
          <p:cNvPr id="39" name="c2-callout-2"/>
          <p:cNvGrpSpPr/>
          <p:nvPr/>
        </p:nvGrpSpPr>
        <p:grpSpPr>
          <a:xfrm>
            <a:off x="5707380" y="4241482"/>
            <a:ext cx="5951220" cy="782955"/>
            <a:chOff x="5707380" y="4241482"/>
            <a:chExt cx="5951220" cy="782955"/>
          </a:xfrm>
        </p:grpSpPr>
        <p:sp>
          <p:nvSpPr>
            <p:cNvPr id="33" name="Rectangle 33"/>
            <p:cNvSpPr/>
            <p:nvPr/>
          </p:nvSpPr>
          <p:spPr>
            <a:xfrm>
              <a:off x="5707380" y="4241482"/>
              <a:ext cx="595122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5912168" y="4532948"/>
              <a:ext cx="200026" cy="200025"/>
              <a:chOff x="5912168" y="4532948"/>
              <a:chExt cx="200026" cy="200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5912168" y="453294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5951906" y="457739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5986622" y="468852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6214110" y="4390072"/>
              <a:ext cx="4968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对称性能省掉一大半计算：圆环轴线上垂直分量两两抵消，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直线中垂线上平行分量两两抵消。</a:t>
              </a:r>
            </a:p>
          </p:txBody>
        </p:sp>
      </p:grpSp>
      <p:grpSp>
        <p:nvGrpSpPr>
          <p:cNvPr id="45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0" name="Rectangle 40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040130" y="5991225"/>
              <a:ext cx="9738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动笔积分前先写清三件事：积分变量是什么，上下限从哪到哪，被积函数里的 r 和角度怎样用这个变量表示。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第4章 静电场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51115" cy="909257"/>
            <a:chOff x="520446" y="342900"/>
            <a:chExt cx="725111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7455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4121" y="407194"/>
              <a:ext cx="20340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静电场 · 电场 电场强度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5111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例4.2 电偶极子：轴线上的场是中垂线上的两倍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760595" cy="1768792"/>
            <a:chOff x="533400" y="1524000"/>
            <a:chExt cx="4760595" cy="17687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768792"/>
            </a:xfrm>
            <a:prstGeom prst="roundRect">
              <a:avLst>
                <a:gd name="adj" fmla="val 75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0209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574358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2153" y="1750695"/>
              <a:ext cx="3969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例4.2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410279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相距 l 的 +q、−q 组成电偶极子，电矩 p = ql，方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向由 −q 指向 +q。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632710"/>
              <a:ext cx="406850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轴线上 A 点、中垂线上 B 点（到中心 O 的距离 r ≫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l）的场强。</a:t>
              </a:r>
            </a:p>
          </p:txBody>
        </p:sp>
      </p:grpSp>
      <p:grpSp>
        <p:nvGrpSpPr>
          <p:cNvPr id="57" name="c1-graph-2"/>
          <p:cNvGrpSpPr/>
          <p:nvPr/>
        </p:nvGrpSpPr>
        <p:grpSpPr>
          <a:xfrm>
            <a:off x="880405" y="3622834"/>
            <a:ext cx="4323293" cy="2017490"/>
            <a:chOff x="880405" y="3622834"/>
            <a:chExt cx="4323293" cy="2017490"/>
          </a:xfrm>
        </p:grpSpPr>
        <p:sp>
          <p:nvSpPr>
            <p:cNvPr id="14" name="Freeform 14"/>
            <p:cNvSpPr/>
            <p:nvPr/>
          </p:nvSpPr>
          <p:spPr>
            <a:xfrm>
              <a:off x="2389822" y="5072062"/>
              <a:ext cx="2742248" cy="9525"/>
            </a:xfrm>
            <a:custGeom>
              <a:avLst/>
              <a:gdLst/>
              <a:ahLst/>
              <a:cxnLst/>
              <a:rect l="l" t="t" r="r" b="b"/>
              <a:pathLst>
                <a:path w="2742248" h="9525">
                  <a:moveTo>
                    <a:pt x="0" y="0"/>
                  </a:moveTo>
                  <a:lnTo>
                    <a:pt x="2742248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247775" y="5072062"/>
              <a:ext cx="856298" cy="9525"/>
            </a:xfrm>
            <a:custGeom>
              <a:avLst/>
              <a:gdLst/>
              <a:ahLst/>
              <a:cxnLst/>
              <a:rect l="l" t="t" r="r" b="b"/>
              <a:pathLst>
                <a:path w="856298" h="9525">
                  <a:moveTo>
                    <a:pt x="0" y="0"/>
                  </a:moveTo>
                  <a:lnTo>
                    <a:pt x="856298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361498" y="4812030"/>
              <a:ext cx="627697" cy="9525"/>
            </a:xfrm>
            <a:custGeom>
              <a:avLst/>
              <a:gdLst/>
              <a:ahLst/>
              <a:cxnLst/>
              <a:rect l="l" t="t" r="r" b="b"/>
              <a:pathLst>
                <a:path w="627697" h="9525">
                  <a:moveTo>
                    <a:pt x="0" y="0"/>
                  </a:moveTo>
                  <a:lnTo>
                    <a:pt x="627697" y="0"/>
                  </a:lnTo>
                </a:path>
              </a:pathLst>
            </a:custGeom>
            <a:noFill/>
            <a:ln w="20955">
              <a:solidFill>
                <a:srgbClr val="B42318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4989195" y="476440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4075748" y="5332095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247650" y="0"/>
                  </a:moveTo>
                  <a:lnTo>
                    <a:pt x="0" y="0"/>
                  </a:lnTo>
                </a:path>
              </a:pathLst>
            </a:custGeom>
            <a:noFill/>
            <a:ln w="20955">
              <a:solidFill>
                <a:srgbClr val="B42318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3980498" y="528447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1178242" y="4167188"/>
              <a:ext cx="468630" cy="782003"/>
            </a:xfrm>
            <a:custGeom>
              <a:avLst/>
              <a:gdLst/>
              <a:ahLst/>
              <a:cxnLst/>
              <a:rect l="l" t="t" r="r" b="b"/>
              <a:pathLst>
                <a:path w="468630" h="782003">
                  <a:moveTo>
                    <a:pt x="468630" y="0"/>
                  </a:moveTo>
                  <a:lnTo>
                    <a:pt x="0" y="782003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21" name="Freeform 21"/>
            <p:cNvSpPr/>
            <p:nvPr/>
          </p:nvSpPr>
          <p:spPr>
            <a:xfrm>
              <a:off x="1704975" y="4167188"/>
              <a:ext cx="468630" cy="782003"/>
            </a:xfrm>
            <a:custGeom>
              <a:avLst/>
              <a:gdLst/>
              <a:ahLst/>
              <a:cxnLst/>
              <a:rect l="l" t="t" r="r" b="b"/>
              <a:pathLst>
                <a:path w="468630" h="782003">
                  <a:moveTo>
                    <a:pt x="0" y="0"/>
                  </a:moveTo>
                  <a:lnTo>
                    <a:pt x="468630" y="782003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22" name="Freeform 22"/>
            <p:cNvSpPr/>
            <p:nvPr/>
          </p:nvSpPr>
          <p:spPr>
            <a:xfrm>
              <a:off x="1544955" y="3848100"/>
              <a:ext cx="105728" cy="219075"/>
            </a:xfrm>
            <a:custGeom>
              <a:avLst/>
              <a:gdLst/>
              <a:ahLst/>
              <a:cxnLst/>
              <a:rect l="l" t="t" r="r" b="b"/>
              <a:pathLst>
                <a:path w="105728" h="219075">
                  <a:moveTo>
                    <a:pt x="105728" y="219075"/>
                  </a:moveTo>
                  <a:lnTo>
                    <a:pt x="0" y="0"/>
                  </a:lnTo>
                </a:path>
              </a:pathLst>
            </a:custGeom>
            <a:noFill/>
            <a:ln w="20955">
              <a:solidFill>
                <a:srgbClr val="F26B3A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1502092" y="3762375"/>
              <a:ext cx="85725" cy="106680"/>
            </a:xfrm>
            <a:custGeom>
              <a:avLst/>
              <a:gdLst/>
              <a:ahLst/>
              <a:cxnLst/>
              <a:rect l="l" t="t" r="r" b="b"/>
              <a:pathLst>
                <a:path w="85725" h="106680">
                  <a:moveTo>
                    <a:pt x="953" y="0"/>
                  </a:moveTo>
                  <a:lnTo>
                    <a:pt x="85725" y="65722"/>
                  </a:lnTo>
                  <a:lnTo>
                    <a:pt x="0" y="10668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1544955" y="4170045"/>
              <a:ext cx="105728" cy="218122"/>
            </a:xfrm>
            <a:custGeom>
              <a:avLst/>
              <a:gdLst/>
              <a:ahLst/>
              <a:cxnLst/>
              <a:rect l="l" t="t" r="r" b="b"/>
              <a:pathLst>
                <a:path w="105728" h="218122">
                  <a:moveTo>
                    <a:pt x="105728" y="0"/>
                  </a:moveTo>
                  <a:lnTo>
                    <a:pt x="0" y="218122"/>
                  </a:lnTo>
                </a:path>
              </a:pathLst>
            </a:custGeom>
            <a:noFill/>
            <a:ln w="20955">
              <a:solidFill>
                <a:srgbClr val="F26B3A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1502092" y="4367212"/>
              <a:ext cx="85725" cy="106680"/>
            </a:xfrm>
            <a:custGeom>
              <a:avLst/>
              <a:gdLst/>
              <a:ahLst/>
              <a:cxnLst/>
              <a:rect l="l" t="t" r="r" b="b"/>
              <a:pathLst>
                <a:path w="85725" h="106680">
                  <a:moveTo>
                    <a:pt x="953" y="106680"/>
                  </a:moveTo>
                  <a:lnTo>
                    <a:pt x="0" y="0"/>
                  </a:lnTo>
                  <a:lnTo>
                    <a:pt x="85725" y="4191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1343025" y="4118610"/>
              <a:ext cx="276225" cy="9525"/>
            </a:xfrm>
            <a:custGeom>
              <a:avLst/>
              <a:gdLst/>
              <a:ahLst/>
              <a:cxnLst/>
              <a:rect l="l" t="t" r="r" b="b"/>
              <a:pathLst>
                <a:path w="276225" h="9525">
                  <a:moveTo>
                    <a:pt x="276225" y="0"/>
                  </a:moveTo>
                  <a:lnTo>
                    <a:pt x="0" y="0"/>
                  </a:lnTo>
                </a:path>
              </a:pathLst>
            </a:custGeom>
            <a:noFill/>
            <a:ln w="24765">
              <a:solidFill>
                <a:srgbClr val="B42318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1247775" y="407098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1123950" y="5526405"/>
              <a:ext cx="1008698" cy="9525"/>
            </a:xfrm>
            <a:custGeom>
              <a:avLst/>
              <a:gdLst/>
              <a:ahLst/>
              <a:cxnLst/>
              <a:rect l="l" t="t" r="r" b="b"/>
              <a:pathLst>
                <a:path w="1008698" h="9525">
                  <a:moveTo>
                    <a:pt x="0" y="0"/>
                  </a:moveTo>
                  <a:lnTo>
                    <a:pt x="1008698" y="0"/>
                  </a:lnTo>
                </a:path>
              </a:pathLst>
            </a:custGeom>
            <a:noFill/>
            <a:ln w="20955">
              <a:solidFill>
                <a:srgbClr val="2F4B9A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2132648" y="547878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971550" y="4938712"/>
              <a:ext cx="266700" cy="266700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2113598" y="4938712"/>
              <a:ext cx="266700" cy="266700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1647825" y="5043488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4294822" y="5024438"/>
              <a:ext cx="95250" cy="952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5141595" y="506253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4332922" y="480250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5093970" y="480250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4332922" y="532257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3951922" y="532257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1628775" y="4070985"/>
              <a:ext cx="95250" cy="952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1485900" y="373570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1485900" y="448151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1219200" y="410908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1095375" y="551688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2237422" y="551688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30169" y="501586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−q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172216" y="501586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+q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293988" y="489299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040457" y="4554379"/>
              <a:ext cx="163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E₊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594077" y="5356384"/>
              <a:ext cx="163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E₋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866066" y="404812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690030" y="3622834"/>
              <a:ext cx="163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E₊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690030" y="4424839"/>
              <a:ext cx="163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E₋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80405" y="3882866"/>
              <a:ext cx="163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EB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619174" y="5183029"/>
              <a:ext cx="1144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486548" y="543496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253464" y="4858226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</p:grpSp>
      <p:grpSp>
        <p:nvGrpSpPr>
          <p:cNvPr id="75" name="c2-steps-1"/>
          <p:cNvGrpSpPr/>
          <p:nvPr/>
        </p:nvGrpSpPr>
        <p:grpSpPr>
          <a:xfrm>
            <a:off x="5598795" y="1533525"/>
            <a:ext cx="4740092" cy="2279809"/>
            <a:chOff x="5598795" y="1533525"/>
            <a:chExt cx="4740092" cy="2279809"/>
          </a:xfrm>
        </p:grpSpPr>
        <p:sp>
          <p:nvSpPr>
            <p:cNvPr id="58" name="Rectangle 58"/>
            <p:cNvSpPr/>
            <p:nvPr/>
          </p:nvSpPr>
          <p:spPr>
            <a:xfrm>
              <a:off x="5732145" y="1676400"/>
              <a:ext cx="19050" cy="176117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Ellipse 59"/>
            <p:cNvSpPr/>
            <p:nvPr/>
          </p:nvSpPr>
          <p:spPr>
            <a:xfrm>
              <a:off x="559879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69241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5598795" y="212026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692419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5598795" y="270700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692419" y="27808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5598795" y="329469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692419" y="33685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011037" y="1564957"/>
              <a:ext cx="9725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轴线上 A 点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012180" y="1833086"/>
              <a:ext cx="43267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E₊ = q/[4πε₀(r − l/2)²] 向右，E₋ = q/[4πε₀(r + l/2)²] 向左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011037" y="2152650"/>
              <a:ext cx="11795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相减后取 r ≫ l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012180" y="2419826"/>
              <a:ext cx="39717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EA = E₊ − E₋ = 2qlr/[4πε₀(r² − l²/4)²] ≈ 2ql/(4πε₀r³)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011037" y="2739390"/>
              <a:ext cx="11542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中垂线上 B 点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012180" y="3006566"/>
              <a:ext cx="42978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E₊ = E₋ = q/[4πε₀(r² + l²/4)]，竖直分量抵消，只剩水平分量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011037" y="332613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水平分量相加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012180" y="3593306"/>
              <a:ext cx="40957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cos α = (l/2)/√(r² + l²/4)，EB = 2E₊cos α ≈ ql/(4πε₀r³)</a:t>
              </a:r>
            </a:p>
          </p:txBody>
        </p:sp>
      </p:grpSp>
      <p:grpSp>
        <p:nvGrpSpPr>
          <p:cNvPr id="80" name="c2-card-2"/>
          <p:cNvGrpSpPr/>
          <p:nvPr/>
        </p:nvGrpSpPr>
        <p:grpSpPr>
          <a:xfrm>
            <a:off x="5598795" y="3982402"/>
            <a:ext cx="6059805" cy="1652588"/>
            <a:chOff x="5598795" y="3982402"/>
            <a:chExt cx="6059805" cy="1652588"/>
          </a:xfrm>
        </p:grpSpPr>
        <p:sp>
          <p:nvSpPr>
            <p:cNvPr id="76" name="Rectangle 76"/>
            <p:cNvSpPr/>
            <p:nvPr/>
          </p:nvSpPr>
          <p:spPr>
            <a:xfrm>
              <a:off x="5598795" y="3982402"/>
              <a:ext cx="6059805" cy="1652588"/>
            </a:xfrm>
            <a:prstGeom prst="roundRect">
              <a:avLst>
                <a:gd name="adj" fmla="val 8069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5791200" y="4174808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5886641" y="420909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5784342" y="4531995"/>
              <a:ext cx="53286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EA ≈ 2p/(4πε₀r³)，与 p 同向；EB ≈ p/(4πε₀r³) = EA/2，与 p 反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向。两者都按 1/r³ 衰减，比点电荷的 1/r² 快，远处 +q 与 −q 的场大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部分互相抵消。</a:t>
              </a:r>
            </a:p>
          </p:txBody>
        </p:sp>
      </p:grpSp>
      <p:grpSp>
        <p:nvGrpSpPr>
          <p:cNvPr id="86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81" name="Rectangle 81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84" name="Group 84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804863" y="609568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85" name="TextBox 85"/>
            <p:cNvSpPr txBox="1"/>
            <p:nvPr/>
          </p:nvSpPr>
          <p:spPr>
            <a:xfrm>
              <a:off x="1040892" y="6023610"/>
              <a:ext cx="85390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检验：取 r = 100l 用未近似的精确式计算，EA、EB 与近似式的相对误差都在 0.1% 以内，且 EA/EB = 2。</a:t>
              </a:r>
            </a:p>
          </p:txBody>
        </p:sp>
      </p:grpSp>
      <p:grpSp>
        <p:nvGrpSpPr>
          <p:cNvPr id="8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7" name="TextBox 87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第4章 静电场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802923" cy="909257"/>
            <a:chOff x="520446" y="342900"/>
            <a:chExt cx="88029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7455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4121" y="407194"/>
              <a:ext cx="20340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静电场 · 电场 电场强度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8029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例4.3（一）直线延长线上：所有 dE 同向，可以直接积分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869180" cy="1428750"/>
            <a:chOff x="533400" y="1524000"/>
            <a:chExt cx="4869180" cy="14287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869180" cy="1428750"/>
            </a:xfrm>
            <a:prstGeom prst="roundRect">
              <a:avLst>
                <a:gd name="adj" fmla="val 933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1620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54959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2548" y="1737836"/>
              <a:ext cx="3703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例4.3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045494"/>
              <a:ext cx="34333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均匀带电直线长 l、总电量 q，λ = q/l。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330291"/>
              <a:ext cx="419074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(1) 延长线上距近端 a 的 O 点的场强；(2) 与直线垂直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距离为 a 的 O′ 点的场强（下一页）。</a:t>
              </a:r>
            </a:p>
          </p:txBody>
        </p:sp>
      </p:grpSp>
      <p:grpSp>
        <p:nvGrpSpPr>
          <p:cNvPr id="50" name="c1-graph-2"/>
          <p:cNvGrpSpPr/>
          <p:nvPr/>
        </p:nvGrpSpPr>
        <p:grpSpPr>
          <a:xfrm>
            <a:off x="639386" y="3217545"/>
            <a:ext cx="4626986" cy="1179671"/>
            <a:chOff x="639386" y="3217545"/>
            <a:chExt cx="4626986" cy="1179671"/>
          </a:xfrm>
        </p:grpSpPr>
        <p:sp>
          <p:nvSpPr>
            <p:cNvPr id="14" name="Freeform 14"/>
            <p:cNvSpPr/>
            <p:nvPr/>
          </p:nvSpPr>
          <p:spPr>
            <a:xfrm>
              <a:off x="942022" y="3662362"/>
              <a:ext cx="2396490" cy="9525"/>
            </a:xfrm>
            <a:custGeom>
              <a:avLst/>
              <a:gdLst/>
              <a:ahLst/>
              <a:cxnLst/>
              <a:rect l="l" t="t" r="r" b="b"/>
              <a:pathLst>
                <a:path w="2396490" h="9525">
                  <a:moveTo>
                    <a:pt x="0" y="0"/>
                  </a:moveTo>
                  <a:lnTo>
                    <a:pt x="2396490" y="0"/>
                  </a:lnTo>
                </a:path>
              </a:pathLst>
            </a:custGeom>
            <a:noFill/>
            <a:ln w="66675">
              <a:solidFill>
                <a:srgbClr val="2F4B9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843915" y="3273742"/>
              <a:ext cx="3566160" cy="9525"/>
            </a:xfrm>
            <a:custGeom>
              <a:avLst/>
              <a:gdLst/>
              <a:ahLst/>
              <a:cxnLst/>
              <a:rect l="l" t="t" r="r" b="b"/>
              <a:pathLst>
                <a:path w="3566160" h="9525">
                  <a:moveTo>
                    <a:pt x="3566160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748665" y="322611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4486275" y="3662362"/>
              <a:ext cx="656272" cy="9525"/>
            </a:xfrm>
            <a:custGeom>
              <a:avLst/>
              <a:gdLst/>
              <a:ahLst/>
              <a:cxnLst/>
              <a:rect l="l" t="t" r="r" b="b"/>
              <a:pathLst>
                <a:path w="656272" h="9525">
                  <a:moveTo>
                    <a:pt x="0" y="0"/>
                  </a:moveTo>
                  <a:lnTo>
                    <a:pt x="656272" y="0"/>
                  </a:lnTo>
                </a:path>
              </a:pathLst>
            </a:custGeom>
            <a:noFill/>
            <a:ln w="24765">
              <a:solidFill>
                <a:srgbClr val="B42318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5142548" y="361473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1037272" y="4050982"/>
              <a:ext cx="2205990" cy="9525"/>
            </a:xfrm>
            <a:custGeom>
              <a:avLst/>
              <a:gdLst/>
              <a:ahLst/>
              <a:cxnLst/>
              <a:rect l="l" t="t" r="r" b="b"/>
              <a:pathLst>
                <a:path w="2205990" h="9525">
                  <a:moveTo>
                    <a:pt x="0" y="0"/>
                  </a:moveTo>
                  <a:lnTo>
                    <a:pt x="220599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3243262" y="400335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942022" y="400335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3471862" y="4050982"/>
              <a:ext cx="842962" cy="9525"/>
            </a:xfrm>
            <a:custGeom>
              <a:avLst/>
              <a:gdLst/>
              <a:ahLst/>
              <a:cxnLst/>
              <a:rect l="l" t="t" r="r" b="b"/>
              <a:pathLst>
                <a:path w="842962" h="9525">
                  <a:moveTo>
                    <a:pt x="0" y="0"/>
                  </a:moveTo>
                  <a:lnTo>
                    <a:pt x="842962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4314825" y="400335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3376612" y="400335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2789872" y="4284345"/>
              <a:ext cx="1524953" cy="9525"/>
            </a:xfrm>
            <a:custGeom>
              <a:avLst/>
              <a:gdLst/>
              <a:ahLst/>
              <a:cxnLst/>
              <a:rect l="l" t="t" r="r" b="b"/>
              <a:pathLst>
                <a:path w="1524953" h="9525">
                  <a:moveTo>
                    <a:pt x="0" y="0"/>
                  </a:moveTo>
                  <a:lnTo>
                    <a:pt x="1524953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4314825" y="423672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2694622" y="423672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913448" y="365283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3348038" y="365283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2618422" y="3605212"/>
              <a:ext cx="114300" cy="11430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4381500" y="3614738"/>
              <a:ext cx="95250" cy="952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4419600" y="326421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5247322" y="365283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913448" y="404145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3348038" y="404145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4419600" y="404145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2666048" y="427482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4419600" y="427482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9386" y="321754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794885" y="358425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824722" y="3613309"/>
              <a:ext cx="7367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2086928" y="3972878"/>
              <a:ext cx="107632" cy="146685"/>
            </a:xfrm>
            <a:prstGeom prst="roundRect">
              <a:avLst>
                <a:gd name="adj" fmla="val 3539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2118947" y="4001929"/>
              <a:ext cx="4264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3826192" y="397287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3857748" y="40019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3485198" y="420624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3516753" y="42352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369285" y="3401854"/>
              <a:ext cx="1196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604173" y="3384232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dx</a:t>
              </a:r>
            </a:p>
          </p:txBody>
        </p:sp>
      </p:grpSp>
      <p:grpSp>
        <p:nvGrpSpPr>
          <p:cNvPr id="56" name="c1-card-3"/>
          <p:cNvGrpSpPr/>
          <p:nvPr/>
        </p:nvGrpSpPr>
        <p:grpSpPr>
          <a:xfrm>
            <a:off x="533400" y="4579620"/>
            <a:ext cx="4869180" cy="1143952"/>
            <a:chOff x="533400" y="4579620"/>
            <a:chExt cx="4869180" cy="1143952"/>
          </a:xfrm>
        </p:grpSpPr>
        <p:sp>
          <p:nvSpPr>
            <p:cNvPr id="51" name="Rectangle 51"/>
            <p:cNvSpPr/>
            <p:nvPr/>
          </p:nvSpPr>
          <p:spPr>
            <a:xfrm>
              <a:off x="533400" y="4579620"/>
              <a:ext cx="4869180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542925" y="4712970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752475" y="476059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45147" y="479345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检验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45998" y="5100161"/>
              <a:ext cx="424764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≫ l 时 E → q/(4πε₀a²)，退化成点电荷；取 λ = 3 nC/m、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0.2 m、l = 0.5 m，公式与数值积分都得 96.3 N/C。</a:t>
              </a:r>
            </a:p>
          </p:txBody>
        </p:sp>
      </p:grpSp>
      <p:grpSp>
        <p:nvGrpSpPr>
          <p:cNvPr id="70" name="c2-steps-1"/>
          <p:cNvGrpSpPr/>
          <p:nvPr/>
        </p:nvGrpSpPr>
        <p:grpSpPr>
          <a:xfrm>
            <a:off x="5707380" y="1533525"/>
            <a:ext cx="4407598" cy="1596962"/>
            <a:chOff x="5707380" y="1533525"/>
            <a:chExt cx="4407598" cy="1596962"/>
          </a:xfrm>
        </p:grpSpPr>
        <p:sp>
          <p:nvSpPr>
            <p:cNvPr id="57" name="Rectangle 57"/>
            <p:cNvSpPr/>
            <p:nvPr/>
          </p:nvSpPr>
          <p:spPr>
            <a:xfrm>
              <a:off x="5840730" y="1676400"/>
              <a:ext cx="19050" cy="1105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570738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80100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5707380" y="208692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801004" y="21607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5707380" y="263937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801004" y="27131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120003" y="156448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取电荷元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121146" y="1818322"/>
              <a:ext cx="39938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 O 为原点、x 轴由 O 指向直线，dq = λdx 到 O 的距离就是 x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120003" y="2116931"/>
              <a:ext cx="4457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 dE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121146" y="2371725"/>
              <a:ext cx="39205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 = λdx/(4πε₀x²)，每个 dE 都沿直线背离带电体，方向相同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120003" y="267033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直接对大小积分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121146" y="2925128"/>
              <a:ext cx="17492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从 a 积到 a + l，结果如下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1" name="formula42"/>
              <p:cNvSpPr txBox="1">
                <a:spLocks noGrp="1"/>
              </p:cNvSpPr>
              <p:nvPr/>
            </p:nvSpPr>
            <p:spPr>
              <a:xfrm>
                <a:off x="5707380" y="3291840"/>
                <a:ext cx="5951220" cy="3733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</m:t>
                      </m:r>
                      <m:r>
                        <m:rPr>
                          <m:sty m:val="p"/>
                        </m:rP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ff"/>
                          <m:ctrlP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sub>
                        <m:sup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sup>
                        <m:e>
                          <m:f>
                            <m:fPr>
                              <m:type m:val="bar"/>
                              <m:ctrlP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λ</m:t>
                              </m:r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 </m:t>
                              </m:r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dx</m:t>
                              </m:r>
                            </m:num>
                            <m:den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4π</m:t>
                              </m:r>
                              <m:sSub>
                                <m:e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ε</m:t>
                                  </m:r>
                                </m:e>
                                <m:sub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sub>
                              </m:sSub>
                              <m:sSup>
                                <m:e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p>
                                  <m:r>
                                    <a:rPr lang="zh-CN" sz="10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m:rPr>
                          <m:sty m:val="p"/>
                        </m:rP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λ</m:t>
                          </m:r>
                        </m:num>
                        <m:den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4π</m:t>
                          </m:r>
                          <m:sSub>
                            <m:e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ε</m:t>
                              </m:r>
                            </m:e>
                            <m:sub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type m:val="bar"/>
                              <m:ctrlP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type m:val="bar"/>
                              <m:ctrlP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  <m:r>
                                <m:rPr>
                                  <m:sty m:val="p"/>
                                </m:rP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</m:t>
                              </m:r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q</m:t>
                          </m:r>
                        </m:num>
                        <m:den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4π</m:t>
                          </m:r>
                          <m:sSub>
                            <m:e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ε</m:t>
                              </m:r>
                            </m:e>
                            <m:sub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  <m:r>
                                <m:rPr>
                                  <m:sty m:val="p"/>
                                </m:rP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</m:t>
                              </m:r>
                            </m:e>
                          </m:d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76" name="c2-card-3"/>
          <p:cNvGrpSpPr/>
          <p:nvPr/>
        </p:nvGrpSpPr>
        <p:grpSpPr>
          <a:xfrm>
            <a:off x="5707380" y="3830002"/>
            <a:ext cx="5951220" cy="1568768"/>
            <a:chOff x="5707380" y="3830002"/>
            <a:chExt cx="5951220" cy="1568768"/>
          </a:xfrm>
        </p:grpSpPr>
        <p:sp>
          <p:nvSpPr>
            <p:cNvPr id="72" name="Rectangle 72"/>
            <p:cNvSpPr/>
            <p:nvPr/>
          </p:nvSpPr>
          <p:spPr>
            <a:xfrm>
              <a:off x="5707380" y="3830002"/>
              <a:ext cx="5951220" cy="1568768"/>
            </a:xfrm>
            <a:prstGeom prst="roundRect">
              <a:avLst>
                <a:gd name="adj" fmla="val 85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5888355" y="4010978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5984126" y="404383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5881878" y="4350544"/>
              <a:ext cx="52555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 = q/[4πε₀a(a + l)]，方向沿直线背离带电直线。原课件的 x 轴由 O 指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向直线，所以写作「沿 x 轴负方向」，说的是同一个方向。</a:t>
              </a:r>
            </a:p>
          </p:txBody>
        </p:sp>
      </p:grpSp>
      <p:grpSp>
        <p:nvGrpSpPr>
          <p:cNvPr id="83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77" name="Rectangle 77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1" name="Group 81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2" name="TextBox 82"/>
            <p:cNvSpPr txBox="1"/>
            <p:nvPr/>
          </p:nvSpPr>
          <p:spPr>
            <a:xfrm>
              <a:off x="1041273" y="6039326"/>
              <a:ext cx="79887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能直接写 E = ∫dE 的前提是各个 dE 共线同向；换成直线外一点，dE 的方向随电荷元变化，就必须分解。</a:t>
              </a:r>
            </a:p>
          </p:txBody>
        </p:sp>
      </p:grpSp>
      <p:grpSp>
        <p:nvGrpSpPr>
          <p:cNvPr id="8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4" name="TextBox 84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第4章 静电场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14212" cy="909257"/>
            <a:chOff x="520446" y="342900"/>
            <a:chExt cx="721421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7455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4121" y="407194"/>
              <a:ext cx="20340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静电场 · 电场 电场强度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1421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例4.3（二）直线外一点：用角度 θ 做积分变量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4" name="c1-graph-1"/>
          <p:cNvGrpSpPr/>
          <p:nvPr/>
        </p:nvGrpSpPr>
        <p:grpSpPr>
          <a:xfrm>
            <a:off x="619125" y="1618298"/>
            <a:ext cx="4619367" cy="3526154"/>
            <a:chOff x="619125" y="1618298"/>
            <a:chExt cx="4619367" cy="3526154"/>
          </a:xfrm>
        </p:grpSpPr>
        <p:sp>
          <p:nvSpPr>
            <p:cNvPr id="7" name="Freeform 7"/>
            <p:cNvSpPr/>
            <p:nvPr/>
          </p:nvSpPr>
          <p:spPr>
            <a:xfrm>
              <a:off x="647700" y="4613910"/>
              <a:ext cx="4386262" cy="9525"/>
            </a:xfrm>
            <a:custGeom>
              <a:avLst/>
              <a:gdLst/>
              <a:ahLst/>
              <a:cxnLst/>
              <a:rect l="l" t="t" r="r" b="b"/>
              <a:pathLst>
                <a:path w="4386262" h="9525">
                  <a:moveTo>
                    <a:pt x="0" y="0"/>
                  </a:moveTo>
                  <a:lnTo>
                    <a:pt x="4386262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5033962" y="456628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933450" y="4613910"/>
              <a:ext cx="3961448" cy="9525"/>
            </a:xfrm>
            <a:custGeom>
              <a:avLst/>
              <a:gdLst/>
              <a:ahLst/>
              <a:cxnLst/>
              <a:rect l="l" t="t" r="r" b="b"/>
              <a:pathLst>
                <a:path w="3961448" h="9525">
                  <a:moveTo>
                    <a:pt x="0" y="0"/>
                  </a:moveTo>
                  <a:lnTo>
                    <a:pt x="3961448" y="0"/>
                  </a:lnTo>
                </a:path>
              </a:pathLst>
            </a:custGeom>
            <a:noFill/>
            <a:ln w="57150">
              <a:solidFill>
                <a:srgbClr val="2F4B9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342198" y="1861185"/>
              <a:ext cx="9525" cy="2714625"/>
            </a:xfrm>
            <a:custGeom>
              <a:avLst/>
              <a:gdLst/>
              <a:ahLst/>
              <a:cxnLst/>
              <a:rect l="l" t="t" r="r" b="b"/>
              <a:pathLst>
                <a:path w="9525" h="2714625">
                  <a:moveTo>
                    <a:pt x="0" y="271462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294572" y="176593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925830" y="2700338"/>
              <a:ext cx="1383030" cy="1898332"/>
            </a:xfrm>
            <a:custGeom>
              <a:avLst/>
              <a:gdLst/>
              <a:ahLst/>
              <a:cxnLst/>
              <a:rect l="l" t="t" r="r" b="b"/>
              <a:pathLst>
                <a:path w="1383030" h="1898332">
                  <a:moveTo>
                    <a:pt x="0" y="1898332"/>
                  </a:moveTo>
                  <a:lnTo>
                    <a:pt x="138303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3" name="Freeform 13"/>
            <p:cNvSpPr/>
            <p:nvPr/>
          </p:nvSpPr>
          <p:spPr>
            <a:xfrm>
              <a:off x="2387918" y="2688908"/>
              <a:ext cx="2510790" cy="1913572"/>
            </a:xfrm>
            <a:custGeom>
              <a:avLst/>
              <a:gdLst/>
              <a:ahLst/>
              <a:cxnLst/>
              <a:rect l="l" t="t" r="r" b="b"/>
              <a:pathLst>
                <a:path w="2510790" h="1913572">
                  <a:moveTo>
                    <a:pt x="2510790" y="1913572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4" name="Freeform 14"/>
            <p:cNvSpPr/>
            <p:nvPr/>
          </p:nvSpPr>
          <p:spPr>
            <a:xfrm>
              <a:off x="2376488" y="2700338"/>
              <a:ext cx="1355408" cy="1859280"/>
            </a:xfrm>
            <a:custGeom>
              <a:avLst/>
              <a:gdLst/>
              <a:ahLst/>
              <a:cxnLst/>
              <a:rect l="l" t="t" r="r" b="b"/>
              <a:pathLst>
                <a:path w="1355408" h="1859280">
                  <a:moveTo>
                    <a:pt x="1355408" y="185928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981200" y="2159318"/>
              <a:ext cx="327660" cy="448628"/>
            </a:xfrm>
            <a:custGeom>
              <a:avLst/>
              <a:gdLst/>
              <a:ahLst/>
              <a:cxnLst/>
              <a:rect l="l" t="t" r="r" b="b"/>
              <a:pathLst>
                <a:path w="327660" h="448628">
                  <a:moveTo>
                    <a:pt x="327660" y="448628"/>
                  </a:moveTo>
                  <a:lnTo>
                    <a:pt x="0" y="0"/>
                  </a:lnTo>
                </a:path>
              </a:pathLst>
            </a:custGeom>
            <a:noFill/>
            <a:ln w="22860">
              <a:solidFill>
                <a:srgbClr val="B42318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925002" y="2082165"/>
              <a:ext cx="95250" cy="104775"/>
            </a:xfrm>
            <a:custGeom>
              <a:avLst/>
              <a:gdLst/>
              <a:ahLst/>
              <a:cxnLst/>
              <a:rect l="l" t="t" r="r" b="b"/>
              <a:pathLst>
                <a:path w="95250" h="104775">
                  <a:moveTo>
                    <a:pt x="0" y="0"/>
                  </a:moveTo>
                  <a:lnTo>
                    <a:pt x="95250" y="48577"/>
                  </a:lnTo>
                  <a:lnTo>
                    <a:pt x="18098" y="104775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619125" y="460438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904875" y="460438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4904422" y="460438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2313622" y="458533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2294572" y="2606992"/>
              <a:ext cx="95250" cy="952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3713798" y="4556760"/>
              <a:ext cx="114300" cy="11430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1905000" y="205740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158998" y="455771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302451" y="161829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527857" y="258651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O′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158089" y="3679031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217887" y="4320064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9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θ₁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905797" y="4206716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l-GR" sz="9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θ₂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015464" y="4206716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98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θ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699548" y="496824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dx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205839" y="3378041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593103" y="1833086"/>
              <a:ext cx="1665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dE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formula61"/>
              <p:cNvSpPr txBox="1">
                <a:spLocks noGrp="1"/>
              </p:cNvSpPr>
              <p:nvPr/>
            </p:nvSpPr>
            <p:spPr>
              <a:xfrm>
                <a:off x="533400" y="5456872"/>
                <a:ext cx="4760595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=−</m:t>
                      </m:r>
                      <m: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cot</m:t>
                          </m:r>
                        </m:fName>
                        <m:e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e>
                      </m:func>
                      <m:r>
                        <m:rPr>
                          <m:sty m:val="p"/>
                        </m:rP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dx</m:t>
                      </m:r>
                      <m:r>
                        <m:rPr>
                          <m:sty m:val="p"/>
                        </m:rP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func>
                        <m:funcPr/>
                        <m:fName>
                          <m:sSup>
                            <m:e>
                              <m:r>
                                <m:rPr>
                                  <m:sty m:val="p"/>
                                </m:rP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csc</m:t>
                              </m:r>
                            </m:e>
                            <m:sup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e>
                      </m:func>
                      <m: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dθ</m:t>
                      </m:r>
                      <m:r>
                        <m:rPr>
                          <m:sty m:val="p"/>
                        </m:rP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r</m:t>
                      </m:r>
                      <m:r>
                        <m:rPr>
                          <m:sty m:val="p"/>
                        </m:rP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csc</m:t>
                          </m:r>
                        </m:fName>
                        <m:e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e>
                      </m:func>
                    </m:oMath>
                  </m:oMathPara>
                </a14:m>
              </a:p>
            </p:txBody>
          </p:sp>
        </mc:Choice>
      </mc:AlternateContent>
      <p:grpSp>
        <p:nvGrpSpPr>
          <p:cNvPr id="49" name="c2-steps-1"/>
          <p:cNvGrpSpPr/>
          <p:nvPr/>
        </p:nvGrpSpPr>
        <p:grpSpPr>
          <a:xfrm>
            <a:off x="5598795" y="1533525"/>
            <a:ext cx="5121249" cy="1596962"/>
            <a:chOff x="5598795" y="1533525"/>
            <a:chExt cx="5121249" cy="1596962"/>
          </a:xfrm>
        </p:grpSpPr>
        <p:sp>
          <p:nvSpPr>
            <p:cNvPr id="36" name="Rectangle 36"/>
            <p:cNvSpPr/>
            <p:nvPr/>
          </p:nvSpPr>
          <p:spPr>
            <a:xfrm>
              <a:off x="5732145" y="1676400"/>
              <a:ext cx="19050" cy="1105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559879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69241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5598795" y="208692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692419" y="21607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5598795" y="263937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692419" y="27131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011418" y="156448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写分量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012561" y="1818322"/>
              <a:ext cx="47074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 = λdx/(4πε₀r²)，与 x 轴正向夹角 θ：dEx = dE cos θ，dEy = dE sin θ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011418" y="2116931"/>
              <a:ext cx="5113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换成 θ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012561" y="2371725"/>
              <a:ext cx="41596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代入 dx 与 r 得 λdx/r² = λdθ/a，于是 dEx = λcos θ dθ/(4πε₀a)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011418" y="2670334"/>
              <a:ext cx="1090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θ₁ 积到 θ₂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012561" y="2925128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两个分量各积一次，得到直线外一点的通式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formula62"/>
              <p:cNvSpPr txBox="1">
                <a:spLocks noGrp="1"/>
              </p:cNvSpPr>
              <p:nvPr/>
            </p:nvSpPr>
            <p:spPr>
              <a:xfrm>
                <a:off x="5598795" y="3291840"/>
                <a:ext cx="6059805" cy="4371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λ</m:t>
                          </m:r>
                        </m:num>
                        <m:den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4π</m:t>
                          </m:r>
                          <m:sSub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ε</m:t>
                              </m:r>
                            </m:e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den>
                      </m:f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sin</m:t>
                              </m:r>
                            </m:fName>
                            <m:e>
                              <m:sSub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θ</m:t>
                                  </m:r>
                                </m:e>
                                <m:sub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func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sin</m:t>
                              </m:r>
                            </m:fName>
                            <m:e>
                              <m:sSub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θ</m:t>
                                  </m:r>
                                </m:e>
                                <m:sub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func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formula63"/>
              <p:cNvSpPr txBox="1">
                <a:spLocks noGrp="1"/>
              </p:cNvSpPr>
              <p:nvPr/>
            </p:nvSpPr>
            <p:spPr>
              <a:xfrm>
                <a:off x="5598795" y="3893820"/>
                <a:ext cx="6059805" cy="4371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λ</m:t>
                          </m:r>
                        </m:num>
                        <m:den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4π</m:t>
                          </m:r>
                          <m:sSub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ε</m:t>
                              </m:r>
                            </m:e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den>
                      </m:f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cos</m:t>
                              </m:r>
                            </m:fName>
                            <m:e>
                              <m:sSub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θ</m:t>
                                  </m:r>
                                </m:e>
                                <m:sub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func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cos</m:t>
                              </m:r>
                            </m:fName>
                            <m:e>
                              <m:sSub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θ</m:t>
                                  </m:r>
                                </m:e>
                                <m:sub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func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56" name="c2-card-4"/>
          <p:cNvGrpSpPr/>
          <p:nvPr/>
        </p:nvGrpSpPr>
        <p:grpSpPr>
          <a:xfrm>
            <a:off x="5598795" y="4495800"/>
            <a:ext cx="6059805" cy="1143952"/>
            <a:chOff x="5598795" y="4495800"/>
            <a:chExt cx="6059805" cy="1143952"/>
          </a:xfrm>
        </p:grpSpPr>
        <p:sp>
          <p:nvSpPr>
            <p:cNvPr id="52" name="Rectangle 52"/>
            <p:cNvSpPr/>
            <p:nvPr/>
          </p:nvSpPr>
          <p:spPr>
            <a:xfrm>
              <a:off x="5598795" y="4495800"/>
              <a:ext cx="6059805" cy="1143952"/>
            </a:xfrm>
            <a:prstGeom prst="roundRect">
              <a:avLst>
                <a:gd name="adj" fmla="val 11657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5779770" y="4676775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876493" y="470963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773293" y="5016341"/>
              <a:ext cx="540994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 = Exi + Eyj。θ₁、θ₂ 是直线左、右两端到 O′ 的连线与 x 轴正向的夹角，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原点取在 O′ 的垂足。</a:t>
              </a:r>
            </a:p>
          </p:txBody>
        </p:sp>
      </p:grpSp>
      <p:grpSp>
        <p:nvGrpSpPr>
          <p:cNvPr id="63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7" name="Rectangle 57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041273" y="6039326"/>
              <a:ext cx="66366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 一律从 x 轴正向量到「电荷元指向场点」的连线；左右两端量错，Ex 的符号就会反。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第4章 静电场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51115" cy="909257"/>
            <a:chOff x="520446" y="342900"/>
            <a:chExt cx="725111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7455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4121" y="407194"/>
              <a:ext cx="20340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静电场 · 电场 电场强度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5111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例4.3 讨论：中垂线、远处、无限长、半无限长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table-1"/>
          <p:cNvGrpSpPr/>
          <p:nvPr/>
        </p:nvGrpSpPr>
        <p:grpSpPr>
          <a:xfrm>
            <a:off x="533400" y="1524000"/>
            <a:ext cx="6059805" cy="2428875"/>
            <a:chOff x="533400" y="1524000"/>
            <a:chExt cx="6059805" cy="24288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03668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情形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921991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角度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224183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2154079"/>
              <a:ext cx="10329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O′ 在中垂线上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087880" y="2054066"/>
              <a:ext cx="154051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sinθ₁ = sinθ₂，cosθ₁ =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(l/2)/√(a² + l²/4)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269105" y="2054066"/>
              <a:ext cx="185343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 = 0，E = q/[4πε₀a√(a² +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l²/4)]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53079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535555"/>
              <a:ext cx="605980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3412" y="2659856"/>
              <a:ext cx="9786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远离直线 a ≫ l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87880" y="26598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同上再取近似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269105" y="2659856"/>
              <a:ext cx="21647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≈ q/(4πε₀a²)，退化成点电荷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93655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3412" y="306562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无限长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087880" y="3065621"/>
              <a:ext cx="10065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θ₁ → 0，θ₂ → π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269105" y="3065621"/>
              <a:ext cx="16103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 = 0，E = λ/(2πε₀a)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34232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347085"/>
              <a:ext cx="6059805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3412" y="3471386"/>
              <a:ext cx="114935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半无限长（一端在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垂足）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087880" y="3571399"/>
              <a:ext cx="11723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θ₁ = π/2，θ₂ → π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269105" y="3471386"/>
              <a:ext cx="153339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 = −λ/(4πε₀a)，Ey =</a:t>
              </a:r>
              <a:br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λ/(4πε₀a)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1524000"/>
              <a:ext cx="6059805" cy="24288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1983105" y="1524000"/>
              <a:ext cx="9525" cy="24288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164330" y="1524000"/>
              <a:ext cx="9525" cy="24288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7" name="c1-card-2"/>
          <p:cNvGrpSpPr/>
          <p:nvPr/>
        </p:nvGrpSpPr>
        <p:grpSpPr>
          <a:xfrm>
            <a:off x="533400" y="4128135"/>
            <a:ext cx="6059805" cy="1209675"/>
            <a:chOff x="533400" y="4128135"/>
            <a:chExt cx="6059805" cy="1209675"/>
          </a:xfrm>
        </p:grpSpPr>
        <p:sp>
          <p:nvSpPr>
            <p:cNvPr id="32" name="Rectangle 32"/>
            <p:cNvSpPr/>
            <p:nvPr/>
          </p:nvSpPr>
          <p:spPr>
            <a:xfrm>
              <a:off x="533400" y="4128135"/>
              <a:ext cx="6059805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42925" y="4261485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63905" y="4320540"/>
              <a:ext cx="15430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23341" y="435483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半无限长的结果怎么看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7047" y="4676775"/>
              <a:ext cx="533723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两个分量大小相等，合场强与直线成 45°，大小为 √2λ/(4πε₀a)。两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段半无限长拼成无限长时，Ey 相加成 λ/(2πε₀a)，Ex 一正一负抵消。</a:t>
              </a:r>
            </a:p>
          </p:txBody>
        </p:sp>
      </p:grpSp>
      <p:grpSp>
        <p:nvGrpSpPr>
          <p:cNvPr id="43" name="c2-card-1"/>
          <p:cNvGrpSpPr/>
          <p:nvPr/>
        </p:nvGrpSpPr>
        <p:grpSpPr>
          <a:xfrm>
            <a:off x="6898005" y="1524000"/>
            <a:ext cx="4760595" cy="1913572"/>
            <a:chOff x="6898005" y="1524000"/>
            <a:chExt cx="4760595" cy="1913572"/>
          </a:xfrm>
        </p:grpSpPr>
        <p:sp>
          <p:nvSpPr>
            <p:cNvPr id="38" name="Rectangle 38"/>
            <p:cNvSpPr/>
            <p:nvPr/>
          </p:nvSpPr>
          <p:spPr>
            <a:xfrm>
              <a:off x="6898005" y="1524000"/>
              <a:ext cx="4760595" cy="1913572"/>
            </a:xfrm>
            <a:prstGeom prst="roundRect">
              <a:avLst>
                <a:gd name="adj" fmla="val 6969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7090410" y="1716405"/>
              <a:ext cx="140970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153847" y="1750695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无限长均匀带电直线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" name="formula68"/>
                <p:cNvSpPr txBox="1">
                  <a:spLocks noGrp="1"/>
                </p:cNvSpPr>
                <p:nvPr/>
              </p:nvSpPr>
              <p:spPr>
                <a:xfrm>
                  <a:off x="7090410" y="2050732"/>
                  <a:ext cx="4375785" cy="6172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</m:t>
                            </m:r>
                          </m:num>
                          <m:den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2π</m:t>
                            </m:r>
                            <m:sSub>
                              <m:e>
                                <m: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ε</m:t>
                                </m:r>
                              </m:e>
                              <m:sub>
                                <m: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2" name="TextBox 42"/>
            <p:cNvSpPr txBox="1"/>
            <p:nvPr/>
          </p:nvSpPr>
          <p:spPr>
            <a:xfrm>
              <a:off x="7083552" y="2776538"/>
              <a:ext cx="421424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方向垂直于直线，λ &gt; 0 时背离直线。4.4 节用高斯定理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一步就能得到这个结果。</a:t>
              </a:r>
            </a:p>
          </p:txBody>
        </p:sp>
      </p:grpSp>
      <p:grpSp>
        <p:nvGrpSpPr>
          <p:cNvPr id="49" name="c2-card-2"/>
          <p:cNvGrpSpPr/>
          <p:nvPr/>
        </p:nvGrpSpPr>
        <p:grpSpPr>
          <a:xfrm>
            <a:off x="6898005" y="3612832"/>
            <a:ext cx="4760595" cy="1724978"/>
            <a:chOff x="6898005" y="3612832"/>
            <a:chExt cx="4760595" cy="1724978"/>
          </a:xfrm>
        </p:grpSpPr>
        <p:sp>
          <p:nvSpPr>
            <p:cNvPr id="44" name="Rectangle 44"/>
            <p:cNvSpPr/>
            <p:nvPr/>
          </p:nvSpPr>
          <p:spPr>
            <a:xfrm>
              <a:off x="6898005" y="3612832"/>
              <a:ext cx="4760595" cy="1724978"/>
            </a:xfrm>
            <a:prstGeom prst="roundRect">
              <a:avLst>
                <a:gd name="adj" fmla="val 773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907530" y="3746182"/>
              <a:ext cx="47625" cy="145827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7128510" y="3805238"/>
              <a:ext cx="15430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187946" y="3839528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什么时候可以当无限长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121652" y="4161472"/>
              <a:ext cx="400850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场点到直线的距离 a 远小于它到两端的距离时，θ₁ ≈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0、θ₂ ≈ π。比如长 1 m 的带电棒，在中点旁 1 cm 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按无限长算，误差约万分之二。</a:t>
              </a:r>
            </a:p>
          </p:txBody>
        </p:sp>
      </p:grpSp>
      <p:grpSp>
        <p:nvGrpSpPr>
          <p:cNvPr id="55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50" name="Rectangle 50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38188" y="5897880"/>
              <a:ext cx="200026" cy="200026"/>
              <a:chOff x="738188" y="5897880"/>
              <a:chExt cx="200026" cy="200026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738188" y="589788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04863" y="597566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0892" y="5779770"/>
              <a:ext cx="1000067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检验：把 θ₁ = 0、θ₂ = π 代进通式 Ey = λ(cosθ₁ − cosθ₂)/(4πε₀a)，得 2λ/(4πε₀a)，与无限长结果一致；三种极限都用数值积分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复核过。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第4章 静电场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07834" cy="909257"/>
            <a:chOff x="520446" y="342900"/>
            <a:chExt cx="690783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7455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4121" y="407194"/>
              <a:ext cx="20340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静电场 · 电场 电场强度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0783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例4.4 均匀带电圆环：轴线上只剩沿轴的分量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977765" cy="1323022"/>
            <a:chOff x="533400" y="1524000"/>
            <a:chExt cx="4977765" cy="132302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323022"/>
            </a:xfrm>
            <a:prstGeom prst="roundRect">
              <a:avLst>
                <a:gd name="adj" fmla="val 100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5632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59817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2709" y="1763554"/>
              <a:ext cx="423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例4.4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421879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半径 R 的细圆环均匀带电 q，λ = q/(2πR)。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420779"/>
              <a:ext cx="28178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轴线上距环心 x 的 P 点场强。</a:t>
              </a:r>
            </a:p>
          </p:txBody>
        </p:sp>
      </p:grpSp>
      <p:grpSp>
        <p:nvGrpSpPr>
          <p:cNvPr id="45" name="c1-graph-2"/>
          <p:cNvGrpSpPr/>
          <p:nvPr/>
        </p:nvGrpSpPr>
        <p:grpSpPr>
          <a:xfrm>
            <a:off x="673418" y="3188494"/>
            <a:ext cx="4731251" cy="1959768"/>
            <a:chOff x="673418" y="3188494"/>
            <a:chExt cx="4731251" cy="1959768"/>
          </a:xfrm>
        </p:grpSpPr>
        <p:sp>
          <p:nvSpPr>
            <p:cNvPr id="14" name="Freeform 14"/>
            <p:cNvSpPr/>
            <p:nvPr/>
          </p:nvSpPr>
          <p:spPr>
            <a:xfrm>
              <a:off x="701992" y="4241482"/>
              <a:ext cx="4491990" cy="9525"/>
            </a:xfrm>
            <a:custGeom>
              <a:avLst/>
              <a:gdLst/>
              <a:ahLst/>
              <a:cxnLst/>
              <a:rect l="l" t="t" r="r" b="b"/>
              <a:pathLst>
                <a:path w="4491990" h="9525">
                  <a:moveTo>
                    <a:pt x="0" y="0"/>
                  </a:moveTo>
                  <a:lnTo>
                    <a:pt x="449199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5193982" y="419385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1081088" y="3334702"/>
              <a:ext cx="497205" cy="1813560"/>
            </a:xfrm>
            <a:custGeom>
              <a:avLst/>
              <a:gdLst/>
              <a:ahLst/>
              <a:cxnLst/>
              <a:rect l="l" t="t" r="r" b="b"/>
              <a:pathLst>
                <a:path w="497205" h="1813560">
                  <a:moveTo>
                    <a:pt x="497205" y="887730"/>
                  </a:moveTo>
                  <a:lnTo>
                    <a:pt x="497205" y="788670"/>
                  </a:lnTo>
                  <a:lnTo>
                    <a:pt x="487680" y="672465"/>
                  </a:lnTo>
                  <a:lnTo>
                    <a:pt x="477202" y="559117"/>
                  </a:lnTo>
                  <a:lnTo>
                    <a:pt x="462915" y="453390"/>
                  </a:lnTo>
                  <a:lnTo>
                    <a:pt x="447675" y="355282"/>
                  </a:lnTo>
                  <a:lnTo>
                    <a:pt x="422910" y="264795"/>
                  </a:lnTo>
                  <a:lnTo>
                    <a:pt x="398145" y="186690"/>
                  </a:lnTo>
                  <a:lnTo>
                    <a:pt x="373380" y="120967"/>
                  </a:lnTo>
                  <a:lnTo>
                    <a:pt x="342900" y="68580"/>
                  </a:lnTo>
                  <a:lnTo>
                    <a:pt x="313373" y="30480"/>
                  </a:lnTo>
                  <a:lnTo>
                    <a:pt x="283845" y="7620"/>
                  </a:lnTo>
                  <a:lnTo>
                    <a:pt x="248602" y="0"/>
                  </a:lnTo>
                  <a:lnTo>
                    <a:pt x="214312" y="7620"/>
                  </a:lnTo>
                  <a:lnTo>
                    <a:pt x="183833" y="30480"/>
                  </a:lnTo>
                  <a:lnTo>
                    <a:pt x="154305" y="68580"/>
                  </a:lnTo>
                  <a:lnTo>
                    <a:pt x="123825" y="120967"/>
                  </a:lnTo>
                  <a:lnTo>
                    <a:pt x="99060" y="186690"/>
                  </a:lnTo>
                  <a:lnTo>
                    <a:pt x="74295" y="264795"/>
                  </a:lnTo>
                  <a:lnTo>
                    <a:pt x="49530" y="355282"/>
                  </a:lnTo>
                  <a:lnTo>
                    <a:pt x="34290" y="453390"/>
                  </a:lnTo>
                  <a:lnTo>
                    <a:pt x="20002" y="559117"/>
                  </a:lnTo>
                  <a:lnTo>
                    <a:pt x="9525" y="672465"/>
                  </a:lnTo>
                  <a:lnTo>
                    <a:pt x="0" y="788670"/>
                  </a:lnTo>
                  <a:lnTo>
                    <a:pt x="0" y="906780"/>
                  </a:lnTo>
                  <a:lnTo>
                    <a:pt x="0" y="1024890"/>
                  </a:lnTo>
                  <a:lnTo>
                    <a:pt x="9525" y="1141095"/>
                  </a:lnTo>
                  <a:lnTo>
                    <a:pt x="20002" y="1254442"/>
                  </a:lnTo>
                  <a:lnTo>
                    <a:pt x="34290" y="1360170"/>
                  </a:lnTo>
                  <a:lnTo>
                    <a:pt x="49530" y="1458277"/>
                  </a:lnTo>
                  <a:lnTo>
                    <a:pt x="74295" y="1548765"/>
                  </a:lnTo>
                  <a:lnTo>
                    <a:pt x="99060" y="1626870"/>
                  </a:lnTo>
                  <a:lnTo>
                    <a:pt x="123825" y="1692592"/>
                  </a:lnTo>
                  <a:lnTo>
                    <a:pt x="154305" y="1745932"/>
                  </a:lnTo>
                  <a:lnTo>
                    <a:pt x="183833" y="1783080"/>
                  </a:lnTo>
                  <a:lnTo>
                    <a:pt x="214312" y="1805940"/>
                  </a:lnTo>
                  <a:lnTo>
                    <a:pt x="248602" y="1813560"/>
                  </a:lnTo>
                  <a:lnTo>
                    <a:pt x="283845" y="1805940"/>
                  </a:lnTo>
                  <a:lnTo>
                    <a:pt x="313373" y="1783080"/>
                  </a:lnTo>
                  <a:lnTo>
                    <a:pt x="342900" y="1745932"/>
                  </a:lnTo>
                  <a:lnTo>
                    <a:pt x="373380" y="1692592"/>
                  </a:lnTo>
                  <a:lnTo>
                    <a:pt x="398145" y="1626870"/>
                  </a:lnTo>
                  <a:lnTo>
                    <a:pt x="422910" y="1548765"/>
                  </a:lnTo>
                  <a:lnTo>
                    <a:pt x="447675" y="1458277"/>
                  </a:lnTo>
                  <a:lnTo>
                    <a:pt x="462915" y="1360170"/>
                  </a:lnTo>
                  <a:lnTo>
                    <a:pt x="477202" y="1254442"/>
                  </a:lnTo>
                  <a:lnTo>
                    <a:pt x="487680" y="1141095"/>
                  </a:lnTo>
                  <a:lnTo>
                    <a:pt x="497205" y="1024890"/>
                  </a:lnTo>
                  <a:lnTo>
                    <a:pt x="497205" y="925830"/>
                  </a:lnTo>
                </a:path>
              </a:pathLst>
            </a:custGeom>
            <a:noFill/>
            <a:ln w="28575">
              <a:solidFill>
                <a:srgbClr val="2F4B9A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1329690" y="3391852"/>
              <a:ext cx="9525" cy="811530"/>
            </a:xfrm>
            <a:custGeom>
              <a:avLst/>
              <a:gdLst/>
              <a:ahLst/>
              <a:cxnLst/>
              <a:rect l="l" t="t" r="r" b="b"/>
              <a:pathLst>
                <a:path w="9525" h="811530">
                  <a:moveTo>
                    <a:pt x="0" y="81153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8" name="Freeform 18"/>
            <p:cNvSpPr/>
            <p:nvPr/>
          </p:nvSpPr>
          <p:spPr>
            <a:xfrm>
              <a:off x="1383030" y="3355658"/>
              <a:ext cx="2282190" cy="865822"/>
            </a:xfrm>
            <a:custGeom>
              <a:avLst/>
              <a:gdLst/>
              <a:ahLst/>
              <a:cxnLst/>
              <a:rect l="l" t="t" r="r" b="b"/>
              <a:pathLst>
                <a:path w="2282190" h="865822">
                  <a:moveTo>
                    <a:pt x="0" y="0"/>
                  </a:moveTo>
                  <a:lnTo>
                    <a:pt x="2282190" y="865822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3772852" y="4261485"/>
              <a:ext cx="844867" cy="320040"/>
            </a:xfrm>
            <a:custGeom>
              <a:avLst/>
              <a:gdLst/>
              <a:ahLst/>
              <a:cxnLst/>
              <a:rect l="l" t="t" r="r" b="b"/>
              <a:pathLst>
                <a:path w="844867" h="320040">
                  <a:moveTo>
                    <a:pt x="0" y="0"/>
                  </a:moveTo>
                  <a:lnTo>
                    <a:pt x="844867" y="320040"/>
                  </a:lnTo>
                </a:path>
              </a:pathLst>
            </a:custGeom>
            <a:noFill/>
            <a:ln w="22860">
              <a:solidFill>
                <a:srgbClr val="F26B3A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4600575" y="4536758"/>
              <a:ext cx="105728" cy="89535"/>
            </a:xfrm>
            <a:custGeom>
              <a:avLst/>
              <a:gdLst/>
              <a:ahLst/>
              <a:cxnLst/>
              <a:rect l="l" t="t" r="r" b="b"/>
              <a:pathLst>
                <a:path w="105728" h="89535">
                  <a:moveTo>
                    <a:pt x="105728" y="78105"/>
                  </a:moveTo>
                  <a:lnTo>
                    <a:pt x="0" y="89535"/>
                  </a:lnTo>
                  <a:lnTo>
                    <a:pt x="33338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3775710" y="4241482"/>
              <a:ext cx="834390" cy="9525"/>
            </a:xfrm>
            <a:custGeom>
              <a:avLst/>
              <a:gdLst/>
              <a:ahLst/>
              <a:cxnLst/>
              <a:rect l="l" t="t" r="r" b="b"/>
              <a:pathLst>
                <a:path w="834390" h="9525">
                  <a:moveTo>
                    <a:pt x="0" y="0"/>
                  </a:moveTo>
                  <a:lnTo>
                    <a:pt x="834390" y="0"/>
                  </a:lnTo>
                </a:path>
              </a:pathLst>
            </a:custGeom>
            <a:noFill/>
            <a:ln w="22860">
              <a:solidFill>
                <a:srgbClr val="B42318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4610100" y="419385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3718560" y="4298632"/>
              <a:ext cx="9525" cy="208597"/>
            </a:xfrm>
            <a:custGeom>
              <a:avLst/>
              <a:gdLst/>
              <a:ahLst/>
              <a:cxnLst/>
              <a:rect l="l" t="t" r="r" b="b"/>
              <a:pathLst>
                <a:path w="9525" h="208597">
                  <a:moveTo>
                    <a:pt x="0" y="0"/>
                  </a:moveTo>
                  <a:lnTo>
                    <a:pt x="0" y="208597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3670935" y="450723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4724400" y="4260532"/>
              <a:ext cx="9525" cy="341947"/>
            </a:xfrm>
            <a:custGeom>
              <a:avLst/>
              <a:gdLst/>
              <a:ahLst/>
              <a:cxnLst/>
              <a:rect l="l" t="t" r="r" b="b"/>
              <a:pathLst>
                <a:path w="9525" h="341947">
                  <a:moveTo>
                    <a:pt x="0" y="341947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26" name="Ellipse 26"/>
            <p:cNvSpPr/>
            <p:nvPr/>
          </p:nvSpPr>
          <p:spPr>
            <a:xfrm>
              <a:off x="1568768" y="423195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1568768" y="423195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673418" y="423195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1301115" y="4212908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1282065" y="3287078"/>
              <a:ext cx="95250" cy="952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3670935" y="4193858"/>
              <a:ext cx="95250" cy="952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4714875" y="461200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4714875" y="423195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3709035" y="461200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318575" y="418099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413777" y="4321969"/>
              <a:ext cx="1309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05858" y="3666649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505294" y="3188494"/>
              <a:ext cx="1459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dl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476947" y="356568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564118" y="393573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223707" y="404479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θ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877751" y="4601051"/>
              <a:ext cx="1905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dE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641479" y="3969544"/>
              <a:ext cx="2649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dEx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186791" y="4576286"/>
              <a:ext cx="2672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dE⊥</a:t>
              </a:r>
            </a:p>
          </p:txBody>
        </p:sp>
      </p:grpSp>
      <p:grpSp>
        <p:nvGrpSpPr>
          <p:cNvPr id="59" name="c2-steps-1"/>
          <p:cNvGrpSpPr/>
          <p:nvPr/>
        </p:nvGrpSpPr>
        <p:grpSpPr>
          <a:xfrm>
            <a:off x="5815965" y="1533525"/>
            <a:ext cx="5757391" cy="1790128"/>
            <a:chOff x="5815965" y="1533525"/>
            <a:chExt cx="5757391" cy="1790128"/>
          </a:xfrm>
        </p:grpSpPr>
        <p:sp>
          <p:nvSpPr>
            <p:cNvPr id="46" name="Rectangle 46"/>
            <p:cNvSpPr/>
            <p:nvPr/>
          </p:nvSpPr>
          <p:spPr>
            <a:xfrm>
              <a:off x="5949315" y="1676400"/>
              <a:ext cx="19050" cy="1242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581596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90958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5815965" y="215455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909589" y="22283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5815965" y="277558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909589" y="28494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227826" y="156638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对称性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228969" y="1846898"/>
              <a:ext cx="53048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环上关于中心对称的两个 dl，在 P 点的垂直分量抵消，E⊥ = 0，只需算 Ex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227826" y="2187416"/>
              <a:ext cx="6044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 dEx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228969" y="2467927"/>
              <a:ext cx="53443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dEx = λdl cos θ/(4πε₀r²)，cos θ = x/r，r² = R² + x²，对整个环都相同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227826" y="280844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沿环积分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228969" y="3088957"/>
              <a:ext cx="33678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∫dl = 2πR，λ·2πR = q，常量全部提到积分号外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formula71"/>
              <p:cNvSpPr txBox="1">
                <a:spLocks noGrp="1"/>
              </p:cNvSpPr>
              <p:nvPr/>
            </p:nvSpPr>
            <p:spPr>
              <a:xfrm>
                <a:off x="5815965" y="3499485"/>
                <a:ext cx="5842635" cy="5915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</m:t>
                      </m:r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4π</m:t>
                          </m:r>
                          <m:sSub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ε</m:t>
                              </m:r>
                            </m:e>
                            <m:sub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f>
                        <m:fPr>
                          <m:type m:val="bar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qx</m:t>
                          </m:r>
                        </m:num>
                        <m:den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p>
                                    <m:e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R</m:t>
                                      </m:r>
                                    </m:e>
                                    <m:sup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m:rPr>
                                      <m:sty m:val="p"/>
                                    </m:rPr>
                                    <a:rPr lang="zh-CN" sz="17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sSup>
                                    <m:e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p>
                                      <m:r>
                                        <a:rPr lang="zh-CN" sz="17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/</m:t>
                              </m:r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65" name="c2-card-3"/>
          <p:cNvGrpSpPr/>
          <p:nvPr/>
        </p:nvGrpSpPr>
        <p:grpSpPr>
          <a:xfrm>
            <a:off x="5815965" y="4276725"/>
            <a:ext cx="5842635" cy="1274445"/>
            <a:chOff x="5815965" y="4276725"/>
            <a:chExt cx="5842635" cy="1274445"/>
          </a:xfrm>
        </p:grpSpPr>
        <p:sp>
          <p:nvSpPr>
            <p:cNvPr id="61" name="Rectangle 61"/>
            <p:cNvSpPr/>
            <p:nvPr/>
          </p:nvSpPr>
          <p:spPr>
            <a:xfrm>
              <a:off x="5815965" y="4276725"/>
              <a:ext cx="5842635" cy="1274445"/>
            </a:xfrm>
            <a:prstGeom prst="roundRect">
              <a:avLst>
                <a:gd name="adj" fmla="val 10463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019800" y="4480560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113958" y="451627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012561" y="4853464"/>
              <a:ext cx="507301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 沿轴线，q &gt; 0 时背离环心。环心 x = 0 处 E = 0；x ≫ R 时 E ≈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q/(4πε₀x²)，又像点电荷。</a:t>
              </a:r>
            </a:p>
          </p:txBody>
        </p:sp>
      </p:grpSp>
      <p:grpSp>
        <p:nvGrpSpPr>
          <p:cNvPr id="71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66" name="Rectangle 66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738188" y="6003608"/>
              <a:ext cx="200026" cy="200026"/>
              <a:chOff x="738188" y="6003608"/>
              <a:chExt cx="200026" cy="200026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738188" y="60036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04863" y="608139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1040511" y="6004084"/>
              <a:ext cx="95490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检验：x = 0 和 x → ∞ 两端都趋于 0，中间必有极大值，求导得在 x = R/√2 处最大；脚本用数值积分复核了通式。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第4章 静电场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07834" cy="909257"/>
            <a:chOff x="520446" y="342900"/>
            <a:chExt cx="690783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7455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4121" y="407194"/>
              <a:ext cx="20340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静电场 · 电场 电场强度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0783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例4.5 均匀带电圆盘：拆成一圈圈圆环再积分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977765" cy="1323022"/>
            <a:chOff x="533400" y="1524000"/>
            <a:chExt cx="4977765" cy="132302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323022"/>
            </a:xfrm>
            <a:prstGeom prst="roundRect">
              <a:avLst>
                <a:gd name="adj" fmla="val 100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5632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59817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2709" y="1763554"/>
              <a:ext cx="423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例4.5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371631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半径 R 的薄圆盘均匀带电，面密度 σ。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420779"/>
              <a:ext cx="386527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轴线上距盘心 x 处的场强；R → ∞ 时怎样。</a:t>
              </a:r>
            </a:p>
          </p:txBody>
        </p:sp>
      </p:grpSp>
      <p:grpSp>
        <p:nvGrpSpPr>
          <p:cNvPr id="36" name="c1-graph-2"/>
          <p:cNvGrpSpPr/>
          <p:nvPr/>
        </p:nvGrpSpPr>
        <p:grpSpPr>
          <a:xfrm>
            <a:off x="983932" y="3130391"/>
            <a:ext cx="4371207" cy="2423256"/>
            <a:chOff x="983932" y="3130391"/>
            <a:chExt cx="4371207" cy="2423256"/>
          </a:xfrm>
        </p:grpSpPr>
        <p:sp>
          <p:nvSpPr>
            <p:cNvPr id="14" name="Freeform 14"/>
            <p:cNvSpPr/>
            <p:nvPr/>
          </p:nvSpPr>
          <p:spPr>
            <a:xfrm>
              <a:off x="1050608" y="5250180"/>
              <a:ext cx="4093845" cy="9525"/>
            </a:xfrm>
            <a:custGeom>
              <a:avLst/>
              <a:gdLst/>
              <a:ahLst/>
              <a:cxnLst/>
              <a:rect l="l" t="t" r="r" b="b"/>
              <a:pathLst>
                <a:path w="4093845" h="9525">
                  <a:moveTo>
                    <a:pt x="0" y="0"/>
                  </a:moveTo>
                  <a:lnTo>
                    <a:pt x="4093845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5144452" y="520255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1031558" y="3385185"/>
              <a:ext cx="9525" cy="1845945"/>
            </a:xfrm>
            <a:custGeom>
              <a:avLst/>
              <a:gdLst/>
              <a:ahLst/>
              <a:cxnLst/>
              <a:rect l="l" t="t" r="r" b="b"/>
              <a:pathLst>
                <a:path w="9525" h="1845945">
                  <a:moveTo>
                    <a:pt x="0" y="184594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983932" y="328993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1042988" y="3523298"/>
              <a:ext cx="4050982" cy="1636395"/>
            </a:xfrm>
            <a:custGeom>
              <a:avLst/>
              <a:gdLst/>
              <a:ahLst/>
              <a:cxnLst/>
              <a:rect l="l" t="t" r="r" b="b"/>
              <a:pathLst>
                <a:path w="4050982" h="1636395">
                  <a:moveTo>
                    <a:pt x="0" y="0"/>
                  </a:moveTo>
                  <a:lnTo>
                    <a:pt x="58102" y="71438"/>
                  </a:lnTo>
                  <a:lnTo>
                    <a:pt x="122873" y="159068"/>
                  </a:lnTo>
                  <a:lnTo>
                    <a:pt x="192405" y="243840"/>
                  </a:lnTo>
                  <a:lnTo>
                    <a:pt x="261938" y="324803"/>
                  </a:lnTo>
                  <a:lnTo>
                    <a:pt x="326708" y="406718"/>
                  </a:lnTo>
                  <a:lnTo>
                    <a:pt x="396240" y="485775"/>
                  </a:lnTo>
                  <a:lnTo>
                    <a:pt x="465773" y="560070"/>
                  </a:lnTo>
                  <a:lnTo>
                    <a:pt x="530542" y="631508"/>
                  </a:lnTo>
                  <a:lnTo>
                    <a:pt x="600075" y="700088"/>
                  </a:lnTo>
                  <a:lnTo>
                    <a:pt x="669608" y="763905"/>
                  </a:lnTo>
                  <a:lnTo>
                    <a:pt x="734378" y="823912"/>
                  </a:lnTo>
                  <a:lnTo>
                    <a:pt x="804862" y="882015"/>
                  </a:lnTo>
                  <a:lnTo>
                    <a:pt x="874395" y="935355"/>
                  </a:lnTo>
                  <a:lnTo>
                    <a:pt x="939165" y="982980"/>
                  </a:lnTo>
                  <a:lnTo>
                    <a:pt x="1008698" y="1029653"/>
                  </a:lnTo>
                  <a:lnTo>
                    <a:pt x="1078230" y="1072515"/>
                  </a:lnTo>
                  <a:lnTo>
                    <a:pt x="1143000" y="1111568"/>
                  </a:lnTo>
                  <a:lnTo>
                    <a:pt x="1212532" y="1151573"/>
                  </a:lnTo>
                  <a:lnTo>
                    <a:pt x="1282065" y="1185862"/>
                  </a:lnTo>
                  <a:lnTo>
                    <a:pt x="1346835" y="1217295"/>
                  </a:lnTo>
                  <a:lnTo>
                    <a:pt x="1416368" y="1246823"/>
                  </a:lnTo>
                  <a:lnTo>
                    <a:pt x="1485900" y="1272540"/>
                  </a:lnTo>
                  <a:lnTo>
                    <a:pt x="1550670" y="1299210"/>
                  </a:lnTo>
                  <a:lnTo>
                    <a:pt x="1621155" y="1323023"/>
                  </a:lnTo>
                  <a:lnTo>
                    <a:pt x="1690688" y="1343978"/>
                  </a:lnTo>
                  <a:lnTo>
                    <a:pt x="1755458" y="1364933"/>
                  </a:lnTo>
                  <a:lnTo>
                    <a:pt x="1824990" y="1383983"/>
                  </a:lnTo>
                  <a:lnTo>
                    <a:pt x="1894522" y="1402080"/>
                  </a:lnTo>
                  <a:lnTo>
                    <a:pt x="1959292" y="1418272"/>
                  </a:lnTo>
                  <a:lnTo>
                    <a:pt x="2028825" y="1433512"/>
                  </a:lnTo>
                  <a:lnTo>
                    <a:pt x="2098358" y="1449705"/>
                  </a:lnTo>
                  <a:lnTo>
                    <a:pt x="2163128" y="1463040"/>
                  </a:lnTo>
                  <a:lnTo>
                    <a:pt x="2232660" y="1473518"/>
                  </a:lnTo>
                  <a:lnTo>
                    <a:pt x="2302192" y="1486853"/>
                  </a:lnTo>
                  <a:lnTo>
                    <a:pt x="2366962" y="1497330"/>
                  </a:lnTo>
                  <a:lnTo>
                    <a:pt x="2437448" y="1507808"/>
                  </a:lnTo>
                  <a:lnTo>
                    <a:pt x="2506980" y="1518285"/>
                  </a:lnTo>
                  <a:lnTo>
                    <a:pt x="2571750" y="1526858"/>
                  </a:lnTo>
                  <a:lnTo>
                    <a:pt x="2641282" y="1534478"/>
                  </a:lnTo>
                  <a:lnTo>
                    <a:pt x="2710815" y="1542097"/>
                  </a:lnTo>
                  <a:lnTo>
                    <a:pt x="2775585" y="1549718"/>
                  </a:lnTo>
                  <a:lnTo>
                    <a:pt x="2845118" y="1558290"/>
                  </a:lnTo>
                  <a:lnTo>
                    <a:pt x="2914650" y="1563053"/>
                  </a:lnTo>
                  <a:lnTo>
                    <a:pt x="2979420" y="1571625"/>
                  </a:lnTo>
                  <a:lnTo>
                    <a:pt x="3048952" y="1576388"/>
                  </a:lnTo>
                  <a:lnTo>
                    <a:pt x="3118485" y="1582103"/>
                  </a:lnTo>
                  <a:lnTo>
                    <a:pt x="3183255" y="1586865"/>
                  </a:lnTo>
                  <a:lnTo>
                    <a:pt x="3253740" y="1592580"/>
                  </a:lnTo>
                  <a:lnTo>
                    <a:pt x="3323272" y="1597343"/>
                  </a:lnTo>
                  <a:lnTo>
                    <a:pt x="3388042" y="1603058"/>
                  </a:lnTo>
                  <a:lnTo>
                    <a:pt x="3457575" y="1605915"/>
                  </a:lnTo>
                  <a:lnTo>
                    <a:pt x="3527108" y="1610678"/>
                  </a:lnTo>
                  <a:lnTo>
                    <a:pt x="3591878" y="1613535"/>
                  </a:lnTo>
                  <a:lnTo>
                    <a:pt x="3661410" y="1619250"/>
                  </a:lnTo>
                  <a:lnTo>
                    <a:pt x="3730942" y="1621155"/>
                  </a:lnTo>
                  <a:lnTo>
                    <a:pt x="3795712" y="1626870"/>
                  </a:lnTo>
                  <a:lnTo>
                    <a:pt x="3865245" y="1629728"/>
                  </a:lnTo>
                  <a:lnTo>
                    <a:pt x="3934778" y="1631633"/>
                  </a:lnTo>
                  <a:lnTo>
                    <a:pt x="3999548" y="1634490"/>
                  </a:lnTo>
                  <a:lnTo>
                    <a:pt x="4050982" y="1636395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2749868" y="4703445"/>
              <a:ext cx="2344102" cy="448627"/>
            </a:xfrm>
            <a:custGeom>
              <a:avLst/>
              <a:gdLst/>
              <a:ahLst/>
              <a:cxnLst/>
              <a:rect l="l" t="t" r="r" b="b"/>
              <a:pathLst>
                <a:path w="2344102" h="448627">
                  <a:moveTo>
                    <a:pt x="0" y="0"/>
                  </a:moveTo>
                  <a:lnTo>
                    <a:pt x="62865" y="37147"/>
                  </a:lnTo>
                  <a:lnTo>
                    <a:pt x="142875" y="80010"/>
                  </a:lnTo>
                  <a:lnTo>
                    <a:pt x="222885" y="116205"/>
                  </a:lnTo>
                  <a:lnTo>
                    <a:pt x="297180" y="150495"/>
                  </a:lnTo>
                  <a:lnTo>
                    <a:pt x="377190" y="180023"/>
                  </a:lnTo>
                  <a:lnTo>
                    <a:pt x="456248" y="206692"/>
                  </a:lnTo>
                  <a:lnTo>
                    <a:pt x="536258" y="230505"/>
                  </a:lnTo>
                  <a:lnTo>
                    <a:pt x="615315" y="251460"/>
                  </a:lnTo>
                  <a:lnTo>
                    <a:pt x="695325" y="269558"/>
                  </a:lnTo>
                  <a:lnTo>
                    <a:pt x="775335" y="288608"/>
                  </a:lnTo>
                  <a:lnTo>
                    <a:pt x="854392" y="303848"/>
                  </a:lnTo>
                  <a:lnTo>
                    <a:pt x="934403" y="317183"/>
                  </a:lnTo>
                  <a:lnTo>
                    <a:pt x="1013460" y="330517"/>
                  </a:lnTo>
                  <a:lnTo>
                    <a:pt x="1093470" y="343852"/>
                  </a:lnTo>
                  <a:lnTo>
                    <a:pt x="1173480" y="354330"/>
                  </a:lnTo>
                  <a:lnTo>
                    <a:pt x="1252538" y="364808"/>
                  </a:lnTo>
                  <a:lnTo>
                    <a:pt x="1332548" y="372427"/>
                  </a:lnTo>
                  <a:lnTo>
                    <a:pt x="1411605" y="382905"/>
                  </a:lnTo>
                  <a:lnTo>
                    <a:pt x="1491615" y="391477"/>
                  </a:lnTo>
                  <a:lnTo>
                    <a:pt x="1571625" y="396240"/>
                  </a:lnTo>
                  <a:lnTo>
                    <a:pt x="1650682" y="403860"/>
                  </a:lnTo>
                  <a:lnTo>
                    <a:pt x="1725930" y="412433"/>
                  </a:lnTo>
                  <a:lnTo>
                    <a:pt x="1804988" y="417195"/>
                  </a:lnTo>
                  <a:lnTo>
                    <a:pt x="1884998" y="422910"/>
                  </a:lnTo>
                  <a:lnTo>
                    <a:pt x="1965008" y="427673"/>
                  </a:lnTo>
                  <a:lnTo>
                    <a:pt x="2044065" y="433387"/>
                  </a:lnTo>
                  <a:lnTo>
                    <a:pt x="2124075" y="439102"/>
                  </a:lnTo>
                  <a:lnTo>
                    <a:pt x="2203132" y="441008"/>
                  </a:lnTo>
                  <a:lnTo>
                    <a:pt x="2283142" y="446723"/>
                  </a:lnTo>
                  <a:lnTo>
                    <a:pt x="2344102" y="448627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20" name="Freeform 20"/>
            <p:cNvSpPr/>
            <p:nvPr/>
          </p:nvSpPr>
          <p:spPr>
            <a:xfrm>
              <a:off x="1050608" y="3508058"/>
              <a:ext cx="4043362" cy="9525"/>
            </a:xfrm>
            <a:custGeom>
              <a:avLst/>
              <a:gdLst/>
              <a:ahLst/>
              <a:cxnLst/>
              <a:rect l="l" t="t" r="r" b="b"/>
              <a:pathLst>
                <a:path w="4043362" h="9525">
                  <a:moveTo>
                    <a:pt x="0" y="0"/>
                  </a:moveTo>
                  <a:lnTo>
                    <a:pt x="4043362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21" name="Ellipse 21"/>
            <p:cNvSpPr/>
            <p:nvPr/>
          </p:nvSpPr>
          <p:spPr>
            <a:xfrm>
              <a:off x="1022032" y="524065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022032" y="349853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5103495" y="515112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2724150" y="468344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5103495" y="514350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1022032" y="349853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5103495" y="349853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269045" y="518969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86354" y="3130391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594620" y="3236595"/>
              <a:ext cx="15011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σ/(2ε₀)：R → ∞ 的极限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250186" y="435292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精确解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862644" y="4455795"/>
              <a:ext cx="16277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点电荷近似 σR²/(4ε₀x²)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343417" y="5348288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666325" y="5348288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2R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025542" y="5348288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3R</a:t>
              </a:r>
            </a:p>
          </p:txBody>
        </p:sp>
      </p:grpSp>
      <p:grpSp>
        <p:nvGrpSpPr>
          <p:cNvPr id="50" name="c2-steps-1"/>
          <p:cNvGrpSpPr/>
          <p:nvPr/>
        </p:nvGrpSpPr>
        <p:grpSpPr>
          <a:xfrm>
            <a:off x="5815965" y="1533525"/>
            <a:ext cx="5432450" cy="1790128"/>
            <a:chOff x="5815965" y="1533525"/>
            <a:chExt cx="5432450" cy="1790128"/>
          </a:xfrm>
        </p:grpSpPr>
        <p:sp>
          <p:nvSpPr>
            <p:cNvPr id="37" name="Rectangle 37"/>
            <p:cNvSpPr/>
            <p:nvPr/>
          </p:nvSpPr>
          <p:spPr>
            <a:xfrm>
              <a:off x="5949315" y="1676400"/>
              <a:ext cx="19050" cy="1242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581596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90958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5815965" y="215455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909589" y="22283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5815965" y="277558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909589" y="28494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227826" y="156638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取细圆环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228969" y="1846898"/>
              <a:ext cx="2960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半径 r、宽 dr 的圆环带电 dq = σ·2πr dr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227826" y="2187416"/>
              <a:ext cx="91914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套用例4.4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228969" y="2467927"/>
              <a:ext cx="50194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把例4.4 的 q 换成 dq、R 换成 r；所有圆环的 dE 都沿轴线，方向相同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227826" y="2808446"/>
              <a:ext cx="116966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从 0 积到 R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228969" y="3088957"/>
              <a:ext cx="25888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被积函数的原函数是 −1/√(x² + r²)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formula74"/>
              <p:cNvSpPr txBox="1">
                <a:spLocks noGrp="1"/>
              </p:cNvSpPr>
              <p:nvPr/>
            </p:nvSpPr>
            <p:spPr>
              <a:xfrm>
                <a:off x="5815965" y="3499485"/>
                <a:ext cx="5842635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σx</m:t>
                          </m:r>
                        </m:num>
                        <m:den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ε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ff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  <m:sup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sup>
                        <m:e>
                          <m:f>
                            <m:fPr>
                              <m:type m:val="bar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 </m:t>
                              </m:r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dr</m:t>
                              </m:r>
                            </m:num>
                            <m:den>
                              <m:sSup>
                                <m:e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e>
                                          <m:r>
                                            <a:rPr lang="zh-CN" sz="12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x</m:t>
                                          </m:r>
                                        </m:e>
                                        <m:sup>
                                          <m:r>
                                            <a:rPr lang="zh-CN" sz="12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m:rPr>
                                          <m:sty m:val="p"/>
                                        </m:rP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+</m:t>
                                      </m:r>
                                      <m:sSup>
                                        <m:e>
                                          <m:r>
                                            <a:rPr lang="zh-CN" sz="12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r</m:t>
                                          </m:r>
                                        </m:e>
                                        <m:sup>
                                          <m:r>
                                            <a:rPr lang="zh-CN" sz="12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/</m:t>
                                  </m:r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num>
                        <m:den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ε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type m:val="bar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e>
                                      <m: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R</m:t>
                                      </m:r>
                                    </m:e>
                                    <m:sup>
                                      <m: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m:rPr>
                                      <m:sty m:val="p"/>
                                    </m:r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sSup>
                                    <m:e>
                                      <m: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p>
                                      <m: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56" name="c2-card-3"/>
          <p:cNvGrpSpPr/>
          <p:nvPr/>
        </p:nvGrpSpPr>
        <p:grpSpPr>
          <a:xfrm>
            <a:off x="5815965" y="4111942"/>
            <a:ext cx="5842635" cy="1274445"/>
            <a:chOff x="5815965" y="4111942"/>
            <a:chExt cx="5842635" cy="1274445"/>
          </a:xfrm>
        </p:grpSpPr>
        <p:sp>
          <p:nvSpPr>
            <p:cNvPr id="52" name="Rectangle 52"/>
            <p:cNvSpPr/>
            <p:nvPr/>
          </p:nvSpPr>
          <p:spPr>
            <a:xfrm>
              <a:off x="5815965" y="4111942"/>
              <a:ext cx="5842635" cy="1274445"/>
            </a:xfrm>
            <a:prstGeom prst="roundRect">
              <a:avLst>
                <a:gd name="adj" fmla="val 10463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019800" y="4315778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113958" y="435149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012561" y="4688681"/>
              <a:ext cx="482955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 = (σ/2ε₀)[1 − x/√(R² + x²)]，沿轴线。R → ∞（无限大平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面）时 E = σ/(2ε₀)，与距离无关，平面两侧都是匀强场。</a:t>
              </a:r>
            </a:p>
          </p:txBody>
        </p:sp>
      </p:grpSp>
      <p:grpSp>
        <p:nvGrpSpPr>
          <p:cNvPr id="62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57" name="Rectangle 57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38188" y="6003608"/>
              <a:ext cx="200026" cy="200026"/>
              <a:chOff x="738188" y="6003608"/>
              <a:chExt cx="200026" cy="200026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738188" y="60036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04863" y="608139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1040511" y="6004084"/>
              <a:ext cx="102276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检验：x ≫ R 时 1 − x/√(R² + x²) ≈ R²/(2x²)，E ≈ σπR²/(4πε₀x²)，正好是总电量 σπR² 的点电荷的场（图中虚线）。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第4章 静电场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495508" cy="909257"/>
            <a:chOff x="520446" y="342900"/>
            <a:chExt cx="849550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7455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4121" y="407194"/>
              <a:ext cx="20340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静电场 · 电场 电场强度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49550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例4.6 两块无限大平板 +σ、−σ：场全部集中在两板之间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626418" cy="1651635"/>
            <a:chOff x="533400" y="1524000"/>
            <a:chExt cx="5626418" cy="16516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651635"/>
            </a:xfrm>
            <a:prstGeom prst="roundRect">
              <a:avLst>
                <a:gd name="adj" fmla="val 80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8493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59817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8424" y="1769269"/>
              <a:ext cx="423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例4.6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5300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两块平行的无限大平板 A、B，电荷面密度分别为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+σ、−σ。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731770"/>
              <a:ext cx="29028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两板之间和两板外侧的场强。</a:t>
              </a:r>
            </a:p>
          </p:txBody>
        </p:sp>
      </p:grpSp>
      <p:grpSp>
        <p:nvGrpSpPr>
          <p:cNvPr id="55" name="c1-graph-2"/>
          <p:cNvGrpSpPr/>
          <p:nvPr/>
        </p:nvGrpSpPr>
        <p:grpSpPr>
          <a:xfrm>
            <a:off x="974408" y="3392805"/>
            <a:ext cx="4745354" cy="2131219"/>
            <a:chOff x="974408" y="3392805"/>
            <a:chExt cx="4745354" cy="2131219"/>
          </a:xfrm>
        </p:grpSpPr>
        <p:sp>
          <p:nvSpPr>
            <p:cNvPr id="14" name="Freeform 14"/>
            <p:cNvSpPr/>
            <p:nvPr/>
          </p:nvSpPr>
          <p:spPr>
            <a:xfrm>
              <a:off x="2559368" y="3648075"/>
              <a:ext cx="9525" cy="1539240"/>
            </a:xfrm>
            <a:custGeom>
              <a:avLst/>
              <a:gdLst/>
              <a:ahLst/>
              <a:cxnLst/>
              <a:rect l="l" t="t" r="r" b="b"/>
              <a:pathLst>
                <a:path w="9525" h="1539240">
                  <a:moveTo>
                    <a:pt x="0" y="0"/>
                  </a:moveTo>
                  <a:lnTo>
                    <a:pt x="0" y="1539240"/>
                  </a:lnTo>
                </a:path>
              </a:pathLst>
            </a:custGeom>
            <a:noFill/>
            <a:ln w="47625">
              <a:solidFill>
                <a:srgbClr val="B42318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4134802" y="3648075"/>
              <a:ext cx="9525" cy="1539240"/>
            </a:xfrm>
            <a:custGeom>
              <a:avLst/>
              <a:gdLst/>
              <a:ahLst/>
              <a:cxnLst/>
              <a:rect l="l" t="t" r="r" b="b"/>
              <a:pathLst>
                <a:path w="9525" h="1539240">
                  <a:moveTo>
                    <a:pt x="0" y="0"/>
                  </a:moveTo>
                  <a:lnTo>
                    <a:pt x="0" y="1539240"/>
                  </a:lnTo>
                </a:path>
              </a:pathLst>
            </a:custGeom>
            <a:noFill/>
            <a:ln w="47625">
              <a:solidFill>
                <a:srgbClr val="2F4B9A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098232" y="4023360"/>
              <a:ext cx="1103948" cy="9525"/>
            </a:xfrm>
            <a:custGeom>
              <a:avLst/>
              <a:gdLst/>
              <a:ahLst/>
              <a:cxnLst/>
              <a:rect l="l" t="t" r="r" b="b"/>
              <a:pathLst>
                <a:path w="1103948" h="9525">
                  <a:moveTo>
                    <a:pt x="1103948" y="0"/>
                  </a:moveTo>
                  <a:lnTo>
                    <a:pt x="0" y="0"/>
                  </a:lnTo>
                </a:path>
              </a:pathLst>
            </a:custGeom>
            <a:noFill/>
            <a:ln w="20955">
              <a:solidFill>
                <a:srgbClr val="B42318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1002982" y="397573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2859405" y="4023360"/>
              <a:ext cx="879158" cy="9525"/>
            </a:xfrm>
            <a:custGeom>
              <a:avLst/>
              <a:gdLst/>
              <a:ahLst/>
              <a:cxnLst/>
              <a:rect l="l" t="t" r="r" b="b"/>
              <a:pathLst>
                <a:path w="879158" h="9525">
                  <a:moveTo>
                    <a:pt x="0" y="0"/>
                  </a:moveTo>
                  <a:lnTo>
                    <a:pt x="879158" y="0"/>
                  </a:lnTo>
                </a:path>
              </a:pathLst>
            </a:custGeom>
            <a:noFill/>
            <a:ln w="20955">
              <a:solidFill>
                <a:srgbClr val="B42318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3738562" y="397573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4491038" y="4023360"/>
              <a:ext cx="1104900" cy="9525"/>
            </a:xfrm>
            <a:custGeom>
              <a:avLst/>
              <a:gdLst/>
              <a:ahLst/>
              <a:cxnLst/>
              <a:rect l="l" t="t" r="r" b="b"/>
              <a:pathLst>
                <a:path w="1104900" h="9525">
                  <a:moveTo>
                    <a:pt x="0" y="0"/>
                  </a:moveTo>
                  <a:lnTo>
                    <a:pt x="1104900" y="0"/>
                  </a:lnTo>
                </a:path>
              </a:pathLst>
            </a:custGeom>
            <a:noFill/>
            <a:ln w="20955">
              <a:solidFill>
                <a:srgbClr val="B42318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5595938" y="397573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1002982" y="4636770"/>
              <a:ext cx="1103948" cy="9525"/>
            </a:xfrm>
            <a:custGeom>
              <a:avLst/>
              <a:gdLst/>
              <a:ahLst/>
              <a:cxnLst/>
              <a:rect l="l" t="t" r="r" b="b"/>
              <a:pathLst>
                <a:path w="1103948" h="9525">
                  <a:moveTo>
                    <a:pt x="0" y="0"/>
                  </a:moveTo>
                  <a:lnTo>
                    <a:pt x="1103948" y="0"/>
                  </a:lnTo>
                </a:path>
              </a:pathLst>
            </a:custGeom>
            <a:noFill/>
            <a:ln w="20955">
              <a:solidFill>
                <a:srgbClr val="2F4B9A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2106930" y="458914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2859405" y="4636770"/>
              <a:ext cx="879158" cy="9525"/>
            </a:xfrm>
            <a:custGeom>
              <a:avLst/>
              <a:gdLst/>
              <a:ahLst/>
              <a:cxnLst/>
              <a:rect l="l" t="t" r="r" b="b"/>
              <a:pathLst>
                <a:path w="879158" h="9525">
                  <a:moveTo>
                    <a:pt x="0" y="0"/>
                  </a:moveTo>
                  <a:lnTo>
                    <a:pt x="879158" y="0"/>
                  </a:lnTo>
                </a:path>
              </a:pathLst>
            </a:custGeom>
            <a:noFill/>
            <a:ln w="20955">
              <a:solidFill>
                <a:srgbClr val="2F4B9A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3738562" y="458914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4586288" y="4636770"/>
              <a:ext cx="1104900" cy="9525"/>
            </a:xfrm>
            <a:custGeom>
              <a:avLst/>
              <a:gdLst/>
              <a:ahLst/>
              <a:cxnLst/>
              <a:rect l="l" t="t" r="r" b="b"/>
              <a:pathLst>
                <a:path w="1104900" h="9525">
                  <a:moveTo>
                    <a:pt x="1104900" y="0"/>
                  </a:moveTo>
                  <a:lnTo>
                    <a:pt x="0" y="0"/>
                  </a:lnTo>
                </a:path>
              </a:pathLst>
            </a:custGeom>
            <a:noFill/>
            <a:ln w="20955">
              <a:solidFill>
                <a:srgbClr val="2F4B9A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4491038" y="458914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2549842" y="361950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2549842" y="519684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4125278" y="361950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4125278" y="519684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2211705" y="401383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974408" y="401383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2830830" y="401383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3843338" y="401383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4462462" y="401383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5700712" y="401383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974408" y="462724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2211705" y="462724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2830830" y="462724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3843338" y="462724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5700712" y="462724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4462462" y="462724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2287927" y="3392805"/>
              <a:ext cx="5428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A（+σ）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863362" y="3392805"/>
              <a:ext cx="5428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B（−σ）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514627" y="3778568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EA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514627" y="4391978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EB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259607" y="3778568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EA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259607" y="4391978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EB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003635" y="3778568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EA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003635" y="4391978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EB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408206" y="5303996"/>
              <a:ext cx="3877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= 0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026835" y="5303996"/>
              <a:ext cx="6405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E = σ/ε₀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897214" y="5303996"/>
              <a:ext cx="3877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= 0</a:t>
              </a:r>
            </a:p>
          </p:txBody>
        </p:sp>
      </p:grpSp>
      <p:grpSp>
        <p:nvGrpSpPr>
          <p:cNvPr id="69" name="c2-steps-1"/>
          <p:cNvGrpSpPr/>
          <p:nvPr/>
        </p:nvGrpSpPr>
        <p:grpSpPr>
          <a:xfrm>
            <a:off x="6464618" y="1533525"/>
            <a:ext cx="4895977" cy="2112930"/>
            <a:chOff x="6464618" y="1533525"/>
            <a:chExt cx="4895977" cy="2112930"/>
          </a:xfrm>
        </p:grpSpPr>
        <p:sp>
          <p:nvSpPr>
            <p:cNvPr id="56" name="Rectangle 56"/>
            <p:cNvSpPr/>
            <p:nvPr/>
          </p:nvSpPr>
          <p:spPr>
            <a:xfrm>
              <a:off x="6597968" y="1676400"/>
              <a:ext cx="19050" cy="15363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Ellipse 57"/>
            <p:cNvSpPr/>
            <p:nvPr/>
          </p:nvSpPr>
          <p:spPr>
            <a:xfrm>
              <a:off x="6464618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558241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464618" y="241935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558241" y="2493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6464618" y="306990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558241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876098" y="156781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单块平板的场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877241" y="1861661"/>
              <a:ext cx="44833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由例4.5，每块板在两侧都产生 σ/(2ε₀) 的匀强场：+σ 的场背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离板，−σ 的场指向板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876098" y="245364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两板之间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877241" y="2746534"/>
              <a:ext cx="43017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EA 向右、EB 也向右，E内 = σ/(2ε₀) + σ/(2ε₀) = σ/ε₀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876098" y="3104198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两板外侧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877241" y="3397091"/>
              <a:ext cx="30381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EA 与 EB 大小相等、方向相反，E外 = 0</a:t>
              </a:r>
            </a:p>
          </p:txBody>
        </p:sp>
      </p:grpSp>
      <p:grpSp>
        <p:nvGrpSpPr>
          <p:cNvPr id="74" name="c2-card-2"/>
          <p:cNvGrpSpPr/>
          <p:nvPr/>
        </p:nvGrpSpPr>
        <p:grpSpPr>
          <a:xfrm>
            <a:off x="6464618" y="3825240"/>
            <a:ext cx="5193982" cy="1731645"/>
            <a:chOff x="6464618" y="3825240"/>
            <a:chExt cx="5193982" cy="1731645"/>
          </a:xfrm>
        </p:grpSpPr>
        <p:sp>
          <p:nvSpPr>
            <p:cNvPr id="70" name="Rectangle 70"/>
            <p:cNvSpPr/>
            <p:nvPr/>
          </p:nvSpPr>
          <p:spPr>
            <a:xfrm>
              <a:off x="6464618" y="3825240"/>
              <a:ext cx="5193982" cy="1731645"/>
            </a:xfrm>
            <a:prstGeom prst="roundRect">
              <a:avLst>
                <a:gd name="adj" fmla="val 7701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6674168" y="4034790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769278" y="407050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666548" y="4411980"/>
              <a:ext cx="45396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两板之间 E = σ/ε₀，由 A 指向 B；两板外侧 E = 0。理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想平行板电容器的场就是这样来的。</a:t>
              </a:r>
            </a:p>
          </p:txBody>
        </p:sp>
      </p:grpSp>
      <p:grpSp>
        <p:nvGrpSpPr>
          <p:cNvPr id="81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75" name="Rectangle 75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79" name="Group 79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80" name="TextBox 80"/>
            <p:cNvSpPr txBox="1"/>
            <p:nvPr/>
          </p:nvSpPr>
          <p:spPr>
            <a:xfrm>
              <a:off x="1040130" y="5991225"/>
              <a:ext cx="103641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要求一块板受的力，只能用另一块板的场 σ/(2ε₀) 乘它的电量；合场 σ/ε₀ 里包含了它自己的场，自己不能推自己。</a:t>
              </a:r>
            </a:p>
          </p:txBody>
        </p:sp>
      </p:grpSp>
      <p:grpSp>
        <p:nvGrpSpPr>
          <p:cNvPr id="8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2" name="TextBox 82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第4章 静电场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42162" cy="909257"/>
            <a:chOff x="520446" y="342900"/>
            <a:chExt cx="694216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7455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4121" y="407194"/>
              <a:ext cx="20340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静电场 · 电场 电场强度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4216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练习 +σ 与 +2σ 两板：板间场强与相互作用力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760595" cy="1937385"/>
            <a:chOff x="533400" y="1524000"/>
            <a:chExt cx="4760595" cy="19373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937385"/>
            </a:xfrm>
            <a:prstGeom prst="roundRect">
              <a:avLst>
                <a:gd name="adj" fmla="val 6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7068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练习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015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两平行板 A、B 面积为 S，间距 d 远小于板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的线度，面密度 +σ、+2σ。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731770"/>
              <a:ext cx="3825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① 两板间的场强大小；② 两板间的相互作用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力。</a:t>
              </a:r>
            </a:p>
          </p:txBody>
        </p:sp>
      </p:grpSp>
      <p:grpSp>
        <p:nvGrpSpPr>
          <p:cNvPr id="33" name="c1-graph-2"/>
          <p:cNvGrpSpPr/>
          <p:nvPr/>
        </p:nvGrpSpPr>
        <p:grpSpPr>
          <a:xfrm>
            <a:off x="1690709" y="3678555"/>
            <a:ext cx="2487744" cy="1824514"/>
            <a:chOff x="1690709" y="3678555"/>
            <a:chExt cx="2487744" cy="1824514"/>
          </a:xfrm>
        </p:grpSpPr>
        <p:sp>
          <p:nvSpPr>
            <p:cNvPr id="14" name="Freeform 14"/>
            <p:cNvSpPr/>
            <p:nvPr/>
          </p:nvSpPr>
          <p:spPr>
            <a:xfrm>
              <a:off x="1962150" y="3899535"/>
              <a:ext cx="9525" cy="1257300"/>
            </a:xfrm>
            <a:custGeom>
              <a:avLst/>
              <a:gdLst/>
              <a:ahLst/>
              <a:cxnLst/>
              <a:rect l="l" t="t" r="r" b="b"/>
              <a:pathLst>
                <a:path w="9525" h="1257300">
                  <a:moveTo>
                    <a:pt x="0" y="0"/>
                  </a:moveTo>
                  <a:lnTo>
                    <a:pt x="0" y="1257300"/>
                  </a:lnTo>
                </a:path>
              </a:pathLst>
            </a:custGeom>
            <a:noFill/>
            <a:ln w="47625">
              <a:solidFill>
                <a:srgbClr val="B42318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866198" y="3899535"/>
              <a:ext cx="9525" cy="1257300"/>
            </a:xfrm>
            <a:custGeom>
              <a:avLst/>
              <a:gdLst/>
              <a:ahLst/>
              <a:cxnLst/>
              <a:rect l="l" t="t" r="r" b="b"/>
              <a:pathLst>
                <a:path w="9525" h="1257300">
                  <a:moveTo>
                    <a:pt x="0" y="0"/>
                  </a:moveTo>
                  <a:lnTo>
                    <a:pt x="0" y="1257300"/>
                  </a:lnTo>
                </a:path>
              </a:pathLst>
            </a:custGeom>
            <a:noFill/>
            <a:ln w="66675">
              <a:solidFill>
                <a:srgbClr val="B42318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218372" y="4299585"/>
              <a:ext cx="676275" cy="9525"/>
            </a:xfrm>
            <a:custGeom>
              <a:avLst/>
              <a:gdLst/>
              <a:ahLst/>
              <a:cxnLst/>
              <a:rect l="l" t="t" r="r" b="b"/>
              <a:pathLst>
                <a:path w="676275" h="9525">
                  <a:moveTo>
                    <a:pt x="0" y="0"/>
                  </a:moveTo>
                  <a:lnTo>
                    <a:pt x="676275" y="0"/>
                  </a:lnTo>
                </a:path>
              </a:pathLst>
            </a:custGeom>
            <a:noFill/>
            <a:ln w="20955">
              <a:solidFill>
                <a:srgbClr val="F26B3A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2894648" y="425196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2361248" y="4718685"/>
              <a:ext cx="1247775" cy="9525"/>
            </a:xfrm>
            <a:custGeom>
              <a:avLst/>
              <a:gdLst/>
              <a:ahLst/>
              <a:cxnLst/>
              <a:rect l="l" t="t" r="r" b="b"/>
              <a:pathLst>
                <a:path w="1247775" h="9525">
                  <a:moveTo>
                    <a:pt x="1247775" y="0"/>
                  </a:moveTo>
                  <a:lnTo>
                    <a:pt x="0" y="0"/>
                  </a:lnTo>
                </a:path>
              </a:pathLst>
            </a:custGeom>
            <a:noFill/>
            <a:ln w="24765">
              <a:solidFill>
                <a:srgbClr val="2F4B9A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2265998" y="467106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952625" y="387096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952625" y="516636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3856672" y="387096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3856672" y="516636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2189798" y="429006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2999422" y="429006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618548" y="470916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2237422" y="470916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690709" y="3678555"/>
              <a:ext cx="5428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A（+σ）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553942" y="3678555"/>
              <a:ext cx="6245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B（+2σ）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241614" y="4033838"/>
              <a:ext cx="8973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EA = σ/(2ε₀)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928299" y="4795838"/>
              <a:ext cx="6574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l-GR" sz="105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EB = σ/ε₀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866520" y="528304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</p:grpSp>
      <p:grpSp>
        <p:nvGrpSpPr>
          <p:cNvPr id="47" name="c2-steps-1"/>
          <p:cNvGrpSpPr/>
          <p:nvPr/>
        </p:nvGrpSpPr>
        <p:grpSpPr>
          <a:xfrm>
            <a:off x="5598795" y="1533525"/>
            <a:ext cx="6269040" cy="2112930"/>
            <a:chOff x="5598795" y="1533525"/>
            <a:chExt cx="6269040" cy="2112930"/>
          </a:xfrm>
        </p:grpSpPr>
        <p:sp>
          <p:nvSpPr>
            <p:cNvPr id="34" name="Rectangle 34"/>
            <p:cNvSpPr/>
            <p:nvPr/>
          </p:nvSpPr>
          <p:spPr>
            <a:xfrm>
              <a:off x="5732145" y="1676400"/>
              <a:ext cx="19050" cy="15363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559879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69241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5598795" y="241935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692419" y="2493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5598795" y="306990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692419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010275" y="156781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当成无限大平板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011418" y="1861661"/>
              <a:ext cx="487349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远小于板的线度，每块板在板间产生匀强场：EA = σ/(2ε₀)，EB =</a:t>
              </a:r>
              <a:br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2σ/(2ε₀) = σ/ε₀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010275" y="245364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板间合场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011418" y="2746534"/>
              <a:ext cx="56251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两个场都背离各自的板，方向相反：E = EB − EA = σ/(2ε₀)，由 B 指向 A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010275" y="3104198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求力只用对方的场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011418" y="3397091"/>
              <a:ext cx="58564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板电量 qB = 2σS，处在 A 板的场中：f = EA·qB = σ/(2ε₀)·2σS = σ²S/ε₀</a:t>
              </a:r>
            </a:p>
          </p:txBody>
        </p:sp>
      </p:grpSp>
      <p:grpSp>
        <p:nvGrpSpPr>
          <p:cNvPr id="53" name="c2-card-2"/>
          <p:cNvGrpSpPr/>
          <p:nvPr/>
        </p:nvGrpSpPr>
        <p:grpSpPr>
          <a:xfrm>
            <a:off x="5598795" y="3825240"/>
            <a:ext cx="6059805" cy="1731645"/>
            <a:chOff x="5598795" y="3825240"/>
            <a:chExt cx="6059805" cy="1731645"/>
          </a:xfrm>
        </p:grpSpPr>
        <p:sp>
          <p:nvSpPr>
            <p:cNvPr id="48" name="Rectangle 48"/>
            <p:cNvSpPr/>
            <p:nvPr/>
          </p:nvSpPr>
          <p:spPr>
            <a:xfrm>
              <a:off x="5598795" y="3825240"/>
              <a:ext cx="6059805" cy="1731645"/>
            </a:xfrm>
            <a:prstGeom prst="roundRect">
              <a:avLst>
                <a:gd name="adj" fmla="val 7701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5808345" y="4034790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903455" y="407050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800725" y="4411980"/>
              <a:ext cx="53968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① E = σ/(2ε₀)；② f = σ²S/ε₀，两板同号相斥，A 受 B 的力大小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相同。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801868" y="5029676"/>
              <a:ext cx="37189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更正：原课件末式写成 σ²S/ε，真空中应为 ε₀。</a:t>
              </a:r>
            </a:p>
          </p:txBody>
        </p:sp>
      </p:grpSp>
      <p:grpSp>
        <p:nvGrpSpPr>
          <p:cNvPr id="60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4" name="Rectangle 54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040130" y="5991225"/>
              <a:ext cx="78032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变式：把 +2σ 换成 −2σ，板间合场变成 3σ/(2ε₀)，两板相吸，力的大小仍是 σ²S/ε₀。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第4章 静电场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029505" cy="909257"/>
            <a:chOff x="520446" y="342900"/>
            <a:chExt cx="802950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7455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4121" y="407194"/>
              <a:ext cx="20340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静电场 · 电场 电场强度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02950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练习 半圆环圆心的场：竖直分量抵消，水平分量加倍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977765" cy="1511618"/>
            <a:chOff x="533400" y="1524000"/>
            <a:chExt cx="4977765" cy="151161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511618"/>
            </a:xfrm>
            <a:prstGeom prst="roundRect">
              <a:avLst>
                <a:gd name="adj" fmla="val 882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4491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5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练习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422281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半径 R 的半圆环均匀带电，线密度 λ（λ &gt; 0），开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口朝右。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632710"/>
              <a:ext cx="43256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圆心 O 的场强；再看只有上半个四分之一圆环时。</a:t>
              </a:r>
            </a:p>
          </p:txBody>
        </p:sp>
      </p:grpSp>
      <p:grpSp>
        <p:nvGrpSpPr>
          <p:cNvPr id="37" name="c1-graph-2"/>
          <p:cNvGrpSpPr/>
          <p:nvPr/>
        </p:nvGrpSpPr>
        <p:grpSpPr>
          <a:xfrm>
            <a:off x="722948" y="3368040"/>
            <a:ext cx="4678422" cy="1765935"/>
            <a:chOff x="722948" y="3368040"/>
            <a:chExt cx="4678422" cy="1765935"/>
          </a:xfrm>
        </p:grpSpPr>
        <p:sp>
          <p:nvSpPr>
            <p:cNvPr id="14" name="Freeform 14"/>
            <p:cNvSpPr/>
            <p:nvPr/>
          </p:nvSpPr>
          <p:spPr>
            <a:xfrm>
              <a:off x="751522" y="4251008"/>
              <a:ext cx="4445318" cy="9525"/>
            </a:xfrm>
            <a:custGeom>
              <a:avLst/>
              <a:gdLst/>
              <a:ahLst/>
              <a:cxnLst/>
              <a:rect l="l" t="t" r="r" b="b"/>
              <a:pathLst>
                <a:path w="4445318" h="9525">
                  <a:moveTo>
                    <a:pt x="0" y="0"/>
                  </a:moveTo>
                  <a:lnTo>
                    <a:pt x="4445318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5196840" y="420338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3519488" y="3396615"/>
              <a:ext cx="9525" cy="1708785"/>
            </a:xfrm>
            <a:custGeom>
              <a:avLst/>
              <a:gdLst/>
              <a:ahLst/>
              <a:cxnLst/>
              <a:rect l="l" t="t" r="r" b="b"/>
              <a:pathLst>
                <a:path w="9525" h="1708785">
                  <a:moveTo>
                    <a:pt x="0" y="0"/>
                  </a:moveTo>
                  <a:lnTo>
                    <a:pt x="0" y="1708785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7" name="Freeform 17"/>
            <p:cNvSpPr/>
            <p:nvPr/>
          </p:nvSpPr>
          <p:spPr>
            <a:xfrm>
              <a:off x="2534602" y="3419475"/>
              <a:ext cx="965835" cy="1663065"/>
            </a:xfrm>
            <a:custGeom>
              <a:avLst/>
              <a:gdLst/>
              <a:ahLst/>
              <a:cxnLst/>
              <a:rect l="l" t="t" r="r" b="b"/>
              <a:pathLst>
                <a:path w="965835" h="1663065">
                  <a:moveTo>
                    <a:pt x="965835" y="0"/>
                  </a:moveTo>
                  <a:lnTo>
                    <a:pt x="905827" y="1905"/>
                  </a:lnTo>
                  <a:lnTo>
                    <a:pt x="830580" y="10478"/>
                  </a:lnTo>
                  <a:lnTo>
                    <a:pt x="756285" y="22860"/>
                  </a:lnTo>
                  <a:lnTo>
                    <a:pt x="681990" y="40958"/>
                  </a:lnTo>
                  <a:lnTo>
                    <a:pt x="606742" y="61912"/>
                  </a:lnTo>
                  <a:lnTo>
                    <a:pt x="537210" y="91440"/>
                  </a:lnTo>
                  <a:lnTo>
                    <a:pt x="472440" y="121920"/>
                  </a:lnTo>
                  <a:lnTo>
                    <a:pt x="407670" y="158115"/>
                  </a:lnTo>
                  <a:lnTo>
                    <a:pt x="347662" y="199072"/>
                  </a:lnTo>
                  <a:lnTo>
                    <a:pt x="288607" y="242888"/>
                  </a:lnTo>
                  <a:lnTo>
                    <a:pt x="239077" y="290512"/>
                  </a:lnTo>
                  <a:lnTo>
                    <a:pt x="188595" y="342900"/>
                  </a:lnTo>
                  <a:lnTo>
                    <a:pt x="143827" y="397192"/>
                  </a:lnTo>
                  <a:lnTo>
                    <a:pt x="109538" y="453390"/>
                  </a:lnTo>
                  <a:lnTo>
                    <a:pt x="74295" y="513397"/>
                  </a:lnTo>
                  <a:lnTo>
                    <a:pt x="49530" y="573405"/>
                  </a:lnTo>
                  <a:lnTo>
                    <a:pt x="29527" y="638175"/>
                  </a:lnTo>
                  <a:lnTo>
                    <a:pt x="14288" y="701040"/>
                  </a:lnTo>
                  <a:lnTo>
                    <a:pt x="4762" y="766762"/>
                  </a:lnTo>
                  <a:lnTo>
                    <a:pt x="0" y="831533"/>
                  </a:lnTo>
                  <a:lnTo>
                    <a:pt x="4762" y="896303"/>
                  </a:lnTo>
                  <a:lnTo>
                    <a:pt x="14288" y="962978"/>
                  </a:lnTo>
                  <a:lnTo>
                    <a:pt x="29527" y="1024890"/>
                  </a:lnTo>
                  <a:lnTo>
                    <a:pt x="49530" y="1089660"/>
                  </a:lnTo>
                  <a:lnTo>
                    <a:pt x="74295" y="1149668"/>
                  </a:lnTo>
                  <a:lnTo>
                    <a:pt x="109538" y="1210628"/>
                  </a:lnTo>
                  <a:lnTo>
                    <a:pt x="143827" y="1266825"/>
                  </a:lnTo>
                  <a:lnTo>
                    <a:pt x="188595" y="1320165"/>
                  </a:lnTo>
                  <a:lnTo>
                    <a:pt x="239077" y="1372553"/>
                  </a:lnTo>
                  <a:lnTo>
                    <a:pt x="288607" y="1420178"/>
                  </a:lnTo>
                  <a:lnTo>
                    <a:pt x="347662" y="1463993"/>
                  </a:lnTo>
                  <a:lnTo>
                    <a:pt x="407670" y="1505903"/>
                  </a:lnTo>
                  <a:lnTo>
                    <a:pt x="472440" y="1541145"/>
                  </a:lnTo>
                  <a:lnTo>
                    <a:pt x="537210" y="1572578"/>
                  </a:lnTo>
                  <a:lnTo>
                    <a:pt x="606742" y="1601153"/>
                  </a:lnTo>
                  <a:lnTo>
                    <a:pt x="681990" y="1622107"/>
                  </a:lnTo>
                  <a:lnTo>
                    <a:pt x="756285" y="1641157"/>
                  </a:lnTo>
                  <a:lnTo>
                    <a:pt x="830580" y="1653540"/>
                  </a:lnTo>
                  <a:lnTo>
                    <a:pt x="905827" y="1662112"/>
                  </a:lnTo>
                  <a:lnTo>
                    <a:pt x="965835" y="1663065"/>
                  </a:lnTo>
                </a:path>
              </a:pathLst>
            </a:custGeom>
            <a:noFill/>
            <a:ln w="33338">
              <a:solidFill>
                <a:srgbClr val="2F4B9A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770822" y="3809048"/>
              <a:ext cx="707708" cy="418148"/>
            </a:xfrm>
            <a:custGeom>
              <a:avLst/>
              <a:gdLst/>
              <a:ahLst/>
              <a:cxnLst/>
              <a:rect l="l" t="t" r="r" b="b"/>
              <a:pathLst>
                <a:path w="707708" h="418148">
                  <a:moveTo>
                    <a:pt x="707708" y="418148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3560445" y="4275772"/>
              <a:ext cx="627697" cy="370523"/>
            </a:xfrm>
            <a:custGeom>
              <a:avLst/>
              <a:gdLst/>
              <a:ahLst/>
              <a:cxnLst/>
              <a:rect l="l" t="t" r="r" b="b"/>
              <a:pathLst>
                <a:path w="627697" h="370523">
                  <a:moveTo>
                    <a:pt x="0" y="0"/>
                  </a:moveTo>
                  <a:lnTo>
                    <a:pt x="627697" y="370523"/>
                  </a:lnTo>
                </a:path>
              </a:pathLst>
            </a:custGeom>
            <a:noFill/>
            <a:ln w="22860">
              <a:solidFill>
                <a:srgbClr val="B42318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4163378" y="4605338"/>
              <a:ext cx="106680" cy="89535"/>
            </a:xfrm>
            <a:custGeom>
              <a:avLst/>
              <a:gdLst/>
              <a:ahLst/>
              <a:cxnLst/>
              <a:rect l="l" t="t" r="r" b="b"/>
              <a:pathLst>
                <a:path w="106680" h="89535">
                  <a:moveTo>
                    <a:pt x="106680" y="89535"/>
                  </a:moveTo>
                  <a:lnTo>
                    <a:pt x="0" y="81915"/>
                  </a:lnTo>
                  <a:lnTo>
                    <a:pt x="48577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3509962" y="340995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3509962" y="507396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722948" y="424148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3509962" y="336804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3509962" y="511492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481388" y="4212908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2656522" y="3717608"/>
              <a:ext cx="114300" cy="11430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4276725" y="469487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321876" y="419481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058478" y="393954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088315" y="3968591"/>
              <a:ext cx="7367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632454" y="4325302"/>
              <a:ext cx="1226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077137" y="405479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θ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926609" y="3482816"/>
              <a:ext cx="6424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l-GR" sz="98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dq = λR dθ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396048" y="4632960"/>
              <a:ext cx="1785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dE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873548" y="4853464"/>
              <a:ext cx="3067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λ &gt; 0</a:t>
              </a:r>
            </a:p>
          </p:txBody>
        </p:sp>
      </p:grpSp>
      <p:grpSp>
        <p:nvGrpSpPr>
          <p:cNvPr id="51" name="c2-steps-1"/>
          <p:cNvGrpSpPr/>
          <p:nvPr/>
        </p:nvGrpSpPr>
        <p:grpSpPr>
          <a:xfrm>
            <a:off x="5815965" y="1533525"/>
            <a:ext cx="5623687" cy="1900714"/>
            <a:chOff x="5815965" y="1533525"/>
            <a:chExt cx="5623687" cy="1900714"/>
          </a:xfrm>
        </p:grpSpPr>
        <p:sp>
          <p:nvSpPr>
            <p:cNvPr id="38" name="Rectangle 38"/>
            <p:cNvSpPr/>
            <p:nvPr/>
          </p:nvSpPr>
          <p:spPr>
            <a:xfrm>
              <a:off x="5949315" y="1676400"/>
              <a:ext cx="19050" cy="13811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581596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90958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5815965" y="232791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909589" y="240172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5815965" y="291465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909589" y="29884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228207" y="1564957"/>
              <a:ext cx="4701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 dE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229350" y="1833086"/>
              <a:ext cx="5210302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dq = λdl = λR dθ，dE = λR dθ/(4πε₀R²) = λdθ/(4πε₀R)，方向由电荷元指向 O 再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延长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228207" y="235934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对称性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229350" y="2627471"/>
              <a:ext cx="50002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上下对称的两段竖直分量抵消，只剩 dEx = dE cos θ（θ 从 x 轴负向量起）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228207" y="294608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积分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229350" y="3214211"/>
              <a:ext cx="51623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上半段 θ 从 0 积到 π/2，再乘 2：E = 2·λ/(4πε₀R)·∫cos θ dθ = λ/(2πε₀R)</a:t>
              </a:r>
            </a:p>
          </p:txBody>
        </p:sp>
      </p:grpSp>
      <p:grpSp>
        <p:nvGrpSpPr>
          <p:cNvPr id="57" name="c2-card-2"/>
          <p:cNvGrpSpPr/>
          <p:nvPr/>
        </p:nvGrpSpPr>
        <p:grpSpPr>
          <a:xfrm>
            <a:off x="5815965" y="3602355"/>
            <a:ext cx="5842635" cy="1688782"/>
            <a:chOff x="5815965" y="3602355"/>
            <a:chExt cx="5842635" cy="1688782"/>
          </a:xfrm>
        </p:grpSpPr>
        <p:sp>
          <p:nvSpPr>
            <p:cNvPr id="52" name="Rectangle 52"/>
            <p:cNvSpPr/>
            <p:nvPr/>
          </p:nvSpPr>
          <p:spPr>
            <a:xfrm>
              <a:off x="5815965" y="3602355"/>
              <a:ext cx="5842635" cy="1688782"/>
            </a:xfrm>
            <a:prstGeom prst="roundRect">
              <a:avLst>
                <a:gd name="adj" fmla="val 7896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008370" y="3794760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103811" y="382905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001512" y="4151948"/>
              <a:ext cx="512292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 = λ/(2πε₀R)，沿 x 轴正向（背离半圆环）。只有上半个四分之一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圆环时：Ex = λ/(4πε₀R)，Ey = −λ/(4πε₀R)。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002655" y="4707731"/>
              <a:ext cx="500405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更正：原课件四分之一圆环的结果写成 λ/(4πε₀a)，本题的几何量只有 R，应为</a:t>
              </a:r>
              <a:br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λ/(4πε₀R)。</a:t>
              </a:r>
            </a:p>
          </p:txBody>
        </p:sp>
      </p:grpSp>
      <p:grpSp>
        <p:nvGrpSpPr>
          <p:cNvPr id="64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58" name="Rectangle 58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738188" y="5897880"/>
              <a:ext cx="200026" cy="200025"/>
              <a:chOff x="738188" y="5897880"/>
              <a:chExt cx="200026" cy="200025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38188" y="589788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777926" y="594233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12642" y="605345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1040892" y="5779770"/>
              <a:ext cx="981208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变式：上半段改带 −λ、下半段仍带 +λ 时，两半的 x 分量抵消、y 分量相加，E 仍是 λ/(2πε₀R)，方向转了 90°，指向带负电的一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半。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第4章 静电场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489451" cy="3351847"/>
            <a:chOff x="667512" y="1835468"/>
            <a:chExt cx="6489451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489451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静电场中的电介质 电位移矢量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1144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对应原课件 4.3，绝缘体放进电场后内部发生了什么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偶极子模型与两类分子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取向极化与位移极化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2062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电极化强度 P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2062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电位移矢量 D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第4章 静电场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7087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3615" y="407194"/>
              <a:ext cx="30894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静电场 · 静电场中的电介质 电位移矢量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电介质分子是等效偶极子，外场让它们沿场排列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193982" cy="1386840"/>
            <a:chOff x="533400" y="1524000"/>
            <a:chExt cx="5193982" cy="138684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386840"/>
            </a:xfrm>
            <a:prstGeom prst="roundRect">
              <a:avLst>
                <a:gd name="adj" fmla="val 96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12014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1329690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18693" y="1737836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电介质与偶极子模型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045494"/>
              <a:ext cx="456463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电介质是由中性分子组成的绝缘物质。把分子的正、负电荷各看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成集中在一个「中心」，分子就等效成电偶极子，电矩 pe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ql。</a:t>
              </a:r>
            </a:p>
          </p:txBody>
        </p:sp>
      </p:grpSp>
      <p:grpSp>
        <p:nvGrpSpPr>
          <p:cNvPr id="28" name="c1-table-2"/>
          <p:cNvGrpSpPr/>
          <p:nvPr/>
        </p:nvGrpSpPr>
        <p:grpSpPr>
          <a:xfrm>
            <a:off x="533400" y="3075622"/>
            <a:ext cx="5193982" cy="1143953"/>
            <a:chOff x="533400" y="3075622"/>
            <a:chExt cx="5193982" cy="1143953"/>
          </a:xfrm>
        </p:grpSpPr>
        <p:sp>
          <p:nvSpPr>
            <p:cNvPr id="13" name="Rectangle 13"/>
            <p:cNvSpPr/>
            <p:nvPr/>
          </p:nvSpPr>
          <p:spPr>
            <a:xfrm>
              <a:off x="533400" y="3075622"/>
              <a:ext cx="5193982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58215" y="319278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530411" y="319278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无外场时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97730" y="319278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28078" y="357473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无极分子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771078" y="3574732"/>
              <a:ext cx="16786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正负电荷中心重合，pe = 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056126" y="3574732"/>
              <a:ext cx="11696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He、H₂、N₂、CH₄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383381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3838575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8078" y="395573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有极分子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771078" y="3955732"/>
              <a:ext cx="18199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正负电荷中心不重合，pe ≠ 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056126" y="3955732"/>
              <a:ext cx="10214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HCl、H₂O、NH₃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075622"/>
              <a:ext cx="5193982" cy="11439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1671638" y="3075622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3956685" y="3075622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1" name="c1-image-3"/>
          <p:cNvGrpSpPr/>
          <p:nvPr/>
        </p:nvGrpSpPr>
        <p:grpSpPr>
          <a:xfrm>
            <a:off x="1739722" y="4384358"/>
            <a:ext cx="2780386" cy="1336071"/>
            <a:chOff x="1739722" y="4384358"/>
            <a:chExt cx="2780386" cy="1336071"/>
          </a:xfrm>
        </p:grpSpPr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rcRect l="5566" t="0" r="5565" b="0"/>
            <a:stretch>
              <a:fillRect/>
            </a:stretch>
          </p:blipFill>
          <p:spPr>
            <a:xfrm>
              <a:off x="2428875" y="4384358"/>
              <a:ext cx="1403032" cy="1052512"/>
            </a:xfrm>
            <a:prstGeom prst="roundRect">
              <a:avLst>
                <a:gd name="adj" fmla="val 12669"/>
              </a:avLst>
            </a:prstGeom>
          </p:spPr>
        </p:pic>
        <p:sp>
          <p:nvSpPr>
            <p:cNvPr id="30" name="TextBox 30"/>
            <p:cNvSpPr txBox="1"/>
            <p:nvPr/>
          </p:nvSpPr>
          <p:spPr>
            <a:xfrm>
              <a:off x="1739722" y="552973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梳子吸纸屑：纸屑极化，近端出现异号束缚电荷</a:t>
              </a:r>
            </a:p>
          </p:txBody>
        </p:sp>
      </p:grpSp>
      <p:grpSp>
        <p:nvGrpSpPr>
          <p:cNvPr id="52" name="c2-compare-1"/>
          <p:cNvGrpSpPr/>
          <p:nvPr/>
        </p:nvGrpSpPr>
        <p:grpSpPr>
          <a:xfrm>
            <a:off x="6032182" y="1524000"/>
            <a:ext cx="5626418" cy="2182178"/>
            <a:chOff x="6032182" y="1524000"/>
            <a:chExt cx="5626418" cy="2182178"/>
          </a:xfrm>
        </p:grpSpPr>
        <p:sp>
          <p:nvSpPr>
            <p:cNvPr id="32" name="Rectangle 32"/>
            <p:cNvSpPr/>
            <p:nvPr/>
          </p:nvSpPr>
          <p:spPr>
            <a:xfrm>
              <a:off x="6032182" y="1524000"/>
              <a:ext cx="2604135" cy="2182178"/>
            </a:xfrm>
            <a:prstGeom prst="roundRect">
              <a:avLst>
                <a:gd name="adj" fmla="val 61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041708" y="1657350"/>
              <a:ext cx="47625" cy="1915478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244780" y="172640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有极分子：取向极化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260782" y="2079308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416230" y="2027396"/>
              <a:ext cx="18011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无外场时各分子电矩取向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杂乱，宏观电矩为零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260782" y="260794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416230" y="2555081"/>
              <a:ext cx="191490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加外场 E₀ 后力矩使电矩转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向外场方向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260782" y="313563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416230" y="3082766"/>
              <a:ext cx="18011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热运动使排列不能完全整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齐，温度越高极化越弱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9054465" y="1524000"/>
              <a:ext cx="2604135" cy="2182178"/>
            </a:xfrm>
            <a:prstGeom prst="roundRect">
              <a:avLst>
                <a:gd name="adj" fmla="val 61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9063990" y="1657350"/>
              <a:ext cx="47625" cy="1915478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267063" y="172640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无极分子：位移极化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9283065" y="2079308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438513" y="2027396"/>
              <a:ext cx="18011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无外场时正负电荷中心重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9283065" y="260794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438513" y="2555081"/>
              <a:ext cx="18011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加外场后正电荷顺场、负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电荷逆场挪动一点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9283065" y="313563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438513" y="3082766"/>
              <a:ext cx="18011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产生沿外场方向的感生电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矩，几乎不受温度影响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8682990" y="2452688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766223" y="2559368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59" name="c2-card-2"/>
          <p:cNvGrpSpPr/>
          <p:nvPr/>
        </p:nvGrpSpPr>
        <p:grpSpPr>
          <a:xfrm>
            <a:off x="6032182" y="3870960"/>
            <a:ext cx="5626418" cy="1829752"/>
            <a:chOff x="6032182" y="3870960"/>
            <a:chExt cx="5626418" cy="1829752"/>
          </a:xfrm>
        </p:grpSpPr>
        <p:sp>
          <p:nvSpPr>
            <p:cNvPr id="53" name="Rectangle 53"/>
            <p:cNvSpPr/>
            <p:nvPr/>
          </p:nvSpPr>
          <p:spPr>
            <a:xfrm>
              <a:off x="6032182" y="3870960"/>
              <a:ext cx="5626418" cy="1829752"/>
            </a:xfrm>
            <a:prstGeom prst="roundRect">
              <a:avLst>
                <a:gd name="adj" fmla="val 728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041708" y="4004310"/>
              <a:ext cx="47625" cy="156305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251258" y="405193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342977" y="408479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244780" y="4391501"/>
              <a:ext cx="50116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 NH₄ 列为无极分子。NH₄⁺ 是铵根离子，不是中性分子；同样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呈正四面体结构的无极分子是甲烷 CH₄。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245924" y="4915852"/>
              <a:ext cx="42511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有极分子同样会发生位移极化，只是比取向极化弱得多，通常忽略。</a:t>
              </a:r>
            </a:p>
          </p:txBody>
        </p:sp>
      </p:grpSp>
      <p:grpSp>
        <p:nvGrpSpPr>
          <p:cNvPr id="65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0" name="Rectangle 60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041273" y="6039326"/>
              <a:ext cx="65608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两种机制的结局相同：介质内部的分子电矩沿外场有序排列，介质两端出现束缚电荷。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第4章 静电场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7087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3615" y="407194"/>
              <a:ext cx="30894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静电场 · 静电场中的电介质 电位移矢量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束缚电荷的场与外场反向，介质内的场被削弱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8" name="c1-graph-1"/>
          <p:cNvGrpSpPr/>
          <p:nvPr/>
        </p:nvGrpSpPr>
        <p:grpSpPr>
          <a:xfrm>
            <a:off x="731520" y="2100262"/>
            <a:ext cx="4797742" cy="3520440"/>
            <a:chOff x="731520" y="2100262"/>
            <a:chExt cx="4797742" cy="3520440"/>
          </a:xfrm>
        </p:grpSpPr>
        <p:sp>
          <p:nvSpPr>
            <p:cNvPr id="7" name="Freeform 7"/>
            <p:cNvSpPr/>
            <p:nvPr/>
          </p:nvSpPr>
          <p:spPr>
            <a:xfrm>
              <a:off x="2006918" y="2109788"/>
              <a:ext cx="2246948" cy="9525"/>
            </a:xfrm>
            <a:custGeom>
              <a:avLst/>
              <a:gdLst/>
              <a:ahLst/>
              <a:cxnLst/>
              <a:rect l="l" t="t" r="r" b="b"/>
              <a:pathLst>
                <a:path w="2246948" h="9525">
                  <a:moveTo>
                    <a:pt x="0" y="0"/>
                  </a:moveTo>
                  <a:lnTo>
                    <a:pt x="2246948" y="0"/>
                  </a:lnTo>
                </a:path>
              </a:pathLst>
            </a:custGeom>
            <a:noFill/>
            <a:ln w="20955">
              <a:solidFill>
                <a:srgbClr val="2F4B9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006918" y="5123498"/>
              <a:ext cx="2246948" cy="9525"/>
            </a:xfrm>
            <a:custGeom>
              <a:avLst/>
              <a:gdLst/>
              <a:ahLst/>
              <a:cxnLst/>
              <a:rect l="l" t="t" r="r" b="b"/>
              <a:pathLst>
                <a:path w="2246948" h="9525">
                  <a:moveTo>
                    <a:pt x="0" y="0"/>
                  </a:moveTo>
                  <a:lnTo>
                    <a:pt x="2246948" y="0"/>
                  </a:lnTo>
                </a:path>
              </a:pathLst>
            </a:custGeom>
            <a:noFill/>
            <a:ln w="20955">
              <a:solidFill>
                <a:srgbClr val="2F4B9A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987868" y="2128838"/>
              <a:ext cx="9525" cy="2975610"/>
            </a:xfrm>
            <a:custGeom>
              <a:avLst/>
              <a:gdLst/>
              <a:ahLst/>
              <a:cxnLst/>
              <a:rect l="l" t="t" r="r" b="b"/>
              <a:pathLst>
                <a:path w="9525" h="2975610">
                  <a:moveTo>
                    <a:pt x="0" y="0"/>
                  </a:moveTo>
                  <a:lnTo>
                    <a:pt x="0" y="2975610"/>
                  </a:lnTo>
                </a:path>
              </a:pathLst>
            </a:custGeom>
            <a:noFill/>
            <a:ln w="20955">
              <a:solidFill>
                <a:srgbClr val="2F4B9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272915" y="2128838"/>
              <a:ext cx="9525" cy="2975610"/>
            </a:xfrm>
            <a:custGeom>
              <a:avLst/>
              <a:gdLst/>
              <a:ahLst/>
              <a:cxnLst/>
              <a:rect l="l" t="t" r="r" b="b"/>
              <a:pathLst>
                <a:path w="9525" h="2975610">
                  <a:moveTo>
                    <a:pt x="0" y="0"/>
                  </a:moveTo>
                  <a:lnTo>
                    <a:pt x="0" y="2975610"/>
                  </a:lnTo>
                </a:path>
              </a:pathLst>
            </a:custGeom>
            <a:noFill/>
            <a:ln w="20955">
              <a:solidFill>
                <a:srgbClr val="2F4B9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760095" y="2611755"/>
              <a:ext cx="4645342" cy="9525"/>
            </a:xfrm>
            <a:custGeom>
              <a:avLst/>
              <a:gdLst/>
              <a:ahLst/>
              <a:cxnLst/>
              <a:rect l="l" t="t" r="r" b="b"/>
              <a:pathLst>
                <a:path w="4645342" h="9525">
                  <a:moveTo>
                    <a:pt x="0" y="0"/>
                  </a:moveTo>
                  <a:lnTo>
                    <a:pt x="4645342" y="0"/>
                  </a:lnTo>
                </a:path>
              </a:pathLst>
            </a:custGeom>
            <a:noFill/>
            <a:ln w="19050">
              <a:solidFill>
                <a:srgbClr val="F26B3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5405438" y="256413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760095" y="4621530"/>
              <a:ext cx="4645342" cy="9525"/>
            </a:xfrm>
            <a:custGeom>
              <a:avLst/>
              <a:gdLst/>
              <a:ahLst/>
              <a:cxnLst/>
              <a:rect l="l" t="t" r="r" b="b"/>
              <a:pathLst>
                <a:path w="4645342" h="9525">
                  <a:moveTo>
                    <a:pt x="0" y="0"/>
                  </a:moveTo>
                  <a:lnTo>
                    <a:pt x="4645342" y="0"/>
                  </a:lnTo>
                </a:path>
              </a:pathLst>
            </a:custGeom>
            <a:noFill/>
            <a:ln w="19050">
              <a:solidFill>
                <a:srgbClr val="F26B3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5405438" y="457390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2621280" y="3616642"/>
              <a:ext cx="1113473" cy="9525"/>
            </a:xfrm>
            <a:custGeom>
              <a:avLst/>
              <a:gdLst/>
              <a:ahLst/>
              <a:cxnLst/>
              <a:rect l="l" t="t" r="r" b="b"/>
              <a:pathLst>
                <a:path w="1113473" h="9525">
                  <a:moveTo>
                    <a:pt x="1113473" y="0"/>
                  </a:moveTo>
                  <a:lnTo>
                    <a:pt x="0" y="0"/>
                  </a:lnTo>
                </a:path>
              </a:pathLst>
            </a:custGeom>
            <a:noFill/>
            <a:ln w="24765">
              <a:solidFill>
                <a:srgbClr val="B42318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526030" y="356901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1978342" y="210026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1978342" y="511397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4263390" y="210026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4263390" y="511397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731520" y="260223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5510212" y="260223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731520" y="461200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5510212" y="461200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3744278" y="360711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2497455" y="360711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54797" y="2197894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E₀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032199" y="3201829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E′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661908" y="303657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−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661908" y="3538538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−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661908" y="404050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−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467020" y="303657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467020" y="3538538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467020" y="404050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259262" y="5444490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90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−σ′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791132" y="5444490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90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+σ′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943416" y="5444490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电介质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formula88"/>
              <p:cNvSpPr txBox="1">
                <a:spLocks noGrp="1"/>
              </p:cNvSpPr>
              <p:nvPr/>
            </p:nvSpPr>
            <p:spPr>
              <a:xfrm>
                <a:off x="533400" y="5874068"/>
                <a:ext cx="5193982" cy="4886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s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′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ε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45" name="c2-card-1"/>
          <p:cNvGrpSpPr/>
          <p:nvPr/>
        </p:nvGrpSpPr>
        <p:grpSpPr>
          <a:xfrm>
            <a:off x="6032182" y="1524000"/>
            <a:ext cx="5626418" cy="1143952"/>
            <a:chOff x="6032182" y="1524000"/>
            <a:chExt cx="5626418" cy="1143952"/>
          </a:xfrm>
        </p:grpSpPr>
        <p:sp>
          <p:nvSpPr>
            <p:cNvPr id="40" name="Rectangle 40"/>
            <p:cNvSpPr/>
            <p:nvPr/>
          </p:nvSpPr>
          <p:spPr>
            <a:xfrm>
              <a:off x="6032182" y="1524000"/>
              <a:ext cx="5626418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041708" y="1657350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251258" y="1704975"/>
              <a:ext cx="1454468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13424" y="1737836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束缚电荷（极化电荷）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244780" y="2045494"/>
              <a:ext cx="48897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分子极化后介质端面上出现的电荷。它们束缚在分子内部，不能像导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体里的自由电荷那样离开介质移动。出现束缚电荷的现象叫电极化。</a:t>
              </a:r>
            </a:p>
          </p:txBody>
        </p:sp>
      </p:grpSp>
      <p:grpSp>
        <p:nvGrpSpPr>
          <p:cNvPr id="51" name="c2-card-2"/>
          <p:cNvGrpSpPr/>
          <p:nvPr/>
        </p:nvGrpSpPr>
        <p:grpSpPr>
          <a:xfrm>
            <a:off x="6032182" y="2832735"/>
            <a:ext cx="5626418" cy="1428750"/>
            <a:chOff x="6032182" y="2832735"/>
            <a:chExt cx="5626418" cy="1428750"/>
          </a:xfrm>
        </p:grpSpPr>
        <p:sp>
          <p:nvSpPr>
            <p:cNvPr id="46" name="Rectangle 46"/>
            <p:cNvSpPr/>
            <p:nvPr/>
          </p:nvSpPr>
          <p:spPr>
            <a:xfrm>
              <a:off x="6032182" y="2832735"/>
              <a:ext cx="5626418" cy="1428750"/>
            </a:xfrm>
            <a:prstGeom prst="roundRect">
              <a:avLst>
                <a:gd name="adj" fmla="val 9333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213158" y="3013710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293676" y="3046571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介质内的场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206680" y="3354229"/>
              <a:ext cx="50116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束缚电荷的场 E′ 与外场 E₀ 方向相反，合场 E = E₀ + E′（矢量和）比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E₀ 小。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206680" y="3881914"/>
              <a:ext cx="39030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均匀各向同性介质充满电场所在空间时：E = E₀/εr</a:t>
              </a:r>
            </a:p>
          </p:txBody>
        </p:sp>
      </p:grpSp>
      <p:grpSp>
        <p:nvGrpSpPr>
          <p:cNvPr id="57" name="c2-card-3"/>
          <p:cNvGrpSpPr/>
          <p:nvPr/>
        </p:nvGrpSpPr>
        <p:grpSpPr>
          <a:xfrm>
            <a:off x="6032182" y="4427220"/>
            <a:ext cx="5626418" cy="1386840"/>
            <a:chOff x="6032182" y="4427220"/>
            <a:chExt cx="5626418" cy="1386840"/>
          </a:xfrm>
        </p:grpSpPr>
        <p:sp>
          <p:nvSpPr>
            <p:cNvPr id="52" name="Rectangle 52"/>
            <p:cNvSpPr/>
            <p:nvPr/>
          </p:nvSpPr>
          <p:spPr>
            <a:xfrm>
              <a:off x="6032182" y="4427220"/>
              <a:ext cx="5626418" cy="1386840"/>
            </a:xfrm>
            <a:prstGeom prst="roundRect">
              <a:avLst>
                <a:gd name="adj" fmla="val 96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041708" y="4560570"/>
              <a:ext cx="47625" cy="112014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251258" y="4608195"/>
              <a:ext cx="1329690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317475" y="4641056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更正：注意适用条件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244780" y="4947761"/>
              <a:ext cx="497103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原课件写「介质中任一点的场强为原来的 1/εr」，没有给条件。它只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在均匀介质充满电场所在空间（或恰好充满两个等势面之间）时成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立；介质只填一部分时各处削弱程度不同，要用 D 的高斯定理分析。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第4章 静电场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71967" cy="909257"/>
            <a:chOff x="520446" y="342900"/>
            <a:chExt cx="687196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7087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3615" y="407194"/>
              <a:ext cx="30894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静电场 · 静电场中的电介质 电位移矢量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7196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电极化强度 P：单位体积内分子电矩的矢量和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92"/>
              <p:cNvSpPr txBox="1">
                <a:spLocks noGrp="1"/>
              </p:cNvSpPr>
              <p:nvPr/>
            </p:nvSpPr>
            <p:spPr>
              <a:xfrm>
                <a:off x="533400" y="1524000"/>
                <a:ext cx="5410200" cy="6686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⃗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grow m:val="off"/>
                              <m:subHide m:val="on"/>
                              <m:supHide m:val="on"/>
                              <m:ctrl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zh-CN" sz="19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CN" sz="19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p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rPr>
                                      <m:nor m:val="on"/>
                                    </m:rP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分子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m:rPr>
                              <m:sty m:val="p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Δ</m:t>
                          </m:r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13" name="c1-kv-2"/>
          <p:cNvGrpSpPr/>
          <p:nvPr/>
        </p:nvGrpSpPr>
        <p:grpSpPr>
          <a:xfrm>
            <a:off x="525780" y="2407920"/>
            <a:ext cx="5417820" cy="733425"/>
            <a:chOff x="525780" y="2407920"/>
            <a:chExt cx="5417820" cy="733425"/>
          </a:xfrm>
        </p:grpSpPr>
        <p:sp>
          <p:nvSpPr>
            <p:cNvPr id="8" name="TextBox 8"/>
            <p:cNvSpPr txBox="1"/>
            <p:nvPr/>
          </p:nvSpPr>
          <p:spPr>
            <a:xfrm>
              <a:off x="525780" y="240792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单位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66862" y="2407920"/>
              <a:ext cx="23309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C/m²，与电荷面密度相同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33400" y="272796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5780" y="28479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物理意义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66862" y="28479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介质被极化的程度和方向</a:t>
              </a:r>
            </a:p>
          </p:txBody>
        </p:sp>
      </p:grpSp>
      <p:grpSp>
        <p:nvGrpSpPr>
          <p:cNvPr id="20" name="c1-card-3"/>
          <p:cNvGrpSpPr/>
          <p:nvPr/>
        </p:nvGrpSpPr>
        <p:grpSpPr>
          <a:xfrm>
            <a:off x="533400" y="3272790"/>
            <a:ext cx="5410200" cy="1977390"/>
            <a:chOff x="533400" y="3272790"/>
            <a:chExt cx="5410200" cy="1977390"/>
          </a:xfrm>
        </p:grpSpPr>
        <p:sp>
          <p:nvSpPr>
            <p:cNvPr id="14" name="Rectangle 14"/>
            <p:cNvSpPr/>
            <p:nvPr/>
          </p:nvSpPr>
          <p:spPr>
            <a:xfrm>
              <a:off x="533400" y="3272790"/>
              <a:ext cx="5410200" cy="1977390"/>
            </a:xfrm>
            <a:prstGeom prst="roundRect">
              <a:avLst>
                <a:gd name="adj" fmla="val 674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406140"/>
              <a:ext cx="47625" cy="171069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81050" y="3482340"/>
              <a:ext cx="172878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29153" y="3518059"/>
              <a:ext cx="16316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平板介质里 P 就等于 σ′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3430" y="3859530"/>
              <a:ext cx="44919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取底面积 S、厚度 d 的介质柱，两端面束缚电荷 ±σ′S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相距 d，总电矩 σ′Sd，体积 Sd：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formula93"/>
                <p:cNvSpPr txBox="1">
                  <a:spLocks noGrp="1"/>
                </p:cNvSpPr>
                <p:nvPr/>
              </p:nvSpPr>
              <p:spPr>
                <a:xfrm>
                  <a:off x="781050" y="4455795"/>
                  <a:ext cx="4953000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Sd</m:t>
                            </m:r>
                          </m:num>
                          <m:den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Sd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σ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′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6" name="c2-card-1"/>
          <p:cNvGrpSpPr/>
          <p:nvPr/>
        </p:nvGrpSpPr>
        <p:grpSpPr>
          <a:xfrm>
            <a:off x="6248400" y="1524000"/>
            <a:ext cx="5410200" cy="1900238"/>
            <a:chOff x="6248400" y="1524000"/>
            <a:chExt cx="5410200" cy="1900238"/>
          </a:xfrm>
        </p:grpSpPr>
        <p:sp>
          <p:nvSpPr>
            <p:cNvPr id="21" name="Rectangle 21"/>
            <p:cNvSpPr/>
            <p:nvPr/>
          </p:nvSpPr>
          <p:spPr>
            <a:xfrm>
              <a:off x="6248400" y="1524000"/>
              <a:ext cx="5410200" cy="1900238"/>
            </a:xfrm>
            <a:prstGeom prst="roundRect">
              <a:avLst>
                <a:gd name="adj" fmla="val 7018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57950" y="1733550"/>
              <a:ext cx="1077278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21574" y="1769269"/>
              <a:ext cx="949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 与 E 的关系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formula94"/>
                <p:cNvSpPr txBox="1">
                  <a:spLocks noGrp="1"/>
                </p:cNvSpPr>
                <p:nvPr/>
              </p:nvSpPr>
              <p:spPr>
                <a:xfrm>
                  <a:off x="6457950" y="2085975"/>
                  <a:ext cx="4991100" cy="4886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σ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ε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ε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</m:t>
                                </m:r>
                              </m:sub>
                            </m:sSub>
                          </m:den>
                        </m:f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σ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ε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ε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5" name="TextBox 25"/>
            <p:cNvSpPr txBox="1"/>
            <p:nvPr/>
          </p:nvSpPr>
          <p:spPr>
            <a:xfrm>
              <a:off x="6450330" y="2694622"/>
              <a:ext cx="4796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定义电极化率 χe = εr − 1，得 P = ε₀χeE：P 与 E 同向、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成正比。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6248400" y="3614738"/>
            <a:ext cx="5410200" cy="1635442"/>
            <a:chOff x="6248400" y="3614738"/>
            <a:chExt cx="5410200" cy="1635442"/>
          </a:xfrm>
        </p:grpSpPr>
        <p:sp>
          <p:nvSpPr>
            <p:cNvPr id="27" name="Rectangle 27"/>
            <p:cNvSpPr/>
            <p:nvPr/>
          </p:nvSpPr>
          <p:spPr>
            <a:xfrm>
              <a:off x="6248400" y="3614738"/>
              <a:ext cx="5410200" cy="1635442"/>
            </a:xfrm>
            <a:prstGeom prst="roundRect">
              <a:avLst>
                <a:gd name="adj" fmla="val 815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257925" y="3748088"/>
              <a:ext cx="47625" cy="136874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496050" y="3824288"/>
              <a:ext cx="220122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35052" y="3860006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推导（充满介质的平板电容器）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88430" y="4201478"/>
              <a:ext cx="46348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自由电荷 σ 在真空中产生 E₀ = σ/ε₀，充满介质后 E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E₀/εr。束缚电荷的场 E′ = σ′/ε₀ = E₀ − E，所以 σ′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σ(εr − 1)/εr；再把 σ = ε₀εrE 代入即得右式。</a:t>
              </a:r>
            </a:p>
          </p:txBody>
        </p:sp>
      </p:grpSp>
      <p:grpSp>
        <p:nvGrpSpPr>
          <p:cNvPr id="38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3" name="Rectangle 33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40130" y="5991225"/>
              <a:ext cx="92057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均匀各向同性介质中，P 的大小等于端面上束缚电荷的面密度 σ′，这是由 P 求束缚电荷最常用的一步。</a:t>
              </a: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9" name="TextBox 3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第4章 静电场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28650" cy="909257"/>
            <a:chOff x="520446" y="342900"/>
            <a:chExt cx="752865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7087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3615" y="407194"/>
              <a:ext cx="30894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静电场 · 静电场中的电介质 电位移矢量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2865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电位移矢量 D = ε₀E + P，它的通量只认自由电荷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103"/>
              <p:cNvSpPr txBox="1">
                <a:spLocks noGrp="1"/>
              </p:cNvSpPr>
              <p:nvPr/>
            </p:nvSpPr>
            <p:spPr>
              <a:xfrm>
                <a:off x="533400" y="1524000"/>
                <a:ext cx="4977765" cy="476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⃗"/>
                          <m:ctrlP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8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ε</m:t>
                          </m:r>
                        </m:e>
                        <m:sub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8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</m:acc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formula104"/>
              <p:cNvSpPr txBox="1">
                <a:spLocks noGrp="1"/>
              </p:cNvSpPr>
              <p:nvPr/>
            </p:nvSpPr>
            <p:spPr>
              <a:xfrm>
                <a:off x="533400" y="2175510"/>
                <a:ext cx="4977765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⃗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ε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sSub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ε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ε</m:t>
                      </m:r>
                      <m:acc>
                        <m:accPr>
                          <m:chr m:val="⃗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</m:acc>
                    </m:oMath>
                  </m:oMathPara>
                </a14:m>
              </a:p>
            </p:txBody>
          </p:sp>
        </mc:Choice>
      </mc:AlternateContent>
      <p:grpSp>
        <p:nvGrpSpPr>
          <p:cNvPr id="14" name="c1-card-3"/>
          <p:cNvGrpSpPr/>
          <p:nvPr/>
        </p:nvGrpSpPr>
        <p:grpSpPr>
          <a:xfrm>
            <a:off x="533400" y="2807970"/>
            <a:ext cx="4977765" cy="1209675"/>
            <a:chOff x="533400" y="2807970"/>
            <a:chExt cx="4977765" cy="1209675"/>
          </a:xfrm>
        </p:grpSpPr>
        <p:sp>
          <p:nvSpPr>
            <p:cNvPr id="9" name="Rectangle 9"/>
            <p:cNvSpPr/>
            <p:nvPr/>
          </p:nvSpPr>
          <p:spPr>
            <a:xfrm>
              <a:off x="533400" y="2807970"/>
              <a:ext cx="4977765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941320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3905" y="300037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5345" y="303466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推导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7047" y="3356610"/>
              <a:ext cx="435140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各向同性介质中代入 P = ε₀(εr − 1)E：D = ε₀E + ε₀(εr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− 1)E = ε₀εrE。ε = ε₀εr 叫介电常数，单位与 ε₀ 相同。</a:t>
              </a:r>
            </a:p>
          </p:txBody>
        </p:sp>
      </p:grpSp>
      <p:grpSp>
        <p:nvGrpSpPr>
          <p:cNvPr id="20" name="c1-card-4"/>
          <p:cNvGrpSpPr/>
          <p:nvPr/>
        </p:nvGrpSpPr>
        <p:grpSpPr>
          <a:xfrm>
            <a:off x="533400" y="4191952"/>
            <a:ext cx="4977765" cy="1466850"/>
            <a:chOff x="533400" y="4191952"/>
            <a:chExt cx="4977765" cy="1466850"/>
          </a:xfrm>
        </p:grpSpPr>
        <p:sp>
          <p:nvSpPr>
            <p:cNvPr id="15" name="Rectangle 15"/>
            <p:cNvSpPr/>
            <p:nvPr/>
          </p:nvSpPr>
          <p:spPr>
            <a:xfrm>
              <a:off x="533400" y="4191952"/>
              <a:ext cx="4977765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4325302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63905" y="4384358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51344" y="441864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代个数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7047" y="4741545"/>
              <a:ext cx="409422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εr = 2、E = 1000 V/m：D = ε₀εrE ≈ 1.77×10⁻⁸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C/m²，P = ε₀(εr − 1)E ≈ 8.85×10⁻⁹ C/m²，ε₀E + P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正好等于 D。</a:t>
              </a:r>
            </a:p>
          </p:txBody>
        </p:sp>
      </p:grpSp>
      <p:grpSp>
        <p:nvGrpSpPr>
          <p:cNvPr id="49" name="c2-table-1"/>
          <p:cNvGrpSpPr/>
          <p:nvPr/>
        </p:nvGrpSpPr>
        <p:grpSpPr>
          <a:xfrm>
            <a:off x="5815965" y="1524000"/>
            <a:ext cx="5842635" cy="2434590"/>
            <a:chOff x="5815965" y="1524000"/>
            <a:chExt cx="5842635" cy="2434590"/>
          </a:xfrm>
        </p:grpSpPr>
        <p:sp>
          <p:nvSpPr>
            <p:cNvPr id="21" name="Rectangle 21"/>
            <p:cNvSpPr/>
            <p:nvPr/>
          </p:nvSpPr>
          <p:spPr>
            <a:xfrm>
              <a:off x="5815965" y="1524000"/>
              <a:ext cx="5842635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611163" y="164830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量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470836" y="164830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定义或关系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67581" y="164830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真空中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915978" y="2054066"/>
              <a:ext cx="11377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相对介电常数 εr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68578" y="2054066"/>
              <a:ext cx="13382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εr ≥ 1，由介质决定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239375" y="20540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815965" y="233076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815965" y="2335530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915978" y="2459831"/>
              <a:ext cx="8361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电极化率 χe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68578" y="2459831"/>
              <a:ext cx="7728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χe = εr − 1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239375" y="24598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815965" y="273653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915978" y="2865596"/>
              <a:ext cx="7490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介电常数 ε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668578" y="2865596"/>
              <a:ext cx="5994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ε = ε₀εr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239375" y="286559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ε₀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815965" y="314229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815965" y="3147060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915978" y="3271361"/>
              <a:ext cx="7567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极化强度 P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668578" y="3271361"/>
              <a:ext cx="6975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= ε₀χeE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239375" y="32713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815965" y="354806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915978" y="3677126"/>
              <a:ext cx="6059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电位移 D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668578" y="3677126"/>
              <a:ext cx="4495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= εE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239375" y="3677126"/>
              <a:ext cx="2672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ε₀E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815965" y="1524000"/>
              <a:ext cx="5842635" cy="24345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7563802" y="1524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10134600" y="1524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4" name="c2-card-2"/>
          <p:cNvGrpSpPr/>
          <p:nvPr/>
        </p:nvGrpSpPr>
        <p:grpSpPr>
          <a:xfrm>
            <a:off x="5815965" y="4133850"/>
            <a:ext cx="5842635" cy="1524952"/>
            <a:chOff x="5815965" y="4133850"/>
            <a:chExt cx="5842635" cy="1524952"/>
          </a:xfrm>
        </p:grpSpPr>
        <p:sp>
          <p:nvSpPr>
            <p:cNvPr id="50" name="Rectangle 50"/>
            <p:cNvSpPr/>
            <p:nvPr/>
          </p:nvSpPr>
          <p:spPr>
            <a:xfrm>
              <a:off x="5815965" y="4133850"/>
              <a:ext cx="5842635" cy="1524952"/>
            </a:xfrm>
            <a:prstGeom prst="roundRect">
              <a:avLst>
                <a:gd name="adj" fmla="val 8745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008370" y="4326255"/>
              <a:ext cx="1128712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076215" y="4360545"/>
              <a:ext cx="9920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为什么要引入 D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001512" y="4682490"/>
              <a:ext cx="5200079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介质里的 E 同时受自由电荷和束缚电荷影响，而束缚电荷的分布事先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不知道。D 的高斯定理右边只有自由电荷（见 4.4 节），先求 D 再用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 = D/ε，就绕开了束缚电荷。</a:t>
              </a:r>
            </a:p>
          </p:txBody>
        </p:sp>
      </p:grpSp>
      <p:grpSp>
        <p:nvGrpSpPr>
          <p:cNvPr id="61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5" name="Rectangle 55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726129" y="6014203"/>
              <a:ext cx="224134" cy="192560"/>
              <a:chOff x="726129" y="6014203"/>
              <a:chExt cx="224134" cy="192560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838200" y="60845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726129" y="60142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38200" y="61623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1040892" y="6023610"/>
              <a:ext cx="74650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D = εE 只对各向同性介质成立；D 的单位是 C/m²，E 的单位是 V/m，两者不能混着代公式。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第4章 静电场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457131" cy="3351847"/>
            <a:chOff x="667512" y="1835468"/>
            <a:chExt cx="6457131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3982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静电场中的高斯定理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4472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对应原课件 4.4，本章最重要的定理，也是求对称电场最快的工具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电场线与电位移线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电通量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高斯定理及其验证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球、柱、面对称的场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第4章 静电场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静电场 · 静电场中的高斯定理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电场线画出方向与强弱，电位移线只从自由电荷出发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193982" cy="1428750"/>
            <a:chOff x="533400" y="1524000"/>
            <a:chExt cx="5193982" cy="14287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428750"/>
            </a:xfrm>
            <a:prstGeom prst="roundRect">
              <a:avLst>
                <a:gd name="adj" fmla="val 933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16205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1204912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2744" y="1737836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电场线的两条规定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52475" y="2033588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04382" y="206921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22223" y="2045494"/>
              <a:ext cx="3323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曲线上每一点的切线方向就是该点 E 的方向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52475" y="2319338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4382" y="235400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22223" y="2330291"/>
              <a:ext cx="428828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通过垂直于 E 的单位面积的电场线条数等于该点 E 的大小，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线越密场越强</a:t>
              </a:r>
            </a:p>
          </p:txBody>
        </p:sp>
      </p:grpSp>
      <p:grpSp>
        <p:nvGrpSpPr>
          <p:cNvPr id="39" name="c1-graph-2"/>
          <p:cNvGrpSpPr/>
          <p:nvPr/>
        </p:nvGrpSpPr>
        <p:grpSpPr>
          <a:xfrm>
            <a:off x="783908" y="3401854"/>
            <a:ext cx="4692967" cy="1048226"/>
            <a:chOff x="783908" y="3401854"/>
            <a:chExt cx="4692967" cy="1048226"/>
          </a:xfrm>
        </p:grpSpPr>
        <p:sp>
          <p:nvSpPr>
            <p:cNvPr id="18" name="Freeform 18"/>
            <p:cNvSpPr/>
            <p:nvPr/>
          </p:nvSpPr>
          <p:spPr>
            <a:xfrm>
              <a:off x="808672" y="3589972"/>
              <a:ext cx="4639628" cy="840105"/>
            </a:xfrm>
            <a:custGeom>
              <a:avLst/>
              <a:gdLst/>
              <a:ahLst/>
              <a:cxnLst/>
              <a:rect l="l" t="t" r="r" b="b"/>
              <a:pathLst>
                <a:path w="4639628" h="840105">
                  <a:moveTo>
                    <a:pt x="0" y="840105"/>
                  </a:moveTo>
                  <a:lnTo>
                    <a:pt x="52388" y="802958"/>
                  </a:lnTo>
                  <a:lnTo>
                    <a:pt x="124777" y="757238"/>
                  </a:lnTo>
                  <a:lnTo>
                    <a:pt x="192405" y="712470"/>
                  </a:lnTo>
                  <a:lnTo>
                    <a:pt x="264795" y="669608"/>
                  </a:lnTo>
                  <a:lnTo>
                    <a:pt x="337185" y="627698"/>
                  </a:lnTo>
                  <a:lnTo>
                    <a:pt x="415290" y="587693"/>
                  </a:lnTo>
                  <a:lnTo>
                    <a:pt x="488632" y="547688"/>
                  </a:lnTo>
                  <a:lnTo>
                    <a:pt x="565785" y="510540"/>
                  </a:lnTo>
                  <a:lnTo>
                    <a:pt x="643890" y="474345"/>
                  </a:lnTo>
                  <a:lnTo>
                    <a:pt x="721995" y="438150"/>
                  </a:lnTo>
                  <a:lnTo>
                    <a:pt x="800100" y="404812"/>
                  </a:lnTo>
                  <a:lnTo>
                    <a:pt x="878205" y="372428"/>
                  </a:lnTo>
                  <a:lnTo>
                    <a:pt x="961072" y="341948"/>
                  </a:lnTo>
                  <a:lnTo>
                    <a:pt x="1043940" y="310515"/>
                  </a:lnTo>
                  <a:lnTo>
                    <a:pt x="1126807" y="282893"/>
                  </a:lnTo>
                  <a:lnTo>
                    <a:pt x="1210628" y="255270"/>
                  </a:lnTo>
                  <a:lnTo>
                    <a:pt x="1293495" y="230505"/>
                  </a:lnTo>
                  <a:lnTo>
                    <a:pt x="1381125" y="206693"/>
                  </a:lnTo>
                  <a:lnTo>
                    <a:pt x="1464945" y="182880"/>
                  </a:lnTo>
                  <a:lnTo>
                    <a:pt x="1552575" y="161925"/>
                  </a:lnTo>
                  <a:lnTo>
                    <a:pt x="1646872" y="141923"/>
                  </a:lnTo>
                  <a:lnTo>
                    <a:pt x="1734502" y="122873"/>
                  </a:lnTo>
                  <a:lnTo>
                    <a:pt x="1823085" y="104775"/>
                  </a:lnTo>
                  <a:lnTo>
                    <a:pt x="1916430" y="89535"/>
                  </a:lnTo>
                  <a:lnTo>
                    <a:pt x="2009775" y="74295"/>
                  </a:lnTo>
                  <a:lnTo>
                    <a:pt x="2103120" y="60008"/>
                  </a:lnTo>
                  <a:lnTo>
                    <a:pt x="2197418" y="47625"/>
                  </a:lnTo>
                  <a:lnTo>
                    <a:pt x="2295525" y="37148"/>
                  </a:lnTo>
                  <a:lnTo>
                    <a:pt x="2394585" y="27623"/>
                  </a:lnTo>
                  <a:lnTo>
                    <a:pt x="2487930" y="20003"/>
                  </a:lnTo>
                  <a:lnTo>
                    <a:pt x="2586038" y="14288"/>
                  </a:lnTo>
                  <a:lnTo>
                    <a:pt x="2690812" y="7620"/>
                  </a:lnTo>
                  <a:lnTo>
                    <a:pt x="2788920" y="4762"/>
                  </a:lnTo>
                  <a:lnTo>
                    <a:pt x="2892743" y="1905"/>
                  </a:lnTo>
                  <a:lnTo>
                    <a:pt x="2996565" y="0"/>
                  </a:lnTo>
                  <a:lnTo>
                    <a:pt x="3100388" y="0"/>
                  </a:lnTo>
                  <a:lnTo>
                    <a:pt x="3204210" y="1905"/>
                  </a:lnTo>
                  <a:lnTo>
                    <a:pt x="3308032" y="4762"/>
                  </a:lnTo>
                  <a:lnTo>
                    <a:pt x="3417570" y="7620"/>
                  </a:lnTo>
                  <a:lnTo>
                    <a:pt x="3526155" y="14288"/>
                  </a:lnTo>
                  <a:lnTo>
                    <a:pt x="3635693" y="20003"/>
                  </a:lnTo>
                  <a:lnTo>
                    <a:pt x="3744278" y="29528"/>
                  </a:lnTo>
                  <a:lnTo>
                    <a:pt x="3853815" y="39053"/>
                  </a:lnTo>
                  <a:lnTo>
                    <a:pt x="3968115" y="49530"/>
                  </a:lnTo>
                  <a:lnTo>
                    <a:pt x="4076700" y="61912"/>
                  </a:lnTo>
                  <a:lnTo>
                    <a:pt x="4191000" y="75248"/>
                  </a:lnTo>
                  <a:lnTo>
                    <a:pt x="4305300" y="90488"/>
                  </a:lnTo>
                  <a:lnTo>
                    <a:pt x="4425315" y="106680"/>
                  </a:lnTo>
                  <a:lnTo>
                    <a:pt x="4539615" y="124778"/>
                  </a:lnTo>
                  <a:lnTo>
                    <a:pt x="4639628" y="140018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1504950" y="3850958"/>
              <a:ext cx="404812" cy="188595"/>
            </a:xfrm>
            <a:custGeom>
              <a:avLst/>
              <a:gdLst/>
              <a:ahLst/>
              <a:cxnLst/>
              <a:rect l="l" t="t" r="r" b="b"/>
              <a:pathLst>
                <a:path w="404812" h="188595">
                  <a:moveTo>
                    <a:pt x="0" y="188595"/>
                  </a:moveTo>
                  <a:lnTo>
                    <a:pt x="404812" y="0"/>
                  </a:lnTo>
                </a:path>
              </a:pathLst>
            </a:custGeom>
            <a:noFill/>
            <a:ln w="22860">
              <a:solidFill>
                <a:srgbClr val="B42318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889760" y="3807142"/>
              <a:ext cx="106680" cy="86678"/>
            </a:xfrm>
            <a:custGeom>
              <a:avLst/>
              <a:gdLst/>
              <a:ahLst/>
              <a:cxnLst/>
              <a:rect l="l" t="t" r="r" b="b"/>
              <a:pathLst>
                <a:path w="106680" h="86678">
                  <a:moveTo>
                    <a:pt x="106680" y="3810"/>
                  </a:moveTo>
                  <a:lnTo>
                    <a:pt x="40005" y="866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2875598" y="3586162"/>
              <a:ext cx="458153" cy="69533"/>
            </a:xfrm>
            <a:custGeom>
              <a:avLst/>
              <a:gdLst/>
              <a:ahLst/>
              <a:cxnLst/>
              <a:rect l="l" t="t" r="r" b="b"/>
              <a:pathLst>
                <a:path w="458153" h="69533">
                  <a:moveTo>
                    <a:pt x="0" y="69533"/>
                  </a:moveTo>
                  <a:lnTo>
                    <a:pt x="458153" y="0"/>
                  </a:lnTo>
                </a:path>
              </a:pathLst>
            </a:custGeom>
            <a:noFill/>
            <a:ln w="22860">
              <a:solidFill>
                <a:srgbClr val="B42318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3327082" y="3538538"/>
              <a:ext cx="100965" cy="94297"/>
            </a:xfrm>
            <a:custGeom>
              <a:avLst/>
              <a:gdLst/>
              <a:ahLst/>
              <a:cxnLst/>
              <a:rect l="l" t="t" r="r" b="b"/>
              <a:pathLst>
                <a:path w="100965" h="94297">
                  <a:moveTo>
                    <a:pt x="100965" y="33338"/>
                  </a:moveTo>
                  <a:lnTo>
                    <a:pt x="14288" y="942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4501515" y="3613785"/>
              <a:ext cx="461962" cy="33338"/>
            </a:xfrm>
            <a:custGeom>
              <a:avLst/>
              <a:gdLst/>
              <a:ahLst/>
              <a:cxnLst/>
              <a:rect l="l" t="t" r="r" b="b"/>
              <a:pathLst>
                <a:path w="461962" h="33338">
                  <a:moveTo>
                    <a:pt x="0" y="0"/>
                  </a:moveTo>
                  <a:lnTo>
                    <a:pt x="461962" y="33338"/>
                  </a:lnTo>
                </a:path>
              </a:pathLst>
            </a:custGeom>
            <a:noFill/>
            <a:ln w="22860">
              <a:solidFill>
                <a:srgbClr val="B42318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4960620" y="3599498"/>
              <a:ext cx="98108" cy="94298"/>
            </a:xfrm>
            <a:custGeom>
              <a:avLst/>
              <a:gdLst/>
              <a:ahLst/>
              <a:cxnLst/>
              <a:rect l="l" t="t" r="r" b="b"/>
              <a:pathLst>
                <a:path w="98108" h="94298">
                  <a:moveTo>
                    <a:pt x="98108" y="54293"/>
                  </a:moveTo>
                  <a:lnTo>
                    <a:pt x="0" y="94298"/>
                  </a:lnTo>
                  <a:lnTo>
                    <a:pt x="6668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783908" y="443103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5457825" y="372332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1404938" y="4016692"/>
              <a:ext cx="95250" cy="952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2004060" y="379285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2770822" y="3616642"/>
              <a:ext cx="95250" cy="952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3437572" y="355949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4396740" y="3562350"/>
              <a:ext cx="95250" cy="952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5068252" y="364521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511182" y="414289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097922" y="363521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862430" y="3743801"/>
              <a:ext cx="1196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531434" y="340185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502984" y="368950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163067" y="348757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</p:grpSp>
      <p:grpSp>
        <p:nvGrpSpPr>
          <p:cNvPr id="49" name="c1-card-3"/>
          <p:cNvGrpSpPr/>
          <p:nvPr/>
        </p:nvGrpSpPr>
        <p:grpSpPr>
          <a:xfrm>
            <a:off x="533400" y="4820602"/>
            <a:ext cx="5193982" cy="1471612"/>
            <a:chOff x="533400" y="4820602"/>
            <a:chExt cx="5193982" cy="1471612"/>
          </a:xfrm>
        </p:grpSpPr>
        <p:sp>
          <p:nvSpPr>
            <p:cNvPr id="40" name="Rectangle 40"/>
            <p:cNvSpPr/>
            <p:nvPr/>
          </p:nvSpPr>
          <p:spPr>
            <a:xfrm>
              <a:off x="533400" y="4820602"/>
              <a:ext cx="5193982" cy="1471612"/>
            </a:xfrm>
            <a:prstGeom prst="roundRect">
              <a:avLst>
                <a:gd name="adj" fmla="val 9061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714375" y="5001578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87743" y="503443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静电场线的性质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23900" y="5394960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79348" y="5342096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起自正电荷、止于负电荷，在没有电荷处不中断（有源）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23900" y="5679758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79348" y="562689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永不闭合（无旋）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723900" y="596455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79348" y="5911691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在没有电荷的地方任意两条电场线不相交</a:t>
              </a:r>
            </a:p>
          </p:txBody>
        </p:sp>
      </p:grpSp>
      <p:grpSp>
        <p:nvGrpSpPr>
          <p:cNvPr id="74" name="c2-table-1"/>
          <p:cNvGrpSpPr/>
          <p:nvPr/>
        </p:nvGrpSpPr>
        <p:grpSpPr>
          <a:xfrm>
            <a:off x="6032182" y="1524000"/>
            <a:ext cx="5626418" cy="2093595"/>
            <a:chOff x="6032182" y="1524000"/>
            <a:chExt cx="5626418" cy="2093595"/>
          </a:xfrm>
        </p:grpSpPr>
        <p:sp>
          <p:nvSpPr>
            <p:cNvPr id="50" name="Rectangle 50"/>
            <p:cNvSpPr/>
            <p:nvPr/>
          </p:nvSpPr>
          <p:spPr>
            <a:xfrm>
              <a:off x="6032182" y="1524000"/>
              <a:ext cx="5626418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391275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980807" y="1641157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电场线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217086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电位移线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126861" y="2023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切线方向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139369" y="2023110"/>
              <a:ext cx="5616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的方向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446324" y="2023110"/>
              <a:ext cx="5616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的方向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032182" y="228219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032182" y="2286952"/>
              <a:ext cx="5626418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126861" y="249745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疏密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139369" y="2497455"/>
              <a:ext cx="5616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的大小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446324" y="2404110"/>
              <a:ext cx="1990916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的大小；介质中是电场线密度的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ε 倍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032182" y="284988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126861" y="29718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起点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139369" y="2971800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正电荷（自由的和极化的）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446324" y="297180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自由正电荷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6032182" y="323183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6032182" y="3236595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126861" y="33537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终点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139369" y="335375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负电荷（自由的和极化的）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446324" y="335375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自由负电荷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6032182" y="1524000"/>
              <a:ext cx="5626418" cy="20935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7039928" y="1524000"/>
              <a:ext cx="9525" cy="2093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9346882" y="1524000"/>
              <a:ext cx="9525" cy="2093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1" name="c2-card-2"/>
          <p:cNvGrpSpPr/>
          <p:nvPr/>
        </p:nvGrpSpPr>
        <p:grpSpPr>
          <a:xfrm>
            <a:off x="6032182" y="3782378"/>
            <a:ext cx="5626418" cy="2509838"/>
            <a:chOff x="6032182" y="3782378"/>
            <a:chExt cx="5626418" cy="2509838"/>
          </a:xfrm>
        </p:grpSpPr>
        <p:sp>
          <p:nvSpPr>
            <p:cNvPr id="75" name="Rectangle 75"/>
            <p:cNvSpPr/>
            <p:nvPr/>
          </p:nvSpPr>
          <p:spPr>
            <a:xfrm>
              <a:off x="6032182" y="3782378"/>
              <a:ext cx="5626418" cy="2509838"/>
            </a:xfrm>
            <a:prstGeom prst="roundRect">
              <a:avLst>
                <a:gd name="adj" fmla="val 531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6041708" y="3915728"/>
              <a:ext cx="47625" cy="224313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6251258" y="3963352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328677" y="399621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在介质表面上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244780" y="4303871"/>
              <a:ext cx="488975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介质表面有束缚电荷，电场线在那里有的起、有的止，数目发生跳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变；表面上没有自由电荷时，电位移线连续穿过。所以画 D 线比画 E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线更容易看出自由电荷的分布。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245924" y="5070158"/>
              <a:ext cx="47017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真空中 D = ε₀E，电位移线与电场线形状完全一样，只差一个常数因子 ε₀。</a:t>
              </a:r>
            </a:p>
          </p:txBody>
        </p:sp>
      </p:grpSp>
      <p:grpSp>
        <p:nvGrpSpPr>
          <p:cNvPr id="8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2" name="TextBox 82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第4章 静电场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037309" cy="909257"/>
            <a:chOff x="520446" y="342900"/>
            <a:chExt cx="60373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静电场 · 静电场中的高斯定理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0373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电通量 Φe：数一数穿过曲面的电位移线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4" name="c1-graph-1"/>
          <p:cNvGrpSpPr/>
          <p:nvPr/>
        </p:nvGrpSpPr>
        <p:grpSpPr>
          <a:xfrm>
            <a:off x="783908" y="1764030"/>
            <a:ext cx="4741164" cy="2640330"/>
            <a:chOff x="783908" y="1764030"/>
            <a:chExt cx="4741164" cy="2640330"/>
          </a:xfrm>
        </p:grpSpPr>
        <p:sp>
          <p:nvSpPr>
            <p:cNvPr id="7" name="Freeform 7"/>
            <p:cNvSpPr/>
            <p:nvPr/>
          </p:nvSpPr>
          <p:spPr>
            <a:xfrm>
              <a:off x="812482" y="1961198"/>
              <a:ext cx="4540568" cy="9525"/>
            </a:xfrm>
            <a:custGeom>
              <a:avLst/>
              <a:gdLst/>
              <a:ahLst/>
              <a:cxnLst/>
              <a:rect l="l" t="t" r="r" b="b"/>
              <a:pathLst>
                <a:path w="4540568" h="9525">
                  <a:moveTo>
                    <a:pt x="0" y="0"/>
                  </a:moveTo>
                  <a:lnTo>
                    <a:pt x="4540568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5353050" y="191357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812482" y="2646998"/>
              <a:ext cx="4540568" cy="9525"/>
            </a:xfrm>
            <a:custGeom>
              <a:avLst/>
              <a:gdLst/>
              <a:ahLst/>
              <a:cxnLst/>
              <a:rect l="l" t="t" r="r" b="b"/>
              <a:pathLst>
                <a:path w="4540568" h="9525">
                  <a:moveTo>
                    <a:pt x="0" y="0"/>
                  </a:moveTo>
                  <a:lnTo>
                    <a:pt x="4540568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5353050" y="259937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812482" y="3521392"/>
              <a:ext cx="4540568" cy="9525"/>
            </a:xfrm>
            <a:custGeom>
              <a:avLst/>
              <a:gdLst/>
              <a:ahLst/>
              <a:cxnLst/>
              <a:rect l="l" t="t" r="r" b="b"/>
              <a:pathLst>
                <a:path w="4540568" h="9525">
                  <a:moveTo>
                    <a:pt x="0" y="0"/>
                  </a:moveTo>
                  <a:lnTo>
                    <a:pt x="4540568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5353050" y="347376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812482" y="4207192"/>
              <a:ext cx="4540568" cy="9525"/>
            </a:xfrm>
            <a:custGeom>
              <a:avLst/>
              <a:gdLst/>
              <a:ahLst/>
              <a:cxnLst/>
              <a:rect l="l" t="t" r="r" b="b"/>
              <a:pathLst>
                <a:path w="4540568" h="9525">
                  <a:moveTo>
                    <a:pt x="0" y="0"/>
                  </a:moveTo>
                  <a:lnTo>
                    <a:pt x="4540568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5353050" y="415956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2771775" y="1791652"/>
              <a:ext cx="717233" cy="2585085"/>
            </a:xfrm>
            <a:custGeom>
              <a:avLst/>
              <a:gdLst/>
              <a:ahLst/>
              <a:cxnLst/>
              <a:rect l="l" t="t" r="r" b="b"/>
              <a:pathLst>
                <a:path w="717233" h="2585085">
                  <a:moveTo>
                    <a:pt x="0" y="0"/>
                  </a:moveTo>
                  <a:lnTo>
                    <a:pt x="717233" y="2585085"/>
                  </a:lnTo>
                </a:path>
              </a:pathLst>
            </a:custGeom>
            <a:noFill/>
            <a:ln w="47625">
              <a:solidFill>
                <a:srgbClr val="2F4B9A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167062" y="2907030"/>
              <a:ext cx="724853" cy="168592"/>
            </a:xfrm>
            <a:custGeom>
              <a:avLst/>
              <a:gdLst/>
              <a:ahLst/>
              <a:cxnLst/>
              <a:rect l="l" t="t" r="r" b="b"/>
              <a:pathLst>
                <a:path w="724853" h="168592">
                  <a:moveTo>
                    <a:pt x="0" y="168592"/>
                  </a:moveTo>
                  <a:lnTo>
                    <a:pt x="724853" y="0"/>
                  </a:lnTo>
                </a:path>
              </a:pathLst>
            </a:custGeom>
            <a:noFill/>
            <a:ln w="24765">
              <a:solidFill>
                <a:srgbClr val="B42318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3880485" y="2861310"/>
              <a:ext cx="103823" cy="92393"/>
            </a:xfrm>
            <a:custGeom>
              <a:avLst/>
              <a:gdLst/>
              <a:ahLst/>
              <a:cxnLst/>
              <a:rect l="l" t="t" r="r" b="b"/>
              <a:pathLst>
                <a:path w="103823" h="92393">
                  <a:moveTo>
                    <a:pt x="103823" y="24765"/>
                  </a:moveTo>
                  <a:lnTo>
                    <a:pt x="21908" y="92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783908" y="195167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5457825" y="195167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783908" y="263747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5457825" y="263747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783908" y="351186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5457825" y="351186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783908" y="419766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5457825" y="419766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2757488" y="176403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484245" y="438531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3101340" y="305562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3992880" y="287178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124038" y="267462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en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475282" y="293941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θ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455265" y="183975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428153" y="222218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formula113"/>
              <p:cNvSpPr txBox="1">
                <a:spLocks noGrp="1"/>
              </p:cNvSpPr>
              <p:nvPr/>
            </p:nvSpPr>
            <p:spPr>
              <a:xfrm>
                <a:off x="533400" y="4819650"/>
                <a:ext cx="5193982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Φ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DS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cos</m:t>
                          </m:r>
                        </m:fName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e>
                      </m:func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</m:acc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formula114"/>
              <p:cNvSpPr txBox="1">
                <a:spLocks noGrp="1"/>
              </p:cNvSpPr>
              <p:nvPr/>
            </p:nvSpPr>
            <p:spPr>
              <a:xfrm>
                <a:off x="533400" y="5375910"/>
                <a:ext cx="5193982" cy="5067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Φ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</m:t>
                              </m:r>
                            </m:e>
                          </m:acc>
                        </m:e>
                      </m:nary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</m:t>
                      </m:r>
                      <m:acc>
                        <m:accPr>
                          <m:chr m:val="⃗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sSub>
                        <m:e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Φ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∮"/>
                          <m:limLoc m:val="subSup"/>
                          <m:grow m:val="off"/>
                          <m:subHide m:val="off"/>
                          <m:supHide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</m:t>
                              </m:r>
                            </m:e>
                          </m:acc>
                        </m:e>
                      </m:nary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</m:t>
                      </m:r>
                      <m:acc>
                        <m:accPr>
                          <m:chr m:val="⃗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</m:acc>
                    </m:oMath>
                  </m:oMathPara>
                </a14:m>
              </a:p>
            </p:txBody>
          </p:sp>
        </mc:Choice>
      </mc:AlternateContent>
      <p:grpSp>
        <p:nvGrpSpPr>
          <p:cNvPr id="42" name="c2-card-1"/>
          <p:cNvGrpSpPr/>
          <p:nvPr/>
        </p:nvGrpSpPr>
        <p:grpSpPr>
          <a:xfrm>
            <a:off x="6032182" y="1524000"/>
            <a:ext cx="5626418" cy="1466850"/>
            <a:chOff x="6032182" y="1524000"/>
            <a:chExt cx="5626418" cy="1466850"/>
          </a:xfrm>
        </p:grpSpPr>
        <p:sp>
          <p:nvSpPr>
            <p:cNvPr id="37" name="Rectangle 37"/>
            <p:cNvSpPr/>
            <p:nvPr/>
          </p:nvSpPr>
          <p:spPr>
            <a:xfrm>
              <a:off x="6032182" y="1524000"/>
              <a:ext cx="5626418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041708" y="1657350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262688" y="1716405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50127" y="175069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电通量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255830" y="2072640"/>
              <a:ext cx="49857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通过电场中某一曲面的电位移线总条数，叫通过该面的电通量，记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 Φe。它是标量，但有正负。平面与 D 垂直时 Φe = DS；不垂直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时乘上 cos θ，θ 是 D 与法线的夹角。</a:t>
              </a:r>
            </a:p>
          </p:txBody>
        </p:sp>
      </p:grpSp>
      <p:grpSp>
        <p:nvGrpSpPr>
          <p:cNvPr id="53" name="c2-card-2"/>
          <p:cNvGrpSpPr/>
          <p:nvPr/>
        </p:nvGrpSpPr>
        <p:grpSpPr>
          <a:xfrm>
            <a:off x="6032182" y="3166110"/>
            <a:ext cx="5626418" cy="1518285"/>
            <a:chOff x="6032182" y="3166110"/>
            <a:chExt cx="5626418" cy="1518285"/>
          </a:xfrm>
        </p:grpSpPr>
        <p:sp>
          <p:nvSpPr>
            <p:cNvPr id="43" name="Rectangle 43"/>
            <p:cNvSpPr/>
            <p:nvPr/>
          </p:nvSpPr>
          <p:spPr>
            <a:xfrm>
              <a:off x="6032182" y="3166110"/>
              <a:ext cx="5626418" cy="1518285"/>
            </a:xfrm>
            <a:prstGeom prst="roundRect">
              <a:avLst>
                <a:gd name="adj" fmla="val 8783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224588" y="3358515"/>
              <a:ext cx="140970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288024" y="3392805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闭合曲面的符号规定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224588" y="3702368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280266" y="374075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504432" y="3714750"/>
              <a:ext cx="21400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法线 en 一律由里向外为正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224588" y="4005262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280266" y="404364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504432" y="4017645"/>
              <a:ext cx="43092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 与 en 夹角 θ &lt; 90° 处 dΦe &gt; 0，θ &gt; 90° 处 dΦe &lt; 0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218872" y="4316254"/>
              <a:ext cx="3177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换句话说：穿出闭合面的线记正，穿入的记负。</a:t>
              </a:r>
            </a:p>
          </p:txBody>
        </p:sp>
      </p:grpSp>
      <p:grpSp>
        <p:nvGrpSpPr>
          <p:cNvPr id="59" name="c2-card-3"/>
          <p:cNvGrpSpPr/>
          <p:nvPr/>
        </p:nvGrpSpPr>
        <p:grpSpPr>
          <a:xfrm>
            <a:off x="6032182" y="4859655"/>
            <a:ext cx="5626418" cy="1466850"/>
            <a:chOff x="6032182" y="4859655"/>
            <a:chExt cx="5626418" cy="1466850"/>
          </a:xfrm>
        </p:grpSpPr>
        <p:sp>
          <p:nvSpPr>
            <p:cNvPr id="54" name="Rectangle 54"/>
            <p:cNvSpPr/>
            <p:nvPr/>
          </p:nvSpPr>
          <p:spPr>
            <a:xfrm>
              <a:off x="6032182" y="4859655"/>
              <a:ext cx="5626418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6041708" y="4993005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262688" y="5052060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338126" y="508635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本课程的记号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255830" y="5408295"/>
              <a:ext cx="500291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本课程用 D 定义电通量，Φe 的单位是 C。不少教材和习题用 E 定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义：ΦE = ∮E·dS，单位 N·m²/C，真空中 ΦE = Φe/ε₀。做题时先看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清题目用的是哪一个。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第4章 静电场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静电场 · 静电场中的高斯定理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高斯定理：闭合面的电通量只由面内的自由电荷决定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121"/>
              <p:cNvSpPr txBox="1">
                <a:spLocks noGrp="1"/>
              </p:cNvSpPr>
              <p:nvPr/>
            </p:nvSpPr>
            <p:spPr>
              <a:xfrm>
                <a:off x="533400" y="1524000"/>
                <a:ext cx="5193982" cy="7543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nary>
                        <m:naryPr>
                          <m:chr m:val="∮"/>
                          <m:limLoc m:val="subSup"/>
                          <m:grow m:val="off"/>
                          <m:subHide m:val="off"/>
                          <m:supHide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</m:t>
                              </m:r>
                            </m:e>
                          </m:acc>
                        </m:e>
                      </m:nary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</m:t>
                      </m:r>
                      <m:acc>
                        <m:accPr>
                          <m:chr m:val="⃗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</m:t>
                              </m:r>
                              <m:r>
                                <m:rPr>
                                  <m:nor m:val="on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内</m:t>
                              </m:r>
                            </m:e>
                          </m:d>
                        </m:sub>
                        <m:sup/>
                        <m:e>
                          <m:sSub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q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</a:p>
            </p:txBody>
          </p:sp>
        </mc:Choice>
      </mc:AlternateContent>
      <p:grpSp>
        <p:nvGrpSpPr>
          <p:cNvPr id="13" name="c1-card-2"/>
          <p:cNvGrpSpPr/>
          <p:nvPr/>
        </p:nvGrpSpPr>
        <p:grpSpPr>
          <a:xfrm>
            <a:off x="533400" y="2443162"/>
            <a:ext cx="5193982" cy="1143952"/>
            <a:chOff x="533400" y="2443162"/>
            <a:chExt cx="5193982" cy="1143952"/>
          </a:xfrm>
        </p:grpSpPr>
        <p:sp>
          <p:nvSpPr>
            <p:cNvPr id="8" name="Rectangle 8"/>
            <p:cNvSpPr/>
            <p:nvPr/>
          </p:nvSpPr>
          <p:spPr>
            <a:xfrm>
              <a:off x="533400" y="2443162"/>
              <a:ext cx="5193982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42925" y="2576512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52475" y="262413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45147" y="265699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定理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964656"/>
              <a:ext cx="445084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通过任意闭合曲面 S 的电通量，等于 S 包围的自由电荷的代数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和，与 S 外的电荷无关。</a:t>
              </a:r>
            </a:p>
          </p:txBody>
        </p:sp>
      </p:grpSp>
      <p:grpSp>
        <p:nvGrpSpPr>
          <p:cNvPr id="51" name="c1-graph-3"/>
          <p:cNvGrpSpPr/>
          <p:nvPr/>
        </p:nvGrpSpPr>
        <p:grpSpPr>
          <a:xfrm>
            <a:off x="1734502" y="3833812"/>
            <a:ext cx="2918365" cy="1583056"/>
            <a:chOff x="1734502" y="3833812"/>
            <a:chExt cx="2918365" cy="1583056"/>
          </a:xfrm>
        </p:grpSpPr>
        <p:sp>
          <p:nvSpPr>
            <p:cNvPr id="14" name="Freeform 14"/>
            <p:cNvSpPr/>
            <p:nvPr/>
          </p:nvSpPr>
          <p:spPr>
            <a:xfrm>
              <a:off x="1857375" y="4002405"/>
              <a:ext cx="1299210" cy="1288732"/>
            </a:xfrm>
            <a:custGeom>
              <a:avLst/>
              <a:gdLst/>
              <a:ahLst/>
              <a:cxnLst/>
              <a:rect l="l" t="t" r="r" b="b"/>
              <a:pathLst>
                <a:path w="1299210" h="1288732">
                  <a:moveTo>
                    <a:pt x="1297305" y="625792"/>
                  </a:moveTo>
                  <a:lnTo>
                    <a:pt x="1293495" y="573405"/>
                  </a:lnTo>
                  <a:lnTo>
                    <a:pt x="1278255" y="501015"/>
                  </a:lnTo>
                  <a:lnTo>
                    <a:pt x="1262062" y="431483"/>
                  </a:lnTo>
                  <a:lnTo>
                    <a:pt x="1231582" y="365760"/>
                  </a:lnTo>
                  <a:lnTo>
                    <a:pt x="1195388" y="300990"/>
                  </a:lnTo>
                  <a:lnTo>
                    <a:pt x="1153478" y="243840"/>
                  </a:lnTo>
                  <a:lnTo>
                    <a:pt x="1106805" y="188595"/>
                  </a:lnTo>
                  <a:lnTo>
                    <a:pt x="1054418" y="141923"/>
                  </a:lnTo>
                  <a:lnTo>
                    <a:pt x="992505" y="99060"/>
                  </a:lnTo>
                  <a:lnTo>
                    <a:pt x="930592" y="64770"/>
                  </a:lnTo>
                  <a:lnTo>
                    <a:pt x="862965" y="36195"/>
                  </a:lnTo>
                  <a:lnTo>
                    <a:pt x="795338" y="16192"/>
                  </a:lnTo>
                  <a:lnTo>
                    <a:pt x="721995" y="3810"/>
                  </a:lnTo>
                  <a:lnTo>
                    <a:pt x="649605" y="0"/>
                  </a:lnTo>
                  <a:lnTo>
                    <a:pt x="577215" y="3810"/>
                  </a:lnTo>
                  <a:lnTo>
                    <a:pt x="503873" y="16192"/>
                  </a:lnTo>
                  <a:lnTo>
                    <a:pt x="436245" y="36195"/>
                  </a:lnTo>
                  <a:lnTo>
                    <a:pt x="369570" y="64770"/>
                  </a:lnTo>
                  <a:lnTo>
                    <a:pt x="306705" y="99060"/>
                  </a:lnTo>
                  <a:lnTo>
                    <a:pt x="244792" y="141923"/>
                  </a:lnTo>
                  <a:lnTo>
                    <a:pt x="192405" y="188595"/>
                  </a:lnTo>
                  <a:lnTo>
                    <a:pt x="145733" y="243840"/>
                  </a:lnTo>
                  <a:lnTo>
                    <a:pt x="104775" y="300990"/>
                  </a:lnTo>
                  <a:lnTo>
                    <a:pt x="67627" y="365760"/>
                  </a:lnTo>
                  <a:lnTo>
                    <a:pt x="37148" y="431483"/>
                  </a:lnTo>
                  <a:lnTo>
                    <a:pt x="20955" y="501015"/>
                  </a:lnTo>
                  <a:lnTo>
                    <a:pt x="5715" y="573405"/>
                  </a:lnTo>
                  <a:lnTo>
                    <a:pt x="0" y="644842"/>
                  </a:lnTo>
                  <a:lnTo>
                    <a:pt x="5715" y="716280"/>
                  </a:lnTo>
                  <a:lnTo>
                    <a:pt x="20955" y="787717"/>
                  </a:lnTo>
                  <a:lnTo>
                    <a:pt x="37148" y="857250"/>
                  </a:lnTo>
                  <a:lnTo>
                    <a:pt x="67627" y="923925"/>
                  </a:lnTo>
                  <a:lnTo>
                    <a:pt x="104775" y="987742"/>
                  </a:lnTo>
                  <a:lnTo>
                    <a:pt x="145733" y="1045845"/>
                  </a:lnTo>
                  <a:lnTo>
                    <a:pt x="192405" y="1101090"/>
                  </a:lnTo>
                  <a:lnTo>
                    <a:pt x="244792" y="1147763"/>
                  </a:lnTo>
                  <a:lnTo>
                    <a:pt x="306705" y="1190625"/>
                  </a:lnTo>
                  <a:lnTo>
                    <a:pt x="369570" y="1223963"/>
                  </a:lnTo>
                  <a:lnTo>
                    <a:pt x="436245" y="1253490"/>
                  </a:lnTo>
                  <a:lnTo>
                    <a:pt x="503873" y="1272540"/>
                  </a:lnTo>
                  <a:lnTo>
                    <a:pt x="577215" y="1284923"/>
                  </a:lnTo>
                  <a:lnTo>
                    <a:pt x="649605" y="1288732"/>
                  </a:lnTo>
                  <a:lnTo>
                    <a:pt x="721995" y="1284923"/>
                  </a:lnTo>
                  <a:lnTo>
                    <a:pt x="795338" y="1272540"/>
                  </a:lnTo>
                  <a:lnTo>
                    <a:pt x="862965" y="1253490"/>
                  </a:lnTo>
                  <a:lnTo>
                    <a:pt x="930592" y="1223963"/>
                  </a:lnTo>
                  <a:lnTo>
                    <a:pt x="992505" y="1190625"/>
                  </a:lnTo>
                  <a:lnTo>
                    <a:pt x="1054418" y="1147763"/>
                  </a:lnTo>
                  <a:lnTo>
                    <a:pt x="1106805" y="1101090"/>
                  </a:lnTo>
                  <a:lnTo>
                    <a:pt x="1153478" y="1045845"/>
                  </a:lnTo>
                  <a:lnTo>
                    <a:pt x="1195388" y="987742"/>
                  </a:lnTo>
                  <a:lnTo>
                    <a:pt x="1231582" y="923925"/>
                  </a:lnTo>
                  <a:lnTo>
                    <a:pt x="1262062" y="857250"/>
                  </a:lnTo>
                  <a:lnTo>
                    <a:pt x="1278255" y="787717"/>
                  </a:lnTo>
                  <a:lnTo>
                    <a:pt x="1293495" y="716280"/>
                  </a:lnTo>
                  <a:lnTo>
                    <a:pt x="1299210" y="644842"/>
                  </a:lnTo>
                  <a:lnTo>
                    <a:pt x="1293495" y="573405"/>
                  </a:lnTo>
                  <a:lnTo>
                    <a:pt x="1282065" y="520065"/>
                  </a:lnTo>
                </a:path>
              </a:pathLst>
            </a:custGeom>
            <a:noFill/>
            <a:ln w="20955">
              <a:solidFill>
                <a:srgbClr val="2F4B9A"/>
              </a:solidFill>
              <a:custDash>
                <a:ds d="272727" sp="181818"/>
              </a:custDash>
            </a:ln>
          </p:spPr>
        </p:sp>
        <p:sp>
          <p:nvSpPr>
            <p:cNvPr id="15" name="Freeform 15"/>
            <p:cNvSpPr/>
            <p:nvPr/>
          </p:nvSpPr>
          <p:spPr>
            <a:xfrm>
              <a:off x="2647950" y="4375785"/>
              <a:ext cx="517208" cy="213360"/>
            </a:xfrm>
            <a:custGeom>
              <a:avLst/>
              <a:gdLst/>
              <a:ahLst/>
              <a:cxnLst/>
              <a:rect l="l" t="t" r="r" b="b"/>
              <a:pathLst>
                <a:path w="517208" h="213360">
                  <a:moveTo>
                    <a:pt x="0" y="213360"/>
                  </a:moveTo>
                  <a:lnTo>
                    <a:pt x="517208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147060" y="4331970"/>
              <a:ext cx="105728" cy="87630"/>
            </a:xfrm>
            <a:custGeom>
              <a:avLst/>
              <a:gdLst/>
              <a:ahLst/>
              <a:cxnLst/>
              <a:rect l="l" t="t" r="r" b="b"/>
              <a:pathLst>
                <a:path w="105728" h="87630">
                  <a:moveTo>
                    <a:pt x="105728" y="7620"/>
                  </a:moveTo>
                  <a:lnTo>
                    <a:pt x="36195" y="876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566035" y="3991928"/>
              <a:ext cx="214312" cy="514350"/>
            </a:xfrm>
            <a:custGeom>
              <a:avLst/>
              <a:gdLst/>
              <a:ahLst/>
              <a:cxnLst/>
              <a:rect l="l" t="t" r="r" b="b"/>
              <a:pathLst>
                <a:path w="214312" h="514350">
                  <a:moveTo>
                    <a:pt x="0" y="514350"/>
                  </a:moveTo>
                  <a:lnTo>
                    <a:pt x="214312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735580" y="3904298"/>
              <a:ext cx="88583" cy="105728"/>
            </a:xfrm>
            <a:custGeom>
              <a:avLst/>
              <a:gdLst/>
              <a:ahLst/>
              <a:cxnLst/>
              <a:rect l="l" t="t" r="r" b="b"/>
              <a:pathLst>
                <a:path w="88583" h="105728">
                  <a:moveTo>
                    <a:pt x="80962" y="0"/>
                  </a:moveTo>
                  <a:lnTo>
                    <a:pt x="88583" y="105728"/>
                  </a:lnTo>
                  <a:lnTo>
                    <a:pt x="0" y="69533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2234565" y="3991928"/>
              <a:ext cx="214313" cy="514350"/>
            </a:xfrm>
            <a:custGeom>
              <a:avLst/>
              <a:gdLst/>
              <a:ahLst/>
              <a:cxnLst/>
              <a:rect l="l" t="t" r="r" b="b"/>
              <a:pathLst>
                <a:path w="214313" h="514350">
                  <a:moveTo>
                    <a:pt x="214313" y="51435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2189798" y="3904298"/>
              <a:ext cx="88582" cy="105728"/>
            </a:xfrm>
            <a:custGeom>
              <a:avLst/>
              <a:gdLst/>
              <a:ahLst/>
              <a:cxnLst/>
              <a:rect l="l" t="t" r="r" b="b"/>
              <a:pathLst>
                <a:path w="88582" h="105728">
                  <a:moveTo>
                    <a:pt x="7620" y="0"/>
                  </a:moveTo>
                  <a:lnTo>
                    <a:pt x="88582" y="69533"/>
                  </a:lnTo>
                  <a:lnTo>
                    <a:pt x="0" y="105728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1848802" y="4375785"/>
              <a:ext cx="517208" cy="213360"/>
            </a:xfrm>
            <a:custGeom>
              <a:avLst/>
              <a:gdLst/>
              <a:ahLst/>
              <a:cxnLst/>
              <a:rect l="l" t="t" r="r" b="b"/>
              <a:pathLst>
                <a:path w="517208" h="213360">
                  <a:moveTo>
                    <a:pt x="517208" y="21336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1761172" y="4331970"/>
              <a:ext cx="106680" cy="87630"/>
            </a:xfrm>
            <a:custGeom>
              <a:avLst/>
              <a:gdLst/>
              <a:ahLst/>
              <a:cxnLst/>
              <a:rect l="l" t="t" r="r" b="b"/>
              <a:pathLst>
                <a:path w="106680" h="87630">
                  <a:moveTo>
                    <a:pt x="0" y="7620"/>
                  </a:moveTo>
                  <a:lnTo>
                    <a:pt x="106680" y="0"/>
                  </a:lnTo>
                  <a:lnTo>
                    <a:pt x="69532" y="8763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1848802" y="4705350"/>
              <a:ext cx="517208" cy="213360"/>
            </a:xfrm>
            <a:custGeom>
              <a:avLst/>
              <a:gdLst/>
              <a:ahLst/>
              <a:cxnLst/>
              <a:rect l="l" t="t" r="r" b="b"/>
              <a:pathLst>
                <a:path w="517208" h="213360">
                  <a:moveTo>
                    <a:pt x="517208" y="0"/>
                  </a:moveTo>
                  <a:lnTo>
                    <a:pt x="0" y="21336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1761172" y="4873942"/>
              <a:ext cx="106680" cy="88583"/>
            </a:xfrm>
            <a:custGeom>
              <a:avLst/>
              <a:gdLst/>
              <a:ahLst/>
              <a:cxnLst/>
              <a:rect l="l" t="t" r="r" b="b"/>
              <a:pathLst>
                <a:path w="106680" h="88583">
                  <a:moveTo>
                    <a:pt x="0" y="80963"/>
                  </a:moveTo>
                  <a:lnTo>
                    <a:pt x="69532" y="0"/>
                  </a:lnTo>
                  <a:lnTo>
                    <a:pt x="106680" y="88583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2234565" y="4787265"/>
              <a:ext cx="214313" cy="514350"/>
            </a:xfrm>
            <a:custGeom>
              <a:avLst/>
              <a:gdLst/>
              <a:ahLst/>
              <a:cxnLst/>
              <a:rect l="l" t="t" r="r" b="b"/>
              <a:pathLst>
                <a:path w="214313" h="514350">
                  <a:moveTo>
                    <a:pt x="214313" y="0"/>
                  </a:moveTo>
                  <a:lnTo>
                    <a:pt x="0" y="51435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2189798" y="5283518"/>
              <a:ext cx="88582" cy="106680"/>
            </a:xfrm>
            <a:custGeom>
              <a:avLst/>
              <a:gdLst/>
              <a:ahLst/>
              <a:cxnLst/>
              <a:rect l="l" t="t" r="r" b="b"/>
              <a:pathLst>
                <a:path w="88582" h="106680">
                  <a:moveTo>
                    <a:pt x="7620" y="106680"/>
                  </a:moveTo>
                  <a:lnTo>
                    <a:pt x="0" y="0"/>
                  </a:lnTo>
                  <a:lnTo>
                    <a:pt x="88582" y="37147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2566035" y="4787265"/>
              <a:ext cx="214312" cy="514350"/>
            </a:xfrm>
            <a:custGeom>
              <a:avLst/>
              <a:gdLst/>
              <a:ahLst/>
              <a:cxnLst/>
              <a:rect l="l" t="t" r="r" b="b"/>
              <a:pathLst>
                <a:path w="214312" h="514350">
                  <a:moveTo>
                    <a:pt x="0" y="0"/>
                  </a:moveTo>
                  <a:lnTo>
                    <a:pt x="214312" y="51435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2735580" y="5283518"/>
              <a:ext cx="88583" cy="106680"/>
            </a:xfrm>
            <a:custGeom>
              <a:avLst/>
              <a:gdLst/>
              <a:ahLst/>
              <a:cxnLst/>
              <a:rect l="l" t="t" r="r" b="b"/>
              <a:pathLst>
                <a:path w="88583" h="106680">
                  <a:moveTo>
                    <a:pt x="80962" y="106680"/>
                  </a:moveTo>
                  <a:lnTo>
                    <a:pt x="0" y="37147"/>
                  </a:lnTo>
                  <a:lnTo>
                    <a:pt x="88583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2647950" y="4705350"/>
              <a:ext cx="517208" cy="213360"/>
            </a:xfrm>
            <a:custGeom>
              <a:avLst/>
              <a:gdLst/>
              <a:ahLst/>
              <a:cxnLst/>
              <a:rect l="l" t="t" r="r" b="b"/>
              <a:pathLst>
                <a:path w="517208" h="213360">
                  <a:moveTo>
                    <a:pt x="0" y="0"/>
                  </a:moveTo>
                  <a:lnTo>
                    <a:pt x="517208" y="21336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3147060" y="4873942"/>
              <a:ext cx="105728" cy="88583"/>
            </a:xfrm>
            <a:custGeom>
              <a:avLst/>
              <a:gdLst/>
              <a:ahLst/>
              <a:cxnLst/>
              <a:rect l="l" t="t" r="r" b="b"/>
              <a:pathLst>
                <a:path w="105728" h="88583">
                  <a:moveTo>
                    <a:pt x="105728" y="80963"/>
                  </a:moveTo>
                  <a:lnTo>
                    <a:pt x="0" y="88583"/>
                  </a:lnTo>
                  <a:lnTo>
                    <a:pt x="36195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3223260" y="4647248"/>
              <a:ext cx="457200" cy="9525"/>
            </a:xfrm>
            <a:custGeom>
              <a:avLst/>
              <a:gdLst/>
              <a:ahLst/>
              <a:cxnLst/>
              <a:rect l="l" t="t" r="r" b="b"/>
              <a:pathLst>
                <a:path w="457200" h="9525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noFill/>
            <a:ln w="22860">
              <a:solidFill>
                <a:srgbClr val="B42318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3680460" y="459962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3147060" y="463772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3126105" y="449389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2364105" y="4504372"/>
              <a:ext cx="285750" cy="285750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3261360" y="432244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2814638" y="387667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2180272" y="387667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1734502" y="432244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1734502" y="495204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2180272" y="539781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2814638" y="539781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3261360" y="495204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3099435" y="4590098"/>
              <a:ext cx="114300" cy="11430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3785235" y="463772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2432249" y="459105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+q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893630" y="4452461"/>
              <a:ext cx="1665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dS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749040" y="3833812"/>
              <a:ext cx="60297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高斯球面 S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893820" y="4800600"/>
              <a:ext cx="72412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 处处沿法线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893820" y="5051108"/>
              <a:ext cx="7590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 = q/(4πr²)</a:t>
              </a:r>
            </a:p>
          </p:txBody>
        </p:sp>
      </p:grpSp>
      <p:grpSp>
        <p:nvGrpSpPr>
          <p:cNvPr id="73" name="c2-steps-1"/>
          <p:cNvGrpSpPr/>
          <p:nvPr/>
        </p:nvGrpSpPr>
        <p:grpSpPr>
          <a:xfrm>
            <a:off x="6032182" y="1533525"/>
            <a:ext cx="4521346" cy="2702814"/>
            <a:chOff x="6032182" y="1533525"/>
            <a:chExt cx="4521346" cy="2702814"/>
          </a:xfrm>
        </p:grpSpPr>
        <p:sp>
          <p:nvSpPr>
            <p:cNvPr id="52" name="Rectangle 52"/>
            <p:cNvSpPr/>
            <p:nvPr/>
          </p:nvSpPr>
          <p:spPr>
            <a:xfrm>
              <a:off x="6165532" y="1676400"/>
              <a:ext cx="19050" cy="22117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6032182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125806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032182" y="208692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125806" y="21607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032182" y="263937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125806" y="27131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032182" y="319278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125806" y="32665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6032182" y="374523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125806" y="38190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444806" y="1564481"/>
              <a:ext cx="11821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① q 在球面中心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445948" y="1818322"/>
              <a:ext cx="40153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球面上 D = q/(4πr²) 处处沿法线，Φe = D·4πr² = q，与 r 无关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444806" y="2116931"/>
              <a:ext cx="15267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② q 在任意闭合面内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445948" y="2371725"/>
              <a:ext cx="41075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穿过小球面的每条 D 线都要穿出外面的任意闭合面 S′，Φe 仍是 q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444806" y="2670334"/>
              <a:ext cx="12006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③ 面内没有电荷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445948" y="2925128"/>
              <a:ext cx="25379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穿入的线又全部穿出，正负抵消，Φe = 0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444806" y="3222784"/>
              <a:ext cx="13729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④ 面内有多个电荷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445948" y="3477578"/>
              <a:ext cx="26565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每个电荷各贡献 qᵢ，按叠加原理 Φe = Σqᵢ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444806" y="3776186"/>
              <a:ext cx="12006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⑤ 电荷连续分布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445948" y="4030980"/>
              <a:ext cx="20281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把求和换成积分：∮D·dS = ∫ρdV</a:t>
              </a:r>
            </a:p>
          </p:txBody>
        </p:sp>
      </p:grpSp>
      <p:grpSp>
        <p:nvGrpSpPr>
          <p:cNvPr id="79" name="c2-card-2"/>
          <p:cNvGrpSpPr/>
          <p:nvPr/>
        </p:nvGrpSpPr>
        <p:grpSpPr>
          <a:xfrm>
            <a:off x="6032182" y="4397692"/>
            <a:ext cx="5626418" cy="1143952"/>
            <a:chOff x="6032182" y="4397692"/>
            <a:chExt cx="5626418" cy="1143952"/>
          </a:xfrm>
        </p:grpSpPr>
        <p:sp>
          <p:nvSpPr>
            <p:cNvPr id="74" name="Rectangle 74"/>
            <p:cNvSpPr/>
            <p:nvPr/>
          </p:nvSpPr>
          <p:spPr>
            <a:xfrm>
              <a:off x="6032182" y="4397692"/>
              <a:ext cx="5626418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5" name="Rectangle 75"/>
            <p:cNvSpPr/>
            <p:nvPr/>
          </p:nvSpPr>
          <p:spPr>
            <a:xfrm>
              <a:off x="6041708" y="4531042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6251258" y="4578668"/>
              <a:ext cx="98202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322863" y="4611529"/>
              <a:ext cx="8378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 E 写的形式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244780" y="4919186"/>
              <a:ext cx="50116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真空中 D = ε₀E，定理写成 ∮E·dS = Σq/ε₀；有介质时这里的 q 要把束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缚电荷也算进去。</a:t>
              </a:r>
            </a:p>
          </p:txBody>
        </p:sp>
      </p:grpSp>
      <p:grpSp>
        <p:nvGrpSpPr>
          <p:cNvPr id="85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80" name="Rectangle 80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83" name="Group 83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81" name="Freeform 81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4" name="TextBox 84"/>
            <p:cNvSpPr txBox="1"/>
            <p:nvPr/>
          </p:nvSpPr>
          <p:spPr>
            <a:xfrm>
              <a:off x="1041273" y="6039326"/>
              <a:ext cx="70602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面外电荷会改变高斯面上各点的 D，但它的电位移线穿入又穿出，对总通量的贡献恰好是零。</a:t>
              </a:r>
            </a:p>
          </p:txBody>
        </p:sp>
      </p:grpSp>
      <p:grpSp>
        <p:nvGrpSpPr>
          <p:cNvPr id="8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6" name="TextBox 86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第4章 静电场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18565" cy="909257"/>
            <a:chOff x="520446" y="342900"/>
            <a:chExt cx="681856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静电场 · 静电场中的高斯定理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1856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Φe 与 D 不是一回事：通量为零不等于场为零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kv-1"/>
          <p:cNvGrpSpPr/>
          <p:nvPr/>
        </p:nvGrpSpPr>
        <p:grpSpPr>
          <a:xfrm>
            <a:off x="526923" y="1545431"/>
            <a:ext cx="5200459" cy="1371409"/>
            <a:chOff x="526923" y="1545431"/>
            <a:chExt cx="5200459" cy="1371409"/>
          </a:xfrm>
        </p:grpSpPr>
        <p:sp>
          <p:nvSpPr>
            <p:cNvPr id="7" name="TextBox 7"/>
            <p:cNvSpPr txBox="1"/>
            <p:nvPr/>
          </p:nvSpPr>
          <p:spPr>
            <a:xfrm>
              <a:off x="526923" y="15454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数学关系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531810" y="1545431"/>
              <a:ext cx="9037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Φe = ∮D·dS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181737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6923" y="191881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几何关系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31810" y="1918811"/>
              <a:ext cx="19454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穿过 S 的电位移线净条数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19075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6923" y="2293144"/>
              <a:ext cx="7903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Φe 是标量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31810" y="2293144"/>
              <a:ext cx="19454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只与 S 内的自由电荷有关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256508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6923" y="2667476"/>
              <a:ext cx="6923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D 是矢量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31810" y="2667476"/>
              <a:ext cx="22900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S 内、外所有电荷共同决定</a:t>
              </a:r>
            </a:p>
          </p:txBody>
        </p:sp>
      </p:grpSp>
      <p:grpSp>
        <p:nvGrpSpPr>
          <p:cNvPr id="32" name="c1-card-2"/>
          <p:cNvGrpSpPr/>
          <p:nvPr/>
        </p:nvGrpSpPr>
        <p:grpSpPr>
          <a:xfrm>
            <a:off x="533400" y="3030855"/>
            <a:ext cx="5193982" cy="2651760"/>
            <a:chOff x="533400" y="3030855"/>
            <a:chExt cx="5193982" cy="2651760"/>
          </a:xfrm>
        </p:grpSpPr>
        <p:sp>
          <p:nvSpPr>
            <p:cNvPr id="19" name="Rectangle 19"/>
            <p:cNvSpPr/>
            <p:nvPr/>
          </p:nvSpPr>
          <p:spPr>
            <a:xfrm>
              <a:off x="533400" y="3030855"/>
              <a:ext cx="5193982" cy="2651760"/>
            </a:xfrm>
            <a:prstGeom prst="roundRect">
              <a:avLst>
                <a:gd name="adj" fmla="val 5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2925" y="3164205"/>
              <a:ext cx="47625" cy="238506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52475" y="321183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7044" y="324469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三点说明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52475" y="3541395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04382" y="357606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22223" y="3552349"/>
              <a:ext cx="421513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高斯面是为计算选取的假想曲面，不是实际存在的面；D 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高斯面上各点的总电位移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52475" y="4069080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04382" y="410470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22223" y="4080034"/>
              <a:ext cx="42395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高斯定理说明静电场是有源场：正电荷是电位移线的源头，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负电荷是终点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52475" y="4596765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04382" y="463238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22223" y="4607719"/>
              <a:ext cx="426389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定理对任意闭合面都成立，但只有电荷分布对称、能让 D 提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到积分号外时，才能用它求 D</a:t>
              </a:r>
            </a:p>
          </p:txBody>
        </p:sp>
      </p:grpSp>
      <p:grpSp>
        <p:nvGrpSpPr>
          <p:cNvPr id="39" name="c2-card-1"/>
          <p:cNvGrpSpPr/>
          <p:nvPr/>
        </p:nvGrpSpPr>
        <p:grpSpPr>
          <a:xfrm>
            <a:off x="6032182" y="1524000"/>
            <a:ext cx="5626418" cy="1341120"/>
            <a:chOff x="6032182" y="1524000"/>
            <a:chExt cx="5626418" cy="1341120"/>
          </a:xfrm>
        </p:grpSpPr>
        <p:sp>
          <p:nvSpPr>
            <p:cNvPr id="33" name="Rectangle 33"/>
            <p:cNvSpPr/>
            <p:nvPr/>
          </p:nvSpPr>
          <p:spPr>
            <a:xfrm>
              <a:off x="6032182" y="1524000"/>
              <a:ext cx="5626418" cy="1341120"/>
            </a:xfrm>
            <a:prstGeom prst="roundRect">
              <a:avLst>
                <a:gd name="adj" fmla="val 99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041708" y="1657350"/>
              <a:ext cx="47625" cy="107442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251258" y="1704975"/>
              <a:ext cx="56959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40302" y="1737836"/>
              <a:ext cx="3915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判断 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44780" y="2045494"/>
              <a:ext cx="38138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两个闭合面 Φe1 = Φe2，能说明面上 D₁ = D₂ 吗？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245924" y="2326005"/>
              <a:ext cx="4924616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不能。同一个点电荷外画大小两个球面，通量都是 q，但大球面上 D 小、小球面上 D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大。</a:t>
              </a:r>
            </a:p>
          </p:txBody>
        </p:sp>
      </p:grpSp>
      <p:grpSp>
        <p:nvGrpSpPr>
          <p:cNvPr id="46" name="c2-card-2"/>
          <p:cNvGrpSpPr/>
          <p:nvPr/>
        </p:nvGrpSpPr>
        <p:grpSpPr>
          <a:xfrm>
            <a:off x="6032182" y="3029902"/>
            <a:ext cx="5626418" cy="1341120"/>
            <a:chOff x="6032182" y="3029902"/>
            <a:chExt cx="5626418" cy="1341120"/>
          </a:xfrm>
        </p:grpSpPr>
        <p:sp>
          <p:nvSpPr>
            <p:cNvPr id="40" name="Rectangle 40"/>
            <p:cNvSpPr/>
            <p:nvPr/>
          </p:nvSpPr>
          <p:spPr>
            <a:xfrm>
              <a:off x="6032182" y="3029902"/>
              <a:ext cx="5626418" cy="1341120"/>
            </a:xfrm>
            <a:prstGeom prst="roundRect">
              <a:avLst>
                <a:gd name="adj" fmla="val 99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041708" y="3163252"/>
              <a:ext cx="47625" cy="107442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251258" y="3210878"/>
              <a:ext cx="56959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40302" y="3243739"/>
              <a:ext cx="3915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判断 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244780" y="3550444"/>
              <a:ext cx="27511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Φe = 0，能说明面上各点 D = 0 吗？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245924" y="3831908"/>
              <a:ext cx="4937950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不能。面内有 +q、−q 各一个时通量为零，面上各点 D 显然不为零；面内无电荷、面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外有电荷时也一样。</a:t>
              </a:r>
            </a:p>
          </p:txBody>
        </p:sp>
      </p:grpSp>
      <p:grpSp>
        <p:nvGrpSpPr>
          <p:cNvPr id="53" name="c2-card-3"/>
          <p:cNvGrpSpPr/>
          <p:nvPr/>
        </p:nvGrpSpPr>
        <p:grpSpPr>
          <a:xfrm>
            <a:off x="6032182" y="4534852"/>
            <a:ext cx="5626418" cy="1147762"/>
            <a:chOff x="6032182" y="4534852"/>
            <a:chExt cx="5626418" cy="1147762"/>
          </a:xfrm>
        </p:grpSpPr>
        <p:sp>
          <p:nvSpPr>
            <p:cNvPr id="47" name="Rectangle 47"/>
            <p:cNvSpPr/>
            <p:nvPr/>
          </p:nvSpPr>
          <p:spPr>
            <a:xfrm>
              <a:off x="6032182" y="4534852"/>
              <a:ext cx="5626418" cy="1147762"/>
            </a:xfrm>
            <a:prstGeom prst="roundRect">
              <a:avLst>
                <a:gd name="adj" fmla="val 1161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041708" y="4668202"/>
              <a:ext cx="47625" cy="88106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251258" y="4715828"/>
              <a:ext cx="56959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340302" y="4748689"/>
              <a:ext cx="3915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判断 3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244780" y="5056346"/>
              <a:ext cx="29835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面内有 +q，面外有 2q，Φe 等于多少？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245924" y="5337810"/>
              <a:ext cx="34668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Φe = q。面外的 2q 只改变面上各点的 D，不改变通量。</a:t>
              </a:r>
            </a:p>
          </p:txBody>
        </p:sp>
      </p:grpSp>
      <p:grpSp>
        <p:nvGrpSpPr>
          <p:cNvPr id="60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4" name="Rectangle 54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041273" y="6039326"/>
              <a:ext cx="91919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D 的高斯定理右边只算自由电荷；写成 E 的形式时右边是 Σq/ε₀，这里的 q 要包括束缚电荷。所以介质问题一律先求 D。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第4章 静电场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静电场 · 静电场中的高斯定理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用高斯定理求场强：先看对称性，再选高斯面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4549775" cy="2487454"/>
            <a:chOff x="533400" y="1533525"/>
            <a:chExt cx="4549775" cy="2487454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9678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2026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91465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9884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50139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5752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642" y="1564957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分析对称性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785" y="1833086"/>
              <a:ext cx="29410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 D 的方向，以及哪些点上 D 的大小相等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642" y="215265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选高斯面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785" y="2419826"/>
              <a:ext cx="413639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过待求场点；面的每一部分要么 D 与法线平行且大小相等，要么 D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与法线垂直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642" y="294608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算通量和面内电荷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785" y="3214211"/>
              <a:ext cx="33183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∮D·dS 化成 D × 面积，右边算 S 内的自由电荷 Σq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642" y="3532822"/>
              <a:ext cx="11439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先求 D 再求 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785" y="3800951"/>
              <a:ext cx="15120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= Σq/面积，E = D/ε</a:t>
              </a:r>
            </a:p>
          </p:txBody>
        </p:sp>
      </p:grpSp>
      <p:grpSp>
        <p:nvGrpSpPr>
          <p:cNvPr id="30" name="c1-card-2"/>
          <p:cNvGrpSpPr/>
          <p:nvPr/>
        </p:nvGrpSpPr>
        <p:grpSpPr>
          <a:xfrm>
            <a:off x="533400" y="4190048"/>
            <a:ext cx="4760595" cy="1466850"/>
            <a:chOff x="533400" y="4190048"/>
            <a:chExt cx="4760595" cy="1466850"/>
          </a:xfrm>
        </p:grpSpPr>
        <p:sp>
          <p:nvSpPr>
            <p:cNvPr id="25" name="Rectangle 25"/>
            <p:cNvSpPr/>
            <p:nvPr/>
          </p:nvSpPr>
          <p:spPr>
            <a:xfrm>
              <a:off x="533400" y="4190048"/>
              <a:ext cx="4760595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42925" y="4323398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63905" y="4382452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39343" y="441674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高斯面怎么放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7047" y="4738687"/>
              <a:ext cx="41285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高斯面必须闭合，可以穿过带电体内部（求球体内部的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场就这样做），但不要恰好压在点电荷或面电荷上，那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里的 D 没有确定值。</a:t>
              </a:r>
            </a:p>
          </p:txBody>
        </p:sp>
      </p:grpSp>
      <p:grpSp>
        <p:nvGrpSpPr>
          <p:cNvPr id="55" name="c2-table-1"/>
          <p:cNvGrpSpPr/>
          <p:nvPr/>
        </p:nvGrpSpPr>
        <p:grpSpPr>
          <a:xfrm>
            <a:off x="5598795" y="1524000"/>
            <a:ext cx="6059805" cy="2223135"/>
            <a:chOff x="5598795" y="1524000"/>
            <a:chExt cx="6059805" cy="2223135"/>
          </a:xfrm>
        </p:grpSpPr>
        <p:sp>
          <p:nvSpPr>
            <p:cNvPr id="31" name="Rectangle 31"/>
            <p:cNvSpPr/>
            <p:nvPr/>
          </p:nvSpPr>
          <p:spPr>
            <a:xfrm>
              <a:off x="5598795" y="1524000"/>
              <a:ext cx="6059805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791733" y="164830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对称性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169861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电荷分布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63571" y="164830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高斯面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714393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通量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698808" y="215407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球对称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47485" y="2054066"/>
              <a:ext cx="171831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均匀带电球面、球体、同心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球壳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607742" y="215407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同心球面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183178" y="2154079"/>
              <a:ext cx="5183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D·4πr²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598795" y="253079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598795" y="2535555"/>
              <a:ext cx="6059805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698808" y="27598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柱对称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47485" y="2659856"/>
              <a:ext cx="171831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无限长直线、圆柱面、圆柱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体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607742" y="27598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同轴圆柱面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183178" y="2759869"/>
              <a:ext cx="13598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D·2πrl（底面为 0）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598795" y="313658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698808" y="336565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面对称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547485" y="336565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无限大平面、平板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607742" y="3265646"/>
              <a:ext cx="129159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垂直穿过平面的圆柱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183178" y="3365659"/>
              <a:ext cx="12439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2DΔS（侧面为 0）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598795" y="1524000"/>
              <a:ext cx="6059805" cy="22231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442710" y="1524000"/>
              <a:ext cx="9525" cy="22231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8502968" y="1524000"/>
              <a:ext cx="9525" cy="22231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10078402" y="1524000"/>
              <a:ext cx="9525" cy="22231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1" name="c2-card-2"/>
          <p:cNvGrpSpPr/>
          <p:nvPr/>
        </p:nvGrpSpPr>
        <p:grpSpPr>
          <a:xfrm>
            <a:off x="5598795" y="3922395"/>
            <a:ext cx="6059805" cy="1734502"/>
            <a:chOff x="5598795" y="3922395"/>
            <a:chExt cx="6059805" cy="1734502"/>
          </a:xfrm>
        </p:grpSpPr>
        <p:sp>
          <p:nvSpPr>
            <p:cNvPr id="56" name="Rectangle 56"/>
            <p:cNvSpPr/>
            <p:nvPr/>
          </p:nvSpPr>
          <p:spPr>
            <a:xfrm>
              <a:off x="5598795" y="3922395"/>
              <a:ext cx="6059805" cy="1734502"/>
            </a:xfrm>
            <a:prstGeom prst="roundRect">
              <a:avLst>
                <a:gd name="adj" fmla="val 768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5608320" y="4055745"/>
              <a:ext cx="47625" cy="146780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5829300" y="4114800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900738" y="414909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什么时候用不了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5822442" y="4471035"/>
              <a:ext cx="53286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有限长直线、有限大平面、正方体这类分布，高斯定理照样成立，但找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不到能让 D 提到积分号外面的曲面，求不出 E。这时回到叠加积分。</a:t>
              </a:r>
            </a:p>
          </p:txBody>
        </p:sp>
      </p:grpSp>
      <p:grpSp>
        <p:nvGrpSpPr>
          <p:cNvPr id="67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2" name="Rectangle 62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1040892" y="6023610"/>
              <a:ext cx="67770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判断能不能用高斯定理求场，只看一句：高斯面上 D 的大小能不能提到积分号外面。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第4章 静电场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89565" cy="909257"/>
            <a:chOff x="520446" y="342900"/>
            <a:chExt cx="648956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静电场 · 静电场中的高斯定理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8956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均匀带电球面：内部 E = 0，外部像点电荷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274445"/>
            <a:chOff x="533400" y="1524000"/>
            <a:chExt cx="5410200" cy="12744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74445"/>
            </a:xfrm>
            <a:prstGeom prst="roundRect">
              <a:avLst>
                <a:gd name="adj" fmla="val 10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077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0445" y="176355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463118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半径 R 的球面均匀带电 q。</a:t>
              </a: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球内外的场强分布，画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E~r 曲线。</a:t>
              </a:r>
            </a:p>
          </p:txBody>
        </p:sp>
      </p:grpSp>
      <p:grpSp>
        <p:nvGrpSpPr>
          <p:cNvPr id="26" name="c1-steps-2"/>
          <p:cNvGrpSpPr/>
          <p:nvPr/>
        </p:nvGrpSpPr>
        <p:grpSpPr>
          <a:xfrm>
            <a:off x="533400" y="2993708"/>
            <a:ext cx="4608881" cy="1790128"/>
            <a:chOff x="533400" y="2993708"/>
            <a:chExt cx="4608881" cy="1790128"/>
          </a:xfrm>
        </p:grpSpPr>
        <p:sp>
          <p:nvSpPr>
            <p:cNvPr id="13" name="Rectangle 13"/>
            <p:cNvSpPr/>
            <p:nvPr/>
          </p:nvSpPr>
          <p:spPr>
            <a:xfrm>
              <a:off x="666750" y="3136582"/>
              <a:ext cx="19050" cy="1242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533400" y="299370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0675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61473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6885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423576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43095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261" y="3026569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对称性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404" y="3307080"/>
              <a:ext cx="41958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沿径向，同一同心球面上大小相等，取同心球面为高斯面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261" y="3647599"/>
              <a:ext cx="47887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&gt; R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404" y="3928110"/>
              <a:ext cx="39835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∮D·dS = D·4πr² = q，D = q/(4πr²)，E = q/(4πε₀r²)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261" y="4268629"/>
              <a:ext cx="47887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&lt; R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404" y="4549140"/>
              <a:ext cx="33802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高斯面内没有电荷，D·4πr² = 0，D = 0，E = 0</a:t>
              </a:r>
            </a:p>
          </p:txBody>
        </p:sp>
      </p:grpSp>
      <p:grpSp>
        <p:nvGrpSpPr>
          <p:cNvPr id="31" name="c1-card-3"/>
          <p:cNvGrpSpPr/>
          <p:nvPr/>
        </p:nvGrpSpPr>
        <p:grpSpPr>
          <a:xfrm>
            <a:off x="533400" y="4959668"/>
            <a:ext cx="5410200" cy="1274445"/>
            <a:chOff x="533400" y="4959668"/>
            <a:chExt cx="5410200" cy="1274445"/>
          </a:xfrm>
        </p:grpSpPr>
        <p:sp>
          <p:nvSpPr>
            <p:cNvPr id="27" name="Rectangle 27"/>
            <p:cNvSpPr/>
            <p:nvPr/>
          </p:nvSpPr>
          <p:spPr>
            <a:xfrm>
              <a:off x="533400" y="4959668"/>
              <a:ext cx="5410200" cy="1274445"/>
            </a:xfrm>
            <a:prstGeom prst="roundRect">
              <a:avLst>
                <a:gd name="adj" fmla="val 10463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37235" y="5163502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2345" y="519922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29996" y="5536406"/>
              <a:ext cx="478447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E内 = 0；E外 = q/(4πε₀r²)，与全部电荷集中在球心的点电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荷相同。E 在 r = R 处跳变。</a:t>
              </a:r>
            </a:p>
          </p:txBody>
        </p:sp>
      </p:grpSp>
      <p:grpSp>
        <p:nvGrpSpPr>
          <p:cNvPr id="45" name="c2-graph-1"/>
          <p:cNvGrpSpPr/>
          <p:nvPr/>
        </p:nvGrpSpPr>
        <p:grpSpPr>
          <a:xfrm>
            <a:off x="6702742" y="1664018"/>
            <a:ext cx="3938074" cy="1475423"/>
            <a:chOff x="6702742" y="1664018"/>
            <a:chExt cx="3938074" cy="1475423"/>
          </a:xfrm>
        </p:grpSpPr>
        <p:sp>
          <p:nvSpPr>
            <p:cNvPr id="32" name="Freeform 32"/>
            <p:cNvSpPr/>
            <p:nvPr/>
          </p:nvSpPr>
          <p:spPr>
            <a:xfrm>
              <a:off x="6983730" y="1945005"/>
              <a:ext cx="909638" cy="913448"/>
            </a:xfrm>
            <a:custGeom>
              <a:avLst/>
              <a:gdLst/>
              <a:ahLst/>
              <a:cxnLst/>
              <a:rect l="l" t="t" r="r" b="b"/>
              <a:pathLst>
                <a:path w="909638" h="913448">
                  <a:moveTo>
                    <a:pt x="909638" y="438150"/>
                  </a:moveTo>
                  <a:lnTo>
                    <a:pt x="909638" y="405765"/>
                  </a:lnTo>
                  <a:lnTo>
                    <a:pt x="898207" y="355283"/>
                  </a:lnTo>
                  <a:lnTo>
                    <a:pt x="887730" y="305753"/>
                  </a:lnTo>
                  <a:lnTo>
                    <a:pt x="865822" y="258128"/>
                  </a:lnTo>
                  <a:lnTo>
                    <a:pt x="844867" y="214312"/>
                  </a:lnTo>
                  <a:lnTo>
                    <a:pt x="811530" y="172403"/>
                  </a:lnTo>
                  <a:lnTo>
                    <a:pt x="779145" y="133350"/>
                  </a:lnTo>
                  <a:lnTo>
                    <a:pt x="741997" y="100012"/>
                  </a:lnTo>
                  <a:lnTo>
                    <a:pt x="698182" y="70485"/>
                  </a:lnTo>
                  <a:lnTo>
                    <a:pt x="655320" y="45720"/>
                  </a:lnTo>
                  <a:lnTo>
                    <a:pt x="606742" y="26670"/>
                  </a:lnTo>
                  <a:lnTo>
                    <a:pt x="558165" y="12383"/>
                  </a:lnTo>
                  <a:lnTo>
                    <a:pt x="503872" y="3810"/>
                  </a:lnTo>
                  <a:lnTo>
                    <a:pt x="455295" y="0"/>
                  </a:lnTo>
                  <a:lnTo>
                    <a:pt x="405765" y="3810"/>
                  </a:lnTo>
                  <a:lnTo>
                    <a:pt x="352425" y="12383"/>
                  </a:lnTo>
                  <a:lnTo>
                    <a:pt x="303847" y="26670"/>
                  </a:lnTo>
                  <a:lnTo>
                    <a:pt x="254317" y="45720"/>
                  </a:lnTo>
                  <a:lnTo>
                    <a:pt x="211455" y="70485"/>
                  </a:lnTo>
                  <a:lnTo>
                    <a:pt x="168592" y="100012"/>
                  </a:lnTo>
                  <a:lnTo>
                    <a:pt x="130492" y="133350"/>
                  </a:lnTo>
                  <a:lnTo>
                    <a:pt x="98107" y="172403"/>
                  </a:lnTo>
                  <a:lnTo>
                    <a:pt x="65722" y="214312"/>
                  </a:lnTo>
                  <a:lnTo>
                    <a:pt x="43815" y="258128"/>
                  </a:lnTo>
                  <a:lnTo>
                    <a:pt x="21907" y="305753"/>
                  </a:lnTo>
                  <a:lnTo>
                    <a:pt x="11430" y="355283"/>
                  </a:lnTo>
                  <a:lnTo>
                    <a:pt x="0" y="405765"/>
                  </a:lnTo>
                  <a:lnTo>
                    <a:pt x="0" y="457200"/>
                  </a:lnTo>
                  <a:lnTo>
                    <a:pt x="0" y="507683"/>
                  </a:lnTo>
                  <a:lnTo>
                    <a:pt x="11430" y="558165"/>
                  </a:lnTo>
                  <a:lnTo>
                    <a:pt x="21907" y="607695"/>
                  </a:lnTo>
                  <a:lnTo>
                    <a:pt x="43815" y="655320"/>
                  </a:lnTo>
                  <a:lnTo>
                    <a:pt x="65722" y="699135"/>
                  </a:lnTo>
                  <a:lnTo>
                    <a:pt x="98107" y="741045"/>
                  </a:lnTo>
                  <a:lnTo>
                    <a:pt x="130492" y="780098"/>
                  </a:lnTo>
                  <a:lnTo>
                    <a:pt x="168592" y="813435"/>
                  </a:lnTo>
                  <a:lnTo>
                    <a:pt x="211455" y="842962"/>
                  </a:lnTo>
                  <a:lnTo>
                    <a:pt x="254317" y="867728"/>
                  </a:lnTo>
                  <a:lnTo>
                    <a:pt x="303847" y="886778"/>
                  </a:lnTo>
                  <a:lnTo>
                    <a:pt x="352425" y="901065"/>
                  </a:lnTo>
                  <a:lnTo>
                    <a:pt x="405765" y="909638"/>
                  </a:lnTo>
                  <a:lnTo>
                    <a:pt x="455295" y="913448"/>
                  </a:lnTo>
                  <a:lnTo>
                    <a:pt x="503872" y="909638"/>
                  </a:lnTo>
                  <a:lnTo>
                    <a:pt x="558165" y="901065"/>
                  </a:lnTo>
                  <a:lnTo>
                    <a:pt x="606742" y="886778"/>
                  </a:lnTo>
                  <a:lnTo>
                    <a:pt x="655320" y="867728"/>
                  </a:lnTo>
                  <a:lnTo>
                    <a:pt x="698182" y="842962"/>
                  </a:lnTo>
                  <a:lnTo>
                    <a:pt x="741997" y="813435"/>
                  </a:lnTo>
                  <a:lnTo>
                    <a:pt x="779145" y="780098"/>
                  </a:lnTo>
                  <a:lnTo>
                    <a:pt x="811530" y="741045"/>
                  </a:lnTo>
                  <a:lnTo>
                    <a:pt x="844867" y="699135"/>
                  </a:lnTo>
                  <a:lnTo>
                    <a:pt x="865822" y="655320"/>
                  </a:lnTo>
                  <a:lnTo>
                    <a:pt x="887730" y="607695"/>
                  </a:lnTo>
                  <a:lnTo>
                    <a:pt x="898207" y="558165"/>
                  </a:lnTo>
                  <a:lnTo>
                    <a:pt x="909638" y="507683"/>
                  </a:lnTo>
                  <a:lnTo>
                    <a:pt x="909638" y="457200"/>
                  </a:lnTo>
                  <a:lnTo>
                    <a:pt x="909638" y="405765"/>
                  </a:lnTo>
                  <a:lnTo>
                    <a:pt x="902970" y="373380"/>
                  </a:lnTo>
                </a:path>
              </a:pathLst>
            </a:custGeom>
            <a:noFill/>
            <a:ln w="28575">
              <a:solidFill>
                <a:srgbClr val="2F4B9A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6702742" y="1664018"/>
              <a:ext cx="1471612" cy="1475423"/>
            </a:xfrm>
            <a:custGeom>
              <a:avLst/>
              <a:gdLst/>
              <a:ahLst/>
              <a:cxnLst/>
              <a:rect l="l" t="t" r="r" b="b"/>
              <a:pathLst>
                <a:path w="1471612" h="1475423">
                  <a:moveTo>
                    <a:pt x="1471612" y="719138"/>
                  </a:moveTo>
                  <a:lnTo>
                    <a:pt x="1471612" y="655320"/>
                  </a:lnTo>
                  <a:lnTo>
                    <a:pt x="1455420" y="574358"/>
                  </a:lnTo>
                  <a:lnTo>
                    <a:pt x="1433512" y="493395"/>
                  </a:lnTo>
                  <a:lnTo>
                    <a:pt x="1401127" y="418148"/>
                  </a:lnTo>
                  <a:lnTo>
                    <a:pt x="1363027" y="346710"/>
                  </a:lnTo>
                  <a:lnTo>
                    <a:pt x="1314450" y="278130"/>
                  </a:lnTo>
                  <a:lnTo>
                    <a:pt x="1255395" y="216218"/>
                  </a:lnTo>
                  <a:lnTo>
                    <a:pt x="1195388" y="161925"/>
                  </a:lnTo>
                  <a:lnTo>
                    <a:pt x="1130617" y="112395"/>
                  </a:lnTo>
                  <a:lnTo>
                    <a:pt x="1055370" y="74295"/>
                  </a:lnTo>
                  <a:lnTo>
                    <a:pt x="979170" y="42862"/>
                  </a:lnTo>
                  <a:lnTo>
                    <a:pt x="898207" y="20003"/>
                  </a:lnTo>
                  <a:lnTo>
                    <a:pt x="817245" y="5715"/>
                  </a:lnTo>
                  <a:lnTo>
                    <a:pt x="736282" y="0"/>
                  </a:lnTo>
                  <a:lnTo>
                    <a:pt x="654367" y="5715"/>
                  </a:lnTo>
                  <a:lnTo>
                    <a:pt x="573405" y="20003"/>
                  </a:lnTo>
                  <a:lnTo>
                    <a:pt x="492442" y="42862"/>
                  </a:lnTo>
                  <a:lnTo>
                    <a:pt x="416242" y="74295"/>
                  </a:lnTo>
                  <a:lnTo>
                    <a:pt x="340995" y="112395"/>
                  </a:lnTo>
                  <a:lnTo>
                    <a:pt x="276225" y="161925"/>
                  </a:lnTo>
                  <a:lnTo>
                    <a:pt x="216217" y="216218"/>
                  </a:lnTo>
                  <a:lnTo>
                    <a:pt x="157162" y="278130"/>
                  </a:lnTo>
                  <a:lnTo>
                    <a:pt x="108585" y="346710"/>
                  </a:lnTo>
                  <a:lnTo>
                    <a:pt x="70485" y="418148"/>
                  </a:lnTo>
                  <a:lnTo>
                    <a:pt x="38100" y="493395"/>
                  </a:lnTo>
                  <a:lnTo>
                    <a:pt x="16192" y="574358"/>
                  </a:lnTo>
                  <a:lnTo>
                    <a:pt x="0" y="655320"/>
                  </a:lnTo>
                  <a:lnTo>
                    <a:pt x="0" y="738188"/>
                  </a:lnTo>
                  <a:lnTo>
                    <a:pt x="0" y="820103"/>
                  </a:lnTo>
                  <a:lnTo>
                    <a:pt x="16192" y="901065"/>
                  </a:lnTo>
                  <a:lnTo>
                    <a:pt x="38100" y="982028"/>
                  </a:lnTo>
                  <a:lnTo>
                    <a:pt x="70485" y="1057275"/>
                  </a:lnTo>
                  <a:lnTo>
                    <a:pt x="108585" y="1128712"/>
                  </a:lnTo>
                  <a:lnTo>
                    <a:pt x="157162" y="1197292"/>
                  </a:lnTo>
                  <a:lnTo>
                    <a:pt x="216217" y="1259205"/>
                  </a:lnTo>
                  <a:lnTo>
                    <a:pt x="276225" y="1313498"/>
                  </a:lnTo>
                  <a:lnTo>
                    <a:pt x="340995" y="1363028"/>
                  </a:lnTo>
                  <a:lnTo>
                    <a:pt x="416242" y="1401128"/>
                  </a:lnTo>
                  <a:lnTo>
                    <a:pt x="492442" y="1432560"/>
                  </a:lnTo>
                  <a:lnTo>
                    <a:pt x="573405" y="1455420"/>
                  </a:lnTo>
                  <a:lnTo>
                    <a:pt x="654367" y="1469708"/>
                  </a:lnTo>
                  <a:lnTo>
                    <a:pt x="736282" y="1475423"/>
                  </a:lnTo>
                  <a:lnTo>
                    <a:pt x="817245" y="1469708"/>
                  </a:lnTo>
                  <a:lnTo>
                    <a:pt x="898207" y="1455420"/>
                  </a:lnTo>
                  <a:lnTo>
                    <a:pt x="979170" y="1432560"/>
                  </a:lnTo>
                  <a:lnTo>
                    <a:pt x="1055370" y="1401128"/>
                  </a:lnTo>
                  <a:lnTo>
                    <a:pt x="1130617" y="1363028"/>
                  </a:lnTo>
                  <a:lnTo>
                    <a:pt x="1195388" y="1313498"/>
                  </a:lnTo>
                  <a:lnTo>
                    <a:pt x="1255395" y="1259205"/>
                  </a:lnTo>
                  <a:lnTo>
                    <a:pt x="1314450" y="1197292"/>
                  </a:lnTo>
                  <a:lnTo>
                    <a:pt x="1363027" y="1128712"/>
                  </a:lnTo>
                  <a:lnTo>
                    <a:pt x="1401127" y="1057275"/>
                  </a:lnTo>
                  <a:lnTo>
                    <a:pt x="1433512" y="982028"/>
                  </a:lnTo>
                  <a:lnTo>
                    <a:pt x="1455420" y="901065"/>
                  </a:lnTo>
                  <a:lnTo>
                    <a:pt x="1471612" y="820103"/>
                  </a:lnTo>
                  <a:lnTo>
                    <a:pt x="1471612" y="738188"/>
                  </a:lnTo>
                  <a:lnTo>
                    <a:pt x="1471612" y="655320"/>
                  </a:lnTo>
                  <a:lnTo>
                    <a:pt x="1459230" y="593408"/>
                  </a:lnTo>
                </a:path>
              </a:pathLst>
            </a:custGeom>
            <a:noFill/>
            <a:ln w="19050">
              <a:solidFill>
                <a:srgbClr val="F26B3A"/>
              </a:solidFill>
              <a:custDash>
                <a:ds d="300000" sp="200000"/>
              </a:custDash>
            </a:ln>
          </p:spPr>
        </p:sp>
        <p:sp>
          <p:nvSpPr>
            <p:cNvPr id="34" name="Freeform 34"/>
            <p:cNvSpPr/>
            <p:nvPr/>
          </p:nvSpPr>
          <p:spPr>
            <a:xfrm>
              <a:off x="7211378" y="2173605"/>
              <a:ext cx="454342" cy="456248"/>
            </a:xfrm>
            <a:custGeom>
              <a:avLst/>
              <a:gdLst/>
              <a:ahLst/>
              <a:cxnLst/>
              <a:rect l="l" t="t" r="r" b="b"/>
              <a:pathLst>
                <a:path w="454342" h="456248">
                  <a:moveTo>
                    <a:pt x="454342" y="209550"/>
                  </a:moveTo>
                  <a:lnTo>
                    <a:pt x="454342" y="201930"/>
                  </a:lnTo>
                  <a:lnTo>
                    <a:pt x="448628" y="177165"/>
                  </a:lnTo>
                  <a:lnTo>
                    <a:pt x="443865" y="152400"/>
                  </a:lnTo>
                  <a:lnTo>
                    <a:pt x="432435" y="129540"/>
                  </a:lnTo>
                  <a:lnTo>
                    <a:pt x="421957" y="106680"/>
                  </a:lnTo>
                  <a:lnTo>
                    <a:pt x="405765" y="85725"/>
                  </a:lnTo>
                  <a:lnTo>
                    <a:pt x="389572" y="66675"/>
                  </a:lnTo>
                  <a:lnTo>
                    <a:pt x="367665" y="49530"/>
                  </a:lnTo>
                  <a:lnTo>
                    <a:pt x="346710" y="35243"/>
                  </a:lnTo>
                  <a:lnTo>
                    <a:pt x="324803" y="22860"/>
                  </a:lnTo>
                  <a:lnTo>
                    <a:pt x="302895" y="12383"/>
                  </a:lnTo>
                  <a:lnTo>
                    <a:pt x="276225" y="4762"/>
                  </a:lnTo>
                  <a:lnTo>
                    <a:pt x="254317" y="1905"/>
                  </a:lnTo>
                  <a:lnTo>
                    <a:pt x="227647" y="0"/>
                  </a:lnTo>
                  <a:lnTo>
                    <a:pt x="200025" y="1905"/>
                  </a:lnTo>
                  <a:lnTo>
                    <a:pt x="178117" y="4762"/>
                  </a:lnTo>
                  <a:lnTo>
                    <a:pt x="151447" y="12383"/>
                  </a:lnTo>
                  <a:lnTo>
                    <a:pt x="129540" y="22860"/>
                  </a:lnTo>
                  <a:lnTo>
                    <a:pt x="108585" y="35243"/>
                  </a:lnTo>
                  <a:lnTo>
                    <a:pt x="86678" y="49530"/>
                  </a:lnTo>
                  <a:lnTo>
                    <a:pt x="64770" y="66675"/>
                  </a:lnTo>
                  <a:lnTo>
                    <a:pt x="48578" y="85725"/>
                  </a:lnTo>
                  <a:lnTo>
                    <a:pt x="32385" y="106680"/>
                  </a:lnTo>
                  <a:lnTo>
                    <a:pt x="21907" y="129540"/>
                  </a:lnTo>
                  <a:lnTo>
                    <a:pt x="10478" y="152400"/>
                  </a:lnTo>
                  <a:lnTo>
                    <a:pt x="5715" y="177165"/>
                  </a:lnTo>
                  <a:lnTo>
                    <a:pt x="0" y="201930"/>
                  </a:lnTo>
                  <a:lnTo>
                    <a:pt x="0" y="228600"/>
                  </a:lnTo>
                  <a:lnTo>
                    <a:pt x="0" y="254318"/>
                  </a:lnTo>
                  <a:lnTo>
                    <a:pt x="5715" y="279083"/>
                  </a:lnTo>
                  <a:lnTo>
                    <a:pt x="10478" y="303848"/>
                  </a:lnTo>
                  <a:lnTo>
                    <a:pt x="21907" y="326708"/>
                  </a:lnTo>
                  <a:lnTo>
                    <a:pt x="32385" y="349567"/>
                  </a:lnTo>
                  <a:lnTo>
                    <a:pt x="48578" y="370523"/>
                  </a:lnTo>
                  <a:lnTo>
                    <a:pt x="64770" y="389573"/>
                  </a:lnTo>
                  <a:lnTo>
                    <a:pt x="86678" y="406717"/>
                  </a:lnTo>
                  <a:lnTo>
                    <a:pt x="108585" y="421005"/>
                  </a:lnTo>
                  <a:lnTo>
                    <a:pt x="129540" y="433388"/>
                  </a:lnTo>
                  <a:lnTo>
                    <a:pt x="151447" y="443865"/>
                  </a:lnTo>
                  <a:lnTo>
                    <a:pt x="178117" y="451485"/>
                  </a:lnTo>
                  <a:lnTo>
                    <a:pt x="200025" y="454342"/>
                  </a:lnTo>
                  <a:lnTo>
                    <a:pt x="227647" y="456248"/>
                  </a:lnTo>
                  <a:lnTo>
                    <a:pt x="254317" y="454342"/>
                  </a:lnTo>
                  <a:lnTo>
                    <a:pt x="276225" y="451485"/>
                  </a:lnTo>
                  <a:lnTo>
                    <a:pt x="302895" y="443865"/>
                  </a:lnTo>
                  <a:lnTo>
                    <a:pt x="324803" y="433388"/>
                  </a:lnTo>
                  <a:lnTo>
                    <a:pt x="346710" y="421005"/>
                  </a:lnTo>
                  <a:lnTo>
                    <a:pt x="367665" y="406717"/>
                  </a:lnTo>
                  <a:lnTo>
                    <a:pt x="389572" y="389573"/>
                  </a:lnTo>
                  <a:lnTo>
                    <a:pt x="405765" y="370523"/>
                  </a:lnTo>
                  <a:lnTo>
                    <a:pt x="421957" y="349567"/>
                  </a:lnTo>
                  <a:lnTo>
                    <a:pt x="432435" y="326708"/>
                  </a:lnTo>
                  <a:lnTo>
                    <a:pt x="443865" y="303848"/>
                  </a:lnTo>
                  <a:lnTo>
                    <a:pt x="448628" y="279083"/>
                  </a:lnTo>
                  <a:lnTo>
                    <a:pt x="454342" y="254318"/>
                  </a:lnTo>
                  <a:lnTo>
                    <a:pt x="454342" y="228600"/>
                  </a:lnTo>
                  <a:lnTo>
                    <a:pt x="454342" y="201930"/>
                  </a:lnTo>
                  <a:lnTo>
                    <a:pt x="453390" y="196215"/>
                  </a:lnTo>
                </a:path>
              </a:pathLst>
            </a:custGeom>
            <a:noFill/>
            <a:ln w="19050">
              <a:solidFill>
                <a:srgbClr val="F26B3A"/>
              </a:solidFill>
              <a:custDash>
                <a:ds d="300000" sp="200000"/>
              </a:custDash>
            </a:ln>
          </p:spPr>
        </p:sp>
        <p:sp>
          <p:nvSpPr>
            <p:cNvPr id="35" name="Ellipse 35"/>
            <p:cNvSpPr/>
            <p:nvPr/>
          </p:nvSpPr>
          <p:spPr>
            <a:xfrm>
              <a:off x="7883842" y="239268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7872412" y="229076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8164830" y="239268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148638" y="222885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7656195" y="239268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7650480" y="234124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7410450" y="237363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056751" y="1866900"/>
              <a:ext cx="15840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实线：带电球面（R，q）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056751" y="2288858"/>
              <a:ext cx="15121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外虚线：r &gt; R 的高斯面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056751" y="2709862"/>
              <a:ext cx="15121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内虚线：r &lt; R 的高斯面</a:t>
              </a:r>
            </a:p>
          </p:txBody>
        </p:sp>
      </p:grpSp>
      <p:grpSp>
        <p:nvGrpSpPr>
          <p:cNvPr id="66" name="c2-graph-2"/>
          <p:cNvGrpSpPr/>
          <p:nvPr/>
        </p:nvGrpSpPr>
        <p:grpSpPr>
          <a:xfrm>
            <a:off x="6511862" y="3578066"/>
            <a:ext cx="4973567" cy="2673763"/>
            <a:chOff x="6511862" y="3578066"/>
            <a:chExt cx="4973567" cy="2673763"/>
          </a:xfrm>
        </p:grpSpPr>
        <p:sp>
          <p:nvSpPr>
            <p:cNvPr id="46" name="Freeform 46"/>
            <p:cNvSpPr/>
            <p:nvPr/>
          </p:nvSpPr>
          <p:spPr>
            <a:xfrm>
              <a:off x="6754178" y="5898832"/>
              <a:ext cx="4520565" cy="9525"/>
            </a:xfrm>
            <a:custGeom>
              <a:avLst/>
              <a:gdLst/>
              <a:ahLst/>
              <a:cxnLst/>
              <a:rect l="l" t="t" r="r" b="b"/>
              <a:pathLst>
                <a:path w="4520565" h="9525">
                  <a:moveTo>
                    <a:pt x="0" y="0"/>
                  </a:moveTo>
                  <a:lnTo>
                    <a:pt x="4520565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11274742" y="585120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6735128" y="3832860"/>
              <a:ext cx="9525" cy="2046922"/>
            </a:xfrm>
            <a:custGeom>
              <a:avLst/>
              <a:gdLst/>
              <a:ahLst/>
              <a:cxnLst/>
              <a:rect l="l" t="t" r="r" b="b"/>
              <a:pathLst>
                <a:path w="9525" h="2046922">
                  <a:moveTo>
                    <a:pt x="0" y="2046922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6687502" y="373761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6754178" y="5890260"/>
              <a:ext cx="1124903" cy="9525"/>
            </a:xfrm>
            <a:custGeom>
              <a:avLst/>
              <a:gdLst/>
              <a:ahLst/>
              <a:cxnLst/>
              <a:rect l="l" t="t" r="r" b="b"/>
              <a:pathLst>
                <a:path w="1124903" h="9525">
                  <a:moveTo>
                    <a:pt x="0" y="0"/>
                  </a:moveTo>
                  <a:lnTo>
                    <a:pt x="40957" y="0"/>
                  </a:lnTo>
                  <a:lnTo>
                    <a:pt x="100012" y="0"/>
                  </a:lnTo>
                  <a:lnTo>
                    <a:pt x="154305" y="0"/>
                  </a:lnTo>
                  <a:lnTo>
                    <a:pt x="213360" y="0"/>
                  </a:lnTo>
                  <a:lnTo>
                    <a:pt x="273367" y="0"/>
                  </a:lnTo>
                  <a:lnTo>
                    <a:pt x="327660" y="0"/>
                  </a:lnTo>
                  <a:lnTo>
                    <a:pt x="386715" y="0"/>
                  </a:lnTo>
                  <a:lnTo>
                    <a:pt x="446722" y="0"/>
                  </a:lnTo>
                  <a:lnTo>
                    <a:pt x="505778" y="0"/>
                  </a:lnTo>
                  <a:lnTo>
                    <a:pt x="565785" y="0"/>
                  </a:lnTo>
                  <a:lnTo>
                    <a:pt x="619125" y="0"/>
                  </a:lnTo>
                  <a:lnTo>
                    <a:pt x="679132" y="0"/>
                  </a:lnTo>
                  <a:lnTo>
                    <a:pt x="738188" y="0"/>
                  </a:lnTo>
                  <a:lnTo>
                    <a:pt x="792480" y="0"/>
                  </a:lnTo>
                  <a:lnTo>
                    <a:pt x="852488" y="0"/>
                  </a:lnTo>
                  <a:lnTo>
                    <a:pt x="911542" y="0"/>
                  </a:lnTo>
                  <a:lnTo>
                    <a:pt x="971550" y="0"/>
                  </a:lnTo>
                  <a:lnTo>
                    <a:pt x="1030605" y="0"/>
                  </a:lnTo>
                  <a:lnTo>
                    <a:pt x="1084897" y="0"/>
                  </a:lnTo>
                  <a:lnTo>
                    <a:pt x="1124903" y="0"/>
                  </a:lnTo>
                </a:path>
              </a:pathLst>
            </a:custGeom>
            <a:noFill/>
            <a:ln w="24765">
              <a:solidFill>
                <a:srgbClr val="2F4B9A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7903845" y="3946208"/>
              <a:ext cx="3465195" cy="1829752"/>
            </a:xfrm>
            <a:custGeom>
              <a:avLst/>
              <a:gdLst/>
              <a:ahLst/>
              <a:cxnLst/>
              <a:rect l="l" t="t" r="r" b="b"/>
              <a:pathLst>
                <a:path w="3465195" h="1829752">
                  <a:moveTo>
                    <a:pt x="0" y="0"/>
                  </a:moveTo>
                  <a:lnTo>
                    <a:pt x="64770" y="208597"/>
                  </a:lnTo>
                  <a:lnTo>
                    <a:pt x="140970" y="396240"/>
                  </a:lnTo>
                  <a:lnTo>
                    <a:pt x="211455" y="556260"/>
                  </a:lnTo>
                  <a:lnTo>
                    <a:pt x="286703" y="692467"/>
                  </a:lnTo>
                  <a:lnTo>
                    <a:pt x="357188" y="807720"/>
                  </a:lnTo>
                  <a:lnTo>
                    <a:pt x="432435" y="909638"/>
                  </a:lnTo>
                  <a:lnTo>
                    <a:pt x="502920" y="999173"/>
                  </a:lnTo>
                  <a:lnTo>
                    <a:pt x="573405" y="1077277"/>
                  </a:lnTo>
                  <a:lnTo>
                    <a:pt x="649605" y="1143952"/>
                  </a:lnTo>
                  <a:lnTo>
                    <a:pt x="720090" y="1204912"/>
                  </a:lnTo>
                  <a:lnTo>
                    <a:pt x="795338" y="1260158"/>
                  </a:lnTo>
                  <a:lnTo>
                    <a:pt x="865823" y="1309687"/>
                  </a:lnTo>
                  <a:lnTo>
                    <a:pt x="941070" y="1352550"/>
                  </a:lnTo>
                  <a:lnTo>
                    <a:pt x="1011555" y="1393508"/>
                  </a:lnTo>
                  <a:lnTo>
                    <a:pt x="1087755" y="1428750"/>
                  </a:lnTo>
                  <a:lnTo>
                    <a:pt x="1158240" y="1460182"/>
                  </a:lnTo>
                  <a:lnTo>
                    <a:pt x="1227773" y="1488758"/>
                  </a:lnTo>
                  <a:lnTo>
                    <a:pt x="1303973" y="1515427"/>
                  </a:lnTo>
                  <a:lnTo>
                    <a:pt x="1374458" y="1541145"/>
                  </a:lnTo>
                  <a:lnTo>
                    <a:pt x="1449705" y="1564958"/>
                  </a:lnTo>
                  <a:lnTo>
                    <a:pt x="1520190" y="1584960"/>
                  </a:lnTo>
                  <a:lnTo>
                    <a:pt x="1596390" y="1602105"/>
                  </a:lnTo>
                  <a:lnTo>
                    <a:pt x="1666875" y="1622108"/>
                  </a:lnTo>
                  <a:lnTo>
                    <a:pt x="1742123" y="1637348"/>
                  </a:lnTo>
                  <a:lnTo>
                    <a:pt x="1812608" y="1651635"/>
                  </a:lnTo>
                  <a:lnTo>
                    <a:pt x="1883093" y="1665923"/>
                  </a:lnTo>
                  <a:lnTo>
                    <a:pt x="1958340" y="1680210"/>
                  </a:lnTo>
                  <a:lnTo>
                    <a:pt x="2028825" y="1691640"/>
                  </a:lnTo>
                  <a:lnTo>
                    <a:pt x="2105025" y="1704023"/>
                  </a:lnTo>
                  <a:lnTo>
                    <a:pt x="2174557" y="1715452"/>
                  </a:lnTo>
                  <a:lnTo>
                    <a:pt x="2250757" y="1724025"/>
                  </a:lnTo>
                  <a:lnTo>
                    <a:pt x="2321243" y="1732598"/>
                  </a:lnTo>
                  <a:lnTo>
                    <a:pt x="2391728" y="1741170"/>
                  </a:lnTo>
                  <a:lnTo>
                    <a:pt x="2466975" y="1749742"/>
                  </a:lnTo>
                  <a:lnTo>
                    <a:pt x="2537460" y="1758315"/>
                  </a:lnTo>
                  <a:lnTo>
                    <a:pt x="2613660" y="1767840"/>
                  </a:lnTo>
                  <a:lnTo>
                    <a:pt x="2683193" y="1773555"/>
                  </a:lnTo>
                  <a:lnTo>
                    <a:pt x="2759393" y="1779270"/>
                  </a:lnTo>
                  <a:lnTo>
                    <a:pt x="2829878" y="1784985"/>
                  </a:lnTo>
                  <a:lnTo>
                    <a:pt x="2900362" y="1790700"/>
                  </a:lnTo>
                  <a:lnTo>
                    <a:pt x="2975610" y="1796415"/>
                  </a:lnTo>
                  <a:lnTo>
                    <a:pt x="3046095" y="1802130"/>
                  </a:lnTo>
                  <a:lnTo>
                    <a:pt x="3121343" y="1807845"/>
                  </a:lnTo>
                  <a:lnTo>
                    <a:pt x="3191828" y="1813560"/>
                  </a:lnTo>
                  <a:lnTo>
                    <a:pt x="3268028" y="1816418"/>
                  </a:lnTo>
                  <a:lnTo>
                    <a:pt x="3338512" y="1822132"/>
                  </a:lnTo>
                  <a:lnTo>
                    <a:pt x="3413760" y="1824990"/>
                  </a:lnTo>
                  <a:lnTo>
                    <a:pt x="3465195" y="1829752"/>
                  </a:lnTo>
                </a:path>
              </a:pathLst>
            </a:custGeom>
            <a:noFill/>
            <a:ln w="24765">
              <a:solidFill>
                <a:srgbClr val="2F4B9A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7898130" y="3947160"/>
              <a:ext cx="9525" cy="1932622"/>
            </a:xfrm>
            <a:custGeom>
              <a:avLst/>
              <a:gdLst/>
              <a:ahLst/>
              <a:cxnLst/>
              <a:rect l="l" t="t" r="r" b="b"/>
              <a:pathLst>
                <a:path w="9525" h="1932622">
                  <a:moveTo>
                    <a:pt x="0" y="1932622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53" name="Ellipse 53"/>
            <p:cNvSpPr/>
            <p:nvPr/>
          </p:nvSpPr>
          <p:spPr>
            <a:xfrm>
              <a:off x="6725602" y="588930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6725602" y="588073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7888605" y="588073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" name="Ellipse 56"/>
            <p:cNvSpPr/>
            <p:nvPr/>
          </p:nvSpPr>
          <p:spPr>
            <a:xfrm>
              <a:off x="7888605" y="391858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" name="Ellipse 57"/>
            <p:cNvSpPr/>
            <p:nvPr/>
          </p:nvSpPr>
          <p:spPr>
            <a:xfrm>
              <a:off x="11378565" y="576738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7888605" y="588930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9" name="Ellipse 59"/>
            <p:cNvSpPr/>
            <p:nvPr/>
          </p:nvSpPr>
          <p:spPr>
            <a:xfrm>
              <a:off x="7888605" y="391858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1399335" y="583834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689924" y="357806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511862" y="6017895"/>
              <a:ext cx="1226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851724" y="6046470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962204" y="5588318"/>
              <a:ext cx="3467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E = 0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942451" y="4956810"/>
              <a:ext cx="5775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E ∝ 1/r²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第4章 静电场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47143" cy="909257"/>
            <a:chOff x="520446" y="342900"/>
            <a:chExt cx="664714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静电场 · 静电场中的高斯定理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4714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均匀带电球体：内部 E ∝ r，外部 E ∝ 1/r²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651635"/>
            <a:chOff x="533400" y="1524000"/>
            <a:chExt cx="5410200" cy="16516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651635"/>
            </a:xfrm>
            <a:prstGeom prst="roundRect">
              <a:avLst>
                <a:gd name="adj" fmla="val 80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8493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6160" y="176926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6443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半径 R、体密度 ρ 的均匀带电球体，球内介电常数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ε₁，球外 ε₂。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731770"/>
              <a:ext cx="209511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球内外的场强分布。</a:t>
              </a:r>
            </a:p>
          </p:txBody>
        </p:sp>
      </p:grpSp>
      <p:grpSp>
        <p:nvGrpSpPr>
          <p:cNvPr id="23" name="c1-steps-2"/>
          <p:cNvGrpSpPr/>
          <p:nvPr/>
        </p:nvGrpSpPr>
        <p:grpSpPr>
          <a:xfrm>
            <a:off x="533400" y="3375660"/>
            <a:ext cx="4940779" cy="1228058"/>
            <a:chOff x="533400" y="3375660"/>
            <a:chExt cx="4940779" cy="1228058"/>
          </a:xfrm>
        </p:grpSpPr>
        <p:sp>
          <p:nvSpPr>
            <p:cNvPr id="14" name="Rectangle 14"/>
            <p:cNvSpPr/>
            <p:nvPr/>
          </p:nvSpPr>
          <p:spPr>
            <a:xfrm>
              <a:off x="666750" y="3518535"/>
              <a:ext cx="19050" cy="6505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533400" y="337566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7024" y="34494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402621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7024" y="410003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4880" y="3409950"/>
              <a:ext cx="10949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球内 r₁ &lt; R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6023" y="3703796"/>
              <a:ext cx="44156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D₁·4πr₁² = (4/3)πr₁³ρ，D₁ = ρr₁/3，E₁ = ρr₁/(3ε₁)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4880" y="4060508"/>
              <a:ext cx="10949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球外 r₂ &gt; R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023" y="4354354"/>
              <a:ext cx="45281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D₂·4πr₂² = ρV = q，D₂ = q/(4πr₂²)，E₂ = q/(4πε₂r₂²)</a:t>
              </a:r>
            </a:p>
          </p:txBody>
        </p:sp>
      </p:grpSp>
      <p:grpSp>
        <p:nvGrpSpPr>
          <p:cNvPr id="28" name="c1-card-3"/>
          <p:cNvGrpSpPr/>
          <p:nvPr/>
        </p:nvGrpSpPr>
        <p:grpSpPr>
          <a:xfrm>
            <a:off x="533400" y="4781550"/>
            <a:ext cx="5410200" cy="1316355"/>
            <a:chOff x="533400" y="4781550"/>
            <a:chExt cx="5410200" cy="1316355"/>
          </a:xfrm>
        </p:grpSpPr>
        <p:sp>
          <p:nvSpPr>
            <p:cNvPr id="24" name="Rectangle 24"/>
            <p:cNvSpPr/>
            <p:nvPr/>
          </p:nvSpPr>
          <p:spPr>
            <a:xfrm>
              <a:off x="533400" y="4781550"/>
              <a:ext cx="5410200" cy="1316355"/>
            </a:xfrm>
            <a:prstGeom prst="roundRect">
              <a:avLst>
                <a:gd name="adj" fmla="val 1013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42950" y="4991100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38060" y="502681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35330" y="5368290"/>
              <a:ext cx="4739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球内 E 随 r 线性增大，球外按 1/r² 衰减。r = R 处 D 连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续：D₁(R) = D₂(R) = ρR/3。</a:t>
              </a:r>
            </a:p>
          </p:txBody>
        </p:sp>
      </p:grpSp>
      <p:grpSp>
        <p:nvGrpSpPr>
          <p:cNvPr id="53" name="c2-graph-1"/>
          <p:cNvGrpSpPr/>
          <p:nvPr/>
        </p:nvGrpSpPr>
        <p:grpSpPr>
          <a:xfrm>
            <a:off x="6511862" y="1646396"/>
            <a:ext cx="4973567" cy="2802351"/>
            <a:chOff x="6511862" y="1646396"/>
            <a:chExt cx="4973567" cy="2802351"/>
          </a:xfrm>
        </p:grpSpPr>
        <p:sp>
          <p:nvSpPr>
            <p:cNvPr id="29" name="Freeform 29"/>
            <p:cNvSpPr/>
            <p:nvPr/>
          </p:nvSpPr>
          <p:spPr>
            <a:xfrm>
              <a:off x="6754178" y="4082415"/>
              <a:ext cx="4520565" cy="9525"/>
            </a:xfrm>
            <a:custGeom>
              <a:avLst/>
              <a:gdLst/>
              <a:ahLst/>
              <a:cxnLst/>
              <a:rect l="l" t="t" r="r" b="b"/>
              <a:pathLst>
                <a:path w="4520565" h="9525">
                  <a:moveTo>
                    <a:pt x="0" y="0"/>
                  </a:moveTo>
                  <a:lnTo>
                    <a:pt x="4520565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11274742" y="403479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6735128" y="1901190"/>
              <a:ext cx="9525" cy="2162175"/>
            </a:xfrm>
            <a:custGeom>
              <a:avLst/>
              <a:gdLst/>
              <a:ahLst/>
              <a:cxnLst/>
              <a:rect l="l" t="t" r="r" b="b"/>
              <a:pathLst>
                <a:path w="9525" h="2162175">
                  <a:moveTo>
                    <a:pt x="0" y="216217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6687502" y="180594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6744652" y="2027872"/>
              <a:ext cx="1143953" cy="2038350"/>
            </a:xfrm>
            <a:custGeom>
              <a:avLst/>
              <a:gdLst/>
              <a:ahLst/>
              <a:cxnLst/>
              <a:rect l="l" t="t" r="r" b="b"/>
              <a:pathLst>
                <a:path w="1143953" h="2038350">
                  <a:moveTo>
                    <a:pt x="0" y="2038350"/>
                  </a:moveTo>
                  <a:lnTo>
                    <a:pt x="50482" y="1951672"/>
                  </a:lnTo>
                  <a:lnTo>
                    <a:pt x="109538" y="1847850"/>
                  </a:lnTo>
                  <a:lnTo>
                    <a:pt x="163830" y="1744028"/>
                  </a:lnTo>
                  <a:lnTo>
                    <a:pt x="222885" y="1640205"/>
                  </a:lnTo>
                  <a:lnTo>
                    <a:pt x="282892" y="1537335"/>
                  </a:lnTo>
                  <a:lnTo>
                    <a:pt x="337185" y="1433512"/>
                  </a:lnTo>
                  <a:lnTo>
                    <a:pt x="396240" y="1329690"/>
                  </a:lnTo>
                  <a:lnTo>
                    <a:pt x="456247" y="1225868"/>
                  </a:lnTo>
                  <a:lnTo>
                    <a:pt x="515303" y="1122998"/>
                  </a:lnTo>
                  <a:lnTo>
                    <a:pt x="575310" y="1019175"/>
                  </a:lnTo>
                  <a:lnTo>
                    <a:pt x="628650" y="915352"/>
                  </a:lnTo>
                  <a:lnTo>
                    <a:pt x="688657" y="812482"/>
                  </a:lnTo>
                  <a:lnTo>
                    <a:pt x="747712" y="708660"/>
                  </a:lnTo>
                  <a:lnTo>
                    <a:pt x="802005" y="604837"/>
                  </a:lnTo>
                  <a:lnTo>
                    <a:pt x="862012" y="501015"/>
                  </a:lnTo>
                  <a:lnTo>
                    <a:pt x="921067" y="398145"/>
                  </a:lnTo>
                  <a:lnTo>
                    <a:pt x="981075" y="294323"/>
                  </a:lnTo>
                  <a:lnTo>
                    <a:pt x="1040130" y="190500"/>
                  </a:lnTo>
                  <a:lnTo>
                    <a:pt x="1094422" y="86677"/>
                  </a:lnTo>
                  <a:lnTo>
                    <a:pt x="1143953" y="0"/>
                  </a:lnTo>
                </a:path>
              </a:pathLst>
            </a:custGeom>
            <a:noFill/>
            <a:ln w="24765">
              <a:solidFill>
                <a:srgbClr val="2F4B9A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7903845" y="2029778"/>
              <a:ext cx="3465195" cy="1923098"/>
            </a:xfrm>
            <a:custGeom>
              <a:avLst/>
              <a:gdLst/>
              <a:ahLst/>
              <a:cxnLst/>
              <a:rect l="l" t="t" r="r" b="b"/>
              <a:pathLst>
                <a:path w="3465195" h="1923098">
                  <a:moveTo>
                    <a:pt x="0" y="0"/>
                  </a:moveTo>
                  <a:lnTo>
                    <a:pt x="64770" y="219075"/>
                  </a:lnTo>
                  <a:lnTo>
                    <a:pt x="140970" y="417195"/>
                  </a:lnTo>
                  <a:lnTo>
                    <a:pt x="211455" y="584835"/>
                  </a:lnTo>
                  <a:lnTo>
                    <a:pt x="286703" y="727710"/>
                  </a:lnTo>
                  <a:lnTo>
                    <a:pt x="357188" y="849630"/>
                  </a:lnTo>
                  <a:lnTo>
                    <a:pt x="432435" y="956310"/>
                  </a:lnTo>
                  <a:lnTo>
                    <a:pt x="502920" y="1050607"/>
                  </a:lnTo>
                  <a:lnTo>
                    <a:pt x="573405" y="1133475"/>
                  </a:lnTo>
                  <a:lnTo>
                    <a:pt x="649605" y="1203007"/>
                  </a:lnTo>
                  <a:lnTo>
                    <a:pt x="720090" y="1266825"/>
                  </a:lnTo>
                  <a:lnTo>
                    <a:pt x="795338" y="1324928"/>
                  </a:lnTo>
                  <a:lnTo>
                    <a:pt x="865823" y="1376363"/>
                  </a:lnTo>
                  <a:lnTo>
                    <a:pt x="941070" y="1422082"/>
                  </a:lnTo>
                  <a:lnTo>
                    <a:pt x="1011555" y="1464945"/>
                  </a:lnTo>
                  <a:lnTo>
                    <a:pt x="1087755" y="1501140"/>
                  </a:lnTo>
                  <a:lnTo>
                    <a:pt x="1158240" y="1535430"/>
                  </a:lnTo>
                  <a:lnTo>
                    <a:pt x="1227773" y="1565910"/>
                  </a:lnTo>
                  <a:lnTo>
                    <a:pt x="1303973" y="1592580"/>
                  </a:lnTo>
                  <a:lnTo>
                    <a:pt x="1374458" y="1620202"/>
                  </a:lnTo>
                  <a:lnTo>
                    <a:pt x="1449705" y="1644968"/>
                  </a:lnTo>
                  <a:lnTo>
                    <a:pt x="1520190" y="1665922"/>
                  </a:lnTo>
                  <a:lnTo>
                    <a:pt x="1596390" y="1684020"/>
                  </a:lnTo>
                  <a:lnTo>
                    <a:pt x="1666875" y="1705928"/>
                  </a:lnTo>
                  <a:lnTo>
                    <a:pt x="1742123" y="1721168"/>
                  </a:lnTo>
                  <a:lnTo>
                    <a:pt x="1812608" y="1736407"/>
                  </a:lnTo>
                  <a:lnTo>
                    <a:pt x="1883093" y="1751648"/>
                  </a:lnTo>
                  <a:lnTo>
                    <a:pt x="1958340" y="1766888"/>
                  </a:lnTo>
                  <a:lnTo>
                    <a:pt x="2028825" y="1779270"/>
                  </a:lnTo>
                  <a:lnTo>
                    <a:pt x="2105025" y="1790700"/>
                  </a:lnTo>
                  <a:lnTo>
                    <a:pt x="2174557" y="1803082"/>
                  </a:lnTo>
                  <a:lnTo>
                    <a:pt x="2250757" y="1812607"/>
                  </a:lnTo>
                  <a:lnTo>
                    <a:pt x="2321243" y="1821180"/>
                  </a:lnTo>
                  <a:lnTo>
                    <a:pt x="2391728" y="1830705"/>
                  </a:lnTo>
                  <a:lnTo>
                    <a:pt x="2466975" y="1839278"/>
                  </a:lnTo>
                  <a:lnTo>
                    <a:pt x="2537460" y="1848802"/>
                  </a:lnTo>
                  <a:lnTo>
                    <a:pt x="2613660" y="1858328"/>
                  </a:lnTo>
                  <a:lnTo>
                    <a:pt x="2683193" y="1864043"/>
                  </a:lnTo>
                  <a:lnTo>
                    <a:pt x="2759393" y="1869757"/>
                  </a:lnTo>
                  <a:lnTo>
                    <a:pt x="2829878" y="1876425"/>
                  </a:lnTo>
                  <a:lnTo>
                    <a:pt x="2900362" y="1882140"/>
                  </a:lnTo>
                  <a:lnTo>
                    <a:pt x="2975610" y="1888807"/>
                  </a:lnTo>
                  <a:lnTo>
                    <a:pt x="3046095" y="1894522"/>
                  </a:lnTo>
                  <a:lnTo>
                    <a:pt x="3121343" y="1900238"/>
                  </a:lnTo>
                  <a:lnTo>
                    <a:pt x="3191828" y="1906905"/>
                  </a:lnTo>
                  <a:lnTo>
                    <a:pt x="3268028" y="1909763"/>
                  </a:lnTo>
                  <a:lnTo>
                    <a:pt x="3338512" y="1915478"/>
                  </a:lnTo>
                  <a:lnTo>
                    <a:pt x="3413760" y="1919288"/>
                  </a:lnTo>
                  <a:lnTo>
                    <a:pt x="3465195" y="1923098"/>
                  </a:lnTo>
                </a:path>
              </a:pathLst>
            </a:custGeom>
            <a:noFill/>
            <a:ln w="24765">
              <a:solidFill>
                <a:srgbClr val="2F4B9A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6749415" y="3059430"/>
              <a:ext cx="1134428" cy="1010603"/>
            </a:xfrm>
            <a:custGeom>
              <a:avLst/>
              <a:gdLst/>
              <a:ahLst/>
              <a:cxnLst/>
              <a:rect l="l" t="t" r="r" b="b"/>
              <a:pathLst>
                <a:path w="1134428" h="1010603">
                  <a:moveTo>
                    <a:pt x="0" y="1010603"/>
                  </a:moveTo>
                  <a:lnTo>
                    <a:pt x="45720" y="971550"/>
                  </a:lnTo>
                  <a:lnTo>
                    <a:pt x="104775" y="920115"/>
                  </a:lnTo>
                  <a:lnTo>
                    <a:pt x="159067" y="867728"/>
                  </a:lnTo>
                  <a:lnTo>
                    <a:pt x="218122" y="816292"/>
                  </a:lnTo>
                  <a:lnTo>
                    <a:pt x="278130" y="763905"/>
                  </a:lnTo>
                  <a:lnTo>
                    <a:pt x="332422" y="712470"/>
                  </a:lnTo>
                  <a:lnTo>
                    <a:pt x="391478" y="661035"/>
                  </a:lnTo>
                  <a:lnTo>
                    <a:pt x="451485" y="608648"/>
                  </a:lnTo>
                  <a:lnTo>
                    <a:pt x="510540" y="557212"/>
                  </a:lnTo>
                  <a:lnTo>
                    <a:pt x="570547" y="505778"/>
                  </a:lnTo>
                  <a:lnTo>
                    <a:pt x="623888" y="453390"/>
                  </a:lnTo>
                  <a:lnTo>
                    <a:pt x="683895" y="401955"/>
                  </a:lnTo>
                  <a:lnTo>
                    <a:pt x="742950" y="350520"/>
                  </a:lnTo>
                  <a:lnTo>
                    <a:pt x="797242" y="298133"/>
                  </a:lnTo>
                  <a:lnTo>
                    <a:pt x="857250" y="246698"/>
                  </a:lnTo>
                  <a:lnTo>
                    <a:pt x="916305" y="194310"/>
                  </a:lnTo>
                  <a:lnTo>
                    <a:pt x="976312" y="142875"/>
                  </a:lnTo>
                  <a:lnTo>
                    <a:pt x="1035367" y="91440"/>
                  </a:lnTo>
                  <a:lnTo>
                    <a:pt x="1089660" y="39053"/>
                  </a:lnTo>
                  <a:lnTo>
                    <a:pt x="1134428" y="0"/>
                  </a:lnTo>
                </a:path>
              </a:pathLst>
            </a:custGeom>
            <a:noFill/>
            <a:ln w="20955">
              <a:solidFill>
                <a:srgbClr val="F26B3A"/>
              </a:solidFill>
              <a:custDash>
                <a:ds d="272727" sp="181818"/>
              </a:custDash>
            </a:ln>
          </p:spPr>
        </p:sp>
        <p:sp>
          <p:nvSpPr>
            <p:cNvPr id="36" name="Freeform 36"/>
            <p:cNvSpPr/>
            <p:nvPr/>
          </p:nvSpPr>
          <p:spPr>
            <a:xfrm>
              <a:off x="7898130" y="2030730"/>
              <a:ext cx="9525" cy="2032635"/>
            </a:xfrm>
            <a:custGeom>
              <a:avLst/>
              <a:gdLst/>
              <a:ahLst/>
              <a:cxnLst/>
              <a:rect l="l" t="t" r="r" b="b"/>
              <a:pathLst>
                <a:path w="9525" h="2032635">
                  <a:moveTo>
                    <a:pt x="0" y="203263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37" name="Ellipse 37"/>
            <p:cNvSpPr/>
            <p:nvPr/>
          </p:nvSpPr>
          <p:spPr>
            <a:xfrm>
              <a:off x="6725602" y="407289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6725602" y="407289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7888605" y="200215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7888605" y="200215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11378565" y="394525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6725602" y="407289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7888605" y="303752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7888605" y="407289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7888605" y="200215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1399335" y="402193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89924" y="164639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511862" y="4212908"/>
              <a:ext cx="1226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851724" y="4243388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822186" y="2476500"/>
              <a:ext cx="3377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E ∝ r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942451" y="3098482"/>
              <a:ext cx="5775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E ∝ 1/r²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531924" y="2186940"/>
              <a:ext cx="9859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虚线：ε₁ = 2ε₂</a:t>
              </a:r>
            </a:p>
          </p:txBody>
        </p:sp>
      </p:grpSp>
      <p:grpSp>
        <p:nvGrpSpPr>
          <p:cNvPr id="59" name="c2-card-2"/>
          <p:cNvGrpSpPr/>
          <p:nvPr/>
        </p:nvGrpSpPr>
        <p:grpSpPr>
          <a:xfrm>
            <a:off x="6248400" y="4760595"/>
            <a:ext cx="5410200" cy="1602105"/>
            <a:chOff x="6248400" y="4760595"/>
            <a:chExt cx="5410200" cy="1602105"/>
          </a:xfrm>
        </p:grpSpPr>
        <p:sp>
          <p:nvSpPr>
            <p:cNvPr id="54" name="Rectangle 54"/>
            <p:cNvSpPr/>
            <p:nvPr/>
          </p:nvSpPr>
          <p:spPr>
            <a:xfrm>
              <a:off x="6248400" y="4760595"/>
              <a:ext cx="5410200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6257925" y="4893945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496050" y="497014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586258" y="500586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488430" y="5347335"/>
              <a:ext cx="45967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原课件的 E~r 曲线在 r = R 处连续，这只在 ε₁ = ε₂ 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成立。ε₁ ≠ ε₂ 时 D 连续、E 跳变：E₁(R)/E₂(R)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ε₂/ε₁。图中虚线是 ε₁ = 2ε₂ 的球内部分。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第4章 静电场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静电场 · 静电场中的高斯定理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柱对称：直线、圆柱面、圆柱体都取同轴圆柱面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2" name="c1-graph-1"/>
          <p:cNvGrpSpPr/>
          <p:nvPr/>
        </p:nvGrpSpPr>
        <p:grpSpPr>
          <a:xfrm>
            <a:off x="904875" y="1619250"/>
            <a:ext cx="4146042" cy="3292792"/>
            <a:chOff x="904875" y="1619250"/>
            <a:chExt cx="4146042" cy="3292792"/>
          </a:xfrm>
        </p:grpSpPr>
        <p:sp>
          <p:nvSpPr>
            <p:cNvPr id="7" name="Freeform 7"/>
            <p:cNvSpPr/>
            <p:nvPr/>
          </p:nvSpPr>
          <p:spPr>
            <a:xfrm>
              <a:off x="2913698" y="1647825"/>
              <a:ext cx="9525" cy="3235643"/>
            </a:xfrm>
            <a:custGeom>
              <a:avLst/>
              <a:gdLst/>
              <a:ahLst/>
              <a:cxnLst/>
              <a:rect l="l" t="t" r="r" b="b"/>
              <a:pathLst>
                <a:path w="9525" h="3235643">
                  <a:moveTo>
                    <a:pt x="0" y="0"/>
                  </a:moveTo>
                  <a:lnTo>
                    <a:pt x="0" y="3235643"/>
                  </a:lnTo>
                </a:path>
              </a:pathLst>
            </a:custGeom>
            <a:noFill/>
            <a:ln w="38100">
              <a:solidFill>
                <a:srgbClr val="B42318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885950" y="2150745"/>
              <a:ext cx="2075497" cy="2229802"/>
            </a:xfrm>
            <a:custGeom>
              <a:avLst/>
              <a:gdLst/>
              <a:ahLst/>
              <a:cxnLst/>
              <a:rect l="l" t="t" r="r" b="b"/>
              <a:pathLst>
                <a:path w="2075497" h="2229802">
                  <a:moveTo>
                    <a:pt x="0" y="0"/>
                  </a:moveTo>
                  <a:lnTo>
                    <a:pt x="2075497" y="0"/>
                  </a:lnTo>
                  <a:lnTo>
                    <a:pt x="2075497" y="2229802"/>
                  </a:lnTo>
                  <a:lnTo>
                    <a:pt x="0" y="2229802"/>
                  </a:lnTo>
                </a:path>
              </a:pathLst>
            </a:custGeom>
            <a:noFill/>
            <a:ln w="19050">
              <a:solidFill>
                <a:srgbClr val="2F4B9A"/>
              </a:solidFill>
              <a:custDash>
                <a:ds d="300000" sp="200000"/>
              </a:custDash>
            </a:ln>
          </p:spPr>
        </p:sp>
        <p:sp>
          <p:nvSpPr>
            <p:cNvPr id="9" name="Freeform 9"/>
            <p:cNvSpPr/>
            <p:nvPr/>
          </p:nvSpPr>
          <p:spPr>
            <a:xfrm>
              <a:off x="1866900" y="2187892"/>
              <a:ext cx="9525" cy="2173605"/>
            </a:xfrm>
            <a:custGeom>
              <a:avLst/>
              <a:gdLst/>
              <a:ahLst/>
              <a:cxnLst/>
              <a:rect l="l" t="t" r="r" b="b"/>
              <a:pathLst>
                <a:path w="9525" h="2173605">
                  <a:moveTo>
                    <a:pt x="0" y="2173605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2F4B9A"/>
              </a:solidFill>
              <a:custDash>
                <a:ds d="300000" sp="200000"/>
              </a:custDash>
            </a:ln>
          </p:spPr>
        </p:sp>
        <p:sp>
          <p:nvSpPr>
            <p:cNvPr id="10" name="Freeform 10"/>
            <p:cNvSpPr/>
            <p:nvPr/>
          </p:nvSpPr>
          <p:spPr>
            <a:xfrm>
              <a:off x="3980498" y="2778442"/>
              <a:ext cx="819150" cy="9525"/>
            </a:xfrm>
            <a:custGeom>
              <a:avLst/>
              <a:gdLst/>
              <a:ahLst/>
              <a:cxnLst/>
              <a:rect l="l" t="t" r="r" b="b"/>
              <a:pathLst>
                <a:path w="819150" h="9525">
                  <a:moveTo>
                    <a:pt x="0" y="0"/>
                  </a:moveTo>
                  <a:lnTo>
                    <a:pt x="819150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4799648" y="273081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3980498" y="3752850"/>
              <a:ext cx="819150" cy="9525"/>
            </a:xfrm>
            <a:custGeom>
              <a:avLst/>
              <a:gdLst/>
              <a:ahLst/>
              <a:cxnLst/>
              <a:rect l="l" t="t" r="r" b="b"/>
              <a:pathLst>
                <a:path w="819150" h="9525">
                  <a:moveTo>
                    <a:pt x="0" y="0"/>
                  </a:moveTo>
                  <a:lnTo>
                    <a:pt x="819150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4799648" y="37052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1028700" y="2778442"/>
              <a:ext cx="819150" cy="9525"/>
            </a:xfrm>
            <a:custGeom>
              <a:avLst/>
              <a:gdLst/>
              <a:ahLst/>
              <a:cxnLst/>
              <a:rect l="l" t="t" r="r" b="b"/>
              <a:pathLst>
                <a:path w="819150" h="9525">
                  <a:moveTo>
                    <a:pt x="819150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933450" y="273081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1028700" y="3752850"/>
              <a:ext cx="819150" cy="9525"/>
            </a:xfrm>
            <a:custGeom>
              <a:avLst/>
              <a:gdLst/>
              <a:ahLst/>
              <a:cxnLst/>
              <a:rect l="l" t="t" r="r" b="b"/>
              <a:pathLst>
                <a:path w="819150" h="9525">
                  <a:moveTo>
                    <a:pt x="819150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933450" y="37052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3485198" y="1812608"/>
              <a:ext cx="9525" cy="319088"/>
            </a:xfrm>
            <a:custGeom>
              <a:avLst/>
              <a:gdLst/>
              <a:ahLst/>
              <a:cxnLst/>
              <a:rect l="l" t="t" r="r" b="b"/>
              <a:pathLst>
                <a:path w="9525" h="319088">
                  <a:moveTo>
                    <a:pt x="0" y="319088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3437572" y="171735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3694748" y="2150745"/>
              <a:ext cx="438150" cy="9525"/>
            </a:xfrm>
            <a:custGeom>
              <a:avLst/>
              <a:gdLst/>
              <a:ahLst/>
              <a:cxnLst/>
              <a:rect l="l" t="t" r="r" b="b"/>
              <a:pathLst>
                <a:path w="438150" h="9525">
                  <a:moveTo>
                    <a:pt x="0" y="0"/>
                  </a:moveTo>
                  <a:lnTo>
                    <a:pt x="43815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4132898" y="210312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3027998" y="3265170"/>
              <a:ext cx="819150" cy="9525"/>
            </a:xfrm>
            <a:custGeom>
              <a:avLst/>
              <a:gdLst/>
              <a:ahLst/>
              <a:cxnLst/>
              <a:rect l="l" t="t" r="r" b="b"/>
              <a:pathLst>
                <a:path w="819150" h="9525">
                  <a:moveTo>
                    <a:pt x="0" y="0"/>
                  </a:moveTo>
                  <a:lnTo>
                    <a:pt x="81915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3847148" y="321754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2932748" y="321754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2904172" y="161925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2904172" y="489299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1857375" y="214122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3951922" y="214122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3951922" y="437102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1857375" y="437102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1857375" y="215931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3951922" y="276891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4904422" y="276891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3951922" y="374332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4904422" y="374332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1857375" y="276891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904875" y="276891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1857375" y="374332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904875" y="374332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3475672" y="214122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3475672" y="168878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3666172" y="214122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4237672" y="214122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2904172" y="325564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3951922" y="325564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910529" y="2447449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390395" y="30046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552819" y="3143726"/>
              <a:ext cx="566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129477" y="1619250"/>
              <a:ext cx="1705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dS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205478" y="1759268"/>
              <a:ext cx="8454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底面：D ⊥ dS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098482" y="46772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λ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formula124"/>
              <p:cNvSpPr txBox="1">
                <a:spLocks noGrp="1"/>
              </p:cNvSpPr>
              <p:nvPr/>
            </p:nvSpPr>
            <p:spPr>
              <a:xfrm>
                <a:off x="533400" y="5193030"/>
                <a:ext cx="4760595" cy="4800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nary>
                        <m:naryPr>
                          <m:chr m:val="∮"/>
                          <m:limLoc m:val="subSup"/>
                          <m:grow m:val="off"/>
                          <m:subHide m:val="off"/>
                          <m:supHide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</m:t>
                              </m:r>
                            </m:e>
                          </m:acc>
                        </m:e>
                      </m:nary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</m:t>
                      </m:r>
                      <m:acc>
                        <m:accPr>
                          <m:chr m:val="⃗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m:rPr>
                              <m:nor m:val="on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侧面</m:t>
                          </m:r>
                        </m:sub>
                        <m:sup/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dS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2πrl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73" name="c2-table-1"/>
          <p:cNvGrpSpPr/>
          <p:nvPr/>
        </p:nvGrpSpPr>
        <p:grpSpPr>
          <a:xfrm>
            <a:off x="5598795" y="1524000"/>
            <a:ext cx="6059805" cy="2146935"/>
            <a:chOff x="5598795" y="1524000"/>
            <a:chExt cx="6059805" cy="2146935"/>
          </a:xfrm>
        </p:grpSpPr>
        <p:sp>
          <p:nvSpPr>
            <p:cNvPr id="54" name="Rectangle 54"/>
            <p:cNvSpPr/>
            <p:nvPr/>
          </p:nvSpPr>
          <p:spPr>
            <a:xfrm>
              <a:off x="5598795" y="1524000"/>
              <a:ext cx="6059805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340792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分布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214922" y="1655445"/>
              <a:ext cx="4046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 &lt; R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335187" y="1655445"/>
              <a:ext cx="4046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 &gt; R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704142" y="2085022"/>
              <a:ext cx="9640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无限长直线 λ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522464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521762" y="2085022"/>
              <a:ext cx="20795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= λ/(2πr)，E = λ/(2πεr)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598795" y="237934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5598795" y="2384108"/>
              <a:ext cx="6059805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704142" y="2515552"/>
              <a:ext cx="1086231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圆柱面（R，λ =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2πRσ）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522464" y="2622232"/>
              <a:ext cx="9418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= 0，E = 0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521762" y="2622232"/>
              <a:ext cx="20795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= λ/(2πr)，E = λ/(2πεr)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5598795" y="302323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704142" y="3266122"/>
              <a:ext cx="1173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圆柱体（R，ρ）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522464" y="3266122"/>
              <a:ext cx="18150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= ρr/2，E = ρr/(2ε₁)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521762" y="3159442"/>
              <a:ext cx="13075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= ρR²/(2r)，E =</a:t>
              </a:r>
              <a:br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ρR²/(2ε₂r)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5598795" y="1524000"/>
              <a:ext cx="6059805" cy="21469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7412355" y="1524000"/>
              <a:ext cx="9525" cy="21469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9411652" y="1524000"/>
              <a:ext cx="9525" cy="21469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8" name="c2-card-2"/>
          <p:cNvGrpSpPr/>
          <p:nvPr/>
        </p:nvGrpSpPr>
        <p:grpSpPr>
          <a:xfrm>
            <a:off x="5598795" y="3856672"/>
            <a:ext cx="6059805" cy="1545908"/>
            <a:chOff x="5598795" y="3856672"/>
            <a:chExt cx="6059805" cy="1545908"/>
          </a:xfrm>
        </p:grpSpPr>
        <p:sp>
          <p:nvSpPr>
            <p:cNvPr id="74" name="Rectangle 74"/>
            <p:cNvSpPr/>
            <p:nvPr/>
          </p:nvSpPr>
          <p:spPr>
            <a:xfrm>
              <a:off x="5598795" y="3856672"/>
              <a:ext cx="6059805" cy="1545908"/>
            </a:xfrm>
            <a:prstGeom prst="roundRect">
              <a:avLst>
                <a:gd name="adj" fmla="val 8626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5802630" y="4060508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5880989" y="409622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推导的关键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5795391" y="4433411"/>
              <a:ext cx="5307457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两个底面上 D 与法线垂直，通量为零；侧面上 D 沿径向、大小处处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相同，通量 D·2πrl。右边的面内电荷：直线是 λl；圆柱面内为 0、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外为 λl；圆柱体内是 ρπr²l，外是 ρπR²l。</a:t>
              </a:r>
            </a:p>
          </p:txBody>
        </p:sp>
      </p:grpSp>
      <p:grpSp>
        <p:nvGrpSpPr>
          <p:cNvPr id="85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79" name="Rectangle 79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3" name="Group 83"/>
            <p:cNvGrpSpPr/>
            <p:nvPr/>
          </p:nvGrpSpPr>
          <p:grpSpPr>
            <a:xfrm>
              <a:off x="738188" y="6003608"/>
              <a:ext cx="200026" cy="200025"/>
              <a:chOff x="738188" y="6003608"/>
              <a:chExt cx="200026" cy="200025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738188" y="60036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777926" y="60480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812642" y="61591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4" name="TextBox 84"/>
            <p:cNvSpPr txBox="1"/>
            <p:nvPr/>
          </p:nvSpPr>
          <p:spPr>
            <a:xfrm>
              <a:off x="1040511" y="6004084"/>
              <a:ext cx="967817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三种分布的外部都与无限长带电直线相同：圆柱体的 ρπR² 就是单位长度的电量 λ，柱对称分布在外部的场只看 λ。</a:t>
              </a:r>
            </a:p>
          </p:txBody>
        </p:sp>
      </p:grpSp>
      <p:grpSp>
        <p:nvGrpSpPr>
          <p:cNvPr id="8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6" name="TextBox 86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第4章 静电场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72725" cy="909257"/>
            <a:chOff x="520446" y="342900"/>
            <a:chExt cx="647272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静电场 · 静电场中的高斯定理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7272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面对称：无限大平面两侧是匀强场 σ/(2ε)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graph-1"/>
          <p:cNvGrpSpPr/>
          <p:nvPr/>
        </p:nvGrpSpPr>
        <p:grpSpPr>
          <a:xfrm>
            <a:off x="740092" y="1580198"/>
            <a:ext cx="4996816" cy="1534477"/>
            <a:chOff x="740092" y="1580198"/>
            <a:chExt cx="4996816" cy="1534477"/>
          </a:xfrm>
        </p:grpSpPr>
        <p:sp>
          <p:nvSpPr>
            <p:cNvPr id="7" name="Freeform 7"/>
            <p:cNvSpPr/>
            <p:nvPr/>
          </p:nvSpPr>
          <p:spPr>
            <a:xfrm>
              <a:off x="3238500" y="1608772"/>
              <a:ext cx="9525" cy="1477328"/>
            </a:xfrm>
            <a:custGeom>
              <a:avLst/>
              <a:gdLst/>
              <a:ahLst/>
              <a:cxnLst/>
              <a:rect l="l" t="t" r="r" b="b"/>
              <a:pathLst>
                <a:path w="9525" h="1477328">
                  <a:moveTo>
                    <a:pt x="0" y="0"/>
                  </a:moveTo>
                  <a:lnTo>
                    <a:pt x="0" y="1477328"/>
                  </a:lnTo>
                </a:path>
              </a:pathLst>
            </a:custGeom>
            <a:noFill/>
            <a:ln w="47625">
              <a:solidFill>
                <a:srgbClr val="B42318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850708" y="2084070"/>
              <a:ext cx="2794635" cy="526733"/>
            </a:xfrm>
            <a:custGeom>
              <a:avLst/>
              <a:gdLst/>
              <a:ahLst/>
              <a:cxnLst/>
              <a:rect l="l" t="t" r="r" b="b"/>
              <a:pathLst>
                <a:path w="2794635" h="526733">
                  <a:moveTo>
                    <a:pt x="0" y="0"/>
                  </a:moveTo>
                  <a:lnTo>
                    <a:pt x="2794635" y="0"/>
                  </a:lnTo>
                  <a:lnTo>
                    <a:pt x="2794635" y="526733"/>
                  </a:lnTo>
                  <a:lnTo>
                    <a:pt x="0" y="526733"/>
                  </a:lnTo>
                </a:path>
              </a:pathLst>
            </a:custGeom>
            <a:noFill/>
            <a:ln w="19050">
              <a:solidFill>
                <a:srgbClr val="2F4B9A"/>
              </a:solidFill>
              <a:custDash>
                <a:ds d="300000" sp="200000"/>
              </a:custDash>
            </a:ln>
          </p:spPr>
        </p:sp>
        <p:sp>
          <p:nvSpPr>
            <p:cNvPr id="9" name="Freeform 9"/>
            <p:cNvSpPr/>
            <p:nvPr/>
          </p:nvSpPr>
          <p:spPr>
            <a:xfrm>
              <a:off x="1831658" y="2111692"/>
              <a:ext cx="9525" cy="480060"/>
            </a:xfrm>
            <a:custGeom>
              <a:avLst/>
              <a:gdLst/>
              <a:ahLst/>
              <a:cxnLst/>
              <a:rect l="l" t="t" r="r" b="b"/>
              <a:pathLst>
                <a:path w="9525" h="480060">
                  <a:moveTo>
                    <a:pt x="0" y="48006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2F4B9A"/>
              </a:solidFill>
              <a:custDash>
                <a:ds d="300000" sp="200000"/>
              </a:custDash>
            </a:ln>
          </p:spPr>
        </p:sp>
        <p:sp>
          <p:nvSpPr>
            <p:cNvPr id="10" name="Freeform 10"/>
            <p:cNvSpPr/>
            <p:nvPr/>
          </p:nvSpPr>
          <p:spPr>
            <a:xfrm>
              <a:off x="4664392" y="2346960"/>
              <a:ext cx="948690" cy="9525"/>
            </a:xfrm>
            <a:custGeom>
              <a:avLst/>
              <a:gdLst/>
              <a:ahLst/>
              <a:cxnLst/>
              <a:rect l="l" t="t" r="r" b="b"/>
              <a:pathLst>
                <a:path w="948690" h="9525">
                  <a:moveTo>
                    <a:pt x="0" y="0"/>
                  </a:moveTo>
                  <a:lnTo>
                    <a:pt x="948690" y="0"/>
                  </a:lnTo>
                </a:path>
              </a:pathLst>
            </a:custGeom>
            <a:noFill/>
            <a:ln w="22860">
              <a:solidFill>
                <a:srgbClr val="F26B3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5613082" y="229933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863918" y="2346960"/>
              <a:ext cx="948690" cy="9525"/>
            </a:xfrm>
            <a:custGeom>
              <a:avLst/>
              <a:gdLst/>
              <a:ahLst/>
              <a:cxnLst/>
              <a:rect l="l" t="t" r="r" b="b"/>
              <a:pathLst>
                <a:path w="948690" h="9525">
                  <a:moveTo>
                    <a:pt x="948690" y="0"/>
                  </a:moveTo>
                  <a:lnTo>
                    <a:pt x="0" y="0"/>
                  </a:lnTo>
                </a:path>
              </a:pathLst>
            </a:custGeom>
            <a:noFill/>
            <a:ln w="22860">
              <a:solidFill>
                <a:srgbClr val="F26B3A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768668" y="229933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3228975" y="158019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3228975" y="309562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1822132" y="207454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4635818" y="207454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4635818" y="260127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822132" y="260127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822132" y="208311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4635818" y="233743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5717858" y="233743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1822132" y="233743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740092" y="233743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449764" y="158353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σ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462706" y="210216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17376" y="210216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856607" y="1847374"/>
              <a:ext cx="163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98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ΔS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457152" y="1847374"/>
              <a:ext cx="163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l-GR" sz="98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ΔS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990784" y="2670334"/>
              <a:ext cx="8298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侧面与 D 平行</a:t>
              </a:r>
            </a:p>
          </p:txBody>
        </p:sp>
      </p:grpSp>
      <p:grpSp>
        <p:nvGrpSpPr>
          <p:cNvPr id="45" name="c1-steps-2"/>
          <p:cNvGrpSpPr/>
          <p:nvPr/>
        </p:nvGrpSpPr>
        <p:grpSpPr>
          <a:xfrm>
            <a:off x="533400" y="3355658"/>
            <a:ext cx="4465000" cy="1693069"/>
            <a:chOff x="533400" y="3355658"/>
            <a:chExt cx="4465000" cy="1693069"/>
          </a:xfrm>
        </p:grpSpPr>
        <p:sp>
          <p:nvSpPr>
            <p:cNvPr id="32" name="Rectangle 32"/>
            <p:cNvSpPr/>
            <p:nvPr/>
          </p:nvSpPr>
          <p:spPr>
            <a:xfrm>
              <a:off x="666750" y="3498532"/>
              <a:ext cx="19050" cy="1173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533400" y="335565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27024" y="34294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533400" y="394239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27024" y="40162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533400" y="452913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27024" y="46029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45642" y="338709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选高斯面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46785" y="3655219"/>
              <a:ext cx="40516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轴线垂直于平面的圆柱面，两个底面 ΔS 对称地放在平面两侧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45642" y="397383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算通量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46785" y="4241959"/>
              <a:ext cx="37456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侧面 D 与法线垂直，通量为 0；两底面各 DΔS，共 2DΔS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45642" y="456152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列方程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46785" y="4828699"/>
              <a:ext cx="23898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2DΔS = σΔS，D = σ/2，E = σ/(2ε)</a:t>
              </a:r>
            </a:p>
          </p:txBody>
        </p:sp>
      </p:grpSp>
      <p:grpSp>
        <p:nvGrpSpPr>
          <p:cNvPr id="74" name="c2-table-1"/>
          <p:cNvGrpSpPr/>
          <p:nvPr/>
        </p:nvGrpSpPr>
        <p:grpSpPr>
          <a:xfrm>
            <a:off x="6248400" y="1524000"/>
            <a:ext cx="5410200" cy="2434590"/>
            <a:chOff x="6248400" y="1524000"/>
            <a:chExt cx="5410200" cy="2434590"/>
          </a:xfrm>
        </p:grpSpPr>
        <p:sp>
          <p:nvSpPr>
            <p:cNvPr id="46" name="Rectangle 46"/>
            <p:cNvSpPr/>
            <p:nvPr/>
          </p:nvSpPr>
          <p:spPr>
            <a:xfrm>
              <a:off x="6248400" y="1524000"/>
              <a:ext cx="5410200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06536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分布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604047" y="164830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高斯定理成立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339035" y="1648301"/>
              <a:ext cx="9074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能用它求出 E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348412" y="205406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点电荷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980983" y="205406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711675" y="205406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248400" y="23307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248400" y="233553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348412" y="245983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有限长直线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980983" y="245983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711675" y="245983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248400" y="27365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348412" y="286559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无限长直线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980983" y="286559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711675" y="286559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248400" y="31422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6248400" y="314706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348412" y="327136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有限大平面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980983" y="327136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711675" y="327136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248400" y="35480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348412" y="367712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无限大平面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980983" y="367712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711675" y="367712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6248400" y="1524000"/>
              <a:ext cx="5410200" cy="24345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8191500" y="1524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9922192" y="1524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9" name="c2-card-2"/>
          <p:cNvGrpSpPr/>
          <p:nvPr/>
        </p:nvGrpSpPr>
        <p:grpSpPr>
          <a:xfrm>
            <a:off x="6248400" y="4133850"/>
            <a:ext cx="5410200" cy="1466850"/>
            <a:chOff x="6248400" y="4133850"/>
            <a:chExt cx="5410200" cy="1466850"/>
          </a:xfrm>
        </p:grpSpPr>
        <p:sp>
          <p:nvSpPr>
            <p:cNvPr id="75" name="Rectangle 75"/>
            <p:cNvSpPr/>
            <p:nvPr/>
          </p:nvSpPr>
          <p:spPr>
            <a:xfrm>
              <a:off x="6248400" y="4133850"/>
              <a:ext cx="5410200" cy="1466850"/>
            </a:xfrm>
            <a:prstGeom prst="roundRect">
              <a:avLst>
                <a:gd name="adj" fmla="val 9091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6440805" y="432625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532245" y="436054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原因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433947" y="4682490"/>
              <a:ext cx="484003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有限长直线端部附近的场不再垂直于直线，有限大平面边缘的场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也不再垂直于平面，高斯面上 D 的大小和方向都不均匀，积分拆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不开。定理本身始终成立，只是用不上。</a:t>
              </a:r>
            </a:p>
          </p:txBody>
        </p:sp>
      </p:grpSp>
      <p:grpSp>
        <p:nvGrpSpPr>
          <p:cNvPr id="86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80" name="Rectangle 80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84" name="Group 84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81" name="Freeform 81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85" name="TextBox 85"/>
            <p:cNvSpPr txBox="1"/>
            <p:nvPr/>
          </p:nvSpPr>
          <p:spPr>
            <a:xfrm>
              <a:off x="1040892" y="6023610"/>
              <a:ext cx="76739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离有限大平面很近、又远离边缘的地方，仍可近似用 σ/(2ε₀)；平行板电容器就是这样处理的。</a:t>
              </a:r>
            </a:p>
          </p:txBody>
        </p:sp>
      </p:grpSp>
      <p:grpSp>
        <p:nvGrpSpPr>
          <p:cNvPr id="8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7" name="TextBox 87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第4章 静电场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42162" cy="909257"/>
            <a:chOff x="520446" y="342900"/>
            <a:chExt cx="694216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静电场 · 静电场中的高斯定理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4216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练习 非均匀球体 ρ = kr²：面内电荷要先积分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977765" cy="1568768"/>
            <a:chOff x="533400" y="1524000"/>
            <a:chExt cx="4977765" cy="156876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568768"/>
            </a:xfrm>
            <a:prstGeom prst="roundRect">
              <a:avLst>
                <a:gd name="adj" fmla="val 85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0206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1060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练习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433362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半径 R 的球体，电荷体密度 ρ = kr²（k 为常数，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为到球心的距离），真空。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381" y="2672239"/>
              <a:ext cx="19834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球内外的场强分布。</a:t>
              </a:r>
            </a:p>
          </p:txBody>
        </p:sp>
      </p:grpSp>
      <p:grpSp>
        <p:nvGrpSpPr>
          <p:cNvPr id="35" name="c1-graph-2"/>
          <p:cNvGrpSpPr/>
          <p:nvPr/>
        </p:nvGrpSpPr>
        <p:grpSpPr>
          <a:xfrm>
            <a:off x="775259" y="3361373"/>
            <a:ext cx="4576581" cy="2242851"/>
            <a:chOff x="775259" y="3361373"/>
            <a:chExt cx="4576581" cy="2242851"/>
          </a:xfrm>
        </p:grpSpPr>
        <p:sp>
          <p:nvSpPr>
            <p:cNvPr id="14" name="Freeform 14"/>
            <p:cNvSpPr/>
            <p:nvPr/>
          </p:nvSpPr>
          <p:spPr>
            <a:xfrm>
              <a:off x="1000125" y="5301615"/>
              <a:ext cx="4147185" cy="9525"/>
            </a:xfrm>
            <a:custGeom>
              <a:avLst/>
              <a:gdLst/>
              <a:ahLst/>
              <a:cxnLst/>
              <a:rect l="l" t="t" r="r" b="b"/>
              <a:pathLst>
                <a:path w="4147185" h="9525">
                  <a:moveTo>
                    <a:pt x="0" y="0"/>
                  </a:moveTo>
                  <a:lnTo>
                    <a:pt x="4147185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5147310" y="525399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981075" y="3604260"/>
              <a:ext cx="9525" cy="1678305"/>
            </a:xfrm>
            <a:custGeom>
              <a:avLst/>
              <a:gdLst/>
              <a:ahLst/>
              <a:cxnLst/>
              <a:rect l="l" t="t" r="r" b="b"/>
              <a:pathLst>
                <a:path w="9525" h="1678305">
                  <a:moveTo>
                    <a:pt x="0" y="167830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933450" y="350901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1000125" y="3677602"/>
              <a:ext cx="1046798" cy="1624012"/>
            </a:xfrm>
            <a:custGeom>
              <a:avLst/>
              <a:gdLst/>
              <a:ahLst/>
              <a:cxnLst/>
              <a:rect l="l" t="t" r="r" b="b"/>
              <a:pathLst>
                <a:path w="1046798" h="1624012">
                  <a:moveTo>
                    <a:pt x="0" y="1624012"/>
                  </a:moveTo>
                  <a:lnTo>
                    <a:pt x="36195" y="1624012"/>
                  </a:lnTo>
                  <a:lnTo>
                    <a:pt x="90488" y="1621155"/>
                  </a:lnTo>
                  <a:lnTo>
                    <a:pt x="140970" y="1619250"/>
                  </a:lnTo>
                  <a:lnTo>
                    <a:pt x="195262" y="1611630"/>
                  </a:lnTo>
                  <a:lnTo>
                    <a:pt x="249555" y="1597342"/>
                  </a:lnTo>
                  <a:lnTo>
                    <a:pt x="300038" y="1580197"/>
                  </a:lnTo>
                  <a:lnTo>
                    <a:pt x="354330" y="1553528"/>
                  </a:lnTo>
                  <a:lnTo>
                    <a:pt x="409575" y="1517332"/>
                  </a:lnTo>
                  <a:lnTo>
                    <a:pt x="463867" y="1473517"/>
                  </a:lnTo>
                  <a:lnTo>
                    <a:pt x="519112" y="1418272"/>
                  </a:lnTo>
                  <a:lnTo>
                    <a:pt x="568642" y="1350645"/>
                  </a:lnTo>
                  <a:lnTo>
                    <a:pt x="622935" y="1268730"/>
                  </a:lnTo>
                  <a:lnTo>
                    <a:pt x="678180" y="1172527"/>
                  </a:lnTo>
                  <a:lnTo>
                    <a:pt x="727710" y="1061085"/>
                  </a:lnTo>
                  <a:lnTo>
                    <a:pt x="782955" y="930592"/>
                  </a:lnTo>
                  <a:lnTo>
                    <a:pt x="837248" y="782955"/>
                  </a:lnTo>
                  <a:lnTo>
                    <a:pt x="892492" y="614362"/>
                  </a:lnTo>
                  <a:lnTo>
                    <a:pt x="946785" y="425767"/>
                  </a:lnTo>
                  <a:lnTo>
                    <a:pt x="996315" y="216217"/>
                  </a:lnTo>
                  <a:lnTo>
                    <a:pt x="1046798" y="0"/>
                  </a:lnTo>
                </a:path>
              </a:pathLst>
            </a:custGeom>
            <a:noFill/>
            <a:ln w="24765">
              <a:solidFill>
                <a:srgbClr val="2F4B9A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2057400" y="3677602"/>
              <a:ext cx="3185160" cy="1521142"/>
            </a:xfrm>
            <a:custGeom>
              <a:avLst/>
              <a:gdLst/>
              <a:ahLst/>
              <a:cxnLst/>
              <a:rect l="l" t="t" r="r" b="b"/>
              <a:pathLst>
                <a:path w="3185160" h="1521142">
                  <a:moveTo>
                    <a:pt x="0" y="0"/>
                  </a:moveTo>
                  <a:lnTo>
                    <a:pt x="59055" y="170497"/>
                  </a:lnTo>
                  <a:lnTo>
                    <a:pt x="128588" y="326707"/>
                  </a:lnTo>
                  <a:lnTo>
                    <a:pt x="193358" y="460057"/>
                  </a:lnTo>
                  <a:lnTo>
                    <a:pt x="262890" y="573405"/>
                  </a:lnTo>
                  <a:lnTo>
                    <a:pt x="327660" y="669607"/>
                  </a:lnTo>
                  <a:lnTo>
                    <a:pt x="397192" y="754380"/>
                  </a:lnTo>
                  <a:lnTo>
                    <a:pt x="461962" y="829627"/>
                  </a:lnTo>
                  <a:lnTo>
                    <a:pt x="526733" y="894397"/>
                  </a:lnTo>
                  <a:lnTo>
                    <a:pt x="596265" y="949642"/>
                  </a:lnTo>
                  <a:lnTo>
                    <a:pt x="661035" y="1001077"/>
                  </a:lnTo>
                  <a:lnTo>
                    <a:pt x="730567" y="1046797"/>
                  </a:lnTo>
                  <a:lnTo>
                    <a:pt x="795338" y="1087755"/>
                  </a:lnTo>
                  <a:lnTo>
                    <a:pt x="864870" y="1123950"/>
                  </a:lnTo>
                  <a:lnTo>
                    <a:pt x="929640" y="1157288"/>
                  </a:lnTo>
                  <a:lnTo>
                    <a:pt x="999172" y="1186815"/>
                  </a:lnTo>
                  <a:lnTo>
                    <a:pt x="1063942" y="1213485"/>
                  </a:lnTo>
                  <a:lnTo>
                    <a:pt x="1128712" y="1237297"/>
                  </a:lnTo>
                  <a:lnTo>
                    <a:pt x="1198245" y="1259205"/>
                  </a:lnTo>
                  <a:lnTo>
                    <a:pt x="1263015" y="1281112"/>
                  </a:lnTo>
                  <a:lnTo>
                    <a:pt x="1332547" y="1300162"/>
                  </a:lnTo>
                  <a:lnTo>
                    <a:pt x="1397318" y="1317307"/>
                  </a:lnTo>
                  <a:lnTo>
                    <a:pt x="1467803" y="1331595"/>
                  </a:lnTo>
                  <a:lnTo>
                    <a:pt x="1532572" y="1348740"/>
                  </a:lnTo>
                  <a:lnTo>
                    <a:pt x="1602105" y="1360170"/>
                  </a:lnTo>
                  <a:lnTo>
                    <a:pt x="1666875" y="1372553"/>
                  </a:lnTo>
                  <a:lnTo>
                    <a:pt x="1731645" y="1384935"/>
                  </a:lnTo>
                  <a:lnTo>
                    <a:pt x="1801178" y="1396365"/>
                  </a:lnTo>
                  <a:lnTo>
                    <a:pt x="1865947" y="1405890"/>
                  </a:lnTo>
                  <a:lnTo>
                    <a:pt x="1935480" y="1416367"/>
                  </a:lnTo>
                  <a:lnTo>
                    <a:pt x="2000250" y="1425892"/>
                  </a:lnTo>
                  <a:lnTo>
                    <a:pt x="2069782" y="1432560"/>
                  </a:lnTo>
                  <a:lnTo>
                    <a:pt x="2134552" y="1440180"/>
                  </a:lnTo>
                  <a:lnTo>
                    <a:pt x="2199322" y="1447800"/>
                  </a:lnTo>
                  <a:lnTo>
                    <a:pt x="2268855" y="1454467"/>
                  </a:lnTo>
                  <a:lnTo>
                    <a:pt x="2333625" y="1462088"/>
                  </a:lnTo>
                  <a:lnTo>
                    <a:pt x="2403158" y="1468755"/>
                  </a:lnTo>
                  <a:lnTo>
                    <a:pt x="2467928" y="1473517"/>
                  </a:lnTo>
                  <a:lnTo>
                    <a:pt x="2537460" y="1478280"/>
                  </a:lnTo>
                  <a:lnTo>
                    <a:pt x="2602230" y="1483995"/>
                  </a:lnTo>
                  <a:lnTo>
                    <a:pt x="2667000" y="1488757"/>
                  </a:lnTo>
                  <a:lnTo>
                    <a:pt x="2736532" y="1493520"/>
                  </a:lnTo>
                  <a:lnTo>
                    <a:pt x="2801302" y="1498282"/>
                  </a:lnTo>
                  <a:lnTo>
                    <a:pt x="2870835" y="1503045"/>
                  </a:lnTo>
                  <a:lnTo>
                    <a:pt x="2935605" y="1507807"/>
                  </a:lnTo>
                  <a:lnTo>
                    <a:pt x="3005138" y="1509712"/>
                  </a:lnTo>
                  <a:lnTo>
                    <a:pt x="3069907" y="1515428"/>
                  </a:lnTo>
                  <a:lnTo>
                    <a:pt x="3139440" y="1517332"/>
                  </a:lnTo>
                  <a:lnTo>
                    <a:pt x="3185160" y="1521142"/>
                  </a:lnTo>
                </a:path>
              </a:pathLst>
            </a:custGeom>
            <a:noFill/>
            <a:ln w="24765">
              <a:solidFill>
                <a:srgbClr val="2F4B9A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2051685" y="3678555"/>
              <a:ext cx="9525" cy="1604010"/>
            </a:xfrm>
            <a:custGeom>
              <a:avLst/>
              <a:gdLst/>
              <a:ahLst/>
              <a:cxnLst/>
              <a:rect l="l" t="t" r="r" b="b"/>
              <a:pathLst>
                <a:path w="9525" h="1604010">
                  <a:moveTo>
                    <a:pt x="0" y="160401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21" name="Ellipse 21"/>
            <p:cNvSpPr/>
            <p:nvPr/>
          </p:nvSpPr>
          <p:spPr>
            <a:xfrm>
              <a:off x="971550" y="529209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971550" y="529209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2042160" y="364998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2042160" y="364998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5252085" y="519017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2042160" y="529209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2042160" y="364998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272346" y="5245417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39348" y="3361373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75259" y="5388769"/>
              <a:ext cx="1144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008398" y="5413534"/>
              <a:ext cx="865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85660" y="4177189"/>
              <a:ext cx="3897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E ∝ r³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012567" y="4505801"/>
              <a:ext cx="5389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E ∝ 1/r²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176272" y="3587591"/>
              <a:ext cx="9794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峰值 kR³/(5ε₀)</a:t>
              </a:r>
            </a:p>
          </p:txBody>
        </p:sp>
      </p:grpSp>
      <p:grpSp>
        <p:nvGrpSpPr>
          <p:cNvPr id="53" name="c2-steps-1"/>
          <p:cNvGrpSpPr/>
          <p:nvPr/>
        </p:nvGrpSpPr>
        <p:grpSpPr>
          <a:xfrm>
            <a:off x="5815965" y="1533525"/>
            <a:ext cx="5412638" cy="2398776"/>
            <a:chOff x="5815965" y="1533525"/>
            <a:chExt cx="5412638" cy="2398776"/>
          </a:xfrm>
        </p:grpSpPr>
        <p:sp>
          <p:nvSpPr>
            <p:cNvPr id="36" name="Rectangle 36"/>
            <p:cNvSpPr/>
            <p:nvPr/>
          </p:nvSpPr>
          <p:spPr>
            <a:xfrm>
              <a:off x="5949315" y="1676400"/>
              <a:ext cx="19050" cy="18507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581596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90958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5815965" y="215074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909589" y="22245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5815965" y="276701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909589" y="28408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5815965" y="338423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909589" y="34580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227826" y="156638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对称性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228969" y="1846898"/>
              <a:ext cx="35661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ρ 只与 r 有关，仍是球对称，取同心球面为高斯面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227826" y="2183606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球内：面内电荷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228969" y="2464118"/>
              <a:ext cx="30136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q内 = ∫ρdV = ∫₀ʳ kr²·4πr²dr = 4πkr⁵/5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227826" y="2799874"/>
              <a:ext cx="95938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球内：求 E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228969" y="3080385"/>
              <a:ext cx="36620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D·4πr² = 4πkr⁵/5，D = kr³/5，E内 = kr³/(5ε₀)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227826" y="341709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球外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228969" y="3697605"/>
              <a:ext cx="49996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面内电荷 4πkR⁵/5 不再变，D·4πr² = 4πkR⁵/5，E外 = kR⁵/(5ε₀r²)</a:t>
              </a:r>
            </a:p>
          </p:txBody>
        </p:sp>
      </p:grpSp>
      <p:grpSp>
        <p:nvGrpSpPr>
          <p:cNvPr id="59" name="c2-card-2"/>
          <p:cNvGrpSpPr/>
          <p:nvPr/>
        </p:nvGrpSpPr>
        <p:grpSpPr>
          <a:xfrm>
            <a:off x="5815965" y="4103370"/>
            <a:ext cx="5842635" cy="1529715"/>
            <a:chOff x="5815965" y="4103370"/>
            <a:chExt cx="5842635" cy="1529715"/>
          </a:xfrm>
        </p:grpSpPr>
        <p:sp>
          <p:nvSpPr>
            <p:cNvPr id="54" name="Rectangle 54"/>
            <p:cNvSpPr/>
            <p:nvPr/>
          </p:nvSpPr>
          <p:spPr>
            <a:xfrm>
              <a:off x="5815965" y="4103370"/>
              <a:ext cx="5842635" cy="1529715"/>
            </a:xfrm>
            <a:prstGeom prst="roundRect">
              <a:avLst>
                <a:gd name="adj" fmla="val 8717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014085" y="4301490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109526" y="433578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006846" y="4662011"/>
              <a:ext cx="487464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E内 = kr³/(5ε₀)，E外 = kR⁵/(5ε₀r²)，沿径向（k &gt; 0 时向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外）。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007989" y="5247322"/>
              <a:ext cx="52617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更正：原课件 E内 写成 kr³/(5ε)，题目没有介质，与 E外 一样应为 ε₀。</a:t>
              </a:r>
            </a:p>
          </p:txBody>
        </p:sp>
      </p:grpSp>
      <p:grpSp>
        <p:nvGrpSpPr>
          <p:cNvPr id="65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60" name="Rectangle 60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38188" y="6011228"/>
              <a:ext cx="200026" cy="200026"/>
              <a:chOff x="738188" y="6011228"/>
              <a:chExt cx="200026" cy="200026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738188" y="60112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04863" y="608901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040511" y="6011704"/>
              <a:ext cx="95233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检验：r = R 处 E内 = E外 = kR³/(5ε₀)，曲线连续；脚本用数值积分复核了 D内 = kr³/5 与 D外 = kR⁵/(5r²)。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第4章 静电场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035555" cy="3351847"/>
            <a:chOff x="667512" y="1835468"/>
            <a:chExt cx="5035555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035555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静电场的环路定理 电势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89236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对应原课件 4.5，从做功与路径无关出发引出电势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电场力的功与环路定理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电势能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电势与电势差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电势的两种求法与五道例题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第4章 静电场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141168" cy="909257"/>
            <a:chOff x="520446" y="342900"/>
            <a:chExt cx="614116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4415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6417" y="407194"/>
              <a:ext cx="26371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静电场 · 静电场的环路定理 电势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14116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电场力做功与路径无关，所以 ∮E·dl = 0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graph-1"/>
          <p:cNvGrpSpPr/>
          <p:nvPr/>
        </p:nvGrpSpPr>
        <p:grpSpPr>
          <a:xfrm>
            <a:off x="907732" y="1772602"/>
            <a:ext cx="4066486" cy="2936177"/>
            <a:chOff x="907732" y="1772602"/>
            <a:chExt cx="4066486" cy="2936177"/>
          </a:xfrm>
        </p:grpSpPr>
        <p:sp>
          <p:nvSpPr>
            <p:cNvPr id="7" name="Freeform 7"/>
            <p:cNvSpPr/>
            <p:nvPr/>
          </p:nvSpPr>
          <p:spPr>
            <a:xfrm>
              <a:off x="2543175" y="1955482"/>
              <a:ext cx="2420302" cy="2590800"/>
            </a:xfrm>
            <a:custGeom>
              <a:avLst/>
              <a:gdLst/>
              <a:ahLst/>
              <a:cxnLst/>
              <a:rect l="l" t="t" r="r" b="b"/>
              <a:pathLst>
                <a:path w="2420302" h="2590800">
                  <a:moveTo>
                    <a:pt x="0" y="2590800"/>
                  </a:moveTo>
                  <a:lnTo>
                    <a:pt x="120967" y="2579370"/>
                  </a:lnTo>
                  <a:lnTo>
                    <a:pt x="249555" y="2558415"/>
                  </a:lnTo>
                  <a:lnTo>
                    <a:pt x="379095" y="2541270"/>
                  </a:lnTo>
                  <a:lnTo>
                    <a:pt x="508635" y="2517458"/>
                  </a:lnTo>
                  <a:lnTo>
                    <a:pt x="628650" y="2492692"/>
                  </a:lnTo>
                  <a:lnTo>
                    <a:pt x="747712" y="2462212"/>
                  </a:lnTo>
                  <a:lnTo>
                    <a:pt x="857250" y="2434590"/>
                  </a:lnTo>
                  <a:lnTo>
                    <a:pt x="966788" y="2400300"/>
                  </a:lnTo>
                  <a:lnTo>
                    <a:pt x="1076325" y="2366010"/>
                  </a:lnTo>
                  <a:lnTo>
                    <a:pt x="1175385" y="2325052"/>
                  </a:lnTo>
                  <a:lnTo>
                    <a:pt x="1275397" y="2286952"/>
                  </a:lnTo>
                  <a:lnTo>
                    <a:pt x="1364932" y="2242185"/>
                  </a:lnTo>
                  <a:lnTo>
                    <a:pt x="1454468" y="2197418"/>
                  </a:lnTo>
                  <a:lnTo>
                    <a:pt x="1544003" y="2149792"/>
                  </a:lnTo>
                  <a:lnTo>
                    <a:pt x="1624012" y="2097405"/>
                  </a:lnTo>
                  <a:lnTo>
                    <a:pt x="1703070" y="2043112"/>
                  </a:lnTo>
                  <a:lnTo>
                    <a:pt x="1772603" y="1987868"/>
                  </a:lnTo>
                  <a:lnTo>
                    <a:pt x="1843088" y="1929765"/>
                  </a:lnTo>
                  <a:lnTo>
                    <a:pt x="1912620" y="1867852"/>
                  </a:lnTo>
                  <a:lnTo>
                    <a:pt x="1971675" y="1802130"/>
                  </a:lnTo>
                  <a:lnTo>
                    <a:pt x="2031682" y="1737360"/>
                  </a:lnTo>
                  <a:lnTo>
                    <a:pt x="2081212" y="1667827"/>
                  </a:lnTo>
                  <a:lnTo>
                    <a:pt x="2131695" y="1596390"/>
                  </a:lnTo>
                  <a:lnTo>
                    <a:pt x="2181225" y="1520190"/>
                  </a:lnTo>
                  <a:lnTo>
                    <a:pt x="2221230" y="1444942"/>
                  </a:lnTo>
                  <a:lnTo>
                    <a:pt x="2261235" y="1362075"/>
                  </a:lnTo>
                  <a:lnTo>
                    <a:pt x="2290762" y="1283018"/>
                  </a:lnTo>
                  <a:lnTo>
                    <a:pt x="2320290" y="1197292"/>
                  </a:lnTo>
                  <a:lnTo>
                    <a:pt x="2350770" y="1111568"/>
                  </a:lnTo>
                  <a:lnTo>
                    <a:pt x="2370772" y="1019175"/>
                  </a:lnTo>
                  <a:lnTo>
                    <a:pt x="2389822" y="929640"/>
                  </a:lnTo>
                  <a:lnTo>
                    <a:pt x="2400300" y="833438"/>
                  </a:lnTo>
                  <a:lnTo>
                    <a:pt x="2409825" y="737235"/>
                  </a:lnTo>
                  <a:lnTo>
                    <a:pt x="2420302" y="633412"/>
                  </a:lnTo>
                  <a:lnTo>
                    <a:pt x="2420302" y="534352"/>
                  </a:lnTo>
                  <a:lnTo>
                    <a:pt x="2420302" y="427672"/>
                  </a:lnTo>
                  <a:lnTo>
                    <a:pt x="2409825" y="320992"/>
                  </a:lnTo>
                  <a:lnTo>
                    <a:pt x="2400300" y="211455"/>
                  </a:lnTo>
                  <a:lnTo>
                    <a:pt x="2389822" y="98107"/>
                  </a:lnTo>
                  <a:lnTo>
                    <a:pt x="2373630" y="0"/>
                  </a:lnTo>
                </a:path>
              </a:pathLst>
            </a:custGeom>
            <a:noFill/>
            <a:ln w="24765">
              <a:solidFill>
                <a:srgbClr val="2F4B9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162050" y="4297680"/>
              <a:ext cx="1305878" cy="240030"/>
            </a:xfrm>
            <a:custGeom>
              <a:avLst/>
              <a:gdLst/>
              <a:ahLst/>
              <a:cxnLst/>
              <a:rect l="l" t="t" r="r" b="b"/>
              <a:pathLst>
                <a:path w="1305878" h="240030">
                  <a:moveTo>
                    <a:pt x="0" y="0"/>
                  </a:moveTo>
                  <a:lnTo>
                    <a:pt x="1305878" y="24003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9" name="Freeform 9"/>
            <p:cNvSpPr/>
            <p:nvPr/>
          </p:nvSpPr>
          <p:spPr>
            <a:xfrm>
              <a:off x="1145858" y="1965960"/>
              <a:ext cx="3718560" cy="2238375"/>
            </a:xfrm>
            <a:custGeom>
              <a:avLst/>
              <a:gdLst/>
              <a:ahLst/>
              <a:cxnLst/>
              <a:rect l="l" t="t" r="r" b="b"/>
              <a:pathLst>
                <a:path w="3718560" h="2238375">
                  <a:moveTo>
                    <a:pt x="0" y="2238375"/>
                  </a:moveTo>
                  <a:lnTo>
                    <a:pt x="371856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0" name="Freeform 10"/>
            <p:cNvSpPr/>
            <p:nvPr/>
          </p:nvSpPr>
          <p:spPr>
            <a:xfrm>
              <a:off x="1163955" y="3958590"/>
              <a:ext cx="3094673" cy="301942"/>
            </a:xfrm>
            <a:custGeom>
              <a:avLst/>
              <a:gdLst/>
              <a:ahLst/>
              <a:cxnLst/>
              <a:rect l="l" t="t" r="r" b="b"/>
              <a:pathLst>
                <a:path w="3094673" h="301942">
                  <a:moveTo>
                    <a:pt x="0" y="301942"/>
                  </a:moveTo>
                  <a:lnTo>
                    <a:pt x="3094673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4337685" y="3619500"/>
              <a:ext cx="270510" cy="299085"/>
            </a:xfrm>
            <a:custGeom>
              <a:avLst/>
              <a:gdLst/>
              <a:ahLst/>
              <a:cxnLst/>
              <a:rect l="l" t="t" r="r" b="b"/>
              <a:pathLst>
                <a:path w="270510" h="299085">
                  <a:moveTo>
                    <a:pt x="0" y="299085"/>
                  </a:moveTo>
                  <a:lnTo>
                    <a:pt x="270510" y="0"/>
                  </a:lnTo>
                </a:path>
              </a:pathLst>
            </a:custGeom>
            <a:noFill/>
            <a:ln w="22860">
              <a:solidFill>
                <a:srgbClr val="B42318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572952" y="3549015"/>
              <a:ext cx="99060" cy="101917"/>
            </a:xfrm>
            <a:custGeom>
              <a:avLst/>
              <a:gdLst/>
              <a:ahLst/>
              <a:cxnLst/>
              <a:rect l="l" t="t" r="r" b="b"/>
              <a:pathLst>
                <a:path w="99060" h="101917">
                  <a:moveTo>
                    <a:pt x="99060" y="0"/>
                  </a:moveTo>
                  <a:lnTo>
                    <a:pt x="70485" y="101917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2514600" y="453866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4904422" y="192690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907732" y="4149090"/>
              <a:ext cx="247650" cy="247650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2476500" y="4500562"/>
              <a:ext cx="95250" cy="952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4866322" y="1888808"/>
              <a:ext cx="95250" cy="952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4268152" y="3915728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4674870" y="352520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88510" y="421243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q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321841" y="445293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62133" y="177260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744770" y="450342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ra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740133" y="271653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rb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978077" y="367855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964863" y="393525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q₀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828222" y="3481864"/>
              <a:ext cx="1459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dl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formula127"/>
              <p:cNvSpPr txBox="1">
                <a:spLocks noGrp="1"/>
              </p:cNvSpPr>
              <p:nvPr/>
            </p:nvSpPr>
            <p:spPr>
              <a:xfrm>
                <a:off x="533400" y="5151120"/>
                <a:ext cx="4977765" cy="5067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ab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ff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sub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sup>
                        <m:e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q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  <m:acc>
                            <m:accPr>
                              <m:chr m:val="⃗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</m:e>
                          </m:acc>
                        </m:e>
                      </m:nary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</m:t>
                      </m:r>
                      <m:acc>
                        <m:accPr>
                          <m:chr m:val="⃗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q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q</m:t>
                          </m:r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4π</m:t>
                          </m:r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ε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type m:val="bar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sSub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sub>
                              </m:sSub>
                            </m:den>
                          </m:f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type m:val="bar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sSub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b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43" name="c2-steps-1"/>
          <p:cNvGrpSpPr/>
          <p:nvPr/>
        </p:nvGrpSpPr>
        <p:grpSpPr>
          <a:xfrm>
            <a:off x="5815965" y="1533525"/>
            <a:ext cx="5929233" cy="1878615"/>
            <a:chOff x="5815965" y="1533525"/>
            <a:chExt cx="5929233" cy="1878615"/>
          </a:xfrm>
        </p:grpSpPr>
        <p:sp>
          <p:nvSpPr>
            <p:cNvPr id="30" name="Rectangle 30"/>
            <p:cNvSpPr/>
            <p:nvPr/>
          </p:nvSpPr>
          <p:spPr>
            <a:xfrm>
              <a:off x="5949315" y="1676400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581596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90958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5815965" y="218408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909589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5815965" y="283464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909589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27445" y="15678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点电荷的场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228588" y="1861661"/>
              <a:ext cx="55166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E·dl = E dl cos θ = E dr，只有径向位移起作用，积分结果只含 ra 和 rb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227445" y="221837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点电荷系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228588" y="2512219"/>
              <a:ext cx="54476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= ΣEᵢ，总功等于各点电荷单独做功之和，每一项都只与始末位置有关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227445" y="286893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任意静电场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228588" y="3162776"/>
              <a:ext cx="46654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任何静电场都可以看成点电荷系的场，所以静电力都是保守力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formula128"/>
              <p:cNvSpPr txBox="1">
                <a:spLocks noGrp="1"/>
              </p:cNvSpPr>
              <p:nvPr/>
            </p:nvSpPr>
            <p:spPr>
              <a:xfrm>
                <a:off x="5815965" y="3590925"/>
                <a:ext cx="5842635" cy="5600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nary>
                        <m:naryPr>
                          <m:chr m:val="∮"/>
                          <m:limLoc m:val="subSup"/>
                          <m:grow m:val="off"/>
                          <m:subHide m:val="off"/>
                          <m:supHide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sub>
                        <m:sup/>
                        <m:e>
                          <m:sSub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q</m:t>
                              </m:r>
                            </m:e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  <m:acc>
                            <m:accPr>
                              <m:chr m:val="⃗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</m:e>
                          </m:acc>
                        </m:e>
                      </m:nary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</m:t>
                      </m:r>
                      <m:acc>
                        <m:accPr>
                          <m:chr m:val="⃗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⟹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nary>
                        <m:naryPr>
                          <m:chr m:val="∮"/>
                          <m:limLoc m:val="subSup"/>
                          <m:grow m:val="off"/>
                          <m:subHide m:val="off"/>
                          <m:supHide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</m:e>
                          </m:acc>
                        </m:e>
                      </m:nary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</m:t>
                      </m:r>
                      <m:acc>
                        <m:accPr>
                          <m:chr m:val="⃗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49" name="c2-card-3"/>
          <p:cNvGrpSpPr/>
          <p:nvPr/>
        </p:nvGrpSpPr>
        <p:grpSpPr>
          <a:xfrm>
            <a:off x="5815965" y="4341495"/>
            <a:ext cx="5842635" cy="1316355"/>
            <a:chOff x="5815965" y="4341495"/>
            <a:chExt cx="5842635" cy="1316355"/>
          </a:xfrm>
        </p:grpSpPr>
        <p:sp>
          <p:nvSpPr>
            <p:cNvPr id="45" name="Rectangle 45"/>
            <p:cNvSpPr/>
            <p:nvPr/>
          </p:nvSpPr>
          <p:spPr>
            <a:xfrm>
              <a:off x="5815965" y="4341495"/>
              <a:ext cx="5842635" cy="1316355"/>
            </a:xfrm>
            <a:prstGeom prst="roundRect">
              <a:avLst>
                <a:gd name="adj" fmla="val 1013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025515" y="4551045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090120" y="458676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静电场的环路定理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017895" y="4928235"/>
              <a:ext cx="515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静电场强沿任意闭合路径的线积分为零。静电场是保守场（有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势场），因此可以引入电势能和电势。</a:t>
              </a:r>
            </a:p>
          </p:txBody>
        </p:sp>
      </p:grpSp>
      <p:grpSp>
        <p:nvGrpSpPr>
          <p:cNvPr id="56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0" name="Rectangle 50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1040130" y="5991225"/>
              <a:ext cx="70827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高斯定理说静电场有源，环路定理说它无旋，两条合起来完整地刻画了静电场。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第4章 静电场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4415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6417" y="407194"/>
              <a:ext cx="26371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静电场 · 静电场的环路定理 电势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电势能与电势：先选零点，电势差与零点无关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153"/>
              <p:cNvSpPr txBox="1">
                <a:spLocks noGrp="1"/>
              </p:cNvSpPr>
              <p:nvPr/>
            </p:nvSpPr>
            <p:spPr>
              <a:xfrm>
                <a:off x="533400" y="1524000"/>
                <a:ext cx="5193982" cy="4800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W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W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ab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ff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sub>
                        <m:sup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sup>
                        <m:e>
                          <m:sSub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q</m:t>
                              </m:r>
                            </m:e>
                            <m:sub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  <m:acc>
                            <m:accPr>
                              <m:chr m:val="⃗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</m:e>
                          </m:acc>
                        </m:e>
                      </m:nary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</m:t>
                      </m:r>
                      <m:acc>
                        <m:accPr>
                          <m:chr m:val="⃗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</m:acc>
                    </m:oMath>
                  </m:oMathPara>
                </a14:m>
              </a:p>
            </p:txBody>
          </p:sp>
        </mc:Choice>
      </mc:AlternateContent>
      <p:grpSp>
        <p:nvGrpSpPr>
          <p:cNvPr id="19" name="c1-table-2"/>
          <p:cNvGrpSpPr/>
          <p:nvPr/>
        </p:nvGrpSpPr>
        <p:grpSpPr>
          <a:xfrm>
            <a:off x="533400" y="2168842"/>
            <a:ext cx="5193982" cy="1143953"/>
            <a:chOff x="533400" y="2168842"/>
            <a:chExt cx="5193982" cy="1143953"/>
          </a:xfrm>
        </p:grpSpPr>
        <p:sp>
          <p:nvSpPr>
            <p:cNvPr id="8" name="Rectangle 8"/>
            <p:cNvSpPr/>
            <p:nvPr/>
          </p:nvSpPr>
          <p:spPr>
            <a:xfrm>
              <a:off x="533400" y="2168842"/>
              <a:ext cx="5193982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65301" y="228600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电场力做功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861816" y="228600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电势能变化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28078" y="2667952"/>
              <a:ext cx="10826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Aab &gt; 0（正功）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809304" y="2667952"/>
              <a:ext cx="14038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Wa &gt; Wb，电势能减少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33400" y="292703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533400" y="2931795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8078" y="3048952"/>
              <a:ext cx="10826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Aab &lt; 0（负功）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809304" y="3048952"/>
              <a:ext cx="14038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Wa &lt; Wb，电势能增加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2168842"/>
              <a:ext cx="5193982" cy="11439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2709862" y="2168842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27" name="c1-card-3"/>
          <p:cNvGrpSpPr/>
          <p:nvPr/>
        </p:nvGrpSpPr>
        <p:grpSpPr>
          <a:xfrm>
            <a:off x="533400" y="3477578"/>
            <a:ext cx="5193982" cy="2046922"/>
            <a:chOff x="533400" y="3477578"/>
            <a:chExt cx="5193982" cy="2046922"/>
          </a:xfrm>
        </p:grpSpPr>
        <p:sp>
          <p:nvSpPr>
            <p:cNvPr id="20" name="Rectangle 20"/>
            <p:cNvSpPr/>
            <p:nvPr/>
          </p:nvSpPr>
          <p:spPr>
            <a:xfrm>
              <a:off x="533400" y="3477578"/>
              <a:ext cx="5193982" cy="2046922"/>
            </a:xfrm>
            <a:prstGeom prst="roundRect">
              <a:avLst>
                <a:gd name="adj" fmla="val 65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42925" y="3610928"/>
              <a:ext cx="47625" cy="178022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52475" y="3658552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41096" y="369141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电势能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45998" y="3999071"/>
              <a:ext cx="449148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电势能是相对量，要先规定零点。q₀ 在 a 点的电势能，等于把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q₀ 从 a 移到零点时电场力做的功；常取无穷远为零点：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formula154"/>
                <p:cNvSpPr txBox="1">
                  <a:spLocks noGrp="1"/>
                </p:cNvSpPr>
                <p:nvPr/>
              </p:nvSpPr>
              <p:spPr>
                <a:xfrm>
                  <a:off x="752475" y="4505325"/>
                  <a:ext cx="4793932" cy="4533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W</m:t>
                            </m:r>
                          </m:e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∞</m:t>
                            </m:r>
                          </m:sup>
                          <m:e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q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  <m:acc>
                              <m:accPr>
                                <m:chr m:val="⃗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</m:acc>
                          </m:e>
                        </m:nary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acc>
                          <m:accPr>
                            <m:chr m:val="⃗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</m:e>
                        </m:acc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6" name="TextBox 26"/>
            <p:cNvSpPr txBox="1"/>
            <p:nvPr/>
          </p:nvSpPr>
          <p:spPr>
            <a:xfrm>
              <a:off x="747141" y="5057775"/>
              <a:ext cx="42367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电势能可正可负，单位 J；它属于试验电荷与场源电荷组成的系统。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formula155"/>
              <p:cNvSpPr txBox="1">
                <a:spLocks noGrp="1"/>
              </p:cNvSpPr>
              <p:nvPr/>
            </p:nvSpPr>
            <p:spPr>
              <a:xfrm>
                <a:off x="6032182" y="1524000"/>
                <a:ext cx="5626418" cy="5067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W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q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ff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sub>
                        <m:sup>
                          <m:r>
                            <m:rPr>
                              <m:nor m:val="on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参考点</m:t>
                          </m:r>
                        </m:sup>
                        <m:e>
                          <m:acc>
                            <m:accPr>
                              <m:chr m:val="⃗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</m:e>
                          </m:acc>
                        </m:e>
                      </m:nary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</m:t>
                      </m:r>
                      <m:acc>
                        <m:accPr>
                          <m:chr m:val="⃗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</m:acc>
                    </m:oMath>
                  </m:oMathPara>
                </a14:m>
              </a:p>
            </p:txBody>
          </p:sp>
        </mc:Choice>
      </mc:AlternateContent>
      <p:grpSp>
        <p:nvGrpSpPr>
          <p:cNvPr id="34" name="c2-card-2"/>
          <p:cNvGrpSpPr/>
          <p:nvPr/>
        </p:nvGrpSpPr>
        <p:grpSpPr>
          <a:xfrm>
            <a:off x="6032182" y="2195512"/>
            <a:ext cx="5626418" cy="1386840"/>
            <a:chOff x="6032182" y="2195512"/>
            <a:chExt cx="5626418" cy="1386840"/>
          </a:xfrm>
        </p:grpSpPr>
        <p:sp>
          <p:nvSpPr>
            <p:cNvPr id="29" name="Rectangle 29"/>
            <p:cNvSpPr/>
            <p:nvPr/>
          </p:nvSpPr>
          <p:spPr>
            <a:xfrm>
              <a:off x="6032182" y="2195512"/>
              <a:ext cx="5626418" cy="1386840"/>
            </a:xfrm>
            <a:prstGeom prst="roundRect">
              <a:avLst>
                <a:gd name="adj" fmla="val 96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041708" y="2328862"/>
              <a:ext cx="47625" cy="112014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51258" y="237648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42977" y="24093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电势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244780" y="2717006"/>
              <a:ext cx="496290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Wa 与 q₀ 成正比，比值与试验电荷无关，只反映电场在 a 点的性质，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叫 a 点的电势。数值上等于单位正电荷从 a 移到零点时电场力做的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功，单位伏特（V），是标量。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formula156"/>
              <p:cNvSpPr txBox="1">
                <a:spLocks noGrp="1"/>
              </p:cNvSpPr>
              <p:nvPr/>
            </p:nvSpPr>
            <p:spPr>
              <a:xfrm>
                <a:off x="6032182" y="3747135"/>
                <a:ext cx="5626418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  <m: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sSub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  <m: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ff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sub>
                        <m:sup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sup>
                        <m:e>
                          <m:acc>
                            <m:accPr>
                              <m:chr m:val="⃗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</m:e>
                          </m:acc>
                        </m:e>
                      </m:nary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</m:t>
                      </m:r>
                      <m:acc>
                        <m:accPr>
                          <m:chr m:val="⃗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sSub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ab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q</m:t>
                          </m:r>
                        </m:e>
                        <m: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U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U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43" name="c2-card-4"/>
          <p:cNvGrpSpPr/>
          <p:nvPr/>
        </p:nvGrpSpPr>
        <p:grpSpPr>
          <a:xfrm>
            <a:off x="6032182" y="4338638"/>
            <a:ext cx="5626418" cy="1185862"/>
            <a:chOff x="6032182" y="4338638"/>
            <a:chExt cx="5626418" cy="1185862"/>
          </a:xfrm>
        </p:grpSpPr>
        <p:sp>
          <p:nvSpPr>
            <p:cNvPr id="36" name="Rectangle 36"/>
            <p:cNvSpPr/>
            <p:nvPr/>
          </p:nvSpPr>
          <p:spPr>
            <a:xfrm>
              <a:off x="6032182" y="4338638"/>
              <a:ext cx="5626418" cy="1185862"/>
            </a:xfrm>
            <a:prstGeom prst="roundRect">
              <a:avLst>
                <a:gd name="adj" fmla="val 11245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213158" y="451961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04877" y="455247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推论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222682" y="4912042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78130" y="4860131"/>
              <a:ext cx="5010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沿电场线方向电势越来越低，同一条电场线上任意两点电势不相等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222682" y="5196840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78130" y="5144929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电势随零点改变，电势差（电压）与零点无关，是绝对量</a:t>
              </a:r>
            </a:p>
          </p:txBody>
        </p:sp>
      </p:grpSp>
      <p:grpSp>
        <p:nvGrpSpPr>
          <p:cNvPr id="50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4" name="Rectangle 44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41273" y="6039326"/>
              <a:ext cx="72386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Aab = q₀(Ua − Ub) 是起点减终点；q₀ &lt; 0 顺着电场线移动时电场力做负功，电势能反而增加。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第4章 静电场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4415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6417" y="407194"/>
              <a:ext cx="26371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静电场 · 静电场的环路定理 电势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电势零点怎么选，点电荷与点电荷系的电势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410200" cy="1986915"/>
            <a:chOff x="533400" y="1524000"/>
            <a:chExt cx="5410200" cy="19869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986915"/>
            </a:xfrm>
            <a:prstGeom prst="roundRect">
              <a:avLst>
                <a:gd name="adj" fmla="val 67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2021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91643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8904" y="1769269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电势零点（参考点）的选择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6765" y="217360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1074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电荷分布在有限区域：通常取无穷远为零点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50888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44602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电荷分布延伸到无穷远（无限长直线、无限大平面）：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取有限远处某点为零点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12991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067050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点电荷与无限大带电体组成的系统：也只能取有限远处</a:t>
              </a:r>
            </a:p>
          </p:txBody>
        </p:sp>
      </p:grpSp>
      <p:grpSp>
        <p:nvGrpSpPr>
          <p:cNvPr id="24" name="c1-card-2"/>
          <p:cNvGrpSpPr/>
          <p:nvPr/>
        </p:nvGrpSpPr>
        <p:grpSpPr>
          <a:xfrm>
            <a:off x="533400" y="3701415"/>
            <a:ext cx="5410200" cy="2513648"/>
            <a:chOff x="533400" y="3701415"/>
            <a:chExt cx="5410200" cy="2513648"/>
          </a:xfrm>
        </p:grpSpPr>
        <p:sp>
          <p:nvSpPr>
            <p:cNvPr id="18" name="Rectangle 18"/>
            <p:cNvSpPr/>
            <p:nvPr/>
          </p:nvSpPr>
          <p:spPr>
            <a:xfrm>
              <a:off x="533400" y="3701415"/>
              <a:ext cx="5410200" cy="2513648"/>
            </a:xfrm>
            <a:prstGeom prst="roundRect">
              <a:avLst>
                <a:gd name="adj" fmla="val 530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3834765"/>
              <a:ext cx="47625" cy="224694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81050" y="3910965"/>
              <a:ext cx="220122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20052" y="3946684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无限长直线为什么不能取无穷远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3430" y="4288155"/>
              <a:ext cx="45491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= λ/(2πε₀r)，从 r 积到 ∞ 得 (λ/2πε₀)·ln(∞/r)，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发散。只能取距直线 r₀ 处为零点，U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(λ/2πε₀)ln(r₀/r)。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4573" y="5191601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所以这类题会指定零点，或只问两点间的电势差。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formula159"/>
              <p:cNvSpPr txBox="1">
                <a:spLocks noGrp="1"/>
              </p:cNvSpPr>
              <p:nvPr/>
            </p:nvSpPr>
            <p:spPr>
              <a:xfrm>
                <a:off x="6248400" y="1524000"/>
                <a:ext cx="5410200" cy="5867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ff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type m:val="bar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q</m:t>
                              </m:r>
                            </m:num>
                            <m:den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4π</m:t>
                              </m:r>
                              <m:sSub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ε</m:t>
                                  </m:r>
                                </m:e>
                                <m:sub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sub>
                              </m:sSub>
                              <m:sSup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r</m:t>
                                  </m:r>
                                </m:e>
                                <m:sup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dr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q</m:t>
                          </m:r>
                        </m:num>
                        <m:den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4π</m:t>
                          </m:r>
                          <m:sSub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ε</m:t>
                              </m:r>
                            </m:e>
                            <m:sub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32" name="c2-card-2"/>
          <p:cNvGrpSpPr/>
          <p:nvPr/>
        </p:nvGrpSpPr>
        <p:grpSpPr>
          <a:xfrm>
            <a:off x="6248400" y="2301240"/>
            <a:ext cx="5410200" cy="2406968"/>
            <a:chOff x="6248400" y="2301240"/>
            <a:chExt cx="5410200" cy="2406968"/>
          </a:xfrm>
        </p:grpSpPr>
        <p:sp>
          <p:nvSpPr>
            <p:cNvPr id="26" name="Rectangle 26"/>
            <p:cNvSpPr/>
            <p:nvPr/>
          </p:nvSpPr>
          <p:spPr>
            <a:xfrm>
              <a:off x="6248400" y="2301240"/>
              <a:ext cx="5410200" cy="2406968"/>
            </a:xfrm>
            <a:prstGeom prst="roundRect">
              <a:avLst>
                <a:gd name="adj" fmla="val 554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457950" y="251079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31407" y="254650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电势叠加原理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50330" y="288798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点电荷系的电势，等于各点电荷单独存在时电势的代数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和：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formula160"/>
                <p:cNvSpPr txBox="1">
                  <a:spLocks noGrp="1"/>
                </p:cNvSpPr>
                <p:nvPr/>
              </p:nvSpPr>
              <p:spPr>
                <a:xfrm>
                  <a:off x="6457950" y="3484245"/>
                  <a:ext cx="4991100" cy="66008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U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n"/>
                            <m:ctrl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  <m:sup/>
                          <m:e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Pi</m:t>
                                </m:r>
                              </m:sub>
                            </m:sSub>
                          </m:e>
                        </m:nary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n"/>
                            <m:ctrl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  <m:sup/>
                          <m:e>
                            <m:f>
                              <m:fPr>
                                <m:type m:val="bar"/>
                                <m:ctrlP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4π</m:t>
                                </m:r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ε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0</m:t>
                                    </m:r>
                                  </m:sub>
                                </m:sSub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den>
                            </m:f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1" name="TextBox 31"/>
            <p:cNvSpPr txBox="1"/>
            <p:nvPr/>
          </p:nvSpPr>
          <p:spPr>
            <a:xfrm>
              <a:off x="6450330" y="4264342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连续带电体把求和换成积分，见下一页。</a:t>
              </a:r>
            </a:p>
          </p:txBody>
        </p:sp>
      </p:grpSp>
      <p:grpSp>
        <p:nvGrpSpPr>
          <p:cNvPr id="38" name="c2-card-3"/>
          <p:cNvGrpSpPr/>
          <p:nvPr/>
        </p:nvGrpSpPr>
        <p:grpSpPr>
          <a:xfrm>
            <a:off x="6248400" y="4898708"/>
            <a:ext cx="5410200" cy="1316355"/>
            <a:chOff x="6248400" y="4898708"/>
            <a:chExt cx="5410200" cy="1316355"/>
          </a:xfrm>
        </p:grpSpPr>
        <p:sp>
          <p:nvSpPr>
            <p:cNvPr id="33" name="Rectangle 33"/>
            <p:cNvSpPr/>
            <p:nvPr/>
          </p:nvSpPr>
          <p:spPr>
            <a:xfrm>
              <a:off x="6248400" y="4898708"/>
              <a:ext cx="5410200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257925" y="5032058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496050" y="510825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86258" y="514397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符号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88430" y="5485448"/>
              <a:ext cx="46634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 &gt; 0 时 U 为正，离得越远越低；q &lt; 0 时 U 为负。电势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是标量叠加，比场强的矢量叠加简单得多。</a:t>
              </a: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9" name="TextBox 3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第4章 静电场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51214" cy="909257"/>
            <a:chOff x="520446" y="342900"/>
            <a:chExt cx="89512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4415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6417" y="407194"/>
              <a:ext cx="26371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静电场 · 静电场的环路定理 电势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512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求电势的两种方法：定义法对路径积分，叠加法对电量积分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card-1"/>
          <p:cNvGrpSpPr/>
          <p:nvPr/>
        </p:nvGrpSpPr>
        <p:grpSpPr>
          <a:xfrm>
            <a:off x="533400" y="1524000"/>
            <a:ext cx="5410200" cy="3586162"/>
            <a:chOff x="533400" y="1524000"/>
            <a:chExt cx="5410200" cy="35861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3586162"/>
            </a:xfrm>
            <a:prstGeom prst="roundRect">
              <a:avLst>
                <a:gd name="adj" fmla="val 371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31946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998345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6325" y="1769269"/>
              <a:ext cx="19077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（1）定义法（场强积分法）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formula163"/>
                <p:cNvSpPr txBox="1">
                  <a:spLocks noGrp="1"/>
                </p:cNvSpPr>
                <p:nvPr/>
              </p:nvSpPr>
              <p:spPr>
                <a:xfrm>
                  <a:off x="781050" y="2085975"/>
                  <a:ext cx="4953000" cy="5867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U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sub>
                          <m:sup>
                            <m:r>
                              <m:rPr>
                                <m:nor m:val="on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参考点</m:t>
                            </m:r>
                          </m:sup>
                          <m:e>
                            <m:acc>
                              <m:accPr>
                                <m:chr m:val="⃗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</m:acc>
                          </m:e>
                        </m:nary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acc>
                          <m:accPr>
                            <m:chr m:val="⃗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</m:e>
                        </m:acc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2" name="Ellipse 12"/>
            <p:cNvSpPr/>
            <p:nvPr/>
          </p:nvSpPr>
          <p:spPr>
            <a:xfrm>
              <a:off x="781050" y="277939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42899" y="282168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2040" y="2792730"/>
              <a:ext cx="26197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先用高斯定理求出各区域的 E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1050" y="311467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2899" y="315696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82040" y="312801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选好电势零点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1050" y="344995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42899" y="349224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82040" y="3463290"/>
              <a:ext cx="43205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路径可以任选，一般让 dl 与 E 平行、垂直或夹角固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定；积分一定要积到零点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81050" y="407098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42899" y="41132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82040" y="4084320"/>
              <a:ext cx="4425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各区域 E 的表达式不同时必须分段积分，每一段用该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段的 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4573" y="4702016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适合电场有高度对称性、能用高斯定理的情况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6248400" y="1524000"/>
            <a:ext cx="5410200" cy="3586162"/>
            <a:chOff x="6248400" y="1524000"/>
            <a:chExt cx="5410200" cy="3586162"/>
          </a:xfrm>
        </p:grpSpPr>
        <p:sp>
          <p:nvSpPr>
            <p:cNvPr id="26" name="Rectangle 26"/>
            <p:cNvSpPr/>
            <p:nvPr/>
          </p:nvSpPr>
          <p:spPr>
            <a:xfrm>
              <a:off x="6248400" y="1524000"/>
              <a:ext cx="5410200" cy="3586162"/>
            </a:xfrm>
            <a:prstGeom prst="roundRect">
              <a:avLst>
                <a:gd name="adj" fmla="val 371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257925" y="1657350"/>
              <a:ext cx="47625" cy="331946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96050" y="1733550"/>
              <a:ext cx="1998345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41325" y="1769269"/>
              <a:ext cx="19077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（2）叠加法（电势叠加法）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formula164"/>
                <p:cNvSpPr txBox="1">
                  <a:spLocks noGrp="1"/>
                </p:cNvSpPr>
                <p:nvPr/>
              </p:nvSpPr>
              <p:spPr>
                <a:xfrm>
                  <a:off x="6496050" y="2085975"/>
                  <a:ext cx="4953000" cy="5867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U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q</m:t>
                            </m:r>
                          </m:sub>
                          <m:sup/>
                          <m:e>
                            <m:f>
                              <m:fPr>
                                <m:type m:val="bar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dq</m:t>
                                </m:r>
                              </m:num>
                              <m:den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4π</m:t>
                                </m:r>
                                <m:sSub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ε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</m:t>
                                </m:r>
                              </m:den>
                            </m:f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1" name="Ellipse 31"/>
            <p:cNvSpPr/>
            <p:nvPr/>
          </p:nvSpPr>
          <p:spPr>
            <a:xfrm>
              <a:off x="6496050" y="277939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57899" y="282168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797040" y="2792730"/>
              <a:ext cx="34061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取电荷元 dq，写出它在 P 点的电势 dU =</a:t>
              </a:r>
              <a:br/>
              <a:r>
                <a:rPr lang="el-GR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dq/(4πε₀r)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496050" y="340042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57899" y="344271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797040" y="3413760"/>
              <a:ext cx="41426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对电量积分；dU 是标量，直接相加，不用分解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496050" y="373570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57899" y="377799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797040" y="3749040"/>
              <a:ext cx="25786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这个公式默认无穷远处 U = 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89573" y="4080986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适合电荷分布在有限区域、形状规则的带电体</a:t>
              </a:r>
            </a:p>
          </p:txBody>
        </p:sp>
      </p:grpSp>
      <p:grpSp>
        <p:nvGrpSpPr>
          <p:cNvPr id="47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42" name="Rectangle 42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738188" y="5871212"/>
              <a:ext cx="200023" cy="200023"/>
              <a:chOff x="738188" y="5871212"/>
              <a:chExt cx="200023" cy="200023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738188" y="587121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71538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040130" y="5728335"/>
              <a:ext cx="98259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同一个问题两种方法算出的结果必须一致，这是最好的自检：后面例4.13 的球面电势和同心球面练习都用两种方法对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过。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第4章 静电场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500091" cy="909257"/>
            <a:chOff x="520446" y="342900"/>
            <a:chExt cx="850009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4415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6417" y="407194"/>
              <a:ext cx="26371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静电场 · 静电场的环路定理 电势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50009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例4.15 圆环轴线上的电势：每个 dq 到 P 的距离都一样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977765" cy="1297305"/>
            <a:chOff x="533400" y="1524000"/>
            <a:chExt cx="4977765" cy="12973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297305"/>
            </a:xfrm>
            <a:prstGeom prst="roundRect">
              <a:avLst>
                <a:gd name="adj" fmla="val 102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306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650558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6105" y="1756410"/>
              <a:ext cx="4785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例4.15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27605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半径 R 的圆环均匀带电 q。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381" y="2400776"/>
              <a:ext cx="28178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轴线上距环心 x 的 P 点电势。</a:t>
              </a:r>
            </a:p>
          </p:txBody>
        </p:sp>
      </p:grpSp>
      <p:grpSp>
        <p:nvGrpSpPr>
          <p:cNvPr id="31" name="c1-graph-2"/>
          <p:cNvGrpSpPr/>
          <p:nvPr/>
        </p:nvGrpSpPr>
        <p:grpSpPr>
          <a:xfrm>
            <a:off x="722948" y="3147060"/>
            <a:ext cx="4678422" cy="3099149"/>
            <a:chOff x="722948" y="3147060"/>
            <a:chExt cx="4678422" cy="3099149"/>
          </a:xfrm>
        </p:grpSpPr>
        <p:sp>
          <p:nvSpPr>
            <p:cNvPr id="14" name="Freeform 14"/>
            <p:cNvSpPr/>
            <p:nvPr/>
          </p:nvSpPr>
          <p:spPr>
            <a:xfrm>
              <a:off x="751522" y="5892165"/>
              <a:ext cx="4445318" cy="9525"/>
            </a:xfrm>
            <a:custGeom>
              <a:avLst/>
              <a:gdLst/>
              <a:ahLst/>
              <a:cxnLst/>
              <a:rect l="l" t="t" r="r" b="b"/>
              <a:pathLst>
                <a:path w="4445318" h="9525">
                  <a:moveTo>
                    <a:pt x="0" y="0"/>
                  </a:moveTo>
                  <a:lnTo>
                    <a:pt x="4445318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5196840" y="584454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3022282" y="3389948"/>
              <a:ext cx="9525" cy="2483168"/>
            </a:xfrm>
            <a:custGeom>
              <a:avLst/>
              <a:gdLst/>
              <a:ahLst/>
              <a:cxnLst/>
              <a:rect l="l" t="t" r="r" b="b"/>
              <a:pathLst>
                <a:path w="9525" h="2483168">
                  <a:moveTo>
                    <a:pt x="0" y="2483168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2974658" y="329469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850582" y="3673792"/>
              <a:ext cx="4343400" cy="1510665"/>
            </a:xfrm>
            <a:custGeom>
              <a:avLst/>
              <a:gdLst/>
              <a:ahLst/>
              <a:cxnLst/>
              <a:rect l="l" t="t" r="r" b="b"/>
              <a:pathLst>
                <a:path w="4343400" h="1510665">
                  <a:moveTo>
                    <a:pt x="0" y="1510665"/>
                  </a:moveTo>
                  <a:lnTo>
                    <a:pt x="36195" y="1499235"/>
                  </a:lnTo>
                  <a:lnTo>
                    <a:pt x="90488" y="1482090"/>
                  </a:lnTo>
                  <a:lnTo>
                    <a:pt x="145732" y="1465898"/>
                  </a:lnTo>
                  <a:lnTo>
                    <a:pt x="200025" y="1448752"/>
                  </a:lnTo>
                  <a:lnTo>
                    <a:pt x="255270" y="1428750"/>
                  </a:lnTo>
                  <a:lnTo>
                    <a:pt x="309562" y="1408748"/>
                  </a:lnTo>
                  <a:lnTo>
                    <a:pt x="364808" y="1387792"/>
                  </a:lnTo>
                  <a:lnTo>
                    <a:pt x="419100" y="1364932"/>
                  </a:lnTo>
                  <a:lnTo>
                    <a:pt x="474345" y="1341120"/>
                  </a:lnTo>
                  <a:lnTo>
                    <a:pt x="528638" y="1317308"/>
                  </a:lnTo>
                  <a:lnTo>
                    <a:pt x="583882" y="1290638"/>
                  </a:lnTo>
                  <a:lnTo>
                    <a:pt x="638175" y="1263968"/>
                  </a:lnTo>
                  <a:lnTo>
                    <a:pt x="693420" y="1237298"/>
                  </a:lnTo>
                  <a:lnTo>
                    <a:pt x="747713" y="1206818"/>
                  </a:lnTo>
                  <a:lnTo>
                    <a:pt x="802958" y="1173480"/>
                  </a:lnTo>
                  <a:lnTo>
                    <a:pt x="857250" y="1139190"/>
                  </a:lnTo>
                  <a:lnTo>
                    <a:pt x="912495" y="1105853"/>
                  </a:lnTo>
                  <a:lnTo>
                    <a:pt x="966788" y="1068705"/>
                  </a:lnTo>
                  <a:lnTo>
                    <a:pt x="1022032" y="1028700"/>
                  </a:lnTo>
                  <a:lnTo>
                    <a:pt x="1076325" y="987742"/>
                  </a:lnTo>
                  <a:lnTo>
                    <a:pt x="1131570" y="944880"/>
                  </a:lnTo>
                  <a:lnTo>
                    <a:pt x="1185863" y="897255"/>
                  </a:lnTo>
                  <a:lnTo>
                    <a:pt x="1241108" y="850583"/>
                  </a:lnTo>
                  <a:lnTo>
                    <a:pt x="1295400" y="796290"/>
                  </a:lnTo>
                  <a:lnTo>
                    <a:pt x="1350645" y="745808"/>
                  </a:lnTo>
                  <a:lnTo>
                    <a:pt x="1404938" y="688658"/>
                  </a:lnTo>
                  <a:lnTo>
                    <a:pt x="1460182" y="628650"/>
                  </a:lnTo>
                  <a:lnTo>
                    <a:pt x="1514475" y="567690"/>
                  </a:lnTo>
                  <a:lnTo>
                    <a:pt x="1569720" y="507683"/>
                  </a:lnTo>
                  <a:lnTo>
                    <a:pt x="1624012" y="443865"/>
                  </a:lnTo>
                  <a:lnTo>
                    <a:pt x="1678305" y="380048"/>
                  </a:lnTo>
                  <a:lnTo>
                    <a:pt x="1733550" y="316230"/>
                  </a:lnTo>
                  <a:lnTo>
                    <a:pt x="1787842" y="255270"/>
                  </a:lnTo>
                  <a:lnTo>
                    <a:pt x="1843088" y="195262"/>
                  </a:lnTo>
                  <a:lnTo>
                    <a:pt x="1897380" y="140970"/>
                  </a:lnTo>
                  <a:lnTo>
                    <a:pt x="1952625" y="94298"/>
                  </a:lnTo>
                  <a:lnTo>
                    <a:pt x="2006918" y="53340"/>
                  </a:lnTo>
                  <a:lnTo>
                    <a:pt x="2062162" y="23812"/>
                  </a:lnTo>
                  <a:lnTo>
                    <a:pt x="2116455" y="6667"/>
                  </a:lnTo>
                  <a:lnTo>
                    <a:pt x="2171700" y="0"/>
                  </a:lnTo>
                  <a:lnTo>
                    <a:pt x="2225992" y="6667"/>
                  </a:lnTo>
                  <a:lnTo>
                    <a:pt x="2281238" y="23812"/>
                  </a:lnTo>
                  <a:lnTo>
                    <a:pt x="2335530" y="53340"/>
                  </a:lnTo>
                  <a:lnTo>
                    <a:pt x="2390775" y="94298"/>
                  </a:lnTo>
                  <a:lnTo>
                    <a:pt x="2445068" y="140970"/>
                  </a:lnTo>
                  <a:lnTo>
                    <a:pt x="2500312" y="195262"/>
                  </a:lnTo>
                  <a:lnTo>
                    <a:pt x="2554605" y="255270"/>
                  </a:lnTo>
                  <a:lnTo>
                    <a:pt x="2609850" y="316230"/>
                  </a:lnTo>
                  <a:lnTo>
                    <a:pt x="2664142" y="380048"/>
                  </a:lnTo>
                  <a:lnTo>
                    <a:pt x="2719388" y="443865"/>
                  </a:lnTo>
                  <a:lnTo>
                    <a:pt x="2773680" y="507683"/>
                  </a:lnTo>
                  <a:lnTo>
                    <a:pt x="2828925" y="567690"/>
                  </a:lnTo>
                  <a:lnTo>
                    <a:pt x="2883218" y="628650"/>
                  </a:lnTo>
                  <a:lnTo>
                    <a:pt x="2938462" y="688658"/>
                  </a:lnTo>
                  <a:lnTo>
                    <a:pt x="2992755" y="745808"/>
                  </a:lnTo>
                  <a:lnTo>
                    <a:pt x="3048000" y="796290"/>
                  </a:lnTo>
                  <a:lnTo>
                    <a:pt x="3102292" y="850583"/>
                  </a:lnTo>
                  <a:lnTo>
                    <a:pt x="3156585" y="897255"/>
                  </a:lnTo>
                  <a:lnTo>
                    <a:pt x="3211830" y="944880"/>
                  </a:lnTo>
                  <a:lnTo>
                    <a:pt x="3266122" y="987742"/>
                  </a:lnTo>
                  <a:lnTo>
                    <a:pt x="3321368" y="1028700"/>
                  </a:lnTo>
                  <a:lnTo>
                    <a:pt x="3375660" y="1068705"/>
                  </a:lnTo>
                  <a:lnTo>
                    <a:pt x="3430905" y="1105853"/>
                  </a:lnTo>
                  <a:lnTo>
                    <a:pt x="3485198" y="1139190"/>
                  </a:lnTo>
                  <a:lnTo>
                    <a:pt x="3540442" y="1173480"/>
                  </a:lnTo>
                  <a:lnTo>
                    <a:pt x="3594735" y="1206818"/>
                  </a:lnTo>
                  <a:lnTo>
                    <a:pt x="3649980" y="1237298"/>
                  </a:lnTo>
                  <a:lnTo>
                    <a:pt x="3704272" y="1263968"/>
                  </a:lnTo>
                  <a:lnTo>
                    <a:pt x="3759518" y="1290638"/>
                  </a:lnTo>
                  <a:lnTo>
                    <a:pt x="3813810" y="1317308"/>
                  </a:lnTo>
                  <a:lnTo>
                    <a:pt x="3869055" y="1341120"/>
                  </a:lnTo>
                  <a:lnTo>
                    <a:pt x="3923348" y="1364932"/>
                  </a:lnTo>
                  <a:lnTo>
                    <a:pt x="3978592" y="1387792"/>
                  </a:lnTo>
                  <a:lnTo>
                    <a:pt x="4032885" y="1408748"/>
                  </a:lnTo>
                  <a:lnTo>
                    <a:pt x="4088130" y="1428750"/>
                  </a:lnTo>
                  <a:lnTo>
                    <a:pt x="4142423" y="1448752"/>
                  </a:lnTo>
                  <a:lnTo>
                    <a:pt x="4197668" y="1465898"/>
                  </a:lnTo>
                  <a:lnTo>
                    <a:pt x="4251960" y="1482090"/>
                  </a:lnTo>
                  <a:lnTo>
                    <a:pt x="4307205" y="1499235"/>
                  </a:lnTo>
                  <a:lnTo>
                    <a:pt x="4343400" y="1510665"/>
                  </a:lnTo>
                </a:path>
              </a:pathLst>
            </a:custGeom>
            <a:noFill/>
            <a:ln w="24765">
              <a:solidFill>
                <a:srgbClr val="2F4B9A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722948" y="588264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3012758" y="588264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822960" y="517969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5202555" y="517969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321876" y="5835967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980555" y="314706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116390" y="3400901"/>
              <a:ext cx="6721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98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q/(4πε₀R)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111752" y="4721066"/>
              <a:ext cx="12122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 ≫ R：≈ q/(4πε₀x)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710516" y="6055519"/>
              <a:ext cx="865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209142" y="6055519"/>
              <a:ext cx="163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−R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398940" y="6055519"/>
              <a:ext cx="163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2R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444051" y="6055519"/>
              <a:ext cx="2399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−2R</a:t>
              </a:r>
            </a:p>
          </p:txBody>
        </p:sp>
      </p:grpSp>
      <p:grpSp>
        <p:nvGrpSpPr>
          <p:cNvPr id="41" name="c2-steps-1"/>
          <p:cNvGrpSpPr/>
          <p:nvPr/>
        </p:nvGrpSpPr>
        <p:grpSpPr>
          <a:xfrm>
            <a:off x="5815965" y="1533525"/>
            <a:ext cx="4971719" cy="1165289"/>
            <a:chOff x="5815965" y="1533525"/>
            <a:chExt cx="4971719" cy="1165289"/>
          </a:xfrm>
        </p:grpSpPr>
        <p:sp>
          <p:nvSpPr>
            <p:cNvPr id="32" name="Rectangle 32"/>
            <p:cNvSpPr/>
            <p:nvPr/>
          </p:nvSpPr>
          <p:spPr>
            <a:xfrm>
              <a:off x="5949315" y="1676400"/>
              <a:ext cx="19050" cy="6172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581596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90958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5815965" y="215074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909589" y="22245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27826" y="156638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取电荷元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228969" y="1846898"/>
              <a:ext cx="42118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dq = λdl，它到 P 的距离 r = √(R² + x²)，对整个环都相同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227826" y="218360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标量直接相加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228969" y="2464118"/>
              <a:ext cx="45587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dU = dq/(4πε₀r)，r 是常量，U = (1/4πε₀r)∫dq = q/(4πε₀r)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formula168"/>
              <p:cNvSpPr txBox="1">
                <a:spLocks noGrp="1"/>
              </p:cNvSpPr>
              <p:nvPr/>
            </p:nvSpPr>
            <p:spPr>
              <a:xfrm>
                <a:off x="5815965" y="2869882"/>
                <a:ext cx="5842635" cy="617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U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q</m:t>
                          </m:r>
                        </m:num>
                        <m:den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4π</m:t>
                          </m:r>
                          <m:sSub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ε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  <m:rad>
                            <m:radPr>
                              <m:degHide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/>
                            <m:e>
                              <m:sSup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R</m:t>
                                  </m:r>
                                </m:e>
                                <m:sup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p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47" name="c2-card-3"/>
          <p:cNvGrpSpPr/>
          <p:nvPr/>
        </p:nvGrpSpPr>
        <p:grpSpPr>
          <a:xfrm>
            <a:off x="5815965" y="3667125"/>
            <a:ext cx="5842635" cy="1250632"/>
            <a:chOff x="5815965" y="3667125"/>
            <a:chExt cx="5842635" cy="1250632"/>
          </a:xfrm>
        </p:grpSpPr>
        <p:sp>
          <p:nvSpPr>
            <p:cNvPr id="43" name="Rectangle 43"/>
            <p:cNvSpPr/>
            <p:nvPr/>
          </p:nvSpPr>
          <p:spPr>
            <a:xfrm>
              <a:off x="5815965" y="3667125"/>
              <a:ext cx="5842635" cy="1250632"/>
            </a:xfrm>
            <a:prstGeom prst="roundRect">
              <a:avLst>
                <a:gd name="adj" fmla="val 10663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014085" y="3865245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109526" y="389953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006846" y="4225766"/>
              <a:ext cx="510006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 = q/[4πε₀√(R² + x²)]。环心 x = 0 处 U = q/(4πε₀R) 最大，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而那里 E = 0；x ≫ R 时 U ≈ q/(4πε₀x)，像点电荷。</a:t>
              </a:r>
            </a:p>
          </p:txBody>
        </p:sp>
      </p:grpSp>
      <p:grpSp>
        <p:nvGrpSpPr>
          <p:cNvPr id="53" name="c2-card-4"/>
          <p:cNvGrpSpPr/>
          <p:nvPr/>
        </p:nvGrpSpPr>
        <p:grpSpPr>
          <a:xfrm>
            <a:off x="5815965" y="5098732"/>
            <a:ext cx="5842635" cy="1250632"/>
            <a:chOff x="5815965" y="5098732"/>
            <a:chExt cx="5842635" cy="1250632"/>
          </a:xfrm>
        </p:grpSpPr>
        <p:sp>
          <p:nvSpPr>
            <p:cNvPr id="48" name="Rectangle 48"/>
            <p:cNvSpPr/>
            <p:nvPr/>
          </p:nvSpPr>
          <p:spPr>
            <a:xfrm>
              <a:off x="5815965" y="5098732"/>
              <a:ext cx="5842635" cy="1250632"/>
            </a:xfrm>
            <a:prstGeom prst="roundRect">
              <a:avLst>
                <a:gd name="adj" fmla="val 106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5825490" y="5232082"/>
              <a:ext cx="47625" cy="98393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052185" y="529685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143625" y="533114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检验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044946" y="5657374"/>
              <a:ext cx="489267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x 求导再取负号，−dU/dx 正好等于例4.4 的 Ex（4.6 节例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4.17 就是这样做的）；脚本数值求导复核过。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第4章 静电场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479203" cy="909257"/>
            <a:chOff x="520446" y="342900"/>
            <a:chExt cx="847920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4415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6417" y="407194"/>
              <a:ext cx="26371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静电场 · 静电场的环路定理 电势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47920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例4.13 均匀带电球面的电势：球内处处等于球面的电势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977765" cy="1185862"/>
            <a:chOff x="533400" y="1524000"/>
            <a:chExt cx="4977765" cy="11858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62198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9697" y="1737836"/>
              <a:ext cx="4465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例4.13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045494"/>
              <a:ext cx="24882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半径 R 的球面均匀带电 q。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330291"/>
              <a:ext cx="25141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球内、球外任一点 P 的电势。</a:t>
              </a:r>
            </a:p>
          </p:txBody>
        </p:sp>
      </p:grpSp>
      <p:grpSp>
        <p:nvGrpSpPr>
          <p:cNvPr id="41" name="c1-graph-2"/>
          <p:cNvGrpSpPr/>
          <p:nvPr/>
        </p:nvGrpSpPr>
        <p:grpSpPr>
          <a:xfrm>
            <a:off x="779716" y="2989898"/>
            <a:ext cx="4572124" cy="2612706"/>
            <a:chOff x="779716" y="2989898"/>
            <a:chExt cx="4572124" cy="2612706"/>
          </a:xfrm>
        </p:grpSpPr>
        <p:sp>
          <p:nvSpPr>
            <p:cNvPr id="14" name="Freeform 14"/>
            <p:cNvSpPr/>
            <p:nvPr/>
          </p:nvSpPr>
          <p:spPr>
            <a:xfrm>
              <a:off x="1000125" y="5267325"/>
              <a:ext cx="4147185" cy="9525"/>
            </a:xfrm>
            <a:custGeom>
              <a:avLst/>
              <a:gdLst/>
              <a:ahLst/>
              <a:cxnLst/>
              <a:rect l="l" t="t" r="r" b="b"/>
              <a:pathLst>
                <a:path w="4147185" h="9525">
                  <a:moveTo>
                    <a:pt x="0" y="0"/>
                  </a:moveTo>
                  <a:lnTo>
                    <a:pt x="4147185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5147310" y="52197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981075" y="3232785"/>
              <a:ext cx="9525" cy="2015490"/>
            </a:xfrm>
            <a:custGeom>
              <a:avLst/>
              <a:gdLst/>
              <a:ahLst/>
              <a:cxnLst/>
              <a:rect l="l" t="t" r="r" b="b"/>
              <a:pathLst>
                <a:path w="9525" h="2015490">
                  <a:moveTo>
                    <a:pt x="0" y="201549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933450" y="313753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1000125" y="3444240"/>
              <a:ext cx="1032510" cy="9525"/>
            </a:xfrm>
            <a:custGeom>
              <a:avLst/>
              <a:gdLst/>
              <a:ahLst/>
              <a:cxnLst/>
              <a:rect l="l" t="t" r="r" b="b"/>
              <a:pathLst>
                <a:path w="1032510" h="9525">
                  <a:moveTo>
                    <a:pt x="0" y="0"/>
                  </a:moveTo>
                  <a:lnTo>
                    <a:pt x="1032510" y="0"/>
                  </a:lnTo>
                </a:path>
              </a:pathLst>
            </a:custGeom>
            <a:noFill/>
            <a:ln w="24765">
              <a:solidFill>
                <a:srgbClr val="2F4B9A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2061210" y="3461385"/>
              <a:ext cx="3181350" cy="1347788"/>
            </a:xfrm>
            <a:custGeom>
              <a:avLst/>
              <a:gdLst/>
              <a:ahLst/>
              <a:cxnLst/>
              <a:rect l="l" t="t" r="r" b="b"/>
              <a:pathLst>
                <a:path w="3181350" h="1347788">
                  <a:moveTo>
                    <a:pt x="0" y="0"/>
                  </a:moveTo>
                  <a:lnTo>
                    <a:pt x="55245" y="91440"/>
                  </a:lnTo>
                  <a:lnTo>
                    <a:pt x="124777" y="185738"/>
                  </a:lnTo>
                  <a:lnTo>
                    <a:pt x="189548" y="271462"/>
                  </a:lnTo>
                  <a:lnTo>
                    <a:pt x="259080" y="347662"/>
                  </a:lnTo>
                  <a:lnTo>
                    <a:pt x="323850" y="416243"/>
                  </a:lnTo>
                  <a:lnTo>
                    <a:pt x="393382" y="481965"/>
                  </a:lnTo>
                  <a:lnTo>
                    <a:pt x="458152" y="539115"/>
                  </a:lnTo>
                  <a:lnTo>
                    <a:pt x="522923" y="589598"/>
                  </a:lnTo>
                  <a:lnTo>
                    <a:pt x="592455" y="638175"/>
                  </a:lnTo>
                  <a:lnTo>
                    <a:pt x="657225" y="683895"/>
                  </a:lnTo>
                  <a:lnTo>
                    <a:pt x="726757" y="726758"/>
                  </a:lnTo>
                  <a:lnTo>
                    <a:pt x="791528" y="763905"/>
                  </a:lnTo>
                  <a:lnTo>
                    <a:pt x="861060" y="801053"/>
                  </a:lnTo>
                  <a:lnTo>
                    <a:pt x="925830" y="835343"/>
                  </a:lnTo>
                  <a:lnTo>
                    <a:pt x="995362" y="866775"/>
                  </a:lnTo>
                  <a:lnTo>
                    <a:pt x="1060132" y="894398"/>
                  </a:lnTo>
                  <a:lnTo>
                    <a:pt x="1124902" y="922973"/>
                  </a:lnTo>
                  <a:lnTo>
                    <a:pt x="1194435" y="948690"/>
                  </a:lnTo>
                  <a:lnTo>
                    <a:pt x="1259205" y="971550"/>
                  </a:lnTo>
                  <a:lnTo>
                    <a:pt x="1328737" y="997268"/>
                  </a:lnTo>
                  <a:lnTo>
                    <a:pt x="1393507" y="1017270"/>
                  </a:lnTo>
                  <a:lnTo>
                    <a:pt x="1463993" y="1040130"/>
                  </a:lnTo>
                  <a:lnTo>
                    <a:pt x="1528762" y="1057275"/>
                  </a:lnTo>
                  <a:lnTo>
                    <a:pt x="1598295" y="1077278"/>
                  </a:lnTo>
                  <a:lnTo>
                    <a:pt x="1663065" y="1094423"/>
                  </a:lnTo>
                  <a:lnTo>
                    <a:pt x="1727835" y="1111568"/>
                  </a:lnTo>
                  <a:lnTo>
                    <a:pt x="1797368" y="1128712"/>
                  </a:lnTo>
                  <a:lnTo>
                    <a:pt x="1862137" y="1143000"/>
                  </a:lnTo>
                  <a:lnTo>
                    <a:pt x="1931670" y="1157288"/>
                  </a:lnTo>
                  <a:lnTo>
                    <a:pt x="1996440" y="1170623"/>
                  </a:lnTo>
                  <a:lnTo>
                    <a:pt x="2065972" y="1184910"/>
                  </a:lnTo>
                  <a:lnTo>
                    <a:pt x="2130742" y="1199198"/>
                  </a:lnTo>
                  <a:lnTo>
                    <a:pt x="2195512" y="1210628"/>
                  </a:lnTo>
                  <a:lnTo>
                    <a:pt x="2265045" y="1222058"/>
                  </a:lnTo>
                  <a:lnTo>
                    <a:pt x="2329815" y="1233488"/>
                  </a:lnTo>
                  <a:lnTo>
                    <a:pt x="2399348" y="1244918"/>
                  </a:lnTo>
                  <a:lnTo>
                    <a:pt x="2464118" y="1256348"/>
                  </a:lnTo>
                  <a:lnTo>
                    <a:pt x="2533650" y="1264920"/>
                  </a:lnTo>
                  <a:lnTo>
                    <a:pt x="2598420" y="1276350"/>
                  </a:lnTo>
                  <a:lnTo>
                    <a:pt x="2663190" y="1284923"/>
                  </a:lnTo>
                  <a:lnTo>
                    <a:pt x="2732722" y="1293495"/>
                  </a:lnTo>
                  <a:lnTo>
                    <a:pt x="2797493" y="1302068"/>
                  </a:lnTo>
                  <a:lnTo>
                    <a:pt x="2867025" y="1310640"/>
                  </a:lnTo>
                  <a:lnTo>
                    <a:pt x="2931795" y="1319212"/>
                  </a:lnTo>
                  <a:lnTo>
                    <a:pt x="3001328" y="1327785"/>
                  </a:lnTo>
                  <a:lnTo>
                    <a:pt x="3066098" y="1336358"/>
                  </a:lnTo>
                  <a:lnTo>
                    <a:pt x="3135630" y="1342073"/>
                  </a:lnTo>
                  <a:lnTo>
                    <a:pt x="3181350" y="1347788"/>
                  </a:lnTo>
                </a:path>
              </a:pathLst>
            </a:custGeom>
            <a:noFill/>
            <a:ln w="24765">
              <a:solidFill>
                <a:srgbClr val="2F4B9A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000125" y="5258752"/>
              <a:ext cx="1032510" cy="9525"/>
            </a:xfrm>
            <a:custGeom>
              <a:avLst/>
              <a:gdLst/>
              <a:ahLst/>
              <a:cxnLst/>
              <a:rect l="l" t="t" r="r" b="b"/>
              <a:pathLst>
                <a:path w="1032510" h="9525">
                  <a:moveTo>
                    <a:pt x="0" y="0"/>
                  </a:moveTo>
                  <a:lnTo>
                    <a:pt x="1032510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21" name="Freeform 21"/>
            <p:cNvSpPr/>
            <p:nvPr/>
          </p:nvSpPr>
          <p:spPr>
            <a:xfrm>
              <a:off x="2057400" y="3463290"/>
              <a:ext cx="3185160" cy="1689735"/>
            </a:xfrm>
            <a:custGeom>
              <a:avLst/>
              <a:gdLst/>
              <a:ahLst/>
              <a:cxnLst/>
              <a:rect l="l" t="t" r="r" b="b"/>
              <a:pathLst>
                <a:path w="3185160" h="1689735">
                  <a:moveTo>
                    <a:pt x="0" y="0"/>
                  </a:moveTo>
                  <a:lnTo>
                    <a:pt x="59055" y="189547"/>
                  </a:lnTo>
                  <a:lnTo>
                    <a:pt x="128588" y="362902"/>
                  </a:lnTo>
                  <a:lnTo>
                    <a:pt x="193358" y="511492"/>
                  </a:lnTo>
                  <a:lnTo>
                    <a:pt x="262890" y="636270"/>
                  </a:lnTo>
                  <a:lnTo>
                    <a:pt x="327660" y="744855"/>
                  </a:lnTo>
                  <a:lnTo>
                    <a:pt x="397192" y="839152"/>
                  </a:lnTo>
                  <a:lnTo>
                    <a:pt x="461962" y="921067"/>
                  </a:lnTo>
                  <a:lnTo>
                    <a:pt x="526733" y="995362"/>
                  </a:lnTo>
                  <a:lnTo>
                    <a:pt x="596265" y="1058227"/>
                  </a:lnTo>
                  <a:lnTo>
                    <a:pt x="661035" y="1115377"/>
                  </a:lnTo>
                  <a:lnTo>
                    <a:pt x="730567" y="1163002"/>
                  </a:lnTo>
                  <a:lnTo>
                    <a:pt x="795338" y="1208722"/>
                  </a:lnTo>
                  <a:lnTo>
                    <a:pt x="864870" y="1248727"/>
                  </a:lnTo>
                  <a:lnTo>
                    <a:pt x="929640" y="1285875"/>
                  </a:lnTo>
                  <a:lnTo>
                    <a:pt x="999172" y="1320165"/>
                  </a:lnTo>
                  <a:lnTo>
                    <a:pt x="1063942" y="1348740"/>
                  </a:lnTo>
                  <a:lnTo>
                    <a:pt x="1128712" y="1377315"/>
                  </a:lnTo>
                  <a:lnTo>
                    <a:pt x="1198245" y="1400175"/>
                  </a:lnTo>
                  <a:lnTo>
                    <a:pt x="1263015" y="1423035"/>
                  </a:lnTo>
                  <a:lnTo>
                    <a:pt x="1332547" y="1445895"/>
                  </a:lnTo>
                  <a:lnTo>
                    <a:pt x="1397318" y="1462088"/>
                  </a:lnTo>
                  <a:lnTo>
                    <a:pt x="1467803" y="1482090"/>
                  </a:lnTo>
                  <a:lnTo>
                    <a:pt x="1532572" y="1496378"/>
                  </a:lnTo>
                  <a:lnTo>
                    <a:pt x="1602105" y="1513522"/>
                  </a:lnTo>
                  <a:lnTo>
                    <a:pt x="1666875" y="1527810"/>
                  </a:lnTo>
                  <a:lnTo>
                    <a:pt x="1731645" y="1539240"/>
                  </a:lnTo>
                  <a:lnTo>
                    <a:pt x="1801178" y="1550670"/>
                  </a:lnTo>
                  <a:lnTo>
                    <a:pt x="1865947" y="1562100"/>
                  </a:lnTo>
                  <a:lnTo>
                    <a:pt x="1935480" y="1573530"/>
                  </a:lnTo>
                  <a:lnTo>
                    <a:pt x="2000250" y="1584960"/>
                  </a:lnTo>
                  <a:lnTo>
                    <a:pt x="2069782" y="1593532"/>
                  </a:lnTo>
                  <a:lnTo>
                    <a:pt x="2134552" y="1602105"/>
                  </a:lnTo>
                  <a:lnTo>
                    <a:pt x="2199322" y="1610678"/>
                  </a:lnTo>
                  <a:lnTo>
                    <a:pt x="2268855" y="1616392"/>
                  </a:lnTo>
                  <a:lnTo>
                    <a:pt x="2333625" y="1624965"/>
                  </a:lnTo>
                  <a:lnTo>
                    <a:pt x="2403158" y="1630680"/>
                  </a:lnTo>
                  <a:lnTo>
                    <a:pt x="2467928" y="1639253"/>
                  </a:lnTo>
                  <a:lnTo>
                    <a:pt x="2537460" y="1644967"/>
                  </a:lnTo>
                  <a:lnTo>
                    <a:pt x="2602230" y="1650682"/>
                  </a:lnTo>
                  <a:lnTo>
                    <a:pt x="2667000" y="1656397"/>
                  </a:lnTo>
                  <a:lnTo>
                    <a:pt x="2736532" y="1662112"/>
                  </a:lnTo>
                  <a:lnTo>
                    <a:pt x="2801302" y="1664970"/>
                  </a:lnTo>
                  <a:lnTo>
                    <a:pt x="2870835" y="1670685"/>
                  </a:lnTo>
                  <a:lnTo>
                    <a:pt x="2935605" y="1673542"/>
                  </a:lnTo>
                  <a:lnTo>
                    <a:pt x="3005138" y="1679257"/>
                  </a:lnTo>
                  <a:lnTo>
                    <a:pt x="3069907" y="1682115"/>
                  </a:lnTo>
                  <a:lnTo>
                    <a:pt x="3139440" y="1687830"/>
                  </a:lnTo>
                  <a:lnTo>
                    <a:pt x="3185160" y="1689735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22" name="Freeform 22"/>
            <p:cNvSpPr/>
            <p:nvPr/>
          </p:nvSpPr>
          <p:spPr>
            <a:xfrm>
              <a:off x="2051685" y="3463290"/>
              <a:ext cx="9525" cy="1784985"/>
            </a:xfrm>
            <a:custGeom>
              <a:avLst/>
              <a:gdLst/>
              <a:ahLst/>
              <a:cxnLst/>
              <a:rect l="l" t="t" r="r" b="b"/>
              <a:pathLst>
                <a:path w="9525" h="1784985">
                  <a:moveTo>
                    <a:pt x="0" y="178498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23" name="Ellipse 23"/>
            <p:cNvSpPr/>
            <p:nvPr/>
          </p:nvSpPr>
          <p:spPr>
            <a:xfrm>
              <a:off x="971550" y="525780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971550" y="343471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2042160" y="343471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2042160" y="343471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5252085" y="480250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971550" y="524922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2042160" y="524922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2042160" y="343471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5252085" y="514445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2042160" y="525780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2042160" y="343471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272346" y="521208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39348" y="298989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79716" y="5398770"/>
              <a:ext cx="1055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011718" y="5426392"/>
              <a:ext cx="7993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36332" y="3148012"/>
              <a:ext cx="83346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90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U = q/(4πε₀R)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330892" y="4142423"/>
              <a:ext cx="42689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U ∝ 1/r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369820" y="3404235"/>
              <a:ext cx="13435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虚线：E ∝ 1/r²（对照）</a:t>
              </a:r>
            </a:p>
          </p:txBody>
        </p:sp>
      </p:grpSp>
      <p:grpSp>
        <p:nvGrpSpPr>
          <p:cNvPr id="55" name="c2-steps-1"/>
          <p:cNvGrpSpPr/>
          <p:nvPr/>
        </p:nvGrpSpPr>
        <p:grpSpPr>
          <a:xfrm>
            <a:off x="5815965" y="1533525"/>
            <a:ext cx="4456271" cy="1596962"/>
            <a:chOff x="5815965" y="1533525"/>
            <a:chExt cx="4456271" cy="1596962"/>
          </a:xfrm>
        </p:grpSpPr>
        <p:sp>
          <p:nvSpPr>
            <p:cNvPr id="42" name="Rectangle 42"/>
            <p:cNvSpPr/>
            <p:nvPr/>
          </p:nvSpPr>
          <p:spPr>
            <a:xfrm>
              <a:off x="5949315" y="1676400"/>
              <a:ext cx="19050" cy="1105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581596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90958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5815965" y="208692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909589" y="21607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5815965" y="263937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909589" y="27131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228588" y="1564481"/>
              <a:ext cx="520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先写 E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229731" y="1818322"/>
              <a:ext cx="4042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由高斯定理：r &lt; R 时 E = 0；r &gt; R 时 E = q/(4πε₀r²)，沿径向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228588" y="2116931"/>
              <a:ext cx="8320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球外 r &gt; R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229731" y="2371725"/>
              <a:ext cx="26680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沿径向从 r 积到 ∞，一路都是 q/(4πε₀r²)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228588" y="2670334"/>
              <a:ext cx="8320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球内 r &lt; R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229731" y="2925128"/>
              <a:ext cx="35620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分两段积：r 到 R 之间 E = 0 不贡献，R 到 ∞ 与球外相同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formula181"/>
              <p:cNvSpPr txBox="1">
                <a:spLocks noGrp="1"/>
              </p:cNvSpPr>
              <p:nvPr/>
            </p:nvSpPr>
            <p:spPr>
              <a:xfrm>
                <a:off x="5815965" y="3291840"/>
                <a:ext cx="5842635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  <m:sub>
                          <m:r>
                            <m:rPr>
                              <m:nor m:val="on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外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ff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type m:val="bar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q</m:t>
                              </m:r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 </m:t>
                              </m:r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dr</m:t>
                              </m:r>
                            </m:num>
                            <m:den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4π</m:t>
                              </m:r>
                              <m:sSub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ε</m:t>
                                  </m:r>
                                </m:e>
                                <m:sub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sub>
                              </m:sSub>
                              <m:sSup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r</m:t>
                                  </m:r>
                                </m:e>
                                <m:sup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q</m:t>
                          </m:r>
                        </m:num>
                        <m:den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4π</m:t>
                          </m:r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ε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formula182"/>
              <p:cNvSpPr txBox="1">
                <a:spLocks noGrp="1"/>
              </p:cNvSpPr>
              <p:nvPr/>
            </p:nvSpPr>
            <p:spPr>
              <a:xfrm>
                <a:off x="5815965" y="3883342"/>
                <a:ext cx="5842635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  <m:sub>
                          <m:r>
                            <m:rPr>
                              <m:nor m:val="on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内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ff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sub>
                        <m:sup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sup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dr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ff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type m:val="bar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q</m:t>
                              </m:r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 </m:t>
                              </m:r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dr</m:t>
                              </m:r>
                            </m:num>
                            <m:den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4π</m:t>
                              </m:r>
                              <m:sSub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ε</m:t>
                                  </m:r>
                                </m:e>
                                <m:sub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sub>
                              </m:sSub>
                              <m:sSup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r</m:t>
                                  </m:r>
                                </m:e>
                                <m:sup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q</m:t>
                          </m:r>
                        </m:num>
                        <m:den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4π</m:t>
                          </m:r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ε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62" name="c2-card-4"/>
          <p:cNvGrpSpPr/>
          <p:nvPr/>
        </p:nvGrpSpPr>
        <p:grpSpPr>
          <a:xfrm>
            <a:off x="5815965" y="4474845"/>
            <a:ext cx="5842635" cy="1143952"/>
            <a:chOff x="5815965" y="4474845"/>
            <a:chExt cx="5842635" cy="1143952"/>
          </a:xfrm>
        </p:grpSpPr>
        <p:sp>
          <p:nvSpPr>
            <p:cNvPr id="58" name="Rectangle 58"/>
            <p:cNvSpPr/>
            <p:nvPr/>
          </p:nvSpPr>
          <p:spPr>
            <a:xfrm>
              <a:off x="5815965" y="4474845"/>
              <a:ext cx="5842635" cy="1143952"/>
            </a:xfrm>
            <a:prstGeom prst="roundRect">
              <a:avLst>
                <a:gd name="adj" fmla="val 11657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5996940" y="4655820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092711" y="4688681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990463" y="4995386"/>
              <a:ext cx="519861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球外 U = q/(4πε₀r)，球内 U = q/(4πε₀R) 为常量。E 在 r = R 处跳变，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 却是连续的。</a:t>
              </a:r>
            </a:p>
          </p:txBody>
        </p:sp>
      </p:grpSp>
      <p:grpSp>
        <p:nvGrpSpPr>
          <p:cNvPr id="6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3" name="Rectangle 6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1041273" y="6039326"/>
              <a:ext cx="69717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变式：球心再放一个点电荷 q′，球内电势就是 q′/(4πε₀r) + q/(4πε₀R)，直接叠加即可。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第4章 静电场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99662" cy="909257"/>
            <a:chOff x="520446" y="342900"/>
            <a:chExt cx="699966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4415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6417" y="407194"/>
              <a:ext cx="26371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静电场 · 静电场的环路定理 电势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9966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 两段直线加一个半圆：圆心电势分段叠加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977765" cy="1840230"/>
            <a:chOff x="533400" y="1524000"/>
            <a:chExt cx="4977765" cy="184023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840230"/>
            </a:xfrm>
            <a:prstGeom prst="roundRect">
              <a:avLst>
                <a:gd name="adj" fmla="val 724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7353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1620202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6341" y="1756410"/>
              <a:ext cx="15058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例题（原课件标作例2）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4225417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真空中均匀带电细线，线密度 λ，形状如图：AB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DE = R，BCD 是以 O 为圆心、R 为半径的半圆，A、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B、O、D、E 共线。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381" y="2943701"/>
              <a:ext cx="168262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圆心 O 的电势。</a:t>
              </a:r>
            </a:p>
          </p:txBody>
        </p:sp>
      </p:grpSp>
      <p:grpSp>
        <p:nvGrpSpPr>
          <p:cNvPr id="37" name="c1-graph-2"/>
          <p:cNvGrpSpPr/>
          <p:nvPr/>
        </p:nvGrpSpPr>
        <p:grpSpPr>
          <a:xfrm>
            <a:off x="892611" y="4000500"/>
            <a:ext cx="4258391" cy="1596961"/>
            <a:chOff x="892611" y="4000500"/>
            <a:chExt cx="4258391" cy="1596961"/>
          </a:xfrm>
        </p:grpSpPr>
        <p:sp>
          <p:nvSpPr>
            <p:cNvPr id="14" name="Freeform 14"/>
            <p:cNvSpPr/>
            <p:nvPr/>
          </p:nvSpPr>
          <p:spPr>
            <a:xfrm>
              <a:off x="1983105" y="4176712"/>
              <a:ext cx="2078355" cy="1035368"/>
            </a:xfrm>
            <a:custGeom>
              <a:avLst/>
              <a:gdLst/>
              <a:ahLst/>
              <a:cxnLst/>
              <a:rect l="l" t="t" r="r" b="b"/>
              <a:pathLst>
                <a:path w="2078355" h="1035368">
                  <a:moveTo>
                    <a:pt x="2078355" y="1035368"/>
                  </a:moveTo>
                  <a:lnTo>
                    <a:pt x="2074545" y="972503"/>
                  </a:lnTo>
                  <a:lnTo>
                    <a:pt x="2064068" y="890588"/>
                  </a:lnTo>
                  <a:lnTo>
                    <a:pt x="2049780" y="807720"/>
                  </a:lnTo>
                  <a:lnTo>
                    <a:pt x="2029778" y="727710"/>
                  </a:lnTo>
                  <a:lnTo>
                    <a:pt x="1999298" y="651510"/>
                  </a:lnTo>
                  <a:lnTo>
                    <a:pt x="1965008" y="576262"/>
                  </a:lnTo>
                  <a:lnTo>
                    <a:pt x="1925003" y="503872"/>
                  </a:lnTo>
                  <a:lnTo>
                    <a:pt x="1880235" y="434340"/>
                  </a:lnTo>
                  <a:lnTo>
                    <a:pt x="1830705" y="369570"/>
                  </a:lnTo>
                  <a:lnTo>
                    <a:pt x="1775460" y="308610"/>
                  </a:lnTo>
                  <a:lnTo>
                    <a:pt x="1715453" y="253365"/>
                  </a:lnTo>
                  <a:lnTo>
                    <a:pt x="1651635" y="200978"/>
                  </a:lnTo>
                  <a:lnTo>
                    <a:pt x="1581150" y="156210"/>
                  </a:lnTo>
                  <a:lnTo>
                    <a:pt x="1511618" y="114300"/>
                  </a:lnTo>
                  <a:lnTo>
                    <a:pt x="1437323" y="80010"/>
                  </a:lnTo>
                  <a:lnTo>
                    <a:pt x="1362075" y="50483"/>
                  </a:lnTo>
                  <a:lnTo>
                    <a:pt x="1283018" y="29528"/>
                  </a:lnTo>
                  <a:lnTo>
                    <a:pt x="1203008" y="13335"/>
                  </a:lnTo>
                  <a:lnTo>
                    <a:pt x="1118235" y="4762"/>
                  </a:lnTo>
                  <a:lnTo>
                    <a:pt x="1039178" y="0"/>
                  </a:lnTo>
                  <a:lnTo>
                    <a:pt x="959167" y="4762"/>
                  </a:lnTo>
                  <a:lnTo>
                    <a:pt x="874395" y="13335"/>
                  </a:lnTo>
                  <a:lnTo>
                    <a:pt x="795338" y="29528"/>
                  </a:lnTo>
                  <a:lnTo>
                    <a:pt x="715328" y="50483"/>
                  </a:lnTo>
                  <a:lnTo>
                    <a:pt x="641033" y="80010"/>
                  </a:lnTo>
                  <a:lnTo>
                    <a:pt x="565785" y="114300"/>
                  </a:lnTo>
                  <a:lnTo>
                    <a:pt x="496253" y="156210"/>
                  </a:lnTo>
                  <a:lnTo>
                    <a:pt x="426720" y="200978"/>
                  </a:lnTo>
                  <a:lnTo>
                    <a:pt x="361950" y="253365"/>
                  </a:lnTo>
                  <a:lnTo>
                    <a:pt x="301943" y="308610"/>
                  </a:lnTo>
                  <a:lnTo>
                    <a:pt x="247650" y="369570"/>
                  </a:lnTo>
                  <a:lnTo>
                    <a:pt x="198120" y="434340"/>
                  </a:lnTo>
                  <a:lnTo>
                    <a:pt x="153353" y="503872"/>
                  </a:lnTo>
                  <a:lnTo>
                    <a:pt x="113348" y="576262"/>
                  </a:lnTo>
                  <a:lnTo>
                    <a:pt x="78105" y="651510"/>
                  </a:lnTo>
                  <a:lnTo>
                    <a:pt x="48578" y="727710"/>
                  </a:lnTo>
                  <a:lnTo>
                    <a:pt x="28575" y="807720"/>
                  </a:lnTo>
                  <a:lnTo>
                    <a:pt x="13335" y="890588"/>
                  </a:lnTo>
                  <a:lnTo>
                    <a:pt x="3810" y="972503"/>
                  </a:lnTo>
                  <a:lnTo>
                    <a:pt x="0" y="1035368"/>
                  </a:lnTo>
                </a:path>
              </a:pathLst>
            </a:custGeom>
            <a:noFill/>
            <a:ln w="38100">
              <a:solidFill>
                <a:srgbClr val="2F4B9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988695" y="5231130"/>
              <a:ext cx="945832" cy="9525"/>
            </a:xfrm>
            <a:custGeom>
              <a:avLst/>
              <a:gdLst/>
              <a:ahLst/>
              <a:cxnLst/>
              <a:rect l="l" t="t" r="r" b="b"/>
              <a:pathLst>
                <a:path w="945832" h="9525">
                  <a:moveTo>
                    <a:pt x="0" y="0"/>
                  </a:moveTo>
                  <a:lnTo>
                    <a:pt x="945832" y="0"/>
                  </a:lnTo>
                </a:path>
              </a:pathLst>
            </a:custGeom>
            <a:noFill/>
            <a:ln w="38100">
              <a:solidFill>
                <a:srgbClr val="2F4B9A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110038" y="5231130"/>
              <a:ext cx="944880" cy="9525"/>
            </a:xfrm>
            <a:custGeom>
              <a:avLst/>
              <a:gdLst/>
              <a:ahLst/>
              <a:cxnLst/>
              <a:rect l="l" t="t" r="r" b="b"/>
              <a:pathLst>
                <a:path w="944880" h="9525">
                  <a:moveTo>
                    <a:pt x="0" y="0"/>
                  </a:moveTo>
                  <a:lnTo>
                    <a:pt x="944880" y="0"/>
                  </a:lnTo>
                </a:path>
              </a:pathLst>
            </a:custGeom>
            <a:noFill/>
            <a:ln w="38100">
              <a:solidFill>
                <a:srgbClr val="2F4B9A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2029778" y="5231130"/>
              <a:ext cx="1985010" cy="9525"/>
            </a:xfrm>
            <a:custGeom>
              <a:avLst/>
              <a:gdLst/>
              <a:ahLst/>
              <a:cxnLst/>
              <a:rect l="l" t="t" r="r" b="b"/>
              <a:pathLst>
                <a:path w="1985010" h="9525">
                  <a:moveTo>
                    <a:pt x="0" y="0"/>
                  </a:moveTo>
                  <a:lnTo>
                    <a:pt x="198501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8" name="Freeform 18"/>
            <p:cNvSpPr/>
            <p:nvPr/>
          </p:nvSpPr>
          <p:spPr>
            <a:xfrm>
              <a:off x="3022282" y="4195762"/>
              <a:ext cx="9525" cy="987743"/>
            </a:xfrm>
            <a:custGeom>
              <a:avLst/>
              <a:gdLst/>
              <a:ahLst/>
              <a:cxnLst/>
              <a:rect l="l" t="t" r="r" b="b"/>
              <a:pathLst>
                <a:path w="9525" h="987743">
                  <a:moveTo>
                    <a:pt x="0" y="987743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9" name="Ellipse 19"/>
            <p:cNvSpPr/>
            <p:nvPr/>
          </p:nvSpPr>
          <p:spPr>
            <a:xfrm>
              <a:off x="4052888" y="522160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972628" y="522160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902970" y="5193030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944052" y="5193030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4024312" y="5193030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5064442" y="5193030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2984182" y="5193030"/>
              <a:ext cx="76200" cy="7620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012758" y="416718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2955608" y="461105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985445" y="4641056"/>
              <a:ext cx="7367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92611" y="539210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933693" y="539210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958141" y="5392102"/>
              <a:ext cx="1282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013953" y="539210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054083" y="539210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123366" y="400050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420706" y="4999196"/>
              <a:ext cx="865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536333" y="4999196"/>
              <a:ext cx="865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</p:grpSp>
      <p:grpSp>
        <p:nvGrpSpPr>
          <p:cNvPr id="51" name="c2-steps-1"/>
          <p:cNvGrpSpPr/>
          <p:nvPr/>
        </p:nvGrpSpPr>
        <p:grpSpPr>
          <a:xfrm>
            <a:off x="5815965" y="1533525"/>
            <a:ext cx="5403799" cy="2002536"/>
            <a:chOff x="5815965" y="1533525"/>
            <a:chExt cx="5403799" cy="2002536"/>
          </a:xfrm>
        </p:grpSpPr>
        <p:sp>
          <p:nvSpPr>
            <p:cNvPr id="38" name="Rectangle 38"/>
            <p:cNvSpPr/>
            <p:nvPr/>
          </p:nvSpPr>
          <p:spPr>
            <a:xfrm>
              <a:off x="5949315" y="1676400"/>
              <a:ext cx="19050" cy="145446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581596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90958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5815965" y="215074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909589" y="22245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5815965" y="298799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909589" y="30618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227826" y="156638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分成三段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228969" y="1846898"/>
              <a:ext cx="33802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UO = UAB + UBCD + UDE，由对称性 UAB = UDE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227826" y="218360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直线段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228969" y="2464118"/>
              <a:ext cx="42489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dq = λdl 到 O 的距离为 l，l 从 R 到 2R：UAB = ∫λdl/(4πε₀l) =</a:t>
              </a:r>
              <a:br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λln2/(4πε₀)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227826" y="3020854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半圆段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228969" y="3301365"/>
              <a:ext cx="49907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 dq 到 O 都是 R，总电量 πRλ：UBCD = πRλ/(4πε₀R) = λ/(4ε₀)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formula186"/>
              <p:cNvSpPr txBox="1">
                <a:spLocks noGrp="1"/>
              </p:cNvSpPr>
              <p:nvPr/>
            </p:nvSpPr>
            <p:spPr>
              <a:xfrm>
                <a:off x="5815965" y="3707130"/>
                <a:ext cx="5842635" cy="514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O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AB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BCD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λ</m:t>
                          </m:r>
                        </m:num>
                        <m:den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2π</m:t>
                          </m:r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ε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ln</m:t>
                          </m:r>
                        </m:fName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e>
                      </m:func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λ</m:t>
                          </m:r>
                        </m:num>
                        <m:den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ε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57" name="c2-card-3"/>
          <p:cNvGrpSpPr/>
          <p:nvPr/>
        </p:nvGrpSpPr>
        <p:grpSpPr>
          <a:xfrm>
            <a:off x="5815965" y="4402455"/>
            <a:ext cx="5842635" cy="1250632"/>
            <a:chOff x="5815965" y="4402455"/>
            <a:chExt cx="5842635" cy="1250632"/>
          </a:xfrm>
        </p:grpSpPr>
        <p:sp>
          <p:nvSpPr>
            <p:cNvPr id="53" name="Rectangle 53"/>
            <p:cNvSpPr/>
            <p:nvPr/>
          </p:nvSpPr>
          <p:spPr>
            <a:xfrm>
              <a:off x="5815965" y="4402455"/>
              <a:ext cx="5842635" cy="1250632"/>
            </a:xfrm>
            <a:prstGeom prst="roundRect">
              <a:avLst>
                <a:gd name="adj" fmla="val 10663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014085" y="4600575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109526" y="463486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006846" y="4961096"/>
              <a:ext cx="479348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UO = λln2/(2πε₀) + λ/(4ε₀)。取 λ = 2 nC/m：两段直线共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24.9 V，半圆 56.5 V，合计约 81.4 V。</a:t>
              </a:r>
            </a:p>
          </p:txBody>
        </p:sp>
      </p:grpSp>
      <p:grpSp>
        <p:nvGrpSpPr>
          <p:cNvPr id="64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58" name="Rectangle 58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738188" y="6011228"/>
              <a:ext cx="200026" cy="200025"/>
              <a:chOff x="738188" y="6011228"/>
              <a:chExt cx="200026" cy="200025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38188" y="601122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777926" y="605567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12642" y="616680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1040511" y="6011704"/>
              <a:ext cx="971600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电势是标量，分段后直接相加；要是求 O 点场强，就得先分解：两段直线的场左右抵消，只剩半圆的 λ/(2πε₀R)。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第4章 静电场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417558" cy="909257"/>
            <a:chOff x="520446" y="342900"/>
            <a:chExt cx="741755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4415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6417" y="407194"/>
              <a:ext cx="26371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静电场 · 静电场的环路定理 电势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41755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练习 同心球面 +Q、−Q：三个区域的场强和电势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760595" cy="1594485"/>
            <a:chOff x="533400" y="1524000"/>
            <a:chExt cx="4760595" cy="15944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594485"/>
            </a:xfrm>
            <a:prstGeom prst="roundRect">
              <a:avLst>
                <a:gd name="adj" fmla="val 83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2778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练习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408114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同心球面半径 R₁ &lt; R₂，内球面带 +Q，外球面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带 −Q，真空。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692241"/>
              <a:ext cx="236575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三个区域的场强和电势。</a:t>
              </a:r>
            </a:p>
          </p:txBody>
        </p:sp>
      </p:grpSp>
      <p:grpSp>
        <p:nvGrpSpPr>
          <p:cNvPr id="37" name="c1-graph-2"/>
          <p:cNvGrpSpPr/>
          <p:nvPr/>
        </p:nvGrpSpPr>
        <p:grpSpPr>
          <a:xfrm>
            <a:off x="814388" y="3461385"/>
            <a:ext cx="3913479" cy="2523649"/>
            <a:chOff x="814388" y="3461385"/>
            <a:chExt cx="3913479" cy="2523649"/>
          </a:xfrm>
        </p:grpSpPr>
        <p:sp>
          <p:nvSpPr>
            <p:cNvPr id="14" name="Freeform 14"/>
            <p:cNvSpPr/>
            <p:nvPr/>
          </p:nvSpPr>
          <p:spPr>
            <a:xfrm>
              <a:off x="1385888" y="4165282"/>
              <a:ext cx="1151572" cy="1146810"/>
            </a:xfrm>
            <a:custGeom>
              <a:avLst/>
              <a:gdLst/>
              <a:ahLst/>
              <a:cxnLst/>
              <a:rect l="l" t="t" r="r" b="b"/>
              <a:pathLst>
                <a:path w="1151572" h="1146810">
                  <a:moveTo>
                    <a:pt x="1150620" y="554355"/>
                  </a:moveTo>
                  <a:lnTo>
                    <a:pt x="1146810" y="510540"/>
                  </a:lnTo>
                  <a:lnTo>
                    <a:pt x="1137285" y="443865"/>
                  </a:lnTo>
                  <a:lnTo>
                    <a:pt x="1118235" y="383858"/>
                  </a:lnTo>
                  <a:lnTo>
                    <a:pt x="1094422" y="323850"/>
                  </a:lnTo>
                  <a:lnTo>
                    <a:pt x="1061085" y="269558"/>
                  </a:lnTo>
                  <a:lnTo>
                    <a:pt x="1022985" y="214312"/>
                  </a:lnTo>
                  <a:lnTo>
                    <a:pt x="980122" y="168592"/>
                  </a:lnTo>
                  <a:lnTo>
                    <a:pt x="932498" y="125730"/>
                  </a:lnTo>
                  <a:lnTo>
                    <a:pt x="880110" y="88583"/>
                  </a:lnTo>
                  <a:lnTo>
                    <a:pt x="822960" y="57150"/>
                  </a:lnTo>
                  <a:lnTo>
                    <a:pt x="765810" y="31433"/>
                  </a:lnTo>
                  <a:lnTo>
                    <a:pt x="703898" y="14288"/>
                  </a:lnTo>
                  <a:lnTo>
                    <a:pt x="641985" y="2858"/>
                  </a:lnTo>
                  <a:lnTo>
                    <a:pt x="576262" y="0"/>
                  </a:lnTo>
                  <a:lnTo>
                    <a:pt x="509588" y="2858"/>
                  </a:lnTo>
                  <a:lnTo>
                    <a:pt x="447675" y="14288"/>
                  </a:lnTo>
                  <a:lnTo>
                    <a:pt x="385762" y="31433"/>
                  </a:lnTo>
                  <a:lnTo>
                    <a:pt x="328612" y="57150"/>
                  </a:lnTo>
                  <a:lnTo>
                    <a:pt x="271462" y="88583"/>
                  </a:lnTo>
                  <a:lnTo>
                    <a:pt x="219075" y="125730"/>
                  </a:lnTo>
                  <a:lnTo>
                    <a:pt x="171450" y="168592"/>
                  </a:lnTo>
                  <a:lnTo>
                    <a:pt x="128588" y="214312"/>
                  </a:lnTo>
                  <a:lnTo>
                    <a:pt x="90488" y="269558"/>
                  </a:lnTo>
                  <a:lnTo>
                    <a:pt x="57150" y="323850"/>
                  </a:lnTo>
                  <a:lnTo>
                    <a:pt x="33338" y="383858"/>
                  </a:lnTo>
                  <a:lnTo>
                    <a:pt x="14288" y="443865"/>
                  </a:lnTo>
                  <a:lnTo>
                    <a:pt x="4762" y="510540"/>
                  </a:lnTo>
                  <a:lnTo>
                    <a:pt x="0" y="573405"/>
                  </a:lnTo>
                  <a:lnTo>
                    <a:pt x="4762" y="636270"/>
                  </a:lnTo>
                  <a:lnTo>
                    <a:pt x="14288" y="701992"/>
                  </a:lnTo>
                  <a:lnTo>
                    <a:pt x="33338" y="762952"/>
                  </a:lnTo>
                  <a:lnTo>
                    <a:pt x="57150" y="822960"/>
                  </a:lnTo>
                  <a:lnTo>
                    <a:pt x="90488" y="877252"/>
                  </a:lnTo>
                  <a:lnTo>
                    <a:pt x="128588" y="931545"/>
                  </a:lnTo>
                  <a:lnTo>
                    <a:pt x="171450" y="978217"/>
                  </a:lnTo>
                  <a:lnTo>
                    <a:pt x="219075" y="1021080"/>
                  </a:lnTo>
                  <a:lnTo>
                    <a:pt x="271462" y="1058227"/>
                  </a:lnTo>
                  <a:lnTo>
                    <a:pt x="328612" y="1089660"/>
                  </a:lnTo>
                  <a:lnTo>
                    <a:pt x="385762" y="1115377"/>
                  </a:lnTo>
                  <a:lnTo>
                    <a:pt x="447675" y="1132523"/>
                  </a:lnTo>
                  <a:lnTo>
                    <a:pt x="509588" y="1143952"/>
                  </a:lnTo>
                  <a:lnTo>
                    <a:pt x="576262" y="1146810"/>
                  </a:lnTo>
                  <a:lnTo>
                    <a:pt x="641985" y="1143952"/>
                  </a:lnTo>
                  <a:lnTo>
                    <a:pt x="703898" y="1132523"/>
                  </a:lnTo>
                  <a:lnTo>
                    <a:pt x="765810" y="1115377"/>
                  </a:lnTo>
                  <a:lnTo>
                    <a:pt x="822960" y="1089660"/>
                  </a:lnTo>
                  <a:lnTo>
                    <a:pt x="880110" y="1058227"/>
                  </a:lnTo>
                  <a:lnTo>
                    <a:pt x="932498" y="1021080"/>
                  </a:lnTo>
                  <a:lnTo>
                    <a:pt x="980122" y="978217"/>
                  </a:lnTo>
                  <a:lnTo>
                    <a:pt x="1022985" y="931545"/>
                  </a:lnTo>
                  <a:lnTo>
                    <a:pt x="1061085" y="877252"/>
                  </a:lnTo>
                  <a:lnTo>
                    <a:pt x="1094422" y="822960"/>
                  </a:lnTo>
                  <a:lnTo>
                    <a:pt x="1118235" y="762952"/>
                  </a:lnTo>
                  <a:lnTo>
                    <a:pt x="1137285" y="701992"/>
                  </a:lnTo>
                  <a:lnTo>
                    <a:pt x="1146810" y="636270"/>
                  </a:lnTo>
                  <a:lnTo>
                    <a:pt x="1151572" y="573405"/>
                  </a:lnTo>
                  <a:lnTo>
                    <a:pt x="1146810" y="510540"/>
                  </a:lnTo>
                  <a:lnTo>
                    <a:pt x="1140142" y="462915"/>
                  </a:lnTo>
                </a:path>
              </a:pathLst>
            </a:custGeom>
            <a:noFill/>
            <a:ln w="28575">
              <a:solidFill>
                <a:srgbClr val="2F4B9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814388" y="3590925"/>
              <a:ext cx="2294572" cy="2295525"/>
            </a:xfrm>
            <a:custGeom>
              <a:avLst/>
              <a:gdLst/>
              <a:ahLst/>
              <a:cxnLst/>
              <a:rect l="l" t="t" r="r" b="b"/>
              <a:pathLst>
                <a:path w="2294572" h="2295525">
                  <a:moveTo>
                    <a:pt x="2293620" y="1128712"/>
                  </a:moveTo>
                  <a:lnTo>
                    <a:pt x="2289810" y="1018222"/>
                  </a:lnTo>
                  <a:lnTo>
                    <a:pt x="2265998" y="892492"/>
                  </a:lnTo>
                  <a:lnTo>
                    <a:pt x="2232660" y="768667"/>
                  </a:lnTo>
                  <a:lnTo>
                    <a:pt x="2180272" y="648653"/>
                  </a:lnTo>
                  <a:lnTo>
                    <a:pt x="2118360" y="536258"/>
                  </a:lnTo>
                  <a:lnTo>
                    <a:pt x="2046922" y="433388"/>
                  </a:lnTo>
                  <a:lnTo>
                    <a:pt x="1961197" y="336233"/>
                  </a:lnTo>
                  <a:lnTo>
                    <a:pt x="1865947" y="249555"/>
                  </a:lnTo>
                  <a:lnTo>
                    <a:pt x="1756410" y="175260"/>
                  </a:lnTo>
                  <a:lnTo>
                    <a:pt x="1646872" y="115253"/>
                  </a:lnTo>
                  <a:lnTo>
                    <a:pt x="1527810" y="62865"/>
                  </a:lnTo>
                  <a:lnTo>
                    <a:pt x="1403985" y="28575"/>
                  </a:lnTo>
                  <a:lnTo>
                    <a:pt x="1275398" y="8572"/>
                  </a:lnTo>
                  <a:lnTo>
                    <a:pt x="1147762" y="0"/>
                  </a:lnTo>
                  <a:lnTo>
                    <a:pt x="1019175" y="8572"/>
                  </a:lnTo>
                  <a:lnTo>
                    <a:pt x="890588" y="28575"/>
                  </a:lnTo>
                  <a:lnTo>
                    <a:pt x="766762" y="62865"/>
                  </a:lnTo>
                  <a:lnTo>
                    <a:pt x="647700" y="115253"/>
                  </a:lnTo>
                  <a:lnTo>
                    <a:pt x="538162" y="175260"/>
                  </a:lnTo>
                  <a:lnTo>
                    <a:pt x="428625" y="249555"/>
                  </a:lnTo>
                  <a:lnTo>
                    <a:pt x="333375" y="336233"/>
                  </a:lnTo>
                  <a:lnTo>
                    <a:pt x="247650" y="433388"/>
                  </a:lnTo>
                  <a:lnTo>
                    <a:pt x="176212" y="536258"/>
                  </a:lnTo>
                  <a:lnTo>
                    <a:pt x="114300" y="648653"/>
                  </a:lnTo>
                  <a:lnTo>
                    <a:pt x="61912" y="768667"/>
                  </a:lnTo>
                  <a:lnTo>
                    <a:pt x="28575" y="892492"/>
                  </a:lnTo>
                  <a:lnTo>
                    <a:pt x="4762" y="1018222"/>
                  </a:lnTo>
                  <a:lnTo>
                    <a:pt x="0" y="1147762"/>
                  </a:lnTo>
                  <a:lnTo>
                    <a:pt x="4762" y="1276350"/>
                  </a:lnTo>
                  <a:lnTo>
                    <a:pt x="28575" y="1403032"/>
                  </a:lnTo>
                  <a:lnTo>
                    <a:pt x="61912" y="1525905"/>
                  </a:lnTo>
                  <a:lnTo>
                    <a:pt x="114300" y="1646872"/>
                  </a:lnTo>
                  <a:lnTo>
                    <a:pt x="176212" y="1758315"/>
                  </a:lnTo>
                  <a:lnTo>
                    <a:pt x="247650" y="1862138"/>
                  </a:lnTo>
                  <a:lnTo>
                    <a:pt x="333375" y="1959293"/>
                  </a:lnTo>
                  <a:lnTo>
                    <a:pt x="428625" y="2045970"/>
                  </a:lnTo>
                  <a:lnTo>
                    <a:pt x="538162" y="2120265"/>
                  </a:lnTo>
                  <a:lnTo>
                    <a:pt x="647700" y="2180272"/>
                  </a:lnTo>
                  <a:lnTo>
                    <a:pt x="766762" y="2231707"/>
                  </a:lnTo>
                  <a:lnTo>
                    <a:pt x="890588" y="2266950"/>
                  </a:lnTo>
                  <a:lnTo>
                    <a:pt x="1019175" y="2286952"/>
                  </a:lnTo>
                  <a:lnTo>
                    <a:pt x="1147762" y="2295525"/>
                  </a:lnTo>
                  <a:lnTo>
                    <a:pt x="1275398" y="2286952"/>
                  </a:lnTo>
                  <a:lnTo>
                    <a:pt x="1403985" y="2266950"/>
                  </a:lnTo>
                  <a:lnTo>
                    <a:pt x="1527810" y="2231707"/>
                  </a:lnTo>
                  <a:lnTo>
                    <a:pt x="1646872" y="2180272"/>
                  </a:lnTo>
                  <a:lnTo>
                    <a:pt x="1756410" y="2120265"/>
                  </a:lnTo>
                  <a:lnTo>
                    <a:pt x="1865947" y="2045970"/>
                  </a:lnTo>
                  <a:lnTo>
                    <a:pt x="1961197" y="1959293"/>
                  </a:lnTo>
                  <a:lnTo>
                    <a:pt x="2046922" y="1862138"/>
                  </a:lnTo>
                  <a:lnTo>
                    <a:pt x="2118360" y="1758315"/>
                  </a:lnTo>
                  <a:lnTo>
                    <a:pt x="2180272" y="1646872"/>
                  </a:lnTo>
                  <a:lnTo>
                    <a:pt x="2232660" y="1525905"/>
                  </a:lnTo>
                  <a:lnTo>
                    <a:pt x="2265998" y="1403032"/>
                  </a:lnTo>
                  <a:lnTo>
                    <a:pt x="2289810" y="1276350"/>
                  </a:lnTo>
                  <a:lnTo>
                    <a:pt x="2294572" y="1147762"/>
                  </a:lnTo>
                  <a:lnTo>
                    <a:pt x="2289810" y="1018222"/>
                  </a:lnTo>
                  <a:lnTo>
                    <a:pt x="2269808" y="911542"/>
                  </a:lnTo>
                </a:path>
              </a:pathLst>
            </a:custGeom>
            <a:noFill/>
            <a:ln w="28575">
              <a:solidFill>
                <a:srgbClr val="F26B3A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992630" y="4760595"/>
              <a:ext cx="342900" cy="249555"/>
            </a:xfrm>
            <a:custGeom>
              <a:avLst/>
              <a:gdLst/>
              <a:ahLst/>
              <a:cxnLst/>
              <a:rect l="l" t="t" r="r" b="b"/>
              <a:pathLst>
                <a:path w="342900" h="249555">
                  <a:moveTo>
                    <a:pt x="0" y="0"/>
                  </a:moveTo>
                  <a:lnTo>
                    <a:pt x="342900" y="249555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2307908" y="4971098"/>
              <a:ext cx="104775" cy="95250"/>
            </a:xfrm>
            <a:custGeom>
              <a:avLst/>
              <a:gdLst/>
              <a:ahLst/>
              <a:cxnLst/>
              <a:rect l="l" t="t" r="r" b="b"/>
              <a:pathLst>
                <a:path w="104775" h="95250">
                  <a:moveTo>
                    <a:pt x="104775" y="95250"/>
                  </a:moveTo>
                  <a:lnTo>
                    <a:pt x="0" y="77153"/>
                  </a:lnTo>
                  <a:lnTo>
                    <a:pt x="56197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1992630" y="4131945"/>
              <a:ext cx="804862" cy="583883"/>
            </a:xfrm>
            <a:custGeom>
              <a:avLst/>
              <a:gdLst/>
              <a:ahLst/>
              <a:cxnLst/>
              <a:rect l="l" t="t" r="r" b="b"/>
              <a:pathLst>
                <a:path w="804862" h="583883">
                  <a:moveTo>
                    <a:pt x="0" y="583883"/>
                  </a:moveTo>
                  <a:lnTo>
                    <a:pt x="804862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2769870" y="4075748"/>
              <a:ext cx="104775" cy="94298"/>
            </a:xfrm>
            <a:custGeom>
              <a:avLst/>
              <a:gdLst/>
              <a:ahLst/>
              <a:cxnLst/>
              <a:rect l="l" t="t" r="r" b="b"/>
              <a:pathLst>
                <a:path w="104775" h="94298">
                  <a:moveTo>
                    <a:pt x="104775" y="0"/>
                  </a:moveTo>
                  <a:lnTo>
                    <a:pt x="55245" y="94298"/>
                  </a:lnTo>
                  <a:lnTo>
                    <a:pt x="0" y="1714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2527935" y="472916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2513648" y="459962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3099435" y="472916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3070860" y="447389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1933575" y="471011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2418398" y="506730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2880360" y="405479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102320" y="5021580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469032" y="3922395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671283" y="452342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337908" y="386334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241956" y="346138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276207" y="510492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+Q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95207" y="5765006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−Q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432238" y="4338638"/>
              <a:ext cx="9618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区域 1：r &lt; R₁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432238" y="4797742"/>
              <a:ext cx="12956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区域 2：R₁ &lt; r &lt; R₂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432238" y="5256848"/>
              <a:ext cx="9618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区域 3：r &gt; R₂</a:t>
              </a:r>
            </a:p>
          </p:txBody>
        </p:sp>
      </p:grpSp>
      <p:grpSp>
        <p:nvGrpSpPr>
          <p:cNvPr id="47" name="c2-steps-1"/>
          <p:cNvGrpSpPr/>
          <p:nvPr/>
        </p:nvGrpSpPr>
        <p:grpSpPr>
          <a:xfrm>
            <a:off x="5598795" y="1533525"/>
            <a:ext cx="5759196" cy="1390078"/>
            <a:chOff x="5598795" y="1533525"/>
            <a:chExt cx="5759196" cy="1390078"/>
          </a:xfrm>
        </p:grpSpPr>
        <p:sp>
          <p:nvSpPr>
            <p:cNvPr id="38" name="Rectangle 38"/>
            <p:cNvSpPr/>
            <p:nvPr/>
          </p:nvSpPr>
          <p:spPr>
            <a:xfrm>
              <a:off x="5732145" y="1676400"/>
              <a:ext cx="19050" cy="8420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559879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69241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5598795" y="237553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692419" y="24493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010656" y="1566386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场强：高斯定理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011799" y="1846898"/>
              <a:ext cx="53461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&lt; R₁ 面内无电荷，E₁ = 0；R₁ &lt; r &lt; R₂，E₂ = Q/(4πε₀r²)；r &gt; R₂ 面内净电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荷为 0，E₃ = 0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010656" y="240839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电势：叠加法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011799" y="2688907"/>
              <a:ext cx="46969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每个球面内部电势为常量、外部像点电荷，把两个球面的贡献相加</a:t>
              </a:r>
            </a:p>
          </p:txBody>
        </p:sp>
      </p:grpSp>
      <p:grpSp>
        <p:nvGrpSpPr>
          <p:cNvPr id="67" name="c2-table-2"/>
          <p:cNvGrpSpPr/>
          <p:nvPr/>
        </p:nvGrpSpPr>
        <p:grpSpPr>
          <a:xfrm>
            <a:off x="5598795" y="3099435"/>
            <a:ext cx="6059805" cy="1720215"/>
            <a:chOff x="5598795" y="3099435"/>
            <a:chExt cx="6059805" cy="1720215"/>
          </a:xfrm>
        </p:grpSpPr>
        <p:sp>
          <p:nvSpPr>
            <p:cNvPr id="48" name="Rectangle 48"/>
            <p:cNvSpPr/>
            <p:nvPr/>
          </p:nvSpPr>
          <p:spPr>
            <a:xfrm>
              <a:off x="5598795" y="3099435"/>
              <a:ext cx="6059805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158865" y="323088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区域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785598" y="323088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088743" y="323088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704142" y="3661410"/>
              <a:ext cx="5005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&lt; R₁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158609" y="36614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734044" y="3661410"/>
              <a:ext cx="20969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Q/(4πε₀R₁) − Q/(4πε₀R₂)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598795" y="395573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5598795" y="3960495"/>
              <a:ext cx="605980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704142" y="4090988"/>
              <a:ext cx="9011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R₁ &lt; r &lt; R₂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158609" y="4090988"/>
              <a:ext cx="9460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Q/(4πε₀r²)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734044" y="4090988"/>
              <a:ext cx="19918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Q/(4πε₀r) − Q/(4πε₀R₂)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5598795" y="438531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704142" y="4521518"/>
              <a:ext cx="5005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&gt; R₂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158609" y="452151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734044" y="4521518"/>
              <a:ext cx="21665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Q/(4πε₀r) − Q/(4πε₀r) = 0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598795" y="3099435"/>
              <a:ext cx="6059805" cy="1720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7048500" y="3099435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8623935" y="3099435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3" name="c2-card-3"/>
          <p:cNvGrpSpPr/>
          <p:nvPr/>
        </p:nvGrpSpPr>
        <p:grpSpPr>
          <a:xfrm>
            <a:off x="5598795" y="5005388"/>
            <a:ext cx="6059805" cy="1274445"/>
            <a:chOff x="5598795" y="5005388"/>
            <a:chExt cx="6059805" cy="1274445"/>
          </a:xfrm>
        </p:grpSpPr>
        <p:sp>
          <p:nvSpPr>
            <p:cNvPr id="68" name="Rectangle 68"/>
            <p:cNvSpPr/>
            <p:nvPr/>
          </p:nvSpPr>
          <p:spPr>
            <a:xfrm>
              <a:off x="5598795" y="5005388"/>
              <a:ext cx="6059805" cy="1274445"/>
            </a:xfrm>
            <a:prstGeom prst="roundRect">
              <a:avLst>
                <a:gd name="adj" fmla="val 10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5608320" y="5138738"/>
              <a:ext cx="47625" cy="10077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5840730" y="520922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5931891" y="524494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检验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5833491" y="5583079"/>
              <a:ext cx="540664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定义法：r &lt; R₁ 时 U₁ = ∫E₂dr（R₁ 积到 R₂，其余两段 E = 0）=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Q(1/R₁ − 1/R₂)/(4πε₀)，与叠加法相同；U 在 R₁、R₂ 处都连续。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第4章 静电场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882896" cy="2997517"/>
            <a:chOff x="667512" y="1835468"/>
            <a:chExt cx="4882896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882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电场强度与电势的关系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4481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对应原课件 4.6，知道电势就能求导得到场强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等势面的性质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6017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电势梯度 E = −∇U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7412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例4.17 由电势求圆环轴线的场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第4章 静电场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静电场 · 电场强度与电势的关系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等势面与电场线处处正交，等势面越密场越强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3" name="c1-graph-1"/>
          <p:cNvGrpSpPr/>
          <p:nvPr/>
        </p:nvGrpSpPr>
        <p:grpSpPr>
          <a:xfrm>
            <a:off x="1318260" y="1787842"/>
            <a:ext cx="3624262" cy="3836384"/>
            <a:chOff x="1318260" y="1787842"/>
            <a:chExt cx="3624262" cy="3836384"/>
          </a:xfrm>
        </p:grpSpPr>
        <p:sp>
          <p:nvSpPr>
            <p:cNvPr id="7" name="Freeform 7"/>
            <p:cNvSpPr/>
            <p:nvPr/>
          </p:nvSpPr>
          <p:spPr>
            <a:xfrm>
              <a:off x="2548890" y="3013710"/>
              <a:ext cx="1163002" cy="1159193"/>
            </a:xfrm>
            <a:custGeom>
              <a:avLst/>
              <a:gdLst/>
              <a:ahLst/>
              <a:cxnLst/>
              <a:rect l="l" t="t" r="r" b="b"/>
              <a:pathLst>
                <a:path w="1163002" h="1159193">
                  <a:moveTo>
                    <a:pt x="1161097" y="561023"/>
                  </a:moveTo>
                  <a:lnTo>
                    <a:pt x="1158240" y="521970"/>
                  </a:lnTo>
                  <a:lnTo>
                    <a:pt x="1152525" y="467678"/>
                  </a:lnTo>
                  <a:lnTo>
                    <a:pt x="1137285" y="410528"/>
                  </a:lnTo>
                  <a:lnTo>
                    <a:pt x="1116330" y="356235"/>
                  </a:lnTo>
                  <a:lnTo>
                    <a:pt x="1095375" y="306705"/>
                  </a:lnTo>
                  <a:lnTo>
                    <a:pt x="1064895" y="257175"/>
                  </a:lnTo>
                  <a:lnTo>
                    <a:pt x="1027747" y="211455"/>
                  </a:lnTo>
                  <a:lnTo>
                    <a:pt x="991552" y="170498"/>
                  </a:lnTo>
                  <a:lnTo>
                    <a:pt x="950595" y="132398"/>
                  </a:lnTo>
                  <a:lnTo>
                    <a:pt x="902970" y="100012"/>
                  </a:lnTo>
                  <a:lnTo>
                    <a:pt x="856297" y="70485"/>
                  </a:lnTo>
                  <a:lnTo>
                    <a:pt x="804862" y="45720"/>
                  </a:lnTo>
                  <a:lnTo>
                    <a:pt x="747712" y="24765"/>
                  </a:lnTo>
                  <a:lnTo>
                    <a:pt x="695325" y="12383"/>
                  </a:lnTo>
                  <a:lnTo>
                    <a:pt x="638175" y="4762"/>
                  </a:lnTo>
                  <a:lnTo>
                    <a:pt x="581025" y="0"/>
                  </a:lnTo>
                  <a:lnTo>
                    <a:pt x="523875" y="4762"/>
                  </a:lnTo>
                  <a:lnTo>
                    <a:pt x="466725" y="12383"/>
                  </a:lnTo>
                  <a:lnTo>
                    <a:pt x="415290" y="24765"/>
                  </a:lnTo>
                  <a:lnTo>
                    <a:pt x="358140" y="45720"/>
                  </a:lnTo>
                  <a:lnTo>
                    <a:pt x="305752" y="70485"/>
                  </a:lnTo>
                  <a:lnTo>
                    <a:pt x="259080" y="100012"/>
                  </a:lnTo>
                  <a:lnTo>
                    <a:pt x="212407" y="132398"/>
                  </a:lnTo>
                  <a:lnTo>
                    <a:pt x="171450" y="170498"/>
                  </a:lnTo>
                  <a:lnTo>
                    <a:pt x="134302" y="211455"/>
                  </a:lnTo>
                  <a:lnTo>
                    <a:pt x="98107" y="257175"/>
                  </a:lnTo>
                  <a:lnTo>
                    <a:pt x="67627" y="306705"/>
                  </a:lnTo>
                  <a:lnTo>
                    <a:pt x="46672" y="356235"/>
                  </a:lnTo>
                  <a:lnTo>
                    <a:pt x="25717" y="410528"/>
                  </a:lnTo>
                  <a:lnTo>
                    <a:pt x="10477" y="467678"/>
                  </a:lnTo>
                  <a:lnTo>
                    <a:pt x="4762" y="521970"/>
                  </a:lnTo>
                  <a:lnTo>
                    <a:pt x="0" y="580073"/>
                  </a:lnTo>
                  <a:lnTo>
                    <a:pt x="4762" y="638175"/>
                  </a:lnTo>
                  <a:lnTo>
                    <a:pt x="10477" y="691515"/>
                  </a:lnTo>
                  <a:lnTo>
                    <a:pt x="25717" y="749618"/>
                  </a:lnTo>
                  <a:lnTo>
                    <a:pt x="46672" y="802958"/>
                  </a:lnTo>
                  <a:lnTo>
                    <a:pt x="67627" y="852488"/>
                  </a:lnTo>
                  <a:lnTo>
                    <a:pt x="98107" y="902970"/>
                  </a:lnTo>
                  <a:lnTo>
                    <a:pt x="134302" y="947738"/>
                  </a:lnTo>
                  <a:lnTo>
                    <a:pt x="171450" y="989648"/>
                  </a:lnTo>
                  <a:lnTo>
                    <a:pt x="212407" y="1026795"/>
                  </a:lnTo>
                  <a:lnTo>
                    <a:pt x="259080" y="1060132"/>
                  </a:lnTo>
                  <a:lnTo>
                    <a:pt x="305752" y="1088708"/>
                  </a:lnTo>
                  <a:lnTo>
                    <a:pt x="358140" y="1113473"/>
                  </a:lnTo>
                  <a:lnTo>
                    <a:pt x="415290" y="1134428"/>
                  </a:lnTo>
                  <a:lnTo>
                    <a:pt x="466725" y="1146810"/>
                  </a:lnTo>
                  <a:lnTo>
                    <a:pt x="523875" y="1155382"/>
                  </a:lnTo>
                  <a:lnTo>
                    <a:pt x="581025" y="1159193"/>
                  </a:lnTo>
                  <a:lnTo>
                    <a:pt x="638175" y="1155382"/>
                  </a:lnTo>
                  <a:lnTo>
                    <a:pt x="695325" y="1146810"/>
                  </a:lnTo>
                  <a:lnTo>
                    <a:pt x="747712" y="1134428"/>
                  </a:lnTo>
                  <a:lnTo>
                    <a:pt x="804862" y="1113473"/>
                  </a:lnTo>
                  <a:lnTo>
                    <a:pt x="856297" y="1088708"/>
                  </a:lnTo>
                  <a:lnTo>
                    <a:pt x="902970" y="1060132"/>
                  </a:lnTo>
                  <a:lnTo>
                    <a:pt x="950595" y="1026795"/>
                  </a:lnTo>
                  <a:lnTo>
                    <a:pt x="991552" y="989648"/>
                  </a:lnTo>
                  <a:lnTo>
                    <a:pt x="1027747" y="947738"/>
                  </a:lnTo>
                  <a:lnTo>
                    <a:pt x="1064895" y="902970"/>
                  </a:lnTo>
                  <a:lnTo>
                    <a:pt x="1095375" y="852488"/>
                  </a:lnTo>
                  <a:lnTo>
                    <a:pt x="1116330" y="802958"/>
                  </a:lnTo>
                  <a:lnTo>
                    <a:pt x="1137285" y="749618"/>
                  </a:lnTo>
                  <a:lnTo>
                    <a:pt x="1152525" y="691515"/>
                  </a:lnTo>
                  <a:lnTo>
                    <a:pt x="1158240" y="638175"/>
                  </a:lnTo>
                  <a:lnTo>
                    <a:pt x="1163002" y="580073"/>
                  </a:lnTo>
                  <a:lnTo>
                    <a:pt x="1158240" y="521970"/>
                  </a:lnTo>
                  <a:lnTo>
                    <a:pt x="1154430" y="486728"/>
                  </a:lnTo>
                </a:path>
              </a:pathLst>
            </a:custGeom>
            <a:noFill/>
            <a:ln w="19050">
              <a:solidFill>
                <a:srgbClr val="2F4B9A"/>
              </a:solidFill>
              <a:custDash>
                <a:ds d="300000" sp="200000"/>
              </a:custDash>
            </a:ln>
          </p:spPr>
        </p:sp>
        <p:sp>
          <p:nvSpPr>
            <p:cNvPr id="8" name="Freeform 8"/>
            <p:cNvSpPr/>
            <p:nvPr/>
          </p:nvSpPr>
          <p:spPr>
            <a:xfrm>
              <a:off x="2257425" y="2720340"/>
              <a:ext cx="1744980" cy="1746885"/>
            </a:xfrm>
            <a:custGeom>
              <a:avLst/>
              <a:gdLst/>
              <a:ahLst/>
              <a:cxnLst/>
              <a:rect l="l" t="t" r="r" b="b"/>
              <a:pathLst>
                <a:path w="1744980" h="1746885">
                  <a:moveTo>
                    <a:pt x="1744980" y="854392"/>
                  </a:moveTo>
                  <a:lnTo>
                    <a:pt x="1744980" y="785812"/>
                  </a:lnTo>
                  <a:lnTo>
                    <a:pt x="1729740" y="703897"/>
                  </a:lnTo>
                  <a:lnTo>
                    <a:pt x="1708785" y="621030"/>
                  </a:lnTo>
                  <a:lnTo>
                    <a:pt x="1683068" y="538162"/>
                  </a:lnTo>
                  <a:lnTo>
                    <a:pt x="1646872" y="463867"/>
                  </a:lnTo>
                  <a:lnTo>
                    <a:pt x="1600200" y="388620"/>
                  </a:lnTo>
                  <a:lnTo>
                    <a:pt x="1547812" y="318135"/>
                  </a:lnTo>
                  <a:lnTo>
                    <a:pt x="1490662" y="256222"/>
                  </a:lnTo>
                  <a:lnTo>
                    <a:pt x="1428750" y="198120"/>
                  </a:lnTo>
                  <a:lnTo>
                    <a:pt x="1361122" y="148590"/>
                  </a:lnTo>
                  <a:lnTo>
                    <a:pt x="1283018" y="102870"/>
                  </a:lnTo>
                  <a:lnTo>
                    <a:pt x="1204912" y="65722"/>
                  </a:lnTo>
                  <a:lnTo>
                    <a:pt x="1127760" y="37147"/>
                  </a:lnTo>
                  <a:lnTo>
                    <a:pt x="1043940" y="16192"/>
                  </a:lnTo>
                  <a:lnTo>
                    <a:pt x="961072" y="3810"/>
                  </a:lnTo>
                  <a:lnTo>
                    <a:pt x="872490" y="0"/>
                  </a:lnTo>
                  <a:lnTo>
                    <a:pt x="784860" y="3810"/>
                  </a:lnTo>
                  <a:lnTo>
                    <a:pt x="701040" y="16192"/>
                  </a:lnTo>
                  <a:lnTo>
                    <a:pt x="618172" y="37147"/>
                  </a:lnTo>
                  <a:lnTo>
                    <a:pt x="540067" y="65722"/>
                  </a:lnTo>
                  <a:lnTo>
                    <a:pt x="462915" y="102870"/>
                  </a:lnTo>
                  <a:lnTo>
                    <a:pt x="384810" y="148590"/>
                  </a:lnTo>
                  <a:lnTo>
                    <a:pt x="317183" y="198120"/>
                  </a:lnTo>
                  <a:lnTo>
                    <a:pt x="255270" y="256222"/>
                  </a:lnTo>
                  <a:lnTo>
                    <a:pt x="198120" y="318135"/>
                  </a:lnTo>
                  <a:lnTo>
                    <a:pt x="145733" y="388620"/>
                  </a:lnTo>
                  <a:lnTo>
                    <a:pt x="99060" y="463867"/>
                  </a:lnTo>
                  <a:lnTo>
                    <a:pt x="62865" y="538162"/>
                  </a:lnTo>
                  <a:lnTo>
                    <a:pt x="36195" y="621030"/>
                  </a:lnTo>
                  <a:lnTo>
                    <a:pt x="16192" y="703897"/>
                  </a:lnTo>
                  <a:lnTo>
                    <a:pt x="0" y="785812"/>
                  </a:lnTo>
                  <a:lnTo>
                    <a:pt x="0" y="873442"/>
                  </a:lnTo>
                  <a:lnTo>
                    <a:pt x="0" y="960120"/>
                  </a:lnTo>
                  <a:lnTo>
                    <a:pt x="16192" y="1042988"/>
                  </a:lnTo>
                  <a:lnTo>
                    <a:pt x="36195" y="1125855"/>
                  </a:lnTo>
                  <a:lnTo>
                    <a:pt x="62865" y="1208722"/>
                  </a:lnTo>
                  <a:lnTo>
                    <a:pt x="99060" y="1283018"/>
                  </a:lnTo>
                  <a:lnTo>
                    <a:pt x="145733" y="1357312"/>
                  </a:lnTo>
                  <a:lnTo>
                    <a:pt x="198120" y="1427797"/>
                  </a:lnTo>
                  <a:lnTo>
                    <a:pt x="255270" y="1489710"/>
                  </a:lnTo>
                  <a:lnTo>
                    <a:pt x="317183" y="1547812"/>
                  </a:lnTo>
                  <a:lnTo>
                    <a:pt x="384810" y="1597342"/>
                  </a:lnTo>
                  <a:lnTo>
                    <a:pt x="462915" y="1643062"/>
                  </a:lnTo>
                  <a:lnTo>
                    <a:pt x="540067" y="1680210"/>
                  </a:lnTo>
                  <a:lnTo>
                    <a:pt x="618172" y="1708785"/>
                  </a:lnTo>
                  <a:lnTo>
                    <a:pt x="701040" y="1729740"/>
                  </a:lnTo>
                  <a:lnTo>
                    <a:pt x="784860" y="1742122"/>
                  </a:lnTo>
                  <a:lnTo>
                    <a:pt x="872490" y="1746885"/>
                  </a:lnTo>
                  <a:lnTo>
                    <a:pt x="961072" y="1742122"/>
                  </a:lnTo>
                  <a:lnTo>
                    <a:pt x="1043940" y="1729740"/>
                  </a:lnTo>
                  <a:lnTo>
                    <a:pt x="1127760" y="1708785"/>
                  </a:lnTo>
                  <a:lnTo>
                    <a:pt x="1204912" y="1680210"/>
                  </a:lnTo>
                  <a:lnTo>
                    <a:pt x="1283018" y="1643062"/>
                  </a:lnTo>
                  <a:lnTo>
                    <a:pt x="1361122" y="1597342"/>
                  </a:lnTo>
                  <a:lnTo>
                    <a:pt x="1428750" y="1547812"/>
                  </a:lnTo>
                  <a:lnTo>
                    <a:pt x="1490662" y="1489710"/>
                  </a:lnTo>
                  <a:lnTo>
                    <a:pt x="1547812" y="1427797"/>
                  </a:lnTo>
                  <a:lnTo>
                    <a:pt x="1600200" y="1357312"/>
                  </a:lnTo>
                  <a:lnTo>
                    <a:pt x="1646872" y="1283018"/>
                  </a:lnTo>
                  <a:lnTo>
                    <a:pt x="1683068" y="1208722"/>
                  </a:lnTo>
                  <a:lnTo>
                    <a:pt x="1708785" y="1125855"/>
                  </a:lnTo>
                  <a:lnTo>
                    <a:pt x="1729740" y="1042988"/>
                  </a:lnTo>
                  <a:lnTo>
                    <a:pt x="1744980" y="960120"/>
                  </a:lnTo>
                  <a:lnTo>
                    <a:pt x="1744980" y="873442"/>
                  </a:lnTo>
                  <a:lnTo>
                    <a:pt x="1744980" y="785812"/>
                  </a:lnTo>
                  <a:lnTo>
                    <a:pt x="1733550" y="721995"/>
                  </a:lnTo>
                </a:path>
              </a:pathLst>
            </a:custGeom>
            <a:noFill/>
            <a:ln w="19050">
              <a:solidFill>
                <a:srgbClr val="2F4B9A"/>
              </a:solidFill>
              <a:custDash>
                <a:ds d="300000" sp="200000"/>
              </a:custDash>
            </a:ln>
          </p:spPr>
        </p:sp>
        <p:sp>
          <p:nvSpPr>
            <p:cNvPr id="9" name="Freeform 9"/>
            <p:cNvSpPr/>
            <p:nvPr/>
          </p:nvSpPr>
          <p:spPr>
            <a:xfrm>
              <a:off x="1359218" y="1825942"/>
              <a:ext cx="3542348" cy="3534727"/>
            </a:xfrm>
            <a:custGeom>
              <a:avLst/>
              <a:gdLst/>
              <a:ahLst/>
              <a:cxnLst/>
              <a:rect l="l" t="t" r="r" b="b"/>
              <a:pathLst>
                <a:path w="3542348" h="3534727">
                  <a:moveTo>
                    <a:pt x="3541395" y="1748790"/>
                  </a:moveTo>
                  <a:lnTo>
                    <a:pt x="3531870" y="1593532"/>
                  </a:lnTo>
                  <a:lnTo>
                    <a:pt x="3506152" y="1423988"/>
                  </a:lnTo>
                  <a:lnTo>
                    <a:pt x="3464242" y="1254442"/>
                  </a:lnTo>
                  <a:lnTo>
                    <a:pt x="3407092" y="1092518"/>
                  </a:lnTo>
                  <a:lnTo>
                    <a:pt x="3334702" y="935355"/>
                  </a:lnTo>
                  <a:lnTo>
                    <a:pt x="3246120" y="786765"/>
                  </a:lnTo>
                  <a:lnTo>
                    <a:pt x="3142298" y="645795"/>
                  </a:lnTo>
                  <a:lnTo>
                    <a:pt x="3023235" y="517208"/>
                  </a:lnTo>
                  <a:lnTo>
                    <a:pt x="2892742" y="401955"/>
                  </a:lnTo>
                  <a:lnTo>
                    <a:pt x="2752725" y="298133"/>
                  </a:lnTo>
                  <a:lnTo>
                    <a:pt x="2606992" y="206693"/>
                  </a:lnTo>
                  <a:lnTo>
                    <a:pt x="2446020" y="137160"/>
                  </a:lnTo>
                  <a:lnTo>
                    <a:pt x="2285048" y="74295"/>
                  </a:lnTo>
                  <a:lnTo>
                    <a:pt x="2119312" y="33338"/>
                  </a:lnTo>
                  <a:lnTo>
                    <a:pt x="1942148" y="8573"/>
                  </a:lnTo>
                  <a:lnTo>
                    <a:pt x="1770698" y="0"/>
                  </a:lnTo>
                  <a:lnTo>
                    <a:pt x="1599248" y="8573"/>
                  </a:lnTo>
                  <a:lnTo>
                    <a:pt x="1423035" y="33338"/>
                  </a:lnTo>
                  <a:lnTo>
                    <a:pt x="1257300" y="74295"/>
                  </a:lnTo>
                  <a:lnTo>
                    <a:pt x="1096328" y="137160"/>
                  </a:lnTo>
                  <a:lnTo>
                    <a:pt x="934403" y="206693"/>
                  </a:lnTo>
                  <a:lnTo>
                    <a:pt x="789622" y="298133"/>
                  </a:lnTo>
                  <a:lnTo>
                    <a:pt x="649605" y="401955"/>
                  </a:lnTo>
                  <a:lnTo>
                    <a:pt x="519112" y="517208"/>
                  </a:lnTo>
                  <a:lnTo>
                    <a:pt x="400050" y="645795"/>
                  </a:lnTo>
                  <a:lnTo>
                    <a:pt x="296228" y="786765"/>
                  </a:lnTo>
                  <a:lnTo>
                    <a:pt x="207645" y="935355"/>
                  </a:lnTo>
                  <a:lnTo>
                    <a:pt x="135255" y="1092518"/>
                  </a:lnTo>
                  <a:lnTo>
                    <a:pt x="78105" y="1254442"/>
                  </a:lnTo>
                  <a:lnTo>
                    <a:pt x="36195" y="1423988"/>
                  </a:lnTo>
                  <a:lnTo>
                    <a:pt x="10478" y="1593532"/>
                  </a:lnTo>
                  <a:lnTo>
                    <a:pt x="0" y="1767840"/>
                  </a:lnTo>
                  <a:lnTo>
                    <a:pt x="10478" y="1941195"/>
                  </a:lnTo>
                  <a:lnTo>
                    <a:pt x="36195" y="2110740"/>
                  </a:lnTo>
                  <a:lnTo>
                    <a:pt x="78105" y="2281238"/>
                  </a:lnTo>
                  <a:lnTo>
                    <a:pt x="135255" y="2442210"/>
                  </a:lnTo>
                  <a:lnTo>
                    <a:pt x="207645" y="2599373"/>
                  </a:lnTo>
                  <a:lnTo>
                    <a:pt x="296228" y="2748915"/>
                  </a:lnTo>
                  <a:lnTo>
                    <a:pt x="400050" y="2888932"/>
                  </a:lnTo>
                  <a:lnTo>
                    <a:pt x="519112" y="3017520"/>
                  </a:lnTo>
                  <a:lnTo>
                    <a:pt x="649605" y="3133725"/>
                  </a:lnTo>
                  <a:lnTo>
                    <a:pt x="789622" y="3236595"/>
                  </a:lnTo>
                  <a:lnTo>
                    <a:pt x="934403" y="3328035"/>
                  </a:lnTo>
                  <a:lnTo>
                    <a:pt x="1096328" y="3398520"/>
                  </a:lnTo>
                  <a:lnTo>
                    <a:pt x="1257300" y="3460432"/>
                  </a:lnTo>
                  <a:lnTo>
                    <a:pt x="1423035" y="3501390"/>
                  </a:lnTo>
                  <a:lnTo>
                    <a:pt x="1599248" y="3526155"/>
                  </a:lnTo>
                  <a:lnTo>
                    <a:pt x="1770698" y="3534727"/>
                  </a:lnTo>
                  <a:lnTo>
                    <a:pt x="1942148" y="3526155"/>
                  </a:lnTo>
                  <a:lnTo>
                    <a:pt x="2119312" y="3501390"/>
                  </a:lnTo>
                  <a:lnTo>
                    <a:pt x="2285048" y="3460432"/>
                  </a:lnTo>
                  <a:lnTo>
                    <a:pt x="2446020" y="3398520"/>
                  </a:lnTo>
                  <a:lnTo>
                    <a:pt x="2606992" y="3328035"/>
                  </a:lnTo>
                  <a:lnTo>
                    <a:pt x="2752725" y="3236595"/>
                  </a:lnTo>
                  <a:lnTo>
                    <a:pt x="2892742" y="3133725"/>
                  </a:lnTo>
                  <a:lnTo>
                    <a:pt x="3023235" y="3017520"/>
                  </a:lnTo>
                  <a:lnTo>
                    <a:pt x="3142298" y="2888932"/>
                  </a:lnTo>
                  <a:lnTo>
                    <a:pt x="3246120" y="2748915"/>
                  </a:lnTo>
                  <a:lnTo>
                    <a:pt x="3334702" y="2599373"/>
                  </a:lnTo>
                  <a:lnTo>
                    <a:pt x="3407092" y="2442210"/>
                  </a:lnTo>
                  <a:lnTo>
                    <a:pt x="3464242" y="2281238"/>
                  </a:lnTo>
                  <a:lnTo>
                    <a:pt x="3506152" y="2110740"/>
                  </a:lnTo>
                  <a:lnTo>
                    <a:pt x="3531870" y="1941195"/>
                  </a:lnTo>
                  <a:lnTo>
                    <a:pt x="3542348" y="1767840"/>
                  </a:lnTo>
                  <a:lnTo>
                    <a:pt x="3531870" y="1593532"/>
                  </a:lnTo>
                  <a:lnTo>
                    <a:pt x="3509010" y="1443038"/>
                  </a:lnTo>
                </a:path>
              </a:pathLst>
            </a:custGeom>
            <a:noFill/>
            <a:ln w="19050">
              <a:solidFill>
                <a:srgbClr val="2F4B9A"/>
              </a:solidFill>
              <a:custDash>
                <a:ds d="300000" sp="200000"/>
              </a:custDash>
            </a:ln>
          </p:spPr>
        </p:sp>
        <p:sp>
          <p:nvSpPr>
            <p:cNvPr id="10" name="Freeform 10"/>
            <p:cNvSpPr/>
            <p:nvPr/>
          </p:nvSpPr>
          <p:spPr>
            <a:xfrm>
              <a:off x="3253740" y="2891790"/>
              <a:ext cx="1573530" cy="650557"/>
            </a:xfrm>
            <a:custGeom>
              <a:avLst/>
              <a:gdLst/>
              <a:ahLst/>
              <a:cxnLst/>
              <a:rect l="l" t="t" r="r" b="b"/>
              <a:pathLst>
                <a:path w="1573530" h="650557">
                  <a:moveTo>
                    <a:pt x="0" y="650557"/>
                  </a:moveTo>
                  <a:lnTo>
                    <a:pt x="1573530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4809172" y="2847975"/>
              <a:ext cx="105728" cy="88583"/>
            </a:xfrm>
            <a:custGeom>
              <a:avLst/>
              <a:gdLst/>
              <a:ahLst/>
              <a:cxnLst/>
              <a:rect l="l" t="t" r="r" b="b"/>
              <a:pathLst>
                <a:path w="105728" h="88583">
                  <a:moveTo>
                    <a:pt x="105728" y="7620"/>
                  </a:moveTo>
                  <a:lnTo>
                    <a:pt x="36195" y="885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3181350" y="1903095"/>
              <a:ext cx="652462" cy="1566862"/>
            </a:xfrm>
            <a:custGeom>
              <a:avLst/>
              <a:gdLst/>
              <a:ahLst/>
              <a:cxnLst/>
              <a:rect l="l" t="t" r="r" b="b"/>
              <a:pathLst>
                <a:path w="652462" h="1566862">
                  <a:moveTo>
                    <a:pt x="0" y="1566862"/>
                  </a:moveTo>
                  <a:lnTo>
                    <a:pt x="652462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789998" y="1814512"/>
              <a:ext cx="88583" cy="106680"/>
            </a:xfrm>
            <a:custGeom>
              <a:avLst/>
              <a:gdLst/>
              <a:ahLst/>
              <a:cxnLst/>
              <a:rect l="l" t="t" r="r" b="b"/>
              <a:pathLst>
                <a:path w="88583" h="106680">
                  <a:moveTo>
                    <a:pt x="80962" y="0"/>
                  </a:moveTo>
                  <a:lnTo>
                    <a:pt x="88583" y="106680"/>
                  </a:lnTo>
                  <a:lnTo>
                    <a:pt x="0" y="69533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2426018" y="1903095"/>
              <a:ext cx="653415" cy="1566862"/>
            </a:xfrm>
            <a:custGeom>
              <a:avLst/>
              <a:gdLst/>
              <a:ahLst/>
              <a:cxnLst/>
              <a:rect l="l" t="t" r="r" b="b"/>
              <a:pathLst>
                <a:path w="653415" h="1566862">
                  <a:moveTo>
                    <a:pt x="653415" y="1566862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2382202" y="1814512"/>
              <a:ext cx="87630" cy="106680"/>
            </a:xfrm>
            <a:custGeom>
              <a:avLst/>
              <a:gdLst/>
              <a:ahLst/>
              <a:cxnLst/>
              <a:rect l="l" t="t" r="r" b="b"/>
              <a:pathLst>
                <a:path w="87630" h="106680">
                  <a:moveTo>
                    <a:pt x="7620" y="0"/>
                  </a:moveTo>
                  <a:lnTo>
                    <a:pt x="87630" y="69533"/>
                  </a:lnTo>
                  <a:lnTo>
                    <a:pt x="0" y="10668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1433512" y="2891790"/>
              <a:ext cx="1573530" cy="650557"/>
            </a:xfrm>
            <a:custGeom>
              <a:avLst/>
              <a:gdLst/>
              <a:ahLst/>
              <a:cxnLst/>
              <a:rect l="l" t="t" r="r" b="b"/>
              <a:pathLst>
                <a:path w="1573530" h="650557">
                  <a:moveTo>
                    <a:pt x="1573530" y="650557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1345882" y="2847975"/>
              <a:ext cx="105727" cy="88583"/>
            </a:xfrm>
            <a:custGeom>
              <a:avLst/>
              <a:gdLst/>
              <a:ahLst/>
              <a:cxnLst/>
              <a:rect l="l" t="t" r="r" b="b"/>
              <a:pathLst>
                <a:path w="105727" h="88583">
                  <a:moveTo>
                    <a:pt x="0" y="7620"/>
                  </a:moveTo>
                  <a:lnTo>
                    <a:pt x="105727" y="0"/>
                  </a:lnTo>
                  <a:lnTo>
                    <a:pt x="69532" y="88583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1433512" y="3644265"/>
              <a:ext cx="1573530" cy="650557"/>
            </a:xfrm>
            <a:custGeom>
              <a:avLst/>
              <a:gdLst/>
              <a:ahLst/>
              <a:cxnLst/>
              <a:rect l="l" t="t" r="r" b="b"/>
              <a:pathLst>
                <a:path w="1573530" h="650557">
                  <a:moveTo>
                    <a:pt x="1573530" y="0"/>
                  </a:moveTo>
                  <a:lnTo>
                    <a:pt x="0" y="650557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1345882" y="4251008"/>
              <a:ext cx="105727" cy="87630"/>
            </a:xfrm>
            <a:custGeom>
              <a:avLst/>
              <a:gdLst/>
              <a:ahLst/>
              <a:cxnLst/>
              <a:rect l="l" t="t" r="r" b="b"/>
              <a:pathLst>
                <a:path w="105727" h="87630">
                  <a:moveTo>
                    <a:pt x="0" y="80010"/>
                  </a:moveTo>
                  <a:lnTo>
                    <a:pt x="69532" y="0"/>
                  </a:lnTo>
                  <a:lnTo>
                    <a:pt x="105727" y="8763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2426018" y="3716655"/>
              <a:ext cx="653415" cy="1567815"/>
            </a:xfrm>
            <a:custGeom>
              <a:avLst/>
              <a:gdLst/>
              <a:ahLst/>
              <a:cxnLst/>
              <a:rect l="l" t="t" r="r" b="b"/>
              <a:pathLst>
                <a:path w="653415" h="1567815">
                  <a:moveTo>
                    <a:pt x="653415" y="0"/>
                  </a:moveTo>
                  <a:lnTo>
                    <a:pt x="0" y="1567815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2382202" y="5266372"/>
              <a:ext cx="87630" cy="105728"/>
            </a:xfrm>
            <a:custGeom>
              <a:avLst/>
              <a:gdLst/>
              <a:ahLst/>
              <a:cxnLst/>
              <a:rect l="l" t="t" r="r" b="b"/>
              <a:pathLst>
                <a:path w="87630" h="105728">
                  <a:moveTo>
                    <a:pt x="7620" y="105728"/>
                  </a:moveTo>
                  <a:lnTo>
                    <a:pt x="0" y="0"/>
                  </a:lnTo>
                  <a:lnTo>
                    <a:pt x="87630" y="36195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3181350" y="3716655"/>
              <a:ext cx="652462" cy="1567815"/>
            </a:xfrm>
            <a:custGeom>
              <a:avLst/>
              <a:gdLst/>
              <a:ahLst/>
              <a:cxnLst/>
              <a:rect l="l" t="t" r="r" b="b"/>
              <a:pathLst>
                <a:path w="652462" h="1567815">
                  <a:moveTo>
                    <a:pt x="0" y="0"/>
                  </a:moveTo>
                  <a:lnTo>
                    <a:pt x="652462" y="1567815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3789998" y="5266372"/>
              <a:ext cx="88583" cy="105728"/>
            </a:xfrm>
            <a:custGeom>
              <a:avLst/>
              <a:gdLst/>
              <a:ahLst/>
              <a:cxnLst/>
              <a:rect l="l" t="t" r="r" b="b"/>
              <a:pathLst>
                <a:path w="88583" h="105728">
                  <a:moveTo>
                    <a:pt x="80962" y="105728"/>
                  </a:moveTo>
                  <a:lnTo>
                    <a:pt x="0" y="36195"/>
                  </a:lnTo>
                  <a:lnTo>
                    <a:pt x="88583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3253740" y="3644265"/>
              <a:ext cx="1573530" cy="650557"/>
            </a:xfrm>
            <a:custGeom>
              <a:avLst/>
              <a:gdLst/>
              <a:ahLst/>
              <a:cxnLst/>
              <a:rect l="l" t="t" r="r" b="b"/>
              <a:pathLst>
                <a:path w="1573530" h="650557">
                  <a:moveTo>
                    <a:pt x="0" y="0"/>
                  </a:moveTo>
                  <a:lnTo>
                    <a:pt x="1573530" y="650557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4809172" y="4251008"/>
              <a:ext cx="105728" cy="87630"/>
            </a:xfrm>
            <a:custGeom>
              <a:avLst/>
              <a:gdLst/>
              <a:ahLst/>
              <a:cxnLst/>
              <a:rect l="l" t="t" r="r" b="b"/>
              <a:pathLst>
                <a:path w="105728" h="87630">
                  <a:moveTo>
                    <a:pt x="105728" y="80010"/>
                  </a:moveTo>
                  <a:lnTo>
                    <a:pt x="0" y="87630"/>
                  </a:lnTo>
                  <a:lnTo>
                    <a:pt x="36195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702368" y="358425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691890" y="347186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3992880" y="358425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3977640" y="341471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4892040" y="358425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4855845" y="324040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3006090" y="3469958"/>
              <a:ext cx="247650" cy="247650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4923472" y="283940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3869055" y="178784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2372678" y="178784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1318260" y="283940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1318260" y="432911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2372678" y="538067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3869055" y="538067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4923472" y="432911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3048774" y="353234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+q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663215" y="5433536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等势面（虚线）</a:t>
              </a:r>
            </a:p>
          </p:txBody>
        </p:sp>
      </p:grpSp>
      <p:grpSp>
        <p:nvGrpSpPr>
          <p:cNvPr id="49" name="c2-card-1"/>
          <p:cNvGrpSpPr/>
          <p:nvPr/>
        </p:nvGrpSpPr>
        <p:grpSpPr>
          <a:xfrm>
            <a:off x="6032182" y="1524000"/>
            <a:ext cx="5626418" cy="952500"/>
            <a:chOff x="6032182" y="1524000"/>
            <a:chExt cx="5626418" cy="952500"/>
          </a:xfrm>
        </p:grpSpPr>
        <p:sp>
          <p:nvSpPr>
            <p:cNvPr id="44" name="Rectangle 44"/>
            <p:cNvSpPr/>
            <p:nvPr/>
          </p:nvSpPr>
          <p:spPr>
            <a:xfrm>
              <a:off x="6032182" y="1524000"/>
              <a:ext cx="5626418" cy="952500"/>
            </a:xfrm>
            <a:prstGeom prst="roundRect">
              <a:avLst>
                <a:gd name="adj" fmla="val 140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041708" y="1657350"/>
              <a:ext cx="47625" cy="68580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262688" y="1716405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50127" y="175069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等势面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255830" y="207264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电势相等的点组成的曲面。</a:t>
              </a:r>
            </a:p>
          </p:txBody>
        </p:sp>
      </p:grpSp>
      <p:grpSp>
        <p:nvGrpSpPr>
          <p:cNvPr id="59" name="c2-bullets-2"/>
          <p:cNvGrpSpPr/>
          <p:nvPr/>
        </p:nvGrpSpPr>
        <p:grpSpPr>
          <a:xfrm>
            <a:off x="6032182" y="2661285"/>
            <a:ext cx="5265611" cy="1155573"/>
            <a:chOff x="6032182" y="2661285"/>
            <a:chExt cx="5265611" cy="1155573"/>
          </a:xfrm>
        </p:grpSpPr>
        <p:sp>
          <p:nvSpPr>
            <p:cNvPr id="50" name="Ellipse 50"/>
            <p:cNvSpPr/>
            <p:nvPr/>
          </p:nvSpPr>
          <p:spPr>
            <a:xfrm>
              <a:off x="6032182" y="2661285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087861" y="269967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312027" y="26736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沿等势面移动电荷，电场力不做功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032182" y="2972752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087861" y="301113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312027" y="2985135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电场线与等势面正交，电场线指向电势降低的方向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032182" y="3284220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087861" y="332260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312027" y="3295650"/>
              <a:ext cx="4985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画等势面时相邻两面的电势差取相等，于是等势面越密的地方场强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越大</a:t>
              </a:r>
            </a:p>
          </p:txBody>
        </p:sp>
      </p:grpSp>
      <p:grpSp>
        <p:nvGrpSpPr>
          <p:cNvPr id="65" name="c2-card-3"/>
          <p:cNvGrpSpPr/>
          <p:nvPr/>
        </p:nvGrpSpPr>
        <p:grpSpPr>
          <a:xfrm>
            <a:off x="6032182" y="3939540"/>
            <a:ext cx="5626418" cy="1724025"/>
            <a:chOff x="6032182" y="3939540"/>
            <a:chExt cx="5626418" cy="1724025"/>
          </a:xfrm>
        </p:grpSpPr>
        <p:sp>
          <p:nvSpPr>
            <p:cNvPr id="60" name="Rectangle 60"/>
            <p:cNvSpPr/>
            <p:nvPr/>
          </p:nvSpPr>
          <p:spPr>
            <a:xfrm>
              <a:off x="6032182" y="3939540"/>
              <a:ext cx="5626418" cy="1724025"/>
            </a:xfrm>
            <a:prstGeom prst="roundRect">
              <a:avLst>
                <a:gd name="adj" fmla="val 77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6041708" y="4072890"/>
              <a:ext cx="47625" cy="145732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262688" y="413194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354128" y="416623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看图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255830" y="4488180"/>
              <a:ext cx="4942904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左图虚线是等势面、实线是电场线。三个等势面按电势差相等来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画，半径依次约为 14、21、43（任意单位）：离点电荷近处 U 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变得快，面就密。疏密只反映 E 的大小，和电势本身的高低无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关。</a:t>
              </a:r>
            </a:p>
          </p:txBody>
        </p:sp>
      </p:grpSp>
      <p:grpSp>
        <p:nvGrpSpPr>
          <p:cNvPr id="72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6" name="Rectangle 66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1040892" y="6023610"/>
              <a:ext cx="81827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导体静电平衡时是等势体，表面是一个等势面，所以导体表面附近的电场线都垂直于表面（4.7 节）。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第4章 静电场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077838" cy="909257"/>
            <a:chOff x="520446" y="342900"/>
            <a:chExt cx="507783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静电场 · 电场强度与电势的关系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07783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场强是电势梯度的负值：E = −∇U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9" name="c1-graph-1"/>
          <p:cNvGrpSpPr/>
          <p:nvPr/>
        </p:nvGrpSpPr>
        <p:grpSpPr>
          <a:xfrm>
            <a:off x="1022032" y="1692592"/>
            <a:ext cx="3432201" cy="3225166"/>
            <a:chOff x="1022032" y="1692592"/>
            <a:chExt cx="3432201" cy="3225166"/>
          </a:xfrm>
        </p:grpSpPr>
        <p:sp>
          <p:nvSpPr>
            <p:cNvPr id="7" name="Freeform 7"/>
            <p:cNvSpPr/>
            <p:nvPr/>
          </p:nvSpPr>
          <p:spPr>
            <a:xfrm>
              <a:off x="2225992" y="1721168"/>
              <a:ext cx="9525" cy="3168015"/>
            </a:xfrm>
            <a:custGeom>
              <a:avLst/>
              <a:gdLst/>
              <a:ahLst/>
              <a:cxnLst/>
              <a:rect l="l" t="t" r="r" b="b"/>
              <a:pathLst>
                <a:path w="9525" h="3168015">
                  <a:moveTo>
                    <a:pt x="0" y="0"/>
                  </a:moveTo>
                  <a:lnTo>
                    <a:pt x="0" y="3168015"/>
                  </a:lnTo>
                </a:path>
              </a:pathLst>
            </a:custGeom>
            <a:noFill/>
            <a:ln w="20955">
              <a:solidFill>
                <a:srgbClr val="2F4B9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818572" y="1721168"/>
              <a:ext cx="9525" cy="3168015"/>
            </a:xfrm>
            <a:custGeom>
              <a:avLst/>
              <a:gdLst/>
              <a:ahLst/>
              <a:cxnLst/>
              <a:rect l="l" t="t" r="r" b="b"/>
              <a:pathLst>
                <a:path w="9525" h="3168015">
                  <a:moveTo>
                    <a:pt x="0" y="0"/>
                  </a:moveTo>
                  <a:lnTo>
                    <a:pt x="0" y="3168015"/>
                  </a:lnTo>
                </a:path>
              </a:pathLst>
            </a:custGeom>
            <a:noFill/>
            <a:ln w="20955">
              <a:solidFill>
                <a:srgbClr val="2F4B9A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2283142" y="3875722"/>
              <a:ext cx="1392555" cy="9525"/>
            </a:xfrm>
            <a:custGeom>
              <a:avLst/>
              <a:gdLst/>
              <a:ahLst/>
              <a:cxnLst/>
              <a:rect l="l" t="t" r="r" b="b"/>
              <a:pathLst>
                <a:path w="1392555" h="9525">
                  <a:moveTo>
                    <a:pt x="0" y="0"/>
                  </a:moveTo>
                  <a:lnTo>
                    <a:pt x="1392555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675698" y="382809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265998" y="2407920"/>
              <a:ext cx="1450657" cy="1427797"/>
            </a:xfrm>
            <a:custGeom>
              <a:avLst/>
              <a:gdLst/>
              <a:ahLst/>
              <a:cxnLst/>
              <a:rect l="l" t="t" r="r" b="b"/>
              <a:pathLst>
                <a:path w="1450657" h="1427797">
                  <a:moveTo>
                    <a:pt x="0" y="1427797"/>
                  </a:moveTo>
                  <a:lnTo>
                    <a:pt x="1450657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683318" y="2341245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5">
                  <a:moveTo>
                    <a:pt x="100965" y="0"/>
                  </a:moveTo>
                  <a:lnTo>
                    <a:pt x="66675" y="100965"/>
                  </a:lnTo>
                  <a:lnTo>
                    <a:pt x="0" y="32385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145858" y="3875722"/>
              <a:ext cx="1022985" cy="9525"/>
            </a:xfrm>
            <a:custGeom>
              <a:avLst/>
              <a:gdLst/>
              <a:ahLst/>
              <a:cxnLst/>
              <a:rect l="l" t="t" r="r" b="b"/>
              <a:pathLst>
                <a:path w="1022985" h="9525">
                  <a:moveTo>
                    <a:pt x="1022985" y="0"/>
                  </a:moveTo>
                  <a:lnTo>
                    <a:pt x="0" y="0"/>
                  </a:lnTo>
                </a:path>
              </a:pathLst>
            </a:custGeom>
            <a:noFill/>
            <a:ln w="24765">
              <a:solidFill>
                <a:srgbClr val="B42318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050608" y="382809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3041332" y="4516755"/>
              <a:ext cx="463867" cy="9525"/>
            </a:xfrm>
            <a:custGeom>
              <a:avLst/>
              <a:gdLst/>
              <a:ahLst/>
              <a:cxnLst/>
              <a:rect l="l" t="t" r="r" b="b"/>
              <a:pathLst>
                <a:path w="463867" h="9525">
                  <a:moveTo>
                    <a:pt x="0" y="0"/>
                  </a:moveTo>
                  <a:lnTo>
                    <a:pt x="463867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505200" y="446913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2216468" y="169259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2216468" y="489870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3809048" y="169259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3809048" y="489870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2178368" y="3828098"/>
              <a:ext cx="95250" cy="952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3780472" y="3837622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3780472" y="2269808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1022032" y="386619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3012758" y="450723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609975" y="450723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2931795" y="3796665"/>
              <a:ext cx="19050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961569" y="382571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dn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943225" y="3009900"/>
              <a:ext cx="16478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973462" y="3038951"/>
              <a:ext cx="10335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dl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935335" y="176688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U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012311" y="1766888"/>
              <a:ext cx="4419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U + dU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027991" y="411861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953504" y="3975735"/>
              <a:ext cx="1282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953504" y="2337435"/>
              <a:ext cx="1282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579932" y="347662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θ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85427" y="3484721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242902" y="4696301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en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formula207"/>
              <p:cNvSpPr txBox="1">
                <a:spLocks noGrp="1"/>
              </p:cNvSpPr>
              <p:nvPr/>
            </p:nvSpPr>
            <p:spPr>
              <a:xfrm>
                <a:off x="533400" y="5261610"/>
                <a:ext cx="4977765" cy="4886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dU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dn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=−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dU</m:t>
                          </m:r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dn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formula208"/>
              <p:cNvSpPr txBox="1">
                <a:spLocks noGrp="1"/>
              </p:cNvSpPr>
              <p:nvPr/>
            </p:nvSpPr>
            <p:spPr>
              <a:xfrm>
                <a:off x="533400" y="5925502"/>
                <a:ext cx="4977765" cy="4371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=−</m:t>
                      </m:r>
                      <m:f>
                        <m:fPr>
                          <m:type m:val="bar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dU</m:t>
                          </m:r>
                        </m:num>
                        <m:den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dl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=−</m:t>
                      </m:r>
                      <m:f>
                        <m:fPr>
                          <m:type m:val="bar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dU</m:t>
                          </m:r>
                        </m:num>
                        <m:den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dn</m:t>
                          </m:r>
                        </m:den>
                      </m:f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cos</m:t>
                          </m:r>
                        </m:fName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e>
                      </m:func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cos</m:t>
                          </m:r>
                        </m:fName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e>
                      </m:func>
                    </m:oMath>
                  </m:oMathPara>
                </a14:m>
              </a:p>
            </p:txBody>
          </p:sp>
        </mc:Choice>
      </mc:AlternateContent>
      <p:grpSp>
        <p:nvGrpSpPr>
          <p:cNvPr id="49" name="c2-card-1"/>
          <p:cNvGrpSpPr/>
          <p:nvPr/>
        </p:nvGrpSpPr>
        <p:grpSpPr>
          <a:xfrm>
            <a:off x="5815965" y="1524000"/>
            <a:ext cx="5842635" cy="1511618"/>
            <a:chOff x="5815965" y="1524000"/>
            <a:chExt cx="5842635" cy="1511618"/>
          </a:xfrm>
        </p:grpSpPr>
        <p:sp>
          <p:nvSpPr>
            <p:cNvPr id="42" name="Rectangle 42"/>
            <p:cNvSpPr/>
            <p:nvPr/>
          </p:nvSpPr>
          <p:spPr>
            <a:xfrm>
              <a:off x="5815965" y="1524000"/>
              <a:ext cx="5842635" cy="1511618"/>
            </a:xfrm>
            <a:prstGeom prst="roundRect">
              <a:avLst>
                <a:gd name="adj" fmla="val 8822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008370" y="171640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091809" y="175069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两个结论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016942" y="2128838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172962" y="2072640"/>
              <a:ext cx="47021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 在任意方向 l 上的分量，等于电势沿该方向变化率的负值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016942" y="2431732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172962" y="2375535"/>
              <a:ext cx="496004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法线方向的 dn 最短，电势变化率最大，所以 E 的方向是电势降低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最快的方向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formula209"/>
              <p:cNvSpPr txBox="1">
                <a:spLocks noGrp="1"/>
              </p:cNvSpPr>
              <p:nvPr/>
            </p:nvSpPr>
            <p:spPr>
              <a:xfrm>
                <a:off x="5815965" y="3210878"/>
                <a:ext cx="5842635" cy="4371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=−</m:t>
                      </m:r>
                      <m:f>
                        <m:fPr>
                          <m:type m:val="bar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∂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∂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sSub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=−</m:t>
                      </m:r>
                      <m:f>
                        <m:fPr>
                          <m:type m:val="bar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∂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∂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sSub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z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=−</m:t>
                      </m:r>
                      <m:f>
                        <m:fPr>
                          <m:type m:val="bar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∂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∂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z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formula210"/>
              <p:cNvSpPr txBox="1">
                <a:spLocks noGrp="1"/>
              </p:cNvSpPr>
              <p:nvPr/>
            </p:nvSpPr>
            <p:spPr>
              <a:xfrm>
                <a:off x="5815965" y="3823335"/>
                <a:ext cx="5842635" cy="411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⃗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=−∇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U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=−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type m:val="bar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∂</m:t>
                              </m:r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U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∂</m:t>
                              </m:r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den>
                          </m:f>
                          <m:acc>
                            <m:accPr>
                              <m:chr m:val="⃗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f>
                            <m:fPr>
                              <m:type m:val="bar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∂</m:t>
                              </m:r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U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∂</m:t>
                              </m:r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</m:den>
                          </m:f>
                          <m:acc>
                            <m:accPr>
                              <m:chr m:val="⃗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f>
                            <m:fPr>
                              <m:type m:val="bar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∂</m:t>
                              </m:r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U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∂</m:t>
                              </m:r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z</m:t>
                              </m:r>
                            </m:den>
                          </m:f>
                          <m:acc>
                            <m:accPr>
                              <m:chr m:val="⃗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accPr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e>
                          </m:acc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formula211"/>
              <p:cNvSpPr txBox="1">
                <a:spLocks noGrp="1"/>
              </p:cNvSpPr>
              <p:nvPr/>
            </p:nvSpPr>
            <p:spPr>
              <a:xfrm>
                <a:off x="5815965" y="4410075"/>
                <a:ext cx="5842635" cy="3857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⃗"/>
                          <m:ctrl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</m:acc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=−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type m:val="bar"/>
                              <m:ctrlP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∂</m:t>
                              </m:r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U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∂</m:t>
                              </m:r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den>
                          </m:f>
                          <m:sSub>
                            <m:e>
                              <m:acc>
                                <m:accPr>
                                  <m:chr m:val="⃗"/>
                                  <m:ctrlP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e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f>
                            <m:fPr>
                              <m:type m:val="bar"/>
                              <m:ctrlP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den>
                          </m:f>
                          <m:f>
                            <m:fPr>
                              <m:type m:val="bar"/>
                              <m:ctrlP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∂</m:t>
                              </m:r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U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∂</m:t>
                              </m:r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θ</m:t>
                              </m:r>
                            </m:den>
                          </m:f>
                          <m:sSub>
                            <m:e>
                              <m:acc>
                                <m:accPr>
                                  <m:chr m:val="⃗"/>
                                  <m:ctrlP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e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θ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f>
                            <m:fPr>
                              <m:type m:val="bar"/>
                              <m:ctrlP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  <m:func>
                                <m:funcPr/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θ</m:t>
                                  </m:r>
                                </m:e>
                              </m:func>
                            </m:den>
                          </m:f>
                          <m:f>
                            <m:fPr>
                              <m:type m:val="bar"/>
                              <m:ctrlP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∂</m:t>
                              </m:r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U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∂</m:t>
                              </m:r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φ</m:t>
                              </m:r>
                            </m:den>
                          </m:f>
                          <m:sSub>
                            <m:e>
                              <m:acc>
                                <m:accPr>
                                  <m:chr m:val="⃗"/>
                                  <m:ctrlP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e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φ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58" name="c2-card-5"/>
          <p:cNvGrpSpPr/>
          <p:nvPr/>
        </p:nvGrpSpPr>
        <p:grpSpPr>
          <a:xfrm>
            <a:off x="5815965" y="4971098"/>
            <a:ext cx="5842635" cy="1209675"/>
            <a:chOff x="5815965" y="4971098"/>
            <a:chExt cx="5842635" cy="1209675"/>
          </a:xfrm>
        </p:grpSpPr>
        <p:sp>
          <p:nvSpPr>
            <p:cNvPr id="53" name="Rectangle 53"/>
            <p:cNvSpPr/>
            <p:nvPr/>
          </p:nvSpPr>
          <p:spPr>
            <a:xfrm>
              <a:off x="5815965" y="4971098"/>
              <a:ext cx="5842635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5825490" y="5104448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046470" y="516350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137910" y="519779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039612" y="5519738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原课件球坐标式漏了整体的负号，应如上式；直角坐标分量写成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dU/dx，U 是多元函数，应为偏导 ∂U/∂x。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第4章 静电场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19517" cy="909257"/>
            <a:chOff x="520446" y="342900"/>
            <a:chExt cx="641951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静电场 · 电场强度与电势的关系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1951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例4.17 先求电势再求导：圆环轴线的场强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4977765" cy="1471612"/>
            <a:chOff x="533400" y="1524000"/>
            <a:chExt cx="4977765" cy="147161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471612"/>
            </a:xfrm>
            <a:prstGeom prst="roundRect">
              <a:avLst>
                <a:gd name="adj" fmla="val 90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0491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17154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99722" y="1737836"/>
              <a:ext cx="16219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E 与 U 的数值没有直接关系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62000" y="209740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17448" y="2045494"/>
              <a:ext cx="37624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 = 0 处 E 不一定为 0：等量异号电荷连线的中点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62000" y="238220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17448" y="2330291"/>
              <a:ext cx="37624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= 0 处 U 不一定为 0：等量同号电荷连线的中点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2000" y="266795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17448" y="2615089"/>
              <a:ext cx="31341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的大小只看 U 沿场强方向减少得有多快</a:t>
              </a:r>
            </a:p>
          </p:txBody>
        </p:sp>
      </p:grpSp>
      <p:grpSp>
        <p:nvGrpSpPr>
          <p:cNvPr id="37" name="c1-graph-2"/>
          <p:cNvGrpSpPr/>
          <p:nvPr/>
        </p:nvGrpSpPr>
        <p:grpSpPr>
          <a:xfrm>
            <a:off x="1296352" y="3641408"/>
            <a:ext cx="2854643" cy="1904999"/>
            <a:chOff x="1296352" y="3641408"/>
            <a:chExt cx="2854643" cy="1904999"/>
          </a:xfrm>
        </p:grpSpPr>
        <p:sp>
          <p:nvSpPr>
            <p:cNvPr id="18" name="Freeform 18"/>
            <p:cNvSpPr/>
            <p:nvPr/>
          </p:nvSpPr>
          <p:spPr>
            <a:xfrm>
              <a:off x="1572578" y="3774758"/>
              <a:ext cx="1093470" cy="9525"/>
            </a:xfrm>
            <a:custGeom>
              <a:avLst/>
              <a:gdLst/>
              <a:ahLst/>
              <a:cxnLst/>
              <a:rect l="l" t="t" r="r" b="b"/>
              <a:pathLst>
                <a:path w="1093470" h="9525">
                  <a:moveTo>
                    <a:pt x="0" y="0"/>
                  </a:moveTo>
                  <a:lnTo>
                    <a:pt x="109347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2780348" y="3774758"/>
              <a:ext cx="1094423" cy="9525"/>
            </a:xfrm>
            <a:custGeom>
              <a:avLst/>
              <a:gdLst/>
              <a:ahLst/>
              <a:cxnLst/>
              <a:rect l="l" t="t" r="r" b="b"/>
              <a:pathLst>
                <a:path w="1094423" h="9525">
                  <a:moveTo>
                    <a:pt x="0" y="0"/>
                  </a:moveTo>
                  <a:lnTo>
                    <a:pt x="1094423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2780348" y="3774758"/>
              <a:ext cx="525780" cy="9525"/>
            </a:xfrm>
            <a:custGeom>
              <a:avLst/>
              <a:gdLst/>
              <a:ahLst/>
              <a:cxnLst/>
              <a:rect l="l" t="t" r="r" b="b"/>
              <a:pathLst>
                <a:path w="525780" h="9525">
                  <a:moveTo>
                    <a:pt x="0" y="0"/>
                  </a:moveTo>
                  <a:lnTo>
                    <a:pt x="525780" y="0"/>
                  </a:lnTo>
                </a:path>
              </a:pathLst>
            </a:custGeom>
            <a:noFill/>
            <a:ln w="24765">
              <a:solidFill>
                <a:srgbClr val="B42318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3306128" y="372713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1572578" y="5005388"/>
              <a:ext cx="1093470" cy="9525"/>
            </a:xfrm>
            <a:custGeom>
              <a:avLst/>
              <a:gdLst/>
              <a:ahLst/>
              <a:cxnLst/>
              <a:rect l="l" t="t" r="r" b="b"/>
              <a:pathLst>
                <a:path w="1093470" h="9525">
                  <a:moveTo>
                    <a:pt x="0" y="0"/>
                  </a:moveTo>
                  <a:lnTo>
                    <a:pt x="109347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2780348" y="5005388"/>
              <a:ext cx="1094423" cy="9525"/>
            </a:xfrm>
            <a:custGeom>
              <a:avLst/>
              <a:gdLst/>
              <a:ahLst/>
              <a:cxnLst/>
              <a:rect l="l" t="t" r="r" b="b"/>
              <a:pathLst>
                <a:path w="1094423" h="9525">
                  <a:moveTo>
                    <a:pt x="0" y="0"/>
                  </a:moveTo>
                  <a:lnTo>
                    <a:pt x="1094423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1296352" y="3641408"/>
              <a:ext cx="266700" cy="266700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884295" y="3641408"/>
              <a:ext cx="266700" cy="266700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2675572" y="3727132"/>
              <a:ext cx="95250" cy="952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410902" y="376523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1296352" y="4872038"/>
              <a:ext cx="266700" cy="266700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3884295" y="4872038"/>
              <a:ext cx="266700" cy="266700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2675572" y="4957762"/>
              <a:ext cx="95250" cy="952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354971" y="371951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+q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942914" y="371951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−q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354971" y="494919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+q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942914" y="494919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+q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188083" y="4139565"/>
              <a:ext cx="107022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中点：U = 0，E ≠ 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188083" y="5370195"/>
              <a:ext cx="107022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中点：U ≠ 0，E = 0</a:t>
              </a:r>
            </a:p>
          </p:txBody>
        </p:sp>
      </p:grpSp>
      <p:grpSp>
        <p:nvGrpSpPr>
          <p:cNvPr id="44" name="c2-card-1"/>
          <p:cNvGrpSpPr/>
          <p:nvPr/>
        </p:nvGrpSpPr>
        <p:grpSpPr>
          <a:xfrm>
            <a:off x="5815965" y="1524000"/>
            <a:ext cx="5842635" cy="1428750"/>
            <a:chOff x="5815965" y="1524000"/>
            <a:chExt cx="5842635" cy="1428750"/>
          </a:xfrm>
        </p:grpSpPr>
        <p:sp>
          <p:nvSpPr>
            <p:cNvPr id="38" name="Rectangle 38"/>
            <p:cNvSpPr/>
            <p:nvPr/>
          </p:nvSpPr>
          <p:spPr>
            <a:xfrm>
              <a:off x="5815965" y="1524000"/>
              <a:ext cx="5842635" cy="1428750"/>
            </a:xfrm>
            <a:prstGeom prst="roundRect">
              <a:avLst>
                <a:gd name="adj" fmla="val 933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825490" y="1657350"/>
              <a:ext cx="47625" cy="11620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035040" y="1704975"/>
              <a:ext cx="62198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122262" y="1737836"/>
              <a:ext cx="4465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例4.17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028563" y="2045494"/>
              <a:ext cx="474345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圆环半径 R、电量 q，由例4.15，轴线上 U = q/[4πε₀√(R² +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x²)]。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028563" y="2573179"/>
              <a:ext cx="18248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轴线上 P 点的场强。</a:t>
              </a:r>
            </a:p>
          </p:txBody>
        </p:sp>
      </p:grpSp>
      <p:grpSp>
        <p:nvGrpSpPr>
          <p:cNvPr id="54" name="c2-steps-2"/>
          <p:cNvGrpSpPr/>
          <p:nvPr/>
        </p:nvGrpSpPr>
        <p:grpSpPr>
          <a:xfrm>
            <a:off x="5815965" y="3127058"/>
            <a:ext cx="3463214" cy="1043559"/>
            <a:chOff x="5815965" y="3127058"/>
            <a:chExt cx="3463214" cy="1043559"/>
          </a:xfrm>
        </p:grpSpPr>
        <p:sp>
          <p:nvSpPr>
            <p:cNvPr id="45" name="Rectangle 45"/>
            <p:cNvSpPr/>
            <p:nvPr/>
          </p:nvSpPr>
          <p:spPr>
            <a:xfrm>
              <a:off x="5949315" y="3269932"/>
              <a:ext cx="19050" cy="55340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5815965" y="312705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909589" y="32008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5815965" y="368046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909589" y="37542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228588" y="3158014"/>
              <a:ext cx="9102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x 求偏导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229731" y="3412808"/>
              <a:ext cx="30494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 = −∂U/∂x = qx/[4πε₀(R² + x²)√(R² + x²)]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228588" y="371141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另外两个分量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229731" y="3965258"/>
              <a:ext cx="22324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由对称性 Ey = Ez = 0，所以 E = Ex</a:t>
              </a:r>
            </a:p>
          </p:txBody>
        </p:sp>
      </p:grpSp>
      <p:grpSp>
        <p:nvGrpSpPr>
          <p:cNvPr id="59" name="c2-card-3"/>
          <p:cNvGrpSpPr/>
          <p:nvPr/>
        </p:nvGrpSpPr>
        <p:grpSpPr>
          <a:xfrm>
            <a:off x="5815965" y="4332922"/>
            <a:ext cx="5842635" cy="1143952"/>
            <a:chOff x="5815965" y="4332922"/>
            <a:chExt cx="5842635" cy="1143952"/>
          </a:xfrm>
        </p:grpSpPr>
        <p:sp>
          <p:nvSpPr>
            <p:cNvPr id="55" name="Rectangle 55"/>
            <p:cNvSpPr/>
            <p:nvPr/>
          </p:nvSpPr>
          <p:spPr>
            <a:xfrm>
              <a:off x="5815965" y="4332922"/>
              <a:ext cx="5842635" cy="1143952"/>
            </a:xfrm>
            <a:prstGeom prst="roundRect">
              <a:avLst>
                <a:gd name="adj" fmla="val 11657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5996940" y="4513898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092711" y="454675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990463" y="4853464"/>
              <a:ext cx="522300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 = qx/[4πε₀(R² + x²)√(R² + x²)]，沿轴线，与例4.4 直接做矢量积分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的结果相同。电势是标量，先求 U 再求导，常比直接积分场强省事。</a:t>
              </a:r>
            </a:p>
          </p:txBody>
        </p:sp>
      </p:grpSp>
      <p:grpSp>
        <p:nvGrpSpPr>
          <p:cNvPr id="66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0" name="Rectangle 60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1041273" y="6039326"/>
              <a:ext cx="89793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这里的 U 只是轴线上的值，求导只能得到沿轴的分量 Ex；Ey = Ez = 0 靠的是对称性，并不是由这个 U(x) 求出来的。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第4章 静电场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235008" cy="3351847"/>
            <a:chOff x="667512" y="1835468"/>
            <a:chExt cx="6235008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第七部分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静电场中的导体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2251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对应原课件 4.7，导体里有自由电子，平衡后有一套固定的结论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静电平衡条件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电荷只分布在表面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曲率与面密度、静电屏蔽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3374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例4.19 导体球与同心球壳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第4章 静电场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76127" cy="909257"/>
            <a:chOff x="520446" y="342900"/>
            <a:chExt cx="717612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静电场 · 静电场中的导体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7612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静电平衡：导体内部 E = 0，整个导体是等势体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250632"/>
            <a:chOff x="533400" y="1524000"/>
            <a:chExt cx="5410200" cy="12506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50632"/>
            </a:xfrm>
            <a:prstGeom prst="roundRect">
              <a:avLst>
                <a:gd name="adj" fmla="val 106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8393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058" y="175641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静电平衡状态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导体放进静电场后发生静电感应，自由电子重新分布；当导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体中不再有电荷的宏观移动时，就达到了静电平衡。</a:t>
              </a:r>
            </a:p>
          </p:txBody>
        </p:sp>
      </p:grpSp>
      <p:grpSp>
        <p:nvGrpSpPr>
          <p:cNvPr id="28" name="c1-table-2"/>
          <p:cNvGrpSpPr/>
          <p:nvPr/>
        </p:nvGrpSpPr>
        <p:grpSpPr>
          <a:xfrm>
            <a:off x="533400" y="2955608"/>
            <a:ext cx="5410200" cy="1273492"/>
            <a:chOff x="533400" y="2955608"/>
            <a:chExt cx="5410200" cy="1273492"/>
          </a:xfrm>
        </p:grpSpPr>
        <p:sp>
          <p:nvSpPr>
            <p:cNvPr id="13" name="Rectangle 13"/>
            <p:cNvSpPr/>
            <p:nvPr/>
          </p:nvSpPr>
          <p:spPr>
            <a:xfrm>
              <a:off x="533400" y="2955608"/>
              <a:ext cx="5410200" cy="42481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06780" y="308324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位置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259330" y="308324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条件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23410" y="308324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原因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5889" y="3508057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导体内部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717929" y="3508057"/>
              <a:ext cx="3962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= 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340989" y="3508057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否则自由电子会继续移动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379952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3804285"/>
              <a:ext cx="5410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5889" y="393287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导体表面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717929" y="3932872"/>
              <a:ext cx="9649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垂直于表面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340989" y="3932872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若有切向分量，电荷会沿表面移动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2955608"/>
              <a:ext cx="5410200" cy="127349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1610678" y="2955608"/>
              <a:ext cx="9525" cy="12734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3233738" y="2955608"/>
              <a:ext cx="9525" cy="12734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3" name="c1-card-3"/>
          <p:cNvGrpSpPr/>
          <p:nvPr/>
        </p:nvGrpSpPr>
        <p:grpSpPr>
          <a:xfrm>
            <a:off x="533400" y="4409122"/>
            <a:ext cx="5410200" cy="1250632"/>
            <a:chOff x="533400" y="4409122"/>
            <a:chExt cx="5410200" cy="1250632"/>
          </a:xfrm>
        </p:grpSpPr>
        <p:sp>
          <p:nvSpPr>
            <p:cNvPr id="29" name="Rectangle 29"/>
            <p:cNvSpPr/>
            <p:nvPr/>
          </p:nvSpPr>
          <p:spPr>
            <a:xfrm>
              <a:off x="533400" y="4409122"/>
              <a:ext cx="5410200" cy="1250632"/>
            </a:xfrm>
            <a:prstGeom prst="roundRect">
              <a:avLst>
                <a:gd name="adj" fmla="val 10663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31520" y="460724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22960" y="464153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推论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24281" y="4967764"/>
              <a:ext cx="461314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导体内部和表面上任意两点之间 ∫E·dl = 0，所以导体是等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势体，表面是等势面。</a:t>
              </a:r>
            </a:p>
          </p:txBody>
        </p:sp>
      </p:grpSp>
      <p:grpSp>
        <p:nvGrpSpPr>
          <p:cNvPr id="74" name="c2-graph-1"/>
          <p:cNvGrpSpPr/>
          <p:nvPr/>
        </p:nvGrpSpPr>
        <p:grpSpPr>
          <a:xfrm>
            <a:off x="6400800" y="1801654"/>
            <a:ext cx="5105400" cy="2375725"/>
            <a:chOff x="6400800" y="1801654"/>
            <a:chExt cx="5105400" cy="2375725"/>
          </a:xfrm>
        </p:grpSpPr>
        <p:sp>
          <p:nvSpPr>
            <p:cNvPr id="34" name="Freeform 34"/>
            <p:cNvSpPr/>
            <p:nvPr/>
          </p:nvSpPr>
          <p:spPr>
            <a:xfrm>
              <a:off x="7890510" y="2015490"/>
              <a:ext cx="2145030" cy="1748790"/>
            </a:xfrm>
            <a:custGeom>
              <a:avLst/>
              <a:gdLst/>
              <a:ahLst/>
              <a:cxnLst/>
              <a:rect l="l" t="t" r="r" b="b"/>
              <a:pathLst>
                <a:path w="2145030" h="1748790">
                  <a:moveTo>
                    <a:pt x="0" y="0"/>
                  </a:moveTo>
                  <a:lnTo>
                    <a:pt x="2145030" y="0"/>
                  </a:lnTo>
                  <a:lnTo>
                    <a:pt x="2145030" y="1748790"/>
                  </a:lnTo>
                  <a:lnTo>
                    <a:pt x="0" y="1748790"/>
                  </a:lnTo>
                </a:path>
              </a:pathLst>
            </a:custGeom>
            <a:noFill/>
            <a:ln w="24765">
              <a:solidFill>
                <a:srgbClr val="2F4B9A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7871460" y="2048828"/>
              <a:ext cx="9525" cy="1696402"/>
            </a:xfrm>
            <a:custGeom>
              <a:avLst/>
              <a:gdLst/>
              <a:ahLst/>
              <a:cxnLst/>
              <a:rect l="l" t="t" r="r" b="b"/>
              <a:pathLst>
                <a:path w="9525" h="1696402">
                  <a:moveTo>
                    <a:pt x="0" y="1696402"/>
                  </a:moveTo>
                  <a:lnTo>
                    <a:pt x="0" y="0"/>
                  </a:lnTo>
                </a:path>
              </a:pathLst>
            </a:custGeom>
            <a:noFill/>
            <a:ln w="24765">
              <a:solidFill>
                <a:srgbClr val="2F4B9A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6429375" y="2398395"/>
              <a:ext cx="1165860" cy="9525"/>
            </a:xfrm>
            <a:custGeom>
              <a:avLst/>
              <a:gdLst/>
              <a:ahLst/>
              <a:cxnLst/>
              <a:rect l="l" t="t" r="r" b="b"/>
              <a:pathLst>
                <a:path w="1165860" h="9525">
                  <a:moveTo>
                    <a:pt x="0" y="0"/>
                  </a:moveTo>
                  <a:lnTo>
                    <a:pt x="1165860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7595235" y="235077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6429375" y="2889885"/>
              <a:ext cx="1165860" cy="9525"/>
            </a:xfrm>
            <a:custGeom>
              <a:avLst/>
              <a:gdLst/>
              <a:ahLst/>
              <a:cxnLst/>
              <a:rect l="l" t="t" r="r" b="b"/>
              <a:pathLst>
                <a:path w="1165860" h="9525">
                  <a:moveTo>
                    <a:pt x="0" y="0"/>
                  </a:moveTo>
                  <a:lnTo>
                    <a:pt x="1165860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7595235" y="284226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6429375" y="3382328"/>
              <a:ext cx="1165860" cy="9525"/>
            </a:xfrm>
            <a:custGeom>
              <a:avLst/>
              <a:gdLst/>
              <a:ahLst/>
              <a:cxnLst/>
              <a:rect l="l" t="t" r="r" b="b"/>
              <a:pathLst>
                <a:path w="1165860" h="9525">
                  <a:moveTo>
                    <a:pt x="0" y="0"/>
                  </a:moveTo>
                  <a:lnTo>
                    <a:pt x="1165860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7595235" y="333470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10216515" y="2398395"/>
              <a:ext cx="1165860" cy="9525"/>
            </a:xfrm>
            <a:custGeom>
              <a:avLst/>
              <a:gdLst/>
              <a:ahLst/>
              <a:cxnLst/>
              <a:rect l="l" t="t" r="r" b="b"/>
              <a:pathLst>
                <a:path w="1165860" h="9525">
                  <a:moveTo>
                    <a:pt x="0" y="0"/>
                  </a:moveTo>
                  <a:lnTo>
                    <a:pt x="1165860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11382375" y="235077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10216515" y="2889885"/>
              <a:ext cx="1165860" cy="9525"/>
            </a:xfrm>
            <a:custGeom>
              <a:avLst/>
              <a:gdLst/>
              <a:ahLst/>
              <a:cxnLst/>
              <a:rect l="l" t="t" r="r" b="b"/>
              <a:pathLst>
                <a:path w="1165860" h="9525">
                  <a:moveTo>
                    <a:pt x="0" y="0"/>
                  </a:moveTo>
                  <a:lnTo>
                    <a:pt x="1165860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11382375" y="284226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10216515" y="3382328"/>
              <a:ext cx="1165860" cy="9525"/>
            </a:xfrm>
            <a:custGeom>
              <a:avLst/>
              <a:gdLst/>
              <a:ahLst/>
              <a:cxnLst/>
              <a:rect l="l" t="t" r="r" b="b"/>
              <a:pathLst>
                <a:path w="1165860" h="9525">
                  <a:moveTo>
                    <a:pt x="0" y="0"/>
                  </a:moveTo>
                  <a:lnTo>
                    <a:pt x="1165860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11382375" y="333470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7861935" y="200596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10026015" y="200596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10026015" y="375475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7861935" y="375475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7861935" y="202025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6400800" y="238887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7700010" y="238887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6400800" y="288036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" name="Ellipse 56"/>
            <p:cNvSpPr/>
            <p:nvPr/>
          </p:nvSpPr>
          <p:spPr>
            <a:xfrm>
              <a:off x="7700010" y="288036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" name="Ellipse 57"/>
            <p:cNvSpPr/>
            <p:nvPr/>
          </p:nvSpPr>
          <p:spPr>
            <a:xfrm>
              <a:off x="6400800" y="337280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7700010" y="337280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9" name="Ellipse 59"/>
            <p:cNvSpPr/>
            <p:nvPr/>
          </p:nvSpPr>
          <p:spPr>
            <a:xfrm>
              <a:off x="10187940" y="238887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0" name="Ellipse 60"/>
            <p:cNvSpPr/>
            <p:nvPr/>
          </p:nvSpPr>
          <p:spPr>
            <a:xfrm>
              <a:off x="11487150" y="238887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1" name="Ellipse 61"/>
            <p:cNvSpPr/>
            <p:nvPr/>
          </p:nvSpPr>
          <p:spPr>
            <a:xfrm>
              <a:off x="10187940" y="288036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2" name="Ellipse 62"/>
            <p:cNvSpPr/>
            <p:nvPr/>
          </p:nvSpPr>
          <p:spPr>
            <a:xfrm>
              <a:off x="11487150" y="288036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3" name="Ellipse 63"/>
            <p:cNvSpPr/>
            <p:nvPr/>
          </p:nvSpPr>
          <p:spPr>
            <a:xfrm>
              <a:off x="10187940" y="337280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4" name="Ellipse 64"/>
            <p:cNvSpPr/>
            <p:nvPr/>
          </p:nvSpPr>
          <p:spPr>
            <a:xfrm>
              <a:off x="11487150" y="337280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047931" y="234219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047931" y="283464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047931" y="332613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779576" y="234219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779576" y="283464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779576" y="332613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724587" y="2839879"/>
              <a:ext cx="4578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E内 = 0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771180" y="1801654"/>
              <a:ext cx="4689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外场 E₀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222945" y="3986689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感应电荷分布在两侧表面</a:t>
              </a:r>
            </a:p>
          </p:txBody>
        </p:sp>
      </p:grpSp>
      <p:grpSp>
        <p:nvGrpSpPr>
          <p:cNvPr id="80" name="c2-card-2"/>
          <p:cNvGrpSpPr/>
          <p:nvPr/>
        </p:nvGrpSpPr>
        <p:grpSpPr>
          <a:xfrm>
            <a:off x="6248400" y="4436745"/>
            <a:ext cx="5410200" cy="1250632"/>
            <a:chOff x="6248400" y="4436745"/>
            <a:chExt cx="5410200" cy="1250632"/>
          </a:xfrm>
        </p:grpSpPr>
        <p:sp>
          <p:nvSpPr>
            <p:cNvPr id="75" name="Rectangle 75"/>
            <p:cNvSpPr/>
            <p:nvPr/>
          </p:nvSpPr>
          <p:spPr>
            <a:xfrm>
              <a:off x="6248400" y="4436745"/>
              <a:ext cx="5410200" cy="1250632"/>
            </a:xfrm>
            <a:prstGeom prst="roundRect">
              <a:avLst>
                <a:gd name="adj" fmla="val 106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6257925" y="4570095"/>
              <a:ext cx="47625" cy="9839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6484620" y="4634865"/>
              <a:ext cx="12763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552057" y="4669155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为什么内部场为零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477381" y="4995386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感应电荷的场在导体内部恰好抵消外场。外场一变，感应电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荷会自动重新分布，直到内部 E 重新为零。</a:t>
              </a:r>
            </a:p>
          </p:txBody>
        </p:sp>
      </p:grpSp>
      <p:grpSp>
        <p:nvGrpSpPr>
          <p:cNvPr id="87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81" name="Rectangle 81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85" name="Group 85"/>
            <p:cNvGrpSpPr/>
            <p:nvPr/>
          </p:nvGrpSpPr>
          <p:grpSpPr>
            <a:xfrm>
              <a:off x="726129" y="6007536"/>
              <a:ext cx="224134" cy="192560"/>
              <a:chOff x="726129" y="6007536"/>
              <a:chExt cx="224134" cy="192560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838200" y="607790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726129" y="600753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838200" y="615569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86" name="TextBox 86"/>
            <p:cNvSpPr txBox="1"/>
            <p:nvPr/>
          </p:nvSpPr>
          <p:spPr>
            <a:xfrm>
              <a:off x="1040511" y="6011704"/>
              <a:ext cx="73896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E内 = 0 说的是合场强为零；外面电荷的场照样穿进导体，只是被感应电荷的场抵消了。</a:t>
              </a:r>
            </a:p>
          </p:txBody>
        </p:sp>
      </p:grpSp>
      <p:grpSp>
        <p:nvGrpSpPr>
          <p:cNvPr id="9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8" name="TextBox 88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第4章 静电场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静电场 · 静电场中的导体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导体上的电荷只分布在表面，空腔导体要分情况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977765" cy="1777365"/>
            <a:chOff x="533400" y="1524000"/>
            <a:chExt cx="4977765" cy="17773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777365"/>
            </a:xfrm>
            <a:prstGeom prst="roundRect">
              <a:avLst>
                <a:gd name="adj" fmla="val 750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1066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43426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静电平衡时导体内部没有净电荷，电荷只能分布在导体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表面上。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9239" y="2688907"/>
              <a:ext cx="43632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证明：在导体内部任取闭合面，面上 E = 0，通量为零，面内净电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荷为零；这个面可以任意小，所以内部处处没有净电荷。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3486150"/>
            <a:ext cx="4977765" cy="1703070"/>
            <a:chOff x="533400" y="3486150"/>
            <a:chExt cx="4977765" cy="1703070"/>
          </a:xfrm>
        </p:grpSpPr>
        <p:sp>
          <p:nvSpPr>
            <p:cNvPr id="14" name="Rectangle 14"/>
            <p:cNvSpPr/>
            <p:nvPr/>
          </p:nvSpPr>
          <p:spPr>
            <a:xfrm>
              <a:off x="533400" y="3486150"/>
              <a:ext cx="4977765" cy="1703070"/>
            </a:xfrm>
            <a:prstGeom prst="roundRect">
              <a:avLst>
                <a:gd name="adj" fmla="val 78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619500"/>
              <a:ext cx="47625" cy="143637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75335" y="368998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57644" y="372570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做题习惯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8096" y="4062889"/>
              <a:ext cx="434263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求导体组的电势，先把每个表面的电荷定下来（内表面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感应、外表面补足、接地的表面看电势条件），再把每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层表面当成均匀带电球面叠加。</a:t>
              </a:r>
            </a:p>
          </p:txBody>
        </p:sp>
      </p:grpSp>
      <p:grpSp>
        <p:nvGrpSpPr>
          <p:cNvPr id="34" name="c2-table-1"/>
          <p:cNvGrpSpPr/>
          <p:nvPr/>
        </p:nvGrpSpPr>
        <p:grpSpPr>
          <a:xfrm>
            <a:off x="5815965" y="1524000"/>
            <a:ext cx="5842635" cy="1933575"/>
            <a:chOff x="5815965" y="1524000"/>
            <a:chExt cx="5842635" cy="1933575"/>
          </a:xfrm>
        </p:grpSpPr>
        <p:sp>
          <p:nvSpPr>
            <p:cNvPr id="20" name="Rectangle 20"/>
            <p:cNvSpPr/>
            <p:nvPr/>
          </p:nvSpPr>
          <p:spPr>
            <a:xfrm>
              <a:off x="5815965" y="1524000"/>
              <a:ext cx="5842635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82728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情形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938641" y="165544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电荷分布与腔内的场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921312" y="208502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实心导体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91069" y="208502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全部在外表面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815965" y="237934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815965" y="2384108"/>
              <a:ext cx="584263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921312" y="2515552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空腔导体，腔内无电荷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791069" y="2515552"/>
              <a:ext cx="31936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全部在外表面；内表面没有电荷，腔内 E = 0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815965" y="280987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921312" y="2946082"/>
              <a:ext cx="15361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空腔导体，腔内有电荷</a:t>
              </a:r>
              <a:br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791069" y="2946082"/>
              <a:ext cx="339547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内表面感应 −q；外表面带 Q + q（Q 为导体原有电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量）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815965" y="1524000"/>
              <a:ext cx="5842635" cy="19335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7680960" y="1524000"/>
              <a:ext cx="9525" cy="19335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9" name="c2-card-2"/>
          <p:cNvGrpSpPr/>
          <p:nvPr/>
        </p:nvGrpSpPr>
        <p:grpSpPr>
          <a:xfrm>
            <a:off x="5815965" y="3643312"/>
            <a:ext cx="5842635" cy="1545908"/>
            <a:chOff x="5815965" y="3643312"/>
            <a:chExt cx="5842635" cy="1545908"/>
          </a:xfrm>
        </p:grpSpPr>
        <p:sp>
          <p:nvSpPr>
            <p:cNvPr id="35" name="Rectangle 35"/>
            <p:cNvSpPr/>
            <p:nvPr/>
          </p:nvSpPr>
          <p:spPr>
            <a:xfrm>
              <a:off x="5815965" y="3643312"/>
              <a:ext cx="5842635" cy="1545908"/>
            </a:xfrm>
            <a:prstGeom prst="roundRect">
              <a:avLst>
                <a:gd name="adj" fmla="val 8626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019800" y="3847148"/>
              <a:ext cx="2201228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058802" y="3882866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腔内有电荷时怎么定内表面电荷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012561" y="4220051"/>
              <a:ext cx="5163185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在导体内部取一个包住空腔的高斯面：面上 E = 0，面内总电荷必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为零，所以内表面电荷为 −q。再由电荷守恒，外表面电量为 Q +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q。</a:t>
              </a:r>
            </a:p>
          </p:txBody>
        </p:sp>
      </p:grpSp>
      <p:grpSp>
        <p:nvGrpSpPr>
          <p:cNvPr id="46" name="takeaway"/>
          <p:cNvGrpSpPr/>
          <p:nvPr/>
        </p:nvGrpSpPr>
        <p:grpSpPr>
          <a:xfrm>
            <a:off x="533400" y="5606415"/>
            <a:ext cx="11125200" cy="756285"/>
            <a:chOff x="533400" y="5606415"/>
            <a:chExt cx="11125200" cy="756285"/>
          </a:xfrm>
        </p:grpSpPr>
        <p:sp>
          <p:nvSpPr>
            <p:cNvPr id="40" name="Rectangle 40"/>
            <p:cNvSpPr/>
            <p:nvPr/>
          </p:nvSpPr>
          <p:spPr>
            <a:xfrm>
              <a:off x="533400" y="5606415"/>
              <a:ext cx="11125200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38188" y="5884545"/>
              <a:ext cx="200026" cy="200026"/>
              <a:chOff x="738188" y="5884545"/>
              <a:chExt cx="200026" cy="200026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38188" y="588454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38200" y="59512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27088" y="598455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040511" y="5753576"/>
              <a:ext cx="9942195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内表面的 −q 分布一般不均匀（取决于 q 在腔内的位置），外表面的 Q + q 在孤立球形导体上却是均匀的，与腔内 q 的位置无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第4章 静电场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404118" cy="909257"/>
            <a:chOff x="520446" y="342900"/>
            <a:chExt cx="74041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静电场 · 静电场中的导体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4041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表面曲率越大电荷越密，表面附近场强 E = σ/ε₀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9" name="c1-graph-1"/>
          <p:cNvGrpSpPr/>
          <p:nvPr/>
        </p:nvGrpSpPr>
        <p:grpSpPr>
          <a:xfrm>
            <a:off x="715328" y="1794510"/>
            <a:ext cx="4469788" cy="2007489"/>
            <a:chOff x="715328" y="1794510"/>
            <a:chExt cx="4469788" cy="2007489"/>
          </a:xfrm>
        </p:grpSpPr>
        <p:sp>
          <p:nvSpPr>
            <p:cNvPr id="7" name="Freeform 7"/>
            <p:cNvSpPr/>
            <p:nvPr/>
          </p:nvSpPr>
          <p:spPr>
            <a:xfrm>
              <a:off x="715328" y="1794510"/>
              <a:ext cx="1713548" cy="1712595"/>
            </a:xfrm>
            <a:custGeom>
              <a:avLst/>
              <a:gdLst/>
              <a:ahLst/>
              <a:cxnLst/>
              <a:rect l="l" t="t" r="r" b="b"/>
              <a:pathLst>
                <a:path w="1713548" h="1712595">
                  <a:moveTo>
                    <a:pt x="1712595" y="837248"/>
                  </a:moveTo>
                  <a:lnTo>
                    <a:pt x="1708785" y="759143"/>
                  </a:lnTo>
                  <a:lnTo>
                    <a:pt x="1692593" y="664845"/>
                  </a:lnTo>
                  <a:lnTo>
                    <a:pt x="1666875" y="572452"/>
                  </a:lnTo>
                  <a:lnTo>
                    <a:pt x="1630680" y="484823"/>
                  </a:lnTo>
                  <a:lnTo>
                    <a:pt x="1584008" y="401002"/>
                  </a:lnTo>
                  <a:lnTo>
                    <a:pt x="1526858" y="321945"/>
                  </a:lnTo>
                  <a:lnTo>
                    <a:pt x="1464945" y="250507"/>
                  </a:lnTo>
                  <a:lnTo>
                    <a:pt x="1391602" y="186690"/>
                  </a:lnTo>
                  <a:lnTo>
                    <a:pt x="1313498" y="130492"/>
                  </a:lnTo>
                  <a:lnTo>
                    <a:pt x="1230630" y="85725"/>
                  </a:lnTo>
                  <a:lnTo>
                    <a:pt x="1142048" y="47625"/>
                  </a:lnTo>
                  <a:lnTo>
                    <a:pt x="1048702" y="22860"/>
                  </a:lnTo>
                  <a:lnTo>
                    <a:pt x="950595" y="4762"/>
                  </a:lnTo>
                  <a:lnTo>
                    <a:pt x="857250" y="0"/>
                  </a:lnTo>
                  <a:lnTo>
                    <a:pt x="762952" y="4762"/>
                  </a:lnTo>
                  <a:lnTo>
                    <a:pt x="664845" y="22860"/>
                  </a:lnTo>
                  <a:lnTo>
                    <a:pt x="571500" y="47625"/>
                  </a:lnTo>
                  <a:lnTo>
                    <a:pt x="482918" y="85725"/>
                  </a:lnTo>
                  <a:lnTo>
                    <a:pt x="400050" y="130492"/>
                  </a:lnTo>
                  <a:lnTo>
                    <a:pt x="321945" y="186690"/>
                  </a:lnTo>
                  <a:lnTo>
                    <a:pt x="249555" y="250507"/>
                  </a:lnTo>
                  <a:lnTo>
                    <a:pt x="186690" y="321945"/>
                  </a:lnTo>
                  <a:lnTo>
                    <a:pt x="129540" y="401002"/>
                  </a:lnTo>
                  <a:lnTo>
                    <a:pt x="82868" y="484823"/>
                  </a:lnTo>
                  <a:lnTo>
                    <a:pt x="46673" y="572452"/>
                  </a:lnTo>
                  <a:lnTo>
                    <a:pt x="20955" y="664845"/>
                  </a:lnTo>
                  <a:lnTo>
                    <a:pt x="4762" y="759143"/>
                  </a:lnTo>
                  <a:lnTo>
                    <a:pt x="0" y="856298"/>
                  </a:lnTo>
                  <a:lnTo>
                    <a:pt x="4762" y="953452"/>
                  </a:lnTo>
                  <a:lnTo>
                    <a:pt x="20955" y="1047750"/>
                  </a:lnTo>
                  <a:lnTo>
                    <a:pt x="46673" y="1140143"/>
                  </a:lnTo>
                  <a:lnTo>
                    <a:pt x="82868" y="1227772"/>
                  </a:lnTo>
                  <a:lnTo>
                    <a:pt x="129540" y="1311593"/>
                  </a:lnTo>
                  <a:lnTo>
                    <a:pt x="186690" y="1390650"/>
                  </a:lnTo>
                  <a:lnTo>
                    <a:pt x="249555" y="1462087"/>
                  </a:lnTo>
                  <a:lnTo>
                    <a:pt x="321945" y="1525905"/>
                  </a:lnTo>
                  <a:lnTo>
                    <a:pt x="400050" y="1582102"/>
                  </a:lnTo>
                  <a:lnTo>
                    <a:pt x="482918" y="1626870"/>
                  </a:lnTo>
                  <a:lnTo>
                    <a:pt x="571500" y="1664970"/>
                  </a:lnTo>
                  <a:lnTo>
                    <a:pt x="664845" y="1689735"/>
                  </a:lnTo>
                  <a:lnTo>
                    <a:pt x="762952" y="1707832"/>
                  </a:lnTo>
                  <a:lnTo>
                    <a:pt x="857250" y="1712595"/>
                  </a:lnTo>
                  <a:lnTo>
                    <a:pt x="950595" y="1707832"/>
                  </a:lnTo>
                  <a:lnTo>
                    <a:pt x="1048702" y="1689735"/>
                  </a:lnTo>
                  <a:lnTo>
                    <a:pt x="1142048" y="1664970"/>
                  </a:lnTo>
                  <a:lnTo>
                    <a:pt x="1230630" y="1626870"/>
                  </a:lnTo>
                  <a:lnTo>
                    <a:pt x="1313498" y="1582102"/>
                  </a:lnTo>
                  <a:lnTo>
                    <a:pt x="1391602" y="1525905"/>
                  </a:lnTo>
                  <a:lnTo>
                    <a:pt x="1464945" y="1462087"/>
                  </a:lnTo>
                  <a:lnTo>
                    <a:pt x="1526858" y="1390650"/>
                  </a:lnTo>
                  <a:lnTo>
                    <a:pt x="1584008" y="1311593"/>
                  </a:lnTo>
                  <a:lnTo>
                    <a:pt x="1630680" y="1227772"/>
                  </a:lnTo>
                  <a:lnTo>
                    <a:pt x="1666875" y="1140143"/>
                  </a:lnTo>
                  <a:lnTo>
                    <a:pt x="1692593" y="1047750"/>
                  </a:lnTo>
                  <a:lnTo>
                    <a:pt x="1708785" y="953452"/>
                  </a:lnTo>
                  <a:lnTo>
                    <a:pt x="1713548" y="856298"/>
                  </a:lnTo>
                  <a:lnTo>
                    <a:pt x="1708785" y="759143"/>
                  </a:lnTo>
                  <a:lnTo>
                    <a:pt x="1696402" y="683895"/>
                  </a:lnTo>
                </a:path>
              </a:pathLst>
            </a:custGeom>
            <a:noFill/>
            <a:ln w="28575">
              <a:solidFill>
                <a:srgbClr val="2F4B9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4325302" y="2289810"/>
              <a:ext cx="726757" cy="721995"/>
            </a:xfrm>
            <a:custGeom>
              <a:avLst/>
              <a:gdLst/>
              <a:ahLst/>
              <a:cxnLst/>
              <a:rect l="l" t="t" r="r" b="b"/>
              <a:pathLst>
                <a:path w="726757" h="721995">
                  <a:moveTo>
                    <a:pt x="723900" y="341948"/>
                  </a:moveTo>
                  <a:lnTo>
                    <a:pt x="721042" y="320040"/>
                  </a:lnTo>
                  <a:lnTo>
                    <a:pt x="716280" y="280035"/>
                  </a:lnTo>
                  <a:lnTo>
                    <a:pt x="705803" y="241935"/>
                  </a:lnTo>
                  <a:lnTo>
                    <a:pt x="690562" y="205740"/>
                  </a:lnTo>
                  <a:lnTo>
                    <a:pt x="669607" y="169545"/>
                  </a:lnTo>
                  <a:lnTo>
                    <a:pt x="643890" y="135255"/>
                  </a:lnTo>
                  <a:lnTo>
                    <a:pt x="617220" y="106680"/>
                  </a:lnTo>
                  <a:lnTo>
                    <a:pt x="586740" y="79057"/>
                  </a:lnTo>
                  <a:lnTo>
                    <a:pt x="555307" y="57150"/>
                  </a:lnTo>
                  <a:lnTo>
                    <a:pt x="519112" y="36195"/>
                  </a:lnTo>
                  <a:lnTo>
                    <a:pt x="482917" y="20955"/>
                  </a:lnTo>
                  <a:lnTo>
                    <a:pt x="441007" y="9525"/>
                  </a:lnTo>
                  <a:lnTo>
                    <a:pt x="404812" y="2857"/>
                  </a:lnTo>
                  <a:lnTo>
                    <a:pt x="362902" y="0"/>
                  </a:lnTo>
                  <a:lnTo>
                    <a:pt x="321945" y="2857"/>
                  </a:lnTo>
                  <a:lnTo>
                    <a:pt x="284797" y="9525"/>
                  </a:lnTo>
                  <a:lnTo>
                    <a:pt x="243840" y="20955"/>
                  </a:lnTo>
                  <a:lnTo>
                    <a:pt x="207645" y="36195"/>
                  </a:lnTo>
                  <a:lnTo>
                    <a:pt x="170497" y="57150"/>
                  </a:lnTo>
                  <a:lnTo>
                    <a:pt x="140017" y="79057"/>
                  </a:lnTo>
                  <a:lnTo>
                    <a:pt x="108585" y="106680"/>
                  </a:lnTo>
                  <a:lnTo>
                    <a:pt x="82867" y="135255"/>
                  </a:lnTo>
                  <a:lnTo>
                    <a:pt x="57150" y="169545"/>
                  </a:lnTo>
                  <a:lnTo>
                    <a:pt x="36195" y="205740"/>
                  </a:lnTo>
                  <a:lnTo>
                    <a:pt x="20002" y="241935"/>
                  </a:lnTo>
                  <a:lnTo>
                    <a:pt x="9525" y="280035"/>
                  </a:lnTo>
                  <a:lnTo>
                    <a:pt x="4762" y="320040"/>
                  </a:lnTo>
                  <a:lnTo>
                    <a:pt x="0" y="360998"/>
                  </a:lnTo>
                  <a:lnTo>
                    <a:pt x="4762" y="401955"/>
                  </a:lnTo>
                  <a:lnTo>
                    <a:pt x="9525" y="441960"/>
                  </a:lnTo>
                  <a:lnTo>
                    <a:pt x="20002" y="480060"/>
                  </a:lnTo>
                  <a:lnTo>
                    <a:pt x="36195" y="516255"/>
                  </a:lnTo>
                  <a:lnTo>
                    <a:pt x="57150" y="552450"/>
                  </a:lnTo>
                  <a:lnTo>
                    <a:pt x="82867" y="586740"/>
                  </a:lnTo>
                  <a:lnTo>
                    <a:pt x="108585" y="615315"/>
                  </a:lnTo>
                  <a:lnTo>
                    <a:pt x="140017" y="642937"/>
                  </a:lnTo>
                  <a:lnTo>
                    <a:pt x="170497" y="664845"/>
                  </a:lnTo>
                  <a:lnTo>
                    <a:pt x="207645" y="685800"/>
                  </a:lnTo>
                  <a:lnTo>
                    <a:pt x="243840" y="701040"/>
                  </a:lnTo>
                  <a:lnTo>
                    <a:pt x="284797" y="712470"/>
                  </a:lnTo>
                  <a:lnTo>
                    <a:pt x="321945" y="719137"/>
                  </a:lnTo>
                  <a:lnTo>
                    <a:pt x="362902" y="721995"/>
                  </a:lnTo>
                  <a:lnTo>
                    <a:pt x="404812" y="719137"/>
                  </a:lnTo>
                  <a:lnTo>
                    <a:pt x="441007" y="712470"/>
                  </a:lnTo>
                  <a:lnTo>
                    <a:pt x="482917" y="701040"/>
                  </a:lnTo>
                  <a:lnTo>
                    <a:pt x="519112" y="685800"/>
                  </a:lnTo>
                  <a:lnTo>
                    <a:pt x="555307" y="664845"/>
                  </a:lnTo>
                  <a:lnTo>
                    <a:pt x="586740" y="642937"/>
                  </a:lnTo>
                  <a:lnTo>
                    <a:pt x="617220" y="615315"/>
                  </a:lnTo>
                  <a:lnTo>
                    <a:pt x="643890" y="586740"/>
                  </a:lnTo>
                  <a:lnTo>
                    <a:pt x="669607" y="552450"/>
                  </a:lnTo>
                  <a:lnTo>
                    <a:pt x="690562" y="516255"/>
                  </a:lnTo>
                  <a:lnTo>
                    <a:pt x="705803" y="480060"/>
                  </a:lnTo>
                  <a:lnTo>
                    <a:pt x="716280" y="441960"/>
                  </a:lnTo>
                  <a:lnTo>
                    <a:pt x="721042" y="401955"/>
                  </a:lnTo>
                  <a:lnTo>
                    <a:pt x="726757" y="360998"/>
                  </a:lnTo>
                  <a:lnTo>
                    <a:pt x="721042" y="320040"/>
                  </a:lnTo>
                  <a:lnTo>
                    <a:pt x="719138" y="299085"/>
                  </a:lnTo>
                </a:path>
              </a:pathLst>
            </a:custGeom>
            <a:noFill/>
            <a:ln w="28575">
              <a:solidFill>
                <a:srgbClr val="2F4B9A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2447925" y="2650808"/>
              <a:ext cx="1858328" cy="9525"/>
            </a:xfrm>
            <a:custGeom>
              <a:avLst/>
              <a:gdLst/>
              <a:ahLst/>
              <a:cxnLst/>
              <a:rect l="l" t="t" r="r" b="b"/>
              <a:pathLst>
                <a:path w="1858328" h="9525">
                  <a:moveTo>
                    <a:pt x="0" y="0"/>
                  </a:moveTo>
                  <a:lnTo>
                    <a:pt x="1858328" y="0"/>
                  </a:lnTo>
                </a:path>
              </a:pathLst>
            </a:custGeom>
            <a:noFill/>
            <a:ln w="20955">
              <a:solidFill>
                <a:srgbClr val="F26B3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591628" y="2007870"/>
              <a:ext cx="354330" cy="609600"/>
            </a:xfrm>
            <a:custGeom>
              <a:avLst/>
              <a:gdLst/>
              <a:ahLst/>
              <a:cxnLst/>
              <a:rect l="l" t="t" r="r" b="b"/>
              <a:pathLst>
                <a:path w="354330" h="609600">
                  <a:moveTo>
                    <a:pt x="0" y="609600"/>
                  </a:moveTo>
                  <a:lnTo>
                    <a:pt x="35433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905000" y="1925955"/>
              <a:ext cx="88583" cy="105728"/>
            </a:xfrm>
            <a:custGeom>
              <a:avLst/>
              <a:gdLst/>
              <a:ahLst/>
              <a:cxnLst/>
              <a:rect l="l" t="t" r="r" b="b"/>
              <a:pathLst>
                <a:path w="88583" h="105728">
                  <a:moveTo>
                    <a:pt x="88583" y="0"/>
                  </a:moveTo>
                  <a:lnTo>
                    <a:pt x="81915" y="105728"/>
                  </a:lnTo>
                  <a:lnTo>
                    <a:pt x="0" y="58103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4707255" y="2436495"/>
              <a:ext cx="105728" cy="180975"/>
            </a:xfrm>
            <a:custGeom>
              <a:avLst/>
              <a:gdLst/>
              <a:ahLst/>
              <a:cxnLst/>
              <a:rect l="l" t="t" r="r" b="b"/>
              <a:pathLst>
                <a:path w="105728" h="180975">
                  <a:moveTo>
                    <a:pt x="0" y="180975"/>
                  </a:moveTo>
                  <a:lnTo>
                    <a:pt x="105728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4772025" y="2353628"/>
              <a:ext cx="88583" cy="106680"/>
            </a:xfrm>
            <a:custGeom>
              <a:avLst/>
              <a:gdLst/>
              <a:ahLst/>
              <a:cxnLst/>
              <a:rect l="l" t="t" r="r" b="b"/>
              <a:pathLst>
                <a:path w="88583" h="106680">
                  <a:moveTo>
                    <a:pt x="88583" y="0"/>
                  </a:moveTo>
                  <a:lnTo>
                    <a:pt x="81915" y="106680"/>
                  </a:lnTo>
                  <a:lnTo>
                    <a:pt x="0" y="5905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2419350" y="264128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2398395" y="244983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5042535" y="264128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5032058" y="256032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2419350" y="264128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4315778" y="264128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544002" y="262223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4659630" y="262223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993582" y="190023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4860608" y="232791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698602" y="2365534"/>
              <a:ext cx="163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021875" y="2049304"/>
              <a:ext cx="163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485613" y="359664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σ₁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01241" y="330327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σ₂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861107" y="236553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细长导线</a:t>
              </a:r>
            </a:p>
          </p:txBody>
        </p:sp>
      </p:grpSp>
      <p:grpSp>
        <p:nvGrpSpPr>
          <p:cNvPr id="39" name="c1-steps-2"/>
          <p:cNvGrpSpPr/>
          <p:nvPr/>
        </p:nvGrpSpPr>
        <p:grpSpPr>
          <a:xfrm>
            <a:off x="533400" y="3962400"/>
            <a:ext cx="4953765" cy="1106329"/>
            <a:chOff x="533400" y="3962400"/>
            <a:chExt cx="4953765" cy="1106329"/>
          </a:xfrm>
        </p:grpSpPr>
        <p:sp>
          <p:nvSpPr>
            <p:cNvPr id="30" name="Rectangle 30"/>
            <p:cNvSpPr/>
            <p:nvPr/>
          </p:nvSpPr>
          <p:spPr>
            <a:xfrm>
              <a:off x="666750" y="4105275"/>
              <a:ext cx="19050" cy="5867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533400" y="396240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27024" y="40362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533400" y="454914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27024" y="46229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45642" y="399383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用导线连成一体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46785" y="4261961"/>
              <a:ext cx="38467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两球相距很远、电势相等：q₁/(4πε₀R₁) = q₂/(4πε₀R₂)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45642" y="458057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面密度之比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46785" y="4848701"/>
              <a:ext cx="45403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σ₁/σ₂ = [q₁/(4πR₁²)]/[q₂/(4πR₂²)] = R₂/R₁，小球的面密度大</a:t>
              </a:r>
            </a:p>
          </p:txBody>
        </p:sp>
      </p:grpSp>
      <p:grpSp>
        <p:nvGrpSpPr>
          <p:cNvPr id="46" name="c2-card-1"/>
          <p:cNvGrpSpPr/>
          <p:nvPr/>
        </p:nvGrpSpPr>
        <p:grpSpPr>
          <a:xfrm>
            <a:off x="6032182" y="1524000"/>
            <a:ext cx="5626418" cy="2472690"/>
            <a:chOff x="6032182" y="1524000"/>
            <a:chExt cx="5626418" cy="2472690"/>
          </a:xfrm>
        </p:grpSpPr>
        <p:sp>
          <p:nvSpPr>
            <p:cNvPr id="40" name="Rectangle 40"/>
            <p:cNvSpPr/>
            <p:nvPr/>
          </p:nvSpPr>
          <p:spPr>
            <a:xfrm>
              <a:off x="6032182" y="1524000"/>
              <a:ext cx="5626418" cy="2472690"/>
            </a:xfrm>
            <a:prstGeom prst="roundRect">
              <a:avLst>
                <a:gd name="adj" fmla="val 5393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224588" y="1716405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296025" y="1750695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表面附近的场强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217730" y="2072640"/>
              <a:ext cx="490004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紧贴表面取一个扁圆柱面：外底面 ΔS₁ 在导体外，内底面 ΔS₂ 在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导体内，侧面 ΔS₃ 与表面垂直。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217730" y="2632710"/>
              <a:ext cx="479717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ΔS₂ 上 E = 0，ΔS₃ 上 E 与法线垂直，只有 ΔS₁ 有通量：DΔS₁ =</a:t>
              </a:r>
              <a:br/>
              <a:r>
                <a:rPr lang="el-GR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σΔS₁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5" name="formula216"/>
                <p:cNvSpPr txBox="1">
                  <a:spLocks noGrp="1"/>
                </p:cNvSpPr>
                <p:nvPr/>
              </p:nvSpPr>
              <p:spPr>
                <a:xfrm>
                  <a:off x="6224588" y="3169920"/>
                  <a:ext cx="5241608" cy="6172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8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σ</m:t>
                            </m:r>
                          </m:num>
                          <m:den>
                            <m:sSub>
                              <m:e>
                                <m: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ε</m:t>
                                </m:r>
                              </m:e>
                              <m:sub>
                                <m:r>
                                  <a:rPr lang="zh-CN" sz="18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52" name="c2-card-2"/>
          <p:cNvGrpSpPr/>
          <p:nvPr/>
        </p:nvGrpSpPr>
        <p:grpSpPr>
          <a:xfrm>
            <a:off x="6032182" y="4171950"/>
            <a:ext cx="5626418" cy="1466850"/>
            <a:chOff x="6032182" y="4171950"/>
            <a:chExt cx="5626418" cy="1466850"/>
          </a:xfrm>
        </p:grpSpPr>
        <p:sp>
          <p:nvSpPr>
            <p:cNvPr id="47" name="Rectangle 47"/>
            <p:cNvSpPr/>
            <p:nvPr/>
          </p:nvSpPr>
          <p:spPr>
            <a:xfrm>
              <a:off x="6032182" y="4171950"/>
              <a:ext cx="5626418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041708" y="4305300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262688" y="436435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346127" y="439864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尖端放电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255830" y="4721542"/>
              <a:ext cx="49857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尖端曲率大，电荷面密度大，附近场强也大，足以使空气电离而放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电。避雷针用的正是这一点；高压设备的电极则要做成光滑的球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面，避免漏电。</a:t>
              </a:r>
            </a:p>
          </p:txBody>
        </p:sp>
      </p:grpSp>
      <p:grpSp>
        <p:nvGrpSpPr>
          <p:cNvPr id="5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3" name="Rectangle 5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26129" y="6014203"/>
              <a:ext cx="224134" cy="192560"/>
              <a:chOff x="726129" y="6014203"/>
              <a:chExt cx="224134" cy="19256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838200" y="60845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726129" y="60142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38200" y="61623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040892" y="6023610"/>
              <a:ext cx="94640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曲率大处 σ 大只是定性规律，σ 并不严格与曲率成正比；两球相连的推导还要求两球相距很远，彼此的感应可以忽略。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第4章 静电场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静电场 · 静电场中的导体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静电屏蔽：空腔导体把腔内外的电场隔开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9" name="c1-image-1"/>
          <p:cNvGrpSpPr/>
          <p:nvPr/>
        </p:nvGrpSpPr>
        <p:grpSpPr>
          <a:xfrm>
            <a:off x="742950" y="1524000"/>
            <a:ext cx="4774882" cy="3880104"/>
            <a:chOff x="742950" y="1524000"/>
            <a:chExt cx="4774882" cy="3880104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rcRect l="5558" t="0" r="5559" b="0"/>
            <a:stretch>
              <a:fillRect/>
            </a:stretch>
          </p:blipFill>
          <p:spPr>
            <a:xfrm>
              <a:off x="742950" y="1524000"/>
              <a:ext cx="4774882" cy="3581400"/>
            </a:xfrm>
            <a:prstGeom prst="roundRect">
              <a:avLst>
                <a:gd name="adj" fmla="val 3723"/>
              </a:avLst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1357694" y="5198745"/>
              <a:ext cx="35444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法拉第笼：电火花打在笼外，笼内验电器的金箔纹丝不动</a:t>
              </a:r>
            </a:p>
          </p:txBody>
        </p:sp>
      </p:grpSp>
      <p:grpSp>
        <p:nvGrpSpPr>
          <p:cNvPr id="15" name="c2-card-1"/>
          <p:cNvGrpSpPr/>
          <p:nvPr/>
        </p:nvGrpSpPr>
        <p:grpSpPr>
          <a:xfrm>
            <a:off x="6032182" y="1524000"/>
            <a:ext cx="5626418" cy="1250632"/>
            <a:chOff x="6032182" y="1524000"/>
            <a:chExt cx="5626418" cy="1250632"/>
          </a:xfrm>
        </p:grpSpPr>
        <p:sp>
          <p:nvSpPr>
            <p:cNvPr id="10" name="Rectangle 10"/>
            <p:cNvSpPr/>
            <p:nvPr/>
          </p:nvSpPr>
          <p:spPr>
            <a:xfrm>
              <a:off x="6032182" y="1524000"/>
              <a:ext cx="5626418" cy="1250632"/>
            </a:xfrm>
            <a:prstGeom prst="roundRect">
              <a:avLst>
                <a:gd name="adj" fmla="val 106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041708" y="1657350"/>
              <a:ext cx="47625" cy="98393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6268402" y="172212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351842" y="17564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屏蔽外场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261164" y="2082641"/>
              <a:ext cx="498284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空腔导体（接地与否都可以）静电平衡后腔内 E = 0，放在腔内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的物体不受外部电场的影响。</a:t>
              </a:r>
            </a:p>
          </p:txBody>
        </p:sp>
      </p:grpSp>
      <p:grpSp>
        <p:nvGrpSpPr>
          <p:cNvPr id="21" name="c2-card-2"/>
          <p:cNvGrpSpPr/>
          <p:nvPr/>
        </p:nvGrpSpPr>
        <p:grpSpPr>
          <a:xfrm>
            <a:off x="6032182" y="2955608"/>
            <a:ext cx="5626418" cy="1250632"/>
            <a:chOff x="6032182" y="2955608"/>
            <a:chExt cx="5626418" cy="1250632"/>
          </a:xfrm>
        </p:grpSpPr>
        <p:sp>
          <p:nvSpPr>
            <p:cNvPr id="16" name="Rectangle 16"/>
            <p:cNvSpPr/>
            <p:nvPr/>
          </p:nvSpPr>
          <p:spPr>
            <a:xfrm>
              <a:off x="6032182" y="2955608"/>
              <a:ext cx="5626418" cy="1250632"/>
            </a:xfrm>
            <a:prstGeom prst="roundRect">
              <a:avLst>
                <a:gd name="adj" fmla="val 106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6041708" y="3088958"/>
              <a:ext cx="47625" cy="98393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6268402" y="3153728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51842" y="318801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屏蔽内场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61164" y="3514249"/>
              <a:ext cx="48836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腔内有电荷 q 时，外表面感应出 q，对外仍有电场。把外壳接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地，外表面电荷流入大地，腔内电荷对外界就不再有影响。</a:t>
              </a:r>
            </a:p>
          </p:txBody>
        </p:sp>
      </p:grpSp>
      <p:grpSp>
        <p:nvGrpSpPr>
          <p:cNvPr id="30" name="c2-card-3"/>
          <p:cNvGrpSpPr/>
          <p:nvPr/>
        </p:nvGrpSpPr>
        <p:grpSpPr>
          <a:xfrm>
            <a:off x="6032182" y="4386262"/>
            <a:ext cx="5626418" cy="1297305"/>
            <a:chOff x="6032182" y="4386262"/>
            <a:chExt cx="5626418" cy="1297305"/>
          </a:xfrm>
        </p:grpSpPr>
        <p:sp>
          <p:nvSpPr>
            <p:cNvPr id="22" name="Rectangle 22"/>
            <p:cNvSpPr/>
            <p:nvPr/>
          </p:nvSpPr>
          <p:spPr>
            <a:xfrm>
              <a:off x="6032182" y="4386262"/>
              <a:ext cx="5626418" cy="1297305"/>
            </a:xfrm>
            <a:prstGeom prst="roundRect">
              <a:avLst>
                <a:gd name="adj" fmla="val 102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041708" y="4519612"/>
              <a:ext cx="47625" cy="10306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68402" y="458438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59842" y="461867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应用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6276022" y="5005388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32614" y="4944904"/>
              <a:ext cx="460232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精密仪器装在金属外壳里，信号线外包一层金属编织网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276022" y="5323522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32614" y="5263039"/>
              <a:ext cx="34553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高压带电作业人员穿金属丝编织的屏蔽服</a:t>
              </a:r>
            </a:p>
          </p:txBody>
        </p:sp>
      </p:grpSp>
      <p:grpSp>
        <p:nvGrpSpPr>
          <p:cNvPr id="37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31" name="Rectangle 31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38188" y="6011228"/>
              <a:ext cx="200026" cy="200026"/>
              <a:chOff x="738188" y="6011228"/>
              <a:chExt cx="200026" cy="200026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38188" y="60112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38200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27088" y="611124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040511" y="6011704"/>
              <a:ext cx="1031982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原课件这一节只有标题，内容据上一页的静电平衡条件补写；两条结论都可以用「导体内 E = 0 + 高斯定理」自己推出来。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第4章 静电场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792641" cy="909257"/>
            <a:chOff x="520446" y="342900"/>
            <a:chExt cx="779264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静电场 · 静电场中的导体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79264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例4.19 导体球与同心球壳：先定电荷，再叠加电势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760595" cy="1743075"/>
            <a:chOff x="533400" y="1524000"/>
            <a:chExt cx="4760595" cy="17430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743075"/>
            </a:xfrm>
            <a:prstGeom prst="roundRect">
              <a:avLst>
                <a:gd name="adj" fmla="val 76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7637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62198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412" y="1743551"/>
              <a:ext cx="4465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例4.19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410279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半径 R₁ 的导体球带电 q；同心导体球壳内、外半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径 R₂、R₃，带电 Q。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1332" y="2612708"/>
              <a:ext cx="398278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(1) 球和壳的电势；(2) 用导线连接后；(3) 不连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接、外壳接地时。</a:t>
              </a:r>
            </a:p>
          </p:txBody>
        </p:sp>
      </p:grpSp>
      <p:grpSp>
        <p:nvGrpSpPr>
          <p:cNvPr id="40" name="c1-graph-2"/>
          <p:cNvGrpSpPr/>
          <p:nvPr/>
        </p:nvGrpSpPr>
        <p:grpSpPr>
          <a:xfrm>
            <a:off x="1323975" y="3617595"/>
            <a:ext cx="3487864" cy="1649730"/>
            <a:chOff x="1323975" y="3617595"/>
            <a:chExt cx="3487864" cy="1649730"/>
          </a:xfrm>
        </p:grpSpPr>
        <p:sp>
          <p:nvSpPr>
            <p:cNvPr id="14" name="Freeform 14"/>
            <p:cNvSpPr/>
            <p:nvPr/>
          </p:nvSpPr>
          <p:spPr>
            <a:xfrm>
              <a:off x="1871662" y="4161472"/>
              <a:ext cx="561022" cy="562928"/>
            </a:xfrm>
            <a:custGeom>
              <a:avLst/>
              <a:gdLst/>
              <a:ahLst/>
              <a:cxnLst/>
              <a:rect l="l" t="t" r="r" b="b"/>
              <a:pathLst>
                <a:path w="561022" h="562928">
                  <a:moveTo>
                    <a:pt x="561022" y="261938"/>
                  </a:moveTo>
                  <a:lnTo>
                    <a:pt x="561022" y="249555"/>
                  </a:lnTo>
                  <a:lnTo>
                    <a:pt x="556260" y="219075"/>
                  </a:lnTo>
                  <a:lnTo>
                    <a:pt x="546735" y="188595"/>
                  </a:lnTo>
                  <a:lnTo>
                    <a:pt x="532448" y="159068"/>
                  </a:lnTo>
                  <a:lnTo>
                    <a:pt x="518160" y="132398"/>
                  </a:lnTo>
                  <a:lnTo>
                    <a:pt x="499110" y="106680"/>
                  </a:lnTo>
                  <a:lnTo>
                    <a:pt x="480060" y="81915"/>
                  </a:lnTo>
                  <a:lnTo>
                    <a:pt x="456248" y="61912"/>
                  </a:lnTo>
                  <a:lnTo>
                    <a:pt x="432435" y="41910"/>
                  </a:lnTo>
                  <a:lnTo>
                    <a:pt x="403860" y="27623"/>
                  </a:lnTo>
                  <a:lnTo>
                    <a:pt x="375285" y="16193"/>
                  </a:lnTo>
                  <a:lnTo>
                    <a:pt x="341948" y="7620"/>
                  </a:lnTo>
                  <a:lnTo>
                    <a:pt x="313373" y="1905"/>
                  </a:lnTo>
                  <a:lnTo>
                    <a:pt x="280035" y="0"/>
                  </a:lnTo>
                  <a:lnTo>
                    <a:pt x="246698" y="1905"/>
                  </a:lnTo>
                  <a:lnTo>
                    <a:pt x="218123" y="7620"/>
                  </a:lnTo>
                  <a:lnTo>
                    <a:pt x="184785" y="16193"/>
                  </a:lnTo>
                  <a:lnTo>
                    <a:pt x="156210" y="27623"/>
                  </a:lnTo>
                  <a:lnTo>
                    <a:pt x="128588" y="41910"/>
                  </a:lnTo>
                  <a:lnTo>
                    <a:pt x="104775" y="61912"/>
                  </a:lnTo>
                  <a:lnTo>
                    <a:pt x="80962" y="81915"/>
                  </a:lnTo>
                  <a:lnTo>
                    <a:pt x="61912" y="106680"/>
                  </a:lnTo>
                  <a:lnTo>
                    <a:pt x="42862" y="132398"/>
                  </a:lnTo>
                  <a:lnTo>
                    <a:pt x="28575" y="159068"/>
                  </a:lnTo>
                  <a:lnTo>
                    <a:pt x="14288" y="188595"/>
                  </a:lnTo>
                  <a:lnTo>
                    <a:pt x="4762" y="219075"/>
                  </a:lnTo>
                  <a:lnTo>
                    <a:pt x="0" y="249555"/>
                  </a:lnTo>
                  <a:lnTo>
                    <a:pt x="0" y="280988"/>
                  </a:lnTo>
                  <a:lnTo>
                    <a:pt x="0" y="313373"/>
                  </a:lnTo>
                  <a:lnTo>
                    <a:pt x="4762" y="343853"/>
                  </a:lnTo>
                  <a:lnTo>
                    <a:pt x="14288" y="374333"/>
                  </a:lnTo>
                  <a:lnTo>
                    <a:pt x="28575" y="403860"/>
                  </a:lnTo>
                  <a:lnTo>
                    <a:pt x="42862" y="430530"/>
                  </a:lnTo>
                  <a:lnTo>
                    <a:pt x="61912" y="456248"/>
                  </a:lnTo>
                  <a:lnTo>
                    <a:pt x="80962" y="480060"/>
                  </a:lnTo>
                  <a:lnTo>
                    <a:pt x="104775" y="501015"/>
                  </a:lnTo>
                  <a:lnTo>
                    <a:pt x="128588" y="521018"/>
                  </a:lnTo>
                  <a:lnTo>
                    <a:pt x="156210" y="535305"/>
                  </a:lnTo>
                  <a:lnTo>
                    <a:pt x="184785" y="546735"/>
                  </a:lnTo>
                  <a:lnTo>
                    <a:pt x="218123" y="555308"/>
                  </a:lnTo>
                  <a:lnTo>
                    <a:pt x="246698" y="561023"/>
                  </a:lnTo>
                  <a:lnTo>
                    <a:pt x="280035" y="562928"/>
                  </a:lnTo>
                  <a:lnTo>
                    <a:pt x="313373" y="561023"/>
                  </a:lnTo>
                  <a:lnTo>
                    <a:pt x="341948" y="555308"/>
                  </a:lnTo>
                  <a:lnTo>
                    <a:pt x="375285" y="546735"/>
                  </a:lnTo>
                  <a:lnTo>
                    <a:pt x="403860" y="535305"/>
                  </a:lnTo>
                  <a:lnTo>
                    <a:pt x="432435" y="521018"/>
                  </a:lnTo>
                  <a:lnTo>
                    <a:pt x="456248" y="501015"/>
                  </a:lnTo>
                  <a:lnTo>
                    <a:pt x="480060" y="480060"/>
                  </a:lnTo>
                  <a:lnTo>
                    <a:pt x="499110" y="456248"/>
                  </a:lnTo>
                  <a:lnTo>
                    <a:pt x="518160" y="430530"/>
                  </a:lnTo>
                  <a:lnTo>
                    <a:pt x="532448" y="403860"/>
                  </a:lnTo>
                  <a:lnTo>
                    <a:pt x="546735" y="374333"/>
                  </a:lnTo>
                  <a:lnTo>
                    <a:pt x="556260" y="343853"/>
                  </a:lnTo>
                  <a:lnTo>
                    <a:pt x="561022" y="313373"/>
                  </a:lnTo>
                  <a:lnTo>
                    <a:pt x="561022" y="280988"/>
                  </a:lnTo>
                  <a:lnTo>
                    <a:pt x="561022" y="249555"/>
                  </a:lnTo>
                  <a:lnTo>
                    <a:pt x="559117" y="238125"/>
                  </a:lnTo>
                </a:path>
              </a:pathLst>
            </a:custGeom>
            <a:noFill/>
            <a:ln w="28575">
              <a:solidFill>
                <a:srgbClr val="2F4B9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566862" y="3859530"/>
              <a:ext cx="1170622" cy="1166813"/>
            </a:xfrm>
            <a:custGeom>
              <a:avLst/>
              <a:gdLst/>
              <a:ahLst/>
              <a:cxnLst/>
              <a:rect l="l" t="t" r="r" b="b"/>
              <a:pathLst>
                <a:path w="1170622" h="1166813">
                  <a:moveTo>
                    <a:pt x="1169670" y="563880"/>
                  </a:moveTo>
                  <a:lnTo>
                    <a:pt x="1165860" y="519112"/>
                  </a:lnTo>
                  <a:lnTo>
                    <a:pt x="1156335" y="452438"/>
                  </a:lnTo>
                  <a:lnTo>
                    <a:pt x="1137285" y="390525"/>
                  </a:lnTo>
                  <a:lnTo>
                    <a:pt x="1113472" y="329565"/>
                  </a:lnTo>
                  <a:lnTo>
                    <a:pt x="1080135" y="273367"/>
                  </a:lnTo>
                  <a:lnTo>
                    <a:pt x="1042035" y="219075"/>
                  </a:lnTo>
                  <a:lnTo>
                    <a:pt x="999172" y="170498"/>
                  </a:lnTo>
                  <a:lnTo>
                    <a:pt x="951547" y="126683"/>
                  </a:lnTo>
                  <a:lnTo>
                    <a:pt x="894397" y="88583"/>
                  </a:lnTo>
                  <a:lnTo>
                    <a:pt x="837248" y="58103"/>
                  </a:lnTo>
                  <a:lnTo>
                    <a:pt x="780098" y="32385"/>
                  </a:lnTo>
                  <a:lnTo>
                    <a:pt x="713422" y="14288"/>
                  </a:lnTo>
                  <a:lnTo>
                    <a:pt x="651510" y="3810"/>
                  </a:lnTo>
                  <a:lnTo>
                    <a:pt x="584835" y="0"/>
                  </a:lnTo>
                  <a:lnTo>
                    <a:pt x="518160" y="3810"/>
                  </a:lnTo>
                  <a:lnTo>
                    <a:pt x="456248" y="14288"/>
                  </a:lnTo>
                  <a:lnTo>
                    <a:pt x="390525" y="32385"/>
                  </a:lnTo>
                  <a:lnTo>
                    <a:pt x="333375" y="58103"/>
                  </a:lnTo>
                  <a:lnTo>
                    <a:pt x="276225" y="88583"/>
                  </a:lnTo>
                  <a:lnTo>
                    <a:pt x="219075" y="126683"/>
                  </a:lnTo>
                  <a:lnTo>
                    <a:pt x="171450" y="170498"/>
                  </a:lnTo>
                  <a:lnTo>
                    <a:pt x="128588" y="219075"/>
                  </a:lnTo>
                  <a:lnTo>
                    <a:pt x="90488" y="273367"/>
                  </a:lnTo>
                  <a:lnTo>
                    <a:pt x="57150" y="329565"/>
                  </a:lnTo>
                  <a:lnTo>
                    <a:pt x="33338" y="390525"/>
                  </a:lnTo>
                  <a:lnTo>
                    <a:pt x="14288" y="452438"/>
                  </a:lnTo>
                  <a:lnTo>
                    <a:pt x="4762" y="519112"/>
                  </a:lnTo>
                  <a:lnTo>
                    <a:pt x="0" y="582930"/>
                  </a:lnTo>
                  <a:lnTo>
                    <a:pt x="4762" y="647700"/>
                  </a:lnTo>
                  <a:lnTo>
                    <a:pt x="14288" y="714375"/>
                  </a:lnTo>
                  <a:lnTo>
                    <a:pt x="33338" y="776288"/>
                  </a:lnTo>
                  <a:lnTo>
                    <a:pt x="57150" y="837248"/>
                  </a:lnTo>
                  <a:lnTo>
                    <a:pt x="90488" y="893445"/>
                  </a:lnTo>
                  <a:lnTo>
                    <a:pt x="128588" y="947738"/>
                  </a:lnTo>
                  <a:lnTo>
                    <a:pt x="171450" y="995362"/>
                  </a:lnTo>
                  <a:lnTo>
                    <a:pt x="219075" y="1040130"/>
                  </a:lnTo>
                  <a:lnTo>
                    <a:pt x="276225" y="1078230"/>
                  </a:lnTo>
                  <a:lnTo>
                    <a:pt x="333375" y="1108710"/>
                  </a:lnTo>
                  <a:lnTo>
                    <a:pt x="390525" y="1134427"/>
                  </a:lnTo>
                  <a:lnTo>
                    <a:pt x="456248" y="1152525"/>
                  </a:lnTo>
                  <a:lnTo>
                    <a:pt x="518160" y="1163002"/>
                  </a:lnTo>
                  <a:lnTo>
                    <a:pt x="584835" y="1166813"/>
                  </a:lnTo>
                  <a:lnTo>
                    <a:pt x="651510" y="1163002"/>
                  </a:lnTo>
                  <a:lnTo>
                    <a:pt x="713422" y="1152525"/>
                  </a:lnTo>
                  <a:lnTo>
                    <a:pt x="780098" y="1134427"/>
                  </a:lnTo>
                  <a:lnTo>
                    <a:pt x="837248" y="1108710"/>
                  </a:lnTo>
                  <a:lnTo>
                    <a:pt x="894397" y="1078230"/>
                  </a:lnTo>
                  <a:lnTo>
                    <a:pt x="951547" y="1040130"/>
                  </a:lnTo>
                  <a:lnTo>
                    <a:pt x="999172" y="995362"/>
                  </a:lnTo>
                  <a:lnTo>
                    <a:pt x="1042035" y="947738"/>
                  </a:lnTo>
                  <a:lnTo>
                    <a:pt x="1080135" y="893445"/>
                  </a:lnTo>
                  <a:lnTo>
                    <a:pt x="1113472" y="837248"/>
                  </a:lnTo>
                  <a:lnTo>
                    <a:pt x="1137285" y="776288"/>
                  </a:lnTo>
                  <a:lnTo>
                    <a:pt x="1156335" y="714375"/>
                  </a:lnTo>
                  <a:lnTo>
                    <a:pt x="1165860" y="647700"/>
                  </a:lnTo>
                  <a:lnTo>
                    <a:pt x="1170622" y="582930"/>
                  </a:lnTo>
                  <a:lnTo>
                    <a:pt x="1165860" y="519112"/>
                  </a:lnTo>
                  <a:lnTo>
                    <a:pt x="1159192" y="471488"/>
                  </a:lnTo>
                </a:path>
              </a:pathLst>
            </a:custGeom>
            <a:noFill/>
            <a:ln w="28575">
              <a:solidFill>
                <a:srgbClr val="F26B3A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323975" y="3617595"/>
              <a:ext cx="1656397" cy="1649730"/>
            </a:xfrm>
            <a:custGeom>
              <a:avLst/>
              <a:gdLst/>
              <a:ahLst/>
              <a:cxnLst/>
              <a:rect l="l" t="t" r="r" b="b"/>
              <a:pathLst>
                <a:path w="1656397" h="1649730">
                  <a:moveTo>
                    <a:pt x="1655445" y="805815"/>
                  </a:moveTo>
                  <a:lnTo>
                    <a:pt x="1651635" y="732472"/>
                  </a:lnTo>
                  <a:lnTo>
                    <a:pt x="1632585" y="641985"/>
                  </a:lnTo>
                  <a:lnTo>
                    <a:pt x="1608772" y="553402"/>
                  </a:lnTo>
                  <a:lnTo>
                    <a:pt x="1570672" y="466725"/>
                  </a:lnTo>
                  <a:lnTo>
                    <a:pt x="1527810" y="386715"/>
                  </a:lnTo>
                  <a:lnTo>
                    <a:pt x="1475422" y="310515"/>
                  </a:lnTo>
                  <a:lnTo>
                    <a:pt x="1413510" y="241935"/>
                  </a:lnTo>
                  <a:lnTo>
                    <a:pt x="1342072" y="179070"/>
                  </a:lnTo>
                  <a:lnTo>
                    <a:pt x="1265872" y="127635"/>
                  </a:lnTo>
                  <a:lnTo>
                    <a:pt x="1184910" y="82867"/>
                  </a:lnTo>
                  <a:lnTo>
                    <a:pt x="1099185" y="46672"/>
                  </a:lnTo>
                  <a:lnTo>
                    <a:pt x="1013460" y="20955"/>
                  </a:lnTo>
                  <a:lnTo>
                    <a:pt x="918210" y="6667"/>
                  </a:lnTo>
                  <a:lnTo>
                    <a:pt x="827722" y="0"/>
                  </a:lnTo>
                  <a:lnTo>
                    <a:pt x="737235" y="6667"/>
                  </a:lnTo>
                  <a:lnTo>
                    <a:pt x="642938" y="20955"/>
                  </a:lnTo>
                  <a:lnTo>
                    <a:pt x="557212" y="46672"/>
                  </a:lnTo>
                  <a:lnTo>
                    <a:pt x="471488" y="82867"/>
                  </a:lnTo>
                  <a:lnTo>
                    <a:pt x="390525" y="127635"/>
                  </a:lnTo>
                  <a:lnTo>
                    <a:pt x="314325" y="179070"/>
                  </a:lnTo>
                  <a:lnTo>
                    <a:pt x="242888" y="241935"/>
                  </a:lnTo>
                  <a:lnTo>
                    <a:pt x="180975" y="310515"/>
                  </a:lnTo>
                  <a:lnTo>
                    <a:pt x="128588" y="386715"/>
                  </a:lnTo>
                  <a:lnTo>
                    <a:pt x="85725" y="466725"/>
                  </a:lnTo>
                  <a:lnTo>
                    <a:pt x="47625" y="553402"/>
                  </a:lnTo>
                  <a:lnTo>
                    <a:pt x="23812" y="641985"/>
                  </a:lnTo>
                  <a:lnTo>
                    <a:pt x="4762" y="732472"/>
                  </a:lnTo>
                  <a:lnTo>
                    <a:pt x="0" y="824865"/>
                  </a:lnTo>
                  <a:lnTo>
                    <a:pt x="4762" y="918210"/>
                  </a:lnTo>
                  <a:lnTo>
                    <a:pt x="23812" y="1008697"/>
                  </a:lnTo>
                  <a:lnTo>
                    <a:pt x="47625" y="1097280"/>
                  </a:lnTo>
                  <a:lnTo>
                    <a:pt x="85725" y="1183005"/>
                  </a:lnTo>
                  <a:lnTo>
                    <a:pt x="128588" y="1263968"/>
                  </a:lnTo>
                  <a:lnTo>
                    <a:pt x="180975" y="1340168"/>
                  </a:lnTo>
                  <a:lnTo>
                    <a:pt x="242888" y="1408748"/>
                  </a:lnTo>
                  <a:lnTo>
                    <a:pt x="314325" y="1470660"/>
                  </a:lnTo>
                  <a:lnTo>
                    <a:pt x="390525" y="1523048"/>
                  </a:lnTo>
                  <a:lnTo>
                    <a:pt x="471488" y="1567815"/>
                  </a:lnTo>
                  <a:lnTo>
                    <a:pt x="557212" y="1604010"/>
                  </a:lnTo>
                  <a:lnTo>
                    <a:pt x="642938" y="1629727"/>
                  </a:lnTo>
                  <a:lnTo>
                    <a:pt x="737235" y="1644015"/>
                  </a:lnTo>
                  <a:lnTo>
                    <a:pt x="827722" y="1649730"/>
                  </a:lnTo>
                  <a:lnTo>
                    <a:pt x="918210" y="1644015"/>
                  </a:lnTo>
                  <a:lnTo>
                    <a:pt x="1013460" y="1629727"/>
                  </a:lnTo>
                  <a:lnTo>
                    <a:pt x="1099185" y="1604010"/>
                  </a:lnTo>
                  <a:lnTo>
                    <a:pt x="1184910" y="1567815"/>
                  </a:lnTo>
                  <a:lnTo>
                    <a:pt x="1265872" y="1523048"/>
                  </a:lnTo>
                  <a:lnTo>
                    <a:pt x="1342072" y="1470660"/>
                  </a:lnTo>
                  <a:lnTo>
                    <a:pt x="1413510" y="1408748"/>
                  </a:lnTo>
                  <a:lnTo>
                    <a:pt x="1475422" y="1340168"/>
                  </a:lnTo>
                  <a:lnTo>
                    <a:pt x="1527810" y="1263968"/>
                  </a:lnTo>
                  <a:lnTo>
                    <a:pt x="1570672" y="1183005"/>
                  </a:lnTo>
                  <a:lnTo>
                    <a:pt x="1608772" y="1097280"/>
                  </a:lnTo>
                  <a:lnTo>
                    <a:pt x="1632585" y="1008697"/>
                  </a:lnTo>
                  <a:lnTo>
                    <a:pt x="1651635" y="918210"/>
                  </a:lnTo>
                  <a:lnTo>
                    <a:pt x="1656397" y="824865"/>
                  </a:lnTo>
                  <a:lnTo>
                    <a:pt x="1651635" y="732472"/>
                  </a:lnTo>
                  <a:lnTo>
                    <a:pt x="1636395" y="661035"/>
                  </a:lnTo>
                </a:path>
              </a:pathLst>
            </a:custGeom>
            <a:noFill/>
            <a:ln w="28575">
              <a:solidFill>
                <a:srgbClr val="F26B3A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2179320" y="4324350"/>
              <a:ext cx="91440" cy="91440"/>
            </a:xfrm>
            <a:custGeom>
              <a:avLst/>
              <a:gdLst/>
              <a:ahLst/>
              <a:cxnLst/>
              <a:rect l="l" t="t" r="r" b="b"/>
              <a:pathLst>
                <a:path w="91440" h="91440">
                  <a:moveTo>
                    <a:pt x="0" y="91440"/>
                  </a:moveTo>
                  <a:lnTo>
                    <a:pt x="9144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237422" y="4256722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5">
                  <a:moveTo>
                    <a:pt x="100965" y="0"/>
                  </a:moveTo>
                  <a:lnTo>
                    <a:pt x="67627" y="100965"/>
                  </a:lnTo>
                  <a:lnTo>
                    <a:pt x="0" y="3429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2162175" y="3990022"/>
              <a:ext cx="112395" cy="416243"/>
            </a:xfrm>
            <a:custGeom>
              <a:avLst/>
              <a:gdLst/>
              <a:ahLst/>
              <a:cxnLst/>
              <a:rect l="l" t="t" r="r" b="b"/>
              <a:pathLst>
                <a:path w="112395" h="416243">
                  <a:moveTo>
                    <a:pt x="0" y="416243"/>
                  </a:moveTo>
                  <a:lnTo>
                    <a:pt x="112395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2228850" y="3897630"/>
              <a:ext cx="91440" cy="104775"/>
            </a:xfrm>
            <a:custGeom>
              <a:avLst/>
              <a:gdLst/>
              <a:ahLst/>
              <a:cxnLst/>
              <a:rect l="l" t="t" r="r" b="b"/>
              <a:pathLst>
                <a:path w="91440" h="104775">
                  <a:moveTo>
                    <a:pt x="70485" y="0"/>
                  </a:moveTo>
                  <a:lnTo>
                    <a:pt x="91440" y="104775"/>
                  </a:lnTo>
                  <a:lnTo>
                    <a:pt x="0" y="8001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1955482" y="3760470"/>
              <a:ext cx="185738" cy="645795"/>
            </a:xfrm>
            <a:custGeom>
              <a:avLst/>
              <a:gdLst/>
              <a:ahLst/>
              <a:cxnLst/>
              <a:rect l="l" t="t" r="r" b="b"/>
              <a:pathLst>
                <a:path w="185738" h="645795">
                  <a:moveTo>
                    <a:pt x="185738" y="64579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1909762" y="3668078"/>
              <a:ext cx="91440" cy="104775"/>
            </a:xfrm>
            <a:custGeom>
              <a:avLst/>
              <a:gdLst/>
              <a:ahLst/>
              <a:cxnLst/>
              <a:rect l="l" t="t" r="r" b="b"/>
              <a:pathLst>
                <a:path w="91440" h="104775">
                  <a:moveTo>
                    <a:pt x="19050" y="0"/>
                  </a:moveTo>
                  <a:lnTo>
                    <a:pt x="91440" y="79057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2423160" y="443293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2418398" y="437102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2727960" y="443293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2713672" y="430244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2970848" y="443293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2947035" y="425005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2123122" y="441388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2342198" y="423386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2294572" y="387000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1914525" y="364045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314651" y="4285298"/>
              <a:ext cx="1503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R₁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124151" y="3943350"/>
              <a:ext cx="1503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458354" y="3722370"/>
              <a:ext cx="1503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R₃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766185" y="3943350"/>
              <a:ext cx="31847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球：q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766185" y="4305300"/>
              <a:ext cx="7485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壳内表面：−q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766185" y="4667250"/>
              <a:ext cx="9205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壳外表面：Q + q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766185" y="5029200"/>
              <a:ext cx="10456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R₂ &lt; r &lt; R₃ 是导体</a:t>
              </a:r>
            </a:p>
          </p:txBody>
        </p:sp>
      </p:grpSp>
      <p:grpSp>
        <p:nvGrpSpPr>
          <p:cNvPr id="58" name="c2-steps-1"/>
          <p:cNvGrpSpPr/>
          <p:nvPr/>
        </p:nvGrpSpPr>
        <p:grpSpPr>
          <a:xfrm>
            <a:off x="5598795" y="1533525"/>
            <a:ext cx="5219187" cy="2268379"/>
            <a:chOff x="5598795" y="1533525"/>
            <a:chExt cx="5219187" cy="2268379"/>
          </a:xfrm>
        </p:grpSpPr>
        <p:sp>
          <p:nvSpPr>
            <p:cNvPr id="41" name="Rectangle 41"/>
            <p:cNvSpPr/>
            <p:nvPr/>
          </p:nvSpPr>
          <p:spPr>
            <a:xfrm>
              <a:off x="5732145" y="1676400"/>
              <a:ext cx="19050" cy="17487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559879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69241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5598795" y="211645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692419" y="21902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5598795" y="269938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692419" y="27732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5598795" y="328231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692419" y="33561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011037" y="1564957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先定电荷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012180" y="1833086"/>
              <a:ext cx="30386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球表面 q；壳内表面感应 −q；壳外表面 Q + q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011037" y="2147888"/>
              <a:ext cx="1476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(1) 三层球面叠加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012180" y="2416016"/>
              <a:ext cx="4790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U₁ = [q/R₁ − q/R₂ + (q + Q)/R₃]/(4πε₀)；U₂ = (q + Q)/(4πε₀R₃)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011037" y="2730818"/>
              <a:ext cx="1112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(2) 导线连接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012180" y="2998946"/>
              <a:ext cx="48058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 与内表面 −q 中和，只剩外表面 q + Q：U₁ = U₂ = (q + Q)/(4πε₀R₃)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011037" y="3313748"/>
              <a:ext cx="1112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(3) 外壳接地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012180" y="3581876"/>
              <a:ext cx="40850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外表面电荷流入大地，U₂ = 0；U₁ = (q/R₁ − q/R₂)/(4πε₀)</a:t>
              </a:r>
            </a:p>
          </p:txBody>
        </p:sp>
      </p:grpSp>
      <p:grpSp>
        <p:nvGrpSpPr>
          <p:cNvPr id="63" name="c2-card-2"/>
          <p:cNvGrpSpPr/>
          <p:nvPr/>
        </p:nvGrpSpPr>
        <p:grpSpPr>
          <a:xfrm>
            <a:off x="5598795" y="3965258"/>
            <a:ext cx="6059805" cy="1483042"/>
            <a:chOff x="5598795" y="3965258"/>
            <a:chExt cx="6059805" cy="1483042"/>
          </a:xfrm>
        </p:grpSpPr>
        <p:sp>
          <p:nvSpPr>
            <p:cNvPr id="59" name="Rectangle 59"/>
            <p:cNvSpPr/>
            <p:nvPr/>
          </p:nvSpPr>
          <p:spPr>
            <a:xfrm>
              <a:off x="5598795" y="3965258"/>
              <a:ext cx="6059805" cy="1483042"/>
            </a:xfrm>
            <a:prstGeom prst="roundRect">
              <a:avLst>
                <a:gd name="adj" fmla="val 8992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5785485" y="4151948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882208" y="418480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778627" y="4496752"/>
              <a:ext cx="533723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连接后两者等势，只剩外表面带电。接地只让外表面的 Q + q 流走，球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仍带 q、内表面仍是 −q，所以壳外无场，球与壳之间的场不变。</a:t>
              </a:r>
            </a:p>
          </p:txBody>
        </p:sp>
      </p:grpSp>
      <p:grpSp>
        <p:nvGrpSpPr>
          <p:cNvPr id="69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64" name="Rectangle 64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738188" y="5897880"/>
              <a:ext cx="200026" cy="200026"/>
              <a:chOff x="738188" y="5897880"/>
              <a:chExt cx="200026" cy="200026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738188" y="589788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04863" y="597566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1040892" y="5779770"/>
              <a:ext cx="994924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检验：定义法分段积分（R₂ 到 R₃ 段 E = 0）结果相同；取 q = 2 nC、Q = 5 nC、R₁ = 2 cm、R₂ = 4 cm、R₃ = 5 cm，U₁ ≈ 1708 V，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U₂ ≈ 1258 V，接地后 U₁ ≈ 449 V。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第4章 静电场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268773" cy="3351847"/>
            <a:chOff x="667512" y="1835468"/>
            <a:chExt cx="5268773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第八部分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066291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电容器 电场的能量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2588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对应原课件 4.8、4.9，电容器怎么算，能量存在哪里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电容的定义与计算步骤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平板、圆柱、球形电容器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带电体与电容器的能量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电场能量密度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第4章 静电场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94610" cy="909257"/>
            <a:chOff x="520446" y="342900"/>
            <a:chExt cx="799461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5935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5269" y="407194"/>
              <a:ext cx="2335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静电场 · 电容器 电场的能量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9461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电容 C = q/UAB：只由极板的形状、大小和介质决定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193982" cy="2109788"/>
            <a:chOff x="533400" y="1524000"/>
            <a:chExt cx="5193982" cy="210978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2109788"/>
            </a:xfrm>
            <a:prstGeom prst="roundRect">
              <a:avLst>
                <a:gd name="adj" fmla="val 63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43088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5609" y="1743551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电容器与电容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两块导体（极板）组成的储存电荷和电能的器件。两极板带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等量异号电荷 ±q 时：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231"/>
                <p:cNvSpPr txBox="1">
                  <a:spLocks noGrp="1"/>
                </p:cNvSpPr>
                <p:nvPr/>
              </p:nvSpPr>
              <p:spPr>
                <a:xfrm>
                  <a:off x="758190" y="2589848"/>
                  <a:ext cx="4782502" cy="54006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C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q</m:t>
                            </m:r>
                          </m:num>
                          <m:den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AB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51332" y="3236595"/>
              <a:ext cx="3971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单位法拉 F，常用 μF = 10⁻⁶ F、pF = 10⁻¹² F。</a:t>
              </a:r>
            </a:p>
          </p:txBody>
        </p:sp>
      </p:grpSp>
      <p:grpSp>
        <p:nvGrpSpPr>
          <p:cNvPr id="30" name="c1-card-2"/>
          <p:cNvGrpSpPr/>
          <p:nvPr/>
        </p:nvGrpSpPr>
        <p:grpSpPr>
          <a:xfrm>
            <a:off x="533400" y="3803332"/>
            <a:ext cx="5193982" cy="1828800"/>
            <a:chOff x="533400" y="3803332"/>
            <a:chExt cx="5193982" cy="1828800"/>
          </a:xfrm>
        </p:grpSpPr>
        <p:sp>
          <p:nvSpPr>
            <p:cNvPr id="15" name="Rectangle 15"/>
            <p:cNvSpPr/>
            <p:nvPr/>
          </p:nvSpPr>
          <p:spPr>
            <a:xfrm>
              <a:off x="533400" y="3803332"/>
              <a:ext cx="5193982" cy="1828800"/>
            </a:xfrm>
            <a:prstGeom prst="roundRect">
              <a:avLst>
                <a:gd name="adj" fmla="val 7292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20090" y="3990022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93458" y="4022884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计算电容的四步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20090" y="4322445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75768" y="436083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00887" y="4334828"/>
              <a:ext cx="20309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令两极板分别带 +q 和 −q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20090" y="4622482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75768" y="466086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00887" y="4634865"/>
              <a:ext cx="27212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求板间场强 E（一般用高斯定理）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20090" y="4922520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75768" y="496185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00887" y="4934902"/>
              <a:ext cx="29077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求电势差 UAB = ∫E·dl，从 A 积到 B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20090" y="5223510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75768" y="526189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00887" y="5234940"/>
              <a:ext cx="21039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 = q/UAB，q 一定会约掉</a:t>
              </a:r>
            </a:p>
          </p:txBody>
        </p:sp>
      </p:grpSp>
      <p:grpSp>
        <p:nvGrpSpPr>
          <p:cNvPr id="59" name="c2-graph-1"/>
          <p:cNvGrpSpPr/>
          <p:nvPr/>
        </p:nvGrpSpPr>
        <p:grpSpPr>
          <a:xfrm>
            <a:off x="6958622" y="1628775"/>
            <a:ext cx="3773538" cy="1347311"/>
            <a:chOff x="6958622" y="1628775"/>
            <a:chExt cx="3773538" cy="1347311"/>
          </a:xfrm>
        </p:grpSpPr>
        <p:sp>
          <p:nvSpPr>
            <p:cNvPr id="31" name="Freeform 31"/>
            <p:cNvSpPr/>
            <p:nvPr/>
          </p:nvSpPr>
          <p:spPr>
            <a:xfrm>
              <a:off x="7832408" y="1657350"/>
              <a:ext cx="9525" cy="1044892"/>
            </a:xfrm>
            <a:custGeom>
              <a:avLst/>
              <a:gdLst/>
              <a:ahLst/>
              <a:cxnLst/>
              <a:rect l="l" t="t" r="r" b="b"/>
              <a:pathLst>
                <a:path w="9525" h="1044892">
                  <a:moveTo>
                    <a:pt x="0" y="0"/>
                  </a:moveTo>
                  <a:lnTo>
                    <a:pt x="0" y="1044892"/>
                  </a:lnTo>
                </a:path>
              </a:pathLst>
            </a:custGeom>
            <a:noFill/>
            <a:ln w="47625">
              <a:solidFill>
                <a:srgbClr val="B42318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9858375" y="1657350"/>
              <a:ext cx="9525" cy="1044892"/>
            </a:xfrm>
            <a:custGeom>
              <a:avLst/>
              <a:gdLst/>
              <a:ahLst/>
              <a:cxnLst/>
              <a:rect l="l" t="t" r="r" b="b"/>
              <a:pathLst>
                <a:path w="9525" h="1044892">
                  <a:moveTo>
                    <a:pt x="0" y="0"/>
                  </a:moveTo>
                  <a:lnTo>
                    <a:pt x="0" y="1044892"/>
                  </a:lnTo>
                </a:path>
              </a:pathLst>
            </a:custGeom>
            <a:noFill/>
            <a:ln w="47625">
              <a:solidFill>
                <a:srgbClr val="2F4B9A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8020050" y="1923098"/>
              <a:ext cx="1554480" cy="9525"/>
            </a:xfrm>
            <a:custGeom>
              <a:avLst/>
              <a:gdLst/>
              <a:ahLst/>
              <a:cxnLst/>
              <a:rect l="l" t="t" r="r" b="b"/>
              <a:pathLst>
                <a:path w="1554480" h="9525">
                  <a:moveTo>
                    <a:pt x="0" y="0"/>
                  </a:moveTo>
                  <a:lnTo>
                    <a:pt x="1554480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9574530" y="187547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8020050" y="2179320"/>
              <a:ext cx="1554480" cy="9525"/>
            </a:xfrm>
            <a:custGeom>
              <a:avLst/>
              <a:gdLst/>
              <a:ahLst/>
              <a:cxnLst/>
              <a:rect l="l" t="t" r="r" b="b"/>
              <a:pathLst>
                <a:path w="1554480" h="9525">
                  <a:moveTo>
                    <a:pt x="0" y="0"/>
                  </a:moveTo>
                  <a:lnTo>
                    <a:pt x="1554480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9574530" y="213169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8020050" y="2435542"/>
              <a:ext cx="1554480" cy="9525"/>
            </a:xfrm>
            <a:custGeom>
              <a:avLst/>
              <a:gdLst/>
              <a:ahLst/>
              <a:cxnLst/>
              <a:rect l="l" t="t" r="r" b="b"/>
              <a:pathLst>
                <a:path w="1554480" h="9525">
                  <a:moveTo>
                    <a:pt x="0" y="0"/>
                  </a:moveTo>
                  <a:lnTo>
                    <a:pt x="1554480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9574530" y="238791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7946708" y="2863215"/>
              <a:ext cx="1797368" cy="9525"/>
            </a:xfrm>
            <a:custGeom>
              <a:avLst/>
              <a:gdLst/>
              <a:ahLst/>
              <a:cxnLst/>
              <a:rect l="l" t="t" r="r" b="b"/>
              <a:pathLst>
                <a:path w="1797368" h="9525">
                  <a:moveTo>
                    <a:pt x="0" y="0"/>
                  </a:moveTo>
                  <a:lnTo>
                    <a:pt x="1797368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9744075" y="281559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7851458" y="281559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7822882" y="162877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7822882" y="271176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9848850" y="162877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848850" y="271176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7991475" y="191357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9679305" y="191357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7991475" y="216979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9679305" y="216979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7991475" y="242601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9679305" y="242601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7822882" y="285369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9848850" y="285369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8778240" y="278511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809796" y="281416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958622" y="2082165"/>
              <a:ext cx="70995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A：+q（+σ）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022205" y="2082165"/>
              <a:ext cx="70995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B：−q（−σ）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799712" y="1732121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</p:grpSp>
      <p:grpSp>
        <p:nvGrpSpPr>
          <p:cNvPr id="65" name="c2-card-2"/>
          <p:cNvGrpSpPr/>
          <p:nvPr/>
        </p:nvGrpSpPr>
        <p:grpSpPr>
          <a:xfrm>
            <a:off x="6032182" y="3118485"/>
            <a:ext cx="5626418" cy="2513648"/>
            <a:chOff x="6032182" y="3118485"/>
            <a:chExt cx="5626418" cy="2513648"/>
          </a:xfrm>
        </p:grpSpPr>
        <p:sp>
          <p:nvSpPr>
            <p:cNvPr id="60" name="Rectangle 60"/>
            <p:cNvSpPr/>
            <p:nvPr/>
          </p:nvSpPr>
          <p:spPr>
            <a:xfrm>
              <a:off x="6032182" y="3118485"/>
              <a:ext cx="5626418" cy="2513648"/>
            </a:xfrm>
            <a:prstGeom prst="roundRect">
              <a:avLst>
                <a:gd name="adj" fmla="val 5305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218872" y="3305175"/>
              <a:ext cx="2107882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257774" y="3338036"/>
              <a:ext cx="20291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1. 平板电容器（面积 S，间距 d）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3" name="formula232"/>
                <p:cNvSpPr txBox="1">
                  <a:spLocks noGrp="1"/>
                </p:cNvSpPr>
                <p:nvPr/>
              </p:nvSpPr>
              <p:spPr>
                <a:xfrm>
                  <a:off x="6218872" y="3627120"/>
                  <a:ext cx="5253038" cy="38576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σ</m:t>
                            </m:r>
                          </m:num>
                          <m:den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ε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q</m:t>
                            </m:r>
                          </m:num>
                          <m:den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εS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sSub>
                          <m:e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U</m:t>
                            </m:r>
                          </m:e>
                          <m:sub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AB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Ed</m:t>
                        </m:r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qd</m:t>
                            </m:r>
                          </m:num>
                          <m:den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εS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C</m:t>
                        </m:r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εS</m:t>
                            </m:r>
                          </m:num>
                          <m:den>
                            <m:r>
                              <a:rPr lang="zh-CN" sz="11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64" name="TextBox 64"/>
            <p:cNvSpPr txBox="1"/>
            <p:nvPr/>
          </p:nvSpPr>
          <p:spPr>
            <a:xfrm>
              <a:off x="6212014" y="4119562"/>
              <a:ext cx="382847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小例：S = 100 cm²、d = 1 mm 的空气电容器，C =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8.85×10⁻¹²×0.01/0.001 F ≈ 88.5 pF。</a:t>
              </a:r>
            </a:p>
          </p:txBody>
        </p:sp>
      </p:grpSp>
      <p:grpSp>
        <p:nvGrpSpPr>
          <p:cNvPr id="72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66" name="Rectangle 66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726129" y="6018966"/>
              <a:ext cx="224134" cy="192560"/>
              <a:chOff x="726129" y="6018966"/>
              <a:chExt cx="224134" cy="192560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838200" y="608933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726129" y="601896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38200" y="616712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1040892" y="6028373"/>
              <a:ext cx="73188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C 由几何结构和介质决定，与带不带电无关；板间充满 εr 的介质后，C 变为原来的 εr 倍。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第4章 静电场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41187" cy="909257"/>
            <a:chOff x="520446" y="342900"/>
            <a:chExt cx="754118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5935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5269" y="407194"/>
              <a:ext cx="2335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静电场 · 电容器 电场的能量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411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圆柱形与球形电容器：同样四步，积分变量换成 r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410200" cy="2424112"/>
            <a:chOff x="533400" y="1524000"/>
            <a:chExt cx="5410200" cy="242411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424112"/>
            </a:xfrm>
            <a:prstGeom prst="roundRect">
              <a:avLst>
                <a:gd name="adj" fmla="val 550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15741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1205865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9273" y="1756410"/>
              <a:ext cx="10665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2. 圆柱形电容器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462216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内、外半径 RA、RB，长 l ≫ RB。A 带 +q（λ = q/l），B 带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−q；两筒之间 E = λ/(2πεr)。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242"/>
                <p:cNvSpPr txBox="1">
                  <a:spLocks noGrp="1"/>
                </p:cNvSpPr>
                <p:nvPr/>
              </p:nvSpPr>
              <p:spPr>
                <a:xfrm>
                  <a:off x="769620" y="2648902"/>
                  <a:ext cx="4975860" cy="4800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U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AB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sub>
                            </m:sSub>
                          </m:sub>
                          <m:sup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sub>
                            </m:sSub>
                          </m:sup>
                          <m:e>
                            <m:f>
                              <m:fPr>
                                <m:type m:val="bar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 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dr</m:t>
                                </m:r>
                              </m:num>
                              <m:den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2πεr</m:t>
                                </m:r>
                              </m:den>
                            </m:f>
                          </m:e>
                        </m:nary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</m:t>
                            </m:r>
                          </m:num>
                          <m:den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2πε</m:t>
                            </m:r>
                          </m:den>
                        </m:f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ln</m:t>
                            </m:r>
                          </m:fName>
                          <m:e>
                            <m:f>
                              <m:fPr>
                                <m:type m:val="bar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B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sub>
                                </m:sSub>
                              </m:den>
                            </m:f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243"/>
                <p:cNvSpPr txBox="1">
                  <a:spLocks noGrp="1"/>
                </p:cNvSpPr>
                <p:nvPr/>
              </p:nvSpPr>
              <p:spPr>
                <a:xfrm>
                  <a:off x="769620" y="3218498"/>
                  <a:ext cx="4975860" cy="5143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C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q</m:t>
                            </m:r>
                          </m:num>
                          <m:den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AB</m:t>
                                </m:r>
                              </m:sub>
                            </m:sSub>
                          </m:den>
                        </m:f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2πεl</m:t>
                            </m:r>
                          </m:num>
                          <m:den>
                            <m:func>
                              <m:funcPr/>
                              <m:fName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ln</m:t>
                                </m:r>
                              </m:fName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R</m:t>
                                        </m:r>
                                      </m:e>
                                      <m:sub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B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/</m:t>
                                    </m:r>
                                    <m:sSub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R</m:t>
                                        </m:r>
                                      </m:e>
                                      <m:sub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A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func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0" name="c1-card-2"/>
          <p:cNvGrpSpPr/>
          <p:nvPr/>
        </p:nvGrpSpPr>
        <p:grpSpPr>
          <a:xfrm>
            <a:off x="533400" y="4129088"/>
            <a:ext cx="5410200" cy="1250632"/>
            <a:chOff x="533400" y="4129088"/>
            <a:chExt cx="5410200" cy="1250632"/>
          </a:xfrm>
        </p:grpSpPr>
        <p:sp>
          <p:nvSpPr>
            <p:cNvPr id="15" name="Rectangle 15"/>
            <p:cNvSpPr/>
            <p:nvPr/>
          </p:nvSpPr>
          <p:spPr>
            <a:xfrm>
              <a:off x="533400" y="4129088"/>
              <a:ext cx="5410200" cy="1250632"/>
            </a:xfrm>
            <a:prstGeom prst="roundRect">
              <a:avLst>
                <a:gd name="adj" fmla="val 106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4262438"/>
              <a:ext cx="47625" cy="9839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69620" y="432720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61060" y="436149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381" y="4687729"/>
              <a:ext cx="465823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原课件最后一步写成 2πεd/ln(RB/RA)，分子应是圆柱的长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 l，这个电容器里没有 d。</a:t>
              </a:r>
            </a:p>
          </p:txBody>
        </p:sp>
      </p:grpSp>
      <p:grpSp>
        <p:nvGrpSpPr>
          <p:cNvPr id="27" name="c2-card-1"/>
          <p:cNvGrpSpPr/>
          <p:nvPr/>
        </p:nvGrpSpPr>
        <p:grpSpPr>
          <a:xfrm>
            <a:off x="6248400" y="1524000"/>
            <a:ext cx="5410200" cy="1777365"/>
            <a:chOff x="6248400" y="1524000"/>
            <a:chExt cx="5410200" cy="1777365"/>
          </a:xfrm>
        </p:grpSpPr>
        <p:sp>
          <p:nvSpPr>
            <p:cNvPr id="21" name="Rectangle 21"/>
            <p:cNvSpPr/>
            <p:nvPr/>
          </p:nvSpPr>
          <p:spPr>
            <a:xfrm>
              <a:off x="6248400" y="1524000"/>
              <a:ext cx="5410200" cy="1777365"/>
            </a:xfrm>
            <a:prstGeom prst="roundRect">
              <a:avLst>
                <a:gd name="adj" fmla="val 750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257925" y="1657350"/>
              <a:ext cx="47625" cy="151066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484620" y="1722120"/>
              <a:ext cx="1072515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58273" y="1756410"/>
              <a:ext cx="9252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3. 球形电容器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77381" y="2082641"/>
              <a:ext cx="472135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内、外半径 RA、RB 的同心球面，A 带 +q，B 带 −q；RA &lt; r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 RB 时 E = q/(4πεr²)。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formula244"/>
                <p:cNvSpPr txBox="1">
                  <a:spLocks noGrp="1"/>
                </p:cNvSpPr>
                <p:nvPr/>
              </p:nvSpPr>
              <p:spPr>
                <a:xfrm>
                  <a:off x="6484620" y="2648902"/>
                  <a:ext cx="4975860" cy="43719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U</m:t>
                            </m:r>
                          </m:e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AB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q</m:t>
                            </m:r>
                          </m:num>
                          <m:den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4πε</m:t>
                            </m:r>
                          </m:den>
                        </m:f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sub>
                                </m:sSub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B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C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4πε</m:t>
                            </m:r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sub>
                            </m:sSub>
                          </m:num>
                          <m:den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7" name="c2-card-2"/>
          <p:cNvGrpSpPr/>
          <p:nvPr/>
        </p:nvGrpSpPr>
        <p:grpSpPr>
          <a:xfrm>
            <a:off x="6248400" y="3482340"/>
            <a:ext cx="5410200" cy="1897380"/>
            <a:chOff x="6248400" y="3482340"/>
            <a:chExt cx="5410200" cy="1897380"/>
          </a:xfrm>
        </p:grpSpPr>
        <p:sp>
          <p:nvSpPr>
            <p:cNvPr id="28" name="Rectangle 28"/>
            <p:cNvSpPr/>
            <p:nvPr/>
          </p:nvSpPr>
          <p:spPr>
            <a:xfrm>
              <a:off x="6248400" y="3482340"/>
              <a:ext cx="5410200" cy="1897380"/>
            </a:xfrm>
            <a:prstGeom prst="roundRect">
              <a:avLst>
                <a:gd name="adj" fmla="val 7028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446520" y="3680460"/>
              <a:ext cx="127635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13957" y="371475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三个结果的共同点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454140" y="4100512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10731" y="4040981"/>
              <a:ext cx="340721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 都正比于 ε，只由几何尺寸和介质决定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454140" y="4418648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610731" y="4358164"/>
              <a:ext cx="457708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两极板靠得很近（RB − RA = d ≪ RA）时，圆柱形和球形都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退化成 C ≈ εS/d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454140" y="5008245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610731" y="4947761"/>
              <a:ext cx="41964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RB → ∞ 时球形电容器变成孤立导体球，C = 4πεRA</a:t>
              </a:r>
            </a:p>
          </p:txBody>
        </p:sp>
      </p:grpSp>
      <p:grpSp>
        <p:nvGrpSpPr>
          <p:cNvPr id="43" name="takeaway"/>
          <p:cNvGrpSpPr/>
          <p:nvPr/>
        </p:nvGrpSpPr>
        <p:grpSpPr>
          <a:xfrm>
            <a:off x="533400" y="5606415"/>
            <a:ext cx="11125200" cy="756285"/>
            <a:chOff x="533400" y="5606415"/>
            <a:chExt cx="11125200" cy="756285"/>
          </a:xfrm>
        </p:grpSpPr>
        <p:sp>
          <p:nvSpPr>
            <p:cNvPr id="38" name="Rectangle 38"/>
            <p:cNvSpPr/>
            <p:nvPr/>
          </p:nvSpPr>
          <p:spPr>
            <a:xfrm>
              <a:off x="533400" y="5606415"/>
              <a:ext cx="11125200" cy="756285"/>
            </a:xfrm>
            <a:prstGeom prst="roundRect">
              <a:avLst>
                <a:gd name="adj" fmla="val 15113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38188" y="5884545"/>
              <a:ext cx="200026" cy="200026"/>
              <a:chOff x="738188" y="5884545"/>
              <a:chExt cx="200026" cy="200026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38188" y="588454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04863" y="596233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0511" y="5753576"/>
              <a:ext cx="9879076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检验：圆柱形取 RA = 1 cm、RB = 1.1 cm，ln 1.1 ≈ 0.0953；与平板公式 εS/d 比，S 用内筒面积算相差约 5%，用平均半径</a:t>
              </a:r>
              <a:br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算相差不到 0.1%。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第4章 静电场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5935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5269" y="407194"/>
              <a:ext cx="2335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静电场 · 电容器 电场的能量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电容器的能量：把电荷一点点从一板搬到另一板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846898"/>
            <a:chOff x="533400" y="1524000"/>
            <a:chExt cx="5410200" cy="184689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846898"/>
            </a:xfrm>
            <a:prstGeom prst="roundRect">
              <a:avLst>
                <a:gd name="adj" fmla="val 722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80198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8792" y="176355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带电体的能量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471233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带电体的电量 Q 是外力克服电场力，把 dq 一份份从无穷远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搬来的结果。已带电 q、电势为 U 时再搬 dq，外力做功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251"/>
                <p:cNvSpPr txBox="1">
                  <a:spLocks noGrp="1"/>
                </p:cNvSpPr>
                <p:nvPr/>
              </p:nvSpPr>
              <p:spPr>
                <a:xfrm>
                  <a:off x="775335" y="2668905"/>
                  <a:ext cx="4964430" cy="4800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dA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U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U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∞</m:t>
                                </m:r>
                              </m:sub>
                            </m:sSub>
                          </m:e>
                        </m:d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dq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U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dq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W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Q</m:t>
                            </m:r>
                          </m:sup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U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dq</m:t>
                            </m:r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0" name="c1-card-2"/>
          <p:cNvGrpSpPr/>
          <p:nvPr/>
        </p:nvGrpSpPr>
        <p:grpSpPr>
          <a:xfrm>
            <a:off x="533400" y="3556635"/>
            <a:ext cx="5410200" cy="1602105"/>
            <a:chOff x="533400" y="3556635"/>
            <a:chExt cx="5410200" cy="1602105"/>
          </a:xfrm>
        </p:grpSpPr>
        <p:sp>
          <p:nvSpPr>
            <p:cNvPr id="14" name="Rectangle 14"/>
            <p:cNvSpPr/>
            <p:nvPr/>
          </p:nvSpPr>
          <p:spPr>
            <a:xfrm>
              <a:off x="533400" y="3556635"/>
              <a:ext cx="5410200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689985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75335" y="3760470"/>
              <a:ext cx="1377315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39537" y="3796189"/>
              <a:ext cx="1248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小例 · 孤立导体球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8096" y="4133374"/>
              <a:ext cx="235760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带电 q 时 U = q/(4πε₀R)：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formula252"/>
                <p:cNvSpPr txBox="1">
                  <a:spLocks noGrp="1"/>
                </p:cNvSpPr>
                <p:nvPr/>
              </p:nvSpPr>
              <p:spPr>
                <a:xfrm>
                  <a:off x="775335" y="4430078"/>
                  <a:ext cx="4964430" cy="5067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W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  <m:sup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Q</m:t>
                            </m:r>
                          </m:sup>
                          <m:e>
                            <m:f>
                              <m:fPr>
                                <m:type m:val="bar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q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 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dq</m:t>
                                </m:r>
                              </m:num>
                              <m:den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4π</m:t>
                                </m:r>
                                <m:sSub>
                                  <m:e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ε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</m:t>
                                </m:r>
                              </m:den>
                            </m:f>
                          </m:e>
                        </m:nary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Q</m:t>
                                </m:r>
                              </m:e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8π</m:t>
                            </m:r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ε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6" name="c2-card-1"/>
          <p:cNvGrpSpPr/>
          <p:nvPr/>
        </p:nvGrpSpPr>
        <p:grpSpPr>
          <a:xfrm>
            <a:off x="6248400" y="1524000"/>
            <a:ext cx="5410200" cy="1602105"/>
            <a:chOff x="6248400" y="1524000"/>
            <a:chExt cx="5410200" cy="1602105"/>
          </a:xfrm>
        </p:grpSpPr>
        <p:sp>
          <p:nvSpPr>
            <p:cNvPr id="21" name="Rectangle 21"/>
            <p:cNvSpPr/>
            <p:nvPr/>
          </p:nvSpPr>
          <p:spPr>
            <a:xfrm>
              <a:off x="6248400" y="1524000"/>
              <a:ext cx="5410200" cy="1602105"/>
            </a:xfrm>
            <a:prstGeom prst="roundRect">
              <a:avLst>
                <a:gd name="adj" fmla="val 8323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52235" y="1727835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29642" y="176355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电容器储能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44996" y="2100739"/>
              <a:ext cx="47509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充到 q 时两板电势差 u = q/C，再搬 dq 做功 (q/C)dq：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formula253"/>
                <p:cNvSpPr txBox="1">
                  <a:spLocks noGrp="1"/>
                </p:cNvSpPr>
                <p:nvPr/>
              </p:nvSpPr>
              <p:spPr>
                <a:xfrm>
                  <a:off x="6452235" y="2397442"/>
                  <a:ext cx="5002530" cy="5067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W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  <m:sup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Q</m:t>
                            </m:r>
                          </m:sup>
                          <m:e>
                            <m:f>
                              <m:fPr>
                                <m:type m:val="bar"/>
                                <m:ctrl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q</m:t>
                                </m:r>
                              </m:num>
                              <m:den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</m:t>
                                </m:r>
                              </m:den>
                            </m:f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dq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Q</m:t>
                                </m:r>
                              </m:e>
                              <m:sup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2C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C</m:t>
                        </m:r>
                        <m:sSup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U</m:t>
                            </m:r>
                          </m:e>
                          <m:sup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QU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5" name="c2-card-2"/>
          <p:cNvGrpSpPr/>
          <p:nvPr/>
        </p:nvGrpSpPr>
        <p:grpSpPr>
          <a:xfrm>
            <a:off x="6248400" y="3311842"/>
            <a:ext cx="5410200" cy="1846898"/>
            <a:chOff x="6248400" y="3311842"/>
            <a:chExt cx="5410200" cy="1846898"/>
          </a:xfrm>
        </p:grpSpPr>
        <p:sp>
          <p:nvSpPr>
            <p:cNvPr id="27" name="Rectangle 27"/>
            <p:cNvSpPr/>
            <p:nvPr/>
          </p:nvSpPr>
          <p:spPr>
            <a:xfrm>
              <a:off x="6248400" y="3311842"/>
              <a:ext cx="5410200" cy="1846898"/>
            </a:xfrm>
            <a:prstGeom prst="roundRect">
              <a:avLst>
                <a:gd name="adj" fmla="val 722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257925" y="3445192"/>
              <a:ext cx="47625" cy="158019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490335" y="3515678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59842" y="355139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三个式子挑哪个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497955" y="394906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54546" y="3888581"/>
              <a:ext cx="28256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断开电源：Q 不变，用 Q²/(2C)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497955" y="426910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654546" y="4208621"/>
              <a:ext cx="252264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接着电源：U 不变，用 CU²/2</a:t>
              </a:r>
            </a:p>
          </p:txBody>
        </p:sp>
      </p:grpSp>
      <p:grpSp>
        <p:nvGrpSpPr>
          <p:cNvPr id="42" name="takeaway"/>
          <p:cNvGrpSpPr/>
          <p:nvPr/>
        </p:nvGrpSpPr>
        <p:grpSpPr>
          <a:xfrm>
            <a:off x="533400" y="5606415"/>
            <a:ext cx="11125200" cy="756285"/>
            <a:chOff x="533400" y="5606415"/>
            <a:chExt cx="11125200" cy="756285"/>
          </a:xfrm>
        </p:grpSpPr>
        <p:sp>
          <p:nvSpPr>
            <p:cNvPr id="36" name="Rectangle 36"/>
            <p:cNvSpPr/>
            <p:nvPr/>
          </p:nvSpPr>
          <p:spPr>
            <a:xfrm>
              <a:off x="533400" y="5606415"/>
              <a:ext cx="11125200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738188" y="5884545"/>
              <a:ext cx="200026" cy="200025"/>
              <a:chOff x="738188" y="5884545"/>
              <a:chExt cx="200026" cy="200025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738188" y="588454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77926" y="592899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12642" y="604012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40511" y="5753576"/>
              <a:ext cx="9283954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变式：空气平行板电容器充电到 U 后断开电源，把板距拉到 n 倍：C 变为 C/n，Q 不变，外力做功 = 储能增加 = (n −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1)CU²/2。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第4章 静电场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42343" cy="909257"/>
            <a:chOff x="520446" y="342900"/>
            <a:chExt cx="684234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5935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5269" y="407194"/>
              <a:ext cx="2335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静电场 · 电容器 电场的能量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4234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电场能量储存在场中：能量密度 we = εE²/2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steps-1"/>
          <p:cNvGrpSpPr/>
          <p:nvPr/>
        </p:nvGrpSpPr>
        <p:grpSpPr>
          <a:xfrm>
            <a:off x="533400" y="1533525"/>
            <a:ext cx="5289591" cy="1781556"/>
            <a:chOff x="533400" y="1533525"/>
            <a:chExt cx="5289591" cy="1781556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23348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5074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245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76701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8408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5261" y="1566386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板间场强与电压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404" y="1846898"/>
              <a:ext cx="48765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板带 q、B 板带 −q：E内 = σ/ε = q/(εS)，UAB = E内d = qd/(εS)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261" y="218360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积分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404" y="2464118"/>
              <a:ext cx="48576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We = ∫UAB dq（0 积到 Q）= ∫qd/(εS)dq = Q²d/(2εS) = QUAB/2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261" y="279987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换成场量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404" y="3080385"/>
              <a:ext cx="39314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 = εES，UAB = Ed：We = (1/2)Ed·εES = εE²·Sd/2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formula263"/>
              <p:cNvSpPr txBox="1">
                <a:spLocks noGrp="1"/>
              </p:cNvSpPr>
              <p:nvPr/>
            </p:nvSpPr>
            <p:spPr>
              <a:xfrm>
                <a:off x="533400" y="3486150"/>
                <a:ext cx="5193982" cy="514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W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AB</m:t>
                          </m:r>
                        </m:sub>
                      </m:sSub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Q</m:t>
                      </m:r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ε</m:t>
                      </m:r>
                      <m:sSup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p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V</m:t>
                      </m:r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V</m:t>
                      </m:r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Sd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31" name="c1-card-3"/>
          <p:cNvGrpSpPr/>
          <p:nvPr/>
        </p:nvGrpSpPr>
        <p:grpSpPr>
          <a:xfrm>
            <a:off x="533400" y="4181475"/>
            <a:ext cx="5193982" cy="2158365"/>
            <a:chOff x="533400" y="4181475"/>
            <a:chExt cx="5193982" cy="2158365"/>
          </a:xfrm>
        </p:grpSpPr>
        <p:sp>
          <p:nvSpPr>
            <p:cNvPr id="22" name="Rectangle 22"/>
            <p:cNvSpPr/>
            <p:nvPr/>
          </p:nvSpPr>
          <p:spPr>
            <a:xfrm>
              <a:off x="533400" y="4181475"/>
              <a:ext cx="5193982" cy="2158365"/>
            </a:xfrm>
            <a:prstGeom prst="roundRect">
              <a:avLst>
                <a:gd name="adj" fmla="val 61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42925" y="4314825"/>
              <a:ext cx="47625" cy="189166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69620" y="4379595"/>
              <a:ext cx="1570672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28678" y="4413885"/>
              <a:ext cx="14535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小例 · 两种算法对一对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381" y="4740116"/>
              <a:ext cx="455002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= 100 cm²、d = 1 mm 的空气电容器（C = 88.5 pF）接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 V：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77240" y="538924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33831" y="5328761"/>
              <a:ext cx="339805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用电路量：We = CU²/2 ≈ 4.43×10⁻⁷ J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77240" y="5707380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33831" y="5646896"/>
              <a:ext cx="425246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用场量：E = U/d = 10⁵ V/m，we = ε₀E²/2 ≈ 0.0443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J/m³，乘体积 10⁻⁵ m³ 同样得 4.43×10⁻⁷ J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formula264"/>
              <p:cNvSpPr txBox="1">
                <a:spLocks noGrp="1"/>
              </p:cNvSpPr>
              <p:nvPr/>
            </p:nvSpPr>
            <p:spPr>
              <a:xfrm>
                <a:off x="6032182" y="1524000"/>
                <a:ext cx="5626418" cy="617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w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b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W</m:t>
                              </m:r>
                            </m:e>
                            <m:sub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</m:sub>
                          </m:sSub>
                        </m:num>
                        <m:den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ε</m:t>
                      </m:r>
                      <m:sSup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p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DE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38" name="c2-card-2"/>
          <p:cNvGrpSpPr/>
          <p:nvPr/>
        </p:nvGrpSpPr>
        <p:grpSpPr>
          <a:xfrm>
            <a:off x="6032182" y="2321242"/>
            <a:ext cx="5626418" cy="1846898"/>
            <a:chOff x="6032182" y="2321242"/>
            <a:chExt cx="5626418" cy="1846898"/>
          </a:xfrm>
        </p:grpSpPr>
        <p:sp>
          <p:nvSpPr>
            <p:cNvPr id="33" name="Rectangle 33"/>
            <p:cNvSpPr/>
            <p:nvPr/>
          </p:nvSpPr>
          <p:spPr>
            <a:xfrm>
              <a:off x="6032182" y="2321242"/>
              <a:ext cx="5626418" cy="1846898"/>
            </a:xfrm>
            <a:prstGeom prst="roundRect">
              <a:avLst>
                <a:gd name="adj" fmla="val 722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230302" y="2519362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05741" y="25536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电场能量密度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23064" y="2879884"/>
              <a:ext cx="499186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we 是单位体积电场的能量。上式虽由平板这个特例导出，对任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意静电场都成立；场不均匀时对体积积分：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formula265"/>
                <p:cNvSpPr txBox="1">
                  <a:spLocks noGrp="1"/>
                </p:cNvSpPr>
                <p:nvPr/>
              </p:nvSpPr>
              <p:spPr>
                <a:xfrm>
                  <a:off x="6230302" y="3446145"/>
                  <a:ext cx="5230178" cy="5067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W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n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V</m:t>
                            </m:r>
                          </m:sub>
                          <m:sup/>
                          <m:e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w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sub>
                            </m:sSub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dV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n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V</m:t>
                            </m:r>
                          </m:sub>
                          <m:sup/>
                          <m:e>
                            <m:f>
                              <m:fPr>
                                <m:type m:val="bar"/>
                                <m:ctrl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ε</m:t>
                            </m:r>
                            <m:sSup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dV</m:t>
                            </m:r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44" name="c2-card-3"/>
          <p:cNvGrpSpPr/>
          <p:nvPr/>
        </p:nvGrpSpPr>
        <p:grpSpPr>
          <a:xfrm>
            <a:off x="6032182" y="4349115"/>
            <a:ext cx="5626418" cy="1989772"/>
            <a:chOff x="6032182" y="4349115"/>
            <a:chExt cx="5626418" cy="1989772"/>
          </a:xfrm>
        </p:grpSpPr>
        <p:sp>
          <p:nvSpPr>
            <p:cNvPr id="39" name="Rectangle 39"/>
            <p:cNvSpPr/>
            <p:nvPr/>
          </p:nvSpPr>
          <p:spPr>
            <a:xfrm>
              <a:off x="6032182" y="4349115"/>
              <a:ext cx="5626418" cy="1989772"/>
            </a:xfrm>
            <a:prstGeom prst="roundRect">
              <a:avLst>
                <a:gd name="adj" fmla="val 670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041708" y="4482465"/>
              <a:ext cx="47625" cy="172307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268402" y="4547235"/>
              <a:ext cx="167640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23838" y="4581525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能量在电荷上还是在场里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261164" y="4907756"/>
              <a:ext cx="488365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静电学里 QU/2 和 ∫εE²dV/2 总是相等，分不出能量到底属于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谁。到了电磁波，场可以脱离电荷独立传播并携带能量，这才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说明能量储存在场中。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第4章 静电场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62798" cy="909257"/>
            <a:chOff x="520446" y="342900"/>
            <a:chExt cx="676279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5935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5269" y="407194"/>
              <a:ext cx="2335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静电场 · 电容器 电场的能量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6279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例4.20 带电球面的电场能量：两种算法对照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977765" cy="1185862"/>
            <a:chOff x="533400" y="1524000"/>
            <a:chExt cx="4977765" cy="11858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62198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9697" y="1737836"/>
              <a:ext cx="4465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例4.20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045494"/>
              <a:ext cx="30051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空气中半径 R 的球面均匀带电 q。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330291"/>
              <a:ext cx="1960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它产生的电场的能量。</a:t>
              </a:r>
            </a:p>
          </p:txBody>
        </p:sp>
      </p:grpSp>
      <p:grpSp>
        <p:nvGrpSpPr>
          <p:cNvPr id="28" name="c1-graph-2"/>
          <p:cNvGrpSpPr/>
          <p:nvPr/>
        </p:nvGrpSpPr>
        <p:grpSpPr>
          <a:xfrm>
            <a:off x="1280160" y="3036570"/>
            <a:ext cx="3558654" cy="1295400"/>
            <a:chOff x="1280160" y="3036570"/>
            <a:chExt cx="3558654" cy="1295400"/>
          </a:xfrm>
        </p:grpSpPr>
        <p:sp>
          <p:nvSpPr>
            <p:cNvPr id="14" name="Freeform 14"/>
            <p:cNvSpPr/>
            <p:nvPr/>
          </p:nvSpPr>
          <p:spPr>
            <a:xfrm>
              <a:off x="1604010" y="3360420"/>
              <a:ext cx="646748" cy="647700"/>
            </a:xfrm>
            <a:custGeom>
              <a:avLst/>
              <a:gdLst/>
              <a:ahLst/>
              <a:cxnLst/>
              <a:rect l="l" t="t" r="r" b="b"/>
              <a:pathLst>
                <a:path w="646748" h="647700">
                  <a:moveTo>
                    <a:pt x="646748" y="304800"/>
                  </a:moveTo>
                  <a:lnTo>
                    <a:pt x="646748" y="288608"/>
                  </a:lnTo>
                  <a:lnTo>
                    <a:pt x="641985" y="251460"/>
                  </a:lnTo>
                  <a:lnTo>
                    <a:pt x="626745" y="217170"/>
                  </a:lnTo>
                  <a:lnTo>
                    <a:pt x="616267" y="183833"/>
                  </a:lnTo>
                  <a:lnTo>
                    <a:pt x="597217" y="152400"/>
                  </a:lnTo>
                  <a:lnTo>
                    <a:pt x="577215" y="121920"/>
                  </a:lnTo>
                  <a:lnTo>
                    <a:pt x="552450" y="96202"/>
                  </a:lnTo>
                  <a:lnTo>
                    <a:pt x="526732" y="71438"/>
                  </a:lnTo>
                  <a:lnTo>
                    <a:pt x="497205" y="50483"/>
                  </a:lnTo>
                  <a:lnTo>
                    <a:pt x="461962" y="32385"/>
                  </a:lnTo>
                  <a:lnTo>
                    <a:pt x="432435" y="18097"/>
                  </a:lnTo>
                  <a:lnTo>
                    <a:pt x="392430" y="8572"/>
                  </a:lnTo>
                  <a:lnTo>
                    <a:pt x="358140" y="1905"/>
                  </a:lnTo>
                  <a:lnTo>
                    <a:pt x="322898" y="0"/>
                  </a:lnTo>
                  <a:lnTo>
                    <a:pt x="288607" y="1905"/>
                  </a:lnTo>
                  <a:lnTo>
                    <a:pt x="253365" y="8572"/>
                  </a:lnTo>
                  <a:lnTo>
                    <a:pt x="213360" y="18097"/>
                  </a:lnTo>
                  <a:lnTo>
                    <a:pt x="183832" y="32385"/>
                  </a:lnTo>
                  <a:lnTo>
                    <a:pt x="148590" y="50483"/>
                  </a:lnTo>
                  <a:lnTo>
                    <a:pt x="119062" y="71438"/>
                  </a:lnTo>
                  <a:lnTo>
                    <a:pt x="94298" y="96202"/>
                  </a:lnTo>
                  <a:lnTo>
                    <a:pt x="69532" y="121920"/>
                  </a:lnTo>
                  <a:lnTo>
                    <a:pt x="49530" y="152400"/>
                  </a:lnTo>
                  <a:lnTo>
                    <a:pt x="29527" y="183833"/>
                  </a:lnTo>
                  <a:lnTo>
                    <a:pt x="19050" y="217170"/>
                  </a:lnTo>
                  <a:lnTo>
                    <a:pt x="4762" y="251460"/>
                  </a:lnTo>
                  <a:lnTo>
                    <a:pt x="0" y="288608"/>
                  </a:lnTo>
                  <a:lnTo>
                    <a:pt x="0" y="323850"/>
                  </a:lnTo>
                  <a:lnTo>
                    <a:pt x="0" y="360045"/>
                  </a:lnTo>
                  <a:lnTo>
                    <a:pt x="4762" y="397192"/>
                  </a:lnTo>
                  <a:lnTo>
                    <a:pt x="19050" y="431483"/>
                  </a:lnTo>
                  <a:lnTo>
                    <a:pt x="29527" y="464820"/>
                  </a:lnTo>
                  <a:lnTo>
                    <a:pt x="49530" y="496252"/>
                  </a:lnTo>
                  <a:lnTo>
                    <a:pt x="69532" y="526733"/>
                  </a:lnTo>
                  <a:lnTo>
                    <a:pt x="94298" y="552450"/>
                  </a:lnTo>
                  <a:lnTo>
                    <a:pt x="119062" y="577215"/>
                  </a:lnTo>
                  <a:lnTo>
                    <a:pt x="148590" y="598170"/>
                  </a:lnTo>
                  <a:lnTo>
                    <a:pt x="183832" y="615315"/>
                  </a:lnTo>
                  <a:lnTo>
                    <a:pt x="213360" y="630555"/>
                  </a:lnTo>
                  <a:lnTo>
                    <a:pt x="253365" y="640080"/>
                  </a:lnTo>
                  <a:lnTo>
                    <a:pt x="288607" y="646747"/>
                  </a:lnTo>
                  <a:lnTo>
                    <a:pt x="322898" y="647700"/>
                  </a:lnTo>
                  <a:lnTo>
                    <a:pt x="358140" y="646747"/>
                  </a:lnTo>
                  <a:lnTo>
                    <a:pt x="392430" y="640080"/>
                  </a:lnTo>
                  <a:lnTo>
                    <a:pt x="432435" y="630555"/>
                  </a:lnTo>
                  <a:lnTo>
                    <a:pt x="461962" y="615315"/>
                  </a:lnTo>
                  <a:lnTo>
                    <a:pt x="497205" y="598170"/>
                  </a:lnTo>
                  <a:lnTo>
                    <a:pt x="526732" y="577215"/>
                  </a:lnTo>
                  <a:lnTo>
                    <a:pt x="552450" y="552450"/>
                  </a:lnTo>
                  <a:lnTo>
                    <a:pt x="577215" y="526733"/>
                  </a:lnTo>
                  <a:lnTo>
                    <a:pt x="597217" y="496252"/>
                  </a:lnTo>
                  <a:lnTo>
                    <a:pt x="616267" y="464820"/>
                  </a:lnTo>
                  <a:lnTo>
                    <a:pt x="626745" y="431483"/>
                  </a:lnTo>
                  <a:lnTo>
                    <a:pt x="641985" y="397192"/>
                  </a:lnTo>
                  <a:lnTo>
                    <a:pt x="646748" y="360045"/>
                  </a:lnTo>
                  <a:lnTo>
                    <a:pt x="646748" y="323850"/>
                  </a:lnTo>
                  <a:lnTo>
                    <a:pt x="646748" y="288608"/>
                  </a:lnTo>
                  <a:lnTo>
                    <a:pt x="643890" y="270510"/>
                  </a:lnTo>
                </a:path>
              </a:pathLst>
            </a:custGeom>
            <a:noFill/>
            <a:ln w="28575">
              <a:solidFill>
                <a:srgbClr val="2F4B9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374458" y="3133725"/>
              <a:ext cx="1104900" cy="1101090"/>
            </a:xfrm>
            <a:custGeom>
              <a:avLst/>
              <a:gdLst/>
              <a:ahLst/>
              <a:cxnLst/>
              <a:rect l="l" t="t" r="r" b="b"/>
              <a:pathLst>
                <a:path w="1104900" h="1101090">
                  <a:moveTo>
                    <a:pt x="1103947" y="531495"/>
                  </a:moveTo>
                  <a:lnTo>
                    <a:pt x="1100138" y="489585"/>
                  </a:lnTo>
                  <a:lnTo>
                    <a:pt x="1090612" y="427672"/>
                  </a:lnTo>
                  <a:lnTo>
                    <a:pt x="1075372" y="369570"/>
                  </a:lnTo>
                  <a:lnTo>
                    <a:pt x="1050607" y="311467"/>
                  </a:lnTo>
                  <a:lnTo>
                    <a:pt x="1020128" y="258128"/>
                  </a:lnTo>
                  <a:lnTo>
                    <a:pt x="985838" y="207645"/>
                  </a:lnTo>
                  <a:lnTo>
                    <a:pt x="941070" y="161925"/>
                  </a:lnTo>
                  <a:lnTo>
                    <a:pt x="896302" y="120015"/>
                  </a:lnTo>
                  <a:lnTo>
                    <a:pt x="845820" y="84772"/>
                  </a:lnTo>
                  <a:lnTo>
                    <a:pt x="791528" y="55245"/>
                  </a:lnTo>
                  <a:lnTo>
                    <a:pt x="737235" y="31433"/>
                  </a:lnTo>
                  <a:lnTo>
                    <a:pt x="677228" y="15240"/>
                  </a:lnTo>
                  <a:lnTo>
                    <a:pt x="612457" y="3810"/>
                  </a:lnTo>
                  <a:lnTo>
                    <a:pt x="552450" y="0"/>
                  </a:lnTo>
                  <a:lnTo>
                    <a:pt x="492442" y="3810"/>
                  </a:lnTo>
                  <a:lnTo>
                    <a:pt x="428625" y="15240"/>
                  </a:lnTo>
                  <a:lnTo>
                    <a:pt x="368617" y="31433"/>
                  </a:lnTo>
                  <a:lnTo>
                    <a:pt x="313372" y="55245"/>
                  </a:lnTo>
                  <a:lnTo>
                    <a:pt x="259080" y="84772"/>
                  </a:lnTo>
                  <a:lnTo>
                    <a:pt x="209550" y="120015"/>
                  </a:lnTo>
                  <a:lnTo>
                    <a:pt x="164782" y="161925"/>
                  </a:lnTo>
                  <a:lnTo>
                    <a:pt x="120015" y="207645"/>
                  </a:lnTo>
                  <a:lnTo>
                    <a:pt x="84772" y="258128"/>
                  </a:lnTo>
                  <a:lnTo>
                    <a:pt x="55245" y="311467"/>
                  </a:lnTo>
                  <a:lnTo>
                    <a:pt x="29527" y="369570"/>
                  </a:lnTo>
                  <a:lnTo>
                    <a:pt x="15240" y="427672"/>
                  </a:lnTo>
                  <a:lnTo>
                    <a:pt x="4762" y="489585"/>
                  </a:lnTo>
                  <a:lnTo>
                    <a:pt x="0" y="550545"/>
                  </a:lnTo>
                  <a:lnTo>
                    <a:pt x="4762" y="612458"/>
                  </a:lnTo>
                  <a:lnTo>
                    <a:pt x="15240" y="674370"/>
                  </a:lnTo>
                  <a:lnTo>
                    <a:pt x="29527" y="732472"/>
                  </a:lnTo>
                  <a:lnTo>
                    <a:pt x="55245" y="790575"/>
                  </a:lnTo>
                  <a:lnTo>
                    <a:pt x="84772" y="843915"/>
                  </a:lnTo>
                  <a:lnTo>
                    <a:pt x="120015" y="894397"/>
                  </a:lnTo>
                  <a:lnTo>
                    <a:pt x="164782" y="939165"/>
                  </a:lnTo>
                  <a:lnTo>
                    <a:pt x="209550" y="982028"/>
                  </a:lnTo>
                  <a:lnTo>
                    <a:pt x="259080" y="1017270"/>
                  </a:lnTo>
                  <a:lnTo>
                    <a:pt x="313372" y="1046797"/>
                  </a:lnTo>
                  <a:lnTo>
                    <a:pt x="368617" y="1070610"/>
                  </a:lnTo>
                  <a:lnTo>
                    <a:pt x="428625" y="1086803"/>
                  </a:lnTo>
                  <a:lnTo>
                    <a:pt x="492442" y="1098232"/>
                  </a:lnTo>
                  <a:lnTo>
                    <a:pt x="552450" y="1101090"/>
                  </a:lnTo>
                  <a:lnTo>
                    <a:pt x="612457" y="1098232"/>
                  </a:lnTo>
                  <a:lnTo>
                    <a:pt x="677228" y="1086803"/>
                  </a:lnTo>
                  <a:lnTo>
                    <a:pt x="737235" y="1070610"/>
                  </a:lnTo>
                  <a:lnTo>
                    <a:pt x="791528" y="1046797"/>
                  </a:lnTo>
                  <a:lnTo>
                    <a:pt x="845820" y="1017270"/>
                  </a:lnTo>
                  <a:lnTo>
                    <a:pt x="896302" y="982028"/>
                  </a:lnTo>
                  <a:lnTo>
                    <a:pt x="941070" y="939165"/>
                  </a:lnTo>
                  <a:lnTo>
                    <a:pt x="985838" y="894397"/>
                  </a:lnTo>
                  <a:lnTo>
                    <a:pt x="1020128" y="843915"/>
                  </a:lnTo>
                  <a:lnTo>
                    <a:pt x="1050607" y="790575"/>
                  </a:lnTo>
                  <a:lnTo>
                    <a:pt x="1075372" y="732472"/>
                  </a:lnTo>
                  <a:lnTo>
                    <a:pt x="1090612" y="674370"/>
                  </a:lnTo>
                  <a:lnTo>
                    <a:pt x="1100138" y="612458"/>
                  </a:lnTo>
                  <a:lnTo>
                    <a:pt x="1104900" y="550545"/>
                  </a:lnTo>
                  <a:lnTo>
                    <a:pt x="1100138" y="489585"/>
                  </a:lnTo>
                  <a:lnTo>
                    <a:pt x="1093470" y="446722"/>
                  </a:lnTo>
                </a:path>
              </a:pathLst>
            </a:custGeom>
            <a:noFill/>
            <a:ln w="19050">
              <a:solidFill>
                <a:srgbClr val="F26B3A"/>
              </a:solidFill>
              <a:custDash>
                <a:ds d="300000" sp="200000"/>
              </a:custDash>
            </a:ln>
          </p:spPr>
        </p:sp>
        <p:sp>
          <p:nvSpPr>
            <p:cNvPr id="16" name="Freeform 16"/>
            <p:cNvSpPr/>
            <p:nvPr/>
          </p:nvSpPr>
          <p:spPr>
            <a:xfrm>
              <a:off x="1280160" y="3036570"/>
              <a:ext cx="1293495" cy="1295400"/>
            </a:xfrm>
            <a:custGeom>
              <a:avLst/>
              <a:gdLst/>
              <a:ahLst/>
              <a:cxnLst/>
              <a:rect l="l" t="t" r="r" b="b"/>
              <a:pathLst>
                <a:path w="1293495" h="1295400">
                  <a:moveTo>
                    <a:pt x="1292543" y="628650"/>
                  </a:moveTo>
                  <a:lnTo>
                    <a:pt x="1288732" y="575310"/>
                  </a:lnTo>
                  <a:lnTo>
                    <a:pt x="1279207" y="503872"/>
                  </a:lnTo>
                  <a:lnTo>
                    <a:pt x="1259205" y="434340"/>
                  </a:lnTo>
                  <a:lnTo>
                    <a:pt x="1229678" y="366712"/>
                  </a:lnTo>
                  <a:lnTo>
                    <a:pt x="1194435" y="302895"/>
                  </a:lnTo>
                  <a:lnTo>
                    <a:pt x="1154430" y="244792"/>
                  </a:lnTo>
                  <a:lnTo>
                    <a:pt x="1104900" y="189547"/>
                  </a:lnTo>
                  <a:lnTo>
                    <a:pt x="1049655" y="140970"/>
                  </a:lnTo>
                  <a:lnTo>
                    <a:pt x="990600" y="99060"/>
                  </a:lnTo>
                  <a:lnTo>
                    <a:pt x="930592" y="64770"/>
                  </a:lnTo>
                  <a:lnTo>
                    <a:pt x="861060" y="36195"/>
                  </a:lnTo>
                  <a:lnTo>
                    <a:pt x="791528" y="16192"/>
                  </a:lnTo>
                  <a:lnTo>
                    <a:pt x="721995" y="5715"/>
                  </a:lnTo>
                  <a:lnTo>
                    <a:pt x="646748" y="0"/>
                  </a:lnTo>
                  <a:lnTo>
                    <a:pt x="572452" y="5715"/>
                  </a:lnTo>
                  <a:lnTo>
                    <a:pt x="502920" y="16192"/>
                  </a:lnTo>
                  <a:lnTo>
                    <a:pt x="432435" y="36195"/>
                  </a:lnTo>
                  <a:lnTo>
                    <a:pt x="362902" y="64770"/>
                  </a:lnTo>
                  <a:lnTo>
                    <a:pt x="303848" y="99060"/>
                  </a:lnTo>
                  <a:lnTo>
                    <a:pt x="243840" y="140970"/>
                  </a:lnTo>
                  <a:lnTo>
                    <a:pt x="188595" y="189547"/>
                  </a:lnTo>
                  <a:lnTo>
                    <a:pt x="139065" y="244792"/>
                  </a:lnTo>
                  <a:lnTo>
                    <a:pt x="99060" y="302895"/>
                  </a:lnTo>
                  <a:lnTo>
                    <a:pt x="64770" y="366712"/>
                  </a:lnTo>
                  <a:lnTo>
                    <a:pt x="34290" y="434340"/>
                  </a:lnTo>
                  <a:lnTo>
                    <a:pt x="15240" y="503872"/>
                  </a:lnTo>
                  <a:lnTo>
                    <a:pt x="4762" y="575310"/>
                  </a:lnTo>
                  <a:lnTo>
                    <a:pt x="0" y="647700"/>
                  </a:lnTo>
                  <a:lnTo>
                    <a:pt x="4762" y="721042"/>
                  </a:lnTo>
                  <a:lnTo>
                    <a:pt x="15240" y="792480"/>
                  </a:lnTo>
                  <a:lnTo>
                    <a:pt x="34290" y="862012"/>
                  </a:lnTo>
                  <a:lnTo>
                    <a:pt x="64770" y="929640"/>
                  </a:lnTo>
                  <a:lnTo>
                    <a:pt x="99060" y="993458"/>
                  </a:lnTo>
                  <a:lnTo>
                    <a:pt x="139065" y="1051560"/>
                  </a:lnTo>
                  <a:lnTo>
                    <a:pt x="188595" y="1106805"/>
                  </a:lnTo>
                  <a:lnTo>
                    <a:pt x="243840" y="1155382"/>
                  </a:lnTo>
                  <a:lnTo>
                    <a:pt x="303848" y="1197292"/>
                  </a:lnTo>
                  <a:lnTo>
                    <a:pt x="362902" y="1230630"/>
                  </a:lnTo>
                  <a:lnTo>
                    <a:pt x="432435" y="1260158"/>
                  </a:lnTo>
                  <a:lnTo>
                    <a:pt x="502920" y="1279208"/>
                  </a:lnTo>
                  <a:lnTo>
                    <a:pt x="572452" y="1290638"/>
                  </a:lnTo>
                  <a:lnTo>
                    <a:pt x="646748" y="1295400"/>
                  </a:lnTo>
                  <a:lnTo>
                    <a:pt x="721995" y="1290638"/>
                  </a:lnTo>
                  <a:lnTo>
                    <a:pt x="791528" y="1279208"/>
                  </a:lnTo>
                  <a:lnTo>
                    <a:pt x="861060" y="1260158"/>
                  </a:lnTo>
                  <a:lnTo>
                    <a:pt x="930592" y="1230630"/>
                  </a:lnTo>
                  <a:lnTo>
                    <a:pt x="990600" y="1197292"/>
                  </a:lnTo>
                  <a:lnTo>
                    <a:pt x="1049655" y="1155382"/>
                  </a:lnTo>
                  <a:lnTo>
                    <a:pt x="1104900" y="1106805"/>
                  </a:lnTo>
                  <a:lnTo>
                    <a:pt x="1154430" y="1051560"/>
                  </a:lnTo>
                  <a:lnTo>
                    <a:pt x="1194435" y="993458"/>
                  </a:lnTo>
                  <a:lnTo>
                    <a:pt x="1229678" y="929640"/>
                  </a:lnTo>
                  <a:lnTo>
                    <a:pt x="1259205" y="862012"/>
                  </a:lnTo>
                  <a:lnTo>
                    <a:pt x="1279207" y="792480"/>
                  </a:lnTo>
                  <a:lnTo>
                    <a:pt x="1288732" y="721042"/>
                  </a:lnTo>
                  <a:lnTo>
                    <a:pt x="1293495" y="647700"/>
                  </a:lnTo>
                  <a:lnTo>
                    <a:pt x="1288732" y="575310"/>
                  </a:lnTo>
                  <a:lnTo>
                    <a:pt x="1282065" y="522922"/>
                  </a:lnTo>
                </a:path>
              </a:pathLst>
            </a:custGeom>
            <a:noFill/>
            <a:ln w="19050">
              <a:solidFill>
                <a:srgbClr val="F26B3A"/>
              </a:solidFill>
              <a:custDash>
                <a:ds d="300000" sp="200000"/>
              </a:custDash>
            </a:ln>
          </p:spPr>
        </p:sp>
        <p:sp>
          <p:nvSpPr>
            <p:cNvPr id="17" name="Ellipse 17"/>
            <p:cNvSpPr/>
            <p:nvPr/>
          </p:nvSpPr>
          <p:spPr>
            <a:xfrm>
              <a:off x="2241232" y="367474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2236470" y="360235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2469832" y="367474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2455545" y="355187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2564130" y="367474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2549842" y="353091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1898332" y="365569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514725" y="3263265"/>
              <a:ext cx="96644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实线：带电球面 R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514725" y="3619500"/>
              <a:ext cx="13240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两条虚线之间：半径 r、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514725" y="3846195"/>
              <a:ext cx="8212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厚 dr 的薄球壳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514725" y="4105275"/>
              <a:ext cx="68829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90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dV = 4πr²dr</a:t>
              </a:r>
            </a:p>
          </p:txBody>
        </p:sp>
      </p:grpSp>
      <p:grpSp>
        <p:nvGrpSpPr>
          <p:cNvPr id="37" name="c1-card-3"/>
          <p:cNvGrpSpPr/>
          <p:nvPr/>
        </p:nvGrpSpPr>
        <p:grpSpPr>
          <a:xfrm>
            <a:off x="533400" y="4658678"/>
            <a:ext cx="4977765" cy="1671638"/>
            <a:chOff x="533400" y="4658678"/>
            <a:chExt cx="4977765" cy="1671638"/>
          </a:xfrm>
        </p:grpSpPr>
        <p:sp>
          <p:nvSpPr>
            <p:cNvPr id="29" name="Rectangle 29"/>
            <p:cNvSpPr/>
            <p:nvPr/>
          </p:nvSpPr>
          <p:spPr>
            <a:xfrm>
              <a:off x="533400" y="4658678"/>
              <a:ext cx="4977765" cy="1671638"/>
            </a:xfrm>
            <a:prstGeom prst="roundRect">
              <a:avLst>
                <a:gd name="adj" fmla="val 797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4792028"/>
              <a:ext cx="47625" cy="140493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52475" y="483965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45147" y="487251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检验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62000" y="523303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17448" y="5180171"/>
              <a:ext cx="382498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另一种算法：球面电势 U = q/(4πε₀R)，We = qU/2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q²/(8πε₀R)，一致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62000" y="576072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17448" y="5707856"/>
              <a:ext cx="401193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R = 0.1 m、q = 3 nC：We ≈ 4.04×10⁻⁷ J，数值积分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相同</a:t>
              </a:r>
            </a:p>
          </p:txBody>
        </p:sp>
      </p:grpSp>
      <p:grpSp>
        <p:nvGrpSpPr>
          <p:cNvPr id="51" name="c2-steps-1"/>
          <p:cNvGrpSpPr/>
          <p:nvPr/>
        </p:nvGrpSpPr>
        <p:grpSpPr>
          <a:xfrm>
            <a:off x="5815965" y="1533525"/>
            <a:ext cx="3110020" cy="1596962"/>
            <a:chOff x="5815965" y="1533525"/>
            <a:chExt cx="3110020" cy="1596962"/>
          </a:xfrm>
        </p:grpSpPr>
        <p:sp>
          <p:nvSpPr>
            <p:cNvPr id="38" name="Rectangle 38"/>
            <p:cNvSpPr/>
            <p:nvPr/>
          </p:nvSpPr>
          <p:spPr>
            <a:xfrm>
              <a:off x="5949315" y="1676400"/>
              <a:ext cx="19050" cy="1105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581596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90958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5815965" y="208692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909589" y="21607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5815965" y="263937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909589" y="27131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228588" y="1564481"/>
              <a:ext cx="3477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 E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229731" y="1818322"/>
              <a:ext cx="24540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&gt; R：E = q/(4πε₀r²)；r &lt; R：E = 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228588" y="21169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能量密度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229731" y="2371725"/>
              <a:ext cx="26962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we = ε₀E²/2 = q²/(32π²ε₀r⁴)，球内为 0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228588" y="267033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取薄球壳做体积元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229731" y="2925128"/>
              <a:ext cx="22019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dV = 4πr²dr，同一球壳上 we 相同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formula272"/>
              <p:cNvSpPr txBox="1">
                <a:spLocks noGrp="1"/>
              </p:cNvSpPr>
              <p:nvPr/>
            </p:nvSpPr>
            <p:spPr>
              <a:xfrm>
                <a:off x="5815965" y="3291840"/>
                <a:ext cx="5842635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W</m:t>
                          </m:r>
                        </m:e>
                        <m: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ff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type m:val="bar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sSup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q</m:t>
                                  </m:r>
                                </m:e>
                                <m:sup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32</m:t>
                              </m:r>
                              <m:sSup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π</m:t>
                                  </m:r>
                                </m:e>
                                <m:sup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  <m:sSub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ε</m:t>
                                  </m:r>
                                </m:e>
                                <m:sub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sub>
                              </m:sSub>
                              <m:sSup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r</m:t>
                                  </m:r>
                                </m:e>
                                <m:sup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4π</m:t>
                      </m:r>
                      <m:sSup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p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dr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p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q</m:t>
                              </m:r>
                            </m:e>
                            <m:sup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8π</m:t>
                          </m:r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ε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59" name="c2-card-3"/>
          <p:cNvGrpSpPr/>
          <p:nvPr/>
        </p:nvGrpSpPr>
        <p:grpSpPr>
          <a:xfrm>
            <a:off x="5815965" y="3883342"/>
            <a:ext cx="5842635" cy="2447925"/>
            <a:chOff x="5815965" y="3883342"/>
            <a:chExt cx="5842635" cy="2447925"/>
          </a:xfrm>
        </p:grpSpPr>
        <p:sp>
          <p:nvSpPr>
            <p:cNvPr id="53" name="Rectangle 53"/>
            <p:cNvSpPr/>
            <p:nvPr/>
          </p:nvSpPr>
          <p:spPr>
            <a:xfrm>
              <a:off x="5815965" y="3883342"/>
              <a:ext cx="5842635" cy="2447925"/>
            </a:xfrm>
            <a:prstGeom prst="roundRect">
              <a:avLst>
                <a:gd name="adj" fmla="val 5447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5996940" y="4064318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092711" y="409717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990463" y="4403884"/>
              <a:ext cx="51335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We = q²/(8πε₀R)。球内 E = 0，能量全部分布在球外的空间里，而且越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靠近球面越密集：一半的能量集中在 R 到 2R 之间。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990463" y="4932521"/>
              <a:ext cx="52271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只积到 r 时得 q²/(8πε₀)(1/R − 1/r)，r = 2R 正好是总量的一半。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990463" y="5217319"/>
              <a:ext cx="51568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 越小 We 越大：把同样多的电荷压到更小的球面上，外力要做功。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第4章 静电场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1049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5916" y="407194"/>
              <a:ext cx="899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静电场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自测题（上）场强与高斯定理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2690724" cy="278702"/>
            <a:chOff x="526161" y="1547336"/>
            <a:chExt cx="2690724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遮住答案先自己做，算完再对。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41195"/>
            <a:ext cx="3505200" cy="1768792"/>
            <a:chOff x="533400" y="1941195"/>
            <a:chExt cx="3505200" cy="1768792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3505200" cy="1768792"/>
            </a:xfrm>
            <a:prstGeom prst="roundRect">
              <a:avLst>
                <a:gd name="adj" fmla="val 75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25805" y="213360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14753" y="216789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8947" y="2490788"/>
              <a:ext cx="2963942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点电荷 q 在立方体的一个顶角上，不含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该顶角的一个面的 E 通量？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8947" y="3049905"/>
              <a:ext cx="299694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个立方体把 q 围在中心，24 个外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表面平分 q/ε₀：每面 q/(24ε₀)。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886200"/>
            <a:ext cx="3505200" cy="1768792"/>
            <a:chOff x="533400" y="3886200"/>
            <a:chExt cx="3505200" cy="1768792"/>
          </a:xfrm>
        </p:grpSpPr>
        <p:sp>
          <p:nvSpPr>
            <p:cNvPr id="15" name="Rectangle 15"/>
            <p:cNvSpPr/>
            <p:nvPr/>
          </p:nvSpPr>
          <p:spPr>
            <a:xfrm>
              <a:off x="533400" y="3886200"/>
              <a:ext cx="3505200" cy="1768792"/>
            </a:xfrm>
            <a:prstGeom prst="roundRect">
              <a:avLst>
                <a:gd name="adj" fmla="val 75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25805" y="40786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14753" y="41128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8947" y="4434840"/>
              <a:ext cx="2907792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+σ、−σ 两板之间插入 +σ 的板 C，A、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间场强变为多少？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8947" y="4994910"/>
              <a:ext cx="295408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三块板各贡献 σ/(2ε₀)，两个向右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一个向左：σ/(2ε₀)，减半。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4343400" y="1941195"/>
            <a:ext cx="3505200" cy="1768792"/>
            <a:chOff x="4343400" y="1941195"/>
            <a:chExt cx="3505200" cy="1768792"/>
          </a:xfrm>
        </p:grpSpPr>
        <p:sp>
          <p:nvSpPr>
            <p:cNvPr id="21" name="Rectangle 21"/>
            <p:cNvSpPr/>
            <p:nvPr/>
          </p:nvSpPr>
          <p:spPr>
            <a:xfrm>
              <a:off x="4343400" y="1941195"/>
              <a:ext cx="3505200" cy="1768792"/>
            </a:xfrm>
            <a:prstGeom prst="roundRect">
              <a:avLst>
                <a:gd name="adj" fmla="val 75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535805" y="213360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624753" y="216789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28947" y="2490788"/>
              <a:ext cx="284564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无限大平行板各带 +q、−q，面积 S，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两板间作用力多大？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28947" y="3049905"/>
              <a:ext cx="260261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只用对方的场 q/(2ε₀S)：f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q²/(2ε₀S)，不能用合场。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4343400" y="3886200"/>
            <a:ext cx="3505200" cy="1768792"/>
            <a:chOff x="4343400" y="3886200"/>
            <a:chExt cx="3505200" cy="1768792"/>
          </a:xfrm>
        </p:grpSpPr>
        <p:sp>
          <p:nvSpPr>
            <p:cNvPr id="27" name="Rectangle 27"/>
            <p:cNvSpPr/>
            <p:nvPr/>
          </p:nvSpPr>
          <p:spPr>
            <a:xfrm>
              <a:off x="4343400" y="3886200"/>
              <a:ext cx="3505200" cy="1768792"/>
            </a:xfrm>
            <a:prstGeom prst="roundRect">
              <a:avLst>
                <a:gd name="adj" fmla="val 75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4535805" y="40786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624753" y="41128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28947" y="4434840"/>
              <a:ext cx="2961799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+λ、−λ 两长直线相距 R，A 在 −λ 线外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侧 R/2 处，EA？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28947" y="4994910"/>
              <a:ext cx="296265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两场反向：EA = (λ/2πε₀)(2/R −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2/(3R)) = 2λ/(3πε₀R)，指向 −λ 线。</a:t>
              </a:r>
            </a:p>
          </p:txBody>
        </p:sp>
      </p:grpSp>
      <p:grpSp>
        <p:nvGrpSpPr>
          <p:cNvPr id="38" name="c3-card-1"/>
          <p:cNvGrpSpPr/>
          <p:nvPr/>
        </p:nvGrpSpPr>
        <p:grpSpPr>
          <a:xfrm>
            <a:off x="8153400" y="1941195"/>
            <a:ext cx="3505200" cy="1768792"/>
            <a:chOff x="8153400" y="1941195"/>
            <a:chExt cx="3505200" cy="1768792"/>
          </a:xfrm>
        </p:grpSpPr>
        <p:sp>
          <p:nvSpPr>
            <p:cNvPr id="33" name="Rectangle 33"/>
            <p:cNvSpPr/>
            <p:nvPr/>
          </p:nvSpPr>
          <p:spPr>
            <a:xfrm>
              <a:off x="8153400" y="1941195"/>
              <a:ext cx="3505200" cy="1768792"/>
            </a:xfrm>
            <a:prstGeom prst="roundRect">
              <a:avLst>
                <a:gd name="adj" fmla="val 75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8345805" y="213360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434753" y="216789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38947" y="2490788"/>
              <a:ext cx="268362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球面带 Q，挖去很小的 ΔS（连同电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荷），球心场强？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38947" y="3049905"/>
              <a:ext cx="286835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与挖去的 σΔS 的场等大反向：E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QΔS/(16π²ε₀R⁴)，指向 ΔS。</a:t>
              </a:r>
            </a:p>
          </p:txBody>
        </p:sp>
      </p:grpSp>
      <p:grpSp>
        <p:nvGrpSpPr>
          <p:cNvPr id="44" name="c3-card-2"/>
          <p:cNvGrpSpPr/>
          <p:nvPr/>
        </p:nvGrpSpPr>
        <p:grpSpPr>
          <a:xfrm>
            <a:off x="8153400" y="3886200"/>
            <a:ext cx="3505200" cy="1768792"/>
            <a:chOff x="8153400" y="3886200"/>
            <a:chExt cx="3505200" cy="1768792"/>
          </a:xfrm>
        </p:grpSpPr>
        <p:sp>
          <p:nvSpPr>
            <p:cNvPr id="39" name="Rectangle 39"/>
            <p:cNvSpPr/>
            <p:nvPr/>
          </p:nvSpPr>
          <p:spPr>
            <a:xfrm>
              <a:off x="8153400" y="3886200"/>
              <a:ext cx="3505200" cy="1768792"/>
            </a:xfrm>
            <a:prstGeom prst="roundRect">
              <a:avLst>
                <a:gd name="adj" fmla="val 75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345805" y="40786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434753" y="41128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38947" y="4434840"/>
              <a:ext cx="28940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∮D·dS = 0，面内一定没有电荷吗？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38947" y="4737735"/>
              <a:ext cx="29283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不一定。只说明面内自由电荷的代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数和为零，束缚电荷不计入。</a:t>
              </a:r>
            </a:p>
          </p:txBody>
        </p:sp>
      </p:grpSp>
      <p:grpSp>
        <p:nvGrpSpPr>
          <p:cNvPr id="51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5" name="Rectangle 45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040892" y="6023610"/>
              <a:ext cx="83736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叠加类题先画每个源在该点的场的方向再合成；高斯定理类题先问自己「这个面内的自由电荷是多少」。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第4章 静电场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1049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5916" y="407194"/>
              <a:ext cx="899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静电场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自测题（下）电势、导体与电容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3505200" cy="1914525"/>
            <a:chOff x="533400" y="1524000"/>
            <a:chExt cx="3505200" cy="19145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14375" y="170497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3832" y="173783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07898" y="2045494"/>
              <a:ext cx="2749245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边长 a 的正方形顶点依次放 +q、−q、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+q、−q，外力需做多少功？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07898" y="2573179"/>
              <a:ext cx="2792730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对相邻异号、2 对对角同号：A =</a:t>
              </a:r>
              <a:br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(√2 − 4)q²/(4πε₀a) ≈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−0.21q²/(ε₀a)。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603308"/>
            <a:ext cx="3505200" cy="1671638"/>
            <a:chOff x="533400" y="3603308"/>
            <a:chExt cx="3505200" cy="1671638"/>
          </a:xfrm>
        </p:grpSpPr>
        <p:sp>
          <p:nvSpPr>
            <p:cNvPr id="13" name="Rectangle 13"/>
            <p:cNvSpPr/>
            <p:nvPr/>
          </p:nvSpPr>
          <p:spPr>
            <a:xfrm>
              <a:off x="533400" y="3603308"/>
              <a:ext cx="3505200" cy="1671638"/>
            </a:xfrm>
            <a:prstGeom prst="roundRect">
              <a:avLst>
                <a:gd name="adj" fmla="val 797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14375" y="378428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3832" y="381714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07898" y="4124801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上题连接过程中放出多少热？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07898" y="4409599"/>
              <a:ext cx="2353818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电能减少量 Q²/(8πε₀R₁) −</a:t>
              </a:r>
              <a:br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Q²/[8πε₀(R₁ + R₂)]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R₂Q²/[8πε₀R₁(R₁ + R₂)]。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4343400" y="1524000"/>
            <a:ext cx="3505200" cy="1914525"/>
            <a:chOff x="4343400" y="1524000"/>
            <a:chExt cx="3505200" cy="1914525"/>
          </a:xfrm>
        </p:grpSpPr>
        <p:sp>
          <p:nvSpPr>
            <p:cNvPr id="19" name="Rectangle 19"/>
            <p:cNvSpPr/>
            <p:nvPr/>
          </p:nvSpPr>
          <p:spPr>
            <a:xfrm>
              <a:off x="4343400" y="1524000"/>
              <a:ext cx="3505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24375" y="170497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13832" y="173783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17898" y="2045494"/>
              <a:ext cx="267284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内外半径 R、2R 的金属球壳，离球心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R/2 处放 q，球心电势？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17898" y="2573179"/>
              <a:ext cx="249199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内表面 −q、外表面 +q：U₀ =</a:t>
              </a:r>
              <a:br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(q/4πε₀)(2/R − 1/R + 1/(2R))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3q/(8πε₀R)。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4343400" y="3603308"/>
            <a:ext cx="3505200" cy="1671638"/>
            <a:chOff x="4343400" y="3603308"/>
            <a:chExt cx="3505200" cy="1671638"/>
          </a:xfrm>
        </p:grpSpPr>
        <p:sp>
          <p:nvSpPr>
            <p:cNvPr id="25" name="Rectangle 25"/>
            <p:cNvSpPr/>
            <p:nvPr/>
          </p:nvSpPr>
          <p:spPr>
            <a:xfrm>
              <a:off x="4343400" y="3603308"/>
              <a:ext cx="3505200" cy="1671638"/>
            </a:xfrm>
            <a:prstGeom prst="roundRect">
              <a:avLst>
                <a:gd name="adj" fmla="val 797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24375" y="378428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13832" y="381714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17898" y="4124801"/>
              <a:ext cx="290408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同轴圆筒间充满 εr 的介质，单位长度带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±λ，D 和 E？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17898" y="4652486"/>
              <a:ext cx="26139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D·2πrl = λl：D = λ/(2πr)，E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λ/(2πε₀εr·r)。</a:t>
              </a:r>
            </a:p>
          </p:txBody>
        </p:sp>
      </p:grpSp>
      <p:grpSp>
        <p:nvGrpSpPr>
          <p:cNvPr id="36" name="c3-card-1"/>
          <p:cNvGrpSpPr/>
          <p:nvPr/>
        </p:nvGrpSpPr>
        <p:grpSpPr>
          <a:xfrm>
            <a:off x="8153400" y="1524000"/>
            <a:ext cx="3505200" cy="1671638"/>
            <a:chOff x="8153400" y="1524000"/>
            <a:chExt cx="3505200" cy="1671638"/>
          </a:xfrm>
        </p:grpSpPr>
        <p:sp>
          <p:nvSpPr>
            <p:cNvPr id="31" name="Rectangle 31"/>
            <p:cNvSpPr/>
            <p:nvPr/>
          </p:nvSpPr>
          <p:spPr>
            <a:xfrm>
              <a:off x="8153400" y="1524000"/>
              <a:ext cx="3505200" cy="1671638"/>
            </a:xfrm>
            <a:prstGeom prst="roundRect">
              <a:avLst>
                <a:gd name="adj" fmla="val 797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334375" y="170497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23832" y="173783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27898" y="2045494"/>
              <a:ext cx="289473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相距很远的导体球 R₁（带 Q）、R₂（不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带电）用导线连接，各带多少电？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27898" y="2573179"/>
              <a:ext cx="293090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等势 q₁/R₁ = q₂/R₂：q₁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R₁Q/(R₁ + R₂)，q₂ = R₂Q/(R₁ + R₂)。</a:t>
              </a:r>
            </a:p>
          </p:txBody>
        </p:sp>
      </p:grpSp>
      <p:grpSp>
        <p:nvGrpSpPr>
          <p:cNvPr id="42" name="c3-card-2"/>
          <p:cNvGrpSpPr/>
          <p:nvPr/>
        </p:nvGrpSpPr>
        <p:grpSpPr>
          <a:xfrm>
            <a:off x="8153400" y="3360420"/>
            <a:ext cx="3505200" cy="1914525"/>
            <a:chOff x="8153400" y="3360420"/>
            <a:chExt cx="3505200" cy="1914525"/>
          </a:xfrm>
        </p:grpSpPr>
        <p:sp>
          <p:nvSpPr>
            <p:cNvPr id="37" name="Rectangle 37"/>
            <p:cNvSpPr/>
            <p:nvPr/>
          </p:nvSpPr>
          <p:spPr>
            <a:xfrm>
              <a:off x="8153400" y="3360420"/>
              <a:ext cx="3505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334375" y="354139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23832" y="357425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27898" y="3881914"/>
              <a:ext cx="2980893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球面（R，Q）的球心有点电荷 q，球内距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球心 r 处电势？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27898" y="4409599"/>
              <a:ext cx="2963418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叠加：U = q/(4πε₀r) +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Q/(4πε₀R)，球面在内部处处贡献同一个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值。</a:t>
              </a:r>
            </a:p>
          </p:txBody>
        </p:sp>
      </p:grpSp>
      <p:grpSp>
        <p:nvGrpSpPr>
          <p:cNvPr id="48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3" name="Rectangle 4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1273" y="6039326"/>
              <a:ext cx="101807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导体题一律先定每个表面的电荷，再把各层当均匀带电球面叠加电势；电容器题先分清断开电源（Q 不变）还是接着电源（U 不变）。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第4章 静电场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1049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5916" y="407194"/>
              <a:ext cx="899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第4章 静电场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bullets-1"/>
          <p:cNvGrpSpPr/>
          <p:nvPr/>
        </p:nvGrpSpPr>
        <p:grpSpPr>
          <a:xfrm>
            <a:off x="533400" y="1534478"/>
            <a:ext cx="5299481" cy="2549080"/>
            <a:chOff x="533400" y="1534478"/>
            <a:chExt cx="5299481" cy="2549080"/>
          </a:xfrm>
        </p:grpSpPr>
        <p:sp>
          <p:nvSpPr>
            <p:cNvPr id="7" name="Ellipse 7"/>
            <p:cNvSpPr/>
            <p:nvPr/>
          </p:nvSpPr>
          <p:spPr>
            <a:xfrm>
              <a:off x="533400" y="1534478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89078" y="157286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4197" y="1545907"/>
              <a:ext cx="490861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E 两条路：dq 积分（先用对称性去掉抵消的分量）；对称分布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用高斯定理 ∮D·dS = Σq，先求 D 再 E = D/ε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02168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89078" y="214150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14197" y="2114550"/>
              <a:ext cx="482288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常用结果：点电荷 q/(4πε₀r²)，无限长直线 λ/(2πε₀r)，无限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大平面 σ/(2ε₀)，球面内 0、外同点电荷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670810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89078" y="270919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14197" y="2683192"/>
              <a:ext cx="468572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U 两条路：定义法 ∫E·dl 积到零点（分区要分段）；叠加法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∫dq/(4πε₀r)，默认无穷远为零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239452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9078" y="327783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4197" y="3251835"/>
              <a:ext cx="50186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= −∇U：场强指向电势降得最快的方向，等势面与电场线正交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3549968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89078" y="358930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14197" y="3562350"/>
              <a:ext cx="468572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导体静电平衡：内部 E = 0、等势体、电荷在表面，表面外 E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σ/ε₀；电容 C = q/U，储能 Q²/(2C)，能量密度 εE²/2</a:t>
              </a:r>
            </a:p>
          </p:txBody>
        </p:sp>
      </p:grpSp>
      <p:grpSp>
        <p:nvGrpSpPr>
          <p:cNvPr id="29" name="c1-callout-2"/>
          <p:cNvGrpSpPr/>
          <p:nvPr/>
        </p:nvGrpSpPr>
        <p:grpSpPr>
          <a:xfrm>
            <a:off x="533400" y="4205288"/>
            <a:ext cx="5410200" cy="1431608"/>
            <a:chOff x="533400" y="4205288"/>
            <a:chExt cx="5410200" cy="1431608"/>
          </a:xfrm>
        </p:grpSpPr>
        <p:sp>
          <p:nvSpPr>
            <p:cNvPr id="23" name="Rectangle 23"/>
            <p:cNvSpPr/>
            <p:nvPr/>
          </p:nvSpPr>
          <p:spPr>
            <a:xfrm>
              <a:off x="533400" y="4205288"/>
              <a:ext cx="5410200" cy="1431608"/>
            </a:xfrm>
            <a:prstGeom prst="roundRect">
              <a:avLst>
                <a:gd name="adj" fmla="val 798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738188" y="4821555"/>
              <a:ext cx="200026" cy="200025"/>
              <a:chOff x="738188" y="4821555"/>
              <a:chExt cx="200026" cy="200025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738188" y="482155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77926" y="486600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12642" y="497713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040892" y="4702492"/>
              <a:ext cx="44714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三个自检习惯：场强题检查远处是否退化成点电荷；电势题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用两种方法各算一遍；导体题检查每个导体是否等势。</a:t>
              </a:r>
            </a:p>
          </p:txBody>
        </p:sp>
      </p:grpSp>
      <p:grpSp>
        <p:nvGrpSpPr>
          <p:cNvPr id="47" name="c2-card-1"/>
          <p:cNvGrpSpPr/>
          <p:nvPr/>
        </p:nvGrpSpPr>
        <p:grpSpPr>
          <a:xfrm>
            <a:off x="6248400" y="1524000"/>
            <a:ext cx="5410200" cy="2728912"/>
            <a:chOff x="6248400" y="1524000"/>
            <a:chExt cx="5410200" cy="2728912"/>
          </a:xfrm>
        </p:grpSpPr>
        <p:sp>
          <p:nvSpPr>
            <p:cNvPr id="30" name="Rectangle 30"/>
            <p:cNvSpPr/>
            <p:nvPr/>
          </p:nvSpPr>
          <p:spPr>
            <a:xfrm>
              <a:off x="6248400" y="1524000"/>
              <a:ext cx="5410200" cy="2728912"/>
            </a:xfrm>
            <a:prstGeom prst="roundRect">
              <a:avLst>
                <a:gd name="adj" fmla="val 488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57925" y="1657350"/>
              <a:ext cx="47625" cy="246221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78905" y="1716405"/>
              <a:ext cx="15430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38341" y="1750695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本讲义对原课件的更正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487478" y="2128838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643497" y="2072640"/>
              <a:ext cx="46615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四分之一圆环 λ/(4πε₀a) 应为 λ/(4πε₀R)（原第 22 页）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487478" y="2431732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643497" y="2375535"/>
              <a:ext cx="42186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无极分子例子 NH₄ 是离子，应为 CH₄（原第 24 页）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487478" y="2734627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643497" y="2678430"/>
              <a:ext cx="39364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= E₀/εr 要求介质充满电场空间（原第 26 页）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487478" y="303657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643497" y="2980372"/>
              <a:ext cx="41020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ε₁ ≠ ε₂ 时球体的 E 在 r = R 处跳变（原第 39 页）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487478" y="3339465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643497" y="3283268"/>
              <a:ext cx="30487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球坐标梯度式漏了负号（原第 65 页）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487478" y="3641407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643497" y="3585210"/>
              <a:ext cx="32395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圆柱电容 2πεd 应为 2πεl（原第 76 页）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73190" y="3884771"/>
              <a:ext cx="38787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另有两处 ε 与 ε₀ 混写（原第 21、47 页），当页已注明。</a:t>
              </a:r>
            </a:p>
          </p:txBody>
        </p:sp>
      </p:grpSp>
      <p:grpSp>
        <p:nvGrpSpPr>
          <p:cNvPr id="52" name="c2-card-2"/>
          <p:cNvGrpSpPr/>
          <p:nvPr/>
        </p:nvGrpSpPr>
        <p:grpSpPr>
          <a:xfrm>
            <a:off x="6248400" y="4427220"/>
            <a:ext cx="5410200" cy="1209675"/>
            <a:chOff x="6248400" y="4427220"/>
            <a:chExt cx="5410200" cy="1209675"/>
          </a:xfrm>
        </p:grpSpPr>
        <p:sp>
          <p:nvSpPr>
            <p:cNvPr id="48" name="Rectangle 48"/>
            <p:cNvSpPr/>
            <p:nvPr/>
          </p:nvSpPr>
          <p:spPr>
            <a:xfrm>
              <a:off x="6248400" y="4427220"/>
              <a:ext cx="5410200" cy="1209675"/>
            </a:xfrm>
            <a:prstGeom prst="roundRect">
              <a:avLst>
                <a:gd name="adj" fmla="val 11024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440805" y="4619625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12242" y="4653915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补充进来的内容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433947" y="4976812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各例题的完整步骤与检验、讨论表与判断题、静电屏蔽一节（原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课件只有标题）、电容的退化检验、能量储存在场中的说明。</a:t>
              </a:r>
            </a:p>
          </p:txBody>
        </p:sp>
      </p:grpSp>
      <p:grpSp>
        <p:nvGrpSpPr>
          <p:cNvPr id="58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3" name="Rectangle 5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1040892" y="6023610"/>
              <a:ext cx="99729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第5章稳恒磁场会原样用到本章的套路：毕奥-萨伐尔定律对应 dq 积分，安培环路定理对应高斯定理，同样靠对称性选路径。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第4章 静电场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hys_ch4">
  <a:themeElements>
    <a:clrScheme name="phys_ch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hys_ch4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hys_ch4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62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2026-09-23T09:52:22Z</dcterms:created>
  <dcterms:modified xsi:type="dcterms:W3CDTF">2026-09-23T09:52:22Z</dcterms:modified>
  <cp:category/>
  <cp:contentStatus/>
</cp:coreProperties>
</file>