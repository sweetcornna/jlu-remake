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hys_ch7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hys_ch7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3d9f443ec8547934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27eefb339494498.png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98e52e8d049324c.png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389882" cy="3437763"/>
            <a:chOff x="666750" y="1619250"/>
            <a:chExt cx="4389882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745932" cy="3429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9438" y="1718310"/>
              <a:ext cx="14996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基础物理学 · 第七章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光的干涉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379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从相干条件、光程差到双缝、薄膜与劈尖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相干光与光程差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杨氏双缝与劳埃德镜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薄膜干涉与增透膜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劈尖、牛顿环与迈克耳孙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208793" cy="205359"/>
            <a:chOff x="680466" y="6192202"/>
            <a:chExt cx="4208793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2087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自学复习版｜据吉林大学《基础物理学》第7章课件整理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光的相干性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光矢量、相干条件、相干叠加的光强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光程与光程差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45204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光程 L = nr、相位差、透镜的等光程性、获得相干光的方法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分波阵面干涉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杨氏双缝、条纹特征、劳埃德镜与五道例题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薄膜干涉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光程差推导、半波损失判据、增透膜与增反膜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劈尖干涉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等厚条纹、条纹间距与三道例题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补充：牛顿环与迈克耳孙干涉仪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原课件只列了名字，这里补上公式与例题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把几何路程换成光程，写出两束光的光程差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与相位差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7299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x = kDλ/a、Δx = Dλ/a 算双缝条纹的位置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与间距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判断两个反射面有无半波损失，写出薄膜反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射光的光程差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15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由劈尖条纹间距 l = λ/(2nθ) 求波长、夹角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或条纹数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算增透膜、增反膜的最小厚度，解释镜头为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什么泛蓝紫色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479343" cy="3351847"/>
            <a:chOff x="667512" y="1835468"/>
            <a:chExt cx="6479343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光的相干性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46943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对应原课件 7.1.1，什么样的两束光相遇才会出现稳定的明暗条纹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光学的分类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光矢量与可见光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干涉现象与相干条件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相干叠加的光强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光的相干性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光学研究光的现象、本质以及光与物质的相互作用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5204841" cy="2348198"/>
            <a:chOff x="533400" y="1533525"/>
            <a:chExt cx="5204841" cy="2348198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7706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4193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30422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378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21607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粒子说（17～19 世纪）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47271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牛顿认为光是微粒流，能解释直线传播和反射，但解释不了干涉、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衍射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453640"/>
              <a:ext cx="21607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波动说（19～20 世纪）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746534"/>
              <a:ext cx="47922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 世纪初杨氏双缝实验、菲涅耳的衍射理论确立了光的波动性；麦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克斯韦进一步指出光是电磁波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3338512"/>
              <a:ext cx="27352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波粒二象性（20 世纪初以来）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632359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光电效应等实验说明光同时具有粒子性，光既是波也是光子流</a:t>
              </a:r>
            </a:p>
          </p:txBody>
        </p:sp>
      </p:grpSp>
      <p:grpSp>
        <p:nvGrpSpPr>
          <p:cNvPr id="32" name="c1-kv-2"/>
          <p:cNvGrpSpPr/>
          <p:nvPr/>
        </p:nvGrpSpPr>
        <p:grpSpPr>
          <a:xfrm>
            <a:off x="525780" y="4085272"/>
            <a:ext cx="5417820" cy="1613536"/>
            <a:chOff x="525780" y="4085272"/>
            <a:chExt cx="5417820" cy="1613536"/>
          </a:xfrm>
        </p:grpSpPr>
        <p:sp>
          <p:nvSpPr>
            <p:cNvPr id="21" name="TextBox 21"/>
            <p:cNvSpPr txBox="1"/>
            <p:nvPr/>
          </p:nvSpPr>
          <p:spPr>
            <a:xfrm>
              <a:off x="525780" y="4085272"/>
              <a:ext cx="7472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1801 年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492568" y="4085272"/>
              <a:ext cx="39629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托马斯·杨做双缝实验，第一次测出光的波长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4053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5780" y="4525328"/>
              <a:ext cx="7472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1818 年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92568" y="4525328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菲涅耳用波动理论算出衍射图样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8453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5780" y="4965382"/>
              <a:ext cx="7472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1865 年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492568" y="4965382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麦克斯韦建立电磁理论，指出光是电磁波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52854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25780" y="5405438"/>
              <a:ext cx="7472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1905 年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92568" y="5405438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爱因斯坦用光量子解释光电效应</a:t>
              </a:r>
            </a:p>
          </p:txBody>
        </p:sp>
      </p:grpSp>
      <p:grpSp>
        <p:nvGrpSpPr>
          <p:cNvPr id="48" name="c2-table-1"/>
          <p:cNvGrpSpPr/>
          <p:nvPr/>
        </p:nvGrpSpPr>
        <p:grpSpPr>
          <a:xfrm>
            <a:off x="6248400" y="1524000"/>
            <a:ext cx="5410200" cy="1795462"/>
            <a:chOff x="6248400" y="1524000"/>
            <a:chExt cx="5410200" cy="1795462"/>
          </a:xfrm>
        </p:grpSpPr>
        <p:sp>
          <p:nvSpPr>
            <p:cNvPr id="33" name="Rectangle 33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2684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分支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35963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研究内容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56223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几何光学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870698" y="2108359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光的直线传播、反射、折射规律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48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57925" y="2430780"/>
              <a:ext cx="149542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56223" y="25569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波动光学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870698" y="255698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光的干涉、衍射、偏振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48400" y="28660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56223" y="3005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量子光学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870698" y="30056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光与物质相互作用的规律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248400" y="1524000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75811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2-card-2"/>
          <p:cNvGrpSpPr/>
          <p:nvPr/>
        </p:nvGrpSpPr>
        <p:grpSpPr>
          <a:xfrm>
            <a:off x="6248400" y="3509962"/>
            <a:ext cx="5410200" cy="2129790"/>
            <a:chOff x="6248400" y="3509962"/>
            <a:chExt cx="5410200" cy="2129790"/>
          </a:xfrm>
        </p:grpSpPr>
        <p:sp>
          <p:nvSpPr>
            <p:cNvPr id="49" name="Rectangle 49"/>
            <p:cNvSpPr/>
            <p:nvPr/>
          </p:nvSpPr>
          <p:spPr>
            <a:xfrm>
              <a:off x="6248400" y="3509962"/>
              <a:ext cx="5410200" cy="2129790"/>
            </a:xfrm>
            <a:prstGeom prst="roundRect">
              <a:avLst>
                <a:gd name="adj" fmla="val 62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57925" y="3643312"/>
              <a:ext cx="47625" cy="186309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496050" y="3719512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65557" y="375523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两种光学的关系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88430" y="4096702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几何光学是波动光学在波长趋于零时的近似。障碍物、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缝宽远大于波长时，光近似沿直线走；尺度与波长可比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时，干涉、衍射就显现出来。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5" name="Rectangle 5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130" y="5991225"/>
              <a:ext cx="101319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本章的干涉和第8章的衍射都属于波动光学，处理方法沿用第3章机械波的叠加与干涉，只是把波程差换成光程差。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73158" cy="909257"/>
            <a:chOff x="520446" y="342900"/>
            <a:chExt cx="737315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光的相干性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7315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光矢量是电场强度 E，可见光波长 400～760 nm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4977765" cy="1602105"/>
            <a:chOff x="533400" y="1524000"/>
            <a:chExt cx="4977765" cy="1602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79451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2588" y="1769269"/>
              <a:ext cx="16914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光矢量（light vector）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206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光是电磁波，引起感光作用和生理作用的主要是其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中的电场强度 E，所以把 E 矢量叫光矢量。以后说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「光的振动」，指的就是 E 的振动。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316605"/>
            <a:ext cx="4977765" cy="1602105"/>
            <a:chOff x="533400" y="3316605"/>
            <a:chExt cx="4977765" cy="1602105"/>
          </a:xfrm>
        </p:grpSpPr>
        <p:sp>
          <p:nvSpPr>
            <p:cNvPr id="13" name="Rectangle 13"/>
            <p:cNvSpPr/>
            <p:nvPr/>
          </p:nvSpPr>
          <p:spPr>
            <a:xfrm>
              <a:off x="533400" y="3316605"/>
              <a:ext cx="497776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449955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81050" y="352615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4507" y="356187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光的干涉现象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3430" y="3903345"/>
              <a:ext cx="4206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满足相干条件的几束光在相遇区域里，有些点的振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动始终加强（亮条纹），有些点始终减弱（暗条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纹），这种稳定的强弱分布叫光的干涉。</a:t>
              </a:r>
            </a:p>
          </p:txBody>
        </p:sp>
      </p:grpSp>
      <p:grpSp>
        <p:nvGrpSpPr>
          <p:cNvPr id="110" name="g_spectrum"/>
          <p:cNvGrpSpPr/>
          <p:nvPr/>
        </p:nvGrpSpPr>
        <p:grpSpPr>
          <a:xfrm>
            <a:off x="6016739" y="1666875"/>
            <a:ext cx="5577677" cy="1281779"/>
            <a:chOff x="6016739" y="1666875"/>
            <a:chExt cx="5577677" cy="1281779"/>
          </a:xfrm>
        </p:grpSpPr>
        <p:sp>
          <p:nvSpPr>
            <p:cNvPr id="19" name="Freeform 19"/>
            <p:cNvSpPr/>
            <p:nvPr/>
          </p:nvSpPr>
          <p:spPr>
            <a:xfrm>
              <a:off x="640842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8300BE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647509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8000D1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654177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7A00E4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660844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7000F6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667512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5F00FF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674179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4900FF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680847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3000FF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687514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1400FF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694182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17FF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700944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38FF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707612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54FF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14279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6EFF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20947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87FF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727614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9EFF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734282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B5FF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740949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CBFF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747712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E0FF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754380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F5FF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60952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FFE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67619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FFAF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74382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FF74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81050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00FF30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787717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12FF00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94385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2BFF00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801052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40FF00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07720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54FF00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814387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67FF00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21150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79FF00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827817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8AFF00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834485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9BFF00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841152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ABFF00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847820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BBFF00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854487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CBFF00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861155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DAFF00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867822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E9FF00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874490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8FF00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881157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F700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887920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E700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894588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D700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901255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C600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907923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B600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914590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A400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921258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9200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927925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8000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934688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6D00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941355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5900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947928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4400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954595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2D00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961358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1300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968025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0000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974693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0000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981360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0000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988028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0000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994695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0000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1001458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0000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1008126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0000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1014793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0000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1021461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0000"/>
              </a:solidFill>
            </a:ln>
          </p:spPr>
        </p:sp>
        <p:sp>
          <p:nvSpPr>
            <p:cNvPr id="77" name="Freeform 77"/>
            <p:cNvSpPr/>
            <p:nvPr/>
          </p:nvSpPr>
          <p:spPr>
            <a:xfrm>
              <a:off x="1028128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0000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1034796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F0000"/>
              </a:solidFill>
            </a:ln>
          </p:spPr>
        </p:sp>
        <p:sp>
          <p:nvSpPr>
            <p:cNvPr id="79" name="Freeform 79"/>
            <p:cNvSpPr/>
            <p:nvPr/>
          </p:nvSpPr>
          <p:spPr>
            <a:xfrm>
              <a:off x="1041463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B0000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1048226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F20000"/>
              </a:solidFill>
            </a:ln>
          </p:spPr>
        </p:sp>
        <p:sp>
          <p:nvSpPr>
            <p:cNvPr id="81" name="Freeform 81"/>
            <p:cNvSpPr/>
            <p:nvPr/>
          </p:nvSpPr>
          <p:spPr>
            <a:xfrm>
              <a:off x="1054798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E80000"/>
              </a:solidFill>
            </a:ln>
          </p:spPr>
        </p:sp>
        <p:sp>
          <p:nvSpPr>
            <p:cNvPr id="82" name="Freeform 82"/>
            <p:cNvSpPr/>
            <p:nvPr/>
          </p:nvSpPr>
          <p:spPr>
            <a:xfrm>
              <a:off x="10614660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DF0000"/>
              </a:solidFill>
            </a:ln>
          </p:spPr>
        </p:sp>
        <p:sp>
          <p:nvSpPr>
            <p:cNvPr id="83" name="Freeform 83"/>
            <p:cNvSpPr/>
            <p:nvPr/>
          </p:nvSpPr>
          <p:spPr>
            <a:xfrm>
              <a:off x="10681335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D60000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1074896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CD0000"/>
              </a:solidFill>
            </a:ln>
          </p:spPr>
        </p:sp>
        <p:sp>
          <p:nvSpPr>
            <p:cNvPr id="85" name="Freeform 85"/>
            <p:cNvSpPr/>
            <p:nvPr/>
          </p:nvSpPr>
          <p:spPr>
            <a:xfrm>
              <a:off x="1081563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C30000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1088231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BA0000"/>
              </a:solidFill>
            </a:ln>
          </p:spPr>
        </p:sp>
        <p:sp>
          <p:nvSpPr>
            <p:cNvPr id="87" name="Freeform 87"/>
            <p:cNvSpPr/>
            <p:nvPr/>
          </p:nvSpPr>
          <p:spPr>
            <a:xfrm>
              <a:off x="1094898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B00000"/>
              </a:solidFill>
            </a:ln>
          </p:spPr>
        </p:sp>
        <p:sp>
          <p:nvSpPr>
            <p:cNvPr id="88" name="Freeform 88"/>
            <p:cNvSpPr/>
            <p:nvPr/>
          </p:nvSpPr>
          <p:spPr>
            <a:xfrm>
              <a:off x="1101566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A60000"/>
              </a:solidFill>
            </a:ln>
          </p:spPr>
        </p:sp>
        <p:sp>
          <p:nvSpPr>
            <p:cNvPr id="89" name="Freeform 89"/>
            <p:cNvSpPr/>
            <p:nvPr/>
          </p:nvSpPr>
          <p:spPr>
            <a:xfrm>
              <a:off x="11082338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9C0000"/>
              </a:solidFill>
            </a:ln>
          </p:spPr>
        </p:sp>
        <p:sp>
          <p:nvSpPr>
            <p:cNvPr id="90" name="Freeform 90"/>
            <p:cNvSpPr/>
            <p:nvPr/>
          </p:nvSpPr>
          <p:spPr>
            <a:xfrm>
              <a:off x="11149012" y="191452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85439">
              <a:solidFill>
                <a:srgbClr val="920000"/>
              </a:solidFill>
            </a:ln>
          </p:spPr>
        </p:sp>
        <p:sp>
          <p:nvSpPr>
            <p:cNvPr id="91" name="Freeform 91"/>
            <p:cNvSpPr/>
            <p:nvPr/>
          </p:nvSpPr>
          <p:spPr>
            <a:xfrm>
              <a:off x="6375082" y="235267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4288">
              <a:solidFill>
                <a:srgbClr val="5B6475"/>
              </a:solidFill>
            </a:ln>
          </p:spPr>
        </p:sp>
        <p:sp>
          <p:nvSpPr>
            <p:cNvPr id="92" name="Freeform 92"/>
            <p:cNvSpPr/>
            <p:nvPr/>
          </p:nvSpPr>
          <p:spPr>
            <a:xfrm>
              <a:off x="7710488" y="235267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4288">
              <a:solidFill>
                <a:srgbClr val="5B6475"/>
              </a:solidFill>
            </a:ln>
          </p:spPr>
        </p:sp>
        <p:sp>
          <p:nvSpPr>
            <p:cNvPr id="93" name="Freeform 93"/>
            <p:cNvSpPr/>
            <p:nvPr/>
          </p:nvSpPr>
          <p:spPr>
            <a:xfrm>
              <a:off x="9045892" y="235267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4288">
              <a:solidFill>
                <a:srgbClr val="5B6475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10381298" y="235267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4288">
              <a:solidFill>
                <a:srgbClr val="5B6475"/>
              </a:solidFill>
            </a:ln>
          </p:spPr>
        </p:sp>
        <p:sp>
          <p:nvSpPr>
            <p:cNvPr id="95" name="Freeform 95"/>
            <p:cNvSpPr/>
            <p:nvPr/>
          </p:nvSpPr>
          <p:spPr>
            <a:xfrm>
              <a:off x="11183302" y="235267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4288">
              <a:solidFill>
                <a:srgbClr val="5B6475"/>
              </a:solidFill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6261289" y="2490311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400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7596694" y="2490311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500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932099" y="2490311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600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0267504" y="2490311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700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069509" y="2490311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760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11267884" y="2661761"/>
              <a:ext cx="3265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λ/nm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6016739" y="205311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紫外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11267884" y="205311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红外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6499098" y="1666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紫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7166801" y="1666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蓝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8034528" y="1666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绿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8702231" y="1666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黄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10038588" y="1666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红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7747550" y="2757964"/>
              <a:ext cx="20613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人眼最敏感：550 nm 附近的黄绿光</a:t>
              </a:r>
            </a:p>
          </p:txBody>
        </p:sp>
      </p:grpSp>
      <p:grpSp>
        <p:nvGrpSpPr>
          <p:cNvPr id="123" name="c2-card-2"/>
          <p:cNvGrpSpPr/>
          <p:nvPr/>
        </p:nvGrpSpPr>
        <p:grpSpPr>
          <a:xfrm>
            <a:off x="5815965" y="3143250"/>
            <a:ext cx="5842635" cy="1775460"/>
            <a:chOff x="5815965" y="3143250"/>
            <a:chExt cx="5842635" cy="1775460"/>
          </a:xfrm>
        </p:grpSpPr>
        <p:sp>
          <p:nvSpPr>
            <p:cNvPr id="111" name="Rectangle 111"/>
            <p:cNvSpPr/>
            <p:nvPr/>
          </p:nvSpPr>
          <p:spPr>
            <a:xfrm>
              <a:off x="5815965" y="3143250"/>
              <a:ext cx="5842635" cy="1775460"/>
            </a:xfrm>
            <a:prstGeom prst="roundRect">
              <a:avLst>
                <a:gd name="adj" fmla="val 7511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2" name="Rectangle 112"/>
            <p:cNvSpPr/>
            <p:nvPr/>
          </p:nvSpPr>
          <p:spPr>
            <a:xfrm>
              <a:off x="6025515" y="3352800"/>
              <a:ext cx="1916430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113" name="TextBox 113"/>
            <p:cNvSpPr txBox="1"/>
            <p:nvPr/>
          </p:nvSpPr>
          <p:spPr>
            <a:xfrm>
              <a:off x="6073369" y="3388519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相干条件（与机械波相同）</a:t>
              </a:r>
            </a:p>
          </p:txBody>
        </p:sp>
        <p:sp>
          <p:nvSpPr>
            <p:cNvPr id="114" name="Ellipse 114"/>
            <p:cNvSpPr/>
            <p:nvPr/>
          </p:nvSpPr>
          <p:spPr>
            <a:xfrm>
              <a:off x="6025515" y="371665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5" name="TextBox 115"/>
            <p:cNvSpPr txBox="1"/>
            <p:nvPr/>
          </p:nvSpPr>
          <p:spPr>
            <a:xfrm>
              <a:off x="6087364" y="37589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6326505" y="372999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频率相同</a:t>
              </a:r>
            </a:p>
          </p:txBody>
        </p:sp>
        <p:sp>
          <p:nvSpPr>
            <p:cNvPr id="117" name="Ellipse 117"/>
            <p:cNvSpPr/>
            <p:nvPr/>
          </p:nvSpPr>
          <p:spPr>
            <a:xfrm>
              <a:off x="6025515" y="405193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8" name="TextBox 118"/>
            <p:cNvSpPr txBox="1"/>
            <p:nvPr/>
          </p:nvSpPr>
          <p:spPr>
            <a:xfrm>
              <a:off x="6087364" y="40942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6326505" y="406527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光矢量的振动方向相同</a:t>
              </a:r>
            </a:p>
          </p:txBody>
        </p:sp>
        <p:sp>
          <p:nvSpPr>
            <p:cNvPr id="120" name="Ellipse 120"/>
            <p:cNvSpPr/>
            <p:nvPr/>
          </p:nvSpPr>
          <p:spPr>
            <a:xfrm>
              <a:off x="6025515" y="438721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1" name="TextBox 121"/>
            <p:cNvSpPr txBox="1"/>
            <p:nvPr/>
          </p:nvSpPr>
          <p:spPr>
            <a:xfrm>
              <a:off x="6087364" y="44295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6326505" y="440055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相位差恒定</a:t>
              </a:r>
            </a:p>
          </p:txBody>
        </p:sp>
      </p:grpSp>
      <p:grpSp>
        <p:nvGrpSpPr>
          <p:cNvPr id="130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124" name="Rectangle 124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28" name="Group 128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6" name="Freeform 126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7" name="Freeform 127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29" name="TextBox 129"/>
            <p:cNvSpPr txBox="1"/>
            <p:nvPr/>
          </p:nvSpPr>
          <p:spPr>
            <a:xfrm>
              <a:off x="1040130" y="5728335"/>
              <a:ext cx="99783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可见光只占电磁波谱很窄的一段，从紫到红波长增加一倍都不到。本章例题里的 546.1 nm、589.3 nm 分别是汞灯绿线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和钠黄光。</a:t>
              </a:r>
            </a:p>
          </p:txBody>
        </p:sp>
      </p:grpSp>
      <p:grpSp>
        <p:nvGrpSpPr>
          <p:cNvPr id="1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31" name="TextBox 13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37892" cy="909257"/>
            <a:chOff x="520446" y="342900"/>
            <a:chExt cx="703789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光的相干性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3789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相干叠加的光强随相位差在 0 到 4I₀ 之间变化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4"/>
              <p:cNvSpPr txBox="1">
                <a:spLocks noGrp="1"/>
              </p:cNvSpPr>
              <p:nvPr/>
            </p:nvSpPr>
            <p:spPr>
              <a:xfrm>
                <a:off x="533400" y="1524000"/>
                <a:ext cx="54102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ad>
                        <m:radPr>
                          <m:degHide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/>
                        <m:e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rad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</m:func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formula5"/>
              <p:cNvSpPr txBox="1">
                <a:spLocks noGrp="1"/>
              </p:cNvSpPr>
              <p:nvPr/>
            </p:nvSpPr>
            <p:spPr>
              <a:xfrm>
                <a:off x="533400" y="2171700"/>
                <a:ext cx="5410200" cy="4629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: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cos</m:t>
                              </m:r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</m:func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4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func>
                        <m:funcPr/>
                        <m:fName>
                          <m:sSup>
                            <m:e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type m:val="bar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</a:p>
            </p:txBody>
          </p:sp>
        </mc:Choice>
      </mc:AlternateContent>
      <p:grpSp>
        <p:nvGrpSpPr>
          <p:cNvPr id="30" name="c1-table-3"/>
          <p:cNvGrpSpPr/>
          <p:nvPr/>
        </p:nvGrpSpPr>
        <p:grpSpPr>
          <a:xfrm>
            <a:off x="533400" y="2825115"/>
            <a:ext cx="5410200" cy="1795462"/>
            <a:chOff x="533400" y="2825115"/>
            <a:chExt cx="5410200" cy="1795462"/>
          </a:xfrm>
        </p:grpSpPr>
        <p:sp>
          <p:nvSpPr>
            <p:cNvPr id="9" name="Rectangle 9"/>
            <p:cNvSpPr/>
            <p:nvPr/>
          </p:nvSpPr>
          <p:spPr>
            <a:xfrm>
              <a:off x="533400" y="2825115"/>
              <a:ext cx="5410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11673" y="2960846"/>
              <a:ext cx="7903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相位差 Δφ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48066" y="2960846"/>
              <a:ext cx="4722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光强 I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37062" y="29608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3409474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±2kπ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589086" y="3409474"/>
              <a:ext cx="2678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4I₀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897630" y="3283268"/>
              <a:ext cx="203644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995928" y="340947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干涉极大（亮）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37176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372237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1223" y="3858101"/>
              <a:ext cx="8090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±(2k+1)π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589086" y="385810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897630" y="3731895"/>
              <a:ext cx="2036445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995928" y="385810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干涉极小（暗）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1671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430672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其他值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589086" y="4306729"/>
              <a:ext cx="5349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0～4I₀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995928" y="430672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介于两者之间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2825115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2476500" y="282511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3883342" y="282511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formula6"/>
              <p:cNvSpPr txBox="1">
                <a:spLocks noGrp="1"/>
              </p:cNvSpPr>
              <p:nvPr/>
            </p:nvSpPr>
            <p:spPr>
              <a:xfrm>
                <a:off x="533400" y="4811078"/>
                <a:ext cx="5410200" cy="411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max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rad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ad>
                                <m:radPr>
                                  <m:degHide m:val="on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rad>
                            </m:e>
                          </m:d>
                        </m:e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rad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ad>
                                <m:radPr>
                                  <m:degHide m:val="on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e>
                                    <m:sub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rad>
                            </m:e>
                          </m:d>
                        </m:e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grpSp>
        <p:nvGrpSpPr>
          <p:cNvPr id="54" name="g_intens"/>
          <p:cNvGrpSpPr/>
          <p:nvPr/>
        </p:nvGrpSpPr>
        <p:grpSpPr>
          <a:xfrm>
            <a:off x="6543675" y="1676400"/>
            <a:ext cx="5051800" cy="2243804"/>
            <a:chOff x="6543675" y="1676400"/>
            <a:chExt cx="5051800" cy="2243804"/>
          </a:xfrm>
        </p:grpSpPr>
        <p:sp>
          <p:nvSpPr>
            <p:cNvPr id="32" name="Freeform 32"/>
            <p:cNvSpPr/>
            <p:nvPr/>
          </p:nvSpPr>
          <p:spPr>
            <a:xfrm>
              <a:off x="6543675" y="3429000"/>
              <a:ext cx="4914900" cy="9525"/>
            </a:xfrm>
            <a:custGeom>
              <a:avLst/>
              <a:gdLst/>
              <a:ahLst/>
              <a:cxnLst/>
              <a:rect l="l" t="t" r="r" b="b"/>
              <a:pathLst>
                <a:path w="4914900" h="9525">
                  <a:moveTo>
                    <a:pt x="0" y="0"/>
                  </a:moveTo>
                  <a:lnTo>
                    <a:pt x="491490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11458575" y="33813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9010650" y="1847850"/>
              <a:ext cx="9525" cy="1647825"/>
            </a:xfrm>
            <a:custGeom>
              <a:avLst/>
              <a:gdLst/>
              <a:ahLst/>
              <a:cxnLst/>
              <a:rect l="l" t="t" r="r" b="b"/>
              <a:pathLst>
                <a:path w="9525" h="1647825">
                  <a:moveTo>
                    <a:pt x="0" y="164782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963025" y="17526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6638925" y="1952625"/>
              <a:ext cx="4743450" cy="1476375"/>
            </a:xfrm>
            <a:custGeom>
              <a:avLst/>
              <a:gdLst/>
              <a:ahLst/>
              <a:cxnLst/>
              <a:rect l="l" t="t" r="r" b="b"/>
              <a:pathLst>
                <a:path w="4743450" h="1476375">
                  <a:moveTo>
                    <a:pt x="0" y="1474470"/>
                  </a:moveTo>
                  <a:lnTo>
                    <a:pt x="17145" y="1472565"/>
                  </a:lnTo>
                  <a:lnTo>
                    <a:pt x="43815" y="1460182"/>
                  </a:lnTo>
                  <a:lnTo>
                    <a:pt x="69532" y="1440180"/>
                  </a:lnTo>
                  <a:lnTo>
                    <a:pt x="96203" y="1412558"/>
                  </a:lnTo>
                  <a:lnTo>
                    <a:pt x="122872" y="1377315"/>
                  </a:lnTo>
                  <a:lnTo>
                    <a:pt x="149543" y="1335405"/>
                  </a:lnTo>
                  <a:lnTo>
                    <a:pt x="176212" y="1286828"/>
                  </a:lnTo>
                  <a:lnTo>
                    <a:pt x="201930" y="1232535"/>
                  </a:lnTo>
                  <a:lnTo>
                    <a:pt x="228600" y="1172528"/>
                  </a:lnTo>
                  <a:lnTo>
                    <a:pt x="255270" y="1106805"/>
                  </a:lnTo>
                  <a:lnTo>
                    <a:pt x="280988" y="1038225"/>
                  </a:lnTo>
                  <a:lnTo>
                    <a:pt x="307657" y="965835"/>
                  </a:lnTo>
                  <a:lnTo>
                    <a:pt x="334328" y="891540"/>
                  </a:lnTo>
                  <a:lnTo>
                    <a:pt x="360997" y="815340"/>
                  </a:lnTo>
                  <a:lnTo>
                    <a:pt x="387668" y="738188"/>
                  </a:lnTo>
                  <a:lnTo>
                    <a:pt x="414338" y="661035"/>
                  </a:lnTo>
                  <a:lnTo>
                    <a:pt x="440055" y="584835"/>
                  </a:lnTo>
                  <a:lnTo>
                    <a:pt x="466725" y="510540"/>
                  </a:lnTo>
                  <a:lnTo>
                    <a:pt x="493395" y="438150"/>
                  </a:lnTo>
                  <a:lnTo>
                    <a:pt x="519112" y="369570"/>
                  </a:lnTo>
                  <a:lnTo>
                    <a:pt x="545782" y="303848"/>
                  </a:lnTo>
                  <a:lnTo>
                    <a:pt x="572453" y="244792"/>
                  </a:lnTo>
                  <a:lnTo>
                    <a:pt x="599122" y="189548"/>
                  </a:lnTo>
                  <a:lnTo>
                    <a:pt x="625793" y="140970"/>
                  </a:lnTo>
                  <a:lnTo>
                    <a:pt x="652462" y="99060"/>
                  </a:lnTo>
                  <a:lnTo>
                    <a:pt x="678180" y="63817"/>
                  </a:lnTo>
                  <a:lnTo>
                    <a:pt x="704850" y="36195"/>
                  </a:lnTo>
                  <a:lnTo>
                    <a:pt x="731520" y="16192"/>
                  </a:lnTo>
                  <a:lnTo>
                    <a:pt x="757238" y="3810"/>
                  </a:lnTo>
                  <a:lnTo>
                    <a:pt x="783907" y="0"/>
                  </a:lnTo>
                  <a:lnTo>
                    <a:pt x="810578" y="3810"/>
                  </a:lnTo>
                  <a:lnTo>
                    <a:pt x="837247" y="16192"/>
                  </a:lnTo>
                  <a:lnTo>
                    <a:pt x="863918" y="36195"/>
                  </a:lnTo>
                  <a:lnTo>
                    <a:pt x="889635" y="63817"/>
                  </a:lnTo>
                  <a:lnTo>
                    <a:pt x="916305" y="99060"/>
                  </a:lnTo>
                  <a:lnTo>
                    <a:pt x="942975" y="140970"/>
                  </a:lnTo>
                  <a:lnTo>
                    <a:pt x="969645" y="189548"/>
                  </a:lnTo>
                  <a:lnTo>
                    <a:pt x="996315" y="244792"/>
                  </a:lnTo>
                  <a:lnTo>
                    <a:pt x="1022985" y="303848"/>
                  </a:lnTo>
                  <a:lnTo>
                    <a:pt x="1048703" y="369570"/>
                  </a:lnTo>
                  <a:lnTo>
                    <a:pt x="1075372" y="438150"/>
                  </a:lnTo>
                  <a:lnTo>
                    <a:pt x="1102043" y="510540"/>
                  </a:lnTo>
                  <a:lnTo>
                    <a:pt x="1127760" y="584835"/>
                  </a:lnTo>
                  <a:lnTo>
                    <a:pt x="1154430" y="661035"/>
                  </a:lnTo>
                  <a:lnTo>
                    <a:pt x="1181100" y="738188"/>
                  </a:lnTo>
                  <a:lnTo>
                    <a:pt x="1207770" y="815340"/>
                  </a:lnTo>
                  <a:lnTo>
                    <a:pt x="1234440" y="891540"/>
                  </a:lnTo>
                  <a:lnTo>
                    <a:pt x="1261110" y="965835"/>
                  </a:lnTo>
                  <a:lnTo>
                    <a:pt x="1286828" y="1038225"/>
                  </a:lnTo>
                  <a:lnTo>
                    <a:pt x="1313497" y="1106805"/>
                  </a:lnTo>
                  <a:lnTo>
                    <a:pt x="1339215" y="1172528"/>
                  </a:lnTo>
                  <a:lnTo>
                    <a:pt x="1365885" y="1232535"/>
                  </a:lnTo>
                  <a:lnTo>
                    <a:pt x="1392555" y="1286828"/>
                  </a:lnTo>
                  <a:lnTo>
                    <a:pt x="1419225" y="1335405"/>
                  </a:lnTo>
                  <a:lnTo>
                    <a:pt x="1445895" y="1377315"/>
                  </a:lnTo>
                  <a:lnTo>
                    <a:pt x="1472565" y="1412558"/>
                  </a:lnTo>
                  <a:lnTo>
                    <a:pt x="1498282" y="1440180"/>
                  </a:lnTo>
                  <a:lnTo>
                    <a:pt x="1524953" y="1460182"/>
                  </a:lnTo>
                  <a:lnTo>
                    <a:pt x="1551622" y="1472565"/>
                  </a:lnTo>
                  <a:lnTo>
                    <a:pt x="1577340" y="1476375"/>
                  </a:lnTo>
                  <a:lnTo>
                    <a:pt x="1604010" y="1472565"/>
                  </a:lnTo>
                  <a:lnTo>
                    <a:pt x="1630680" y="1460182"/>
                  </a:lnTo>
                  <a:lnTo>
                    <a:pt x="1657350" y="1440180"/>
                  </a:lnTo>
                  <a:lnTo>
                    <a:pt x="1684020" y="1412558"/>
                  </a:lnTo>
                  <a:lnTo>
                    <a:pt x="1710690" y="1377315"/>
                  </a:lnTo>
                  <a:lnTo>
                    <a:pt x="1736407" y="1335405"/>
                  </a:lnTo>
                  <a:lnTo>
                    <a:pt x="1763078" y="1286828"/>
                  </a:lnTo>
                  <a:lnTo>
                    <a:pt x="1789747" y="1232535"/>
                  </a:lnTo>
                  <a:lnTo>
                    <a:pt x="1816418" y="1172528"/>
                  </a:lnTo>
                  <a:lnTo>
                    <a:pt x="1843088" y="1106805"/>
                  </a:lnTo>
                  <a:lnTo>
                    <a:pt x="1868805" y="1038225"/>
                  </a:lnTo>
                  <a:lnTo>
                    <a:pt x="1895475" y="965835"/>
                  </a:lnTo>
                  <a:lnTo>
                    <a:pt x="1922145" y="891540"/>
                  </a:lnTo>
                  <a:lnTo>
                    <a:pt x="1947862" y="815340"/>
                  </a:lnTo>
                  <a:lnTo>
                    <a:pt x="1974532" y="738188"/>
                  </a:lnTo>
                  <a:lnTo>
                    <a:pt x="2001203" y="661035"/>
                  </a:lnTo>
                  <a:lnTo>
                    <a:pt x="2027872" y="584835"/>
                  </a:lnTo>
                  <a:lnTo>
                    <a:pt x="2054543" y="510540"/>
                  </a:lnTo>
                  <a:lnTo>
                    <a:pt x="2081212" y="438150"/>
                  </a:lnTo>
                  <a:lnTo>
                    <a:pt x="2106930" y="369570"/>
                  </a:lnTo>
                  <a:lnTo>
                    <a:pt x="2133600" y="303848"/>
                  </a:lnTo>
                  <a:lnTo>
                    <a:pt x="2160270" y="244792"/>
                  </a:lnTo>
                  <a:lnTo>
                    <a:pt x="2185988" y="189548"/>
                  </a:lnTo>
                  <a:lnTo>
                    <a:pt x="2212657" y="140970"/>
                  </a:lnTo>
                  <a:lnTo>
                    <a:pt x="2239328" y="99060"/>
                  </a:lnTo>
                  <a:lnTo>
                    <a:pt x="2265998" y="63817"/>
                  </a:lnTo>
                  <a:lnTo>
                    <a:pt x="2292668" y="36195"/>
                  </a:lnTo>
                  <a:lnTo>
                    <a:pt x="2319338" y="16192"/>
                  </a:lnTo>
                  <a:lnTo>
                    <a:pt x="2345055" y="3810"/>
                  </a:lnTo>
                  <a:lnTo>
                    <a:pt x="2371725" y="0"/>
                  </a:lnTo>
                  <a:lnTo>
                    <a:pt x="2398395" y="3810"/>
                  </a:lnTo>
                  <a:lnTo>
                    <a:pt x="2424112" y="16192"/>
                  </a:lnTo>
                  <a:lnTo>
                    <a:pt x="2450782" y="36195"/>
                  </a:lnTo>
                  <a:lnTo>
                    <a:pt x="2477452" y="63817"/>
                  </a:lnTo>
                  <a:lnTo>
                    <a:pt x="2504122" y="99060"/>
                  </a:lnTo>
                  <a:lnTo>
                    <a:pt x="2530793" y="140970"/>
                  </a:lnTo>
                  <a:lnTo>
                    <a:pt x="2556510" y="189548"/>
                  </a:lnTo>
                  <a:lnTo>
                    <a:pt x="2583180" y="244792"/>
                  </a:lnTo>
                  <a:lnTo>
                    <a:pt x="2609850" y="303848"/>
                  </a:lnTo>
                  <a:lnTo>
                    <a:pt x="2636520" y="369570"/>
                  </a:lnTo>
                  <a:lnTo>
                    <a:pt x="2663190" y="438150"/>
                  </a:lnTo>
                  <a:lnTo>
                    <a:pt x="2688907" y="510540"/>
                  </a:lnTo>
                  <a:lnTo>
                    <a:pt x="2715578" y="584835"/>
                  </a:lnTo>
                  <a:lnTo>
                    <a:pt x="2742248" y="661035"/>
                  </a:lnTo>
                  <a:lnTo>
                    <a:pt x="2768918" y="738188"/>
                  </a:lnTo>
                  <a:lnTo>
                    <a:pt x="2794635" y="815340"/>
                  </a:lnTo>
                  <a:lnTo>
                    <a:pt x="2821305" y="891540"/>
                  </a:lnTo>
                  <a:lnTo>
                    <a:pt x="2847975" y="965835"/>
                  </a:lnTo>
                  <a:lnTo>
                    <a:pt x="2874645" y="1038225"/>
                  </a:lnTo>
                  <a:lnTo>
                    <a:pt x="2901315" y="1106805"/>
                  </a:lnTo>
                  <a:lnTo>
                    <a:pt x="2927985" y="1172528"/>
                  </a:lnTo>
                  <a:lnTo>
                    <a:pt x="2953702" y="1232535"/>
                  </a:lnTo>
                  <a:lnTo>
                    <a:pt x="2980372" y="1286828"/>
                  </a:lnTo>
                  <a:lnTo>
                    <a:pt x="3006090" y="1335405"/>
                  </a:lnTo>
                  <a:lnTo>
                    <a:pt x="3032760" y="1377315"/>
                  </a:lnTo>
                  <a:lnTo>
                    <a:pt x="3059430" y="1412558"/>
                  </a:lnTo>
                  <a:lnTo>
                    <a:pt x="3086100" y="1440180"/>
                  </a:lnTo>
                  <a:lnTo>
                    <a:pt x="3112770" y="1460182"/>
                  </a:lnTo>
                  <a:lnTo>
                    <a:pt x="3139440" y="1472565"/>
                  </a:lnTo>
                  <a:lnTo>
                    <a:pt x="3165157" y="1476375"/>
                  </a:lnTo>
                  <a:lnTo>
                    <a:pt x="3191827" y="1472565"/>
                  </a:lnTo>
                  <a:lnTo>
                    <a:pt x="3218498" y="1460182"/>
                  </a:lnTo>
                  <a:lnTo>
                    <a:pt x="3244215" y="1440180"/>
                  </a:lnTo>
                  <a:lnTo>
                    <a:pt x="3270885" y="1412558"/>
                  </a:lnTo>
                  <a:lnTo>
                    <a:pt x="3297555" y="1377315"/>
                  </a:lnTo>
                  <a:lnTo>
                    <a:pt x="3324225" y="1335405"/>
                  </a:lnTo>
                  <a:lnTo>
                    <a:pt x="3350895" y="1286828"/>
                  </a:lnTo>
                  <a:lnTo>
                    <a:pt x="3377565" y="1232535"/>
                  </a:lnTo>
                  <a:lnTo>
                    <a:pt x="3403282" y="1172528"/>
                  </a:lnTo>
                  <a:lnTo>
                    <a:pt x="3429952" y="1106805"/>
                  </a:lnTo>
                  <a:lnTo>
                    <a:pt x="3456623" y="1038225"/>
                  </a:lnTo>
                  <a:lnTo>
                    <a:pt x="3483293" y="965835"/>
                  </a:lnTo>
                  <a:lnTo>
                    <a:pt x="3509962" y="891540"/>
                  </a:lnTo>
                  <a:lnTo>
                    <a:pt x="3535680" y="815340"/>
                  </a:lnTo>
                  <a:lnTo>
                    <a:pt x="3562350" y="738188"/>
                  </a:lnTo>
                  <a:lnTo>
                    <a:pt x="3589020" y="661035"/>
                  </a:lnTo>
                  <a:lnTo>
                    <a:pt x="3614738" y="584835"/>
                  </a:lnTo>
                  <a:lnTo>
                    <a:pt x="3641407" y="510540"/>
                  </a:lnTo>
                  <a:lnTo>
                    <a:pt x="3668077" y="438150"/>
                  </a:lnTo>
                  <a:lnTo>
                    <a:pt x="3694748" y="369570"/>
                  </a:lnTo>
                  <a:lnTo>
                    <a:pt x="3721418" y="303848"/>
                  </a:lnTo>
                  <a:lnTo>
                    <a:pt x="3748088" y="244792"/>
                  </a:lnTo>
                  <a:lnTo>
                    <a:pt x="3773805" y="189548"/>
                  </a:lnTo>
                  <a:lnTo>
                    <a:pt x="3800475" y="140970"/>
                  </a:lnTo>
                  <a:lnTo>
                    <a:pt x="3827145" y="99060"/>
                  </a:lnTo>
                  <a:lnTo>
                    <a:pt x="3852862" y="63817"/>
                  </a:lnTo>
                  <a:lnTo>
                    <a:pt x="3879532" y="36195"/>
                  </a:lnTo>
                  <a:lnTo>
                    <a:pt x="3906202" y="16192"/>
                  </a:lnTo>
                  <a:lnTo>
                    <a:pt x="3932873" y="3810"/>
                  </a:lnTo>
                  <a:lnTo>
                    <a:pt x="3959543" y="0"/>
                  </a:lnTo>
                  <a:lnTo>
                    <a:pt x="3986212" y="3810"/>
                  </a:lnTo>
                  <a:lnTo>
                    <a:pt x="4011930" y="16192"/>
                  </a:lnTo>
                  <a:lnTo>
                    <a:pt x="4038600" y="36195"/>
                  </a:lnTo>
                  <a:lnTo>
                    <a:pt x="4065270" y="63817"/>
                  </a:lnTo>
                  <a:lnTo>
                    <a:pt x="4090988" y="99060"/>
                  </a:lnTo>
                  <a:lnTo>
                    <a:pt x="4117657" y="140970"/>
                  </a:lnTo>
                  <a:lnTo>
                    <a:pt x="4144327" y="189548"/>
                  </a:lnTo>
                  <a:lnTo>
                    <a:pt x="4170998" y="244792"/>
                  </a:lnTo>
                  <a:lnTo>
                    <a:pt x="4197668" y="303848"/>
                  </a:lnTo>
                  <a:lnTo>
                    <a:pt x="4223385" y="369570"/>
                  </a:lnTo>
                  <a:lnTo>
                    <a:pt x="4250055" y="438150"/>
                  </a:lnTo>
                  <a:lnTo>
                    <a:pt x="4276725" y="510540"/>
                  </a:lnTo>
                  <a:lnTo>
                    <a:pt x="4303395" y="584835"/>
                  </a:lnTo>
                  <a:lnTo>
                    <a:pt x="4330065" y="661035"/>
                  </a:lnTo>
                  <a:lnTo>
                    <a:pt x="4355782" y="738188"/>
                  </a:lnTo>
                  <a:lnTo>
                    <a:pt x="4382452" y="815340"/>
                  </a:lnTo>
                  <a:lnTo>
                    <a:pt x="4409123" y="891540"/>
                  </a:lnTo>
                  <a:lnTo>
                    <a:pt x="4435792" y="965835"/>
                  </a:lnTo>
                  <a:lnTo>
                    <a:pt x="4461510" y="1038225"/>
                  </a:lnTo>
                  <a:lnTo>
                    <a:pt x="4488180" y="1106805"/>
                  </a:lnTo>
                  <a:lnTo>
                    <a:pt x="4514850" y="1172528"/>
                  </a:lnTo>
                  <a:lnTo>
                    <a:pt x="4541520" y="1232535"/>
                  </a:lnTo>
                  <a:lnTo>
                    <a:pt x="4568190" y="1286828"/>
                  </a:lnTo>
                  <a:lnTo>
                    <a:pt x="4594860" y="1335405"/>
                  </a:lnTo>
                  <a:lnTo>
                    <a:pt x="4620577" y="1377315"/>
                  </a:lnTo>
                  <a:lnTo>
                    <a:pt x="4647248" y="1412558"/>
                  </a:lnTo>
                  <a:lnTo>
                    <a:pt x="4672965" y="1440180"/>
                  </a:lnTo>
                  <a:lnTo>
                    <a:pt x="4699635" y="1460182"/>
                  </a:lnTo>
                  <a:lnTo>
                    <a:pt x="4726305" y="1472565"/>
                  </a:lnTo>
                  <a:lnTo>
                    <a:pt x="4743450" y="1474470"/>
                  </a:lnTo>
                </a:path>
              </a:pathLst>
            </a:custGeom>
            <a:noFill/>
            <a:ln w="24765">
              <a:solidFill>
                <a:srgbClr val="2F4B9A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6638925" y="2690812"/>
              <a:ext cx="4743450" cy="9525"/>
            </a:xfrm>
            <a:custGeom>
              <a:avLst/>
              <a:gdLst/>
              <a:ahLst/>
              <a:cxnLst/>
              <a:rect l="l" t="t" r="r" b="b"/>
              <a:pathLst>
                <a:path w="4743450" h="9525">
                  <a:moveTo>
                    <a:pt x="0" y="0"/>
                  </a:moveTo>
                  <a:lnTo>
                    <a:pt x="4743450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  <a:custDash>
                <a:ds d="333333" sp="222222"/>
              </a:custDash>
            </a:ln>
          </p:spPr>
        </p:sp>
        <p:sp>
          <p:nvSpPr>
            <p:cNvPr id="38" name="Freeform 38"/>
            <p:cNvSpPr/>
            <p:nvPr/>
          </p:nvSpPr>
          <p:spPr>
            <a:xfrm>
              <a:off x="8963025" y="1952625"/>
              <a:ext cx="95250" cy="9525"/>
            </a:xfrm>
            <a:custGeom>
              <a:avLst/>
              <a:gdLst/>
              <a:ahLst/>
              <a:cxnLst/>
              <a:rect l="l" t="t" r="r" b="b"/>
              <a:pathLst>
                <a:path w="95250" h="9525">
                  <a:moveTo>
                    <a:pt x="0" y="0"/>
                  </a:moveTo>
                  <a:lnTo>
                    <a:pt x="9525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422832" y="340042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216265" y="340042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804082" y="340042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10598468" y="340042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1416926" y="3552825"/>
              <a:ext cx="1785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Δφ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119616" y="1676400"/>
              <a:ext cx="57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671469" y="1847850"/>
              <a:ext cx="2302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4I₀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162986" y="2496026"/>
              <a:ext cx="2148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2I₀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309039" y="3539014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−2π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138752" y="3539014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−π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762849" y="353901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π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520954" y="3539014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2π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883692" y="353901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062902" y="3729514"/>
              <a:ext cx="183840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实线：相干 I = 4I₀cos²(Δφ/2)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119997" y="3729514"/>
              <a:ext cx="12405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虚线：非相干 I = 2I₀</a:t>
              </a:r>
            </a:p>
          </p:txBody>
        </p:sp>
      </p:grpSp>
      <p:grpSp>
        <p:nvGrpSpPr>
          <p:cNvPr id="61" name="c2-callout-2"/>
          <p:cNvGrpSpPr/>
          <p:nvPr/>
        </p:nvGrpSpPr>
        <p:grpSpPr>
          <a:xfrm>
            <a:off x="6248400" y="4095750"/>
            <a:ext cx="5410200" cy="1126808"/>
            <a:chOff x="6248400" y="4095750"/>
            <a:chExt cx="5410200" cy="1126808"/>
          </a:xfrm>
        </p:grpSpPr>
        <p:sp>
          <p:nvSpPr>
            <p:cNvPr id="55" name="Rectangle 55"/>
            <p:cNvSpPr/>
            <p:nvPr/>
          </p:nvSpPr>
          <p:spPr>
            <a:xfrm>
              <a:off x="6248400" y="4095750"/>
              <a:ext cx="5410200" cy="1126808"/>
            </a:xfrm>
            <a:prstGeom prst="roundRect">
              <a:avLst>
                <a:gd name="adj" fmla="val 1014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6453188" y="4558665"/>
              <a:ext cx="200026" cy="200025"/>
              <a:chOff x="6453188" y="4558665"/>
              <a:chExt cx="200026" cy="20002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453188" y="455866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492926" y="460311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527642" y="471424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6755130" y="4277678"/>
              <a:ext cx="44253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两束光不相干时，cosΔφ 随时间乱变、平均为零，处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处 I = I₁ + I₂ = 2I₀，看不到条纹。相干时能量只是重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新分配：亮处 4I₀，暗处 0，平均仍是 2I₀。</a:t>
              </a:r>
            </a:p>
          </p:txBody>
        </p:sp>
      </p:grpSp>
      <p:grpSp>
        <p:nvGrpSpPr>
          <p:cNvPr id="68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2" name="Rectangle 62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26129" y="5867518"/>
              <a:ext cx="224134" cy="192560"/>
              <a:chOff x="726129" y="5867518"/>
              <a:chExt cx="224134" cy="19256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838200" y="59378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726129" y="58675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38200" y="60156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0130" y="5728335"/>
              <a:ext cx="98069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4I₀ 和 0 这两个极值要求两束光强相等。若 I₂ = 4I₁，极大为 9I₁、极小为 I₁，暗纹不黑，条纹就不清楚，这也是后面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「振幅不能相差太大」的来由。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201689" cy="3351847"/>
            <a:chOff x="667512" y="1835468"/>
            <a:chExt cx="620168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光程与光程差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19178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对应原课件 7.1.2～7.1.3，光在不同介质里走，比较的是光程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0568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 L = nr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光程差与相位差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薄透镜的等光程性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分波阵面法与分振幅法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光程与光程差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光程：把介质中的路程折算成真空中的路程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2175510"/>
            <a:chOff x="533400" y="1524000"/>
            <a:chExt cx="5410200" cy="21755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175510"/>
            </a:xfrm>
            <a:prstGeom prst="roundRect">
              <a:avLst>
                <a:gd name="adj" fmla="val 6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0881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光程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476643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光在折射率 n 的介质中频率不变，波长变为 λₙ = λ/n。走过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几何路程 r，相位落后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1"/>
                <p:cNvSpPr txBox="1">
                  <a:spLocks noGrp="1"/>
                </p:cNvSpPr>
                <p:nvPr/>
              </p:nvSpPr>
              <p:spPr>
                <a:xfrm>
                  <a:off x="775335" y="2668905"/>
                  <a:ext cx="4964430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Δ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φ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2π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2π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nr</m:t>
                            </m:r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2π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68096" y="3273266"/>
              <a:ext cx="44127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 = nr 叫光程。用光程计算时，λ 一律取真空波长。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3885248"/>
            <a:ext cx="5410200" cy="1558290"/>
            <a:chOff x="533400" y="3885248"/>
            <a:chExt cx="5410200" cy="1558290"/>
          </a:xfrm>
        </p:grpSpPr>
        <p:sp>
          <p:nvSpPr>
            <p:cNvPr id="15" name="Rectangle 15"/>
            <p:cNvSpPr/>
            <p:nvPr/>
          </p:nvSpPr>
          <p:spPr>
            <a:xfrm>
              <a:off x="533400" y="3885248"/>
              <a:ext cx="5410200" cy="1558290"/>
            </a:xfrm>
            <a:prstGeom prst="roundRect">
              <a:avLst>
                <a:gd name="adj" fmla="val 85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4018598"/>
              <a:ext cx="47625" cy="129159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75335" y="4089082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7644" y="41248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物理意义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formula12"/>
                <p:cNvSpPr txBox="1">
                  <a:spLocks noGrp="1"/>
                </p:cNvSpPr>
                <p:nvPr/>
              </p:nvSpPr>
              <p:spPr>
                <a:xfrm>
                  <a:off x="775335" y="4438650"/>
                  <a:ext cx="4964430" cy="4629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Δ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num>
                          <m:den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</m:t>
                            </m:r>
                          </m:den>
                        </m:f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Δ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t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Δ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t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0" name="TextBox 20"/>
            <p:cNvSpPr txBox="1"/>
            <p:nvPr/>
          </p:nvSpPr>
          <p:spPr>
            <a:xfrm>
              <a:off x="768096" y="5017294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光程等于同样时间里光在真空中走过的路程。</a:t>
              </a:r>
            </a:p>
          </p:txBody>
        </p:sp>
      </p:grpSp>
      <p:grpSp>
        <p:nvGrpSpPr>
          <p:cNvPr id="45" name="g_optlen"/>
          <p:cNvGrpSpPr/>
          <p:nvPr/>
        </p:nvGrpSpPr>
        <p:grpSpPr>
          <a:xfrm>
            <a:off x="6693980" y="1662589"/>
            <a:ext cx="4476940" cy="1743265"/>
            <a:chOff x="6693980" y="1662589"/>
            <a:chExt cx="4476940" cy="1743265"/>
          </a:xfrm>
        </p:grpSpPr>
        <p:sp>
          <p:nvSpPr>
            <p:cNvPr id="22" name="Freeform 22"/>
            <p:cNvSpPr/>
            <p:nvPr/>
          </p:nvSpPr>
          <p:spPr>
            <a:xfrm>
              <a:off x="7715250" y="1801178"/>
              <a:ext cx="2309812" cy="739140"/>
            </a:xfrm>
            <a:custGeom>
              <a:avLst/>
              <a:gdLst/>
              <a:ahLst/>
              <a:cxnLst/>
              <a:rect l="l" t="t" r="r" b="b"/>
              <a:pathLst>
                <a:path w="2309812" h="739140">
                  <a:moveTo>
                    <a:pt x="9525" y="0"/>
                  </a:moveTo>
                  <a:lnTo>
                    <a:pt x="2309812" y="0"/>
                  </a:lnTo>
                  <a:lnTo>
                    <a:pt x="2309812" y="739140"/>
                  </a:lnTo>
                  <a:lnTo>
                    <a:pt x="0" y="739140"/>
                  </a:lnTo>
                  <a:lnTo>
                    <a:pt x="0" y="0"/>
                  </a:lnTo>
                  <a:lnTo>
                    <a:pt x="2300288" y="0"/>
                  </a:lnTo>
                </a:path>
              </a:pathLst>
            </a:custGeom>
            <a:noFill/>
            <a:ln w="19050">
              <a:solidFill>
                <a:srgbClr val="2F4B9A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7888605" y="2362200"/>
              <a:ext cx="115252" cy="116205"/>
            </a:xfrm>
            <a:custGeom>
              <a:avLst/>
              <a:gdLst/>
              <a:ahLst/>
              <a:cxnLst/>
              <a:rect l="l" t="t" r="r" b="b"/>
              <a:pathLst>
                <a:path w="115252" h="116205">
                  <a:moveTo>
                    <a:pt x="0" y="116205"/>
                  </a:moveTo>
                  <a:lnTo>
                    <a:pt x="115252" y="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8128635" y="2362200"/>
              <a:ext cx="116205" cy="116205"/>
            </a:xfrm>
            <a:custGeom>
              <a:avLst/>
              <a:gdLst/>
              <a:ahLst/>
              <a:cxnLst/>
              <a:rect l="l" t="t" r="r" b="b"/>
              <a:pathLst>
                <a:path w="116205" h="116205">
                  <a:moveTo>
                    <a:pt x="0" y="116205"/>
                  </a:moveTo>
                  <a:lnTo>
                    <a:pt x="116205" y="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8368665" y="2362200"/>
              <a:ext cx="116205" cy="116205"/>
            </a:xfrm>
            <a:custGeom>
              <a:avLst/>
              <a:gdLst/>
              <a:ahLst/>
              <a:cxnLst/>
              <a:rect l="l" t="t" r="r" b="b"/>
              <a:pathLst>
                <a:path w="116205" h="116205">
                  <a:moveTo>
                    <a:pt x="0" y="116205"/>
                  </a:moveTo>
                  <a:lnTo>
                    <a:pt x="116205" y="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8608695" y="2362200"/>
              <a:ext cx="116205" cy="116205"/>
            </a:xfrm>
            <a:custGeom>
              <a:avLst/>
              <a:gdLst/>
              <a:ahLst/>
              <a:cxnLst/>
              <a:rect l="l" t="t" r="r" b="b"/>
              <a:pathLst>
                <a:path w="116205" h="116205">
                  <a:moveTo>
                    <a:pt x="0" y="116205"/>
                  </a:moveTo>
                  <a:lnTo>
                    <a:pt x="116205" y="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849678" y="2362200"/>
              <a:ext cx="115253" cy="116205"/>
            </a:xfrm>
            <a:custGeom>
              <a:avLst/>
              <a:gdLst/>
              <a:ahLst/>
              <a:cxnLst/>
              <a:rect l="l" t="t" r="r" b="b"/>
              <a:pathLst>
                <a:path w="115253" h="116205">
                  <a:moveTo>
                    <a:pt x="0" y="116205"/>
                  </a:moveTo>
                  <a:lnTo>
                    <a:pt x="115253" y="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9089708" y="2362200"/>
              <a:ext cx="115253" cy="116205"/>
            </a:xfrm>
            <a:custGeom>
              <a:avLst/>
              <a:gdLst/>
              <a:ahLst/>
              <a:cxnLst/>
              <a:rect l="l" t="t" r="r" b="b"/>
              <a:pathLst>
                <a:path w="115253" h="116205">
                  <a:moveTo>
                    <a:pt x="0" y="116205"/>
                  </a:moveTo>
                  <a:lnTo>
                    <a:pt x="115253" y="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329738" y="2362200"/>
              <a:ext cx="116205" cy="116205"/>
            </a:xfrm>
            <a:custGeom>
              <a:avLst/>
              <a:gdLst/>
              <a:ahLst/>
              <a:cxnLst/>
              <a:rect l="l" t="t" r="r" b="b"/>
              <a:pathLst>
                <a:path w="116205" h="116205">
                  <a:moveTo>
                    <a:pt x="0" y="116205"/>
                  </a:moveTo>
                  <a:lnTo>
                    <a:pt x="116205" y="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9569768" y="2362200"/>
              <a:ext cx="116205" cy="116205"/>
            </a:xfrm>
            <a:custGeom>
              <a:avLst/>
              <a:gdLst/>
              <a:ahLst/>
              <a:cxnLst/>
              <a:rect l="l" t="t" r="r" b="b"/>
              <a:pathLst>
                <a:path w="116205" h="116205">
                  <a:moveTo>
                    <a:pt x="0" y="116205"/>
                  </a:moveTo>
                  <a:lnTo>
                    <a:pt x="116205" y="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809798" y="2362200"/>
              <a:ext cx="116205" cy="116205"/>
            </a:xfrm>
            <a:custGeom>
              <a:avLst/>
              <a:gdLst/>
              <a:ahLst/>
              <a:cxnLst/>
              <a:rect l="l" t="t" r="r" b="b"/>
              <a:pathLst>
                <a:path w="116205" h="116205">
                  <a:moveTo>
                    <a:pt x="0" y="116205"/>
                  </a:moveTo>
                  <a:lnTo>
                    <a:pt x="116205" y="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708458" y="2170748"/>
              <a:ext cx="4320540" cy="9525"/>
            </a:xfrm>
            <a:custGeom>
              <a:avLst/>
              <a:gdLst/>
              <a:ahLst/>
              <a:cxnLst/>
              <a:rect l="l" t="t" r="r" b="b"/>
              <a:pathLst>
                <a:path w="4320540" h="9525">
                  <a:moveTo>
                    <a:pt x="0" y="0"/>
                  </a:moveTo>
                  <a:lnTo>
                    <a:pt x="4320540" y="0"/>
                  </a:lnTo>
                </a:path>
              </a:pathLst>
            </a:custGeom>
            <a:noFill/>
            <a:ln w="22860">
              <a:solidFill>
                <a:srgbClr val="B42318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11028998" y="212312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7820025" y="2707005"/>
              <a:ext cx="2100262" cy="9525"/>
            </a:xfrm>
            <a:custGeom>
              <a:avLst/>
              <a:gdLst/>
              <a:ahLst/>
              <a:cxnLst/>
              <a:rect l="l" t="t" r="r" b="b"/>
              <a:pathLst>
                <a:path w="2100262" h="9525">
                  <a:moveTo>
                    <a:pt x="0" y="0"/>
                  </a:moveTo>
                  <a:lnTo>
                    <a:pt x="2100262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920288" y="265938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7724775" y="265938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7820025" y="3112770"/>
              <a:ext cx="3255645" cy="9525"/>
            </a:xfrm>
            <a:custGeom>
              <a:avLst/>
              <a:gdLst/>
              <a:ahLst/>
              <a:cxnLst/>
              <a:rect l="l" t="t" r="r" b="b"/>
              <a:pathLst>
                <a:path w="3255645" h="9525">
                  <a:moveTo>
                    <a:pt x="0" y="0"/>
                  </a:moveTo>
                  <a:lnTo>
                    <a:pt x="3255645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1075670" y="306514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7724775" y="306514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7715250" y="2549842"/>
              <a:ext cx="9525" cy="627698"/>
            </a:xfrm>
            <a:custGeom>
              <a:avLst/>
              <a:gdLst/>
              <a:ahLst/>
              <a:cxnLst/>
              <a:rect l="l" t="t" r="r" b="b"/>
              <a:pathLst>
                <a:path w="9525" h="627698">
                  <a:moveTo>
                    <a:pt x="0" y="0"/>
                  </a:moveTo>
                  <a:lnTo>
                    <a:pt x="0" y="627698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817891" y="186975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545755" y="2771299"/>
              <a:ext cx="6497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几何路程 r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641506" y="3215164"/>
              <a:ext cx="16126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光程 L = nr（取 n = 1.5）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93980" y="1662589"/>
              <a:ext cx="9597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介质中 λₙ = λ/n</a:t>
              </a:r>
            </a:p>
          </p:txBody>
        </p:sp>
      </p:grpSp>
      <p:grpSp>
        <p:nvGrpSpPr>
          <p:cNvPr id="51" name="c2-card-2"/>
          <p:cNvGrpSpPr/>
          <p:nvPr/>
        </p:nvGrpSpPr>
        <p:grpSpPr>
          <a:xfrm>
            <a:off x="6248400" y="3649980"/>
            <a:ext cx="5410200" cy="1794510"/>
            <a:chOff x="6248400" y="3649980"/>
            <a:chExt cx="5410200" cy="1794510"/>
          </a:xfrm>
        </p:grpSpPr>
        <p:sp>
          <p:nvSpPr>
            <p:cNvPr id="46" name="Rectangle 46"/>
            <p:cNvSpPr/>
            <p:nvPr/>
          </p:nvSpPr>
          <p:spPr>
            <a:xfrm>
              <a:off x="6248400" y="3649980"/>
              <a:ext cx="5410200" cy="1794510"/>
            </a:xfrm>
            <a:prstGeom prst="roundRect">
              <a:avLst>
                <a:gd name="adj" fmla="val 743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257925" y="3783330"/>
              <a:ext cx="47625" cy="152781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90335" y="38538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80543" y="38895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小例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483096" y="4226719"/>
              <a:ext cx="471233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厚 d = 6 μm、n = 1.5 的玻璃片，光程 nd = 9 μm，比同样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厚的空气多出 (n − 1)d = 3 μm。对 λ = 600 nm 的光，相位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多落后 2π × 3/0.6 = 10π。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2" name="Rectangle 52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511" y="6004084"/>
              <a:ext cx="102128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在光路里插入一块厚 d 的透明片，这一路的光程增加 (n − 1)d。双缝加介质片、迈克耳孙干涉仪插薄膜的题都用这一句。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光程与光程差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干涉加强还是减弱，由光程差决定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31"/>
              <p:cNvSpPr txBox="1">
                <a:spLocks noGrp="1"/>
              </p:cNvSpPr>
              <p:nvPr/>
            </p:nvSpPr>
            <p:spPr>
              <a:xfrm>
                <a:off x="533400" y="1524000"/>
                <a:ext cx="5193982" cy="4371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2π</m:t>
                          </m:r>
                        </m:num>
                        <m:den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den>
                      </m:f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9" name="c1-text-2"/>
          <p:cNvGrpSpPr/>
          <p:nvPr/>
        </p:nvGrpSpPr>
        <p:grpSpPr>
          <a:xfrm>
            <a:off x="528066" y="2143125"/>
            <a:ext cx="5100237" cy="205359"/>
            <a:chOff x="528066" y="2143125"/>
            <a:chExt cx="5100237" cy="205359"/>
          </a:xfrm>
        </p:grpSpPr>
        <p:sp>
          <p:nvSpPr>
            <p:cNvPr id="8" name="TextBox 8"/>
            <p:cNvSpPr txBox="1"/>
            <p:nvPr/>
          </p:nvSpPr>
          <p:spPr>
            <a:xfrm>
              <a:off x="528066" y="2143125"/>
              <a:ext cx="51002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S₁、S₂ 初相相同，分别在 n₁、n₂ 中传到 P 点。n₁ = n₂ = n 时 δ = n(r₂ − r₁)。</a:t>
              </a:r>
            </a:p>
          </p:txBody>
        </p:sp>
      </p:grpSp>
      <p:grpSp>
        <p:nvGrpSpPr>
          <p:cNvPr id="48" name="g_optdiff"/>
          <p:cNvGrpSpPr/>
          <p:nvPr/>
        </p:nvGrpSpPr>
        <p:grpSpPr>
          <a:xfrm>
            <a:off x="1094422" y="3058954"/>
            <a:ext cx="4080510" cy="1915667"/>
            <a:chOff x="1094422" y="3058954"/>
            <a:chExt cx="4080510" cy="1915667"/>
          </a:xfrm>
        </p:grpSpPr>
        <p:sp>
          <p:nvSpPr>
            <p:cNvPr id="10" name="Freeform 10"/>
            <p:cNvSpPr/>
            <p:nvPr/>
          </p:nvSpPr>
          <p:spPr>
            <a:xfrm>
              <a:off x="1094422" y="3970020"/>
              <a:ext cx="4070033" cy="9525"/>
            </a:xfrm>
            <a:custGeom>
              <a:avLst/>
              <a:gdLst/>
              <a:ahLst/>
              <a:cxnLst/>
              <a:rect l="l" t="t" r="r" b="b"/>
              <a:pathLst>
                <a:path w="4070033" h="9525">
                  <a:moveTo>
                    <a:pt x="0" y="0"/>
                  </a:moveTo>
                  <a:lnTo>
                    <a:pt x="4070033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172528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350645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528762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706880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884998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063115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2241232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419350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2597468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2775585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2953702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131820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3309938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3488055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3666172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3844290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4022408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4200525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4378642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4556760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4734878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4912995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5091112" y="4009072"/>
              <a:ext cx="83820" cy="83820"/>
            </a:xfrm>
            <a:custGeom>
              <a:avLst/>
              <a:gdLst/>
              <a:ahLst/>
              <a:cxnLst/>
              <a:rect l="l" t="t" r="r" b="b"/>
              <a:pathLst>
                <a:path w="83820" h="83820">
                  <a:moveTo>
                    <a:pt x="0" y="0"/>
                  </a:moveTo>
                  <a:lnTo>
                    <a:pt x="83820" y="8382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1499235" y="3179445"/>
              <a:ext cx="3127057" cy="765810"/>
            </a:xfrm>
            <a:custGeom>
              <a:avLst/>
              <a:gdLst/>
              <a:ahLst/>
              <a:cxnLst/>
              <a:rect l="l" t="t" r="r" b="b"/>
              <a:pathLst>
                <a:path w="3127057" h="765810">
                  <a:moveTo>
                    <a:pt x="0" y="0"/>
                  </a:moveTo>
                  <a:lnTo>
                    <a:pt x="3127057" y="765810"/>
                  </a:lnTo>
                </a:path>
              </a:pathLst>
            </a:custGeom>
            <a:noFill/>
            <a:ln w="22860">
              <a:solidFill>
                <a:srgbClr val="2F4B9A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4614862" y="3898582"/>
              <a:ext cx="103822" cy="93345"/>
            </a:xfrm>
            <a:custGeom>
              <a:avLst/>
              <a:gdLst/>
              <a:ahLst/>
              <a:cxnLst/>
              <a:rect l="l" t="t" r="r" b="b"/>
              <a:pathLst>
                <a:path w="103822" h="93345">
                  <a:moveTo>
                    <a:pt x="103822" y="69533"/>
                  </a:moveTo>
                  <a:lnTo>
                    <a:pt x="0" y="93345"/>
                  </a:lnTo>
                  <a:lnTo>
                    <a:pt x="22860" y="0"/>
                  </a:lnTo>
                  <a:close/>
                </a:path>
              </a:pathLst>
            </a:custGeom>
            <a:solidFill>
              <a:srgbClr val="2F4B9A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2307908" y="4005262"/>
              <a:ext cx="2321242" cy="827722"/>
            </a:xfrm>
            <a:custGeom>
              <a:avLst/>
              <a:gdLst/>
              <a:ahLst/>
              <a:cxnLst/>
              <a:rect l="l" t="t" r="r" b="b"/>
              <a:pathLst>
                <a:path w="2321242" h="827722">
                  <a:moveTo>
                    <a:pt x="0" y="827722"/>
                  </a:moveTo>
                  <a:lnTo>
                    <a:pt x="2321242" y="0"/>
                  </a:lnTo>
                </a:path>
              </a:pathLst>
            </a:custGeom>
            <a:noFill/>
            <a:ln w="22860">
              <a:solidFill>
                <a:srgbClr val="F26B3A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4612958" y="3960495"/>
              <a:ext cx="105727" cy="89535"/>
            </a:xfrm>
            <a:custGeom>
              <a:avLst/>
              <a:gdLst/>
              <a:ahLst/>
              <a:cxnLst/>
              <a:rect l="l" t="t" r="r" b="b"/>
              <a:pathLst>
                <a:path w="105727" h="89535">
                  <a:moveTo>
                    <a:pt x="105727" y="13335"/>
                  </a:moveTo>
                  <a:lnTo>
                    <a:pt x="32385" y="89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1442085" y="3128962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2251710" y="4789170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4680585" y="3922395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258524" y="3058954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051956" y="4783931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812547" y="3803809"/>
              <a:ext cx="904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027819" y="335041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r₁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513594" y="446770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r₂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728031" y="335041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728031" y="444388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n₂</a:t>
              </a:r>
            </a:p>
          </p:txBody>
        </p:sp>
      </p:grpSp>
      <p:grpSp>
        <p:nvGrpSpPr>
          <p:cNvPr id="55" name="c2-card-1"/>
          <p:cNvGrpSpPr/>
          <p:nvPr/>
        </p:nvGrpSpPr>
        <p:grpSpPr>
          <a:xfrm>
            <a:off x="6032182" y="1524000"/>
            <a:ext cx="5626418" cy="1824038"/>
            <a:chOff x="6032182" y="1524000"/>
            <a:chExt cx="5626418" cy="1824038"/>
          </a:xfrm>
        </p:grpSpPr>
        <p:sp>
          <p:nvSpPr>
            <p:cNvPr id="49" name="Rectangle 49"/>
            <p:cNvSpPr/>
            <p:nvPr/>
          </p:nvSpPr>
          <p:spPr>
            <a:xfrm>
              <a:off x="6032182" y="1524000"/>
              <a:ext cx="5626418" cy="1824038"/>
            </a:xfrm>
            <a:prstGeom prst="roundRect">
              <a:avLst>
                <a:gd name="adj" fmla="val 7311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13158" y="1704975"/>
              <a:ext cx="1799272" cy="23812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264842" y="1737836"/>
              <a:ext cx="16949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明暗条件（k = 0, 1, 2, …）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formula32"/>
                <p:cNvSpPr txBox="1">
                  <a:spLocks noGrp="1"/>
                </p:cNvSpPr>
                <p:nvPr/>
              </p:nvSpPr>
              <p:spPr>
                <a:xfrm>
                  <a:off x="6213158" y="2024062"/>
                  <a:ext cx="5264468" cy="3238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δ</m:t>
                        </m:r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=±</m:t>
                        </m:r>
                        <m: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kλ</m:t>
                        </m:r>
                        <m: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 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Δ</m:t>
                            </m:r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φ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=±</m:t>
                            </m:r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2kπ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formula33"/>
                <p:cNvSpPr txBox="1">
                  <a:spLocks noGrp="1"/>
                </p:cNvSpPr>
                <p:nvPr/>
              </p:nvSpPr>
              <p:spPr>
                <a:xfrm>
                  <a:off x="6213158" y="2428875"/>
                  <a:ext cx="5264468" cy="43719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δ</m:t>
                        </m:r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=±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2k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num>
                          <m:den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 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Δ</m:t>
                            </m:r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φ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=±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π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54" name="TextBox 54"/>
            <p:cNvSpPr txBox="1"/>
            <p:nvPr/>
          </p:nvSpPr>
          <p:spPr>
            <a:xfrm>
              <a:off x="6206680" y="296846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上式为明纹，下式为暗纹。</a:t>
              </a:r>
            </a:p>
          </p:txBody>
        </p:sp>
      </p:grpSp>
      <p:grpSp>
        <p:nvGrpSpPr>
          <p:cNvPr id="82" name="c2-table-2"/>
          <p:cNvGrpSpPr/>
          <p:nvPr/>
        </p:nvGrpSpPr>
        <p:grpSpPr>
          <a:xfrm>
            <a:off x="6032182" y="3512820"/>
            <a:ext cx="5626418" cy="1906905"/>
            <a:chOff x="6032182" y="3512820"/>
            <a:chExt cx="5626418" cy="1906905"/>
          </a:xfrm>
        </p:grpSpPr>
        <p:sp>
          <p:nvSpPr>
            <p:cNvPr id="56" name="Rectangle 56"/>
            <p:cNvSpPr/>
            <p:nvPr/>
          </p:nvSpPr>
          <p:spPr>
            <a:xfrm>
              <a:off x="6032182" y="3512820"/>
              <a:ext cx="5626418" cy="38100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08054" y="3629978"/>
              <a:ext cx="5608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光程差 δ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571357" y="362997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相位差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499408" y="362997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126861" y="401193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039481" y="401193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727311" y="401193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032182" y="427101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032182" y="4275772"/>
              <a:ext cx="5626418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126861" y="4392930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λ/2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039481" y="439293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π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9642158" y="4285298"/>
              <a:ext cx="2006918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9727311" y="439293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032182" y="465201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126861" y="4774883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039481" y="4774883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2π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727311" y="4774883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032182" y="50339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6032182" y="5038725"/>
              <a:ext cx="5626418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126861" y="5155883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3λ/2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039481" y="5155883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3π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9642158" y="5048250"/>
              <a:ext cx="2006918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9727311" y="5155883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6032182" y="3512820"/>
              <a:ext cx="5626418" cy="1906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7940040" y="3512820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9627870" y="3512820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9" name="takeaway"/>
          <p:cNvGrpSpPr/>
          <p:nvPr/>
        </p:nvGrpSpPr>
        <p:grpSpPr>
          <a:xfrm>
            <a:off x="533400" y="5659755"/>
            <a:ext cx="11125200" cy="702945"/>
            <a:chOff x="533400" y="5659755"/>
            <a:chExt cx="11125200" cy="702945"/>
          </a:xfrm>
        </p:grpSpPr>
        <p:sp>
          <p:nvSpPr>
            <p:cNvPr id="83" name="Rectangle 83"/>
            <p:cNvSpPr/>
            <p:nvPr/>
          </p:nvSpPr>
          <p:spPr>
            <a:xfrm>
              <a:off x="533400" y="5659755"/>
              <a:ext cx="11125200" cy="702945"/>
            </a:xfrm>
            <a:prstGeom prst="roundRect">
              <a:avLst>
                <a:gd name="adj" fmla="val 1626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7" name="Group 87"/>
            <p:cNvGrpSpPr/>
            <p:nvPr/>
          </p:nvGrpSpPr>
          <p:grpSpPr>
            <a:xfrm>
              <a:off x="726129" y="5907523"/>
              <a:ext cx="224134" cy="192560"/>
              <a:chOff x="726129" y="5907523"/>
              <a:chExt cx="224134" cy="192560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838200" y="597789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726129" y="590752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838200" y="60556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88" name="TextBox 88"/>
            <p:cNvSpPr txBox="1"/>
            <p:nvPr/>
          </p:nvSpPr>
          <p:spPr>
            <a:xfrm>
              <a:off x="1041273" y="5805011"/>
              <a:ext cx="99291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两束光在不同介质中传播时，决定干涉结果的是光程差，不是几何路程差。几何路程相等的两条光路，只要穿过的介质不同，照样可以相差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半个波长。</a:t>
              </a:r>
            </a:p>
          </p:txBody>
        </p:sp>
      </p:grpSp>
      <p:grpSp>
        <p:nvGrpSpPr>
          <p:cNvPr id="9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0" name="TextBox 90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光程与光程差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薄透镜不产生附加的光程差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4" name="g_lens"/>
          <p:cNvGrpSpPr/>
          <p:nvPr/>
        </p:nvGrpSpPr>
        <p:grpSpPr>
          <a:xfrm>
            <a:off x="694491" y="1829276"/>
            <a:ext cx="5049084" cy="3829240"/>
            <a:chOff x="694491" y="1829276"/>
            <a:chExt cx="5049084" cy="3829240"/>
          </a:xfrm>
        </p:grpSpPr>
        <p:sp>
          <p:nvSpPr>
            <p:cNvPr id="7" name="Freeform 7"/>
            <p:cNvSpPr/>
            <p:nvPr/>
          </p:nvSpPr>
          <p:spPr>
            <a:xfrm>
              <a:off x="2790825" y="2119312"/>
              <a:ext cx="247650" cy="1181100"/>
            </a:xfrm>
            <a:custGeom>
              <a:avLst/>
              <a:gdLst/>
              <a:ahLst/>
              <a:cxnLst/>
              <a:rect l="l" t="t" r="r" b="b"/>
              <a:pathLst>
                <a:path w="247650" h="1181100">
                  <a:moveTo>
                    <a:pt x="247650" y="581025"/>
                  </a:moveTo>
                  <a:lnTo>
                    <a:pt x="246697" y="532447"/>
                  </a:lnTo>
                  <a:lnTo>
                    <a:pt x="245745" y="475297"/>
                  </a:lnTo>
                  <a:lnTo>
                    <a:pt x="241935" y="419100"/>
                  </a:lnTo>
                  <a:lnTo>
                    <a:pt x="238125" y="364808"/>
                  </a:lnTo>
                  <a:lnTo>
                    <a:pt x="233362" y="312420"/>
                  </a:lnTo>
                  <a:lnTo>
                    <a:pt x="226695" y="262890"/>
                  </a:lnTo>
                  <a:lnTo>
                    <a:pt x="219075" y="216217"/>
                  </a:lnTo>
                  <a:lnTo>
                    <a:pt x="211455" y="172402"/>
                  </a:lnTo>
                  <a:lnTo>
                    <a:pt x="202883" y="134302"/>
                  </a:lnTo>
                  <a:lnTo>
                    <a:pt x="192405" y="100012"/>
                  </a:lnTo>
                  <a:lnTo>
                    <a:pt x="181928" y="69533"/>
                  </a:lnTo>
                  <a:lnTo>
                    <a:pt x="171450" y="44767"/>
                  </a:lnTo>
                  <a:lnTo>
                    <a:pt x="160020" y="24765"/>
                  </a:lnTo>
                  <a:lnTo>
                    <a:pt x="147638" y="11430"/>
                  </a:lnTo>
                  <a:lnTo>
                    <a:pt x="136208" y="2858"/>
                  </a:lnTo>
                  <a:lnTo>
                    <a:pt x="123825" y="0"/>
                  </a:lnTo>
                  <a:lnTo>
                    <a:pt x="111442" y="2858"/>
                  </a:lnTo>
                  <a:lnTo>
                    <a:pt x="100012" y="11430"/>
                  </a:lnTo>
                  <a:lnTo>
                    <a:pt x="87630" y="24765"/>
                  </a:lnTo>
                  <a:lnTo>
                    <a:pt x="76200" y="44767"/>
                  </a:lnTo>
                  <a:lnTo>
                    <a:pt x="65722" y="69533"/>
                  </a:lnTo>
                  <a:lnTo>
                    <a:pt x="55245" y="100012"/>
                  </a:lnTo>
                  <a:lnTo>
                    <a:pt x="44767" y="134302"/>
                  </a:lnTo>
                  <a:lnTo>
                    <a:pt x="36195" y="172402"/>
                  </a:lnTo>
                  <a:lnTo>
                    <a:pt x="27622" y="216217"/>
                  </a:lnTo>
                  <a:lnTo>
                    <a:pt x="20955" y="262890"/>
                  </a:lnTo>
                  <a:lnTo>
                    <a:pt x="15240" y="312420"/>
                  </a:lnTo>
                  <a:lnTo>
                    <a:pt x="9525" y="364808"/>
                  </a:lnTo>
                  <a:lnTo>
                    <a:pt x="4762" y="419100"/>
                  </a:lnTo>
                  <a:lnTo>
                    <a:pt x="2858" y="475297"/>
                  </a:lnTo>
                  <a:lnTo>
                    <a:pt x="953" y="532447"/>
                  </a:lnTo>
                  <a:lnTo>
                    <a:pt x="0" y="590550"/>
                  </a:lnTo>
                  <a:lnTo>
                    <a:pt x="953" y="648653"/>
                  </a:lnTo>
                  <a:lnTo>
                    <a:pt x="2858" y="705803"/>
                  </a:lnTo>
                  <a:lnTo>
                    <a:pt x="4762" y="762000"/>
                  </a:lnTo>
                  <a:lnTo>
                    <a:pt x="9525" y="816292"/>
                  </a:lnTo>
                  <a:lnTo>
                    <a:pt x="15240" y="868680"/>
                  </a:lnTo>
                  <a:lnTo>
                    <a:pt x="20955" y="918210"/>
                  </a:lnTo>
                  <a:lnTo>
                    <a:pt x="27622" y="964883"/>
                  </a:lnTo>
                  <a:lnTo>
                    <a:pt x="36195" y="1007745"/>
                  </a:lnTo>
                  <a:lnTo>
                    <a:pt x="44767" y="1046797"/>
                  </a:lnTo>
                  <a:lnTo>
                    <a:pt x="55245" y="1082040"/>
                  </a:lnTo>
                  <a:lnTo>
                    <a:pt x="65722" y="1111568"/>
                  </a:lnTo>
                  <a:lnTo>
                    <a:pt x="76200" y="1136332"/>
                  </a:lnTo>
                  <a:lnTo>
                    <a:pt x="87630" y="1155382"/>
                  </a:lnTo>
                  <a:lnTo>
                    <a:pt x="100012" y="1169670"/>
                  </a:lnTo>
                  <a:lnTo>
                    <a:pt x="111442" y="1178242"/>
                  </a:lnTo>
                  <a:lnTo>
                    <a:pt x="123825" y="1181100"/>
                  </a:lnTo>
                  <a:lnTo>
                    <a:pt x="136208" y="1178242"/>
                  </a:lnTo>
                  <a:lnTo>
                    <a:pt x="147638" y="1169670"/>
                  </a:lnTo>
                  <a:lnTo>
                    <a:pt x="160020" y="1155382"/>
                  </a:lnTo>
                  <a:lnTo>
                    <a:pt x="171450" y="1136332"/>
                  </a:lnTo>
                  <a:lnTo>
                    <a:pt x="181928" y="1111568"/>
                  </a:lnTo>
                  <a:lnTo>
                    <a:pt x="192405" y="1082040"/>
                  </a:lnTo>
                  <a:lnTo>
                    <a:pt x="202883" y="1046797"/>
                  </a:lnTo>
                  <a:lnTo>
                    <a:pt x="211455" y="1007745"/>
                  </a:lnTo>
                  <a:lnTo>
                    <a:pt x="219075" y="964883"/>
                  </a:lnTo>
                  <a:lnTo>
                    <a:pt x="226695" y="918210"/>
                  </a:lnTo>
                  <a:lnTo>
                    <a:pt x="233362" y="868680"/>
                  </a:lnTo>
                  <a:lnTo>
                    <a:pt x="238125" y="816292"/>
                  </a:lnTo>
                  <a:lnTo>
                    <a:pt x="241935" y="762000"/>
                  </a:lnTo>
                  <a:lnTo>
                    <a:pt x="245745" y="705803"/>
                  </a:lnTo>
                  <a:lnTo>
                    <a:pt x="246697" y="648653"/>
                  </a:lnTo>
                  <a:lnTo>
                    <a:pt x="247650" y="600075"/>
                  </a:lnTo>
                </a:path>
              </a:pathLst>
            </a:custGeom>
            <a:noFill/>
            <a:ln w="19050">
              <a:solidFill>
                <a:srgbClr val="2F4B9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733425" y="2709862"/>
              <a:ext cx="5010150" cy="9525"/>
            </a:xfrm>
            <a:custGeom>
              <a:avLst/>
              <a:gdLst/>
              <a:ahLst/>
              <a:cxnLst/>
              <a:rect l="l" t="t" r="r" b="b"/>
              <a:pathLst>
                <a:path w="5010150" h="9525">
                  <a:moveTo>
                    <a:pt x="0" y="0"/>
                  </a:moveTo>
                  <a:lnTo>
                    <a:pt x="501015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9" name="Freeform 9"/>
            <p:cNvSpPr/>
            <p:nvPr/>
          </p:nvSpPr>
          <p:spPr>
            <a:xfrm>
              <a:off x="828675" y="2328862"/>
              <a:ext cx="4171950" cy="379095"/>
            </a:xfrm>
            <a:custGeom>
              <a:avLst/>
              <a:gdLst/>
              <a:ahLst/>
              <a:cxnLst/>
              <a:rect l="l" t="t" r="r" b="b"/>
              <a:pathLst>
                <a:path w="4171950" h="379095">
                  <a:moveTo>
                    <a:pt x="0" y="0"/>
                  </a:moveTo>
                  <a:lnTo>
                    <a:pt x="2085975" y="0"/>
                  </a:lnTo>
                  <a:lnTo>
                    <a:pt x="4171950" y="379095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828675" y="2709862"/>
              <a:ext cx="4171950" cy="9525"/>
            </a:xfrm>
            <a:custGeom>
              <a:avLst/>
              <a:gdLst/>
              <a:ahLst/>
              <a:cxnLst/>
              <a:rect l="l" t="t" r="r" b="b"/>
              <a:pathLst>
                <a:path w="4171950" h="9525">
                  <a:moveTo>
                    <a:pt x="0" y="0"/>
                  </a:moveTo>
                  <a:lnTo>
                    <a:pt x="2085975" y="0"/>
                  </a:lnTo>
                  <a:lnTo>
                    <a:pt x="4171950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828675" y="2711768"/>
              <a:ext cx="4171950" cy="379095"/>
            </a:xfrm>
            <a:custGeom>
              <a:avLst/>
              <a:gdLst/>
              <a:ahLst/>
              <a:cxnLst/>
              <a:rect l="l" t="t" r="r" b="b"/>
              <a:pathLst>
                <a:path w="4171950" h="379095">
                  <a:moveTo>
                    <a:pt x="0" y="379095"/>
                  </a:moveTo>
                  <a:lnTo>
                    <a:pt x="2085975" y="379095"/>
                  </a:lnTo>
                  <a:lnTo>
                    <a:pt x="4171950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438275" y="2195512"/>
              <a:ext cx="9525" cy="1028700"/>
            </a:xfrm>
            <a:custGeom>
              <a:avLst/>
              <a:gdLst/>
              <a:ahLst/>
              <a:cxnLst/>
              <a:rect l="l" t="t" r="r" b="b"/>
              <a:pathLst>
                <a:path w="9525" h="1028700">
                  <a:moveTo>
                    <a:pt x="0" y="0"/>
                  </a:moveTo>
                  <a:lnTo>
                    <a:pt x="0" y="1028700"/>
                  </a:lnTo>
                </a:path>
              </a:pathLst>
            </a:custGeom>
            <a:noFill/>
            <a:ln w="17145">
              <a:solidFill>
                <a:srgbClr val="D97706"/>
              </a:solidFill>
              <a:custDash>
                <a:ds d="333333" sp="222222"/>
              </a:custDash>
            </a:ln>
          </p:spPr>
        </p:sp>
        <p:sp>
          <p:nvSpPr>
            <p:cNvPr id="13" name="Freeform 13"/>
            <p:cNvSpPr/>
            <p:nvPr/>
          </p:nvSpPr>
          <p:spPr>
            <a:xfrm>
              <a:off x="2057400" y="2195512"/>
              <a:ext cx="9525" cy="1028700"/>
            </a:xfrm>
            <a:custGeom>
              <a:avLst/>
              <a:gdLst/>
              <a:ahLst/>
              <a:cxnLst/>
              <a:rect l="l" t="t" r="r" b="b"/>
              <a:pathLst>
                <a:path w="9525" h="1028700">
                  <a:moveTo>
                    <a:pt x="0" y="0"/>
                  </a:moveTo>
                  <a:lnTo>
                    <a:pt x="0" y="1028700"/>
                  </a:lnTo>
                </a:path>
              </a:pathLst>
            </a:custGeom>
            <a:noFill/>
            <a:ln w="17145">
              <a:solidFill>
                <a:srgbClr val="D97706"/>
              </a:solidFill>
              <a:custDash>
                <a:ds d="333333" sp="222222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4343400" y="2385060"/>
              <a:ext cx="84772" cy="649605"/>
            </a:xfrm>
            <a:custGeom>
              <a:avLst/>
              <a:gdLst/>
              <a:ahLst/>
              <a:cxnLst/>
              <a:rect l="l" t="t" r="r" b="b"/>
              <a:pathLst>
                <a:path w="84772" h="649605">
                  <a:moveTo>
                    <a:pt x="84772" y="0"/>
                  </a:moveTo>
                  <a:lnTo>
                    <a:pt x="73342" y="21907"/>
                  </a:lnTo>
                  <a:lnTo>
                    <a:pt x="58103" y="53340"/>
                  </a:lnTo>
                  <a:lnTo>
                    <a:pt x="43815" y="85725"/>
                  </a:lnTo>
                  <a:lnTo>
                    <a:pt x="33338" y="119062"/>
                  </a:lnTo>
                  <a:lnTo>
                    <a:pt x="22860" y="152400"/>
                  </a:lnTo>
                  <a:lnTo>
                    <a:pt x="14288" y="186690"/>
                  </a:lnTo>
                  <a:lnTo>
                    <a:pt x="7620" y="220980"/>
                  </a:lnTo>
                  <a:lnTo>
                    <a:pt x="3810" y="255270"/>
                  </a:lnTo>
                  <a:lnTo>
                    <a:pt x="953" y="289560"/>
                  </a:lnTo>
                  <a:lnTo>
                    <a:pt x="0" y="324802"/>
                  </a:lnTo>
                  <a:lnTo>
                    <a:pt x="953" y="359093"/>
                  </a:lnTo>
                  <a:lnTo>
                    <a:pt x="3810" y="394335"/>
                  </a:lnTo>
                  <a:lnTo>
                    <a:pt x="7620" y="429577"/>
                  </a:lnTo>
                  <a:lnTo>
                    <a:pt x="14288" y="463868"/>
                  </a:lnTo>
                  <a:lnTo>
                    <a:pt x="22860" y="497205"/>
                  </a:lnTo>
                  <a:lnTo>
                    <a:pt x="33338" y="530543"/>
                  </a:lnTo>
                  <a:lnTo>
                    <a:pt x="43815" y="563880"/>
                  </a:lnTo>
                  <a:lnTo>
                    <a:pt x="58103" y="596265"/>
                  </a:lnTo>
                  <a:lnTo>
                    <a:pt x="73342" y="627698"/>
                  </a:lnTo>
                  <a:lnTo>
                    <a:pt x="84772" y="649605"/>
                  </a:lnTo>
                </a:path>
              </a:pathLst>
            </a:custGeom>
            <a:noFill/>
            <a:ln w="17145">
              <a:solidFill>
                <a:srgbClr val="D97706"/>
              </a:solidFill>
              <a:custDash>
                <a:ds d="333333" sp="222222"/>
              </a:custDash>
            </a:ln>
          </p:spPr>
        </p:sp>
        <p:sp>
          <p:nvSpPr>
            <p:cNvPr id="15" name="Freeform 15"/>
            <p:cNvSpPr/>
            <p:nvPr/>
          </p:nvSpPr>
          <p:spPr>
            <a:xfrm>
              <a:off x="3676650" y="2051685"/>
              <a:ext cx="174308" cy="1316355"/>
            </a:xfrm>
            <a:custGeom>
              <a:avLst/>
              <a:gdLst/>
              <a:ahLst/>
              <a:cxnLst/>
              <a:rect l="l" t="t" r="r" b="b"/>
              <a:pathLst>
                <a:path w="174308" h="1316355">
                  <a:moveTo>
                    <a:pt x="174308" y="0"/>
                  </a:moveTo>
                  <a:lnTo>
                    <a:pt x="145733" y="52388"/>
                  </a:lnTo>
                  <a:lnTo>
                    <a:pt x="115253" y="116205"/>
                  </a:lnTo>
                  <a:lnTo>
                    <a:pt x="88583" y="180023"/>
                  </a:lnTo>
                  <a:lnTo>
                    <a:pt x="64770" y="245745"/>
                  </a:lnTo>
                  <a:lnTo>
                    <a:pt x="45720" y="313373"/>
                  </a:lnTo>
                  <a:lnTo>
                    <a:pt x="29528" y="381000"/>
                  </a:lnTo>
                  <a:lnTo>
                    <a:pt x="16192" y="449580"/>
                  </a:lnTo>
                  <a:lnTo>
                    <a:pt x="6667" y="519112"/>
                  </a:lnTo>
                  <a:lnTo>
                    <a:pt x="1905" y="588645"/>
                  </a:lnTo>
                  <a:lnTo>
                    <a:pt x="0" y="658178"/>
                  </a:lnTo>
                  <a:lnTo>
                    <a:pt x="1905" y="727710"/>
                  </a:lnTo>
                  <a:lnTo>
                    <a:pt x="6667" y="797243"/>
                  </a:lnTo>
                  <a:lnTo>
                    <a:pt x="16192" y="866775"/>
                  </a:lnTo>
                  <a:lnTo>
                    <a:pt x="29528" y="935355"/>
                  </a:lnTo>
                  <a:lnTo>
                    <a:pt x="45720" y="1002982"/>
                  </a:lnTo>
                  <a:lnTo>
                    <a:pt x="64770" y="1069657"/>
                  </a:lnTo>
                  <a:lnTo>
                    <a:pt x="88583" y="1136332"/>
                  </a:lnTo>
                  <a:lnTo>
                    <a:pt x="115253" y="1200150"/>
                  </a:lnTo>
                  <a:lnTo>
                    <a:pt x="145733" y="1263015"/>
                  </a:lnTo>
                  <a:lnTo>
                    <a:pt x="174308" y="1316355"/>
                  </a:lnTo>
                </a:path>
              </a:pathLst>
            </a:custGeom>
            <a:noFill/>
            <a:ln w="17145">
              <a:solidFill>
                <a:srgbClr val="D97706"/>
              </a:solidFill>
              <a:custDash>
                <a:ds d="333333" sp="222222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2790825" y="4119562"/>
              <a:ext cx="247650" cy="1181100"/>
            </a:xfrm>
            <a:custGeom>
              <a:avLst/>
              <a:gdLst/>
              <a:ahLst/>
              <a:cxnLst/>
              <a:rect l="l" t="t" r="r" b="b"/>
              <a:pathLst>
                <a:path w="247650" h="1181100">
                  <a:moveTo>
                    <a:pt x="247650" y="581025"/>
                  </a:moveTo>
                  <a:lnTo>
                    <a:pt x="246697" y="532447"/>
                  </a:lnTo>
                  <a:lnTo>
                    <a:pt x="245745" y="475297"/>
                  </a:lnTo>
                  <a:lnTo>
                    <a:pt x="241935" y="419100"/>
                  </a:lnTo>
                  <a:lnTo>
                    <a:pt x="238125" y="364808"/>
                  </a:lnTo>
                  <a:lnTo>
                    <a:pt x="233362" y="312420"/>
                  </a:lnTo>
                  <a:lnTo>
                    <a:pt x="226695" y="262890"/>
                  </a:lnTo>
                  <a:lnTo>
                    <a:pt x="219075" y="216217"/>
                  </a:lnTo>
                  <a:lnTo>
                    <a:pt x="211455" y="172403"/>
                  </a:lnTo>
                  <a:lnTo>
                    <a:pt x="202883" y="134303"/>
                  </a:lnTo>
                  <a:lnTo>
                    <a:pt x="192405" y="100012"/>
                  </a:lnTo>
                  <a:lnTo>
                    <a:pt x="181928" y="69533"/>
                  </a:lnTo>
                  <a:lnTo>
                    <a:pt x="171450" y="44767"/>
                  </a:lnTo>
                  <a:lnTo>
                    <a:pt x="160020" y="25717"/>
                  </a:lnTo>
                  <a:lnTo>
                    <a:pt x="147638" y="11430"/>
                  </a:lnTo>
                  <a:lnTo>
                    <a:pt x="136208" y="2858"/>
                  </a:lnTo>
                  <a:lnTo>
                    <a:pt x="123825" y="0"/>
                  </a:lnTo>
                  <a:lnTo>
                    <a:pt x="111442" y="2858"/>
                  </a:lnTo>
                  <a:lnTo>
                    <a:pt x="100012" y="11430"/>
                  </a:lnTo>
                  <a:lnTo>
                    <a:pt x="87630" y="25717"/>
                  </a:lnTo>
                  <a:lnTo>
                    <a:pt x="76200" y="44767"/>
                  </a:lnTo>
                  <a:lnTo>
                    <a:pt x="65722" y="69533"/>
                  </a:lnTo>
                  <a:lnTo>
                    <a:pt x="55245" y="100012"/>
                  </a:lnTo>
                  <a:lnTo>
                    <a:pt x="44767" y="134303"/>
                  </a:lnTo>
                  <a:lnTo>
                    <a:pt x="36195" y="172403"/>
                  </a:lnTo>
                  <a:lnTo>
                    <a:pt x="27622" y="216217"/>
                  </a:lnTo>
                  <a:lnTo>
                    <a:pt x="20955" y="262890"/>
                  </a:lnTo>
                  <a:lnTo>
                    <a:pt x="15240" y="312420"/>
                  </a:lnTo>
                  <a:lnTo>
                    <a:pt x="9525" y="364808"/>
                  </a:lnTo>
                  <a:lnTo>
                    <a:pt x="4762" y="419100"/>
                  </a:lnTo>
                  <a:lnTo>
                    <a:pt x="2858" y="475297"/>
                  </a:lnTo>
                  <a:lnTo>
                    <a:pt x="953" y="532447"/>
                  </a:lnTo>
                  <a:lnTo>
                    <a:pt x="0" y="590550"/>
                  </a:lnTo>
                  <a:lnTo>
                    <a:pt x="953" y="648653"/>
                  </a:lnTo>
                  <a:lnTo>
                    <a:pt x="2858" y="705803"/>
                  </a:lnTo>
                  <a:lnTo>
                    <a:pt x="4762" y="762000"/>
                  </a:lnTo>
                  <a:lnTo>
                    <a:pt x="9525" y="816293"/>
                  </a:lnTo>
                  <a:lnTo>
                    <a:pt x="15240" y="868680"/>
                  </a:lnTo>
                  <a:lnTo>
                    <a:pt x="20955" y="918210"/>
                  </a:lnTo>
                  <a:lnTo>
                    <a:pt x="27622" y="964882"/>
                  </a:lnTo>
                  <a:lnTo>
                    <a:pt x="36195" y="1007745"/>
                  </a:lnTo>
                  <a:lnTo>
                    <a:pt x="44767" y="1046797"/>
                  </a:lnTo>
                  <a:lnTo>
                    <a:pt x="55245" y="1082040"/>
                  </a:lnTo>
                  <a:lnTo>
                    <a:pt x="65722" y="1111568"/>
                  </a:lnTo>
                  <a:lnTo>
                    <a:pt x="76200" y="1136332"/>
                  </a:lnTo>
                  <a:lnTo>
                    <a:pt x="87630" y="1155382"/>
                  </a:lnTo>
                  <a:lnTo>
                    <a:pt x="100012" y="1169670"/>
                  </a:lnTo>
                  <a:lnTo>
                    <a:pt x="111442" y="1178243"/>
                  </a:lnTo>
                  <a:lnTo>
                    <a:pt x="123825" y="1181100"/>
                  </a:lnTo>
                  <a:lnTo>
                    <a:pt x="136208" y="1178243"/>
                  </a:lnTo>
                  <a:lnTo>
                    <a:pt x="147638" y="1169670"/>
                  </a:lnTo>
                  <a:lnTo>
                    <a:pt x="160020" y="1155382"/>
                  </a:lnTo>
                  <a:lnTo>
                    <a:pt x="171450" y="1136332"/>
                  </a:lnTo>
                  <a:lnTo>
                    <a:pt x="181928" y="1111568"/>
                  </a:lnTo>
                  <a:lnTo>
                    <a:pt x="192405" y="1082040"/>
                  </a:lnTo>
                  <a:lnTo>
                    <a:pt x="202883" y="1046797"/>
                  </a:lnTo>
                  <a:lnTo>
                    <a:pt x="211455" y="1007745"/>
                  </a:lnTo>
                  <a:lnTo>
                    <a:pt x="219075" y="964882"/>
                  </a:lnTo>
                  <a:lnTo>
                    <a:pt x="226695" y="918210"/>
                  </a:lnTo>
                  <a:lnTo>
                    <a:pt x="233362" y="868680"/>
                  </a:lnTo>
                  <a:lnTo>
                    <a:pt x="238125" y="816293"/>
                  </a:lnTo>
                  <a:lnTo>
                    <a:pt x="241935" y="762000"/>
                  </a:lnTo>
                  <a:lnTo>
                    <a:pt x="245745" y="705803"/>
                  </a:lnTo>
                  <a:lnTo>
                    <a:pt x="246697" y="648653"/>
                  </a:lnTo>
                  <a:lnTo>
                    <a:pt x="247650" y="600075"/>
                  </a:lnTo>
                </a:path>
              </a:pathLst>
            </a:custGeom>
            <a:noFill/>
            <a:ln w="19050">
              <a:solidFill>
                <a:srgbClr val="2F4B9A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33425" y="4710112"/>
              <a:ext cx="5010150" cy="9525"/>
            </a:xfrm>
            <a:custGeom>
              <a:avLst/>
              <a:gdLst/>
              <a:ahLst/>
              <a:cxnLst/>
              <a:rect l="l" t="t" r="r" b="b"/>
              <a:pathLst>
                <a:path w="5010150" h="9525">
                  <a:moveTo>
                    <a:pt x="0" y="0"/>
                  </a:moveTo>
                  <a:lnTo>
                    <a:pt x="501015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18" name="Freeform 18"/>
            <p:cNvSpPr/>
            <p:nvPr/>
          </p:nvSpPr>
          <p:spPr>
            <a:xfrm>
              <a:off x="1114425" y="4291012"/>
              <a:ext cx="3981450" cy="417195"/>
            </a:xfrm>
            <a:custGeom>
              <a:avLst/>
              <a:gdLst/>
              <a:ahLst/>
              <a:cxnLst/>
              <a:rect l="l" t="t" r="r" b="b"/>
              <a:pathLst>
                <a:path w="3981450" h="417195">
                  <a:moveTo>
                    <a:pt x="0" y="417195"/>
                  </a:moveTo>
                  <a:lnTo>
                    <a:pt x="1800225" y="0"/>
                  </a:lnTo>
                  <a:lnTo>
                    <a:pt x="3981450" y="417195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114425" y="4710112"/>
              <a:ext cx="3981450" cy="9525"/>
            </a:xfrm>
            <a:custGeom>
              <a:avLst/>
              <a:gdLst/>
              <a:ahLst/>
              <a:cxnLst/>
              <a:rect l="l" t="t" r="r" b="b"/>
              <a:pathLst>
                <a:path w="3981450" h="9525">
                  <a:moveTo>
                    <a:pt x="0" y="0"/>
                  </a:moveTo>
                  <a:lnTo>
                    <a:pt x="1800225" y="0"/>
                  </a:lnTo>
                  <a:lnTo>
                    <a:pt x="3981450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114425" y="4712018"/>
              <a:ext cx="3981450" cy="417195"/>
            </a:xfrm>
            <a:custGeom>
              <a:avLst/>
              <a:gdLst/>
              <a:ahLst/>
              <a:cxnLst/>
              <a:rect l="l" t="t" r="r" b="b"/>
              <a:pathLst>
                <a:path w="3981450" h="417195">
                  <a:moveTo>
                    <a:pt x="0" y="0"/>
                  </a:moveTo>
                  <a:lnTo>
                    <a:pt x="1800225" y="417195"/>
                  </a:lnTo>
                  <a:lnTo>
                    <a:pt x="3981450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686878" y="4385310"/>
              <a:ext cx="84773" cy="649605"/>
            </a:xfrm>
            <a:custGeom>
              <a:avLst/>
              <a:gdLst/>
              <a:ahLst/>
              <a:cxnLst/>
              <a:rect l="l" t="t" r="r" b="b"/>
              <a:pathLst>
                <a:path w="84773" h="649605">
                  <a:moveTo>
                    <a:pt x="0" y="649605"/>
                  </a:moveTo>
                  <a:lnTo>
                    <a:pt x="11430" y="627697"/>
                  </a:lnTo>
                  <a:lnTo>
                    <a:pt x="26670" y="596265"/>
                  </a:lnTo>
                  <a:lnTo>
                    <a:pt x="40958" y="563880"/>
                  </a:lnTo>
                  <a:lnTo>
                    <a:pt x="52388" y="530543"/>
                  </a:lnTo>
                  <a:lnTo>
                    <a:pt x="61912" y="497205"/>
                  </a:lnTo>
                  <a:lnTo>
                    <a:pt x="70485" y="463868"/>
                  </a:lnTo>
                  <a:lnTo>
                    <a:pt x="77152" y="429578"/>
                  </a:lnTo>
                  <a:lnTo>
                    <a:pt x="80962" y="394335"/>
                  </a:lnTo>
                  <a:lnTo>
                    <a:pt x="83820" y="359093"/>
                  </a:lnTo>
                  <a:lnTo>
                    <a:pt x="84773" y="324803"/>
                  </a:lnTo>
                  <a:lnTo>
                    <a:pt x="83820" y="289560"/>
                  </a:lnTo>
                  <a:lnTo>
                    <a:pt x="80962" y="255270"/>
                  </a:lnTo>
                  <a:lnTo>
                    <a:pt x="77152" y="220028"/>
                  </a:lnTo>
                  <a:lnTo>
                    <a:pt x="70485" y="186690"/>
                  </a:lnTo>
                  <a:lnTo>
                    <a:pt x="61912" y="152400"/>
                  </a:lnTo>
                  <a:lnTo>
                    <a:pt x="52388" y="119062"/>
                  </a:lnTo>
                  <a:lnTo>
                    <a:pt x="40958" y="85725"/>
                  </a:lnTo>
                  <a:lnTo>
                    <a:pt x="26670" y="53340"/>
                  </a:lnTo>
                  <a:lnTo>
                    <a:pt x="11430" y="21908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D97706"/>
              </a:solidFill>
              <a:custDash>
                <a:ds d="333333" sp="222222"/>
              </a:custDash>
            </a:ln>
          </p:spPr>
        </p:sp>
        <p:sp>
          <p:nvSpPr>
            <p:cNvPr id="22" name="Freeform 22"/>
            <p:cNvSpPr/>
            <p:nvPr/>
          </p:nvSpPr>
          <p:spPr>
            <a:xfrm>
              <a:off x="2181225" y="4099560"/>
              <a:ext cx="161925" cy="1221105"/>
            </a:xfrm>
            <a:custGeom>
              <a:avLst/>
              <a:gdLst/>
              <a:ahLst/>
              <a:cxnLst/>
              <a:rect l="l" t="t" r="r" b="b"/>
              <a:pathLst>
                <a:path w="161925" h="1221105">
                  <a:moveTo>
                    <a:pt x="0" y="1221105"/>
                  </a:moveTo>
                  <a:lnTo>
                    <a:pt x="27623" y="1172528"/>
                  </a:lnTo>
                  <a:lnTo>
                    <a:pt x="54292" y="1114425"/>
                  </a:lnTo>
                  <a:lnTo>
                    <a:pt x="80010" y="1054418"/>
                  </a:lnTo>
                  <a:lnTo>
                    <a:pt x="100965" y="993458"/>
                  </a:lnTo>
                  <a:lnTo>
                    <a:pt x="120015" y="930593"/>
                  </a:lnTo>
                  <a:lnTo>
                    <a:pt x="135255" y="867728"/>
                  </a:lnTo>
                  <a:lnTo>
                    <a:pt x="146685" y="803910"/>
                  </a:lnTo>
                  <a:lnTo>
                    <a:pt x="155258" y="740093"/>
                  </a:lnTo>
                  <a:lnTo>
                    <a:pt x="160020" y="675323"/>
                  </a:lnTo>
                  <a:lnTo>
                    <a:pt x="161925" y="610553"/>
                  </a:lnTo>
                  <a:lnTo>
                    <a:pt x="160020" y="545783"/>
                  </a:lnTo>
                  <a:lnTo>
                    <a:pt x="155258" y="481012"/>
                  </a:lnTo>
                  <a:lnTo>
                    <a:pt x="146685" y="417195"/>
                  </a:lnTo>
                  <a:lnTo>
                    <a:pt x="135255" y="353378"/>
                  </a:lnTo>
                  <a:lnTo>
                    <a:pt x="120015" y="290512"/>
                  </a:lnTo>
                  <a:lnTo>
                    <a:pt x="100965" y="227648"/>
                  </a:lnTo>
                  <a:lnTo>
                    <a:pt x="80010" y="166688"/>
                  </a:lnTo>
                  <a:lnTo>
                    <a:pt x="54292" y="106680"/>
                  </a:lnTo>
                  <a:lnTo>
                    <a:pt x="27623" y="48578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D97706"/>
              </a:solidFill>
              <a:custDash>
                <a:ds d="333333" sp="222222"/>
              </a:custDash>
            </a:ln>
          </p:spPr>
        </p:sp>
        <p:sp>
          <p:nvSpPr>
            <p:cNvPr id="23" name="Ellipse 23"/>
            <p:cNvSpPr/>
            <p:nvPr/>
          </p:nvSpPr>
          <p:spPr>
            <a:xfrm>
              <a:off x="4962525" y="2662238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057275" y="4662488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057775" y="4662488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4491" y="2147888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94491" y="2528888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94491" y="2909888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110835" y="248554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95865" y="1829276"/>
              <a:ext cx="18852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平行光：各光线到 F 的光程相等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15085" y="444769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160084" y="446770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S′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132325" y="5467826"/>
              <a:ext cx="22123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点光源成像：S 到 S′ 各光线光程相等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6248400" y="1524000"/>
            <a:ext cx="5410200" cy="1887855"/>
            <a:chOff x="6248400" y="1524000"/>
            <a:chExt cx="5410200" cy="1887855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57925" y="165735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96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78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等光程性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88430" y="2110740"/>
              <a:ext cx="45872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平行光经透镜会聚到焦点 F，同一波面上各点到 F 的光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程相等。中间那条光线几何路程最短，但在玻璃里走得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最长；边上的光线几何路程长，在玻璃里走得短，两者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正好补齐。</a:t>
              </a:r>
            </a:p>
          </p:txBody>
        </p:sp>
      </p:grpSp>
      <p:grpSp>
        <p:nvGrpSpPr>
          <p:cNvPr id="47" name="c2-bullets-2"/>
          <p:cNvGrpSpPr/>
          <p:nvPr/>
        </p:nvGrpSpPr>
        <p:grpSpPr>
          <a:xfrm>
            <a:off x="6254115" y="3627120"/>
            <a:ext cx="4712589" cy="982980"/>
            <a:chOff x="6254115" y="3627120"/>
            <a:chExt cx="4712589" cy="982980"/>
          </a:xfrm>
        </p:grpSpPr>
        <p:sp>
          <p:nvSpPr>
            <p:cNvPr id="41" name="Ellipse 41"/>
            <p:cNvSpPr/>
            <p:nvPr/>
          </p:nvSpPr>
          <p:spPr>
            <a:xfrm>
              <a:off x="6254115" y="368998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12230" y="3627120"/>
              <a:ext cx="30236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平行于主轴的平行光会聚于焦点 F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254115" y="40347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12230" y="3971925"/>
              <a:ext cx="45544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斜入射的平行光会聚于焦平面上的 F′，同样等光程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254115" y="437959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12230" y="4316730"/>
              <a:ext cx="45361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点光源 S 成像于 S′，S 到 S′ 的各条光线光程相等</a:t>
              </a:r>
            </a:p>
          </p:txBody>
        </p:sp>
      </p:grpSp>
      <p:grpSp>
        <p:nvGrpSpPr>
          <p:cNvPr id="54" name="c2-callout-3"/>
          <p:cNvGrpSpPr/>
          <p:nvPr/>
        </p:nvGrpSpPr>
        <p:grpSpPr>
          <a:xfrm>
            <a:off x="6248400" y="4741545"/>
            <a:ext cx="5410200" cy="1059180"/>
            <a:chOff x="6248400" y="4741545"/>
            <a:chExt cx="5410200" cy="1059180"/>
          </a:xfrm>
        </p:grpSpPr>
        <p:sp>
          <p:nvSpPr>
            <p:cNvPr id="48" name="Rectangle 48"/>
            <p:cNvSpPr/>
            <p:nvPr/>
          </p:nvSpPr>
          <p:spPr>
            <a:xfrm>
              <a:off x="6248400" y="4741545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453188" y="5171123"/>
              <a:ext cx="200026" cy="200025"/>
              <a:chOff x="6453188" y="5171123"/>
              <a:chExt cx="200026" cy="2000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453188" y="517112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492926" y="521557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527642" y="532669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6755130" y="4890135"/>
              <a:ext cx="4396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所以双缝、薄膜实验里用透镜把光会聚到屏上或眼睛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里观察，透镜本身不会改变两束光的光程差，计算时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可以不管它。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光程与光程差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获得相干光：把同一列光波一分为二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887855"/>
            <a:chOff x="533400" y="1524000"/>
            <a:chExt cx="5626418" cy="18878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7755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普通光源为什么不相干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9682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普通光源里每个原子一次发光只持续约 10⁻⁸ s，发出一段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有限长的波列。不同原子、同一原子先后发出的波列，频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率、振动方向、初相都没有固定关系，所以两盏独立的灯、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甚至同一灯丝的两部分发的光都不相干。</a:t>
              </a:r>
            </a:p>
          </p:txBody>
        </p:sp>
      </p:grpSp>
      <p:grpSp>
        <p:nvGrpSpPr>
          <p:cNvPr id="28" name="c1-table-2"/>
          <p:cNvGrpSpPr/>
          <p:nvPr/>
        </p:nvGrpSpPr>
        <p:grpSpPr>
          <a:xfrm>
            <a:off x="533400" y="3602355"/>
            <a:ext cx="5626418" cy="1800225"/>
            <a:chOff x="533400" y="3602355"/>
            <a:chExt cx="5626418" cy="1800225"/>
          </a:xfrm>
        </p:grpSpPr>
        <p:sp>
          <p:nvSpPr>
            <p:cNvPr id="13" name="Rectangle 13"/>
            <p:cNvSpPr/>
            <p:nvPr/>
          </p:nvSpPr>
          <p:spPr>
            <a:xfrm>
              <a:off x="533400" y="3602355"/>
              <a:ext cx="5626418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17537" y="37380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717762" y="37380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68519" y="37380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1223" y="430006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分波阵面法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66125" y="430006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从同一波面上取出两部分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242626" y="4186714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杨氏双缝、菲涅耳双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镜、劳埃德镜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72154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4726305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497538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分振幅法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66125" y="4862036"/>
              <a:ext cx="21262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一束光在薄膜上下表面反射，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振幅（能量）分成两份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42626" y="497538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薄膜、劈尖、牛顿环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602355"/>
              <a:ext cx="5626418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1653540" y="360235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4130040" y="360235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g_split"/>
          <p:cNvGrpSpPr/>
          <p:nvPr/>
        </p:nvGrpSpPr>
        <p:grpSpPr>
          <a:xfrm>
            <a:off x="6570345" y="1687830"/>
            <a:ext cx="4780598" cy="3070860"/>
            <a:chOff x="6570345" y="1687830"/>
            <a:chExt cx="4780598" cy="3070860"/>
          </a:xfrm>
        </p:grpSpPr>
        <p:sp>
          <p:nvSpPr>
            <p:cNvPr id="29" name="Freeform 29"/>
            <p:cNvSpPr/>
            <p:nvPr/>
          </p:nvSpPr>
          <p:spPr>
            <a:xfrm>
              <a:off x="7193280" y="2415540"/>
              <a:ext cx="128588" cy="571500"/>
            </a:xfrm>
            <a:custGeom>
              <a:avLst/>
              <a:gdLst/>
              <a:ahLst/>
              <a:cxnLst/>
              <a:rect l="l" t="t" r="r" b="b"/>
              <a:pathLst>
                <a:path w="128588" h="571500">
                  <a:moveTo>
                    <a:pt x="0" y="571500"/>
                  </a:moveTo>
                  <a:lnTo>
                    <a:pt x="13335" y="559118"/>
                  </a:lnTo>
                  <a:lnTo>
                    <a:pt x="32385" y="539115"/>
                  </a:lnTo>
                  <a:lnTo>
                    <a:pt x="50482" y="517207"/>
                  </a:lnTo>
                  <a:lnTo>
                    <a:pt x="65722" y="495300"/>
                  </a:lnTo>
                  <a:lnTo>
                    <a:pt x="80962" y="471488"/>
                  </a:lnTo>
                  <a:lnTo>
                    <a:pt x="93345" y="446723"/>
                  </a:lnTo>
                  <a:lnTo>
                    <a:pt x="103822" y="421005"/>
                  </a:lnTo>
                  <a:lnTo>
                    <a:pt x="113347" y="395288"/>
                  </a:lnTo>
                  <a:lnTo>
                    <a:pt x="120015" y="367665"/>
                  </a:lnTo>
                  <a:lnTo>
                    <a:pt x="124777" y="340995"/>
                  </a:lnTo>
                  <a:lnTo>
                    <a:pt x="127635" y="313373"/>
                  </a:lnTo>
                  <a:lnTo>
                    <a:pt x="128588" y="285750"/>
                  </a:lnTo>
                  <a:lnTo>
                    <a:pt x="127635" y="258127"/>
                  </a:lnTo>
                  <a:lnTo>
                    <a:pt x="124777" y="230505"/>
                  </a:lnTo>
                  <a:lnTo>
                    <a:pt x="120015" y="202882"/>
                  </a:lnTo>
                  <a:lnTo>
                    <a:pt x="113347" y="176213"/>
                  </a:lnTo>
                  <a:lnTo>
                    <a:pt x="103822" y="150495"/>
                  </a:lnTo>
                  <a:lnTo>
                    <a:pt x="93345" y="124777"/>
                  </a:lnTo>
                  <a:lnTo>
                    <a:pt x="80962" y="100013"/>
                  </a:lnTo>
                  <a:lnTo>
                    <a:pt x="65722" y="76200"/>
                  </a:lnTo>
                  <a:lnTo>
                    <a:pt x="50482" y="53340"/>
                  </a:lnTo>
                  <a:lnTo>
                    <a:pt x="32385" y="32385"/>
                  </a:lnTo>
                  <a:lnTo>
                    <a:pt x="13335" y="12383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D97706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438072" y="2124075"/>
              <a:ext cx="264795" cy="1154430"/>
            </a:xfrm>
            <a:custGeom>
              <a:avLst/>
              <a:gdLst/>
              <a:ahLst/>
              <a:cxnLst/>
              <a:rect l="l" t="t" r="r" b="b"/>
              <a:pathLst>
                <a:path w="264795" h="1154430">
                  <a:moveTo>
                    <a:pt x="0" y="1154430"/>
                  </a:moveTo>
                  <a:lnTo>
                    <a:pt x="33338" y="1123950"/>
                  </a:lnTo>
                  <a:lnTo>
                    <a:pt x="72390" y="1082992"/>
                  </a:lnTo>
                  <a:lnTo>
                    <a:pt x="107633" y="1041083"/>
                  </a:lnTo>
                  <a:lnTo>
                    <a:pt x="140018" y="995362"/>
                  </a:lnTo>
                  <a:lnTo>
                    <a:pt x="168593" y="948690"/>
                  </a:lnTo>
                  <a:lnTo>
                    <a:pt x="193358" y="899160"/>
                  </a:lnTo>
                  <a:lnTo>
                    <a:pt x="215265" y="847725"/>
                  </a:lnTo>
                  <a:lnTo>
                    <a:pt x="233362" y="795338"/>
                  </a:lnTo>
                  <a:lnTo>
                    <a:pt x="246697" y="741997"/>
                  </a:lnTo>
                  <a:lnTo>
                    <a:pt x="257175" y="687705"/>
                  </a:lnTo>
                  <a:lnTo>
                    <a:pt x="262890" y="632460"/>
                  </a:lnTo>
                  <a:lnTo>
                    <a:pt x="264795" y="577215"/>
                  </a:lnTo>
                  <a:lnTo>
                    <a:pt x="262890" y="521970"/>
                  </a:lnTo>
                  <a:lnTo>
                    <a:pt x="257175" y="466725"/>
                  </a:lnTo>
                  <a:lnTo>
                    <a:pt x="246697" y="412433"/>
                  </a:lnTo>
                  <a:lnTo>
                    <a:pt x="233362" y="358140"/>
                  </a:lnTo>
                  <a:lnTo>
                    <a:pt x="215265" y="306705"/>
                  </a:lnTo>
                  <a:lnTo>
                    <a:pt x="193358" y="255270"/>
                  </a:lnTo>
                  <a:lnTo>
                    <a:pt x="168593" y="205740"/>
                  </a:lnTo>
                  <a:lnTo>
                    <a:pt x="140018" y="158115"/>
                  </a:lnTo>
                  <a:lnTo>
                    <a:pt x="107633" y="113348"/>
                  </a:lnTo>
                  <a:lnTo>
                    <a:pt x="72390" y="70485"/>
                  </a:lnTo>
                  <a:lnTo>
                    <a:pt x="33338" y="30480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D97706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682865" y="1831658"/>
              <a:ext cx="401003" cy="1738312"/>
            </a:xfrm>
            <a:custGeom>
              <a:avLst/>
              <a:gdLst/>
              <a:ahLst/>
              <a:cxnLst/>
              <a:rect l="l" t="t" r="r" b="b"/>
              <a:pathLst>
                <a:path w="401003" h="1738312">
                  <a:moveTo>
                    <a:pt x="0" y="1738312"/>
                  </a:moveTo>
                  <a:lnTo>
                    <a:pt x="54292" y="1688782"/>
                  </a:lnTo>
                  <a:lnTo>
                    <a:pt x="112395" y="1628775"/>
                  </a:lnTo>
                  <a:lnTo>
                    <a:pt x="164782" y="1564958"/>
                  </a:lnTo>
                  <a:lnTo>
                    <a:pt x="213360" y="1497330"/>
                  </a:lnTo>
                  <a:lnTo>
                    <a:pt x="256222" y="1426845"/>
                  </a:lnTo>
                  <a:lnTo>
                    <a:pt x="294322" y="1352550"/>
                  </a:lnTo>
                  <a:lnTo>
                    <a:pt x="326707" y="1275397"/>
                  </a:lnTo>
                  <a:lnTo>
                    <a:pt x="353378" y="1197292"/>
                  </a:lnTo>
                  <a:lnTo>
                    <a:pt x="374332" y="1116330"/>
                  </a:lnTo>
                  <a:lnTo>
                    <a:pt x="388620" y="1035367"/>
                  </a:lnTo>
                  <a:lnTo>
                    <a:pt x="398145" y="952500"/>
                  </a:lnTo>
                  <a:lnTo>
                    <a:pt x="401003" y="869633"/>
                  </a:lnTo>
                  <a:lnTo>
                    <a:pt x="398145" y="786765"/>
                  </a:lnTo>
                  <a:lnTo>
                    <a:pt x="388620" y="703897"/>
                  </a:lnTo>
                  <a:lnTo>
                    <a:pt x="374332" y="621983"/>
                  </a:lnTo>
                  <a:lnTo>
                    <a:pt x="353378" y="541972"/>
                  </a:lnTo>
                  <a:lnTo>
                    <a:pt x="326707" y="462915"/>
                  </a:lnTo>
                  <a:lnTo>
                    <a:pt x="294322" y="386715"/>
                  </a:lnTo>
                  <a:lnTo>
                    <a:pt x="256222" y="312420"/>
                  </a:lnTo>
                  <a:lnTo>
                    <a:pt x="213360" y="241935"/>
                  </a:lnTo>
                  <a:lnTo>
                    <a:pt x="164782" y="173355"/>
                  </a:lnTo>
                  <a:lnTo>
                    <a:pt x="112395" y="109538"/>
                  </a:lnTo>
                  <a:lnTo>
                    <a:pt x="54292" y="49530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D97706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8275320" y="2015490"/>
              <a:ext cx="9525" cy="419100"/>
            </a:xfrm>
            <a:custGeom>
              <a:avLst/>
              <a:gdLst/>
              <a:ahLst/>
              <a:cxnLst/>
              <a:rect l="l" t="t" r="r" b="b"/>
              <a:pathLst>
                <a:path w="9525" h="419100">
                  <a:moveTo>
                    <a:pt x="0" y="0"/>
                  </a:moveTo>
                  <a:lnTo>
                    <a:pt x="0" y="41910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275320" y="256794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275320" y="2967990"/>
              <a:ext cx="9525" cy="419100"/>
            </a:xfrm>
            <a:custGeom>
              <a:avLst/>
              <a:gdLst/>
              <a:ahLst/>
              <a:cxnLst/>
              <a:rect l="l" t="t" r="r" b="b"/>
              <a:pathLst>
                <a:path w="9525" h="419100">
                  <a:moveTo>
                    <a:pt x="0" y="0"/>
                  </a:moveTo>
                  <a:lnTo>
                    <a:pt x="0" y="41910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473440" y="2233612"/>
              <a:ext cx="134303" cy="535305"/>
            </a:xfrm>
            <a:custGeom>
              <a:avLst/>
              <a:gdLst/>
              <a:ahLst/>
              <a:cxnLst/>
              <a:rect l="l" t="t" r="r" b="b"/>
              <a:pathLst>
                <a:path w="134303" h="535305">
                  <a:moveTo>
                    <a:pt x="0" y="535305"/>
                  </a:moveTo>
                  <a:lnTo>
                    <a:pt x="13335" y="524828"/>
                  </a:lnTo>
                  <a:lnTo>
                    <a:pt x="33338" y="506730"/>
                  </a:lnTo>
                  <a:lnTo>
                    <a:pt x="51435" y="486728"/>
                  </a:lnTo>
                  <a:lnTo>
                    <a:pt x="68580" y="466725"/>
                  </a:lnTo>
                  <a:lnTo>
                    <a:pt x="83820" y="444817"/>
                  </a:lnTo>
                  <a:lnTo>
                    <a:pt x="97155" y="421958"/>
                  </a:lnTo>
                  <a:lnTo>
                    <a:pt x="108585" y="397192"/>
                  </a:lnTo>
                  <a:lnTo>
                    <a:pt x="118110" y="372428"/>
                  </a:lnTo>
                  <a:lnTo>
                    <a:pt x="124778" y="346710"/>
                  </a:lnTo>
                  <a:lnTo>
                    <a:pt x="130492" y="320992"/>
                  </a:lnTo>
                  <a:lnTo>
                    <a:pt x="133350" y="294322"/>
                  </a:lnTo>
                  <a:lnTo>
                    <a:pt x="134303" y="267653"/>
                  </a:lnTo>
                  <a:lnTo>
                    <a:pt x="133350" y="240983"/>
                  </a:lnTo>
                  <a:lnTo>
                    <a:pt x="130492" y="214312"/>
                  </a:lnTo>
                  <a:lnTo>
                    <a:pt x="124778" y="188595"/>
                  </a:lnTo>
                  <a:lnTo>
                    <a:pt x="118110" y="162877"/>
                  </a:lnTo>
                  <a:lnTo>
                    <a:pt x="108585" y="138112"/>
                  </a:lnTo>
                  <a:lnTo>
                    <a:pt x="97155" y="113348"/>
                  </a:lnTo>
                  <a:lnTo>
                    <a:pt x="83820" y="90488"/>
                  </a:lnTo>
                  <a:lnTo>
                    <a:pt x="68580" y="68580"/>
                  </a:lnTo>
                  <a:lnTo>
                    <a:pt x="51435" y="47625"/>
                  </a:lnTo>
                  <a:lnTo>
                    <a:pt x="33338" y="28575"/>
                  </a:lnTo>
                  <a:lnTo>
                    <a:pt x="13335" y="10477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2F4B9A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8664892" y="1960245"/>
              <a:ext cx="276225" cy="1081088"/>
            </a:xfrm>
            <a:custGeom>
              <a:avLst/>
              <a:gdLst/>
              <a:ahLst/>
              <a:cxnLst/>
              <a:rect l="l" t="t" r="r" b="b"/>
              <a:pathLst>
                <a:path w="276225" h="1081088">
                  <a:moveTo>
                    <a:pt x="0" y="1081088"/>
                  </a:moveTo>
                  <a:lnTo>
                    <a:pt x="34290" y="1055370"/>
                  </a:lnTo>
                  <a:lnTo>
                    <a:pt x="74295" y="1019175"/>
                  </a:lnTo>
                  <a:lnTo>
                    <a:pt x="111442" y="980122"/>
                  </a:lnTo>
                  <a:lnTo>
                    <a:pt x="144780" y="939165"/>
                  </a:lnTo>
                  <a:lnTo>
                    <a:pt x="174307" y="895350"/>
                  </a:lnTo>
                  <a:lnTo>
                    <a:pt x="200977" y="848677"/>
                  </a:lnTo>
                  <a:lnTo>
                    <a:pt x="223838" y="800100"/>
                  </a:lnTo>
                  <a:lnTo>
                    <a:pt x="242888" y="750570"/>
                  </a:lnTo>
                  <a:lnTo>
                    <a:pt x="257175" y="699135"/>
                  </a:lnTo>
                  <a:lnTo>
                    <a:pt x="267652" y="647700"/>
                  </a:lnTo>
                  <a:lnTo>
                    <a:pt x="274320" y="594360"/>
                  </a:lnTo>
                  <a:lnTo>
                    <a:pt x="276225" y="541020"/>
                  </a:lnTo>
                  <a:lnTo>
                    <a:pt x="274320" y="487680"/>
                  </a:lnTo>
                  <a:lnTo>
                    <a:pt x="267652" y="434340"/>
                  </a:lnTo>
                  <a:lnTo>
                    <a:pt x="257175" y="382905"/>
                  </a:lnTo>
                  <a:lnTo>
                    <a:pt x="242888" y="331470"/>
                  </a:lnTo>
                  <a:lnTo>
                    <a:pt x="223838" y="280988"/>
                  </a:lnTo>
                  <a:lnTo>
                    <a:pt x="200977" y="233362"/>
                  </a:lnTo>
                  <a:lnTo>
                    <a:pt x="174307" y="186690"/>
                  </a:lnTo>
                  <a:lnTo>
                    <a:pt x="144780" y="142875"/>
                  </a:lnTo>
                  <a:lnTo>
                    <a:pt x="111442" y="100965"/>
                  </a:lnTo>
                  <a:lnTo>
                    <a:pt x="74295" y="62865"/>
                  </a:lnTo>
                  <a:lnTo>
                    <a:pt x="34290" y="27622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2F4B9A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8855392" y="1687830"/>
              <a:ext cx="419100" cy="1626870"/>
            </a:xfrm>
            <a:custGeom>
              <a:avLst/>
              <a:gdLst/>
              <a:ahLst/>
              <a:cxnLst/>
              <a:rect l="l" t="t" r="r" b="b"/>
              <a:pathLst>
                <a:path w="419100" h="1626870">
                  <a:moveTo>
                    <a:pt x="0" y="1626870"/>
                  </a:moveTo>
                  <a:lnTo>
                    <a:pt x="56197" y="1584008"/>
                  </a:lnTo>
                  <a:lnTo>
                    <a:pt x="116205" y="1530668"/>
                  </a:lnTo>
                  <a:lnTo>
                    <a:pt x="171450" y="1472565"/>
                  </a:lnTo>
                  <a:lnTo>
                    <a:pt x="220980" y="1410653"/>
                  </a:lnTo>
                  <a:lnTo>
                    <a:pt x="266700" y="1343978"/>
                  </a:lnTo>
                  <a:lnTo>
                    <a:pt x="305752" y="1275398"/>
                  </a:lnTo>
                  <a:lnTo>
                    <a:pt x="340042" y="1203008"/>
                  </a:lnTo>
                  <a:lnTo>
                    <a:pt x="368617" y="1127760"/>
                  </a:lnTo>
                  <a:lnTo>
                    <a:pt x="390525" y="1051560"/>
                  </a:lnTo>
                  <a:lnTo>
                    <a:pt x="406717" y="972503"/>
                  </a:lnTo>
                  <a:lnTo>
                    <a:pt x="416242" y="893445"/>
                  </a:lnTo>
                  <a:lnTo>
                    <a:pt x="419100" y="813435"/>
                  </a:lnTo>
                  <a:lnTo>
                    <a:pt x="416242" y="733425"/>
                  </a:lnTo>
                  <a:lnTo>
                    <a:pt x="406717" y="654368"/>
                  </a:lnTo>
                  <a:lnTo>
                    <a:pt x="390525" y="575310"/>
                  </a:lnTo>
                  <a:lnTo>
                    <a:pt x="368617" y="499110"/>
                  </a:lnTo>
                  <a:lnTo>
                    <a:pt x="340042" y="423862"/>
                  </a:lnTo>
                  <a:lnTo>
                    <a:pt x="305752" y="351473"/>
                  </a:lnTo>
                  <a:lnTo>
                    <a:pt x="266700" y="281940"/>
                  </a:lnTo>
                  <a:lnTo>
                    <a:pt x="220980" y="216218"/>
                  </a:lnTo>
                  <a:lnTo>
                    <a:pt x="171450" y="153353"/>
                  </a:lnTo>
                  <a:lnTo>
                    <a:pt x="116205" y="96203"/>
                  </a:lnTo>
                  <a:lnTo>
                    <a:pt x="56197" y="42862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2F4B9A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8473440" y="2633662"/>
              <a:ext cx="134303" cy="534353"/>
            </a:xfrm>
            <a:custGeom>
              <a:avLst/>
              <a:gdLst/>
              <a:ahLst/>
              <a:cxnLst/>
              <a:rect l="l" t="t" r="r" b="b"/>
              <a:pathLst>
                <a:path w="134303" h="534353">
                  <a:moveTo>
                    <a:pt x="0" y="534353"/>
                  </a:moveTo>
                  <a:lnTo>
                    <a:pt x="13335" y="524828"/>
                  </a:lnTo>
                  <a:lnTo>
                    <a:pt x="33338" y="506730"/>
                  </a:lnTo>
                  <a:lnTo>
                    <a:pt x="51435" y="487680"/>
                  </a:lnTo>
                  <a:lnTo>
                    <a:pt x="68580" y="466725"/>
                  </a:lnTo>
                  <a:lnTo>
                    <a:pt x="83820" y="444817"/>
                  </a:lnTo>
                  <a:lnTo>
                    <a:pt x="97155" y="421005"/>
                  </a:lnTo>
                  <a:lnTo>
                    <a:pt x="108585" y="397192"/>
                  </a:lnTo>
                  <a:lnTo>
                    <a:pt x="118110" y="372428"/>
                  </a:lnTo>
                  <a:lnTo>
                    <a:pt x="124778" y="346710"/>
                  </a:lnTo>
                  <a:lnTo>
                    <a:pt x="130492" y="320992"/>
                  </a:lnTo>
                  <a:lnTo>
                    <a:pt x="133350" y="294322"/>
                  </a:lnTo>
                  <a:lnTo>
                    <a:pt x="134303" y="267653"/>
                  </a:lnTo>
                  <a:lnTo>
                    <a:pt x="133350" y="240983"/>
                  </a:lnTo>
                  <a:lnTo>
                    <a:pt x="130492" y="214312"/>
                  </a:lnTo>
                  <a:lnTo>
                    <a:pt x="124778" y="188595"/>
                  </a:lnTo>
                  <a:lnTo>
                    <a:pt x="118110" y="162878"/>
                  </a:lnTo>
                  <a:lnTo>
                    <a:pt x="108585" y="137160"/>
                  </a:lnTo>
                  <a:lnTo>
                    <a:pt x="97155" y="113347"/>
                  </a:lnTo>
                  <a:lnTo>
                    <a:pt x="83820" y="90488"/>
                  </a:lnTo>
                  <a:lnTo>
                    <a:pt x="68580" y="68580"/>
                  </a:lnTo>
                  <a:lnTo>
                    <a:pt x="51435" y="47625"/>
                  </a:lnTo>
                  <a:lnTo>
                    <a:pt x="33338" y="28575"/>
                  </a:lnTo>
                  <a:lnTo>
                    <a:pt x="13335" y="10478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2F4B9A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8664892" y="2361248"/>
              <a:ext cx="276225" cy="1080135"/>
            </a:xfrm>
            <a:custGeom>
              <a:avLst/>
              <a:gdLst/>
              <a:ahLst/>
              <a:cxnLst/>
              <a:rect l="l" t="t" r="r" b="b"/>
              <a:pathLst>
                <a:path w="276225" h="1080135">
                  <a:moveTo>
                    <a:pt x="0" y="1080135"/>
                  </a:moveTo>
                  <a:lnTo>
                    <a:pt x="34290" y="1053465"/>
                  </a:lnTo>
                  <a:lnTo>
                    <a:pt x="74295" y="1018222"/>
                  </a:lnTo>
                  <a:lnTo>
                    <a:pt x="111442" y="980122"/>
                  </a:lnTo>
                  <a:lnTo>
                    <a:pt x="144780" y="938212"/>
                  </a:lnTo>
                  <a:lnTo>
                    <a:pt x="174307" y="894398"/>
                  </a:lnTo>
                  <a:lnTo>
                    <a:pt x="200977" y="847725"/>
                  </a:lnTo>
                  <a:lnTo>
                    <a:pt x="223838" y="799148"/>
                  </a:lnTo>
                  <a:lnTo>
                    <a:pt x="242888" y="749618"/>
                  </a:lnTo>
                  <a:lnTo>
                    <a:pt x="257175" y="698182"/>
                  </a:lnTo>
                  <a:lnTo>
                    <a:pt x="267652" y="645795"/>
                  </a:lnTo>
                  <a:lnTo>
                    <a:pt x="274320" y="593407"/>
                  </a:lnTo>
                  <a:lnTo>
                    <a:pt x="276225" y="540068"/>
                  </a:lnTo>
                  <a:lnTo>
                    <a:pt x="274320" y="486727"/>
                  </a:lnTo>
                  <a:lnTo>
                    <a:pt x="267652" y="433387"/>
                  </a:lnTo>
                  <a:lnTo>
                    <a:pt x="257175" y="381000"/>
                  </a:lnTo>
                  <a:lnTo>
                    <a:pt x="242888" y="330518"/>
                  </a:lnTo>
                  <a:lnTo>
                    <a:pt x="223838" y="280035"/>
                  </a:lnTo>
                  <a:lnTo>
                    <a:pt x="200977" y="232410"/>
                  </a:lnTo>
                  <a:lnTo>
                    <a:pt x="174307" y="185737"/>
                  </a:lnTo>
                  <a:lnTo>
                    <a:pt x="144780" y="141923"/>
                  </a:lnTo>
                  <a:lnTo>
                    <a:pt x="111442" y="100965"/>
                  </a:lnTo>
                  <a:lnTo>
                    <a:pt x="74295" y="61912"/>
                  </a:lnTo>
                  <a:lnTo>
                    <a:pt x="34290" y="25717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2F4B9A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855392" y="2087880"/>
              <a:ext cx="419100" cy="1626870"/>
            </a:xfrm>
            <a:custGeom>
              <a:avLst/>
              <a:gdLst/>
              <a:ahLst/>
              <a:cxnLst/>
              <a:rect l="l" t="t" r="r" b="b"/>
              <a:pathLst>
                <a:path w="419100" h="1626870">
                  <a:moveTo>
                    <a:pt x="0" y="1626870"/>
                  </a:moveTo>
                  <a:lnTo>
                    <a:pt x="56197" y="1584008"/>
                  </a:lnTo>
                  <a:lnTo>
                    <a:pt x="116205" y="1530668"/>
                  </a:lnTo>
                  <a:lnTo>
                    <a:pt x="171450" y="1472565"/>
                  </a:lnTo>
                  <a:lnTo>
                    <a:pt x="220980" y="1410653"/>
                  </a:lnTo>
                  <a:lnTo>
                    <a:pt x="266700" y="1344930"/>
                  </a:lnTo>
                  <a:lnTo>
                    <a:pt x="305752" y="1275398"/>
                  </a:lnTo>
                  <a:lnTo>
                    <a:pt x="340042" y="1203008"/>
                  </a:lnTo>
                  <a:lnTo>
                    <a:pt x="368617" y="1127760"/>
                  </a:lnTo>
                  <a:lnTo>
                    <a:pt x="390525" y="1050608"/>
                  </a:lnTo>
                  <a:lnTo>
                    <a:pt x="406717" y="972503"/>
                  </a:lnTo>
                  <a:lnTo>
                    <a:pt x="416242" y="893445"/>
                  </a:lnTo>
                  <a:lnTo>
                    <a:pt x="419100" y="813435"/>
                  </a:lnTo>
                  <a:lnTo>
                    <a:pt x="416242" y="733425"/>
                  </a:lnTo>
                  <a:lnTo>
                    <a:pt x="406717" y="653415"/>
                  </a:lnTo>
                  <a:lnTo>
                    <a:pt x="390525" y="575310"/>
                  </a:lnTo>
                  <a:lnTo>
                    <a:pt x="368617" y="499110"/>
                  </a:lnTo>
                  <a:lnTo>
                    <a:pt x="340042" y="423862"/>
                  </a:lnTo>
                  <a:lnTo>
                    <a:pt x="305752" y="351473"/>
                  </a:lnTo>
                  <a:lnTo>
                    <a:pt x="266700" y="281940"/>
                  </a:lnTo>
                  <a:lnTo>
                    <a:pt x="220980" y="216218"/>
                  </a:lnTo>
                  <a:lnTo>
                    <a:pt x="171450" y="154305"/>
                  </a:lnTo>
                  <a:lnTo>
                    <a:pt x="116205" y="96203"/>
                  </a:lnTo>
                  <a:lnTo>
                    <a:pt x="56197" y="42862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2F4B9A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6570345" y="3558540"/>
              <a:ext cx="4780598" cy="9525"/>
            </a:xfrm>
            <a:custGeom>
              <a:avLst/>
              <a:gdLst/>
              <a:ahLst/>
              <a:cxnLst/>
              <a:rect l="l" t="t" r="r" b="b"/>
              <a:pathLst>
                <a:path w="4780598" h="9525">
                  <a:moveTo>
                    <a:pt x="0" y="0"/>
                  </a:moveTo>
                  <a:lnTo>
                    <a:pt x="4780598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42" name="Freeform 42"/>
            <p:cNvSpPr/>
            <p:nvPr/>
          </p:nvSpPr>
          <p:spPr>
            <a:xfrm>
              <a:off x="6855142" y="4387215"/>
              <a:ext cx="4171950" cy="9525"/>
            </a:xfrm>
            <a:custGeom>
              <a:avLst/>
              <a:gdLst/>
              <a:ahLst/>
              <a:cxnLst/>
              <a:rect l="l" t="t" r="r" b="b"/>
              <a:pathLst>
                <a:path w="4171950" h="9525">
                  <a:moveTo>
                    <a:pt x="0" y="0"/>
                  </a:moveTo>
                  <a:lnTo>
                    <a:pt x="41719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6855142" y="4749165"/>
              <a:ext cx="4171950" cy="9525"/>
            </a:xfrm>
            <a:custGeom>
              <a:avLst/>
              <a:gdLst/>
              <a:ahLst/>
              <a:cxnLst/>
              <a:rect l="l" t="t" r="r" b="b"/>
              <a:pathLst>
                <a:path w="4171950" h="9525">
                  <a:moveTo>
                    <a:pt x="0" y="0"/>
                  </a:moveTo>
                  <a:lnTo>
                    <a:pt x="41719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7706678" y="3849052"/>
              <a:ext cx="317182" cy="452438"/>
            </a:xfrm>
            <a:custGeom>
              <a:avLst/>
              <a:gdLst/>
              <a:ahLst/>
              <a:cxnLst/>
              <a:rect l="l" t="t" r="r" b="b"/>
              <a:pathLst>
                <a:path w="317182" h="452438">
                  <a:moveTo>
                    <a:pt x="0" y="0"/>
                  </a:moveTo>
                  <a:lnTo>
                    <a:pt x="317182" y="452438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7984808" y="4273868"/>
              <a:ext cx="94298" cy="104775"/>
            </a:xfrm>
            <a:custGeom>
              <a:avLst/>
              <a:gdLst/>
              <a:ahLst/>
              <a:cxnLst/>
              <a:rect l="l" t="t" r="r" b="b"/>
              <a:pathLst>
                <a:path w="94298" h="104775">
                  <a:moveTo>
                    <a:pt x="94298" y="104775"/>
                  </a:moveTo>
                  <a:lnTo>
                    <a:pt x="0" y="54292"/>
                  </a:lnTo>
                  <a:lnTo>
                    <a:pt x="78105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8089582" y="3926205"/>
              <a:ext cx="317183" cy="452438"/>
            </a:xfrm>
            <a:custGeom>
              <a:avLst/>
              <a:gdLst/>
              <a:ahLst/>
              <a:cxnLst/>
              <a:rect l="l" t="t" r="r" b="b"/>
              <a:pathLst>
                <a:path w="317183" h="452438">
                  <a:moveTo>
                    <a:pt x="0" y="452438"/>
                  </a:moveTo>
                  <a:lnTo>
                    <a:pt x="317183" y="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8367712" y="3849052"/>
              <a:ext cx="93345" cy="104775"/>
            </a:xfrm>
            <a:custGeom>
              <a:avLst/>
              <a:gdLst/>
              <a:ahLst/>
              <a:cxnLst/>
              <a:rect l="l" t="t" r="r" b="b"/>
              <a:pathLst>
                <a:path w="93345" h="104775">
                  <a:moveTo>
                    <a:pt x="93345" y="0"/>
                  </a:moveTo>
                  <a:lnTo>
                    <a:pt x="78105" y="104775"/>
                  </a:lnTo>
                  <a:lnTo>
                    <a:pt x="0" y="50482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8087678" y="4395788"/>
              <a:ext cx="318135" cy="353378"/>
            </a:xfrm>
            <a:custGeom>
              <a:avLst/>
              <a:gdLst/>
              <a:ahLst/>
              <a:cxnLst/>
              <a:rect l="l" t="t" r="r" b="b"/>
              <a:pathLst>
                <a:path w="318135" h="353378">
                  <a:moveTo>
                    <a:pt x="0" y="0"/>
                  </a:moveTo>
                  <a:lnTo>
                    <a:pt x="159067" y="353378"/>
                  </a:lnTo>
                  <a:lnTo>
                    <a:pt x="318135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8414385" y="3926205"/>
              <a:ext cx="317183" cy="452438"/>
            </a:xfrm>
            <a:custGeom>
              <a:avLst/>
              <a:gdLst/>
              <a:ahLst/>
              <a:cxnLst/>
              <a:rect l="l" t="t" r="r" b="b"/>
              <a:pathLst>
                <a:path w="317183" h="452438">
                  <a:moveTo>
                    <a:pt x="0" y="452438"/>
                  </a:moveTo>
                  <a:lnTo>
                    <a:pt x="317183" y="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8692515" y="3849052"/>
              <a:ext cx="93345" cy="104775"/>
            </a:xfrm>
            <a:custGeom>
              <a:avLst/>
              <a:gdLst/>
              <a:ahLst/>
              <a:cxnLst/>
              <a:rect l="l" t="t" r="r" b="b"/>
              <a:pathLst>
                <a:path w="93345" h="104775">
                  <a:moveTo>
                    <a:pt x="93345" y="0"/>
                  </a:moveTo>
                  <a:lnTo>
                    <a:pt x="78105" y="104775"/>
                  </a:lnTo>
                  <a:lnTo>
                    <a:pt x="0" y="50482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6893242" y="2653665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851052" y="241982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992283" y="230124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992283" y="298704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157854" y="220075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分波阵面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866490" y="245887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同一波面上取两部分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560516" y="37738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341708" y="364045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a′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818911" y="377380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089737" y="450580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薄膜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233241" y="377237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分振幅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478099" y="4029551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一束光在两个表面分成两束</a:t>
              </a:r>
            </a:p>
          </p:txBody>
        </p:sp>
      </p:grpSp>
      <p:grpSp>
        <p:nvGrpSpPr>
          <p:cNvPr id="70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4" name="Rectangle 64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26129" y="5867518"/>
              <a:ext cx="224134" cy="192560"/>
              <a:chOff x="726129" y="5867518"/>
              <a:chExt cx="224134" cy="19256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838200" y="59378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726129" y="58675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38200" y="60156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0130" y="5728335"/>
              <a:ext cx="9921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补充条件：两束光振幅不能相差太大，否则暗纹不暗；光程差不能太大，不能超过一个波列的长度（相干长度），否则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两束光来自不同波列，就不再相干。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458024" cy="3351847"/>
            <a:chOff x="667512" y="1835468"/>
            <a:chExt cx="445802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分波阵面干涉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4811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对应原课件 7.2，杨氏双缝是整章计算的起点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实验装置与光程差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明暗纹位置与条纹间距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劳埃德镜与半波损失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五道例题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分波阵面干涉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杨氏双缝：两条缝取自同一波面，是一对相干光源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1" name="g_young"/>
          <p:cNvGrpSpPr/>
          <p:nvPr/>
        </p:nvGrpSpPr>
        <p:grpSpPr>
          <a:xfrm>
            <a:off x="737997" y="1815465"/>
            <a:ext cx="5805960" cy="3034379"/>
            <a:chOff x="737997" y="1815465"/>
            <a:chExt cx="5805960" cy="3034379"/>
          </a:xfrm>
        </p:grpSpPr>
        <p:sp>
          <p:nvSpPr>
            <p:cNvPr id="7" name="Freeform 7"/>
            <p:cNvSpPr/>
            <p:nvPr/>
          </p:nvSpPr>
          <p:spPr>
            <a:xfrm>
              <a:off x="1009650" y="1872615"/>
              <a:ext cx="9525" cy="1257300"/>
            </a:xfrm>
            <a:custGeom>
              <a:avLst/>
              <a:gdLst/>
              <a:ahLst/>
              <a:cxnLst/>
              <a:rect l="l" t="t" r="r" b="b"/>
              <a:pathLst>
                <a:path w="9525" h="1257300">
                  <a:moveTo>
                    <a:pt x="0" y="0"/>
                  </a:moveTo>
                  <a:lnTo>
                    <a:pt x="0" y="125730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009650" y="3263265"/>
              <a:ext cx="9525" cy="1257300"/>
            </a:xfrm>
            <a:custGeom>
              <a:avLst/>
              <a:gdLst/>
              <a:ahLst/>
              <a:cxnLst/>
              <a:rect l="l" t="t" r="r" b="b"/>
              <a:pathLst>
                <a:path w="9525" h="1257300">
                  <a:moveTo>
                    <a:pt x="0" y="0"/>
                  </a:moveTo>
                  <a:lnTo>
                    <a:pt x="0" y="125730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2343150" y="1872615"/>
              <a:ext cx="9525" cy="952500"/>
            </a:xfrm>
            <a:custGeom>
              <a:avLst/>
              <a:gdLst/>
              <a:ahLst/>
              <a:cxnLst/>
              <a:rect l="l" t="t" r="r" b="b"/>
              <a:pathLst>
                <a:path w="9525" h="952500">
                  <a:moveTo>
                    <a:pt x="0" y="0"/>
                  </a:moveTo>
                  <a:lnTo>
                    <a:pt x="0" y="95250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343150" y="2958465"/>
              <a:ext cx="9525" cy="476250"/>
            </a:xfrm>
            <a:custGeom>
              <a:avLst/>
              <a:gdLst/>
              <a:ahLst/>
              <a:cxnLst/>
              <a:rect l="l" t="t" r="r" b="b"/>
              <a:pathLst>
                <a:path w="9525" h="476250">
                  <a:moveTo>
                    <a:pt x="0" y="0"/>
                  </a:moveTo>
                  <a:lnTo>
                    <a:pt x="0" y="47625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343150" y="3568065"/>
              <a:ext cx="9525" cy="952500"/>
            </a:xfrm>
            <a:custGeom>
              <a:avLst/>
              <a:gdLst/>
              <a:ahLst/>
              <a:cxnLst/>
              <a:rect l="l" t="t" r="r" b="b"/>
              <a:pathLst>
                <a:path w="9525" h="952500">
                  <a:moveTo>
                    <a:pt x="0" y="0"/>
                  </a:moveTo>
                  <a:lnTo>
                    <a:pt x="0" y="95250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676900" y="1815465"/>
              <a:ext cx="9525" cy="2762250"/>
            </a:xfrm>
            <a:custGeom>
              <a:avLst/>
              <a:gdLst/>
              <a:ahLst/>
              <a:cxnLst/>
              <a:rect l="l" t="t" r="r" b="b"/>
              <a:pathLst>
                <a:path w="9525" h="2762250">
                  <a:moveTo>
                    <a:pt x="0" y="0"/>
                  </a:moveTo>
                  <a:lnTo>
                    <a:pt x="0" y="276225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019175" y="3196590"/>
              <a:ext cx="4648200" cy="9525"/>
            </a:xfrm>
            <a:custGeom>
              <a:avLst/>
              <a:gdLst/>
              <a:ahLst/>
              <a:cxnLst/>
              <a:rect l="l" t="t" r="r" b="b"/>
              <a:pathLst>
                <a:path w="4648200" h="9525">
                  <a:moveTo>
                    <a:pt x="0" y="0"/>
                  </a:moveTo>
                  <a:lnTo>
                    <a:pt x="464820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1019175" y="2893695"/>
              <a:ext cx="1314450" cy="300990"/>
            </a:xfrm>
            <a:custGeom>
              <a:avLst/>
              <a:gdLst/>
              <a:ahLst/>
              <a:cxnLst/>
              <a:rect l="l" t="t" r="r" b="b"/>
              <a:pathLst>
                <a:path w="1314450" h="300990">
                  <a:moveTo>
                    <a:pt x="0" y="300990"/>
                  </a:moveTo>
                  <a:lnTo>
                    <a:pt x="1314450" y="0"/>
                  </a:lnTo>
                </a:path>
              </a:pathLst>
            </a:custGeom>
            <a:noFill/>
            <a:ln w="15240">
              <a:solidFill>
                <a:srgbClr val="D97706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019175" y="3198495"/>
              <a:ext cx="1314450" cy="300990"/>
            </a:xfrm>
            <a:custGeom>
              <a:avLst/>
              <a:gdLst/>
              <a:ahLst/>
              <a:cxnLst/>
              <a:rect l="l" t="t" r="r" b="b"/>
              <a:pathLst>
                <a:path w="1314450" h="300990">
                  <a:moveTo>
                    <a:pt x="0" y="0"/>
                  </a:moveTo>
                  <a:lnTo>
                    <a:pt x="1314450" y="300990"/>
                  </a:lnTo>
                </a:path>
              </a:pathLst>
            </a:custGeom>
            <a:noFill/>
            <a:ln w="15240">
              <a:solidFill>
                <a:srgbClr val="D97706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352675" y="2265045"/>
              <a:ext cx="3314700" cy="624840"/>
            </a:xfrm>
            <a:custGeom>
              <a:avLst/>
              <a:gdLst/>
              <a:ahLst/>
              <a:cxnLst/>
              <a:rect l="l" t="t" r="r" b="b"/>
              <a:pathLst>
                <a:path w="3314700" h="624840">
                  <a:moveTo>
                    <a:pt x="0" y="624840"/>
                  </a:moveTo>
                  <a:lnTo>
                    <a:pt x="3314700" y="0"/>
                  </a:lnTo>
                </a:path>
              </a:pathLst>
            </a:custGeom>
            <a:noFill/>
            <a:ln w="20955">
              <a:solidFill>
                <a:srgbClr val="2F4B9A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2352675" y="2265998"/>
              <a:ext cx="3315652" cy="1232535"/>
            </a:xfrm>
            <a:custGeom>
              <a:avLst/>
              <a:gdLst/>
              <a:ahLst/>
              <a:cxnLst/>
              <a:rect l="l" t="t" r="r" b="b"/>
              <a:pathLst>
                <a:path w="3315652" h="1232535">
                  <a:moveTo>
                    <a:pt x="0" y="1232535"/>
                  </a:moveTo>
                  <a:lnTo>
                    <a:pt x="3315652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447925" y="443484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5572125" y="43872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2352675" y="43872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2552700" y="2996565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2505075" y="33966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2505075" y="29013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5505450" y="2367915"/>
              <a:ext cx="9525" cy="723900"/>
            </a:xfrm>
            <a:custGeom>
              <a:avLst/>
              <a:gdLst/>
              <a:ahLst/>
              <a:cxnLst/>
              <a:rect l="l" t="t" r="r" b="b"/>
              <a:pathLst>
                <a:path w="9525" h="723900">
                  <a:moveTo>
                    <a:pt x="0" y="72390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5457825" y="227266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5457825" y="30918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5792152" y="1846898"/>
              <a:ext cx="570547" cy="2699385"/>
            </a:xfrm>
            <a:custGeom>
              <a:avLst/>
              <a:gdLst/>
              <a:ahLst/>
              <a:cxnLst/>
              <a:rect l="l" t="t" r="r" b="b"/>
              <a:pathLst>
                <a:path w="570547" h="2699385">
                  <a:moveTo>
                    <a:pt x="504825" y="0"/>
                  </a:moveTo>
                  <a:lnTo>
                    <a:pt x="462915" y="16192"/>
                  </a:lnTo>
                  <a:lnTo>
                    <a:pt x="400050" y="35242"/>
                  </a:lnTo>
                  <a:lnTo>
                    <a:pt x="330517" y="54292"/>
                  </a:lnTo>
                  <a:lnTo>
                    <a:pt x="257175" y="73342"/>
                  </a:lnTo>
                  <a:lnTo>
                    <a:pt x="185738" y="92392"/>
                  </a:lnTo>
                  <a:lnTo>
                    <a:pt x="121920" y="111442"/>
                  </a:lnTo>
                  <a:lnTo>
                    <a:pt x="66675" y="130492"/>
                  </a:lnTo>
                  <a:lnTo>
                    <a:pt x="27622" y="149542"/>
                  </a:lnTo>
                  <a:lnTo>
                    <a:pt x="3810" y="168592"/>
                  </a:lnTo>
                  <a:lnTo>
                    <a:pt x="0" y="187642"/>
                  </a:lnTo>
                  <a:lnTo>
                    <a:pt x="13335" y="206692"/>
                  </a:lnTo>
                  <a:lnTo>
                    <a:pt x="44767" y="225742"/>
                  </a:lnTo>
                  <a:lnTo>
                    <a:pt x="92392" y="244792"/>
                  </a:lnTo>
                  <a:lnTo>
                    <a:pt x="152400" y="263842"/>
                  </a:lnTo>
                  <a:lnTo>
                    <a:pt x="220980" y="282892"/>
                  </a:lnTo>
                  <a:lnTo>
                    <a:pt x="294322" y="301942"/>
                  </a:lnTo>
                  <a:lnTo>
                    <a:pt x="366712" y="320992"/>
                  </a:lnTo>
                  <a:lnTo>
                    <a:pt x="432435" y="340042"/>
                  </a:lnTo>
                  <a:lnTo>
                    <a:pt x="489585" y="359092"/>
                  </a:lnTo>
                  <a:lnTo>
                    <a:pt x="533400" y="378142"/>
                  </a:lnTo>
                  <a:lnTo>
                    <a:pt x="561022" y="397192"/>
                  </a:lnTo>
                  <a:lnTo>
                    <a:pt x="570547" y="416242"/>
                  </a:lnTo>
                  <a:lnTo>
                    <a:pt x="561022" y="435292"/>
                  </a:lnTo>
                  <a:lnTo>
                    <a:pt x="533400" y="454342"/>
                  </a:lnTo>
                  <a:lnTo>
                    <a:pt x="489585" y="473392"/>
                  </a:lnTo>
                  <a:lnTo>
                    <a:pt x="432435" y="492442"/>
                  </a:lnTo>
                  <a:lnTo>
                    <a:pt x="366712" y="511492"/>
                  </a:lnTo>
                  <a:lnTo>
                    <a:pt x="294322" y="530542"/>
                  </a:lnTo>
                  <a:lnTo>
                    <a:pt x="220980" y="549592"/>
                  </a:lnTo>
                  <a:lnTo>
                    <a:pt x="152400" y="568642"/>
                  </a:lnTo>
                  <a:lnTo>
                    <a:pt x="92392" y="587692"/>
                  </a:lnTo>
                  <a:lnTo>
                    <a:pt x="44767" y="606743"/>
                  </a:lnTo>
                  <a:lnTo>
                    <a:pt x="13335" y="625793"/>
                  </a:lnTo>
                  <a:lnTo>
                    <a:pt x="0" y="644843"/>
                  </a:lnTo>
                  <a:lnTo>
                    <a:pt x="3810" y="663893"/>
                  </a:lnTo>
                  <a:lnTo>
                    <a:pt x="27622" y="682943"/>
                  </a:lnTo>
                  <a:lnTo>
                    <a:pt x="66675" y="701993"/>
                  </a:lnTo>
                  <a:lnTo>
                    <a:pt x="121920" y="721043"/>
                  </a:lnTo>
                  <a:lnTo>
                    <a:pt x="185738" y="740093"/>
                  </a:lnTo>
                  <a:lnTo>
                    <a:pt x="257175" y="759143"/>
                  </a:lnTo>
                  <a:lnTo>
                    <a:pt x="330517" y="778193"/>
                  </a:lnTo>
                  <a:lnTo>
                    <a:pt x="400050" y="797243"/>
                  </a:lnTo>
                  <a:lnTo>
                    <a:pt x="462915" y="816293"/>
                  </a:lnTo>
                  <a:lnTo>
                    <a:pt x="513397" y="835343"/>
                  </a:lnTo>
                  <a:lnTo>
                    <a:pt x="549592" y="854393"/>
                  </a:lnTo>
                  <a:lnTo>
                    <a:pt x="568642" y="873443"/>
                  </a:lnTo>
                  <a:lnTo>
                    <a:pt x="568642" y="892493"/>
                  </a:lnTo>
                  <a:lnTo>
                    <a:pt x="549592" y="911543"/>
                  </a:lnTo>
                  <a:lnTo>
                    <a:pt x="513397" y="930593"/>
                  </a:lnTo>
                  <a:lnTo>
                    <a:pt x="462915" y="949643"/>
                  </a:lnTo>
                  <a:lnTo>
                    <a:pt x="400050" y="968693"/>
                  </a:lnTo>
                  <a:lnTo>
                    <a:pt x="330517" y="987743"/>
                  </a:lnTo>
                  <a:lnTo>
                    <a:pt x="257175" y="1006793"/>
                  </a:lnTo>
                  <a:lnTo>
                    <a:pt x="185738" y="1025843"/>
                  </a:lnTo>
                  <a:lnTo>
                    <a:pt x="121920" y="1044893"/>
                  </a:lnTo>
                  <a:lnTo>
                    <a:pt x="66675" y="1063943"/>
                  </a:lnTo>
                  <a:lnTo>
                    <a:pt x="27622" y="1082993"/>
                  </a:lnTo>
                  <a:lnTo>
                    <a:pt x="3810" y="1102043"/>
                  </a:lnTo>
                  <a:lnTo>
                    <a:pt x="0" y="1121093"/>
                  </a:lnTo>
                  <a:lnTo>
                    <a:pt x="13335" y="1140143"/>
                  </a:lnTo>
                  <a:lnTo>
                    <a:pt x="44767" y="1159193"/>
                  </a:lnTo>
                  <a:lnTo>
                    <a:pt x="92392" y="1178243"/>
                  </a:lnTo>
                  <a:lnTo>
                    <a:pt x="152400" y="1197293"/>
                  </a:lnTo>
                  <a:lnTo>
                    <a:pt x="220980" y="1216343"/>
                  </a:lnTo>
                  <a:lnTo>
                    <a:pt x="294322" y="1235393"/>
                  </a:lnTo>
                  <a:lnTo>
                    <a:pt x="366712" y="1254443"/>
                  </a:lnTo>
                  <a:lnTo>
                    <a:pt x="432435" y="1273493"/>
                  </a:lnTo>
                  <a:lnTo>
                    <a:pt x="489585" y="1292543"/>
                  </a:lnTo>
                  <a:lnTo>
                    <a:pt x="533400" y="1311593"/>
                  </a:lnTo>
                  <a:lnTo>
                    <a:pt x="561022" y="1330643"/>
                  </a:lnTo>
                  <a:lnTo>
                    <a:pt x="570547" y="1349693"/>
                  </a:lnTo>
                  <a:lnTo>
                    <a:pt x="561022" y="1368743"/>
                  </a:lnTo>
                  <a:lnTo>
                    <a:pt x="533400" y="1387793"/>
                  </a:lnTo>
                  <a:lnTo>
                    <a:pt x="489585" y="1406843"/>
                  </a:lnTo>
                  <a:lnTo>
                    <a:pt x="432435" y="1425893"/>
                  </a:lnTo>
                  <a:lnTo>
                    <a:pt x="366712" y="1444943"/>
                  </a:lnTo>
                  <a:lnTo>
                    <a:pt x="294322" y="1463993"/>
                  </a:lnTo>
                  <a:lnTo>
                    <a:pt x="220980" y="1483043"/>
                  </a:lnTo>
                  <a:lnTo>
                    <a:pt x="152400" y="1502093"/>
                  </a:lnTo>
                  <a:lnTo>
                    <a:pt x="92392" y="1521143"/>
                  </a:lnTo>
                  <a:lnTo>
                    <a:pt x="44767" y="1540193"/>
                  </a:lnTo>
                  <a:lnTo>
                    <a:pt x="13335" y="1559243"/>
                  </a:lnTo>
                  <a:lnTo>
                    <a:pt x="0" y="1578293"/>
                  </a:lnTo>
                  <a:lnTo>
                    <a:pt x="3810" y="1597343"/>
                  </a:lnTo>
                  <a:lnTo>
                    <a:pt x="27622" y="1616393"/>
                  </a:lnTo>
                  <a:lnTo>
                    <a:pt x="66675" y="1635443"/>
                  </a:lnTo>
                  <a:lnTo>
                    <a:pt x="121920" y="1654493"/>
                  </a:lnTo>
                  <a:lnTo>
                    <a:pt x="185738" y="1673543"/>
                  </a:lnTo>
                  <a:lnTo>
                    <a:pt x="257175" y="1692593"/>
                  </a:lnTo>
                  <a:lnTo>
                    <a:pt x="330517" y="1711643"/>
                  </a:lnTo>
                  <a:lnTo>
                    <a:pt x="400050" y="1730693"/>
                  </a:lnTo>
                  <a:lnTo>
                    <a:pt x="462915" y="1749743"/>
                  </a:lnTo>
                  <a:lnTo>
                    <a:pt x="513397" y="1768793"/>
                  </a:lnTo>
                  <a:lnTo>
                    <a:pt x="549592" y="1787843"/>
                  </a:lnTo>
                  <a:lnTo>
                    <a:pt x="568642" y="1806893"/>
                  </a:lnTo>
                  <a:lnTo>
                    <a:pt x="568642" y="1825943"/>
                  </a:lnTo>
                  <a:lnTo>
                    <a:pt x="549592" y="1844993"/>
                  </a:lnTo>
                  <a:lnTo>
                    <a:pt x="513397" y="1864043"/>
                  </a:lnTo>
                  <a:lnTo>
                    <a:pt x="462915" y="1883093"/>
                  </a:lnTo>
                  <a:lnTo>
                    <a:pt x="400050" y="1902143"/>
                  </a:lnTo>
                  <a:lnTo>
                    <a:pt x="330517" y="1921193"/>
                  </a:lnTo>
                  <a:lnTo>
                    <a:pt x="257175" y="1940243"/>
                  </a:lnTo>
                  <a:lnTo>
                    <a:pt x="185738" y="1959293"/>
                  </a:lnTo>
                  <a:lnTo>
                    <a:pt x="121920" y="1978343"/>
                  </a:lnTo>
                  <a:lnTo>
                    <a:pt x="66675" y="1997393"/>
                  </a:lnTo>
                  <a:lnTo>
                    <a:pt x="27622" y="2016443"/>
                  </a:lnTo>
                  <a:lnTo>
                    <a:pt x="3810" y="2035493"/>
                  </a:lnTo>
                  <a:lnTo>
                    <a:pt x="0" y="2054543"/>
                  </a:lnTo>
                  <a:lnTo>
                    <a:pt x="13335" y="2073593"/>
                  </a:lnTo>
                  <a:lnTo>
                    <a:pt x="44767" y="2092643"/>
                  </a:lnTo>
                  <a:lnTo>
                    <a:pt x="92392" y="2111692"/>
                  </a:lnTo>
                  <a:lnTo>
                    <a:pt x="152400" y="2130742"/>
                  </a:lnTo>
                  <a:lnTo>
                    <a:pt x="220980" y="2149792"/>
                  </a:lnTo>
                  <a:lnTo>
                    <a:pt x="294322" y="2168842"/>
                  </a:lnTo>
                  <a:lnTo>
                    <a:pt x="366712" y="2187892"/>
                  </a:lnTo>
                  <a:lnTo>
                    <a:pt x="432435" y="2206942"/>
                  </a:lnTo>
                  <a:lnTo>
                    <a:pt x="489585" y="2225992"/>
                  </a:lnTo>
                  <a:lnTo>
                    <a:pt x="533400" y="2245042"/>
                  </a:lnTo>
                  <a:lnTo>
                    <a:pt x="561022" y="2264092"/>
                  </a:lnTo>
                  <a:lnTo>
                    <a:pt x="570547" y="2283142"/>
                  </a:lnTo>
                  <a:lnTo>
                    <a:pt x="561022" y="2302192"/>
                  </a:lnTo>
                  <a:lnTo>
                    <a:pt x="533400" y="2321242"/>
                  </a:lnTo>
                  <a:lnTo>
                    <a:pt x="489585" y="2340292"/>
                  </a:lnTo>
                  <a:lnTo>
                    <a:pt x="432435" y="2359342"/>
                  </a:lnTo>
                  <a:lnTo>
                    <a:pt x="366712" y="2378392"/>
                  </a:lnTo>
                  <a:lnTo>
                    <a:pt x="294322" y="2397442"/>
                  </a:lnTo>
                  <a:lnTo>
                    <a:pt x="220980" y="2416492"/>
                  </a:lnTo>
                  <a:lnTo>
                    <a:pt x="152400" y="2435542"/>
                  </a:lnTo>
                  <a:lnTo>
                    <a:pt x="92392" y="2454593"/>
                  </a:lnTo>
                  <a:lnTo>
                    <a:pt x="44767" y="2473643"/>
                  </a:lnTo>
                  <a:lnTo>
                    <a:pt x="13335" y="2492693"/>
                  </a:lnTo>
                  <a:lnTo>
                    <a:pt x="0" y="2511743"/>
                  </a:lnTo>
                  <a:lnTo>
                    <a:pt x="3810" y="2530793"/>
                  </a:lnTo>
                  <a:lnTo>
                    <a:pt x="27622" y="2549843"/>
                  </a:lnTo>
                  <a:lnTo>
                    <a:pt x="66675" y="2568893"/>
                  </a:lnTo>
                  <a:lnTo>
                    <a:pt x="121920" y="2587943"/>
                  </a:lnTo>
                  <a:lnTo>
                    <a:pt x="185738" y="2606993"/>
                  </a:lnTo>
                  <a:lnTo>
                    <a:pt x="257175" y="2626043"/>
                  </a:lnTo>
                  <a:lnTo>
                    <a:pt x="330517" y="2645093"/>
                  </a:lnTo>
                  <a:lnTo>
                    <a:pt x="400050" y="2664143"/>
                  </a:lnTo>
                  <a:lnTo>
                    <a:pt x="462915" y="2683193"/>
                  </a:lnTo>
                  <a:lnTo>
                    <a:pt x="504825" y="2699385"/>
                  </a:lnTo>
                </a:path>
              </a:pathLst>
            </a:custGeom>
            <a:noFill/>
            <a:ln w="19050">
              <a:solidFill>
                <a:srgbClr val="D97706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5629275" y="2215515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05535" y="297322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073984" y="268652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073984" y="358282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491835" y="205787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475107" y="3278029"/>
              <a:ext cx="13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774363" y="243982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r₁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250613" y="291607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r₂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958310" y="422957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636799" y="31256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322849" y="26579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86243" y="1815465"/>
              <a:ext cx="57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D97706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7997" y="465915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单色光</a:t>
              </a:r>
            </a:p>
          </p:txBody>
        </p:sp>
      </p:grpSp>
      <p:grpSp>
        <p:nvGrpSpPr>
          <p:cNvPr id="55" name="c2-steps-1"/>
          <p:cNvGrpSpPr/>
          <p:nvPr/>
        </p:nvGrpSpPr>
        <p:grpSpPr>
          <a:xfrm>
            <a:off x="7114222" y="1533525"/>
            <a:ext cx="4561104" cy="2112930"/>
            <a:chOff x="7114222" y="1533525"/>
            <a:chExt cx="4561104" cy="2112930"/>
          </a:xfrm>
        </p:grpSpPr>
        <p:sp>
          <p:nvSpPr>
            <p:cNvPr id="42" name="Rectangle 42"/>
            <p:cNvSpPr/>
            <p:nvPr/>
          </p:nvSpPr>
          <p:spPr>
            <a:xfrm>
              <a:off x="7247572" y="1676400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7114222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207846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114222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207846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114222" y="306990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207846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525702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单缝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26846" y="1861661"/>
              <a:ext cx="30794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单色光照亮狭缝 S，S 相当于一个线光源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525702" y="221837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26846" y="2512219"/>
              <a:ext cx="38574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S₁、S₂ 与 S 等距，位于同一波面上，发出的光频率相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同、相位相同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25702" y="310419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屏幕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526846" y="3397091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两束光在屏上叠加，出现与缝平行、明暗相间的直条纹</a:t>
              </a:r>
            </a:p>
          </p:txBody>
        </p:sp>
      </p:grpSp>
      <p:grpSp>
        <p:nvGrpSpPr>
          <p:cNvPr id="64" name="c2-kv-2"/>
          <p:cNvGrpSpPr/>
          <p:nvPr/>
        </p:nvGrpSpPr>
        <p:grpSpPr>
          <a:xfrm>
            <a:off x="7106602" y="3850005"/>
            <a:ext cx="4551998" cy="1173480"/>
            <a:chOff x="7106602" y="3850005"/>
            <a:chExt cx="4551998" cy="1173480"/>
          </a:xfrm>
        </p:grpSpPr>
        <p:sp>
          <p:nvSpPr>
            <p:cNvPr id="56" name="TextBox 56"/>
            <p:cNvSpPr txBox="1"/>
            <p:nvPr/>
          </p:nvSpPr>
          <p:spPr>
            <a:xfrm>
              <a:off x="7106602" y="385000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468552" y="385000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两缝间距，零点几毫米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114222" y="417004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106602" y="4290060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468552" y="4290060"/>
              <a:ext cx="20143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缝到屏的距离，约 1 m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7114222" y="461010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106602" y="473011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468552" y="4730115"/>
              <a:ext cx="23660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屏上 P 点到中心 O 的距离</a:t>
              </a:r>
            </a:p>
          </p:txBody>
        </p:sp>
      </p:grpSp>
      <p:grpSp>
        <p:nvGrpSpPr>
          <p:cNvPr id="71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5" name="Rectangle 65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1040130" y="5728335"/>
              <a:ext cx="9940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 D ≫ a、D ≫ x 保证 r₁、r₂ 几乎平行，后面的近似 δ ≈ ax/D 才成立。杨氏在 19 世纪初做成这个实验，是光的波动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说的关键证据。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23853" cy="909257"/>
            <a:chOff x="520446" y="342900"/>
            <a:chExt cx="602385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分波阵面干涉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238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光程差 δ ≈ ax/D，由此得到明暗纹位置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193397" cy="2529173"/>
            <a:chOff x="533400" y="1533525"/>
            <a:chExt cx="5193397" cy="2529173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61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列距离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36977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r₁² = D² + (x − a/2)²，r₂² = D² + (x + a/2)²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21837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512219"/>
              <a:ext cx="4045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r₂² − r₁² = 2ax，所以 δ = r₂ − r₁ = 2ax/(r₁ + r₂)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8689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162776"/>
              <a:ext cx="27924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≫ a、x 时 r₁ + r₂ ≈ 2D，δ ≈ ax/D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52044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另一种看法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813334"/>
              <a:ext cx="47807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S₁ 向 S₂P 作垂线，δ = a sinφ；φ 很小，sinφ ≈ tanφ = x/D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4241482"/>
            <a:ext cx="5410200" cy="1588770"/>
            <a:chOff x="533400" y="4241482"/>
            <a:chExt cx="5410200" cy="1588770"/>
          </a:xfrm>
        </p:grpSpPr>
        <p:sp>
          <p:nvSpPr>
            <p:cNvPr id="25" name="Rectangle 25"/>
            <p:cNvSpPr/>
            <p:nvPr/>
          </p:nvSpPr>
          <p:spPr>
            <a:xfrm>
              <a:off x="533400" y="4241482"/>
              <a:ext cx="5410200" cy="1588770"/>
            </a:xfrm>
            <a:prstGeom prst="roundRect">
              <a:avLst>
                <a:gd name="adj" fmla="val 8393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42950" y="4451032"/>
              <a:ext cx="216884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82910" y="4486751"/>
              <a:ext cx="2087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明暗纹位置（k = 0, 1, 2, …）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35"/>
                <p:cNvSpPr txBox="1">
                  <a:spLocks noGrp="1"/>
                </p:cNvSpPr>
                <p:nvPr/>
              </p:nvSpPr>
              <p:spPr>
                <a:xfrm>
                  <a:off x="742950" y="4803458"/>
                  <a:ext cx="4991100" cy="4629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=±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num>
                          <m:den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den>
                        </m:f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 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nor m:val="on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=±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2k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num>
                          <m:den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den>
                        </m:f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num>
                          <m:den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 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nor m:val="on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暗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735330" y="5386388"/>
              <a:ext cx="44529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 = 0 的明纹在 O 点，叫中央明纹（零级明纹）。</a:t>
              </a:r>
            </a:p>
          </p:txBody>
        </p:sp>
      </p:grpSp>
      <p:grpSp>
        <p:nvGrpSpPr>
          <p:cNvPr id="37" name="c2-callout-1"/>
          <p:cNvGrpSpPr/>
          <p:nvPr/>
        </p:nvGrpSpPr>
        <p:grpSpPr>
          <a:xfrm>
            <a:off x="6248400" y="1524000"/>
            <a:ext cx="5410200" cy="782955"/>
            <a:chOff x="6248400" y="1524000"/>
            <a:chExt cx="5410200" cy="782955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6453188" y="1815465"/>
              <a:ext cx="200026" cy="200025"/>
              <a:chOff x="6453188" y="1815465"/>
              <a:chExt cx="200026" cy="2000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6453188" y="181546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492926" y="185991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527642" y="197104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6755130" y="1672590"/>
              <a:ext cx="44538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图中 a、x 都画得夸张了。实际 a 约 0.2 mm、D 约 1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m，φ 只有千分之几弧度，两条光线几乎平行。</a:t>
              </a:r>
            </a:p>
          </p:txBody>
        </p:sp>
      </p:grpSp>
      <p:grpSp>
        <p:nvGrpSpPr>
          <p:cNvPr id="66" name="g_ypath"/>
          <p:cNvGrpSpPr/>
          <p:nvPr/>
        </p:nvGrpSpPr>
        <p:grpSpPr>
          <a:xfrm>
            <a:off x="6722184" y="2687955"/>
            <a:ext cx="4681009" cy="2799398"/>
            <a:chOff x="6722184" y="2687955"/>
            <a:chExt cx="4681009" cy="2799398"/>
          </a:xfrm>
        </p:grpSpPr>
        <p:sp>
          <p:nvSpPr>
            <p:cNvPr id="38" name="Freeform 38"/>
            <p:cNvSpPr/>
            <p:nvPr/>
          </p:nvSpPr>
          <p:spPr>
            <a:xfrm>
              <a:off x="7010400" y="2744152"/>
              <a:ext cx="9525" cy="990600"/>
            </a:xfrm>
            <a:custGeom>
              <a:avLst/>
              <a:gdLst/>
              <a:ahLst/>
              <a:cxnLst/>
              <a:rect l="l" t="t" r="r" b="b"/>
              <a:pathLst>
                <a:path w="9525" h="990600">
                  <a:moveTo>
                    <a:pt x="0" y="0"/>
                  </a:moveTo>
                  <a:lnTo>
                    <a:pt x="0" y="99060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010400" y="3868102"/>
              <a:ext cx="9525" cy="591502"/>
            </a:xfrm>
            <a:custGeom>
              <a:avLst/>
              <a:gdLst/>
              <a:ahLst/>
              <a:cxnLst/>
              <a:rect l="l" t="t" r="r" b="b"/>
              <a:pathLst>
                <a:path w="9525" h="591502">
                  <a:moveTo>
                    <a:pt x="0" y="0"/>
                  </a:moveTo>
                  <a:lnTo>
                    <a:pt x="0" y="591502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010400" y="4592955"/>
              <a:ext cx="9525" cy="799148"/>
            </a:xfrm>
            <a:custGeom>
              <a:avLst/>
              <a:gdLst/>
              <a:ahLst/>
              <a:cxnLst/>
              <a:rect l="l" t="t" r="r" b="b"/>
              <a:pathLst>
                <a:path w="9525" h="799148">
                  <a:moveTo>
                    <a:pt x="0" y="0"/>
                  </a:moveTo>
                  <a:lnTo>
                    <a:pt x="0" y="799148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11201400" y="2687955"/>
              <a:ext cx="9525" cy="2799398"/>
            </a:xfrm>
            <a:custGeom>
              <a:avLst/>
              <a:gdLst/>
              <a:ahLst/>
              <a:cxnLst/>
              <a:rect l="l" t="t" r="r" b="b"/>
              <a:pathLst>
                <a:path w="9525" h="2799398">
                  <a:moveTo>
                    <a:pt x="0" y="0"/>
                  </a:moveTo>
                  <a:lnTo>
                    <a:pt x="0" y="2799398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019925" y="4163378"/>
              <a:ext cx="4171950" cy="9525"/>
            </a:xfrm>
            <a:custGeom>
              <a:avLst/>
              <a:gdLst/>
              <a:ahLst/>
              <a:cxnLst/>
              <a:rect l="l" t="t" r="r" b="b"/>
              <a:pathLst>
                <a:path w="4171950" h="9525">
                  <a:moveTo>
                    <a:pt x="0" y="0"/>
                  </a:moveTo>
                  <a:lnTo>
                    <a:pt x="417195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43" name="Freeform 43"/>
            <p:cNvSpPr/>
            <p:nvPr/>
          </p:nvSpPr>
          <p:spPr>
            <a:xfrm>
              <a:off x="7019925" y="2927985"/>
              <a:ext cx="4171950" cy="871538"/>
            </a:xfrm>
            <a:custGeom>
              <a:avLst/>
              <a:gdLst/>
              <a:ahLst/>
              <a:cxnLst/>
              <a:rect l="l" t="t" r="r" b="b"/>
              <a:pathLst>
                <a:path w="4171950" h="871538">
                  <a:moveTo>
                    <a:pt x="0" y="871538"/>
                  </a:moveTo>
                  <a:lnTo>
                    <a:pt x="4171950" y="0"/>
                  </a:lnTo>
                </a:path>
              </a:pathLst>
            </a:custGeom>
            <a:noFill/>
            <a:ln w="20955">
              <a:solidFill>
                <a:srgbClr val="2F4B9A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7018972" y="2928938"/>
              <a:ext cx="4173855" cy="1593532"/>
            </a:xfrm>
            <a:custGeom>
              <a:avLst/>
              <a:gdLst/>
              <a:ahLst/>
              <a:cxnLst/>
              <a:rect l="l" t="t" r="r" b="b"/>
              <a:pathLst>
                <a:path w="4173855" h="1593532">
                  <a:moveTo>
                    <a:pt x="0" y="1593532"/>
                  </a:moveTo>
                  <a:lnTo>
                    <a:pt x="4173855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7018972" y="2927985"/>
              <a:ext cx="4172902" cy="1233488"/>
            </a:xfrm>
            <a:custGeom>
              <a:avLst/>
              <a:gdLst/>
              <a:ahLst/>
              <a:cxnLst/>
              <a:rect l="l" t="t" r="r" b="b"/>
              <a:pathLst>
                <a:path w="4172902" h="1233488">
                  <a:moveTo>
                    <a:pt x="0" y="1233488"/>
                  </a:moveTo>
                  <a:lnTo>
                    <a:pt x="4172902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46" name="Freeform 46"/>
            <p:cNvSpPr/>
            <p:nvPr/>
          </p:nvSpPr>
          <p:spPr>
            <a:xfrm>
              <a:off x="7013258" y="3810952"/>
              <a:ext cx="235268" cy="613410"/>
            </a:xfrm>
            <a:custGeom>
              <a:avLst/>
              <a:gdLst/>
              <a:ahLst/>
              <a:cxnLst/>
              <a:rect l="l" t="t" r="r" b="b"/>
              <a:pathLst>
                <a:path w="235268" h="613410">
                  <a:moveTo>
                    <a:pt x="0" y="0"/>
                  </a:moveTo>
                  <a:lnTo>
                    <a:pt x="235268" y="61341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7" name="Freeform 47"/>
            <p:cNvSpPr/>
            <p:nvPr/>
          </p:nvSpPr>
          <p:spPr>
            <a:xfrm>
              <a:off x="7018972" y="4436745"/>
              <a:ext cx="223838" cy="85725"/>
            </a:xfrm>
            <a:custGeom>
              <a:avLst/>
              <a:gdLst/>
              <a:ahLst/>
              <a:cxnLst/>
              <a:rect l="l" t="t" r="r" b="b"/>
              <a:pathLst>
                <a:path w="223838" h="85725">
                  <a:moveTo>
                    <a:pt x="0" y="85725"/>
                  </a:moveTo>
                  <a:lnTo>
                    <a:pt x="223838" y="0"/>
                  </a:lnTo>
                </a:path>
              </a:pathLst>
            </a:custGeom>
            <a:noFill/>
            <a:ln w="38100">
              <a:solidFill>
                <a:srgbClr val="B42318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7542848" y="4016692"/>
              <a:ext cx="20003" cy="137160"/>
            </a:xfrm>
            <a:custGeom>
              <a:avLst/>
              <a:gdLst/>
              <a:ahLst/>
              <a:cxnLst/>
              <a:rect l="l" t="t" r="r" b="b"/>
              <a:pathLst>
                <a:path w="20003" h="137160">
                  <a:moveTo>
                    <a:pt x="20003" y="137160"/>
                  </a:moveTo>
                  <a:lnTo>
                    <a:pt x="20003" y="133350"/>
                  </a:lnTo>
                  <a:lnTo>
                    <a:pt x="19050" y="120967"/>
                  </a:lnTo>
                  <a:lnTo>
                    <a:pt x="19050" y="107633"/>
                  </a:lnTo>
                  <a:lnTo>
                    <a:pt x="17145" y="94298"/>
                  </a:lnTo>
                  <a:lnTo>
                    <a:pt x="16193" y="80962"/>
                  </a:lnTo>
                  <a:lnTo>
                    <a:pt x="14288" y="67628"/>
                  </a:lnTo>
                  <a:lnTo>
                    <a:pt x="12383" y="55245"/>
                  </a:lnTo>
                  <a:lnTo>
                    <a:pt x="9525" y="41910"/>
                  </a:lnTo>
                  <a:lnTo>
                    <a:pt x="7620" y="29528"/>
                  </a:lnTo>
                  <a:lnTo>
                    <a:pt x="3810" y="16192"/>
                  </a:lnTo>
                  <a:lnTo>
                    <a:pt x="953" y="3810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7115175" y="5325428"/>
              <a:ext cx="3981450" cy="9525"/>
            </a:xfrm>
            <a:custGeom>
              <a:avLst/>
              <a:gdLst/>
              <a:ahLst/>
              <a:cxnLst/>
              <a:rect l="l" t="t" r="r" b="b"/>
              <a:pathLst>
                <a:path w="3981450" h="9525">
                  <a:moveTo>
                    <a:pt x="0" y="0"/>
                  </a:moveTo>
                  <a:lnTo>
                    <a:pt x="398145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11096625" y="527780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7019925" y="527780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11049000" y="3030855"/>
              <a:ext cx="9525" cy="1027748"/>
            </a:xfrm>
            <a:custGeom>
              <a:avLst/>
              <a:gdLst/>
              <a:ahLst/>
              <a:cxnLst/>
              <a:rect l="l" t="t" r="r" b="b"/>
              <a:pathLst>
                <a:path w="9525" h="1027748">
                  <a:moveTo>
                    <a:pt x="0" y="102774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11001375" y="293560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11001375" y="405860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116726" y="455580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δ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627899" y="39781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722184" y="367331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722184" y="453056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S₂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83035" y="287321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266307" y="4111466"/>
              <a:ext cx="13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917863" y="315896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r₁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298863" y="378761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r₂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054185" y="512111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866399" y="34732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751599" y="40924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523035" cy="909257"/>
            <a:chOff x="520446" y="342900"/>
            <a:chExt cx="452303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分波阵面干涉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52303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条纹等间距，间距 Δx = Dλ/a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37"/>
              <p:cNvSpPr txBox="1">
                <a:spLocks noGrp="1"/>
              </p:cNvSpPr>
              <p:nvPr/>
            </p:nvSpPr>
            <p:spPr>
              <a:xfrm>
                <a:off x="533400" y="1524000"/>
                <a:ext cx="5410200" cy="5657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den>
                      </m:f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λ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7" name="c1-bullets-2"/>
          <p:cNvGrpSpPr/>
          <p:nvPr/>
        </p:nvGrpSpPr>
        <p:grpSpPr>
          <a:xfrm>
            <a:off x="533400" y="2291715"/>
            <a:ext cx="5183505" cy="1567815"/>
            <a:chOff x="533400" y="2291715"/>
            <a:chExt cx="5183505" cy="1567815"/>
          </a:xfrm>
        </p:grpSpPr>
        <p:sp>
          <p:nvSpPr>
            <p:cNvPr id="8" name="Ellipse 8"/>
            <p:cNvSpPr/>
            <p:nvPr/>
          </p:nvSpPr>
          <p:spPr>
            <a:xfrm>
              <a:off x="533400" y="229171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5249" y="23340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4390" y="230505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明暗相间的直条纹，对称分布在中央明纹两侧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263652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95249" y="26788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4390" y="2649855"/>
              <a:ext cx="4882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相邻明纹（或相邻暗纹）间距相等：Δx ∝ λ，Δx ∝ D，Δx ∝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1/a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6707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95249" y="33093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4390" y="328041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白光入射时中央明纹是白色，其他各级是内紫外红的彩色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条纹</a:t>
              </a:r>
            </a:p>
          </p:txBody>
        </p:sp>
      </p:grpSp>
      <p:grpSp>
        <p:nvGrpSpPr>
          <p:cNvPr id="36" name="c1-table-3"/>
          <p:cNvGrpSpPr/>
          <p:nvPr/>
        </p:nvGrpSpPr>
        <p:grpSpPr>
          <a:xfrm>
            <a:off x="533400" y="3990975"/>
            <a:ext cx="5410200" cy="2244091"/>
            <a:chOff x="533400" y="3990975"/>
            <a:chExt cx="5410200" cy="2244091"/>
          </a:xfrm>
        </p:grpSpPr>
        <p:sp>
          <p:nvSpPr>
            <p:cNvPr id="18" name="Rectangle 18"/>
            <p:cNvSpPr/>
            <p:nvPr/>
          </p:nvSpPr>
          <p:spPr>
            <a:xfrm>
              <a:off x="533400" y="3990975"/>
              <a:ext cx="5410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977669" y="41267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10456" y="41267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条纹间距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1223" y="457533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换用波长更长的红光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87343" y="457533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变宽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8834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88823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5023961"/>
              <a:ext cx="15539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屏幕移远（D 增大）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87343" y="502396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变宽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533304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5472589"/>
              <a:ext cx="15452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两缝靠近（a 减小）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887343" y="547258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变宽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57816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5786438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" y="592121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整个装置浸入水中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887343" y="5921216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变窄为 1/n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3990975"/>
              <a:ext cx="54102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3774758" y="399097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60" name="g_fringes"/>
          <p:cNvGrpSpPr/>
          <p:nvPr/>
        </p:nvGrpSpPr>
        <p:grpSpPr>
          <a:xfrm>
            <a:off x="6472238" y="1590675"/>
            <a:ext cx="5099161" cy="2495550"/>
            <a:chOff x="6472238" y="1590675"/>
            <a:chExt cx="5099161" cy="2495550"/>
          </a:xfrm>
        </p:grpSpPr>
        <p:sp>
          <p:nvSpPr>
            <p:cNvPr id="37" name="Freeform 37"/>
            <p:cNvSpPr/>
            <p:nvPr/>
          </p:nvSpPr>
          <p:spPr>
            <a:xfrm>
              <a:off x="6479858" y="2000250"/>
              <a:ext cx="4947285" cy="1143000"/>
            </a:xfrm>
            <a:custGeom>
              <a:avLst/>
              <a:gdLst/>
              <a:ahLst/>
              <a:cxnLst/>
              <a:rect l="l" t="t" r="r" b="b"/>
              <a:pathLst>
                <a:path w="4947285" h="1143000">
                  <a:moveTo>
                    <a:pt x="0" y="318135"/>
                  </a:moveTo>
                  <a:lnTo>
                    <a:pt x="16193" y="380048"/>
                  </a:lnTo>
                  <a:lnTo>
                    <a:pt x="35243" y="455295"/>
                  </a:lnTo>
                  <a:lnTo>
                    <a:pt x="54293" y="532447"/>
                  </a:lnTo>
                  <a:lnTo>
                    <a:pt x="73343" y="610553"/>
                  </a:lnTo>
                  <a:lnTo>
                    <a:pt x="92393" y="687705"/>
                  </a:lnTo>
                  <a:lnTo>
                    <a:pt x="111443" y="762953"/>
                  </a:lnTo>
                  <a:lnTo>
                    <a:pt x="130493" y="834390"/>
                  </a:lnTo>
                  <a:lnTo>
                    <a:pt x="149543" y="901065"/>
                  </a:lnTo>
                  <a:lnTo>
                    <a:pt x="168593" y="961072"/>
                  </a:lnTo>
                  <a:lnTo>
                    <a:pt x="187643" y="1014412"/>
                  </a:lnTo>
                  <a:lnTo>
                    <a:pt x="206693" y="1060132"/>
                  </a:lnTo>
                  <a:lnTo>
                    <a:pt x="225743" y="1095375"/>
                  </a:lnTo>
                  <a:lnTo>
                    <a:pt x="244793" y="1122045"/>
                  </a:lnTo>
                  <a:lnTo>
                    <a:pt x="263843" y="1137285"/>
                  </a:lnTo>
                  <a:lnTo>
                    <a:pt x="282893" y="1143000"/>
                  </a:lnTo>
                  <a:lnTo>
                    <a:pt x="301943" y="1137285"/>
                  </a:lnTo>
                  <a:lnTo>
                    <a:pt x="320993" y="1122045"/>
                  </a:lnTo>
                  <a:lnTo>
                    <a:pt x="340043" y="1095375"/>
                  </a:lnTo>
                  <a:lnTo>
                    <a:pt x="359093" y="1060132"/>
                  </a:lnTo>
                  <a:lnTo>
                    <a:pt x="378143" y="1014412"/>
                  </a:lnTo>
                  <a:lnTo>
                    <a:pt x="397193" y="961072"/>
                  </a:lnTo>
                  <a:lnTo>
                    <a:pt x="416243" y="901065"/>
                  </a:lnTo>
                  <a:lnTo>
                    <a:pt x="435293" y="834390"/>
                  </a:lnTo>
                  <a:lnTo>
                    <a:pt x="454343" y="762953"/>
                  </a:lnTo>
                  <a:lnTo>
                    <a:pt x="473393" y="687705"/>
                  </a:lnTo>
                  <a:lnTo>
                    <a:pt x="492443" y="610553"/>
                  </a:lnTo>
                  <a:lnTo>
                    <a:pt x="511493" y="532447"/>
                  </a:lnTo>
                  <a:lnTo>
                    <a:pt x="530543" y="455295"/>
                  </a:lnTo>
                  <a:lnTo>
                    <a:pt x="549593" y="380048"/>
                  </a:lnTo>
                  <a:lnTo>
                    <a:pt x="568643" y="308610"/>
                  </a:lnTo>
                  <a:lnTo>
                    <a:pt x="587693" y="241935"/>
                  </a:lnTo>
                  <a:lnTo>
                    <a:pt x="606743" y="180975"/>
                  </a:lnTo>
                  <a:lnTo>
                    <a:pt x="625793" y="128588"/>
                  </a:lnTo>
                  <a:lnTo>
                    <a:pt x="644843" y="82867"/>
                  </a:lnTo>
                  <a:lnTo>
                    <a:pt x="663893" y="47625"/>
                  </a:lnTo>
                  <a:lnTo>
                    <a:pt x="682943" y="20955"/>
                  </a:lnTo>
                  <a:lnTo>
                    <a:pt x="701993" y="4762"/>
                  </a:lnTo>
                  <a:lnTo>
                    <a:pt x="721043" y="0"/>
                  </a:lnTo>
                  <a:lnTo>
                    <a:pt x="740093" y="4762"/>
                  </a:lnTo>
                  <a:lnTo>
                    <a:pt x="759143" y="20955"/>
                  </a:lnTo>
                  <a:lnTo>
                    <a:pt x="778193" y="47625"/>
                  </a:lnTo>
                  <a:lnTo>
                    <a:pt x="797243" y="82867"/>
                  </a:lnTo>
                  <a:lnTo>
                    <a:pt x="816293" y="128588"/>
                  </a:lnTo>
                  <a:lnTo>
                    <a:pt x="835343" y="180975"/>
                  </a:lnTo>
                  <a:lnTo>
                    <a:pt x="854393" y="241935"/>
                  </a:lnTo>
                  <a:lnTo>
                    <a:pt x="873443" y="308610"/>
                  </a:lnTo>
                  <a:lnTo>
                    <a:pt x="892493" y="380048"/>
                  </a:lnTo>
                  <a:lnTo>
                    <a:pt x="911543" y="455295"/>
                  </a:lnTo>
                  <a:lnTo>
                    <a:pt x="930593" y="532447"/>
                  </a:lnTo>
                  <a:lnTo>
                    <a:pt x="949643" y="610553"/>
                  </a:lnTo>
                  <a:lnTo>
                    <a:pt x="968693" y="687705"/>
                  </a:lnTo>
                  <a:lnTo>
                    <a:pt x="987743" y="762953"/>
                  </a:lnTo>
                  <a:lnTo>
                    <a:pt x="1006793" y="834390"/>
                  </a:lnTo>
                  <a:lnTo>
                    <a:pt x="1025843" y="901065"/>
                  </a:lnTo>
                  <a:lnTo>
                    <a:pt x="1044893" y="961072"/>
                  </a:lnTo>
                  <a:lnTo>
                    <a:pt x="1063943" y="1014412"/>
                  </a:lnTo>
                  <a:lnTo>
                    <a:pt x="1082993" y="1060132"/>
                  </a:lnTo>
                  <a:lnTo>
                    <a:pt x="1102043" y="1095375"/>
                  </a:lnTo>
                  <a:lnTo>
                    <a:pt x="1121093" y="1122045"/>
                  </a:lnTo>
                  <a:lnTo>
                    <a:pt x="1140143" y="1137285"/>
                  </a:lnTo>
                  <a:lnTo>
                    <a:pt x="1159193" y="1143000"/>
                  </a:lnTo>
                  <a:lnTo>
                    <a:pt x="1178243" y="1137285"/>
                  </a:lnTo>
                  <a:lnTo>
                    <a:pt x="1197293" y="1122045"/>
                  </a:lnTo>
                  <a:lnTo>
                    <a:pt x="1216343" y="1095375"/>
                  </a:lnTo>
                  <a:lnTo>
                    <a:pt x="1235393" y="1060132"/>
                  </a:lnTo>
                  <a:lnTo>
                    <a:pt x="1254443" y="1014412"/>
                  </a:lnTo>
                  <a:lnTo>
                    <a:pt x="1273493" y="961072"/>
                  </a:lnTo>
                  <a:lnTo>
                    <a:pt x="1292543" y="901065"/>
                  </a:lnTo>
                  <a:lnTo>
                    <a:pt x="1311593" y="834390"/>
                  </a:lnTo>
                  <a:lnTo>
                    <a:pt x="1330643" y="762953"/>
                  </a:lnTo>
                  <a:lnTo>
                    <a:pt x="1349693" y="687705"/>
                  </a:lnTo>
                  <a:lnTo>
                    <a:pt x="1368743" y="610553"/>
                  </a:lnTo>
                  <a:lnTo>
                    <a:pt x="1387793" y="532447"/>
                  </a:lnTo>
                  <a:lnTo>
                    <a:pt x="1406843" y="455295"/>
                  </a:lnTo>
                  <a:lnTo>
                    <a:pt x="1425893" y="380048"/>
                  </a:lnTo>
                  <a:lnTo>
                    <a:pt x="1444943" y="308610"/>
                  </a:lnTo>
                  <a:lnTo>
                    <a:pt x="1463993" y="241935"/>
                  </a:lnTo>
                  <a:lnTo>
                    <a:pt x="1483043" y="180975"/>
                  </a:lnTo>
                  <a:lnTo>
                    <a:pt x="1502093" y="128588"/>
                  </a:lnTo>
                  <a:lnTo>
                    <a:pt x="1521143" y="82867"/>
                  </a:lnTo>
                  <a:lnTo>
                    <a:pt x="1540193" y="47625"/>
                  </a:lnTo>
                  <a:lnTo>
                    <a:pt x="1559243" y="20955"/>
                  </a:lnTo>
                  <a:lnTo>
                    <a:pt x="1578293" y="4762"/>
                  </a:lnTo>
                  <a:lnTo>
                    <a:pt x="1597343" y="0"/>
                  </a:lnTo>
                  <a:lnTo>
                    <a:pt x="1616393" y="4762"/>
                  </a:lnTo>
                  <a:lnTo>
                    <a:pt x="1635443" y="20955"/>
                  </a:lnTo>
                  <a:lnTo>
                    <a:pt x="1654493" y="47625"/>
                  </a:lnTo>
                  <a:lnTo>
                    <a:pt x="1673543" y="82867"/>
                  </a:lnTo>
                  <a:lnTo>
                    <a:pt x="1692593" y="128588"/>
                  </a:lnTo>
                  <a:lnTo>
                    <a:pt x="1711643" y="180975"/>
                  </a:lnTo>
                  <a:lnTo>
                    <a:pt x="1730693" y="241935"/>
                  </a:lnTo>
                  <a:lnTo>
                    <a:pt x="1749743" y="308610"/>
                  </a:lnTo>
                  <a:lnTo>
                    <a:pt x="1768793" y="380048"/>
                  </a:lnTo>
                  <a:lnTo>
                    <a:pt x="1787843" y="455295"/>
                  </a:lnTo>
                  <a:lnTo>
                    <a:pt x="1806893" y="532447"/>
                  </a:lnTo>
                  <a:lnTo>
                    <a:pt x="1825943" y="610553"/>
                  </a:lnTo>
                  <a:lnTo>
                    <a:pt x="1844993" y="687705"/>
                  </a:lnTo>
                  <a:lnTo>
                    <a:pt x="1864043" y="762953"/>
                  </a:lnTo>
                  <a:lnTo>
                    <a:pt x="1883093" y="834390"/>
                  </a:lnTo>
                  <a:lnTo>
                    <a:pt x="1902143" y="901065"/>
                  </a:lnTo>
                  <a:lnTo>
                    <a:pt x="1921193" y="961072"/>
                  </a:lnTo>
                  <a:lnTo>
                    <a:pt x="1940243" y="1014412"/>
                  </a:lnTo>
                  <a:lnTo>
                    <a:pt x="1959293" y="1060132"/>
                  </a:lnTo>
                  <a:lnTo>
                    <a:pt x="1978343" y="1095375"/>
                  </a:lnTo>
                  <a:lnTo>
                    <a:pt x="1997393" y="1122045"/>
                  </a:lnTo>
                  <a:lnTo>
                    <a:pt x="2016443" y="1137285"/>
                  </a:lnTo>
                  <a:lnTo>
                    <a:pt x="2035493" y="1143000"/>
                  </a:lnTo>
                  <a:lnTo>
                    <a:pt x="2054543" y="1137285"/>
                  </a:lnTo>
                  <a:lnTo>
                    <a:pt x="2073593" y="1122045"/>
                  </a:lnTo>
                  <a:lnTo>
                    <a:pt x="2092643" y="1095375"/>
                  </a:lnTo>
                  <a:lnTo>
                    <a:pt x="2111693" y="1060132"/>
                  </a:lnTo>
                  <a:lnTo>
                    <a:pt x="2130743" y="1014412"/>
                  </a:lnTo>
                  <a:lnTo>
                    <a:pt x="2149793" y="961072"/>
                  </a:lnTo>
                  <a:lnTo>
                    <a:pt x="2168843" y="901065"/>
                  </a:lnTo>
                  <a:lnTo>
                    <a:pt x="2187893" y="834390"/>
                  </a:lnTo>
                  <a:lnTo>
                    <a:pt x="2206943" y="762953"/>
                  </a:lnTo>
                  <a:lnTo>
                    <a:pt x="2225993" y="687705"/>
                  </a:lnTo>
                  <a:lnTo>
                    <a:pt x="2245043" y="610553"/>
                  </a:lnTo>
                  <a:lnTo>
                    <a:pt x="2264093" y="532447"/>
                  </a:lnTo>
                  <a:lnTo>
                    <a:pt x="2283143" y="455295"/>
                  </a:lnTo>
                  <a:lnTo>
                    <a:pt x="2302193" y="380048"/>
                  </a:lnTo>
                  <a:lnTo>
                    <a:pt x="2321243" y="308610"/>
                  </a:lnTo>
                  <a:lnTo>
                    <a:pt x="2340293" y="241935"/>
                  </a:lnTo>
                  <a:lnTo>
                    <a:pt x="2359343" y="180975"/>
                  </a:lnTo>
                  <a:lnTo>
                    <a:pt x="2378393" y="128588"/>
                  </a:lnTo>
                  <a:lnTo>
                    <a:pt x="2397443" y="82867"/>
                  </a:lnTo>
                  <a:lnTo>
                    <a:pt x="2416493" y="47625"/>
                  </a:lnTo>
                  <a:lnTo>
                    <a:pt x="2435543" y="20955"/>
                  </a:lnTo>
                  <a:lnTo>
                    <a:pt x="2454593" y="4762"/>
                  </a:lnTo>
                  <a:lnTo>
                    <a:pt x="2473643" y="0"/>
                  </a:lnTo>
                  <a:lnTo>
                    <a:pt x="2492693" y="4762"/>
                  </a:lnTo>
                  <a:lnTo>
                    <a:pt x="2511743" y="20955"/>
                  </a:lnTo>
                  <a:lnTo>
                    <a:pt x="2530793" y="47625"/>
                  </a:lnTo>
                  <a:lnTo>
                    <a:pt x="2549843" y="82867"/>
                  </a:lnTo>
                  <a:lnTo>
                    <a:pt x="2568893" y="128588"/>
                  </a:lnTo>
                  <a:lnTo>
                    <a:pt x="2587943" y="180975"/>
                  </a:lnTo>
                  <a:lnTo>
                    <a:pt x="2606993" y="241935"/>
                  </a:lnTo>
                  <a:lnTo>
                    <a:pt x="2626043" y="308610"/>
                  </a:lnTo>
                  <a:lnTo>
                    <a:pt x="2645093" y="380048"/>
                  </a:lnTo>
                  <a:lnTo>
                    <a:pt x="2664143" y="455295"/>
                  </a:lnTo>
                  <a:lnTo>
                    <a:pt x="2683193" y="532447"/>
                  </a:lnTo>
                  <a:lnTo>
                    <a:pt x="2702243" y="610553"/>
                  </a:lnTo>
                  <a:lnTo>
                    <a:pt x="2721293" y="687705"/>
                  </a:lnTo>
                  <a:lnTo>
                    <a:pt x="2740343" y="762953"/>
                  </a:lnTo>
                  <a:lnTo>
                    <a:pt x="2759393" y="834390"/>
                  </a:lnTo>
                  <a:lnTo>
                    <a:pt x="2778443" y="901065"/>
                  </a:lnTo>
                  <a:lnTo>
                    <a:pt x="2797493" y="961072"/>
                  </a:lnTo>
                  <a:lnTo>
                    <a:pt x="2816543" y="1014412"/>
                  </a:lnTo>
                  <a:lnTo>
                    <a:pt x="2835593" y="1060132"/>
                  </a:lnTo>
                  <a:lnTo>
                    <a:pt x="2854643" y="1095375"/>
                  </a:lnTo>
                  <a:lnTo>
                    <a:pt x="2873693" y="1122045"/>
                  </a:lnTo>
                  <a:lnTo>
                    <a:pt x="2892743" y="1137285"/>
                  </a:lnTo>
                  <a:lnTo>
                    <a:pt x="2911793" y="1143000"/>
                  </a:lnTo>
                  <a:lnTo>
                    <a:pt x="2930843" y="1137285"/>
                  </a:lnTo>
                  <a:lnTo>
                    <a:pt x="2949893" y="1122045"/>
                  </a:lnTo>
                  <a:lnTo>
                    <a:pt x="2968943" y="1095375"/>
                  </a:lnTo>
                  <a:lnTo>
                    <a:pt x="2987993" y="1060132"/>
                  </a:lnTo>
                  <a:lnTo>
                    <a:pt x="3007043" y="1014412"/>
                  </a:lnTo>
                  <a:lnTo>
                    <a:pt x="3026093" y="961072"/>
                  </a:lnTo>
                  <a:lnTo>
                    <a:pt x="3045143" y="901065"/>
                  </a:lnTo>
                  <a:lnTo>
                    <a:pt x="3064193" y="834390"/>
                  </a:lnTo>
                  <a:lnTo>
                    <a:pt x="3083243" y="762953"/>
                  </a:lnTo>
                  <a:lnTo>
                    <a:pt x="3102293" y="687705"/>
                  </a:lnTo>
                  <a:lnTo>
                    <a:pt x="3121343" y="610553"/>
                  </a:lnTo>
                  <a:lnTo>
                    <a:pt x="3140393" y="532447"/>
                  </a:lnTo>
                  <a:lnTo>
                    <a:pt x="3159443" y="455295"/>
                  </a:lnTo>
                  <a:lnTo>
                    <a:pt x="3178493" y="380048"/>
                  </a:lnTo>
                  <a:lnTo>
                    <a:pt x="3197543" y="308610"/>
                  </a:lnTo>
                  <a:lnTo>
                    <a:pt x="3216593" y="241935"/>
                  </a:lnTo>
                  <a:lnTo>
                    <a:pt x="3235643" y="180975"/>
                  </a:lnTo>
                  <a:lnTo>
                    <a:pt x="3254693" y="128588"/>
                  </a:lnTo>
                  <a:lnTo>
                    <a:pt x="3273743" y="82867"/>
                  </a:lnTo>
                  <a:lnTo>
                    <a:pt x="3292793" y="47625"/>
                  </a:lnTo>
                  <a:lnTo>
                    <a:pt x="3311843" y="20955"/>
                  </a:lnTo>
                  <a:lnTo>
                    <a:pt x="3330893" y="4762"/>
                  </a:lnTo>
                  <a:lnTo>
                    <a:pt x="3349943" y="0"/>
                  </a:lnTo>
                  <a:lnTo>
                    <a:pt x="3368993" y="4762"/>
                  </a:lnTo>
                  <a:lnTo>
                    <a:pt x="3388043" y="20955"/>
                  </a:lnTo>
                  <a:lnTo>
                    <a:pt x="3407093" y="47625"/>
                  </a:lnTo>
                  <a:lnTo>
                    <a:pt x="3426143" y="82867"/>
                  </a:lnTo>
                  <a:lnTo>
                    <a:pt x="3445193" y="128588"/>
                  </a:lnTo>
                  <a:lnTo>
                    <a:pt x="3464243" y="180975"/>
                  </a:lnTo>
                  <a:lnTo>
                    <a:pt x="3483293" y="241935"/>
                  </a:lnTo>
                  <a:lnTo>
                    <a:pt x="3502343" y="308610"/>
                  </a:lnTo>
                  <a:lnTo>
                    <a:pt x="3521393" y="380048"/>
                  </a:lnTo>
                  <a:lnTo>
                    <a:pt x="3540443" y="455295"/>
                  </a:lnTo>
                  <a:lnTo>
                    <a:pt x="3559493" y="532447"/>
                  </a:lnTo>
                  <a:lnTo>
                    <a:pt x="3578543" y="610553"/>
                  </a:lnTo>
                  <a:lnTo>
                    <a:pt x="3597593" y="687705"/>
                  </a:lnTo>
                  <a:lnTo>
                    <a:pt x="3616643" y="762953"/>
                  </a:lnTo>
                  <a:lnTo>
                    <a:pt x="3635693" y="834390"/>
                  </a:lnTo>
                  <a:lnTo>
                    <a:pt x="3654743" y="901065"/>
                  </a:lnTo>
                  <a:lnTo>
                    <a:pt x="3673793" y="961072"/>
                  </a:lnTo>
                  <a:lnTo>
                    <a:pt x="3692843" y="1014412"/>
                  </a:lnTo>
                  <a:lnTo>
                    <a:pt x="3711893" y="1060132"/>
                  </a:lnTo>
                  <a:lnTo>
                    <a:pt x="3730943" y="1095375"/>
                  </a:lnTo>
                  <a:lnTo>
                    <a:pt x="3749993" y="1122045"/>
                  </a:lnTo>
                  <a:lnTo>
                    <a:pt x="3769043" y="1137285"/>
                  </a:lnTo>
                  <a:lnTo>
                    <a:pt x="3788093" y="1143000"/>
                  </a:lnTo>
                  <a:lnTo>
                    <a:pt x="3807143" y="1137285"/>
                  </a:lnTo>
                  <a:lnTo>
                    <a:pt x="3826193" y="1122045"/>
                  </a:lnTo>
                  <a:lnTo>
                    <a:pt x="3845243" y="1095375"/>
                  </a:lnTo>
                  <a:lnTo>
                    <a:pt x="3864293" y="1060132"/>
                  </a:lnTo>
                  <a:lnTo>
                    <a:pt x="3883343" y="1014412"/>
                  </a:lnTo>
                  <a:lnTo>
                    <a:pt x="3902393" y="961072"/>
                  </a:lnTo>
                  <a:lnTo>
                    <a:pt x="3921443" y="901065"/>
                  </a:lnTo>
                  <a:lnTo>
                    <a:pt x="3940493" y="834390"/>
                  </a:lnTo>
                  <a:lnTo>
                    <a:pt x="3959543" y="762953"/>
                  </a:lnTo>
                  <a:lnTo>
                    <a:pt x="3978593" y="687705"/>
                  </a:lnTo>
                  <a:lnTo>
                    <a:pt x="3997643" y="610553"/>
                  </a:lnTo>
                  <a:lnTo>
                    <a:pt x="4016693" y="532447"/>
                  </a:lnTo>
                  <a:lnTo>
                    <a:pt x="4035743" y="455295"/>
                  </a:lnTo>
                  <a:lnTo>
                    <a:pt x="4054793" y="380048"/>
                  </a:lnTo>
                  <a:lnTo>
                    <a:pt x="4073843" y="308610"/>
                  </a:lnTo>
                  <a:lnTo>
                    <a:pt x="4092893" y="241935"/>
                  </a:lnTo>
                  <a:lnTo>
                    <a:pt x="4111943" y="180975"/>
                  </a:lnTo>
                  <a:lnTo>
                    <a:pt x="4130993" y="128588"/>
                  </a:lnTo>
                  <a:lnTo>
                    <a:pt x="4150043" y="82867"/>
                  </a:lnTo>
                  <a:lnTo>
                    <a:pt x="4169093" y="47625"/>
                  </a:lnTo>
                  <a:lnTo>
                    <a:pt x="4188143" y="20955"/>
                  </a:lnTo>
                  <a:lnTo>
                    <a:pt x="4207192" y="4762"/>
                  </a:lnTo>
                  <a:lnTo>
                    <a:pt x="4226242" y="0"/>
                  </a:lnTo>
                  <a:lnTo>
                    <a:pt x="4245292" y="4762"/>
                  </a:lnTo>
                  <a:lnTo>
                    <a:pt x="4264342" y="20955"/>
                  </a:lnTo>
                  <a:lnTo>
                    <a:pt x="4283392" y="47625"/>
                  </a:lnTo>
                  <a:lnTo>
                    <a:pt x="4302442" y="82867"/>
                  </a:lnTo>
                  <a:lnTo>
                    <a:pt x="4321492" y="128588"/>
                  </a:lnTo>
                  <a:lnTo>
                    <a:pt x="4340542" y="180975"/>
                  </a:lnTo>
                  <a:lnTo>
                    <a:pt x="4359592" y="241935"/>
                  </a:lnTo>
                  <a:lnTo>
                    <a:pt x="4378642" y="308610"/>
                  </a:lnTo>
                  <a:lnTo>
                    <a:pt x="4397692" y="380048"/>
                  </a:lnTo>
                  <a:lnTo>
                    <a:pt x="4416742" y="455295"/>
                  </a:lnTo>
                  <a:lnTo>
                    <a:pt x="4435792" y="532447"/>
                  </a:lnTo>
                  <a:lnTo>
                    <a:pt x="4454842" y="610553"/>
                  </a:lnTo>
                  <a:lnTo>
                    <a:pt x="4473892" y="687705"/>
                  </a:lnTo>
                  <a:lnTo>
                    <a:pt x="4492942" y="762953"/>
                  </a:lnTo>
                  <a:lnTo>
                    <a:pt x="4511992" y="834390"/>
                  </a:lnTo>
                  <a:lnTo>
                    <a:pt x="4531042" y="901065"/>
                  </a:lnTo>
                  <a:lnTo>
                    <a:pt x="4550092" y="961072"/>
                  </a:lnTo>
                  <a:lnTo>
                    <a:pt x="4569142" y="1014412"/>
                  </a:lnTo>
                  <a:lnTo>
                    <a:pt x="4588192" y="1060132"/>
                  </a:lnTo>
                  <a:lnTo>
                    <a:pt x="4607242" y="1095375"/>
                  </a:lnTo>
                  <a:lnTo>
                    <a:pt x="4626292" y="1122045"/>
                  </a:lnTo>
                  <a:lnTo>
                    <a:pt x="4645342" y="1137285"/>
                  </a:lnTo>
                  <a:lnTo>
                    <a:pt x="4664392" y="1143000"/>
                  </a:lnTo>
                  <a:lnTo>
                    <a:pt x="4683442" y="1137285"/>
                  </a:lnTo>
                  <a:lnTo>
                    <a:pt x="4702492" y="1122045"/>
                  </a:lnTo>
                  <a:lnTo>
                    <a:pt x="4721542" y="1095375"/>
                  </a:lnTo>
                  <a:lnTo>
                    <a:pt x="4740592" y="1060132"/>
                  </a:lnTo>
                  <a:lnTo>
                    <a:pt x="4759642" y="1014412"/>
                  </a:lnTo>
                  <a:lnTo>
                    <a:pt x="4778692" y="961072"/>
                  </a:lnTo>
                  <a:lnTo>
                    <a:pt x="4797742" y="901065"/>
                  </a:lnTo>
                  <a:lnTo>
                    <a:pt x="4816792" y="834390"/>
                  </a:lnTo>
                  <a:lnTo>
                    <a:pt x="4835842" y="762953"/>
                  </a:lnTo>
                  <a:lnTo>
                    <a:pt x="4854892" y="687705"/>
                  </a:lnTo>
                  <a:lnTo>
                    <a:pt x="4873942" y="610553"/>
                  </a:lnTo>
                  <a:lnTo>
                    <a:pt x="4892992" y="532447"/>
                  </a:lnTo>
                  <a:lnTo>
                    <a:pt x="4912042" y="455295"/>
                  </a:lnTo>
                  <a:lnTo>
                    <a:pt x="4931092" y="380048"/>
                  </a:lnTo>
                  <a:lnTo>
                    <a:pt x="4947285" y="318135"/>
                  </a:lnTo>
                </a:path>
              </a:pathLst>
            </a:custGeom>
            <a:noFill/>
            <a:ln w="24765">
              <a:solidFill>
                <a:srgbClr val="2F4B9A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6486525" y="3143250"/>
              <a:ext cx="4953000" cy="9525"/>
            </a:xfrm>
            <a:custGeom>
              <a:avLst/>
              <a:gdLst/>
              <a:ahLst/>
              <a:cxnLst/>
              <a:rect l="l" t="t" r="r" b="b"/>
              <a:pathLst>
                <a:path w="4953000" h="9525">
                  <a:moveTo>
                    <a:pt x="0" y="0"/>
                  </a:moveTo>
                  <a:lnTo>
                    <a:pt x="495300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11439525" y="30956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7200900" y="311467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8077200" y="311467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8953500" y="311467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829800" y="311467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0706100" y="3114675"/>
              <a:ext cx="9525" cy="57150"/>
            </a:xfrm>
            <a:custGeom>
              <a:avLst/>
              <a:gdLst/>
              <a:ahLst/>
              <a:cxnLst/>
              <a:rect l="l" t="t" r="r" b="b"/>
              <a:pathLst>
                <a:path w="9525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9058275" y="180975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9725025" y="1762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8963025" y="1762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6500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B0881B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6548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8A6C1B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6596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64511B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6643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43381C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6691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B271C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6738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1E1D1C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6786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1E1D1C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6834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B271C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6881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43381C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6929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64511B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6977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8A6C1B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7024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B0881B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7072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D2A11A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7119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ECB41A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7167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CC01A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7215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EC21A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7262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4BA1A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7310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DEAA1A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7358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BE931B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7405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99771B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7453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735B1B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7500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4F411C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7548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332D1C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7596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1201C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7643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1C1C1C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7691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4221C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7739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38301C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7786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56461B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7834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7A611B"/>
              </a:solidFill>
            </a:ln>
          </p:spPr>
        </p:sp>
        <p:sp>
          <p:nvSpPr>
            <p:cNvPr id="77" name="Freeform 77"/>
            <p:cNvSpPr/>
            <p:nvPr/>
          </p:nvSpPr>
          <p:spPr>
            <a:xfrm>
              <a:off x="7881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A17D1B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7929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C5981B"/>
              </a:solidFill>
            </a:ln>
          </p:spPr>
        </p:sp>
        <p:sp>
          <p:nvSpPr>
            <p:cNvPr id="79" name="Freeform 79"/>
            <p:cNvSpPr/>
            <p:nvPr/>
          </p:nvSpPr>
          <p:spPr>
            <a:xfrm>
              <a:off x="7977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E3AE1A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8024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7BC1A"/>
              </a:solidFill>
            </a:ln>
          </p:spPr>
        </p:sp>
        <p:sp>
          <p:nvSpPr>
            <p:cNvPr id="81" name="Freeform 81"/>
            <p:cNvSpPr/>
            <p:nvPr/>
          </p:nvSpPr>
          <p:spPr>
            <a:xfrm>
              <a:off x="8072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FC21A"/>
              </a:solidFill>
            </a:ln>
          </p:spPr>
        </p:sp>
        <p:sp>
          <p:nvSpPr>
            <p:cNvPr id="82" name="Freeform 82"/>
            <p:cNvSpPr/>
            <p:nvPr/>
          </p:nvSpPr>
          <p:spPr>
            <a:xfrm>
              <a:off x="8120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ABE1A"/>
              </a:solidFill>
            </a:ln>
          </p:spPr>
        </p:sp>
        <p:sp>
          <p:nvSpPr>
            <p:cNvPr id="83" name="Freeform 83"/>
            <p:cNvSpPr/>
            <p:nvPr/>
          </p:nvSpPr>
          <p:spPr>
            <a:xfrm>
              <a:off x="8167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E8B11A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8215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CC9D1A"/>
              </a:solidFill>
            </a:ln>
          </p:spPr>
        </p:sp>
        <p:sp>
          <p:nvSpPr>
            <p:cNvPr id="85" name="Freeform 85"/>
            <p:cNvSpPr/>
            <p:nvPr/>
          </p:nvSpPr>
          <p:spPr>
            <a:xfrm>
              <a:off x="8262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A8831B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8310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82671B"/>
              </a:solidFill>
            </a:ln>
          </p:spPr>
        </p:sp>
        <p:sp>
          <p:nvSpPr>
            <p:cNvPr id="87" name="Freeform 87"/>
            <p:cNvSpPr/>
            <p:nvPr/>
          </p:nvSpPr>
          <p:spPr>
            <a:xfrm>
              <a:off x="8358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5D4B1B"/>
              </a:solidFill>
            </a:ln>
          </p:spPr>
        </p:sp>
        <p:sp>
          <p:nvSpPr>
            <p:cNvPr id="88" name="Freeform 88"/>
            <p:cNvSpPr/>
            <p:nvPr/>
          </p:nvSpPr>
          <p:spPr>
            <a:xfrm>
              <a:off x="8405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3D341C"/>
              </a:solidFill>
            </a:ln>
          </p:spPr>
        </p:sp>
        <p:sp>
          <p:nvSpPr>
            <p:cNvPr id="89" name="Freeform 89"/>
            <p:cNvSpPr/>
            <p:nvPr/>
          </p:nvSpPr>
          <p:spPr>
            <a:xfrm>
              <a:off x="8453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7241C"/>
              </a:solidFill>
            </a:ln>
          </p:spPr>
        </p:sp>
        <p:sp>
          <p:nvSpPr>
            <p:cNvPr id="90" name="Freeform 90"/>
            <p:cNvSpPr/>
            <p:nvPr/>
          </p:nvSpPr>
          <p:spPr>
            <a:xfrm>
              <a:off x="8501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1D1C1C"/>
              </a:solidFill>
            </a:ln>
          </p:spPr>
        </p:sp>
        <p:sp>
          <p:nvSpPr>
            <p:cNvPr id="91" name="Freeform 91"/>
            <p:cNvSpPr/>
            <p:nvPr/>
          </p:nvSpPr>
          <p:spPr>
            <a:xfrm>
              <a:off x="8548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1F1E1C"/>
              </a:solidFill>
            </a:ln>
          </p:spPr>
        </p:sp>
        <p:sp>
          <p:nvSpPr>
            <p:cNvPr id="92" name="Freeform 92"/>
            <p:cNvSpPr/>
            <p:nvPr/>
          </p:nvSpPr>
          <p:spPr>
            <a:xfrm>
              <a:off x="8596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F2A1C"/>
              </a:solidFill>
            </a:ln>
          </p:spPr>
        </p:sp>
        <p:sp>
          <p:nvSpPr>
            <p:cNvPr id="93" name="Freeform 93"/>
            <p:cNvSpPr/>
            <p:nvPr/>
          </p:nvSpPr>
          <p:spPr>
            <a:xfrm>
              <a:off x="8643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493D1C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8691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6B561B"/>
              </a:solidFill>
            </a:ln>
          </p:spPr>
        </p:sp>
        <p:sp>
          <p:nvSpPr>
            <p:cNvPr id="95" name="Freeform 95"/>
            <p:cNvSpPr/>
            <p:nvPr/>
          </p:nvSpPr>
          <p:spPr>
            <a:xfrm>
              <a:off x="8739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91721B"/>
              </a:solidFill>
            </a:ln>
          </p:spPr>
        </p:sp>
        <p:sp>
          <p:nvSpPr>
            <p:cNvPr id="96" name="Freeform 96"/>
            <p:cNvSpPr/>
            <p:nvPr/>
          </p:nvSpPr>
          <p:spPr>
            <a:xfrm>
              <a:off x="8786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B78D1B"/>
              </a:solidFill>
            </a:ln>
          </p:spPr>
        </p:sp>
        <p:sp>
          <p:nvSpPr>
            <p:cNvPr id="97" name="Freeform 97"/>
            <p:cNvSpPr/>
            <p:nvPr/>
          </p:nvSpPr>
          <p:spPr>
            <a:xfrm>
              <a:off x="8834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D8A61A"/>
              </a:solidFill>
            </a:ln>
          </p:spPr>
        </p:sp>
        <p:sp>
          <p:nvSpPr>
            <p:cNvPr id="98" name="Freeform 98"/>
            <p:cNvSpPr/>
            <p:nvPr/>
          </p:nvSpPr>
          <p:spPr>
            <a:xfrm>
              <a:off x="8882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0B71A"/>
              </a:solidFill>
            </a:ln>
          </p:spPr>
        </p:sp>
        <p:sp>
          <p:nvSpPr>
            <p:cNvPr id="99" name="Freeform 99"/>
            <p:cNvSpPr/>
            <p:nvPr/>
          </p:nvSpPr>
          <p:spPr>
            <a:xfrm>
              <a:off x="8929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DC11A"/>
              </a:solidFill>
            </a:ln>
          </p:spPr>
        </p:sp>
        <p:sp>
          <p:nvSpPr>
            <p:cNvPr id="100" name="Freeform 100"/>
            <p:cNvSpPr/>
            <p:nvPr/>
          </p:nvSpPr>
          <p:spPr>
            <a:xfrm>
              <a:off x="8977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DC11A"/>
              </a:solidFill>
            </a:ln>
          </p:spPr>
        </p:sp>
        <p:sp>
          <p:nvSpPr>
            <p:cNvPr id="101" name="Freeform 101"/>
            <p:cNvSpPr/>
            <p:nvPr/>
          </p:nvSpPr>
          <p:spPr>
            <a:xfrm>
              <a:off x="9024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0B71A"/>
              </a:solidFill>
            </a:ln>
          </p:spPr>
        </p:sp>
        <p:sp>
          <p:nvSpPr>
            <p:cNvPr id="102" name="Freeform 102"/>
            <p:cNvSpPr/>
            <p:nvPr/>
          </p:nvSpPr>
          <p:spPr>
            <a:xfrm>
              <a:off x="9072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D8A61A"/>
              </a:solidFill>
            </a:ln>
          </p:spPr>
        </p:sp>
        <p:sp>
          <p:nvSpPr>
            <p:cNvPr id="103" name="Freeform 103"/>
            <p:cNvSpPr/>
            <p:nvPr/>
          </p:nvSpPr>
          <p:spPr>
            <a:xfrm>
              <a:off x="9120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B78D1B"/>
              </a:solidFill>
            </a:ln>
          </p:spPr>
        </p:sp>
        <p:sp>
          <p:nvSpPr>
            <p:cNvPr id="104" name="Freeform 104"/>
            <p:cNvSpPr/>
            <p:nvPr/>
          </p:nvSpPr>
          <p:spPr>
            <a:xfrm>
              <a:off x="9167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91721B"/>
              </a:solidFill>
            </a:ln>
          </p:spPr>
        </p:sp>
        <p:sp>
          <p:nvSpPr>
            <p:cNvPr id="105" name="Freeform 105"/>
            <p:cNvSpPr/>
            <p:nvPr/>
          </p:nvSpPr>
          <p:spPr>
            <a:xfrm>
              <a:off x="9215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6B561B"/>
              </a:solidFill>
            </a:ln>
          </p:spPr>
        </p:sp>
        <p:sp>
          <p:nvSpPr>
            <p:cNvPr id="106" name="Freeform 106"/>
            <p:cNvSpPr/>
            <p:nvPr/>
          </p:nvSpPr>
          <p:spPr>
            <a:xfrm>
              <a:off x="9263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493D1C"/>
              </a:solidFill>
            </a:ln>
          </p:spPr>
        </p:sp>
        <p:sp>
          <p:nvSpPr>
            <p:cNvPr id="107" name="Freeform 107"/>
            <p:cNvSpPr/>
            <p:nvPr/>
          </p:nvSpPr>
          <p:spPr>
            <a:xfrm>
              <a:off x="9310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F2A1C"/>
              </a:solidFill>
            </a:ln>
          </p:spPr>
        </p:sp>
        <p:sp>
          <p:nvSpPr>
            <p:cNvPr id="108" name="Freeform 108"/>
            <p:cNvSpPr/>
            <p:nvPr/>
          </p:nvSpPr>
          <p:spPr>
            <a:xfrm>
              <a:off x="9358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1F1E1C"/>
              </a:solidFill>
            </a:ln>
          </p:spPr>
        </p:sp>
        <p:sp>
          <p:nvSpPr>
            <p:cNvPr id="109" name="Freeform 109"/>
            <p:cNvSpPr/>
            <p:nvPr/>
          </p:nvSpPr>
          <p:spPr>
            <a:xfrm>
              <a:off x="9405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1D1C1C"/>
              </a:solidFill>
            </a:ln>
          </p:spPr>
        </p:sp>
        <p:sp>
          <p:nvSpPr>
            <p:cNvPr id="110" name="Freeform 110"/>
            <p:cNvSpPr/>
            <p:nvPr/>
          </p:nvSpPr>
          <p:spPr>
            <a:xfrm>
              <a:off x="9453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7241C"/>
              </a:solidFill>
            </a:ln>
          </p:spPr>
        </p:sp>
        <p:sp>
          <p:nvSpPr>
            <p:cNvPr id="111" name="Freeform 111"/>
            <p:cNvSpPr/>
            <p:nvPr/>
          </p:nvSpPr>
          <p:spPr>
            <a:xfrm>
              <a:off x="9501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3D341C"/>
              </a:solidFill>
            </a:ln>
          </p:spPr>
        </p:sp>
        <p:sp>
          <p:nvSpPr>
            <p:cNvPr id="112" name="Freeform 112"/>
            <p:cNvSpPr/>
            <p:nvPr/>
          </p:nvSpPr>
          <p:spPr>
            <a:xfrm>
              <a:off x="9548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5D4B1B"/>
              </a:solidFill>
            </a:ln>
          </p:spPr>
        </p:sp>
        <p:sp>
          <p:nvSpPr>
            <p:cNvPr id="113" name="Freeform 113"/>
            <p:cNvSpPr/>
            <p:nvPr/>
          </p:nvSpPr>
          <p:spPr>
            <a:xfrm>
              <a:off x="9596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82671B"/>
              </a:solidFill>
            </a:ln>
          </p:spPr>
        </p:sp>
        <p:sp>
          <p:nvSpPr>
            <p:cNvPr id="114" name="Freeform 114"/>
            <p:cNvSpPr/>
            <p:nvPr/>
          </p:nvSpPr>
          <p:spPr>
            <a:xfrm>
              <a:off x="9644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A8831B"/>
              </a:solidFill>
            </a:ln>
          </p:spPr>
        </p:sp>
        <p:sp>
          <p:nvSpPr>
            <p:cNvPr id="115" name="Freeform 115"/>
            <p:cNvSpPr/>
            <p:nvPr/>
          </p:nvSpPr>
          <p:spPr>
            <a:xfrm>
              <a:off x="9691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CC9D1A"/>
              </a:solidFill>
            </a:ln>
          </p:spPr>
        </p:sp>
        <p:sp>
          <p:nvSpPr>
            <p:cNvPr id="116" name="Freeform 116"/>
            <p:cNvSpPr/>
            <p:nvPr/>
          </p:nvSpPr>
          <p:spPr>
            <a:xfrm>
              <a:off x="9739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E8B11A"/>
              </a:solidFill>
            </a:ln>
          </p:spPr>
        </p:sp>
        <p:sp>
          <p:nvSpPr>
            <p:cNvPr id="117" name="Freeform 117"/>
            <p:cNvSpPr/>
            <p:nvPr/>
          </p:nvSpPr>
          <p:spPr>
            <a:xfrm>
              <a:off x="9786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ABE1A"/>
              </a:solidFill>
            </a:ln>
          </p:spPr>
        </p:sp>
        <p:sp>
          <p:nvSpPr>
            <p:cNvPr id="118" name="Freeform 118"/>
            <p:cNvSpPr/>
            <p:nvPr/>
          </p:nvSpPr>
          <p:spPr>
            <a:xfrm>
              <a:off x="9834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FC21A"/>
              </a:solidFill>
            </a:ln>
          </p:spPr>
        </p:sp>
        <p:sp>
          <p:nvSpPr>
            <p:cNvPr id="119" name="Freeform 119"/>
            <p:cNvSpPr/>
            <p:nvPr/>
          </p:nvSpPr>
          <p:spPr>
            <a:xfrm>
              <a:off x="9882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7BC1A"/>
              </a:solidFill>
            </a:ln>
          </p:spPr>
        </p:sp>
        <p:sp>
          <p:nvSpPr>
            <p:cNvPr id="120" name="Freeform 120"/>
            <p:cNvSpPr/>
            <p:nvPr/>
          </p:nvSpPr>
          <p:spPr>
            <a:xfrm>
              <a:off x="9929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E3AE1A"/>
              </a:solidFill>
            </a:ln>
          </p:spPr>
        </p:sp>
        <p:sp>
          <p:nvSpPr>
            <p:cNvPr id="121" name="Freeform 121"/>
            <p:cNvSpPr/>
            <p:nvPr/>
          </p:nvSpPr>
          <p:spPr>
            <a:xfrm>
              <a:off x="9977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C5981B"/>
              </a:solidFill>
            </a:ln>
          </p:spPr>
        </p:sp>
        <p:sp>
          <p:nvSpPr>
            <p:cNvPr id="122" name="Freeform 122"/>
            <p:cNvSpPr/>
            <p:nvPr/>
          </p:nvSpPr>
          <p:spPr>
            <a:xfrm>
              <a:off x="10025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A17D1B"/>
              </a:solidFill>
            </a:ln>
          </p:spPr>
        </p:sp>
        <p:sp>
          <p:nvSpPr>
            <p:cNvPr id="123" name="Freeform 123"/>
            <p:cNvSpPr/>
            <p:nvPr/>
          </p:nvSpPr>
          <p:spPr>
            <a:xfrm>
              <a:off x="10072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7A611B"/>
              </a:solidFill>
            </a:ln>
          </p:spPr>
        </p:sp>
        <p:sp>
          <p:nvSpPr>
            <p:cNvPr id="124" name="Freeform 124"/>
            <p:cNvSpPr/>
            <p:nvPr/>
          </p:nvSpPr>
          <p:spPr>
            <a:xfrm>
              <a:off x="10120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56461B"/>
              </a:solidFill>
            </a:ln>
          </p:spPr>
        </p:sp>
        <p:sp>
          <p:nvSpPr>
            <p:cNvPr id="125" name="Freeform 125"/>
            <p:cNvSpPr/>
            <p:nvPr/>
          </p:nvSpPr>
          <p:spPr>
            <a:xfrm>
              <a:off x="10167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38301C"/>
              </a:solidFill>
            </a:ln>
          </p:spPr>
        </p:sp>
        <p:sp>
          <p:nvSpPr>
            <p:cNvPr id="126" name="Freeform 126"/>
            <p:cNvSpPr/>
            <p:nvPr/>
          </p:nvSpPr>
          <p:spPr>
            <a:xfrm>
              <a:off x="10215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4221C"/>
              </a:solidFill>
            </a:ln>
          </p:spPr>
        </p:sp>
        <p:sp>
          <p:nvSpPr>
            <p:cNvPr id="127" name="Freeform 127"/>
            <p:cNvSpPr/>
            <p:nvPr/>
          </p:nvSpPr>
          <p:spPr>
            <a:xfrm>
              <a:off x="10263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1C1C1C"/>
              </a:solidFill>
            </a:ln>
          </p:spPr>
        </p:sp>
        <p:sp>
          <p:nvSpPr>
            <p:cNvPr id="128" name="Freeform 128"/>
            <p:cNvSpPr/>
            <p:nvPr/>
          </p:nvSpPr>
          <p:spPr>
            <a:xfrm>
              <a:off x="10310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1201C"/>
              </a:solidFill>
            </a:ln>
          </p:spPr>
        </p:sp>
        <p:sp>
          <p:nvSpPr>
            <p:cNvPr id="129" name="Freeform 129"/>
            <p:cNvSpPr/>
            <p:nvPr/>
          </p:nvSpPr>
          <p:spPr>
            <a:xfrm>
              <a:off x="10358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332D1C"/>
              </a:solidFill>
            </a:ln>
          </p:spPr>
        </p:sp>
        <p:sp>
          <p:nvSpPr>
            <p:cNvPr id="130" name="Freeform 130"/>
            <p:cNvSpPr/>
            <p:nvPr/>
          </p:nvSpPr>
          <p:spPr>
            <a:xfrm>
              <a:off x="10406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4F411C"/>
              </a:solidFill>
            </a:ln>
          </p:spPr>
        </p:sp>
        <p:sp>
          <p:nvSpPr>
            <p:cNvPr id="131" name="Freeform 131"/>
            <p:cNvSpPr/>
            <p:nvPr/>
          </p:nvSpPr>
          <p:spPr>
            <a:xfrm>
              <a:off x="10453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735B1B"/>
              </a:solidFill>
            </a:ln>
          </p:spPr>
        </p:sp>
        <p:sp>
          <p:nvSpPr>
            <p:cNvPr id="132" name="Freeform 132"/>
            <p:cNvSpPr/>
            <p:nvPr/>
          </p:nvSpPr>
          <p:spPr>
            <a:xfrm>
              <a:off x="10501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99771B"/>
              </a:solidFill>
            </a:ln>
          </p:spPr>
        </p:sp>
        <p:sp>
          <p:nvSpPr>
            <p:cNvPr id="133" name="Freeform 133"/>
            <p:cNvSpPr/>
            <p:nvPr/>
          </p:nvSpPr>
          <p:spPr>
            <a:xfrm>
              <a:off x="10548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BE931B"/>
              </a:solidFill>
            </a:ln>
          </p:spPr>
        </p:sp>
        <p:sp>
          <p:nvSpPr>
            <p:cNvPr id="134" name="Freeform 134"/>
            <p:cNvSpPr/>
            <p:nvPr/>
          </p:nvSpPr>
          <p:spPr>
            <a:xfrm>
              <a:off x="10596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DEAA1A"/>
              </a:solidFill>
            </a:ln>
          </p:spPr>
        </p:sp>
        <p:sp>
          <p:nvSpPr>
            <p:cNvPr id="135" name="Freeform 135"/>
            <p:cNvSpPr/>
            <p:nvPr/>
          </p:nvSpPr>
          <p:spPr>
            <a:xfrm>
              <a:off x="10644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4BA1A"/>
              </a:solidFill>
            </a:ln>
          </p:spPr>
        </p:sp>
        <p:sp>
          <p:nvSpPr>
            <p:cNvPr id="136" name="Freeform 136"/>
            <p:cNvSpPr/>
            <p:nvPr/>
          </p:nvSpPr>
          <p:spPr>
            <a:xfrm>
              <a:off x="10691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EC21A"/>
              </a:solidFill>
            </a:ln>
          </p:spPr>
        </p:sp>
        <p:sp>
          <p:nvSpPr>
            <p:cNvPr id="137" name="Freeform 137"/>
            <p:cNvSpPr/>
            <p:nvPr/>
          </p:nvSpPr>
          <p:spPr>
            <a:xfrm>
              <a:off x="10739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FCC01A"/>
              </a:solidFill>
            </a:ln>
          </p:spPr>
        </p:sp>
        <p:sp>
          <p:nvSpPr>
            <p:cNvPr id="138" name="Freeform 138"/>
            <p:cNvSpPr/>
            <p:nvPr/>
          </p:nvSpPr>
          <p:spPr>
            <a:xfrm>
              <a:off x="10787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ECB41A"/>
              </a:solidFill>
            </a:ln>
          </p:spPr>
        </p:sp>
        <p:sp>
          <p:nvSpPr>
            <p:cNvPr id="139" name="Freeform 139"/>
            <p:cNvSpPr/>
            <p:nvPr/>
          </p:nvSpPr>
          <p:spPr>
            <a:xfrm>
              <a:off x="10834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D2A11A"/>
              </a:solidFill>
            </a:ln>
          </p:spPr>
        </p:sp>
        <p:sp>
          <p:nvSpPr>
            <p:cNvPr id="140" name="Freeform 140"/>
            <p:cNvSpPr/>
            <p:nvPr/>
          </p:nvSpPr>
          <p:spPr>
            <a:xfrm>
              <a:off x="10882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B0881B"/>
              </a:solidFill>
            </a:ln>
          </p:spPr>
        </p:sp>
        <p:sp>
          <p:nvSpPr>
            <p:cNvPr id="141" name="Freeform 141"/>
            <p:cNvSpPr/>
            <p:nvPr/>
          </p:nvSpPr>
          <p:spPr>
            <a:xfrm>
              <a:off x="10929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8A6C1B"/>
              </a:solidFill>
            </a:ln>
          </p:spPr>
        </p:sp>
        <p:sp>
          <p:nvSpPr>
            <p:cNvPr id="142" name="Freeform 142"/>
            <p:cNvSpPr/>
            <p:nvPr/>
          </p:nvSpPr>
          <p:spPr>
            <a:xfrm>
              <a:off x="10977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64511B"/>
              </a:solidFill>
            </a:ln>
          </p:spPr>
        </p:sp>
        <p:sp>
          <p:nvSpPr>
            <p:cNvPr id="143" name="Freeform 143"/>
            <p:cNvSpPr/>
            <p:nvPr/>
          </p:nvSpPr>
          <p:spPr>
            <a:xfrm>
              <a:off x="11025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43381C"/>
              </a:solidFill>
            </a:ln>
          </p:spPr>
        </p:sp>
        <p:sp>
          <p:nvSpPr>
            <p:cNvPr id="144" name="Freeform 144"/>
            <p:cNvSpPr/>
            <p:nvPr/>
          </p:nvSpPr>
          <p:spPr>
            <a:xfrm>
              <a:off x="110728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B271C"/>
              </a:solidFill>
            </a:ln>
          </p:spPr>
        </p:sp>
        <p:sp>
          <p:nvSpPr>
            <p:cNvPr id="145" name="Freeform 145"/>
            <p:cNvSpPr/>
            <p:nvPr/>
          </p:nvSpPr>
          <p:spPr>
            <a:xfrm>
              <a:off x="111204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1E1D1C"/>
              </a:solidFill>
            </a:ln>
          </p:spPr>
        </p:sp>
        <p:sp>
          <p:nvSpPr>
            <p:cNvPr id="146" name="Freeform 146"/>
            <p:cNvSpPr/>
            <p:nvPr/>
          </p:nvSpPr>
          <p:spPr>
            <a:xfrm>
              <a:off x="111680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1E1D1C"/>
              </a:solidFill>
            </a:ln>
          </p:spPr>
        </p:sp>
        <p:sp>
          <p:nvSpPr>
            <p:cNvPr id="147" name="Freeform 147"/>
            <p:cNvSpPr/>
            <p:nvPr/>
          </p:nvSpPr>
          <p:spPr>
            <a:xfrm>
              <a:off x="112156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2B271C"/>
              </a:solidFill>
            </a:ln>
          </p:spPr>
        </p:sp>
        <p:sp>
          <p:nvSpPr>
            <p:cNvPr id="148" name="Freeform 148"/>
            <p:cNvSpPr/>
            <p:nvPr/>
          </p:nvSpPr>
          <p:spPr>
            <a:xfrm>
              <a:off x="1126331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43381C"/>
              </a:solidFill>
            </a:ln>
          </p:spPr>
        </p:sp>
        <p:sp>
          <p:nvSpPr>
            <p:cNvPr id="149" name="Freeform 149"/>
            <p:cNvSpPr/>
            <p:nvPr/>
          </p:nvSpPr>
          <p:spPr>
            <a:xfrm>
              <a:off x="1131093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64511B"/>
              </a:solidFill>
            </a:ln>
          </p:spPr>
        </p:sp>
        <p:sp>
          <p:nvSpPr>
            <p:cNvPr id="150" name="Freeform 150"/>
            <p:cNvSpPr/>
            <p:nvPr/>
          </p:nvSpPr>
          <p:spPr>
            <a:xfrm>
              <a:off x="11358562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8A6C1B"/>
              </a:solidFill>
            </a:ln>
          </p:spPr>
        </p:sp>
        <p:sp>
          <p:nvSpPr>
            <p:cNvPr id="151" name="Freeform 151"/>
            <p:cNvSpPr/>
            <p:nvPr/>
          </p:nvSpPr>
          <p:spPr>
            <a:xfrm>
              <a:off x="11406188" y="37242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61912">
              <a:solidFill>
                <a:srgbClr val="B0881B"/>
              </a:solidFill>
            </a:ln>
          </p:spPr>
        </p:sp>
        <p:sp>
          <p:nvSpPr>
            <p:cNvPr id="152" name="TextBox 152"/>
            <p:cNvSpPr txBox="1"/>
            <p:nvPr/>
          </p:nvSpPr>
          <p:spPr>
            <a:xfrm>
              <a:off x="11479101" y="324802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153" name="TextBox 153"/>
            <p:cNvSpPr txBox="1"/>
            <p:nvPr/>
          </p:nvSpPr>
          <p:spPr>
            <a:xfrm>
              <a:off x="7123387" y="3272314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−2</a:t>
              </a:r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7999687" y="3272314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−1</a:t>
              </a:r>
            </a:p>
          </p:txBody>
        </p:sp>
        <p:sp>
          <p:nvSpPr>
            <p:cNvPr id="155" name="TextBox 155"/>
            <p:cNvSpPr txBox="1"/>
            <p:nvPr/>
          </p:nvSpPr>
          <p:spPr>
            <a:xfrm>
              <a:off x="8800128" y="3272314"/>
              <a:ext cx="3067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 = 0</a:t>
              </a:r>
            </a:p>
          </p:txBody>
        </p:sp>
        <p:sp>
          <p:nvSpPr>
            <p:cNvPr id="156" name="TextBox 156"/>
            <p:cNvSpPr txBox="1"/>
            <p:nvPr/>
          </p:nvSpPr>
          <p:spPr>
            <a:xfrm>
              <a:off x="9752287" y="3272314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+1</a:t>
              </a:r>
            </a:p>
          </p:txBody>
        </p:sp>
        <p:sp>
          <p:nvSpPr>
            <p:cNvPr id="157" name="TextBox 157"/>
            <p:cNvSpPr txBox="1"/>
            <p:nvPr/>
          </p:nvSpPr>
          <p:spPr>
            <a:xfrm>
              <a:off x="10628587" y="3272314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+2</a:t>
              </a:r>
            </a:p>
          </p:txBody>
        </p:sp>
        <p:sp>
          <p:nvSpPr>
            <p:cNvPr id="158" name="TextBox 158"/>
            <p:cNvSpPr txBox="1"/>
            <p:nvPr/>
          </p:nvSpPr>
          <p:spPr>
            <a:xfrm>
              <a:off x="9048608" y="1590675"/>
              <a:ext cx="6860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05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Δx = Dλ/a</a:t>
              </a:r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6472238" y="3505200"/>
              <a:ext cx="20692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屏上看到的条纹（亮处橙黄，暗处黑）</a:t>
              </a:r>
            </a:p>
          </p:txBody>
        </p:sp>
      </p:grpSp>
      <p:grpSp>
        <p:nvGrpSpPr>
          <p:cNvPr id="167" name="c2-callout-2"/>
          <p:cNvGrpSpPr/>
          <p:nvPr/>
        </p:nvGrpSpPr>
        <p:grpSpPr>
          <a:xfrm>
            <a:off x="6248400" y="4476750"/>
            <a:ext cx="5410200" cy="1758315"/>
            <a:chOff x="6248400" y="4476750"/>
            <a:chExt cx="5410200" cy="1758315"/>
          </a:xfrm>
        </p:grpSpPr>
        <p:sp>
          <p:nvSpPr>
            <p:cNvPr id="161" name="Rectangle 161"/>
            <p:cNvSpPr/>
            <p:nvPr/>
          </p:nvSpPr>
          <p:spPr>
            <a:xfrm>
              <a:off x="6248400" y="4476750"/>
              <a:ext cx="5410200" cy="1758315"/>
            </a:xfrm>
            <a:prstGeom prst="roundRect">
              <a:avLst>
                <a:gd name="adj" fmla="val 650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65" name="Group 165"/>
            <p:cNvGrpSpPr/>
            <p:nvPr/>
          </p:nvGrpSpPr>
          <p:grpSpPr>
            <a:xfrm>
              <a:off x="6453188" y="5255895"/>
              <a:ext cx="200026" cy="200025"/>
              <a:chOff x="6453188" y="5255895"/>
              <a:chExt cx="200026" cy="200025"/>
            </a:xfrm>
          </p:grpSpPr>
          <p:sp>
            <p:nvSpPr>
              <p:cNvPr id="162" name="Freeform 162"/>
              <p:cNvSpPr/>
              <p:nvPr/>
            </p:nvSpPr>
            <p:spPr>
              <a:xfrm>
                <a:off x="6453188" y="5255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63" name="Freeform 163"/>
              <p:cNvSpPr/>
              <p:nvPr/>
            </p:nvSpPr>
            <p:spPr>
              <a:xfrm>
                <a:off x="6492926" y="5300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64" name="Freeform 164"/>
              <p:cNvSpPr/>
              <p:nvPr/>
            </p:nvSpPr>
            <p:spPr>
              <a:xfrm>
                <a:off x="6527642" y="5411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66" name="TextBox 166"/>
            <p:cNvSpPr txBox="1"/>
            <p:nvPr/>
          </p:nvSpPr>
          <p:spPr>
            <a:xfrm>
              <a:off x="6755130" y="4974908"/>
              <a:ext cx="44253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λ 只有零点几微米，要让 Δx 达到毫米量级，就得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D/a 达到几千，这就是 a 取零点几毫米、D 取 1 m 的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原因。</a:t>
              </a:r>
            </a:p>
          </p:txBody>
        </p:sp>
      </p:grpSp>
      <p:grpSp>
        <p:nvGrpSpPr>
          <p:cNvPr id="1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68" name="TextBox 168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169" name="TextBox 1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分波阵面干涉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劳埃德镜：接触点是暗纹，证明反射光有半波损失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8" name="g_lloyd"/>
          <p:cNvGrpSpPr/>
          <p:nvPr/>
        </p:nvGrpSpPr>
        <p:grpSpPr>
          <a:xfrm>
            <a:off x="740484" y="1595914"/>
            <a:ext cx="5337152" cy="2628137"/>
            <a:chOff x="740484" y="1595914"/>
            <a:chExt cx="5337152" cy="2628137"/>
          </a:xfrm>
        </p:grpSpPr>
        <p:sp>
          <p:nvSpPr>
            <p:cNvPr id="7" name="Freeform 7"/>
            <p:cNvSpPr/>
            <p:nvPr/>
          </p:nvSpPr>
          <p:spPr>
            <a:xfrm>
              <a:off x="2257425" y="3429000"/>
              <a:ext cx="2266950" cy="9525"/>
            </a:xfrm>
            <a:custGeom>
              <a:avLst/>
              <a:gdLst/>
              <a:ahLst/>
              <a:cxnLst/>
              <a:rect l="l" t="t" r="r" b="b"/>
              <a:pathLst>
                <a:path w="2266950" h="9525">
                  <a:moveTo>
                    <a:pt x="0" y="0"/>
                  </a:moveTo>
                  <a:lnTo>
                    <a:pt x="2266950" y="0"/>
                  </a:lnTo>
                </a:path>
              </a:pathLst>
            </a:custGeom>
            <a:noFill/>
            <a:ln w="3810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1974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23879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5784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7689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9594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1499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3404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5309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7214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9119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1024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4292918" y="346424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0" y="100965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5200650" y="1724025"/>
              <a:ext cx="9525" cy="1695450"/>
            </a:xfrm>
            <a:custGeom>
              <a:avLst/>
              <a:gdLst/>
              <a:ahLst/>
              <a:cxnLst/>
              <a:rect l="l" t="t" r="r" b="b"/>
              <a:pathLst>
                <a:path w="9525" h="1695450">
                  <a:moveTo>
                    <a:pt x="0" y="0"/>
                  </a:moveTo>
                  <a:lnTo>
                    <a:pt x="0" y="169545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018222" y="2296478"/>
              <a:ext cx="4173855" cy="1132522"/>
            </a:xfrm>
            <a:custGeom>
              <a:avLst/>
              <a:gdLst/>
              <a:ahLst/>
              <a:cxnLst/>
              <a:rect l="l" t="t" r="r" b="b"/>
              <a:pathLst>
                <a:path w="4173855" h="1132522">
                  <a:moveTo>
                    <a:pt x="0" y="659130"/>
                  </a:moveTo>
                  <a:lnTo>
                    <a:pt x="1229678" y="1132522"/>
                  </a:lnTo>
                  <a:lnTo>
                    <a:pt x="4173855" y="0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1018222" y="3432810"/>
              <a:ext cx="1221105" cy="469583"/>
            </a:xfrm>
            <a:custGeom>
              <a:avLst/>
              <a:gdLst/>
              <a:ahLst/>
              <a:cxnLst/>
              <a:rect l="l" t="t" r="r" b="b"/>
              <a:pathLst>
                <a:path w="1221105" h="469583">
                  <a:moveTo>
                    <a:pt x="0" y="469583"/>
                  </a:moveTo>
                  <a:lnTo>
                    <a:pt x="1221105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  <a:custDash>
                <a:ds d="333333" sp="222222"/>
              </a:custDash>
            </a:ln>
          </p:spPr>
        </p:sp>
        <p:sp>
          <p:nvSpPr>
            <p:cNvPr id="23" name="Freeform 23"/>
            <p:cNvSpPr/>
            <p:nvPr/>
          </p:nvSpPr>
          <p:spPr>
            <a:xfrm>
              <a:off x="1019175" y="2953702"/>
              <a:ext cx="4171950" cy="475297"/>
            </a:xfrm>
            <a:custGeom>
              <a:avLst/>
              <a:gdLst/>
              <a:ahLst/>
              <a:cxnLst/>
              <a:rect l="l" t="t" r="r" b="b"/>
              <a:pathLst>
                <a:path w="4171950" h="475297">
                  <a:moveTo>
                    <a:pt x="0" y="0"/>
                  </a:moveTo>
                  <a:lnTo>
                    <a:pt x="3514725" y="475297"/>
                  </a:lnTo>
                  <a:lnTo>
                    <a:pt x="4171950" y="386715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019175" y="3429952"/>
              <a:ext cx="3505200" cy="474345"/>
            </a:xfrm>
            <a:custGeom>
              <a:avLst/>
              <a:gdLst/>
              <a:ahLst/>
              <a:cxnLst/>
              <a:rect l="l" t="t" r="r" b="b"/>
              <a:pathLst>
                <a:path w="3505200" h="474345">
                  <a:moveTo>
                    <a:pt x="0" y="474345"/>
                  </a:moveTo>
                  <a:lnTo>
                    <a:pt x="3505200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  <a:custDash>
                <a:ds d="333333" sp="222222"/>
              </a:custDash>
            </a:ln>
          </p:spPr>
        </p:sp>
        <p:sp>
          <p:nvSpPr>
            <p:cNvPr id="25" name="Freeform 25"/>
            <p:cNvSpPr/>
            <p:nvPr/>
          </p:nvSpPr>
          <p:spPr>
            <a:xfrm>
              <a:off x="1018222" y="1906905"/>
              <a:ext cx="4172902" cy="1042988"/>
            </a:xfrm>
            <a:custGeom>
              <a:avLst/>
              <a:gdLst/>
              <a:ahLst/>
              <a:cxnLst/>
              <a:rect l="l" t="t" r="r" b="b"/>
              <a:pathLst>
                <a:path w="4172902" h="1042988">
                  <a:moveTo>
                    <a:pt x="0" y="1042988"/>
                  </a:moveTo>
                  <a:lnTo>
                    <a:pt x="4172902" y="0"/>
                  </a:lnTo>
                </a:path>
              </a:pathLst>
            </a:custGeom>
            <a:noFill/>
            <a:ln w="17145">
              <a:solidFill>
                <a:srgbClr val="2F4B9A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1019175" y="2953702"/>
              <a:ext cx="4171950" cy="331470"/>
            </a:xfrm>
            <a:custGeom>
              <a:avLst/>
              <a:gdLst/>
              <a:ahLst/>
              <a:cxnLst/>
              <a:rect l="l" t="t" r="r" b="b"/>
              <a:pathLst>
                <a:path w="4171950" h="331470">
                  <a:moveTo>
                    <a:pt x="0" y="0"/>
                  </a:moveTo>
                  <a:lnTo>
                    <a:pt x="4171950" y="331470"/>
                  </a:lnTo>
                </a:path>
              </a:pathLst>
            </a:custGeom>
            <a:noFill/>
            <a:ln w="17145">
              <a:solidFill>
                <a:srgbClr val="2F4B9A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5248275" y="235077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5248275" y="248412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5248275" y="261747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5248275" y="275082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5248275" y="288417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248275" y="301752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5248275" y="315087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5248275" y="328422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5543550" y="2398395"/>
              <a:ext cx="9525" cy="835342"/>
            </a:xfrm>
            <a:custGeom>
              <a:avLst/>
              <a:gdLst/>
              <a:ahLst/>
              <a:cxnLst/>
              <a:rect l="l" t="t" r="r" b="b"/>
              <a:pathLst>
                <a:path w="9525" h="835342">
                  <a:moveTo>
                    <a:pt x="0" y="0"/>
                  </a:moveTo>
                  <a:lnTo>
                    <a:pt x="0" y="835342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5495925" y="323373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5495925" y="230314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962025" y="2905125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962025" y="3857625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40484" y="278653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80897" y="4033361"/>
              <a:ext cx="8228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S₂（虚光源）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141357" y="3604736"/>
              <a:ext cx="13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520285" y="360473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671947" y="256365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干涉区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233797" y="1595914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屏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711806" y="243316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直射光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473806" y="313896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反射光</a:t>
              </a:r>
            </a:p>
          </p:txBody>
        </p:sp>
      </p:grpSp>
      <p:grpSp>
        <p:nvGrpSpPr>
          <p:cNvPr id="50" name="c1-text-2"/>
          <p:cNvGrpSpPr/>
          <p:nvPr/>
        </p:nvGrpSpPr>
        <p:grpSpPr>
          <a:xfrm>
            <a:off x="526923" y="4498181"/>
            <a:ext cx="5409946" cy="500824"/>
            <a:chOff x="526923" y="4498181"/>
            <a:chExt cx="5409946" cy="500824"/>
          </a:xfrm>
        </p:grpSpPr>
        <p:sp>
          <p:nvSpPr>
            <p:cNvPr id="49" name="TextBox 49"/>
            <p:cNvSpPr txBox="1"/>
            <p:nvPr/>
          </p:nvSpPr>
          <p:spPr>
            <a:xfrm>
              <a:off x="526923" y="4498181"/>
              <a:ext cx="5409946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直射光与镜面反射光（好像从虚光源 S₂ 发出）在屏上重叠，S₁、S₂ 相当于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一对双缝。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6464618" y="1524000"/>
            <a:ext cx="5193982" cy="2223135"/>
            <a:chOff x="6464618" y="1524000"/>
            <a:chExt cx="5193982" cy="2223135"/>
          </a:xfrm>
        </p:grpSpPr>
        <p:sp>
          <p:nvSpPr>
            <p:cNvPr id="51" name="Rectangle 51"/>
            <p:cNvSpPr/>
            <p:nvPr/>
          </p:nvSpPr>
          <p:spPr>
            <a:xfrm>
              <a:off x="6464618" y="1524000"/>
              <a:ext cx="5193982" cy="2223135"/>
            </a:xfrm>
            <a:prstGeom prst="roundRect">
              <a:avLst>
                <a:gd name="adj" fmla="val 5998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674168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56476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实验意义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666548" y="2110740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把屏移到与镜端 L 接触，接触点处直射光和反射光的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几何路程相等，按光程差为零应是明纹，实际观察到的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是暗纹。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666548" y="3017520"/>
              <a:ext cx="4558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这说明反射光的相位突变了 π，相当于多走（或少走）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了半个波长，叫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半波损失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63" name="c2-card-2"/>
          <p:cNvGrpSpPr/>
          <p:nvPr/>
        </p:nvGrpSpPr>
        <p:grpSpPr>
          <a:xfrm>
            <a:off x="6464618" y="3937635"/>
            <a:ext cx="5193982" cy="1612582"/>
            <a:chOff x="6464618" y="3937635"/>
            <a:chExt cx="5193982" cy="1612582"/>
          </a:xfrm>
        </p:grpSpPr>
        <p:sp>
          <p:nvSpPr>
            <p:cNvPr id="57" name="Rectangle 57"/>
            <p:cNvSpPr/>
            <p:nvPr/>
          </p:nvSpPr>
          <p:spPr>
            <a:xfrm>
              <a:off x="6464618" y="3937635"/>
              <a:ext cx="5193982" cy="1612582"/>
            </a:xfrm>
            <a:prstGeom prst="roundRect">
              <a:avLst>
                <a:gd name="adj" fmla="val 82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474142" y="4070985"/>
              <a:ext cx="47625" cy="134588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712268" y="414718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781775" y="418290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半波损失的条件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704648" y="452437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光从光疏介质射向光密介质（n 小到 n 大），在界面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反射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时有半波损失；折射光没有。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705791" y="5142071"/>
              <a:ext cx="47601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与第3章机械波在波密介质界面反射时的半波损失是同一回事。</a:t>
              </a:r>
            </a:p>
          </p:txBody>
        </p:sp>
      </p:grpSp>
      <p:grpSp>
        <p:nvGrpSpPr>
          <p:cNvPr id="7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4" name="Rectangle 6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0130" y="5991225"/>
              <a:ext cx="90617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算光程差时，有半波损失的那一路要额外加（或减）λ/2，加或减只影响 k 的编号，不影响明暗判断。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083295" cy="909257"/>
            <a:chOff x="520446" y="342900"/>
            <a:chExt cx="50832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分波阵面干涉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0832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例7.1　由两条明纹的距离求波长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869180" cy="1671638"/>
            <a:chOff x="533400" y="1524000"/>
            <a:chExt cx="4869180" cy="16716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1671638"/>
            </a:xfrm>
            <a:prstGeom prst="roundRect">
              <a:avLst>
                <a:gd name="adj" fmla="val 797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049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54959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548" y="1737836"/>
              <a:ext cx="3703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例7.1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5998" y="2045494"/>
              <a:ext cx="422325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单色光照射相距 a = 0.2 mm 的双缝，双缝与屏相距 D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 m。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573179"/>
              <a:ext cx="410946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① 一级明纹到同侧四级明纹的距离为 7.5 mm 时的波长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λ；② 入射光换成 600 nm 时相邻明纹的间距。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360420"/>
            <a:ext cx="4869180" cy="1714500"/>
            <a:chOff x="533400" y="3360420"/>
            <a:chExt cx="4869180" cy="1714500"/>
          </a:xfrm>
        </p:grpSpPr>
        <p:sp>
          <p:nvSpPr>
            <p:cNvPr id="14" name="Rectangle 14"/>
            <p:cNvSpPr/>
            <p:nvPr/>
          </p:nvSpPr>
          <p:spPr>
            <a:xfrm>
              <a:off x="533400" y="3360420"/>
              <a:ext cx="4869180" cy="1714500"/>
            </a:xfrm>
            <a:prstGeom prst="roundRect">
              <a:avLst>
                <a:gd name="adj" fmla="val 77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493770"/>
              <a:ext cx="47625" cy="14478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52475" y="354139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45147" y="357425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检验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62000" y="3934778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17448" y="3881914"/>
              <a:ext cx="28647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500 nm 在可见光范围内，是青绿色光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62000" y="4219575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17448" y="4166711"/>
              <a:ext cx="402005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500 nm 时 Δx = 2.5 mm，一级到四级 3 个间距正好 7.5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mm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62000" y="4747260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17448" y="4694396"/>
              <a:ext cx="41575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Δx ∝ λ：2.5 mm × 600/500 = 3.0 mm，与第 ② 问一致</a:t>
              </a:r>
            </a:p>
          </p:txBody>
        </p:sp>
      </p:grpSp>
      <p:grpSp>
        <p:nvGrpSpPr>
          <p:cNvPr id="42" name="c2-steps-1"/>
          <p:cNvGrpSpPr/>
          <p:nvPr/>
        </p:nvGrpSpPr>
        <p:grpSpPr>
          <a:xfrm>
            <a:off x="5707380" y="1533525"/>
            <a:ext cx="4998491" cy="2149412"/>
            <a:chOff x="5707380" y="1533525"/>
            <a:chExt cx="4998491" cy="2149412"/>
          </a:xfrm>
        </p:grpSpPr>
        <p:sp>
          <p:nvSpPr>
            <p:cNvPr id="25" name="Rectangle 25"/>
            <p:cNvSpPr/>
            <p:nvPr/>
          </p:nvSpPr>
          <p:spPr>
            <a:xfrm>
              <a:off x="5840730" y="1676400"/>
              <a:ext cx="19050" cy="1659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570738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80100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707380" y="208692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801004" y="21607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707380" y="263937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01004" y="27131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5707380" y="319278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801004" y="32665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120003" y="15644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明纹位置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21146" y="1818322"/>
              <a:ext cx="7254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 = kDλ/a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20003" y="21169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同侧一级到四级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21146" y="2371725"/>
              <a:ext cx="28820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x₄ − x₁ = (4 − 1)Dλ/a，中间隔 3 个条纹间距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120003" y="267033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求波长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121146" y="2925128"/>
              <a:ext cx="45847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 = a(x₄ − x₁)/(3D) = 0.2×10⁻³ × 7.5×10⁻³/(3 × 1) m = 5.0×10⁻⁷ m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120003" y="322278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求间距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121146" y="3477578"/>
              <a:ext cx="35010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Δx = Dλ/a = 1 × 6×10⁻⁷/(0.2×10⁻³) m = 3.0×10⁻³ m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5707380" y="3844290"/>
            <a:ext cx="5951220" cy="1230630"/>
            <a:chOff x="5707380" y="3844290"/>
            <a:chExt cx="5951220" cy="1230630"/>
          </a:xfrm>
        </p:grpSpPr>
        <p:sp>
          <p:nvSpPr>
            <p:cNvPr id="43" name="Rectangle 43"/>
            <p:cNvSpPr/>
            <p:nvPr/>
          </p:nvSpPr>
          <p:spPr>
            <a:xfrm>
              <a:off x="5707380" y="3844290"/>
              <a:ext cx="5951220" cy="1230630"/>
            </a:xfrm>
            <a:prstGeom prst="roundRect">
              <a:avLst>
                <a:gd name="adj" fmla="val 10836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888355" y="4025265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984126" y="4058126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881878" y="4365784"/>
              <a:ext cx="25016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① λ = 500 nm；② Δx = 3.0 mm。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8" name="Rectangle 48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1273" y="6039326"/>
              <a:ext cx="103982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变式：若 7.5 mm 是一级明纹到另一侧四级明纹的距离，中间有 1 + 4 = 5 个间距，λ = aΔx/(5D) = 300 nm。「同侧」「异侧」要看清。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69857" cy="909257"/>
            <a:chOff x="520446" y="342900"/>
            <a:chExt cx="57698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分波阵面干涉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698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例7.2　条纹间距与屏上某点的相位差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869180" cy="1937385"/>
            <a:chOff x="533400" y="1524000"/>
            <a:chExt cx="4869180" cy="19373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5981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8424" y="1769269"/>
              <a:ext cx="423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例7.2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053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杨氏实验中 λ = 640 nm，两缝间距 a = 0.4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mm，屏离缝 D = 50 cm。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731770"/>
              <a:ext cx="4234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① 两个第三级明纹之间的距离；② 屏上 P 点离中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央明纹中心 x = 0.1 mm，两束光到 P 的相位差。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651885"/>
            <a:ext cx="4869180" cy="1937385"/>
            <a:chOff x="533400" y="3651885"/>
            <a:chExt cx="4869180" cy="1937385"/>
          </a:xfrm>
        </p:grpSpPr>
        <p:sp>
          <p:nvSpPr>
            <p:cNvPr id="14" name="Rectangle 14"/>
            <p:cNvSpPr/>
            <p:nvPr/>
          </p:nvSpPr>
          <p:spPr>
            <a:xfrm>
              <a:off x="533400" y="3651885"/>
              <a:ext cx="4869180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785235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8614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71258" y="38971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检验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43014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4238625"/>
              <a:ext cx="3930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条纹间距 Dλ/a = 0.8 mm，x = 0.1 mm 是它的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1/8，相位差应为 2π/8 = π/4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492252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4859655"/>
              <a:ext cx="3891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不作近似、直接算 r₂ − r₁，同样得 8.0×10⁻⁸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</p:grpSp>
      <p:grpSp>
        <p:nvGrpSpPr>
          <p:cNvPr id="40" name="c2-steps-1"/>
          <p:cNvGrpSpPr/>
          <p:nvPr/>
        </p:nvGrpSpPr>
        <p:grpSpPr>
          <a:xfrm>
            <a:off x="5707380" y="1533525"/>
            <a:ext cx="5459712" cy="2529173"/>
            <a:chOff x="5707380" y="1533525"/>
            <a:chExt cx="5459712" cy="2529173"/>
          </a:xfrm>
        </p:grpSpPr>
        <p:sp>
          <p:nvSpPr>
            <p:cNvPr id="23" name="Rectangle 23"/>
            <p:cNvSpPr/>
            <p:nvPr/>
          </p:nvSpPr>
          <p:spPr>
            <a:xfrm>
              <a:off x="584073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570738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80100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70738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80100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70738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80100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707380" y="34861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0100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18860" y="15678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两个三级明纹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120003" y="1861661"/>
              <a:ext cx="39015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在中央明纹两侧，x = ±3Dλ/a，相距 Δk = 6 个间距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118860" y="221837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20003" y="2512219"/>
              <a:ext cx="50470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Δx = 6Dλ/a = 6 × 0.5 × 6.4×10⁻⁷/(0.4×10⁻³) m = 4.8×10⁻³ m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18860" y="286893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光程差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20003" y="3162776"/>
              <a:ext cx="43353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 = ax/D = 0.4×10⁻³ × 0.1×10⁻³/0.5 m = 8.0×10⁻⁸ m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118860" y="352044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相位差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120003" y="3813334"/>
              <a:ext cx="37737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Δφ = 2πδ/λ = 2π × 0.8×10⁻⁷/(6.4×10⁻⁷) = π/4</a:t>
              </a:r>
            </a:p>
          </p:txBody>
        </p:sp>
      </p:grpSp>
      <p:grpSp>
        <p:nvGrpSpPr>
          <p:cNvPr id="45" name="c2-card-2"/>
          <p:cNvGrpSpPr/>
          <p:nvPr/>
        </p:nvGrpSpPr>
        <p:grpSpPr>
          <a:xfrm>
            <a:off x="5707380" y="4241482"/>
            <a:ext cx="5951220" cy="1347788"/>
            <a:chOff x="5707380" y="4241482"/>
            <a:chExt cx="5951220" cy="1347788"/>
          </a:xfrm>
        </p:grpSpPr>
        <p:sp>
          <p:nvSpPr>
            <p:cNvPr id="41" name="Rectangle 41"/>
            <p:cNvSpPr/>
            <p:nvPr/>
          </p:nvSpPr>
          <p:spPr>
            <a:xfrm>
              <a:off x="5707380" y="4241482"/>
              <a:ext cx="5951220" cy="1347788"/>
            </a:xfrm>
            <a:prstGeom prst="roundRect">
              <a:avLst>
                <a:gd name="adj" fmla="val 9894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916930" y="4451032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12040" y="448675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909310" y="4828222"/>
              <a:ext cx="4558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① 4.8 mm；② Δφ = π/4。P 点光强 I = 4I₀cos²(π/8) ≈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3.41I₀。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6" name="Rectangle 4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130" y="5991225"/>
              <a:ext cx="83549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「两个第三级明纹」指中央两侧各一条，跨 6 个间距；「第三级明纹到中央明纹」只跨 3 个。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86262" cy="909257"/>
            <a:chOff x="520446" y="342900"/>
            <a:chExt cx="74862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分波阵面干涉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862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例7.3　缝后加介质片，零级明纹移向加片的一侧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768792"/>
            <a:chOff x="533400" y="1524000"/>
            <a:chExt cx="4977765" cy="17687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768792"/>
            </a:xfrm>
            <a:prstGeom prst="roundRect">
              <a:avLst>
                <a:gd name="adj" fmla="val 75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0209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574358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2153" y="1750695"/>
              <a:ext cx="3969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例7.3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43256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双缝实验中波长 λ 的单色光垂直入射，在缝 S₂ 与屏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之间放厚 d、折射率 n 的透明薄片。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632710"/>
              <a:ext cx="437711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原来的零级明纹怎样移动？若零级明纹移到原来第 k 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明纹处，d 是多少？</a:t>
              </a:r>
            </a:p>
          </p:txBody>
        </p:sp>
      </p:grpSp>
      <p:grpSp>
        <p:nvGrpSpPr>
          <p:cNvPr id="32" name="g_ex73"/>
          <p:cNvGrpSpPr/>
          <p:nvPr/>
        </p:nvGrpSpPr>
        <p:grpSpPr>
          <a:xfrm>
            <a:off x="1012363" y="3650932"/>
            <a:ext cx="4168871" cy="1786890"/>
            <a:chOff x="1012363" y="3650932"/>
            <a:chExt cx="4168871" cy="1786890"/>
          </a:xfrm>
        </p:grpSpPr>
        <p:sp>
          <p:nvSpPr>
            <p:cNvPr id="14" name="Freeform 14"/>
            <p:cNvSpPr/>
            <p:nvPr/>
          </p:nvSpPr>
          <p:spPr>
            <a:xfrm>
              <a:off x="1277302" y="3650932"/>
              <a:ext cx="9525" cy="536258"/>
            </a:xfrm>
            <a:custGeom>
              <a:avLst/>
              <a:gdLst/>
              <a:ahLst/>
              <a:cxnLst/>
              <a:rect l="l" t="t" r="r" b="b"/>
              <a:pathLst>
                <a:path w="9525" h="536258">
                  <a:moveTo>
                    <a:pt x="0" y="0"/>
                  </a:moveTo>
                  <a:lnTo>
                    <a:pt x="0" y="536258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277302" y="4310062"/>
              <a:ext cx="9525" cy="397192"/>
            </a:xfrm>
            <a:custGeom>
              <a:avLst/>
              <a:gdLst/>
              <a:ahLst/>
              <a:cxnLst/>
              <a:rect l="l" t="t" r="r" b="b"/>
              <a:pathLst>
                <a:path w="9525" h="397192">
                  <a:moveTo>
                    <a:pt x="0" y="0"/>
                  </a:moveTo>
                  <a:lnTo>
                    <a:pt x="0" y="397192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277302" y="4830128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4917758" y="3650932"/>
              <a:ext cx="9525" cy="1758315"/>
            </a:xfrm>
            <a:custGeom>
              <a:avLst/>
              <a:gdLst/>
              <a:ahLst/>
              <a:cxnLst/>
              <a:rect l="l" t="t" r="r" b="b"/>
              <a:pathLst>
                <a:path w="9525" h="1758315">
                  <a:moveTo>
                    <a:pt x="0" y="0"/>
                  </a:moveTo>
                  <a:lnTo>
                    <a:pt x="0" y="1758315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286828" y="4508182"/>
              <a:ext cx="3621405" cy="9525"/>
            </a:xfrm>
            <a:custGeom>
              <a:avLst/>
              <a:gdLst/>
              <a:ahLst/>
              <a:cxnLst/>
              <a:rect l="l" t="t" r="r" b="b"/>
              <a:pathLst>
                <a:path w="3621405" h="9525">
                  <a:moveTo>
                    <a:pt x="0" y="0"/>
                  </a:moveTo>
                  <a:lnTo>
                    <a:pt x="3621405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19" name="Freeform 19"/>
            <p:cNvSpPr/>
            <p:nvPr/>
          </p:nvSpPr>
          <p:spPr>
            <a:xfrm>
              <a:off x="1433512" y="4664392"/>
              <a:ext cx="139065" cy="242888"/>
            </a:xfrm>
            <a:custGeom>
              <a:avLst/>
              <a:gdLst/>
              <a:ahLst/>
              <a:cxnLst/>
              <a:rect l="l" t="t" r="r" b="b"/>
              <a:pathLst>
                <a:path w="139065" h="242888">
                  <a:moveTo>
                    <a:pt x="9525" y="0"/>
                  </a:moveTo>
                  <a:lnTo>
                    <a:pt x="139065" y="0"/>
                  </a:lnTo>
                  <a:lnTo>
                    <a:pt x="139065" y="242888"/>
                  </a:lnTo>
                  <a:lnTo>
                    <a:pt x="0" y="242888"/>
                  </a:lnTo>
                  <a:lnTo>
                    <a:pt x="0" y="0"/>
                  </a:lnTo>
                  <a:lnTo>
                    <a:pt x="129540" y="0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286828" y="4250055"/>
              <a:ext cx="3621405" cy="741998"/>
            </a:xfrm>
            <a:custGeom>
              <a:avLst/>
              <a:gdLst/>
              <a:ahLst/>
              <a:cxnLst/>
              <a:rect l="l" t="t" r="r" b="b"/>
              <a:pathLst>
                <a:path w="3621405" h="741998">
                  <a:moveTo>
                    <a:pt x="0" y="0"/>
                  </a:moveTo>
                  <a:lnTo>
                    <a:pt x="3621405" y="741998"/>
                  </a:lnTo>
                </a:path>
              </a:pathLst>
            </a:custGeom>
            <a:noFill/>
            <a:ln w="19050">
              <a:solidFill>
                <a:srgbClr val="2F4B9A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286828" y="4769168"/>
              <a:ext cx="3621405" cy="223838"/>
            </a:xfrm>
            <a:custGeom>
              <a:avLst/>
              <a:gdLst/>
              <a:ahLst/>
              <a:cxnLst/>
              <a:rect l="l" t="t" r="r" b="b"/>
              <a:pathLst>
                <a:path w="3621405" h="223838">
                  <a:moveTo>
                    <a:pt x="0" y="0"/>
                  </a:moveTo>
                  <a:lnTo>
                    <a:pt x="3621405" y="223838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4796790" y="4552950"/>
              <a:ext cx="9525" cy="283845"/>
            </a:xfrm>
            <a:custGeom>
              <a:avLst/>
              <a:gdLst/>
              <a:ahLst/>
              <a:cxnLst/>
              <a:rect l="l" t="t" r="r" b="b"/>
              <a:pathLst>
                <a:path w="9525" h="283845">
                  <a:moveTo>
                    <a:pt x="0" y="0"/>
                  </a:moveTo>
                  <a:lnTo>
                    <a:pt x="0" y="283845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749165" y="483679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4870132" y="4460558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4870132" y="4946332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12363" y="417671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12363" y="469677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63031" y="5013484"/>
              <a:ext cx="2800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n, d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992681" y="4401502"/>
              <a:ext cx="1282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966701" y="488727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O′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53914" y="5261610"/>
              <a:ext cx="120729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零级明纹移向 S₂ 一侧</a:t>
              </a:r>
            </a:p>
          </p:txBody>
        </p:sp>
      </p:grpSp>
      <p:grpSp>
        <p:nvGrpSpPr>
          <p:cNvPr id="50" name="c2-steps-1"/>
          <p:cNvGrpSpPr/>
          <p:nvPr/>
        </p:nvGrpSpPr>
        <p:grpSpPr>
          <a:xfrm>
            <a:off x="5815965" y="1533525"/>
            <a:ext cx="5616575" cy="2487454"/>
            <a:chOff x="5815965" y="1533525"/>
            <a:chExt cx="5616575" cy="2487454"/>
          </a:xfrm>
        </p:grpSpPr>
        <p:sp>
          <p:nvSpPr>
            <p:cNvPr id="33" name="Rectangle 33"/>
            <p:cNvSpPr/>
            <p:nvPr/>
          </p:nvSpPr>
          <p:spPr>
            <a:xfrm>
              <a:off x="5949315" y="1676400"/>
              <a:ext cx="19050" cy="19678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5815965" y="212026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09589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5815965" y="270700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909589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5815965" y="350139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909589" y="3575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228207" y="156495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放片前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229350" y="1833086"/>
              <a:ext cx="2689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 点 r₁ = r₂，光程差为零，是零级明纹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28207" y="21526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放片后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29350" y="2419826"/>
              <a:ext cx="3762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S₂ 这一路光程增加 (n − 1)d，δ = r₁ − [r₂ + (n − 1)d]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28207" y="273939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判方向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229350" y="3006566"/>
              <a:ext cx="520319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零级明纹要求 δ = 0，即 r₁ − r₂ = (n − 1)d &gt; 0，P 点离 S₂ 更近，所以零级明纹向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S₂ 一侧（图中向下）移动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28207" y="353282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求厚度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229350" y="3800951"/>
              <a:ext cx="3961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原第 k 级明纹处 r₁ − r₂ = kλ，现在是零级：(n − 1)d = kλ</a:t>
              </a:r>
            </a:p>
          </p:txBody>
        </p:sp>
      </p:grpSp>
      <p:grpSp>
        <p:nvGrpSpPr>
          <p:cNvPr id="55" name="c2-card-2"/>
          <p:cNvGrpSpPr/>
          <p:nvPr/>
        </p:nvGrpSpPr>
        <p:grpSpPr>
          <a:xfrm>
            <a:off x="5815965" y="4190048"/>
            <a:ext cx="5842635" cy="1358265"/>
            <a:chOff x="5815965" y="4190048"/>
            <a:chExt cx="5842635" cy="1358265"/>
          </a:xfrm>
        </p:grpSpPr>
        <p:sp>
          <p:nvSpPr>
            <p:cNvPr id="51" name="Rectangle 51"/>
            <p:cNvSpPr/>
            <p:nvPr/>
          </p:nvSpPr>
          <p:spPr>
            <a:xfrm>
              <a:off x="5815965" y="4190048"/>
              <a:ext cx="5842635" cy="1358265"/>
            </a:xfrm>
            <a:prstGeom prst="roundRect">
              <a:avLst>
                <a:gd name="adj" fmla="val 9818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008370" y="4382452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103811" y="441674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001512" y="4738687"/>
              <a:ext cx="37756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零级明纹向加片的一侧移动；d = kλ/(n − 1)。</a:t>
              </a:r>
            </a:p>
          </p:txBody>
        </p:sp>
      </p:grpSp>
      <p:grpSp>
        <p:nvGrpSpPr>
          <p:cNvPr id="62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6" name="Rectangle 56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040892" y="6023610"/>
              <a:ext cx="93213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整组条纹一起平移，间距 Dλ/a 不变，平移量 Δx = (n − 1)dD/a。数一数有几条明纹移过中心 O，就能反推 d 或 n。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分波阵面干涉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练习　云母片使第七级明纹移到中央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869180" cy="2233612"/>
            <a:chOff x="533400" y="1524000"/>
            <a:chExt cx="4869180" cy="22336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223361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6691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2443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双缝装置中，用很薄的云母片（n = 1.58）盖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住其中一条缝，屏幕上的第七级明纹恰好移到屏中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央原零级明纹的位置，λ = 5.5×10⁻⁷ m。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3017520"/>
              <a:ext cx="18629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云母片的厚度 e。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573" y="3349466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原课件只列出 e = 7λ/(n − 1)，没有代数，这里补全。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948112"/>
            <a:ext cx="4869180" cy="1323975"/>
            <a:chOff x="533400" y="3948112"/>
            <a:chExt cx="4869180" cy="1323975"/>
          </a:xfrm>
        </p:grpSpPr>
        <p:sp>
          <p:nvSpPr>
            <p:cNvPr id="15" name="Rectangle 15"/>
            <p:cNvSpPr/>
            <p:nvPr/>
          </p:nvSpPr>
          <p:spPr>
            <a:xfrm>
              <a:off x="533400" y="3948112"/>
              <a:ext cx="4869180" cy="1323975"/>
            </a:xfrm>
            <a:prstGeom prst="roundRect">
              <a:avLst>
                <a:gd name="adj" fmla="val 100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4081462"/>
              <a:ext cx="47625" cy="105727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415766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1258" y="41933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检验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3430" y="4534852"/>
              <a:ext cx="4044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(n − 1)e = 0.58 × 6.64 μm ≈ 3.85 μm，正好是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× 0.55 μm。</a:t>
              </a:r>
            </a:p>
          </p:txBody>
        </p:sp>
      </p:grpSp>
      <p:grpSp>
        <p:nvGrpSpPr>
          <p:cNvPr id="38" name="c2-steps-1"/>
          <p:cNvGrpSpPr/>
          <p:nvPr/>
        </p:nvGrpSpPr>
        <p:grpSpPr>
          <a:xfrm>
            <a:off x="5707380" y="1533525"/>
            <a:ext cx="4941819" cy="2529173"/>
            <a:chOff x="5707380" y="1533525"/>
            <a:chExt cx="4941819" cy="2529173"/>
          </a:xfrm>
        </p:grpSpPr>
        <p:sp>
          <p:nvSpPr>
            <p:cNvPr id="21" name="Rectangle 21"/>
            <p:cNvSpPr/>
            <p:nvPr/>
          </p:nvSpPr>
          <p:spPr>
            <a:xfrm>
              <a:off x="584073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570738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80100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70738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80100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70738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80100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707380" y="34861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80100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118860" y="1567815"/>
              <a:ext cx="856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看中心 O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20003" y="1861661"/>
              <a:ext cx="33057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 点两缝几何路程相等，盖片前是零级明纹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18860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盖片后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120003" y="2512219"/>
              <a:ext cx="45291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盖片那一路光程多出 (n − 1)e，O 点的光程差 δ = (n − 1)e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118860" y="2868930"/>
              <a:ext cx="12601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第七级移到 O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20003" y="3162776"/>
              <a:ext cx="22374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 点变成第七级明纹，δ = 7λ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18860" y="35204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解出厚度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20003" y="3813334"/>
              <a:ext cx="43035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= 7λ/(n − 1) = 7 × 5.5×10⁻⁷/0.58 m ≈ 6.64×10⁻⁶ m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5707380" y="4241482"/>
            <a:ext cx="5951220" cy="1030605"/>
            <a:chOff x="5707380" y="4241482"/>
            <a:chExt cx="5951220" cy="1030605"/>
          </a:xfrm>
        </p:grpSpPr>
        <p:sp>
          <p:nvSpPr>
            <p:cNvPr id="39" name="Rectangle 39"/>
            <p:cNvSpPr/>
            <p:nvPr/>
          </p:nvSpPr>
          <p:spPr>
            <a:xfrm>
              <a:off x="5707380" y="4241482"/>
              <a:ext cx="5951220" cy="1030605"/>
            </a:xfrm>
            <a:prstGeom prst="roundRect">
              <a:avLst>
                <a:gd name="adj" fmla="val 12939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916930" y="4451032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012040" y="448675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909310" y="4828222"/>
              <a:ext cx="12167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 ≈ 6.6 μm。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4" name="Rectangle 4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84631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和例7.3 是同一件事：盖片后 O 点光程差为 (n − 1)e，是 λ 的几倍，O 点就变成第几级明纹。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分波阵面干涉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　白光双缝的彩色带：只有第一级是干净的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594485"/>
            <a:chOff x="533400" y="1524000"/>
            <a:chExt cx="5410200" cy="15944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594485"/>
            </a:xfrm>
            <a:prstGeom prst="roundRect">
              <a:avLst>
                <a:gd name="adj" fmla="val 83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277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0445" y="176355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461314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白光（400～760 nm）垂直入射到 a = 0.25 mm 的双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缝，屏距 D = 50 cm。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692241"/>
              <a:ext cx="33215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第一级和第五级明纹彩色带的宽度。</a:t>
              </a:r>
            </a:p>
          </p:txBody>
        </p:sp>
      </p:grpSp>
      <p:grpSp>
        <p:nvGrpSpPr>
          <p:cNvPr id="27" name="c1-steps-2"/>
          <p:cNvGrpSpPr/>
          <p:nvPr/>
        </p:nvGrpSpPr>
        <p:grpSpPr>
          <a:xfrm>
            <a:off x="533400" y="3313748"/>
            <a:ext cx="4974793" cy="1790128"/>
            <a:chOff x="533400" y="3313748"/>
            <a:chExt cx="4974793" cy="1790128"/>
          </a:xfrm>
        </p:grpSpPr>
        <p:sp>
          <p:nvSpPr>
            <p:cNvPr id="14" name="Rectangle 14"/>
            <p:cNvSpPr/>
            <p:nvPr/>
          </p:nvSpPr>
          <p:spPr>
            <a:xfrm>
              <a:off x="666750" y="3456622"/>
              <a:ext cx="19050" cy="1242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33400" y="331374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33875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393477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7024" y="40085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455580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7024" y="46296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5261" y="334660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位置公式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404" y="3627120"/>
              <a:ext cx="30008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kDλ/a，同一级里紫光在内、红光在外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5261" y="396763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彩带宽度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404" y="4248150"/>
              <a:ext cx="45617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Δxₖ = kD(λ红 − λ紫)/a = k × 0.5 × 3.6×10⁻⁷/(0.25×10⁻³) m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5261" y="458866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404" y="4869180"/>
              <a:ext cx="29846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1：7.2×10⁻⁴ m；k = 5：3.6×10⁻³ m</a:t>
              </a:r>
            </a:p>
          </p:txBody>
        </p:sp>
      </p:grpSp>
      <p:grpSp>
        <p:nvGrpSpPr>
          <p:cNvPr id="32" name="c1-card-3"/>
          <p:cNvGrpSpPr/>
          <p:nvPr/>
        </p:nvGrpSpPr>
        <p:grpSpPr>
          <a:xfrm>
            <a:off x="533400" y="5279708"/>
            <a:ext cx="5410200" cy="1002982"/>
            <a:chOff x="533400" y="5279708"/>
            <a:chExt cx="5410200" cy="1002982"/>
          </a:xfrm>
        </p:grpSpPr>
        <p:sp>
          <p:nvSpPr>
            <p:cNvPr id="28" name="Rectangle 28"/>
            <p:cNvSpPr/>
            <p:nvPr/>
          </p:nvSpPr>
          <p:spPr>
            <a:xfrm>
              <a:off x="533400" y="5279708"/>
              <a:ext cx="5410200" cy="1002982"/>
            </a:xfrm>
            <a:prstGeom prst="roundRect">
              <a:avLst>
                <a:gd name="adj" fmla="val 13295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7235" y="5483542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2345" y="55192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29996" y="5856446"/>
              <a:ext cx="36560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第一级彩带宽 0.72 mm，第五级 3.6 mm。</a:t>
              </a:r>
            </a:p>
          </p:txBody>
        </p:sp>
      </p:grpSp>
      <p:grpSp>
        <p:nvGrpSpPr>
          <p:cNvPr id="61" name="g_white"/>
          <p:cNvGrpSpPr/>
          <p:nvPr/>
        </p:nvGrpSpPr>
        <p:grpSpPr>
          <a:xfrm>
            <a:off x="6700838" y="1662589"/>
            <a:ext cx="4775384" cy="2212847"/>
            <a:chOff x="6700838" y="1662589"/>
            <a:chExt cx="4775384" cy="2212847"/>
          </a:xfrm>
        </p:grpSpPr>
        <p:sp>
          <p:nvSpPr>
            <p:cNvPr id="33" name="Freeform 33"/>
            <p:cNvSpPr/>
            <p:nvPr/>
          </p:nvSpPr>
          <p:spPr>
            <a:xfrm>
              <a:off x="6707505" y="1893570"/>
              <a:ext cx="4603432" cy="1385888"/>
            </a:xfrm>
            <a:custGeom>
              <a:avLst/>
              <a:gdLst/>
              <a:ahLst/>
              <a:cxnLst/>
              <a:rect l="l" t="t" r="r" b="b"/>
              <a:pathLst>
                <a:path w="4603432" h="1385888">
                  <a:moveTo>
                    <a:pt x="0" y="1381125"/>
                  </a:moveTo>
                  <a:lnTo>
                    <a:pt x="5715" y="1377315"/>
                  </a:lnTo>
                  <a:lnTo>
                    <a:pt x="20002" y="1351597"/>
                  </a:lnTo>
                  <a:lnTo>
                    <a:pt x="35242" y="1310640"/>
                  </a:lnTo>
                  <a:lnTo>
                    <a:pt x="49530" y="1253490"/>
                  </a:lnTo>
                  <a:lnTo>
                    <a:pt x="63817" y="1183005"/>
                  </a:lnTo>
                  <a:lnTo>
                    <a:pt x="78105" y="1100138"/>
                  </a:lnTo>
                  <a:lnTo>
                    <a:pt x="92392" y="1007745"/>
                  </a:lnTo>
                  <a:lnTo>
                    <a:pt x="107632" y="906780"/>
                  </a:lnTo>
                  <a:lnTo>
                    <a:pt x="120967" y="801052"/>
                  </a:lnTo>
                  <a:lnTo>
                    <a:pt x="136207" y="693420"/>
                  </a:lnTo>
                  <a:lnTo>
                    <a:pt x="150495" y="584835"/>
                  </a:lnTo>
                  <a:lnTo>
                    <a:pt x="164782" y="479107"/>
                  </a:lnTo>
                  <a:lnTo>
                    <a:pt x="179070" y="378142"/>
                  </a:lnTo>
                  <a:lnTo>
                    <a:pt x="194310" y="285750"/>
                  </a:lnTo>
                  <a:lnTo>
                    <a:pt x="207645" y="202882"/>
                  </a:lnTo>
                  <a:lnTo>
                    <a:pt x="222885" y="132397"/>
                  </a:lnTo>
                  <a:lnTo>
                    <a:pt x="237172" y="75247"/>
                  </a:lnTo>
                  <a:lnTo>
                    <a:pt x="251460" y="34290"/>
                  </a:lnTo>
                  <a:lnTo>
                    <a:pt x="265747" y="8572"/>
                  </a:lnTo>
                  <a:lnTo>
                    <a:pt x="280035" y="0"/>
                  </a:lnTo>
                  <a:lnTo>
                    <a:pt x="294322" y="8572"/>
                  </a:lnTo>
                  <a:lnTo>
                    <a:pt x="309562" y="34290"/>
                  </a:lnTo>
                  <a:lnTo>
                    <a:pt x="323850" y="75247"/>
                  </a:lnTo>
                  <a:lnTo>
                    <a:pt x="338138" y="132397"/>
                  </a:lnTo>
                  <a:lnTo>
                    <a:pt x="352425" y="202882"/>
                  </a:lnTo>
                  <a:lnTo>
                    <a:pt x="366712" y="285750"/>
                  </a:lnTo>
                  <a:lnTo>
                    <a:pt x="381952" y="378142"/>
                  </a:lnTo>
                  <a:lnTo>
                    <a:pt x="395288" y="479107"/>
                  </a:lnTo>
                  <a:lnTo>
                    <a:pt x="410527" y="584835"/>
                  </a:lnTo>
                  <a:lnTo>
                    <a:pt x="424815" y="693420"/>
                  </a:lnTo>
                  <a:lnTo>
                    <a:pt x="439102" y="801052"/>
                  </a:lnTo>
                  <a:lnTo>
                    <a:pt x="453390" y="906780"/>
                  </a:lnTo>
                  <a:lnTo>
                    <a:pt x="468630" y="1007745"/>
                  </a:lnTo>
                  <a:lnTo>
                    <a:pt x="481965" y="1100138"/>
                  </a:lnTo>
                  <a:lnTo>
                    <a:pt x="497205" y="1183005"/>
                  </a:lnTo>
                  <a:lnTo>
                    <a:pt x="511492" y="1253490"/>
                  </a:lnTo>
                  <a:lnTo>
                    <a:pt x="525780" y="1310640"/>
                  </a:lnTo>
                  <a:lnTo>
                    <a:pt x="540067" y="1351597"/>
                  </a:lnTo>
                  <a:lnTo>
                    <a:pt x="554355" y="1377315"/>
                  </a:lnTo>
                  <a:lnTo>
                    <a:pt x="568642" y="1385888"/>
                  </a:lnTo>
                  <a:lnTo>
                    <a:pt x="583882" y="1377315"/>
                  </a:lnTo>
                  <a:lnTo>
                    <a:pt x="598170" y="1351597"/>
                  </a:lnTo>
                  <a:lnTo>
                    <a:pt x="612457" y="1310640"/>
                  </a:lnTo>
                  <a:lnTo>
                    <a:pt x="626745" y="1253490"/>
                  </a:lnTo>
                  <a:lnTo>
                    <a:pt x="641032" y="1183005"/>
                  </a:lnTo>
                  <a:lnTo>
                    <a:pt x="656272" y="1100138"/>
                  </a:lnTo>
                  <a:lnTo>
                    <a:pt x="669607" y="1007745"/>
                  </a:lnTo>
                  <a:lnTo>
                    <a:pt x="684847" y="906780"/>
                  </a:lnTo>
                  <a:lnTo>
                    <a:pt x="699135" y="801052"/>
                  </a:lnTo>
                  <a:lnTo>
                    <a:pt x="713422" y="693420"/>
                  </a:lnTo>
                  <a:lnTo>
                    <a:pt x="727710" y="584835"/>
                  </a:lnTo>
                  <a:lnTo>
                    <a:pt x="742950" y="479107"/>
                  </a:lnTo>
                  <a:lnTo>
                    <a:pt x="756285" y="378142"/>
                  </a:lnTo>
                  <a:lnTo>
                    <a:pt x="771525" y="285750"/>
                  </a:lnTo>
                  <a:lnTo>
                    <a:pt x="785812" y="202882"/>
                  </a:lnTo>
                  <a:lnTo>
                    <a:pt x="800100" y="132397"/>
                  </a:lnTo>
                  <a:lnTo>
                    <a:pt x="814388" y="75247"/>
                  </a:lnTo>
                  <a:lnTo>
                    <a:pt x="828675" y="34290"/>
                  </a:lnTo>
                  <a:lnTo>
                    <a:pt x="842962" y="8572"/>
                  </a:lnTo>
                  <a:lnTo>
                    <a:pt x="858202" y="0"/>
                  </a:lnTo>
                  <a:lnTo>
                    <a:pt x="872490" y="8572"/>
                  </a:lnTo>
                  <a:lnTo>
                    <a:pt x="886777" y="34290"/>
                  </a:lnTo>
                  <a:lnTo>
                    <a:pt x="901065" y="75247"/>
                  </a:lnTo>
                  <a:lnTo>
                    <a:pt x="915352" y="132397"/>
                  </a:lnTo>
                  <a:lnTo>
                    <a:pt x="930592" y="202882"/>
                  </a:lnTo>
                  <a:lnTo>
                    <a:pt x="943927" y="285750"/>
                  </a:lnTo>
                  <a:lnTo>
                    <a:pt x="959167" y="378142"/>
                  </a:lnTo>
                  <a:lnTo>
                    <a:pt x="973455" y="479107"/>
                  </a:lnTo>
                  <a:lnTo>
                    <a:pt x="987742" y="584835"/>
                  </a:lnTo>
                  <a:lnTo>
                    <a:pt x="1002030" y="693420"/>
                  </a:lnTo>
                  <a:lnTo>
                    <a:pt x="1017270" y="801052"/>
                  </a:lnTo>
                  <a:lnTo>
                    <a:pt x="1030605" y="906780"/>
                  </a:lnTo>
                  <a:lnTo>
                    <a:pt x="1045845" y="1007745"/>
                  </a:lnTo>
                  <a:lnTo>
                    <a:pt x="1060132" y="1100138"/>
                  </a:lnTo>
                  <a:lnTo>
                    <a:pt x="1074420" y="1183005"/>
                  </a:lnTo>
                  <a:lnTo>
                    <a:pt x="1088707" y="1253490"/>
                  </a:lnTo>
                  <a:lnTo>
                    <a:pt x="1102995" y="1310640"/>
                  </a:lnTo>
                  <a:lnTo>
                    <a:pt x="1117282" y="1351597"/>
                  </a:lnTo>
                  <a:lnTo>
                    <a:pt x="1131570" y="1377315"/>
                  </a:lnTo>
                  <a:lnTo>
                    <a:pt x="1146810" y="1385888"/>
                  </a:lnTo>
                  <a:lnTo>
                    <a:pt x="1161097" y="1377315"/>
                  </a:lnTo>
                  <a:lnTo>
                    <a:pt x="1175385" y="1351597"/>
                  </a:lnTo>
                  <a:lnTo>
                    <a:pt x="1189672" y="1310640"/>
                  </a:lnTo>
                  <a:lnTo>
                    <a:pt x="1204912" y="1253490"/>
                  </a:lnTo>
                  <a:lnTo>
                    <a:pt x="1218247" y="1183005"/>
                  </a:lnTo>
                  <a:lnTo>
                    <a:pt x="1233488" y="1100138"/>
                  </a:lnTo>
                  <a:lnTo>
                    <a:pt x="1247775" y="1007745"/>
                  </a:lnTo>
                  <a:lnTo>
                    <a:pt x="1262062" y="906780"/>
                  </a:lnTo>
                  <a:lnTo>
                    <a:pt x="1276350" y="801052"/>
                  </a:lnTo>
                  <a:lnTo>
                    <a:pt x="1290638" y="693420"/>
                  </a:lnTo>
                  <a:lnTo>
                    <a:pt x="1304925" y="584835"/>
                  </a:lnTo>
                  <a:lnTo>
                    <a:pt x="1320165" y="479107"/>
                  </a:lnTo>
                  <a:lnTo>
                    <a:pt x="1334452" y="378142"/>
                  </a:lnTo>
                  <a:lnTo>
                    <a:pt x="1348740" y="285750"/>
                  </a:lnTo>
                  <a:lnTo>
                    <a:pt x="1363027" y="202882"/>
                  </a:lnTo>
                  <a:lnTo>
                    <a:pt x="1377315" y="132397"/>
                  </a:lnTo>
                  <a:lnTo>
                    <a:pt x="1391602" y="75247"/>
                  </a:lnTo>
                  <a:lnTo>
                    <a:pt x="1405890" y="34290"/>
                  </a:lnTo>
                  <a:lnTo>
                    <a:pt x="1421130" y="8572"/>
                  </a:lnTo>
                  <a:lnTo>
                    <a:pt x="1435417" y="0"/>
                  </a:lnTo>
                  <a:lnTo>
                    <a:pt x="1449705" y="8572"/>
                  </a:lnTo>
                  <a:lnTo>
                    <a:pt x="1463992" y="34290"/>
                  </a:lnTo>
                  <a:lnTo>
                    <a:pt x="1479232" y="75247"/>
                  </a:lnTo>
                  <a:lnTo>
                    <a:pt x="1492567" y="132397"/>
                  </a:lnTo>
                  <a:lnTo>
                    <a:pt x="1507807" y="202882"/>
                  </a:lnTo>
                  <a:lnTo>
                    <a:pt x="1522095" y="285750"/>
                  </a:lnTo>
                  <a:lnTo>
                    <a:pt x="1536382" y="378142"/>
                  </a:lnTo>
                  <a:lnTo>
                    <a:pt x="1550670" y="479107"/>
                  </a:lnTo>
                  <a:lnTo>
                    <a:pt x="1564957" y="584835"/>
                  </a:lnTo>
                  <a:lnTo>
                    <a:pt x="1579245" y="693420"/>
                  </a:lnTo>
                  <a:lnTo>
                    <a:pt x="1594485" y="801052"/>
                  </a:lnTo>
                  <a:lnTo>
                    <a:pt x="1608772" y="906780"/>
                  </a:lnTo>
                  <a:lnTo>
                    <a:pt x="1623060" y="1007745"/>
                  </a:lnTo>
                  <a:lnTo>
                    <a:pt x="1637347" y="1100138"/>
                  </a:lnTo>
                  <a:lnTo>
                    <a:pt x="1651635" y="1183005"/>
                  </a:lnTo>
                  <a:lnTo>
                    <a:pt x="1665922" y="1253490"/>
                  </a:lnTo>
                  <a:lnTo>
                    <a:pt x="1680210" y="1310640"/>
                  </a:lnTo>
                  <a:lnTo>
                    <a:pt x="1695450" y="1351597"/>
                  </a:lnTo>
                  <a:lnTo>
                    <a:pt x="1709738" y="1377315"/>
                  </a:lnTo>
                  <a:lnTo>
                    <a:pt x="1724025" y="1385888"/>
                  </a:lnTo>
                  <a:lnTo>
                    <a:pt x="1738312" y="1377315"/>
                  </a:lnTo>
                  <a:lnTo>
                    <a:pt x="1752600" y="1351597"/>
                  </a:lnTo>
                  <a:lnTo>
                    <a:pt x="1766888" y="1310640"/>
                  </a:lnTo>
                  <a:lnTo>
                    <a:pt x="1782127" y="1253490"/>
                  </a:lnTo>
                  <a:lnTo>
                    <a:pt x="1796415" y="1183005"/>
                  </a:lnTo>
                  <a:lnTo>
                    <a:pt x="1810702" y="1100138"/>
                  </a:lnTo>
                  <a:lnTo>
                    <a:pt x="1824990" y="1007745"/>
                  </a:lnTo>
                  <a:lnTo>
                    <a:pt x="1839277" y="906780"/>
                  </a:lnTo>
                  <a:lnTo>
                    <a:pt x="1853565" y="801052"/>
                  </a:lnTo>
                  <a:lnTo>
                    <a:pt x="1868805" y="693420"/>
                  </a:lnTo>
                  <a:lnTo>
                    <a:pt x="1883092" y="584835"/>
                  </a:lnTo>
                  <a:lnTo>
                    <a:pt x="1897380" y="479107"/>
                  </a:lnTo>
                  <a:lnTo>
                    <a:pt x="1911667" y="378142"/>
                  </a:lnTo>
                  <a:lnTo>
                    <a:pt x="1925955" y="285750"/>
                  </a:lnTo>
                  <a:lnTo>
                    <a:pt x="1940242" y="202882"/>
                  </a:lnTo>
                  <a:lnTo>
                    <a:pt x="1954530" y="132397"/>
                  </a:lnTo>
                  <a:lnTo>
                    <a:pt x="1969770" y="75247"/>
                  </a:lnTo>
                  <a:lnTo>
                    <a:pt x="1984057" y="34290"/>
                  </a:lnTo>
                  <a:lnTo>
                    <a:pt x="1998345" y="8572"/>
                  </a:lnTo>
                  <a:lnTo>
                    <a:pt x="2012632" y="0"/>
                  </a:lnTo>
                  <a:lnTo>
                    <a:pt x="2026920" y="8572"/>
                  </a:lnTo>
                  <a:lnTo>
                    <a:pt x="2041207" y="34290"/>
                  </a:lnTo>
                  <a:lnTo>
                    <a:pt x="2056447" y="75247"/>
                  </a:lnTo>
                  <a:lnTo>
                    <a:pt x="2070735" y="132397"/>
                  </a:lnTo>
                  <a:lnTo>
                    <a:pt x="2085022" y="202882"/>
                  </a:lnTo>
                  <a:lnTo>
                    <a:pt x="2099310" y="285750"/>
                  </a:lnTo>
                  <a:lnTo>
                    <a:pt x="2113598" y="378142"/>
                  </a:lnTo>
                  <a:lnTo>
                    <a:pt x="2127885" y="479107"/>
                  </a:lnTo>
                  <a:lnTo>
                    <a:pt x="2143125" y="584835"/>
                  </a:lnTo>
                  <a:lnTo>
                    <a:pt x="2157412" y="693420"/>
                  </a:lnTo>
                  <a:lnTo>
                    <a:pt x="2171700" y="801052"/>
                  </a:lnTo>
                  <a:lnTo>
                    <a:pt x="2185988" y="906780"/>
                  </a:lnTo>
                  <a:lnTo>
                    <a:pt x="2200275" y="1007745"/>
                  </a:lnTo>
                  <a:lnTo>
                    <a:pt x="2214562" y="1100138"/>
                  </a:lnTo>
                  <a:lnTo>
                    <a:pt x="2228850" y="1183005"/>
                  </a:lnTo>
                  <a:lnTo>
                    <a:pt x="2244090" y="1253490"/>
                  </a:lnTo>
                  <a:lnTo>
                    <a:pt x="2257425" y="1310640"/>
                  </a:lnTo>
                  <a:lnTo>
                    <a:pt x="2272665" y="1351597"/>
                  </a:lnTo>
                  <a:lnTo>
                    <a:pt x="2286952" y="1377315"/>
                  </a:lnTo>
                  <a:lnTo>
                    <a:pt x="2301240" y="1385888"/>
                  </a:lnTo>
                  <a:lnTo>
                    <a:pt x="2315527" y="1377315"/>
                  </a:lnTo>
                  <a:lnTo>
                    <a:pt x="2330767" y="1351597"/>
                  </a:lnTo>
                  <a:lnTo>
                    <a:pt x="2345055" y="1310640"/>
                  </a:lnTo>
                  <a:lnTo>
                    <a:pt x="2359342" y="1253490"/>
                  </a:lnTo>
                  <a:lnTo>
                    <a:pt x="2373630" y="1183005"/>
                  </a:lnTo>
                  <a:lnTo>
                    <a:pt x="2387917" y="1100138"/>
                  </a:lnTo>
                  <a:lnTo>
                    <a:pt x="2402205" y="1007745"/>
                  </a:lnTo>
                  <a:lnTo>
                    <a:pt x="2416492" y="906780"/>
                  </a:lnTo>
                  <a:lnTo>
                    <a:pt x="2431732" y="801052"/>
                  </a:lnTo>
                  <a:lnTo>
                    <a:pt x="2446020" y="693420"/>
                  </a:lnTo>
                  <a:lnTo>
                    <a:pt x="2460307" y="584835"/>
                  </a:lnTo>
                  <a:lnTo>
                    <a:pt x="2474595" y="479107"/>
                  </a:lnTo>
                  <a:lnTo>
                    <a:pt x="2488882" y="378142"/>
                  </a:lnTo>
                  <a:lnTo>
                    <a:pt x="2503170" y="285750"/>
                  </a:lnTo>
                  <a:lnTo>
                    <a:pt x="2518410" y="202882"/>
                  </a:lnTo>
                  <a:lnTo>
                    <a:pt x="2531745" y="132397"/>
                  </a:lnTo>
                  <a:lnTo>
                    <a:pt x="2546985" y="75247"/>
                  </a:lnTo>
                  <a:lnTo>
                    <a:pt x="2561272" y="34290"/>
                  </a:lnTo>
                  <a:lnTo>
                    <a:pt x="2575560" y="8572"/>
                  </a:lnTo>
                  <a:lnTo>
                    <a:pt x="2589848" y="0"/>
                  </a:lnTo>
                  <a:lnTo>
                    <a:pt x="2605088" y="8572"/>
                  </a:lnTo>
                  <a:lnTo>
                    <a:pt x="2619375" y="34290"/>
                  </a:lnTo>
                  <a:lnTo>
                    <a:pt x="2633662" y="75247"/>
                  </a:lnTo>
                  <a:lnTo>
                    <a:pt x="2647950" y="132397"/>
                  </a:lnTo>
                  <a:lnTo>
                    <a:pt x="2662238" y="202882"/>
                  </a:lnTo>
                  <a:lnTo>
                    <a:pt x="2676525" y="285750"/>
                  </a:lnTo>
                  <a:lnTo>
                    <a:pt x="2690812" y="378142"/>
                  </a:lnTo>
                  <a:lnTo>
                    <a:pt x="2706052" y="479107"/>
                  </a:lnTo>
                  <a:lnTo>
                    <a:pt x="2720340" y="584835"/>
                  </a:lnTo>
                  <a:lnTo>
                    <a:pt x="2734627" y="693420"/>
                  </a:lnTo>
                  <a:lnTo>
                    <a:pt x="2748915" y="801052"/>
                  </a:lnTo>
                  <a:lnTo>
                    <a:pt x="2763202" y="906780"/>
                  </a:lnTo>
                  <a:lnTo>
                    <a:pt x="2777490" y="1007745"/>
                  </a:lnTo>
                  <a:lnTo>
                    <a:pt x="2792730" y="1100138"/>
                  </a:lnTo>
                  <a:lnTo>
                    <a:pt x="2806065" y="1183005"/>
                  </a:lnTo>
                  <a:lnTo>
                    <a:pt x="2821305" y="1253490"/>
                  </a:lnTo>
                  <a:lnTo>
                    <a:pt x="2835592" y="1310640"/>
                  </a:lnTo>
                  <a:lnTo>
                    <a:pt x="2849880" y="1351597"/>
                  </a:lnTo>
                  <a:lnTo>
                    <a:pt x="2864167" y="1377315"/>
                  </a:lnTo>
                  <a:lnTo>
                    <a:pt x="2879407" y="1385888"/>
                  </a:lnTo>
                  <a:lnTo>
                    <a:pt x="2892742" y="1377315"/>
                  </a:lnTo>
                  <a:lnTo>
                    <a:pt x="2907982" y="1351597"/>
                  </a:lnTo>
                  <a:lnTo>
                    <a:pt x="2922270" y="1310640"/>
                  </a:lnTo>
                  <a:lnTo>
                    <a:pt x="2936557" y="1253490"/>
                  </a:lnTo>
                  <a:lnTo>
                    <a:pt x="2950845" y="1183005"/>
                  </a:lnTo>
                  <a:lnTo>
                    <a:pt x="2965132" y="1100138"/>
                  </a:lnTo>
                  <a:lnTo>
                    <a:pt x="2980372" y="1007745"/>
                  </a:lnTo>
                  <a:lnTo>
                    <a:pt x="2994660" y="906780"/>
                  </a:lnTo>
                  <a:lnTo>
                    <a:pt x="3008948" y="801052"/>
                  </a:lnTo>
                  <a:lnTo>
                    <a:pt x="3023235" y="693420"/>
                  </a:lnTo>
                  <a:lnTo>
                    <a:pt x="3037522" y="584835"/>
                  </a:lnTo>
                  <a:lnTo>
                    <a:pt x="3051810" y="479107"/>
                  </a:lnTo>
                  <a:lnTo>
                    <a:pt x="3067050" y="378142"/>
                  </a:lnTo>
                  <a:lnTo>
                    <a:pt x="3080385" y="285750"/>
                  </a:lnTo>
                  <a:lnTo>
                    <a:pt x="3095625" y="202882"/>
                  </a:lnTo>
                  <a:lnTo>
                    <a:pt x="3109912" y="132397"/>
                  </a:lnTo>
                  <a:lnTo>
                    <a:pt x="3124200" y="75247"/>
                  </a:lnTo>
                  <a:lnTo>
                    <a:pt x="3138488" y="34290"/>
                  </a:lnTo>
                  <a:lnTo>
                    <a:pt x="3153727" y="8572"/>
                  </a:lnTo>
                  <a:lnTo>
                    <a:pt x="3167062" y="0"/>
                  </a:lnTo>
                  <a:lnTo>
                    <a:pt x="3182302" y="8572"/>
                  </a:lnTo>
                  <a:lnTo>
                    <a:pt x="3196590" y="34290"/>
                  </a:lnTo>
                  <a:lnTo>
                    <a:pt x="3210877" y="75247"/>
                  </a:lnTo>
                  <a:lnTo>
                    <a:pt x="3225165" y="132397"/>
                  </a:lnTo>
                  <a:lnTo>
                    <a:pt x="3239452" y="202882"/>
                  </a:lnTo>
                  <a:lnTo>
                    <a:pt x="3254693" y="285750"/>
                  </a:lnTo>
                  <a:lnTo>
                    <a:pt x="3268980" y="378142"/>
                  </a:lnTo>
                  <a:lnTo>
                    <a:pt x="3283268" y="479107"/>
                  </a:lnTo>
                  <a:lnTo>
                    <a:pt x="3297555" y="584835"/>
                  </a:lnTo>
                  <a:lnTo>
                    <a:pt x="3311843" y="693420"/>
                  </a:lnTo>
                  <a:lnTo>
                    <a:pt x="3326130" y="801052"/>
                  </a:lnTo>
                  <a:lnTo>
                    <a:pt x="3341370" y="906780"/>
                  </a:lnTo>
                  <a:lnTo>
                    <a:pt x="3354705" y="1007745"/>
                  </a:lnTo>
                  <a:lnTo>
                    <a:pt x="3369945" y="1100138"/>
                  </a:lnTo>
                  <a:lnTo>
                    <a:pt x="3384232" y="1183005"/>
                  </a:lnTo>
                  <a:lnTo>
                    <a:pt x="3398520" y="1253490"/>
                  </a:lnTo>
                  <a:lnTo>
                    <a:pt x="3412807" y="1310640"/>
                  </a:lnTo>
                  <a:lnTo>
                    <a:pt x="3428047" y="1351597"/>
                  </a:lnTo>
                  <a:lnTo>
                    <a:pt x="3441382" y="1377315"/>
                  </a:lnTo>
                  <a:lnTo>
                    <a:pt x="3456622" y="1385888"/>
                  </a:lnTo>
                  <a:lnTo>
                    <a:pt x="3470910" y="1377315"/>
                  </a:lnTo>
                  <a:lnTo>
                    <a:pt x="3485197" y="1351597"/>
                  </a:lnTo>
                  <a:lnTo>
                    <a:pt x="3499485" y="1310640"/>
                  </a:lnTo>
                  <a:lnTo>
                    <a:pt x="3513772" y="1253490"/>
                  </a:lnTo>
                  <a:lnTo>
                    <a:pt x="3529012" y="1183005"/>
                  </a:lnTo>
                  <a:lnTo>
                    <a:pt x="3542347" y="1100138"/>
                  </a:lnTo>
                  <a:lnTo>
                    <a:pt x="3557588" y="1007745"/>
                  </a:lnTo>
                  <a:lnTo>
                    <a:pt x="3571875" y="906780"/>
                  </a:lnTo>
                  <a:lnTo>
                    <a:pt x="3586162" y="801052"/>
                  </a:lnTo>
                  <a:lnTo>
                    <a:pt x="3600450" y="693420"/>
                  </a:lnTo>
                  <a:lnTo>
                    <a:pt x="3615690" y="584835"/>
                  </a:lnTo>
                  <a:lnTo>
                    <a:pt x="3629025" y="479107"/>
                  </a:lnTo>
                  <a:lnTo>
                    <a:pt x="3644265" y="378142"/>
                  </a:lnTo>
                  <a:lnTo>
                    <a:pt x="3658552" y="285750"/>
                  </a:lnTo>
                  <a:lnTo>
                    <a:pt x="3672840" y="202882"/>
                  </a:lnTo>
                  <a:lnTo>
                    <a:pt x="3687127" y="132397"/>
                  </a:lnTo>
                  <a:lnTo>
                    <a:pt x="3701415" y="75247"/>
                  </a:lnTo>
                  <a:lnTo>
                    <a:pt x="3715702" y="34290"/>
                  </a:lnTo>
                  <a:lnTo>
                    <a:pt x="3730943" y="8572"/>
                  </a:lnTo>
                  <a:lnTo>
                    <a:pt x="3745230" y="0"/>
                  </a:lnTo>
                  <a:lnTo>
                    <a:pt x="3759518" y="8572"/>
                  </a:lnTo>
                  <a:lnTo>
                    <a:pt x="3773805" y="34290"/>
                  </a:lnTo>
                  <a:lnTo>
                    <a:pt x="3788093" y="75247"/>
                  </a:lnTo>
                  <a:lnTo>
                    <a:pt x="3803332" y="132397"/>
                  </a:lnTo>
                  <a:lnTo>
                    <a:pt x="3816668" y="202882"/>
                  </a:lnTo>
                  <a:lnTo>
                    <a:pt x="3831907" y="285750"/>
                  </a:lnTo>
                  <a:lnTo>
                    <a:pt x="3846195" y="378142"/>
                  </a:lnTo>
                  <a:lnTo>
                    <a:pt x="3860482" y="479107"/>
                  </a:lnTo>
                  <a:lnTo>
                    <a:pt x="3874770" y="584835"/>
                  </a:lnTo>
                  <a:lnTo>
                    <a:pt x="3890010" y="693420"/>
                  </a:lnTo>
                  <a:lnTo>
                    <a:pt x="3903345" y="801052"/>
                  </a:lnTo>
                  <a:lnTo>
                    <a:pt x="3918585" y="906780"/>
                  </a:lnTo>
                  <a:lnTo>
                    <a:pt x="3932872" y="1007745"/>
                  </a:lnTo>
                  <a:lnTo>
                    <a:pt x="3947160" y="1100138"/>
                  </a:lnTo>
                  <a:lnTo>
                    <a:pt x="3961447" y="1183005"/>
                  </a:lnTo>
                  <a:lnTo>
                    <a:pt x="3975735" y="1253490"/>
                  </a:lnTo>
                  <a:lnTo>
                    <a:pt x="3990022" y="1310640"/>
                  </a:lnTo>
                  <a:lnTo>
                    <a:pt x="4005262" y="1351597"/>
                  </a:lnTo>
                  <a:lnTo>
                    <a:pt x="4019550" y="1377315"/>
                  </a:lnTo>
                  <a:lnTo>
                    <a:pt x="4033838" y="1385888"/>
                  </a:lnTo>
                  <a:lnTo>
                    <a:pt x="4048125" y="1377315"/>
                  </a:lnTo>
                  <a:lnTo>
                    <a:pt x="4062412" y="1351597"/>
                  </a:lnTo>
                  <a:lnTo>
                    <a:pt x="4077652" y="1310640"/>
                  </a:lnTo>
                  <a:lnTo>
                    <a:pt x="4090988" y="1253490"/>
                  </a:lnTo>
                  <a:lnTo>
                    <a:pt x="4106227" y="1183005"/>
                  </a:lnTo>
                  <a:lnTo>
                    <a:pt x="4120515" y="1100138"/>
                  </a:lnTo>
                  <a:lnTo>
                    <a:pt x="4134802" y="1007745"/>
                  </a:lnTo>
                  <a:lnTo>
                    <a:pt x="4149090" y="906780"/>
                  </a:lnTo>
                  <a:lnTo>
                    <a:pt x="4164330" y="801052"/>
                  </a:lnTo>
                  <a:lnTo>
                    <a:pt x="4177665" y="693420"/>
                  </a:lnTo>
                  <a:lnTo>
                    <a:pt x="4192905" y="584835"/>
                  </a:lnTo>
                  <a:lnTo>
                    <a:pt x="4207192" y="479107"/>
                  </a:lnTo>
                  <a:lnTo>
                    <a:pt x="4221480" y="378142"/>
                  </a:lnTo>
                  <a:lnTo>
                    <a:pt x="4235768" y="285750"/>
                  </a:lnTo>
                  <a:lnTo>
                    <a:pt x="4250055" y="202882"/>
                  </a:lnTo>
                  <a:lnTo>
                    <a:pt x="4264342" y="132397"/>
                  </a:lnTo>
                  <a:lnTo>
                    <a:pt x="4279582" y="75247"/>
                  </a:lnTo>
                  <a:lnTo>
                    <a:pt x="4293870" y="34290"/>
                  </a:lnTo>
                  <a:lnTo>
                    <a:pt x="4308158" y="8572"/>
                  </a:lnTo>
                  <a:lnTo>
                    <a:pt x="4322445" y="0"/>
                  </a:lnTo>
                  <a:lnTo>
                    <a:pt x="4336732" y="8572"/>
                  </a:lnTo>
                  <a:lnTo>
                    <a:pt x="4351972" y="34290"/>
                  </a:lnTo>
                  <a:lnTo>
                    <a:pt x="4365308" y="75247"/>
                  </a:lnTo>
                  <a:lnTo>
                    <a:pt x="4380547" y="132397"/>
                  </a:lnTo>
                  <a:lnTo>
                    <a:pt x="4394835" y="202882"/>
                  </a:lnTo>
                  <a:lnTo>
                    <a:pt x="4409122" y="285750"/>
                  </a:lnTo>
                  <a:lnTo>
                    <a:pt x="4423410" y="378142"/>
                  </a:lnTo>
                  <a:lnTo>
                    <a:pt x="4438650" y="479107"/>
                  </a:lnTo>
                  <a:lnTo>
                    <a:pt x="4451985" y="584835"/>
                  </a:lnTo>
                  <a:lnTo>
                    <a:pt x="4467225" y="693420"/>
                  </a:lnTo>
                  <a:lnTo>
                    <a:pt x="4481512" y="801052"/>
                  </a:lnTo>
                  <a:lnTo>
                    <a:pt x="4495800" y="906780"/>
                  </a:lnTo>
                  <a:lnTo>
                    <a:pt x="4510088" y="1007745"/>
                  </a:lnTo>
                  <a:lnTo>
                    <a:pt x="4524375" y="1100138"/>
                  </a:lnTo>
                  <a:lnTo>
                    <a:pt x="4538662" y="1183005"/>
                  </a:lnTo>
                  <a:lnTo>
                    <a:pt x="4553902" y="1253490"/>
                  </a:lnTo>
                  <a:lnTo>
                    <a:pt x="4568190" y="1310640"/>
                  </a:lnTo>
                  <a:lnTo>
                    <a:pt x="4582477" y="1351597"/>
                  </a:lnTo>
                  <a:lnTo>
                    <a:pt x="4596765" y="1377315"/>
                  </a:lnTo>
                  <a:lnTo>
                    <a:pt x="4603432" y="1381125"/>
                  </a:lnTo>
                </a:path>
              </a:pathLst>
            </a:custGeom>
            <a:noFill/>
            <a:ln w="19050">
              <a:solidFill>
                <a:srgbClr val="7B3FC4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6700838" y="1893570"/>
              <a:ext cx="4612958" cy="1384935"/>
            </a:xfrm>
            <a:custGeom>
              <a:avLst/>
              <a:gdLst/>
              <a:ahLst/>
              <a:cxnLst/>
              <a:rect l="l" t="t" r="r" b="b"/>
              <a:pathLst>
                <a:path w="4612958" h="1384935">
                  <a:moveTo>
                    <a:pt x="0" y="1137285"/>
                  </a:moveTo>
                  <a:lnTo>
                    <a:pt x="12382" y="1083945"/>
                  </a:lnTo>
                  <a:lnTo>
                    <a:pt x="26670" y="1016317"/>
                  </a:lnTo>
                  <a:lnTo>
                    <a:pt x="41910" y="943927"/>
                  </a:lnTo>
                  <a:lnTo>
                    <a:pt x="56197" y="869633"/>
                  </a:lnTo>
                  <a:lnTo>
                    <a:pt x="70485" y="791527"/>
                  </a:lnTo>
                  <a:lnTo>
                    <a:pt x="84772" y="712470"/>
                  </a:lnTo>
                  <a:lnTo>
                    <a:pt x="99060" y="633412"/>
                  </a:lnTo>
                  <a:lnTo>
                    <a:pt x="114300" y="555308"/>
                  </a:lnTo>
                  <a:lnTo>
                    <a:pt x="127635" y="479107"/>
                  </a:lnTo>
                  <a:lnTo>
                    <a:pt x="142875" y="404812"/>
                  </a:lnTo>
                  <a:lnTo>
                    <a:pt x="157162" y="335280"/>
                  </a:lnTo>
                  <a:lnTo>
                    <a:pt x="171450" y="269557"/>
                  </a:lnTo>
                  <a:lnTo>
                    <a:pt x="185738" y="209550"/>
                  </a:lnTo>
                  <a:lnTo>
                    <a:pt x="200978" y="156210"/>
                  </a:lnTo>
                  <a:lnTo>
                    <a:pt x="214312" y="109538"/>
                  </a:lnTo>
                  <a:lnTo>
                    <a:pt x="229553" y="71438"/>
                  </a:lnTo>
                  <a:lnTo>
                    <a:pt x="243840" y="40005"/>
                  </a:lnTo>
                  <a:lnTo>
                    <a:pt x="258128" y="18097"/>
                  </a:lnTo>
                  <a:lnTo>
                    <a:pt x="272415" y="4762"/>
                  </a:lnTo>
                  <a:lnTo>
                    <a:pt x="286703" y="0"/>
                  </a:lnTo>
                  <a:lnTo>
                    <a:pt x="300990" y="4762"/>
                  </a:lnTo>
                  <a:lnTo>
                    <a:pt x="316230" y="18097"/>
                  </a:lnTo>
                  <a:lnTo>
                    <a:pt x="330518" y="40005"/>
                  </a:lnTo>
                  <a:lnTo>
                    <a:pt x="344805" y="71438"/>
                  </a:lnTo>
                  <a:lnTo>
                    <a:pt x="359093" y="109538"/>
                  </a:lnTo>
                  <a:lnTo>
                    <a:pt x="373380" y="156210"/>
                  </a:lnTo>
                  <a:lnTo>
                    <a:pt x="388620" y="209550"/>
                  </a:lnTo>
                  <a:lnTo>
                    <a:pt x="401955" y="269557"/>
                  </a:lnTo>
                  <a:lnTo>
                    <a:pt x="417195" y="335280"/>
                  </a:lnTo>
                  <a:lnTo>
                    <a:pt x="431482" y="404812"/>
                  </a:lnTo>
                  <a:lnTo>
                    <a:pt x="445770" y="479107"/>
                  </a:lnTo>
                  <a:lnTo>
                    <a:pt x="460057" y="555308"/>
                  </a:lnTo>
                  <a:lnTo>
                    <a:pt x="475297" y="633412"/>
                  </a:lnTo>
                  <a:lnTo>
                    <a:pt x="488632" y="712470"/>
                  </a:lnTo>
                  <a:lnTo>
                    <a:pt x="503872" y="791527"/>
                  </a:lnTo>
                  <a:lnTo>
                    <a:pt x="518160" y="869633"/>
                  </a:lnTo>
                  <a:lnTo>
                    <a:pt x="532447" y="943927"/>
                  </a:lnTo>
                  <a:lnTo>
                    <a:pt x="546735" y="1016317"/>
                  </a:lnTo>
                  <a:lnTo>
                    <a:pt x="561022" y="1083945"/>
                  </a:lnTo>
                  <a:lnTo>
                    <a:pt x="575310" y="1146810"/>
                  </a:lnTo>
                  <a:lnTo>
                    <a:pt x="590550" y="1203008"/>
                  </a:lnTo>
                  <a:lnTo>
                    <a:pt x="604838" y="1253490"/>
                  </a:lnTo>
                  <a:lnTo>
                    <a:pt x="619125" y="1296352"/>
                  </a:lnTo>
                  <a:lnTo>
                    <a:pt x="633412" y="1331595"/>
                  </a:lnTo>
                  <a:lnTo>
                    <a:pt x="647700" y="1357312"/>
                  </a:lnTo>
                  <a:lnTo>
                    <a:pt x="662940" y="1375410"/>
                  </a:lnTo>
                  <a:lnTo>
                    <a:pt x="676275" y="1384935"/>
                  </a:lnTo>
                  <a:lnTo>
                    <a:pt x="691515" y="1384935"/>
                  </a:lnTo>
                  <a:lnTo>
                    <a:pt x="705803" y="1375410"/>
                  </a:lnTo>
                  <a:lnTo>
                    <a:pt x="720090" y="1357312"/>
                  </a:lnTo>
                  <a:lnTo>
                    <a:pt x="734378" y="1331595"/>
                  </a:lnTo>
                  <a:lnTo>
                    <a:pt x="749618" y="1296352"/>
                  </a:lnTo>
                  <a:lnTo>
                    <a:pt x="762953" y="1253490"/>
                  </a:lnTo>
                  <a:lnTo>
                    <a:pt x="778193" y="1203008"/>
                  </a:lnTo>
                  <a:lnTo>
                    <a:pt x="792480" y="1146810"/>
                  </a:lnTo>
                  <a:lnTo>
                    <a:pt x="806768" y="1083945"/>
                  </a:lnTo>
                  <a:lnTo>
                    <a:pt x="821055" y="1016317"/>
                  </a:lnTo>
                  <a:lnTo>
                    <a:pt x="835343" y="943927"/>
                  </a:lnTo>
                  <a:lnTo>
                    <a:pt x="849630" y="869633"/>
                  </a:lnTo>
                  <a:lnTo>
                    <a:pt x="864870" y="791527"/>
                  </a:lnTo>
                  <a:lnTo>
                    <a:pt x="879157" y="712470"/>
                  </a:lnTo>
                  <a:lnTo>
                    <a:pt x="893445" y="633412"/>
                  </a:lnTo>
                  <a:lnTo>
                    <a:pt x="907732" y="555308"/>
                  </a:lnTo>
                  <a:lnTo>
                    <a:pt x="922020" y="479107"/>
                  </a:lnTo>
                  <a:lnTo>
                    <a:pt x="937260" y="404812"/>
                  </a:lnTo>
                  <a:lnTo>
                    <a:pt x="950595" y="335280"/>
                  </a:lnTo>
                  <a:lnTo>
                    <a:pt x="965835" y="269557"/>
                  </a:lnTo>
                  <a:lnTo>
                    <a:pt x="980122" y="209550"/>
                  </a:lnTo>
                  <a:lnTo>
                    <a:pt x="994410" y="156210"/>
                  </a:lnTo>
                  <a:lnTo>
                    <a:pt x="1008697" y="109538"/>
                  </a:lnTo>
                  <a:lnTo>
                    <a:pt x="1023938" y="71438"/>
                  </a:lnTo>
                  <a:lnTo>
                    <a:pt x="1037272" y="40005"/>
                  </a:lnTo>
                  <a:lnTo>
                    <a:pt x="1052512" y="18097"/>
                  </a:lnTo>
                  <a:lnTo>
                    <a:pt x="1066800" y="4762"/>
                  </a:lnTo>
                  <a:lnTo>
                    <a:pt x="1081088" y="0"/>
                  </a:lnTo>
                  <a:lnTo>
                    <a:pt x="1095375" y="4762"/>
                  </a:lnTo>
                  <a:lnTo>
                    <a:pt x="1109662" y="18097"/>
                  </a:lnTo>
                  <a:lnTo>
                    <a:pt x="1123950" y="40005"/>
                  </a:lnTo>
                  <a:lnTo>
                    <a:pt x="1138238" y="71438"/>
                  </a:lnTo>
                  <a:lnTo>
                    <a:pt x="1153478" y="109538"/>
                  </a:lnTo>
                  <a:lnTo>
                    <a:pt x="1167765" y="156210"/>
                  </a:lnTo>
                  <a:lnTo>
                    <a:pt x="1182053" y="209550"/>
                  </a:lnTo>
                  <a:lnTo>
                    <a:pt x="1196340" y="269557"/>
                  </a:lnTo>
                  <a:lnTo>
                    <a:pt x="1211580" y="335280"/>
                  </a:lnTo>
                  <a:lnTo>
                    <a:pt x="1224915" y="404812"/>
                  </a:lnTo>
                  <a:lnTo>
                    <a:pt x="1240155" y="479107"/>
                  </a:lnTo>
                  <a:lnTo>
                    <a:pt x="1254443" y="555308"/>
                  </a:lnTo>
                  <a:lnTo>
                    <a:pt x="1268730" y="633412"/>
                  </a:lnTo>
                  <a:lnTo>
                    <a:pt x="1283018" y="712470"/>
                  </a:lnTo>
                  <a:lnTo>
                    <a:pt x="1297305" y="791527"/>
                  </a:lnTo>
                  <a:lnTo>
                    <a:pt x="1311593" y="869633"/>
                  </a:lnTo>
                  <a:lnTo>
                    <a:pt x="1326832" y="943927"/>
                  </a:lnTo>
                  <a:lnTo>
                    <a:pt x="1341120" y="1016317"/>
                  </a:lnTo>
                  <a:lnTo>
                    <a:pt x="1355407" y="1083945"/>
                  </a:lnTo>
                  <a:lnTo>
                    <a:pt x="1369695" y="1146810"/>
                  </a:lnTo>
                  <a:lnTo>
                    <a:pt x="1383982" y="1203008"/>
                  </a:lnTo>
                  <a:lnTo>
                    <a:pt x="1398270" y="1253490"/>
                  </a:lnTo>
                  <a:lnTo>
                    <a:pt x="1412557" y="1296352"/>
                  </a:lnTo>
                  <a:lnTo>
                    <a:pt x="1427797" y="1331595"/>
                  </a:lnTo>
                  <a:lnTo>
                    <a:pt x="1442085" y="1357312"/>
                  </a:lnTo>
                  <a:lnTo>
                    <a:pt x="1456372" y="1375410"/>
                  </a:lnTo>
                  <a:lnTo>
                    <a:pt x="1470660" y="1384935"/>
                  </a:lnTo>
                  <a:lnTo>
                    <a:pt x="1485900" y="1384935"/>
                  </a:lnTo>
                  <a:lnTo>
                    <a:pt x="1499235" y="1375410"/>
                  </a:lnTo>
                  <a:lnTo>
                    <a:pt x="1514475" y="1357312"/>
                  </a:lnTo>
                  <a:lnTo>
                    <a:pt x="1528762" y="1331595"/>
                  </a:lnTo>
                  <a:lnTo>
                    <a:pt x="1543050" y="1296352"/>
                  </a:lnTo>
                  <a:lnTo>
                    <a:pt x="1557338" y="1253490"/>
                  </a:lnTo>
                  <a:lnTo>
                    <a:pt x="1571625" y="1203008"/>
                  </a:lnTo>
                  <a:lnTo>
                    <a:pt x="1585912" y="1146810"/>
                  </a:lnTo>
                  <a:lnTo>
                    <a:pt x="1601153" y="1083945"/>
                  </a:lnTo>
                  <a:lnTo>
                    <a:pt x="1615440" y="1016317"/>
                  </a:lnTo>
                  <a:lnTo>
                    <a:pt x="1629728" y="943927"/>
                  </a:lnTo>
                  <a:lnTo>
                    <a:pt x="1644015" y="869633"/>
                  </a:lnTo>
                  <a:lnTo>
                    <a:pt x="1658303" y="791527"/>
                  </a:lnTo>
                  <a:lnTo>
                    <a:pt x="1672590" y="712470"/>
                  </a:lnTo>
                  <a:lnTo>
                    <a:pt x="1686878" y="633412"/>
                  </a:lnTo>
                  <a:lnTo>
                    <a:pt x="1702118" y="555308"/>
                  </a:lnTo>
                  <a:lnTo>
                    <a:pt x="1716405" y="479107"/>
                  </a:lnTo>
                  <a:lnTo>
                    <a:pt x="1730693" y="404812"/>
                  </a:lnTo>
                  <a:lnTo>
                    <a:pt x="1744980" y="335280"/>
                  </a:lnTo>
                  <a:lnTo>
                    <a:pt x="1759268" y="269557"/>
                  </a:lnTo>
                  <a:lnTo>
                    <a:pt x="1773555" y="209550"/>
                  </a:lnTo>
                  <a:lnTo>
                    <a:pt x="1788795" y="156210"/>
                  </a:lnTo>
                  <a:lnTo>
                    <a:pt x="1803082" y="109538"/>
                  </a:lnTo>
                  <a:lnTo>
                    <a:pt x="1817370" y="71438"/>
                  </a:lnTo>
                  <a:lnTo>
                    <a:pt x="1831657" y="40005"/>
                  </a:lnTo>
                  <a:lnTo>
                    <a:pt x="1845945" y="18097"/>
                  </a:lnTo>
                  <a:lnTo>
                    <a:pt x="1860232" y="4762"/>
                  </a:lnTo>
                  <a:lnTo>
                    <a:pt x="1875472" y="0"/>
                  </a:lnTo>
                  <a:lnTo>
                    <a:pt x="1889760" y="4762"/>
                  </a:lnTo>
                  <a:lnTo>
                    <a:pt x="1904047" y="18097"/>
                  </a:lnTo>
                  <a:lnTo>
                    <a:pt x="1918335" y="40005"/>
                  </a:lnTo>
                  <a:lnTo>
                    <a:pt x="1932622" y="71438"/>
                  </a:lnTo>
                  <a:lnTo>
                    <a:pt x="1946910" y="109538"/>
                  </a:lnTo>
                  <a:lnTo>
                    <a:pt x="1961197" y="156210"/>
                  </a:lnTo>
                  <a:lnTo>
                    <a:pt x="1976438" y="209550"/>
                  </a:lnTo>
                  <a:lnTo>
                    <a:pt x="1990725" y="269557"/>
                  </a:lnTo>
                  <a:lnTo>
                    <a:pt x="2005012" y="335280"/>
                  </a:lnTo>
                  <a:lnTo>
                    <a:pt x="2019300" y="404812"/>
                  </a:lnTo>
                  <a:lnTo>
                    <a:pt x="2033588" y="479107"/>
                  </a:lnTo>
                  <a:lnTo>
                    <a:pt x="2047875" y="555308"/>
                  </a:lnTo>
                  <a:lnTo>
                    <a:pt x="2063115" y="633412"/>
                  </a:lnTo>
                  <a:lnTo>
                    <a:pt x="2077403" y="712470"/>
                  </a:lnTo>
                  <a:lnTo>
                    <a:pt x="2091690" y="791527"/>
                  </a:lnTo>
                  <a:lnTo>
                    <a:pt x="2105978" y="869633"/>
                  </a:lnTo>
                  <a:lnTo>
                    <a:pt x="2120265" y="943927"/>
                  </a:lnTo>
                  <a:lnTo>
                    <a:pt x="2134552" y="1016317"/>
                  </a:lnTo>
                  <a:lnTo>
                    <a:pt x="2149793" y="1083945"/>
                  </a:lnTo>
                  <a:lnTo>
                    <a:pt x="2164080" y="1146810"/>
                  </a:lnTo>
                  <a:lnTo>
                    <a:pt x="2178368" y="1203008"/>
                  </a:lnTo>
                  <a:lnTo>
                    <a:pt x="2192655" y="1253490"/>
                  </a:lnTo>
                  <a:lnTo>
                    <a:pt x="2206943" y="1296352"/>
                  </a:lnTo>
                  <a:lnTo>
                    <a:pt x="2221230" y="1331595"/>
                  </a:lnTo>
                  <a:lnTo>
                    <a:pt x="2235518" y="1357312"/>
                  </a:lnTo>
                  <a:lnTo>
                    <a:pt x="2250757" y="1375410"/>
                  </a:lnTo>
                  <a:lnTo>
                    <a:pt x="2264093" y="1384935"/>
                  </a:lnTo>
                  <a:lnTo>
                    <a:pt x="2279332" y="1384935"/>
                  </a:lnTo>
                  <a:lnTo>
                    <a:pt x="2293620" y="1375410"/>
                  </a:lnTo>
                  <a:lnTo>
                    <a:pt x="2307907" y="1357312"/>
                  </a:lnTo>
                  <a:lnTo>
                    <a:pt x="2322195" y="1331595"/>
                  </a:lnTo>
                  <a:lnTo>
                    <a:pt x="2337435" y="1296352"/>
                  </a:lnTo>
                  <a:lnTo>
                    <a:pt x="2351722" y="1253490"/>
                  </a:lnTo>
                  <a:lnTo>
                    <a:pt x="2366010" y="1203008"/>
                  </a:lnTo>
                  <a:lnTo>
                    <a:pt x="2380298" y="1146810"/>
                  </a:lnTo>
                  <a:lnTo>
                    <a:pt x="2394585" y="1083945"/>
                  </a:lnTo>
                  <a:lnTo>
                    <a:pt x="2408872" y="1016317"/>
                  </a:lnTo>
                  <a:lnTo>
                    <a:pt x="2423160" y="943927"/>
                  </a:lnTo>
                  <a:lnTo>
                    <a:pt x="2438400" y="869633"/>
                  </a:lnTo>
                  <a:lnTo>
                    <a:pt x="2452688" y="791527"/>
                  </a:lnTo>
                  <a:lnTo>
                    <a:pt x="2466975" y="712470"/>
                  </a:lnTo>
                  <a:lnTo>
                    <a:pt x="2481262" y="633412"/>
                  </a:lnTo>
                  <a:lnTo>
                    <a:pt x="2495550" y="555308"/>
                  </a:lnTo>
                  <a:lnTo>
                    <a:pt x="2509838" y="479107"/>
                  </a:lnTo>
                  <a:lnTo>
                    <a:pt x="2525078" y="404812"/>
                  </a:lnTo>
                  <a:lnTo>
                    <a:pt x="2538412" y="335280"/>
                  </a:lnTo>
                  <a:lnTo>
                    <a:pt x="2553652" y="269557"/>
                  </a:lnTo>
                  <a:lnTo>
                    <a:pt x="2567940" y="209550"/>
                  </a:lnTo>
                  <a:lnTo>
                    <a:pt x="2582228" y="156210"/>
                  </a:lnTo>
                  <a:lnTo>
                    <a:pt x="2596515" y="109538"/>
                  </a:lnTo>
                  <a:lnTo>
                    <a:pt x="2611755" y="71438"/>
                  </a:lnTo>
                  <a:lnTo>
                    <a:pt x="2626043" y="40005"/>
                  </a:lnTo>
                  <a:lnTo>
                    <a:pt x="2640330" y="18097"/>
                  </a:lnTo>
                  <a:lnTo>
                    <a:pt x="2654618" y="4762"/>
                  </a:lnTo>
                  <a:lnTo>
                    <a:pt x="2668905" y="0"/>
                  </a:lnTo>
                  <a:lnTo>
                    <a:pt x="2683193" y="4762"/>
                  </a:lnTo>
                  <a:lnTo>
                    <a:pt x="2697480" y="18097"/>
                  </a:lnTo>
                  <a:lnTo>
                    <a:pt x="2712720" y="40005"/>
                  </a:lnTo>
                  <a:lnTo>
                    <a:pt x="2727007" y="71438"/>
                  </a:lnTo>
                  <a:lnTo>
                    <a:pt x="2741295" y="109538"/>
                  </a:lnTo>
                  <a:lnTo>
                    <a:pt x="2755582" y="156210"/>
                  </a:lnTo>
                  <a:lnTo>
                    <a:pt x="2769870" y="209550"/>
                  </a:lnTo>
                  <a:lnTo>
                    <a:pt x="2784157" y="269557"/>
                  </a:lnTo>
                  <a:lnTo>
                    <a:pt x="2799398" y="335280"/>
                  </a:lnTo>
                  <a:lnTo>
                    <a:pt x="2812732" y="404812"/>
                  </a:lnTo>
                  <a:lnTo>
                    <a:pt x="2827972" y="479107"/>
                  </a:lnTo>
                  <a:lnTo>
                    <a:pt x="2842260" y="555308"/>
                  </a:lnTo>
                  <a:lnTo>
                    <a:pt x="2856548" y="633412"/>
                  </a:lnTo>
                  <a:lnTo>
                    <a:pt x="2870835" y="712470"/>
                  </a:lnTo>
                  <a:lnTo>
                    <a:pt x="2886075" y="791527"/>
                  </a:lnTo>
                  <a:lnTo>
                    <a:pt x="2899410" y="869633"/>
                  </a:lnTo>
                  <a:lnTo>
                    <a:pt x="2914650" y="943927"/>
                  </a:lnTo>
                  <a:lnTo>
                    <a:pt x="2928938" y="1016317"/>
                  </a:lnTo>
                  <a:lnTo>
                    <a:pt x="2943225" y="1083945"/>
                  </a:lnTo>
                  <a:lnTo>
                    <a:pt x="2957512" y="1146810"/>
                  </a:lnTo>
                  <a:lnTo>
                    <a:pt x="2971800" y="1203008"/>
                  </a:lnTo>
                  <a:lnTo>
                    <a:pt x="2987040" y="1253490"/>
                  </a:lnTo>
                  <a:lnTo>
                    <a:pt x="3001328" y="1296352"/>
                  </a:lnTo>
                  <a:lnTo>
                    <a:pt x="3015615" y="1331595"/>
                  </a:lnTo>
                  <a:lnTo>
                    <a:pt x="3029902" y="1357312"/>
                  </a:lnTo>
                  <a:lnTo>
                    <a:pt x="3044190" y="1375410"/>
                  </a:lnTo>
                  <a:lnTo>
                    <a:pt x="3058477" y="1384935"/>
                  </a:lnTo>
                  <a:lnTo>
                    <a:pt x="3073718" y="1384935"/>
                  </a:lnTo>
                  <a:lnTo>
                    <a:pt x="3087052" y="1375410"/>
                  </a:lnTo>
                  <a:lnTo>
                    <a:pt x="3102293" y="1357312"/>
                  </a:lnTo>
                  <a:lnTo>
                    <a:pt x="3116580" y="1331595"/>
                  </a:lnTo>
                  <a:lnTo>
                    <a:pt x="3130868" y="1296352"/>
                  </a:lnTo>
                  <a:lnTo>
                    <a:pt x="3145155" y="1253490"/>
                  </a:lnTo>
                  <a:lnTo>
                    <a:pt x="3160395" y="1203008"/>
                  </a:lnTo>
                  <a:lnTo>
                    <a:pt x="3173730" y="1146810"/>
                  </a:lnTo>
                  <a:lnTo>
                    <a:pt x="3188970" y="1083945"/>
                  </a:lnTo>
                  <a:lnTo>
                    <a:pt x="3203257" y="1016317"/>
                  </a:lnTo>
                  <a:lnTo>
                    <a:pt x="3217545" y="943927"/>
                  </a:lnTo>
                  <a:lnTo>
                    <a:pt x="3231832" y="869633"/>
                  </a:lnTo>
                  <a:lnTo>
                    <a:pt x="3246120" y="791527"/>
                  </a:lnTo>
                  <a:lnTo>
                    <a:pt x="3261360" y="712470"/>
                  </a:lnTo>
                  <a:lnTo>
                    <a:pt x="3275648" y="633412"/>
                  </a:lnTo>
                  <a:lnTo>
                    <a:pt x="3289935" y="555308"/>
                  </a:lnTo>
                  <a:lnTo>
                    <a:pt x="3304223" y="479107"/>
                  </a:lnTo>
                  <a:lnTo>
                    <a:pt x="3318510" y="404812"/>
                  </a:lnTo>
                  <a:lnTo>
                    <a:pt x="3332798" y="335280"/>
                  </a:lnTo>
                  <a:lnTo>
                    <a:pt x="3348038" y="269557"/>
                  </a:lnTo>
                  <a:lnTo>
                    <a:pt x="3361373" y="209550"/>
                  </a:lnTo>
                  <a:lnTo>
                    <a:pt x="3376612" y="156210"/>
                  </a:lnTo>
                  <a:lnTo>
                    <a:pt x="3390900" y="109538"/>
                  </a:lnTo>
                  <a:lnTo>
                    <a:pt x="3405188" y="71438"/>
                  </a:lnTo>
                  <a:lnTo>
                    <a:pt x="3419475" y="40005"/>
                  </a:lnTo>
                  <a:lnTo>
                    <a:pt x="3434715" y="18097"/>
                  </a:lnTo>
                  <a:lnTo>
                    <a:pt x="3448050" y="4762"/>
                  </a:lnTo>
                  <a:lnTo>
                    <a:pt x="3463290" y="0"/>
                  </a:lnTo>
                  <a:lnTo>
                    <a:pt x="3477577" y="4762"/>
                  </a:lnTo>
                  <a:lnTo>
                    <a:pt x="3491865" y="18097"/>
                  </a:lnTo>
                  <a:lnTo>
                    <a:pt x="3506152" y="40005"/>
                  </a:lnTo>
                  <a:lnTo>
                    <a:pt x="3520440" y="71438"/>
                  </a:lnTo>
                  <a:lnTo>
                    <a:pt x="3535680" y="109538"/>
                  </a:lnTo>
                  <a:lnTo>
                    <a:pt x="3549015" y="156210"/>
                  </a:lnTo>
                  <a:lnTo>
                    <a:pt x="3564255" y="209550"/>
                  </a:lnTo>
                  <a:lnTo>
                    <a:pt x="3578543" y="269557"/>
                  </a:lnTo>
                  <a:lnTo>
                    <a:pt x="3592830" y="335280"/>
                  </a:lnTo>
                  <a:lnTo>
                    <a:pt x="3607118" y="404812"/>
                  </a:lnTo>
                  <a:lnTo>
                    <a:pt x="3622357" y="479107"/>
                  </a:lnTo>
                  <a:lnTo>
                    <a:pt x="3635693" y="555308"/>
                  </a:lnTo>
                  <a:lnTo>
                    <a:pt x="3650932" y="633412"/>
                  </a:lnTo>
                  <a:lnTo>
                    <a:pt x="3665220" y="712470"/>
                  </a:lnTo>
                  <a:lnTo>
                    <a:pt x="3679507" y="791527"/>
                  </a:lnTo>
                  <a:lnTo>
                    <a:pt x="3693795" y="869633"/>
                  </a:lnTo>
                  <a:lnTo>
                    <a:pt x="3708082" y="943927"/>
                  </a:lnTo>
                  <a:lnTo>
                    <a:pt x="3722370" y="1016317"/>
                  </a:lnTo>
                  <a:lnTo>
                    <a:pt x="3737610" y="1083945"/>
                  </a:lnTo>
                  <a:lnTo>
                    <a:pt x="3751898" y="1146810"/>
                  </a:lnTo>
                  <a:lnTo>
                    <a:pt x="3766185" y="1203008"/>
                  </a:lnTo>
                  <a:lnTo>
                    <a:pt x="3780473" y="1253490"/>
                  </a:lnTo>
                  <a:lnTo>
                    <a:pt x="3794760" y="1296352"/>
                  </a:lnTo>
                  <a:lnTo>
                    <a:pt x="3810000" y="1331595"/>
                  </a:lnTo>
                  <a:lnTo>
                    <a:pt x="3823335" y="1357312"/>
                  </a:lnTo>
                  <a:lnTo>
                    <a:pt x="3838575" y="1375410"/>
                  </a:lnTo>
                  <a:lnTo>
                    <a:pt x="3852862" y="1384935"/>
                  </a:lnTo>
                  <a:lnTo>
                    <a:pt x="3867150" y="1384935"/>
                  </a:lnTo>
                  <a:lnTo>
                    <a:pt x="3881438" y="1375410"/>
                  </a:lnTo>
                  <a:lnTo>
                    <a:pt x="3896677" y="1357312"/>
                  </a:lnTo>
                  <a:lnTo>
                    <a:pt x="3910012" y="1331595"/>
                  </a:lnTo>
                  <a:lnTo>
                    <a:pt x="3925252" y="1296352"/>
                  </a:lnTo>
                  <a:lnTo>
                    <a:pt x="3939540" y="1253490"/>
                  </a:lnTo>
                  <a:lnTo>
                    <a:pt x="3953827" y="1203008"/>
                  </a:lnTo>
                  <a:lnTo>
                    <a:pt x="3968115" y="1146810"/>
                  </a:lnTo>
                  <a:lnTo>
                    <a:pt x="3982402" y="1083945"/>
                  </a:lnTo>
                  <a:lnTo>
                    <a:pt x="3996690" y="1016317"/>
                  </a:lnTo>
                  <a:lnTo>
                    <a:pt x="4011930" y="943927"/>
                  </a:lnTo>
                  <a:lnTo>
                    <a:pt x="4026218" y="869633"/>
                  </a:lnTo>
                  <a:lnTo>
                    <a:pt x="4040505" y="791527"/>
                  </a:lnTo>
                  <a:lnTo>
                    <a:pt x="4054793" y="712470"/>
                  </a:lnTo>
                  <a:lnTo>
                    <a:pt x="4069080" y="633412"/>
                  </a:lnTo>
                  <a:lnTo>
                    <a:pt x="4084320" y="555308"/>
                  </a:lnTo>
                  <a:lnTo>
                    <a:pt x="4097655" y="479107"/>
                  </a:lnTo>
                  <a:lnTo>
                    <a:pt x="4112895" y="404812"/>
                  </a:lnTo>
                  <a:lnTo>
                    <a:pt x="4127182" y="335280"/>
                  </a:lnTo>
                  <a:lnTo>
                    <a:pt x="4141470" y="269557"/>
                  </a:lnTo>
                  <a:lnTo>
                    <a:pt x="4155757" y="209550"/>
                  </a:lnTo>
                  <a:lnTo>
                    <a:pt x="4170998" y="156210"/>
                  </a:lnTo>
                  <a:lnTo>
                    <a:pt x="4184332" y="109538"/>
                  </a:lnTo>
                  <a:lnTo>
                    <a:pt x="4199573" y="71438"/>
                  </a:lnTo>
                  <a:lnTo>
                    <a:pt x="4213860" y="40005"/>
                  </a:lnTo>
                  <a:lnTo>
                    <a:pt x="4228148" y="18097"/>
                  </a:lnTo>
                  <a:lnTo>
                    <a:pt x="4242435" y="4762"/>
                  </a:lnTo>
                  <a:lnTo>
                    <a:pt x="4256723" y="0"/>
                  </a:lnTo>
                  <a:lnTo>
                    <a:pt x="4271010" y="4762"/>
                  </a:lnTo>
                  <a:lnTo>
                    <a:pt x="4286250" y="18097"/>
                  </a:lnTo>
                  <a:lnTo>
                    <a:pt x="4300538" y="40005"/>
                  </a:lnTo>
                  <a:lnTo>
                    <a:pt x="4314825" y="71438"/>
                  </a:lnTo>
                  <a:lnTo>
                    <a:pt x="4329112" y="109538"/>
                  </a:lnTo>
                  <a:lnTo>
                    <a:pt x="4343400" y="156210"/>
                  </a:lnTo>
                  <a:lnTo>
                    <a:pt x="4358640" y="209550"/>
                  </a:lnTo>
                  <a:lnTo>
                    <a:pt x="4371975" y="269557"/>
                  </a:lnTo>
                  <a:lnTo>
                    <a:pt x="4387215" y="335280"/>
                  </a:lnTo>
                  <a:lnTo>
                    <a:pt x="4401502" y="404812"/>
                  </a:lnTo>
                  <a:lnTo>
                    <a:pt x="4415790" y="479107"/>
                  </a:lnTo>
                  <a:lnTo>
                    <a:pt x="4430077" y="555308"/>
                  </a:lnTo>
                  <a:lnTo>
                    <a:pt x="4445318" y="633412"/>
                  </a:lnTo>
                  <a:lnTo>
                    <a:pt x="4458652" y="712470"/>
                  </a:lnTo>
                  <a:lnTo>
                    <a:pt x="4473892" y="791527"/>
                  </a:lnTo>
                  <a:lnTo>
                    <a:pt x="4488180" y="869633"/>
                  </a:lnTo>
                  <a:lnTo>
                    <a:pt x="4502468" y="943927"/>
                  </a:lnTo>
                  <a:lnTo>
                    <a:pt x="4516755" y="1016317"/>
                  </a:lnTo>
                  <a:lnTo>
                    <a:pt x="4531042" y="1083945"/>
                  </a:lnTo>
                  <a:lnTo>
                    <a:pt x="4545330" y="1146810"/>
                  </a:lnTo>
                  <a:lnTo>
                    <a:pt x="4560570" y="1203008"/>
                  </a:lnTo>
                  <a:lnTo>
                    <a:pt x="4574858" y="1253490"/>
                  </a:lnTo>
                  <a:lnTo>
                    <a:pt x="4589145" y="1296352"/>
                  </a:lnTo>
                  <a:lnTo>
                    <a:pt x="4603432" y="1331595"/>
                  </a:lnTo>
                  <a:lnTo>
                    <a:pt x="4612958" y="1349692"/>
                  </a:lnTo>
                </a:path>
              </a:pathLst>
            </a:custGeom>
            <a:noFill/>
            <a:ln w="19050">
              <a:solidFill>
                <a:srgbClr val="2E9A3E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6701790" y="1893570"/>
              <a:ext cx="4612005" cy="1385888"/>
            </a:xfrm>
            <a:custGeom>
              <a:avLst/>
              <a:gdLst/>
              <a:ahLst/>
              <a:cxnLst/>
              <a:rect l="l" t="t" r="r" b="b"/>
              <a:pathLst>
                <a:path w="4612005" h="1385888">
                  <a:moveTo>
                    <a:pt x="0" y="741045"/>
                  </a:moveTo>
                  <a:lnTo>
                    <a:pt x="11430" y="693420"/>
                  </a:lnTo>
                  <a:lnTo>
                    <a:pt x="25717" y="635317"/>
                  </a:lnTo>
                  <a:lnTo>
                    <a:pt x="40957" y="579120"/>
                  </a:lnTo>
                  <a:lnTo>
                    <a:pt x="55245" y="522922"/>
                  </a:lnTo>
                  <a:lnTo>
                    <a:pt x="69532" y="467677"/>
                  </a:lnTo>
                  <a:lnTo>
                    <a:pt x="83820" y="414338"/>
                  </a:lnTo>
                  <a:lnTo>
                    <a:pt x="98107" y="362902"/>
                  </a:lnTo>
                  <a:lnTo>
                    <a:pt x="113347" y="314325"/>
                  </a:lnTo>
                  <a:lnTo>
                    <a:pt x="126682" y="267652"/>
                  </a:lnTo>
                  <a:lnTo>
                    <a:pt x="141922" y="223838"/>
                  </a:lnTo>
                  <a:lnTo>
                    <a:pt x="156210" y="182880"/>
                  </a:lnTo>
                  <a:lnTo>
                    <a:pt x="170497" y="146685"/>
                  </a:lnTo>
                  <a:lnTo>
                    <a:pt x="184785" y="113347"/>
                  </a:lnTo>
                  <a:lnTo>
                    <a:pt x="200025" y="83820"/>
                  </a:lnTo>
                  <a:lnTo>
                    <a:pt x="213360" y="58102"/>
                  </a:lnTo>
                  <a:lnTo>
                    <a:pt x="228600" y="38100"/>
                  </a:lnTo>
                  <a:lnTo>
                    <a:pt x="242888" y="20955"/>
                  </a:lnTo>
                  <a:lnTo>
                    <a:pt x="257175" y="9525"/>
                  </a:lnTo>
                  <a:lnTo>
                    <a:pt x="271462" y="1905"/>
                  </a:lnTo>
                  <a:lnTo>
                    <a:pt x="285750" y="0"/>
                  </a:lnTo>
                  <a:lnTo>
                    <a:pt x="300038" y="1905"/>
                  </a:lnTo>
                  <a:lnTo>
                    <a:pt x="315278" y="9525"/>
                  </a:lnTo>
                  <a:lnTo>
                    <a:pt x="329565" y="20955"/>
                  </a:lnTo>
                  <a:lnTo>
                    <a:pt x="343853" y="38100"/>
                  </a:lnTo>
                  <a:lnTo>
                    <a:pt x="358140" y="58102"/>
                  </a:lnTo>
                  <a:lnTo>
                    <a:pt x="372428" y="83820"/>
                  </a:lnTo>
                  <a:lnTo>
                    <a:pt x="387667" y="113347"/>
                  </a:lnTo>
                  <a:lnTo>
                    <a:pt x="401003" y="146685"/>
                  </a:lnTo>
                  <a:lnTo>
                    <a:pt x="416242" y="182880"/>
                  </a:lnTo>
                  <a:lnTo>
                    <a:pt x="430530" y="223838"/>
                  </a:lnTo>
                  <a:lnTo>
                    <a:pt x="444817" y="267652"/>
                  </a:lnTo>
                  <a:lnTo>
                    <a:pt x="459105" y="314325"/>
                  </a:lnTo>
                  <a:lnTo>
                    <a:pt x="474345" y="362902"/>
                  </a:lnTo>
                  <a:lnTo>
                    <a:pt x="487680" y="414338"/>
                  </a:lnTo>
                  <a:lnTo>
                    <a:pt x="502920" y="467677"/>
                  </a:lnTo>
                  <a:lnTo>
                    <a:pt x="517207" y="522922"/>
                  </a:lnTo>
                  <a:lnTo>
                    <a:pt x="531495" y="579120"/>
                  </a:lnTo>
                  <a:lnTo>
                    <a:pt x="545782" y="635317"/>
                  </a:lnTo>
                  <a:lnTo>
                    <a:pt x="560070" y="693420"/>
                  </a:lnTo>
                  <a:lnTo>
                    <a:pt x="574357" y="750570"/>
                  </a:lnTo>
                  <a:lnTo>
                    <a:pt x="589597" y="806767"/>
                  </a:lnTo>
                  <a:lnTo>
                    <a:pt x="603885" y="862965"/>
                  </a:lnTo>
                  <a:lnTo>
                    <a:pt x="618172" y="918210"/>
                  </a:lnTo>
                  <a:lnTo>
                    <a:pt x="632460" y="971550"/>
                  </a:lnTo>
                  <a:lnTo>
                    <a:pt x="646747" y="1022985"/>
                  </a:lnTo>
                  <a:lnTo>
                    <a:pt x="661988" y="1071562"/>
                  </a:lnTo>
                  <a:lnTo>
                    <a:pt x="675322" y="1118235"/>
                  </a:lnTo>
                  <a:lnTo>
                    <a:pt x="690562" y="1162050"/>
                  </a:lnTo>
                  <a:lnTo>
                    <a:pt x="704850" y="1203008"/>
                  </a:lnTo>
                  <a:lnTo>
                    <a:pt x="719138" y="1239202"/>
                  </a:lnTo>
                  <a:lnTo>
                    <a:pt x="733425" y="1272540"/>
                  </a:lnTo>
                  <a:lnTo>
                    <a:pt x="748665" y="1302068"/>
                  </a:lnTo>
                  <a:lnTo>
                    <a:pt x="762000" y="1327785"/>
                  </a:lnTo>
                  <a:lnTo>
                    <a:pt x="777240" y="1347788"/>
                  </a:lnTo>
                  <a:lnTo>
                    <a:pt x="791528" y="1364932"/>
                  </a:lnTo>
                  <a:lnTo>
                    <a:pt x="805815" y="1376362"/>
                  </a:lnTo>
                  <a:lnTo>
                    <a:pt x="820103" y="1383982"/>
                  </a:lnTo>
                  <a:lnTo>
                    <a:pt x="834390" y="1385888"/>
                  </a:lnTo>
                  <a:lnTo>
                    <a:pt x="848678" y="1383982"/>
                  </a:lnTo>
                  <a:lnTo>
                    <a:pt x="863917" y="1376362"/>
                  </a:lnTo>
                  <a:lnTo>
                    <a:pt x="878205" y="1364932"/>
                  </a:lnTo>
                  <a:lnTo>
                    <a:pt x="892492" y="1347788"/>
                  </a:lnTo>
                  <a:lnTo>
                    <a:pt x="906780" y="1327785"/>
                  </a:lnTo>
                  <a:lnTo>
                    <a:pt x="921067" y="1302068"/>
                  </a:lnTo>
                  <a:lnTo>
                    <a:pt x="936307" y="1272540"/>
                  </a:lnTo>
                  <a:lnTo>
                    <a:pt x="949642" y="1239202"/>
                  </a:lnTo>
                  <a:lnTo>
                    <a:pt x="964882" y="1203008"/>
                  </a:lnTo>
                  <a:lnTo>
                    <a:pt x="979170" y="1162050"/>
                  </a:lnTo>
                  <a:lnTo>
                    <a:pt x="993457" y="1118235"/>
                  </a:lnTo>
                  <a:lnTo>
                    <a:pt x="1007745" y="1071562"/>
                  </a:lnTo>
                  <a:lnTo>
                    <a:pt x="1022985" y="1022985"/>
                  </a:lnTo>
                  <a:lnTo>
                    <a:pt x="1036320" y="971550"/>
                  </a:lnTo>
                  <a:lnTo>
                    <a:pt x="1051560" y="918210"/>
                  </a:lnTo>
                  <a:lnTo>
                    <a:pt x="1065847" y="862965"/>
                  </a:lnTo>
                  <a:lnTo>
                    <a:pt x="1080135" y="806767"/>
                  </a:lnTo>
                  <a:lnTo>
                    <a:pt x="1094422" y="750570"/>
                  </a:lnTo>
                  <a:lnTo>
                    <a:pt x="1108710" y="693420"/>
                  </a:lnTo>
                  <a:lnTo>
                    <a:pt x="1122997" y="635317"/>
                  </a:lnTo>
                  <a:lnTo>
                    <a:pt x="1137285" y="579120"/>
                  </a:lnTo>
                  <a:lnTo>
                    <a:pt x="1152525" y="522922"/>
                  </a:lnTo>
                  <a:lnTo>
                    <a:pt x="1166812" y="467677"/>
                  </a:lnTo>
                  <a:lnTo>
                    <a:pt x="1181100" y="414338"/>
                  </a:lnTo>
                  <a:lnTo>
                    <a:pt x="1195388" y="362902"/>
                  </a:lnTo>
                  <a:lnTo>
                    <a:pt x="1210628" y="314325"/>
                  </a:lnTo>
                  <a:lnTo>
                    <a:pt x="1223962" y="267652"/>
                  </a:lnTo>
                  <a:lnTo>
                    <a:pt x="1239203" y="223838"/>
                  </a:lnTo>
                  <a:lnTo>
                    <a:pt x="1253490" y="182880"/>
                  </a:lnTo>
                  <a:lnTo>
                    <a:pt x="1267778" y="146685"/>
                  </a:lnTo>
                  <a:lnTo>
                    <a:pt x="1282065" y="113347"/>
                  </a:lnTo>
                  <a:lnTo>
                    <a:pt x="1296353" y="83820"/>
                  </a:lnTo>
                  <a:lnTo>
                    <a:pt x="1310640" y="58102"/>
                  </a:lnTo>
                  <a:lnTo>
                    <a:pt x="1325880" y="38100"/>
                  </a:lnTo>
                  <a:lnTo>
                    <a:pt x="1340167" y="20955"/>
                  </a:lnTo>
                  <a:lnTo>
                    <a:pt x="1354455" y="9525"/>
                  </a:lnTo>
                  <a:lnTo>
                    <a:pt x="1368742" y="1905"/>
                  </a:lnTo>
                  <a:lnTo>
                    <a:pt x="1383030" y="0"/>
                  </a:lnTo>
                  <a:lnTo>
                    <a:pt x="1397317" y="1905"/>
                  </a:lnTo>
                  <a:lnTo>
                    <a:pt x="1411605" y="9525"/>
                  </a:lnTo>
                  <a:lnTo>
                    <a:pt x="1426845" y="20955"/>
                  </a:lnTo>
                  <a:lnTo>
                    <a:pt x="1441132" y="38100"/>
                  </a:lnTo>
                  <a:lnTo>
                    <a:pt x="1455420" y="58102"/>
                  </a:lnTo>
                  <a:lnTo>
                    <a:pt x="1469707" y="83820"/>
                  </a:lnTo>
                  <a:lnTo>
                    <a:pt x="1484947" y="113347"/>
                  </a:lnTo>
                  <a:lnTo>
                    <a:pt x="1498282" y="146685"/>
                  </a:lnTo>
                  <a:lnTo>
                    <a:pt x="1513522" y="182880"/>
                  </a:lnTo>
                  <a:lnTo>
                    <a:pt x="1527810" y="223838"/>
                  </a:lnTo>
                  <a:lnTo>
                    <a:pt x="1542097" y="267652"/>
                  </a:lnTo>
                  <a:lnTo>
                    <a:pt x="1556385" y="314325"/>
                  </a:lnTo>
                  <a:lnTo>
                    <a:pt x="1570672" y="362902"/>
                  </a:lnTo>
                  <a:lnTo>
                    <a:pt x="1584960" y="414338"/>
                  </a:lnTo>
                  <a:lnTo>
                    <a:pt x="1600200" y="467677"/>
                  </a:lnTo>
                  <a:lnTo>
                    <a:pt x="1614488" y="522922"/>
                  </a:lnTo>
                  <a:lnTo>
                    <a:pt x="1628775" y="579120"/>
                  </a:lnTo>
                  <a:lnTo>
                    <a:pt x="1643062" y="635317"/>
                  </a:lnTo>
                  <a:lnTo>
                    <a:pt x="1657350" y="693420"/>
                  </a:lnTo>
                  <a:lnTo>
                    <a:pt x="1671638" y="750570"/>
                  </a:lnTo>
                  <a:lnTo>
                    <a:pt x="1685925" y="806767"/>
                  </a:lnTo>
                  <a:lnTo>
                    <a:pt x="1701165" y="862965"/>
                  </a:lnTo>
                  <a:lnTo>
                    <a:pt x="1715453" y="918210"/>
                  </a:lnTo>
                  <a:lnTo>
                    <a:pt x="1729740" y="971550"/>
                  </a:lnTo>
                  <a:lnTo>
                    <a:pt x="1744028" y="1022985"/>
                  </a:lnTo>
                  <a:lnTo>
                    <a:pt x="1758315" y="1071562"/>
                  </a:lnTo>
                  <a:lnTo>
                    <a:pt x="1772603" y="1118235"/>
                  </a:lnTo>
                  <a:lnTo>
                    <a:pt x="1787842" y="1162050"/>
                  </a:lnTo>
                  <a:lnTo>
                    <a:pt x="1802130" y="1203008"/>
                  </a:lnTo>
                  <a:lnTo>
                    <a:pt x="1816417" y="1239202"/>
                  </a:lnTo>
                  <a:lnTo>
                    <a:pt x="1830705" y="1272540"/>
                  </a:lnTo>
                  <a:lnTo>
                    <a:pt x="1844992" y="1302068"/>
                  </a:lnTo>
                  <a:lnTo>
                    <a:pt x="1859280" y="1327785"/>
                  </a:lnTo>
                  <a:lnTo>
                    <a:pt x="1874520" y="1347788"/>
                  </a:lnTo>
                  <a:lnTo>
                    <a:pt x="1888807" y="1364932"/>
                  </a:lnTo>
                  <a:lnTo>
                    <a:pt x="1903095" y="1376362"/>
                  </a:lnTo>
                  <a:lnTo>
                    <a:pt x="1917382" y="1383982"/>
                  </a:lnTo>
                  <a:lnTo>
                    <a:pt x="1931670" y="1385888"/>
                  </a:lnTo>
                  <a:lnTo>
                    <a:pt x="1945957" y="1383982"/>
                  </a:lnTo>
                  <a:lnTo>
                    <a:pt x="1960245" y="1376362"/>
                  </a:lnTo>
                  <a:lnTo>
                    <a:pt x="1975485" y="1364932"/>
                  </a:lnTo>
                  <a:lnTo>
                    <a:pt x="1989772" y="1347788"/>
                  </a:lnTo>
                  <a:lnTo>
                    <a:pt x="2004060" y="1327785"/>
                  </a:lnTo>
                  <a:lnTo>
                    <a:pt x="2018347" y="1302068"/>
                  </a:lnTo>
                  <a:lnTo>
                    <a:pt x="2032635" y="1272540"/>
                  </a:lnTo>
                  <a:lnTo>
                    <a:pt x="2046922" y="1239202"/>
                  </a:lnTo>
                  <a:lnTo>
                    <a:pt x="2062162" y="1203008"/>
                  </a:lnTo>
                  <a:lnTo>
                    <a:pt x="2076450" y="1162050"/>
                  </a:lnTo>
                  <a:lnTo>
                    <a:pt x="2090738" y="1118235"/>
                  </a:lnTo>
                  <a:lnTo>
                    <a:pt x="2105025" y="1071562"/>
                  </a:lnTo>
                  <a:lnTo>
                    <a:pt x="2119312" y="1022985"/>
                  </a:lnTo>
                  <a:lnTo>
                    <a:pt x="2133600" y="971550"/>
                  </a:lnTo>
                  <a:lnTo>
                    <a:pt x="2148840" y="918210"/>
                  </a:lnTo>
                  <a:lnTo>
                    <a:pt x="2163128" y="862965"/>
                  </a:lnTo>
                  <a:lnTo>
                    <a:pt x="2177415" y="806767"/>
                  </a:lnTo>
                  <a:lnTo>
                    <a:pt x="2191702" y="750570"/>
                  </a:lnTo>
                  <a:lnTo>
                    <a:pt x="2205990" y="693420"/>
                  </a:lnTo>
                  <a:lnTo>
                    <a:pt x="2220278" y="635317"/>
                  </a:lnTo>
                  <a:lnTo>
                    <a:pt x="2234565" y="579120"/>
                  </a:lnTo>
                  <a:lnTo>
                    <a:pt x="2249805" y="522922"/>
                  </a:lnTo>
                  <a:lnTo>
                    <a:pt x="2263140" y="467677"/>
                  </a:lnTo>
                  <a:lnTo>
                    <a:pt x="2278380" y="414338"/>
                  </a:lnTo>
                  <a:lnTo>
                    <a:pt x="2292667" y="362902"/>
                  </a:lnTo>
                  <a:lnTo>
                    <a:pt x="2306955" y="314325"/>
                  </a:lnTo>
                  <a:lnTo>
                    <a:pt x="2321242" y="267652"/>
                  </a:lnTo>
                  <a:lnTo>
                    <a:pt x="2336482" y="223838"/>
                  </a:lnTo>
                  <a:lnTo>
                    <a:pt x="2350770" y="182880"/>
                  </a:lnTo>
                  <a:lnTo>
                    <a:pt x="2365057" y="146685"/>
                  </a:lnTo>
                  <a:lnTo>
                    <a:pt x="2379345" y="113347"/>
                  </a:lnTo>
                  <a:lnTo>
                    <a:pt x="2393632" y="83820"/>
                  </a:lnTo>
                  <a:lnTo>
                    <a:pt x="2407920" y="58102"/>
                  </a:lnTo>
                  <a:lnTo>
                    <a:pt x="2422207" y="38100"/>
                  </a:lnTo>
                  <a:lnTo>
                    <a:pt x="2437448" y="20955"/>
                  </a:lnTo>
                  <a:lnTo>
                    <a:pt x="2451735" y="9525"/>
                  </a:lnTo>
                  <a:lnTo>
                    <a:pt x="2466022" y="1905"/>
                  </a:lnTo>
                  <a:lnTo>
                    <a:pt x="2480310" y="0"/>
                  </a:lnTo>
                  <a:lnTo>
                    <a:pt x="2494598" y="1905"/>
                  </a:lnTo>
                  <a:lnTo>
                    <a:pt x="2508885" y="9525"/>
                  </a:lnTo>
                  <a:lnTo>
                    <a:pt x="2524125" y="20955"/>
                  </a:lnTo>
                  <a:lnTo>
                    <a:pt x="2537460" y="38100"/>
                  </a:lnTo>
                  <a:lnTo>
                    <a:pt x="2552700" y="58102"/>
                  </a:lnTo>
                  <a:lnTo>
                    <a:pt x="2566988" y="83820"/>
                  </a:lnTo>
                  <a:lnTo>
                    <a:pt x="2581275" y="113347"/>
                  </a:lnTo>
                  <a:lnTo>
                    <a:pt x="2595562" y="146685"/>
                  </a:lnTo>
                  <a:lnTo>
                    <a:pt x="2610802" y="182880"/>
                  </a:lnTo>
                  <a:lnTo>
                    <a:pt x="2625090" y="223838"/>
                  </a:lnTo>
                  <a:lnTo>
                    <a:pt x="2639378" y="267652"/>
                  </a:lnTo>
                  <a:lnTo>
                    <a:pt x="2653665" y="314325"/>
                  </a:lnTo>
                  <a:lnTo>
                    <a:pt x="2667952" y="362902"/>
                  </a:lnTo>
                  <a:lnTo>
                    <a:pt x="2682240" y="414338"/>
                  </a:lnTo>
                  <a:lnTo>
                    <a:pt x="2696528" y="467677"/>
                  </a:lnTo>
                  <a:lnTo>
                    <a:pt x="2711767" y="522922"/>
                  </a:lnTo>
                  <a:lnTo>
                    <a:pt x="2726055" y="579120"/>
                  </a:lnTo>
                  <a:lnTo>
                    <a:pt x="2740342" y="635317"/>
                  </a:lnTo>
                  <a:lnTo>
                    <a:pt x="2754630" y="693420"/>
                  </a:lnTo>
                  <a:lnTo>
                    <a:pt x="2768917" y="750570"/>
                  </a:lnTo>
                  <a:lnTo>
                    <a:pt x="2783205" y="806767"/>
                  </a:lnTo>
                  <a:lnTo>
                    <a:pt x="2798445" y="862965"/>
                  </a:lnTo>
                  <a:lnTo>
                    <a:pt x="2811780" y="918210"/>
                  </a:lnTo>
                  <a:lnTo>
                    <a:pt x="2827020" y="971550"/>
                  </a:lnTo>
                  <a:lnTo>
                    <a:pt x="2841307" y="1022985"/>
                  </a:lnTo>
                  <a:lnTo>
                    <a:pt x="2855595" y="1071562"/>
                  </a:lnTo>
                  <a:lnTo>
                    <a:pt x="2869882" y="1118235"/>
                  </a:lnTo>
                  <a:lnTo>
                    <a:pt x="2885122" y="1162050"/>
                  </a:lnTo>
                  <a:lnTo>
                    <a:pt x="2898457" y="1203008"/>
                  </a:lnTo>
                  <a:lnTo>
                    <a:pt x="2913698" y="1239202"/>
                  </a:lnTo>
                  <a:lnTo>
                    <a:pt x="2927985" y="1272540"/>
                  </a:lnTo>
                  <a:lnTo>
                    <a:pt x="2942272" y="1302068"/>
                  </a:lnTo>
                  <a:lnTo>
                    <a:pt x="2956560" y="1327785"/>
                  </a:lnTo>
                  <a:lnTo>
                    <a:pt x="2970848" y="1347788"/>
                  </a:lnTo>
                  <a:lnTo>
                    <a:pt x="2986088" y="1364932"/>
                  </a:lnTo>
                  <a:lnTo>
                    <a:pt x="3000375" y="1376362"/>
                  </a:lnTo>
                  <a:lnTo>
                    <a:pt x="3014662" y="1383982"/>
                  </a:lnTo>
                  <a:lnTo>
                    <a:pt x="3028950" y="1385888"/>
                  </a:lnTo>
                  <a:lnTo>
                    <a:pt x="3043238" y="1383982"/>
                  </a:lnTo>
                  <a:lnTo>
                    <a:pt x="3057525" y="1376362"/>
                  </a:lnTo>
                  <a:lnTo>
                    <a:pt x="3072765" y="1364932"/>
                  </a:lnTo>
                  <a:lnTo>
                    <a:pt x="3086100" y="1347788"/>
                  </a:lnTo>
                  <a:lnTo>
                    <a:pt x="3101340" y="1327785"/>
                  </a:lnTo>
                  <a:lnTo>
                    <a:pt x="3115628" y="1302068"/>
                  </a:lnTo>
                  <a:lnTo>
                    <a:pt x="3129915" y="1272540"/>
                  </a:lnTo>
                  <a:lnTo>
                    <a:pt x="3144202" y="1239202"/>
                  </a:lnTo>
                  <a:lnTo>
                    <a:pt x="3159442" y="1203008"/>
                  </a:lnTo>
                  <a:lnTo>
                    <a:pt x="3172778" y="1162050"/>
                  </a:lnTo>
                  <a:lnTo>
                    <a:pt x="3188017" y="1118235"/>
                  </a:lnTo>
                  <a:lnTo>
                    <a:pt x="3202305" y="1071562"/>
                  </a:lnTo>
                  <a:lnTo>
                    <a:pt x="3216592" y="1022985"/>
                  </a:lnTo>
                  <a:lnTo>
                    <a:pt x="3230880" y="971550"/>
                  </a:lnTo>
                  <a:lnTo>
                    <a:pt x="3245167" y="918210"/>
                  </a:lnTo>
                  <a:lnTo>
                    <a:pt x="3260408" y="862965"/>
                  </a:lnTo>
                  <a:lnTo>
                    <a:pt x="3274695" y="806767"/>
                  </a:lnTo>
                  <a:lnTo>
                    <a:pt x="3288983" y="750570"/>
                  </a:lnTo>
                  <a:lnTo>
                    <a:pt x="3303270" y="693420"/>
                  </a:lnTo>
                  <a:lnTo>
                    <a:pt x="3317558" y="635317"/>
                  </a:lnTo>
                  <a:lnTo>
                    <a:pt x="3331845" y="579120"/>
                  </a:lnTo>
                  <a:lnTo>
                    <a:pt x="3347085" y="522922"/>
                  </a:lnTo>
                  <a:lnTo>
                    <a:pt x="3360420" y="467677"/>
                  </a:lnTo>
                  <a:lnTo>
                    <a:pt x="3375660" y="414338"/>
                  </a:lnTo>
                  <a:lnTo>
                    <a:pt x="3389948" y="362902"/>
                  </a:lnTo>
                  <a:lnTo>
                    <a:pt x="3404235" y="314325"/>
                  </a:lnTo>
                  <a:lnTo>
                    <a:pt x="3418522" y="267652"/>
                  </a:lnTo>
                  <a:lnTo>
                    <a:pt x="3433762" y="223838"/>
                  </a:lnTo>
                  <a:lnTo>
                    <a:pt x="3447098" y="182880"/>
                  </a:lnTo>
                  <a:lnTo>
                    <a:pt x="3462337" y="146685"/>
                  </a:lnTo>
                  <a:lnTo>
                    <a:pt x="3476625" y="113347"/>
                  </a:lnTo>
                  <a:lnTo>
                    <a:pt x="3490912" y="83820"/>
                  </a:lnTo>
                  <a:lnTo>
                    <a:pt x="3505200" y="58102"/>
                  </a:lnTo>
                  <a:lnTo>
                    <a:pt x="3519487" y="38100"/>
                  </a:lnTo>
                  <a:lnTo>
                    <a:pt x="3534728" y="20955"/>
                  </a:lnTo>
                  <a:lnTo>
                    <a:pt x="3548062" y="9525"/>
                  </a:lnTo>
                  <a:lnTo>
                    <a:pt x="3563302" y="1905"/>
                  </a:lnTo>
                  <a:lnTo>
                    <a:pt x="3577590" y="0"/>
                  </a:lnTo>
                  <a:lnTo>
                    <a:pt x="3591878" y="1905"/>
                  </a:lnTo>
                  <a:lnTo>
                    <a:pt x="3606165" y="9525"/>
                  </a:lnTo>
                  <a:lnTo>
                    <a:pt x="3621405" y="20955"/>
                  </a:lnTo>
                  <a:lnTo>
                    <a:pt x="3634740" y="38100"/>
                  </a:lnTo>
                  <a:lnTo>
                    <a:pt x="3649980" y="58102"/>
                  </a:lnTo>
                  <a:lnTo>
                    <a:pt x="3664267" y="83820"/>
                  </a:lnTo>
                  <a:lnTo>
                    <a:pt x="3678555" y="113347"/>
                  </a:lnTo>
                  <a:lnTo>
                    <a:pt x="3692842" y="146685"/>
                  </a:lnTo>
                  <a:lnTo>
                    <a:pt x="3707130" y="182880"/>
                  </a:lnTo>
                  <a:lnTo>
                    <a:pt x="3721417" y="223838"/>
                  </a:lnTo>
                  <a:lnTo>
                    <a:pt x="3736658" y="267652"/>
                  </a:lnTo>
                  <a:lnTo>
                    <a:pt x="3750945" y="314325"/>
                  </a:lnTo>
                  <a:lnTo>
                    <a:pt x="3765233" y="362902"/>
                  </a:lnTo>
                  <a:lnTo>
                    <a:pt x="3779520" y="414338"/>
                  </a:lnTo>
                  <a:lnTo>
                    <a:pt x="3793808" y="467677"/>
                  </a:lnTo>
                  <a:lnTo>
                    <a:pt x="3809048" y="522922"/>
                  </a:lnTo>
                  <a:lnTo>
                    <a:pt x="3822383" y="579120"/>
                  </a:lnTo>
                  <a:lnTo>
                    <a:pt x="3837622" y="635317"/>
                  </a:lnTo>
                  <a:lnTo>
                    <a:pt x="3851910" y="693420"/>
                  </a:lnTo>
                  <a:lnTo>
                    <a:pt x="3866198" y="750570"/>
                  </a:lnTo>
                  <a:lnTo>
                    <a:pt x="3880485" y="806767"/>
                  </a:lnTo>
                  <a:lnTo>
                    <a:pt x="3895725" y="862965"/>
                  </a:lnTo>
                  <a:lnTo>
                    <a:pt x="3909060" y="918210"/>
                  </a:lnTo>
                  <a:lnTo>
                    <a:pt x="3924300" y="971550"/>
                  </a:lnTo>
                  <a:lnTo>
                    <a:pt x="3938587" y="1022985"/>
                  </a:lnTo>
                  <a:lnTo>
                    <a:pt x="3952875" y="1071562"/>
                  </a:lnTo>
                  <a:lnTo>
                    <a:pt x="3967162" y="1118235"/>
                  </a:lnTo>
                  <a:lnTo>
                    <a:pt x="3981450" y="1162050"/>
                  </a:lnTo>
                  <a:lnTo>
                    <a:pt x="3995737" y="1203008"/>
                  </a:lnTo>
                  <a:lnTo>
                    <a:pt x="4010978" y="1239202"/>
                  </a:lnTo>
                  <a:lnTo>
                    <a:pt x="4025265" y="1272540"/>
                  </a:lnTo>
                  <a:lnTo>
                    <a:pt x="4039552" y="1302068"/>
                  </a:lnTo>
                  <a:lnTo>
                    <a:pt x="4053840" y="1327785"/>
                  </a:lnTo>
                  <a:lnTo>
                    <a:pt x="4068128" y="1347788"/>
                  </a:lnTo>
                  <a:lnTo>
                    <a:pt x="4083367" y="1364932"/>
                  </a:lnTo>
                  <a:lnTo>
                    <a:pt x="4096702" y="1376362"/>
                  </a:lnTo>
                  <a:lnTo>
                    <a:pt x="4111942" y="1383982"/>
                  </a:lnTo>
                  <a:lnTo>
                    <a:pt x="4126230" y="1385888"/>
                  </a:lnTo>
                  <a:lnTo>
                    <a:pt x="4140517" y="1383982"/>
                  </a:lnTo>
                  <a:lnTo>
                    <a:pt x="4154805" y="1376362"/>
                  </a:lnTo>
                  <a:lnTo>
                    <a:pt x="4170045" y="1364932"/>
                  </a:lnTo>
                  <a:lnTo>
                    <a:pt x="4183380" y="1347788"/>
                  </a:lnTo>
                  <a:lnTo>
                    <a:pt x="4198620" y="1327785"/>
                  </a:lnTo>
                  <a:lnTo>
                    <a:pt x="4212908" y="1302068"/>
                  </a:lnTo>
                  <a:lnTo>
                    <a:pt x="4227195" y="1272540"/>
                  </a:lnTo>
                  <a:lnTo>
                    <a:pt x="4241483" y="1239202"/>
                  </a:lnTo>
                  <a:lnTo>
                    <a:pt x="4255770" y="1203008"/>
                  </a:lnTo>
                  <a:lnTo>
                    <a:pt x="4270058" y="1162050"/>
                  </a:lnTo>
                  <a:lnTo>
                    <a:pt x="4285298" y="1118235"/>
                  </a:lnTo>
                  <a:lnTo>
                    <a:pt x="4299585" y="1071562"/>
                  </a:lnTo>
                  <a:lnTo>
                    <a:pt x="4313872" y="1022985"/>
                  </a:lnTo>
                  <a:lnTo>
                    <a:pt x="4328160" y="971550"/>
                  </a:lnTo>
                  <a:lnTo>
                    <a:pt x="4342448" y="918210"/>
                  </a:lnTo>
                  <a:lnTo>
                    <a:pt x="4357687" y="862965"/>
                  </a:lnTo>
                  <a:lnTo>
                    <a:pt x="4371022" y="806767"/>
                  </a:lnTo>
                  <a:lnTo>
                    <a:pt x="4386262" y="750570"/>
                  </a:lnTo>
                  <a:lnTo>
                    <a:pt x="4400550" y="693420"/>
                  </a:lnTo>
                  <a:lnTo>
                    <a:pt x="4414837" y="635317"/>
                  </a:lnTo>
                  <a:lnTo>
                    <a:pt x="4429125" y="579120"/>
                  </a:lnTo>
                  <a:lnTo>
                    <a:pt x="4444365" y="522922"/>
                  </a:lnTo>
                  <a:lnTo>
                    <a:pt x="4457700" y="467677"/>
                  </a:lnTo>
                  <a:lnTo>
                    <a:pt x="4472940" y="414338"/>
                  </a:lnTo>
                  <a:lnTo>
                    <a:pt x="4487228" y="362902"/>
                  </a:lnTo>
                  <a:lnTo>
                    <a:pt x="4501515" y="314325"/>
                  </a:lnTo>
                  <a:lnTo>
                    <a:pt x="4515802" y="267652"/>
                  </a:lnTo>
                  <a:lnTo>
                    <a:pt x="4530090" y="223838"/>
                  </a:lnTo>
                  <a:lnTo>
                    <a:pt x="4544378" y="182880"/>
                  </a:lnTo>
                  <a:lnTo>
                    <a:pt x="4559617" y="146685"/>
                  </a:lnTo>
                  <a:lnTo>
                    <a:pt x="4573905" y="113347"/>
                  </a:lnTo>
                  <a:lnTo>
                    <a:pt x="4588192" y="83820"/>
                  </a:lnTo>
                  <a:lnTo>
                    <a:pt x="4602480" y="58102"/>
                  </a:lnTo>
                  <a:lnTo>
                    <a:pt x="4612005" y="45720"/>
                  </a:lnTo>
                </a:path>
              </a:pathLst>
            </a:custGeom>
            <a:noFill/>
            <a:ln w="19050">
              <a:solidFill>
                <a:srgbClr val="D0342C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6708458" y="3279458"/>
              <a:ext cx="4616768" cy="9525"/>
            </a:xfrm>
            <a:custGeom>
              <a:avLst/>
              <a:gdLst/>
              <a:ahLst/>
              <a:cxnLst/>
              <a:rect l="l" t="t" r="r" b="b"/>
              <a:pathLst>
                <a:path w="4616768" h="9525">
                  <a:moveTo>
                    <a:pt x="0" y="0"/>
                  </a:moveTo>
                  <a:lnTo>
                    <a:pt x="4616768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1325225" y="323183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6987540" y="3251835"/>
              <a:ext cx="9525" cy="55245"/>
            </a:xfrm>
            <a:custGeom>
              <a:avLst/>
              <a:gdLst/>
              <a:ahLst/>
              <a:cxnLst/>
              <a:rect l="l" t="t" r="r" b="b"/>
              <a:pathLst>
                <a:path w="9525" h="55245">
                  <a:moveTo>
                    <a:pt x="0" y="0"/>
                  </a:moveTo>
                  <a:lnTo>
                    <a:pt x="0" y="55245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709535" y="3251835"/>
              <a:ext cx="9525" cy="55245"/>
            </a:xfrm>
            <a:custGeom>
              <a:avLst/>
              <a:gdLst/>
              <a:ahLst/>
              <a:cxnLst/>
              <a:rect l="l" t="t" r="r" b="b"/>
              <a:pathLst>
                <a:path w="9525" h="55245">
                  <a:moveTo>
                    <a:pt x="0" y="0"/>
                  </a:moveTo>
                  <a:lnTo>
                    <a:pt x="0" y="55245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431530" y="3251835"/>
              <a:ext cx="9525" cy="55245"/>
            </a:xfrm>
            <a:custGeom>
              <a:avLst/>
              <a:gdLst/>
              <a:ahLst/>
              <a:cxnLst/>
              <a:rect l="l" t="t" r="r" b="b"/>
              <a:pathLst>
                <a:path w="9525" h="55245">
                  <a:moveTo>
                    <a:pt x="0" y="0"/>
                  </a:moveTo>
                  <a:lnTo>
                    <a:pt x="0" y="55245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153525" y="3251835"/>
              <a:ext cx="9525" cy="55245"/>
            </a:xfrm>
            <a:custGeom>
              <a:avLst/>
              <a:gdLst/>
              <a:ahLst/>
              <a:cxnLst/>
              <a:rect l="l" t="t" r="r" b="b"/>
              <a:pathLst>
                <a:path w="9525" h="55245">
                  <a:moveTo>
                    <a:pt x="0" y="0"/>
                  </a:moveTo>
                  <a:lnTo>
                    <a:pt x="0" y="55245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9874568" y="3251835"/>
              <a:ext cx="9525" cy="55245"/>
            </a:xfrm>
            <a:custGeom>
              <a:avLst/>
              <a:gdLst/>
              <a:ahLst/>
              <a:cxnLst/>
              <a:rect l="l" t="t" r="r" b="b"/>
              <a:pathLst>
                <a:path w="9525" h="55245">
                  <a:moveTo>
                    <a:pt x="0" y="0"/>
                  </a:moveTo>
                  <a:lnTo>
                    <a:pt x="0" y="55245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10597515" y="3251835"/>
              <a:ext cx="9525" cy="55245"/>
            </a:xfrm>
            <a:custGeom>
              <a:avLst/>
              <a:gdLst/>
              <a:ahLst/>
              <a:cxnLst/>
              <a:rect l="l" t="t" r="r" b="b"/>
              <a:pathLst>
                <a:path w="9525" h="55245">
                  <a:moveTo>
                    <a:pt x="0" y="0"/>
                  </a:moveTo>
                  <a:lnTo>
                    <a:pt x="0" y="55245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1318558" y="3251835"/>
              <a:ext cx="9525" cy="55245"/>
            </a:xfrm>
            <a:custGeom>
              <a:avLst/>
              <a:gdLst/>
              <a:ahLst/>
              <a:cxnLst/>
              <a:rect l="l" t="t" r="r" b="b"/>
              <a:pathLst>
                <a:path w="9525" h="55245">
                  <a:moveTo>
                    <a:pt x="0" y="0"/>
                  </a:moveTo>
                  <a:lnTo>
                    <a:pt x="0" y="55245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7670482" y="3611880"/>
              <a:ext cx="309562" cy="9525"/>
            </a:xfrm>
            <a:custGeom>
              <a:avLst/>
              <a:gdLst/>
              <a:ahLst/>
              <a:cxnLst/>
              <a:rect l="l" t="t" r="r" b="b"/>
              <a:pathLst>
                <a:path w="309562" h="9525">
                  <a:moveTo>
                    <a:pt x="0" y="0"/>
                  </a:moveTo>
                  <a:lnTo>
                    <a:pt x="30956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7980045" y="356425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7575232" y="356425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1007740" y="3566636"/>
              <a:ext cx="3529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x/mm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946307" y="338185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668302" y="338185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90297" y="338185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112292" y="338185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33334" y="338185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556282" y="338185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77324" y="338185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675425" y="3684746"/>
              <a:ext cx="12226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1 彩带 0.72 mm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755879" y="168163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中央白纹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861683" y="1662589"/>
              <a:ext cx="4601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7B3FC4"/>
                  </a:solidFill>
                  <a:latin typeface="+mn-lt"/>
                  <a:ea typeface="+mn-ea"/>
                  <a:cs typeface="+mn-cs"/>
                </a:rPr>
                <a:t>400 nm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438898" y="1662589"/>
              <a:ext cx="4601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9A3E"/>
                  </a:solidFill>
                  <a:latin typeface="+mn-lt"/>
                  <a:ea typeface="+mn-ea"/>
                  <a:cs typeface="+mn-cs"/>
                </a:rPr>
                <a:t>550 nm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016113" y="1662589"/>
              <a:ext cx="4601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D0342C"/>
                  </a:solidFill>
                  <a:latin typeface="+mn-lt"/>
                  <a:ea typeface="+mn-ea"/>
                  <a:cs typeface="+mn-cs"/>
                </a:rPr>
                <a:t>760 nm</a:t>
              </a:r>
            </a:p>
          </p:txBody>
        </p:sp>
      </p:grpSp>
      <p:grpSp>
        <p:nvGrpSpPr>
          <p:cNvPr id="67" name="c2-card-2"/>
          <p:cNvGrpSpPr/>
          <p:nvPr/>
        </p:nvGrpSpPr>
        <p:grpSpPr>
          <a:xfrm>
            <a:off x="6248400" y="4019550"/>
            <a:ext cx="5410200" cy="2264092"/>
            <a:chOff x="6248400" y="4019550"/>
            <a:chExt cx="5410200" cy="2264092"/>
          </a:xfrm>
        </p:grpSpPr>
        <p:sp>
          <p:nvSpPr>
            <p:cNvPr id="62" name="Rectangle 62"/>
            <p:cNvSpPr/>
            <p:nvPr/>
          </p:nvSpPr>
          <p:spPr>
            <a:xfrm>
              <a:off x="6248400" y="4019550"/>
              <a:ext cx="5410200" cy="2264092"/>
            </a:xfrm>
            <a:prstGeom prst="roundRect">
              <a:avLst>
                <a:gd name="adj" fmla="val 589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6257925" y="4152900"/>
              <a:ext cx="47625" cy="199739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490335" y="4223385"/>
              <a:ext cx="191643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538189" y="4259104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补充：从第二级起就重叠了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483096" y="4596289"/>
              <a:ext cx="4775454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第二级红端 x = 2 × 2000 × 760 nm = 3.04 mm，第三级紫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端 2.40 mm，已经交叠。第五级彩带（4.0～7.6 mm）里混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着第四、六级的光，实际看不出清楚的第五级彩带。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6701466" cy="3706177"/>
            <a:chOff x="667512" y="1835468"/>
            <a:chExt cx="6701466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薄膜干涉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6915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对应原课件 7.3.1，分振幅干涉，肥皂泡和镜头镀膜的颜色都来自它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反射光的光程差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等倾干涉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半波损失判据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透射光互补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增透膜与增反膜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薄膜干涉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薄膜的上下两个表面各反射一束光，两束光相干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" name="c1-image-1"/>
          <p:cNvGrpSpPr/>
          <p:nvPr/>
        </p:nvGrpSpPr>
        <p:grpSpPr>
          <a:xfrm>
            <a:off x="533400" y="1524000"/>
            <a:ext cx="5193982" cy="4210527"/>
            <a:chOff x="533400" y="1524000"/>
            <a:chExt cx="5193982" cy="4210527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rcRect l="0" t="18748" r="0" b="18748"/>
            <a:stretch>
              <a:fillRect/>
            </a:stretch>
          </p:blipFill>
          <p:spPr>
            <a:xfrm>
              <a:off x="533400" y="1524000"/>
              <a:ext cx="5193982" cy="3895725"/>
            </a:xfrm>
            <a:prstGeom prst="roundRect">
              <a:avLst>
                <a:gd name="adj" fmla="val 3422"/>
              </a:avLst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1164133" y="5514499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竖直肥皂膜：上薄下厚，同一高度厚度相同，色带大致水平</a:t>
              </a:r>
            </a:p>
          </p:txBody>
        </p:sp>
      </p:grpSp>
      <p:grpSp>
        <p:nvGrpSpPr>
          <p:cNvPr id="15" name="c2-card-1"/>
          <p:cNvGrpSpPr/>
          <p:nvPr/>
        </p:nvGrpSpPr>
        <p:grpSpPr>
          <a:xfrm>
            <a:off x="6032182" y="1524000"/>
            <a:ext cx="5626418" cy="1602105"/>
            <a:chOff x="6032182" y="1524000"/>
            <a:chExt cx="5626418" cy="1602105"/>
          </a:xfrm>
        </p:grpSpPr>
        <p:sp>
          <p:nvSpPr>
            <p:cNvPr id="10" name="Rectangle 10"/>
            <p:cNvSpPr/>
            <p:nvPr/>
          </p:nvSpPr>
          <p:spPr>
            <a:xfrm>
              <a:off x="6032182" y="1524000"/>
              <a:ext cx="5626418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041708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279832" y="1733550"/>
              <a:ext cx="23402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314676" y="1769269"/>
              <a:ext cx="22696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薄膜干涉（film interference）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2212" y="2110740"/>
              <a:ext cx="4968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光照到薄膜上，从上表面反射的一束和折入膜内、从下表面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反射出来的一束来自同一入射光，是分振幅得到的相干光，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它们相遇时发生干涉。</a:t>
              </a:r>
            </a:p>
          </p:txBody>
        </p:sp>
      </p:grpSp>
      <p:grpSp>
        <p:nvGrpSpPr>
          <p:cNvPr id="27" name="c2-table-2"/>
          <p:cNvGrpSpPr/>
          <p:nvPr/>
        </p:nvGrpSpPr>
        <p:grpSpPr>
          <a:xfrm>
            <a:off x="6032182" y="3316605"/>
            <a:ext cx="5626418" cy="1346835"/>
            <a:chOff x="6032182" y="3316605"/>
            <a:chExt cx="5626418" cy="1346835"/>
          </a:xfrm>
        </p:grpSpPr>
        <p:sp>
          <p:nvSpPr>
            <p:cNvPr id="16" name="Rectangle 16"/>
            <p:cNvSpPr/>
            <p:nvPr/>
          </p:nvSpPr>
          <p:spPr>
            <a:xfrm>
              <a:off x="6032182" y="3316605"/>
              <a:ext cx="5626418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554953" y="345233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入射光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195372" y="345233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看到的现象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140006" y="390096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白光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15441" y="3900964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不同厚度处加强的波长不同，呈彩色条纹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32182" y="420909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032182" y="421386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140006" y="434959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单色光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15441" y="434959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明暗相间的条纹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32182" y="3316605"/>
              <a:ext cx="5626418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02855" y="331660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3" name="c2-card-3"/>
          <p:cNvGrpSpPr/>
          <p:nvPr/>
        </p:nvGrpSpPr>
        <p:grpSpPr>
          <a:xfrm>
            <a:off x="6032182" y="4853940"/>
            <a:ext cx="5626418" cy="1316355"/>
            <a:chOff x="6032182" y="4853940"/>
            <a:chExt cx="5626418" cy="1316355"/>
          </a:xfrm>
        </p:grpSpPr>
        <p:sp>
          <p:nvSpPr>
            <p:cNvPr id="28" name="Rectangle 28"/>
            <p:cNvSpPr/>
            <p:nvPr/>
          </p:nvSpPr>
          <p:spPr>
            <a:xfrm>
              <a:off x="6032182" y="4853940"/>
              <a:ext cx="5626418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041708" y="498729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79832" y="506349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5586" y="509920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肥皂膜顶端为什么发黑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272212" y="544068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膜快破时顶端厚度远小于波长，两束反射光的光程差只剩上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表面反射的 λ/2，各种颜色都相消，看起来是黑的。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薄膜干涉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推导薄膜反射光的光程差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923" y="1545431"/>
            <a:ext cx="4775962" cy="500824"/>
            <a:chOff x="526923" y="1545431"/>
            <a:chExt cx="4775962" cy="500824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545431"/>
              <a:ext cx="4775962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膜厚 e、折射率 n₂，上下都是 n₁（n₂ &gt; n₁）。从 C 作光线 ① 的垂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线 CD，此后两束光到 P 等光程。</a:t>
              </a:r>
            </a:p>
          </p:txBody>
        </p:sp>
      </p:grpSp>
      <p:grpSp>
        <p:nvGrpSpPr>
          <p:cNvPr id="40" name="g_film"/>
          <p:cNvGrpSpPr/>
          <p:nvPr/>
        </p:nvGrpSpPr>
        <p:grpSpPr>
          <a:xfrm>
            <a:off x="733425" y="2833211"/>
            <a:ext cx="4552950" cy="2420303"/>
            <a:chOff x="733425" y="2833211"/>
            <a:chExt cx="4552950" cy="2420303"/>
          </a:xfrm>
        </p:grpSpPr>
        <p:sp>
          <p:nvSpPr>
            <p:cNvPr id="9" name="Freeform 9"/>
            <p:cNvSpPr/>
            <p:nvPr/>
          </p:nvSpPr>
          <p:spPr>
            <a:xfrm>
              <a:off x="733425" y="4114800"/>
              <a:ext cx="4552950" cy="9525"/>
            </a:xfrm>
            <a:custGeom>
              <a:avLst/>
              <a:gdLst/>
              <a:ahLst/>
              <a:cxnLst/>
              <a:rect l="l" t="t" r="r" b="b"/>
              <a:pathLst>
                <a:path w="4552950" h="9525">
                  <a:moveTo>
                    <a:pt x="0" y="0"/>
                  </a:moveTo>
                  <a:lnTo>
                    <a:pt x="45529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733425" y="4876800"/>
              <a:ext cx="4552950" cy="9525"/>
            </a:xfrm>
            <a:custGeom>
              <a:avLst/>
              <a:gdLst/>
              <a:ahLst/>
              <a:cxnLst/>
              <a:rect l="l" t="t" r="r" b="b"/>
              <a:pathLst>
                <a:path w="4552950" h="9525">
                  <a:moveTo>
                    <a:pt x="0" y="0"/>
                  </a:moveTo>
                  <a:lnTo>
                    <a:pt x="45529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584008" y="3209925"/>
              <a:ext cx="691515" cy="823912"/>
            </a:xfrm>
            <a:custGeom>
              <a:avLst/>
              <a:gdLst/>
              <a:ahLst/>
              <a:cxnLst/>
              <a:rect l="l" t="t" r="r" b="b"/>
              <a:pathLst>
                <a:path w="691515" h="823912">
                  <a:moveTo>
                    <a:pt x="0" y="0"/>
                  </a:moveTo>
                  <a:lnTo>
                    <a:pt x="691515" y="823912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239328" y="4003358"/>
              <a:ext cx="98108" cy="103822"/>
            </a:xfrm>
            <a:custGeom>
              <a:avLst/>
              <a:gdLst/>
              <a:ahLst/>
              <a:cxnLst/>
              <a:rect l="l" t="t" r="r" b="b"/>
              <a:pathLst>
                <a:path w="98108" h="103822">
                  <a:moveTo>
                    <a:pt x="98108" y="103822"/>
                  </a:moveTo>
                  <a:lnTo>
                    <a:pt x="0" y="61912"/>
                  </a:lnTo>
                  <a:lnTo>
                    <a:pt x="73343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348865" y="3173730"/>
              <a:ext cx="783907" cy="933450"/>
            </a:xfrm>
            <a:custGeom>
              <a:avLst/>
              <a:gdLst/>
              <a:ahLst/>
              <a:cxnLst/>
              <a:rect l="l" t="t" r="r" b="b"/>
              <a:pathLst>
                <a:path w="783907" h="933450">
                  <a:moveTo>
                    <a:pt x="0" y="933450"/>
                  </a:moveTo>
                  <a:lnTo>
                    <a:pt x="783907" y="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096578" y="3100388"/>
              <a:ext cx="97155" cy="103822"/>
            </a:xfrm>
            <a:custGeom>
              <a:avLst/>
              <a:gdLst/>
              <a:ahLst/>
              <a:cxnLst/>
              <a:rect l="l" t="t" r="r" b="b"/>
              <a:pathLst>
                <a:path w="97155" h="103822">
                  <a:moveTo>
                    <a:pt x="97155" y="0"/>
                  </a:moveTo>
                  <a:lnTo>
                    <a:pt x="72390" y="103822"/>
                  </a:lnTo>
                  <a:lnTo>
                    <a:pt x="0" y="4191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347912" y="4122420"/>
              <a:ext cx="831533" cy="754380"/>
            </a:xfrm>
            <a:custGeom>
              <a:avLst/>
              <a:gdLst/>
              <a:ahLst/>
              <a:cxnLst/>
              <a:rect l="l" t="t" r="r" b="b"/>
              <a:pathLst>
                <a:path w="831533" h="754380">
                  <a:moveTo>
                    <a:pt x="0" y="0"/>
                  </a:moveTo>
                  <a:lnTo>
                    <a:pt x="416242" y="754380"/>
                  </a:lnTo>
                  <a:lnTo>
                    <a:pt x="831533" y="0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190875" y="3173730"/>
              <a:ext cx="782955" cy="933450"/>
            </a:xfrm>
            <a:custGeom>
              <a:avLst/>
              <a:gdLst/>
              <a:ahLst/>
              <a:cxnLst/>
              <a:rect l="l" t="t" r="r" b="b"/>
              <a:pathLst>
                <a:path w="782955" h="933450">
                  <a:moveTo>
                    <a:pt x="0" y="933450"/>
                  </a:moveTo>
                  <a:lnTo>
                    <a:pt x="782955" y="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937635" y="3100388"/>
              <a:ext cx="98108" cy="103822"/>
            </a:xfrm>
            <a:custGeom>
              <a:avLst/>
              <a:gdLst/>
              <a:ahLst/>
              <a:cxnLst/>
              <a:rect l="l" t="t" r="r" b="b"/>
              <a:pathLst>
                <a:path w="98108" h="103822">
                  <a:moveTo>
                    <a:pt x="98108" y="0"/>
                  </a:moveTo>
                  <a:lnTo>
                    <a:pt x="73343" y="103822"/>
                  </a:lnTo>
                  <a:lnTo>
                    <a:pt x="0" y="4191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2697480" y="3706178"/>
              <a:ext cx="479108" cy="401955"/>
            </a:xfrm>
            <a:custGeom>
              <a:avLst/>
              <a:gdLst/>
              <a:ahLst/>
              <a:cxnLst/>
              <a:rect l="l" t="t" r="r" b="b"/>
              <a:pathLst>
                <a:path w="479108" h="401955">
                  <a:moveTo>
                    <a:pt x="479108" y="40195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9" name="Freeform 19"/>
            <p:cNvSpPr/>
            <p:nvPr/>
          </p:nvSpPr>
          <p:spPr>
            <a:xfrm>
              <a:off x="2343150" y="3076575"/>
              <a:ext cx="9525" cy="2171700"/>
            </a:xfrm>
            <a:custGeom>
              <a:avLst/>
              <a:gdLst/>
              <a:ahLst/>
              <a:cxnLst/>
              <a:rect l="l" t="t" r="r" b="b"/>
              <a:pathLst>
                <a:path w="9525" h="2171700">
                  <a:moveTo>
                    <a:pt x="0" y="0"/>
                  </a:moveTo>
                  <a:lnTo>
                    <a:pt x="0" y="2171700"/>
                  </a:lnTo>
                </a:path>
              </a:pathLst>
            </a:custGeom>
            <a:noFill/>
            <a:ln w="17145">
              <a:solidFill>
                <a:srgbClr val="B42318"/>
              </a:solidFill>
              <a:custDash>
                <a:ds d="333333" sp="222222"/>
              </a:custDash>
            </a:ln>
          </p:spPr>
        </p:sp>
        <p:sp>
          <p:nvSpPr>
            <p:cNvPr id="20" name="Freeform 20"/>
            <p:cNvSpPr/>
            <p:nvPr/>
          </p:nvSpPr>
          <p:spPr>
            <a:xfrm>
              <a:off x="2764155" y="4124325"/>
              <a:ext cx="9525" cy="742950"/>
            </a:xfrm>
            <a:custGeom>
              <a:avLst/>
              <a:gdLst/>
              <a:ahLst/>
              <a:cxnLst/>
              <a:rect l="l" t="t" r="r" b="b"/>
              <a:pathLst>
                <a:path w="9525" h="742950">
                  <a:moveTo>
                    <a:pt x="0" y="0"/>
                  </a:moveTo>
                  <a:lnTo>
                    <a:pt x="0" y="74295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21" name="Freeform 21"/>
            <p:cNvSpPr/>
            <p:nvPr/>
          </p:nvSpPr>
          <p:spPr>
            <a:xfrm>
              <a:off x="2093595" y="3714750"/>
              <a:ext cx="240030" cy="87630"/>
            </a:xfrm>
            <a:custGeom>
              <a:avLst/>
              <a:gdLst/>
              <a:ahLst/>
              <a:cxnLst/>
              <a:rect l="l" t="t" r="r" b="b"/>
              <a:pathLst>
                <a:path w="240030" h="87630">
                  <a:moveTo>
                    <a:pt x="240030" y="0"/>
                  </a:moveTo>
                  <a:lnTo>
                    <a:pt x="221932" y="953"/>
                  </a:lnTo>
                  <a:lnTo>
                    <a:pt x="194310" y="3810"/>
                  </a:lnTo>
                  <a:lnTo>
                    <a:pt x="166688" y="8572"/>
                  </a:lnTo>
                  <a:lnTo>
                    <a:pt x="140017" y="15240"/>
                  </a:lnTo>
                  <a:lnTo>
                    <a:pt x="112395" y="23812"/>
                  </a:lnTo>
                  <a:lnTo>
                    <a:pt x="86677" y="34290"/>
                  </a:lnTo>
                  <a:lnTo>
                    <a:pt x="61912" y="46672"/>
                  </a:lnTo>
                  <a:lnTo>
                    <a:pt x="37147" y="60960"/>
                  </a:lnTo>
                  <a:lnTo>
                    <a:pt x="14288" y="76200"/>
                  </a:lnTo>
                  <a:lnTo>
                    <a:pt x="0" y="8763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2352675" y="4418648"/>
              <a:ext cx="147638" cy="39053"/>
            </a:xfrm>
            <a:custGeom>
              <a:avLst/>
              <a:gdLst/>
              <a:ahLst/>
              <a:cxnLst/>
              <a:rect l="l" t="t" r="r" b="b"/>
              <a:pathLst>
                <a:path w="147638" h="39053">
                  <a:moveTo>
                    <a:pt x="0" y="39053"/>
                  </a:moveTo>
                  <a:lnTo>
                    <a:pt x="7620" y="38100"/>
                  </a:lnTo>
                  <a:lnTo>
                    <a:pt x="24765" y="37148"/>
                  </a:lnTo>
                  <a:lnTo>
                    <a:pt x="41910" y="35243"/>
                  </a:lnTo>
                  <a:lnTo>
                    <a:pt x="59055" y="31433"/>
                  </a:lnTo>
                  <a:lnTo>
                    <a:pt x="76200" y="27623"/>
                  </a:lnTo>
                  <a:lnTo>
                    <a:pt x="92392" y="22860"/>
                  </a:lnTo>
                  <a:lnTo>
                    <a:pt x="108585" y="17145"/>
                  </a:lnTo>
                  <a:lnTo>
                    <a:pt x="125730" y="11430"/>
                  </a:lnTo>
                  <a:lnTo>
                    <a:pt x="140970" y="3810"/>
                  </a:lnTo>
                  <a:lnTo>
                    <a:pt x="14763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1104900" y="4219575"/>
              <a:ext cx="9525" cy="552450"/>
            </a:xfrm>
            <a:custGeom>
              <a:avLst/>
              <a:gdLst/>
              <a:ahLst/>
              <a:cxnLst/>
              <a:rect l="l" t="t" r="r" b="b"/>
              <a:pathLst>
                <a:path w="9525" h="552450">
                  <a:moveTo>
                    <a:pt x="0" y="0"/>
                  </a:moveTo>
                  <a:lnTo>
                    <a:pt x="0" y="5524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057275" y="47720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1057275" y="41243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159211" y="3486150"/>
              <a:ext cx="630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389149" y="45191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139035" y="415718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712440" y="497633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265842" y="417623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486697" y="360949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265449" y="30980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①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106506" y="30980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99758" y="44196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822113" y="383333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822113" y="442388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822113" y="503348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449425" y="303514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104533" y="2833211"/>
              <a:ext cx="11442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① ② 经透镜会聚到 P</a:t>
              </a:r>
            </a:p>
          </p:txBody>
        </p:sp>
      </p:grpSp>
      <p:grpSp>
        <p:nvGrpSpPr>
          <p:cNvPr id="58" name="c2-steps-1"/>
          <p:cNvGrpSpPr/>
          <p:nvPr/>
        </p:nvGrpSpPr>
        <p:grpSpPr>
          <a:xfrm>
            <a:off x="5815965" y="1533525"/>
            <a:ext cx="4298655" cy="2529173"/>
            <a:chOff x="5815965" y="1533525"/>
            <a:chExt cx="4298655" cy="2529173"/>
          </a:xfrm>
        </p:grpSpPr>
        <p:sp>
          <p:nvSpPr>
            <p:cNvPr id="41" name="Rectangle 41"/>
            <p:cNvSpPr/>
            <p:nvPr/>
          </p:nvSpPr>
          <p:spPr>
            <a:xfrm>
              <a:off x="5949315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5815965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909589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815965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909589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5815965" y="34861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909589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227445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写光程差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228588" y="1861661"/>
              <a:ext cx="20067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δ′ = n₂(AB + BC) − n₁AD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227445" y="221837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几何关系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228588" y="2512219"/>
              <a:ext cx="38860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 = BC = e/cos r，AD = AC sin i = 2e tan r sin i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227445" y="28689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228588" y="3162776"/>
              <a:ext cx="29078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δ′ = (2e/cos r)(n₂ − n₁ sin r sin i)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227445" y="352044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用折射定律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228588" y="3813334"/>
              <a:ext cx="34161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 sin i = n₂ sin r，化简得 δ′ = 2n₂e cos r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formula41"/>
              <p:cNvSpPr txBox="1">
                <a:spLocks noGrp="1"/>
              </p:cNvSpPr>
              <p:nvPr/>
            </p:nvSpPr>
            <p:spPr>
              <a:xfrm>
                <a:off x="5815965" y="4241482"/>
                <a:ext cx="5842635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δ'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2e</m:t>
                      </m:r>
                      <m:rad>
                        <m:radPr>
                          <m:degHide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/>
                        <m:e>
                          <m:sSub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  <m:func>
                            <m:funcPr/>
                            <m:fName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func>
                        </m:e>
                      </m:ra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formula42"/>
              <p:cNvSpPr txBox="1">
                <a:spLocks noGrp="1"/>
              </p:cNvSpPr>
              <p:nvPr/>
            </p:nvSpPr>
            <p:spPr>
              <a:xfrm>
                <a:off x="5815965" y="4889182"/>
                <a:ext cx="5842635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2e</m:t>
                      </m:r>
                      <m:rad>
                        <m:radPr>
                          <m:degHide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/>
                        <m:e>
                          <m:sSub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  <m:func>
                            <m:funcPr/>
                            <m:fName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func>
                        </m:e>
                      </m:ra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num>
                        <m:den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62" name="c2-text-4"/>
          <p:cNvGrpSpPr/>
          <p:nvPr/>
        </p:nvGrpSpPr>
        <p:grpSpPr>
          <a:xfrm>
            <a:off x="5809488" y="5640229"/>
            <a:ext cx="5580634" cy="500824"/>
            <a:chOff x="5809488" y="5640229"/>
            <a:chExt cx="5580634" cy="500824"/>
          </a:xfrm>
        </p:grpSpPr>
        <p:sp>
          <p:nvSpPr>
            <p:cNvPr id="61" name="TextBox 61"/>
            <p:cNvSpPr txBox="1"/>
            <p:nvPr/>
          </p:nvSpPr>
          <p:spPr>
            <a:xfrm>
              <a:off x="5809488" y="5640229"/>
              <a:ext cx="5580634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最后加的 λ/2：光 ① 在上表面由光疏射向光密反射，有半波损失；光 ② 在下表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面由光密射向光疏反射，没有。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薄膜干涉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极值条件；膜厚均匀时同一条纹对应同一入射角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2095500"/>
            <a:chOff x="533400" y="1524000"/>
            <a:chExt cx="5626418" cy="2095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095500"/>
            </a:xfrm>
            <a:prstGeom prst="roundRect">
              <a:avLst>
                <a:gd name="adj" fmla="val 6364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2132648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84036" y="1769269"/>
              <a:ext cx="20495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反射光的明暗条件（n₂ &gt; n₁）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formula46"/>
                <p:cNvSpPr txBox="1">
                  <a:spLocks noGrp="1"/>
                </p:cNvSpPr>
                <p:nvPr/>
              </p:nvSpPr>
              <p:spPr>
                <a:xfrm>
                  <a:off x="742950" y="2085975"/>
                  <a:ext cx="5207318" cy="43719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2e</m:t>
                        </m:r>
                        <m:rad>
                          <m:radPr>
                            <m:degHide m:val="on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sSubSup>
                              <m:e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Sup>
                              <m:e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bSup>
                            <m:func>
                              <m:funcPr/>
                              <m:fName>
                                <m:sSup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zh-CN" sz="12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func>
                          </m:e>
                        </m:ra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num>
                          <m:den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kλ</m:t>
                        </m:r>
                        <m: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,⋯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47"/>
                <p:cNvSpPr txBox="1">
                  <a:spLocks noGrp="1"/>
                </p:cNvSpPr>
                <p:nvPr/>
              </p:nvSpPr>
              <p:spPr>
                <a:xfrm>
                  <a:off x="742950" y="2618422"/>
                  <a:ext cx="5207318" cy="43719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2e</m:t>
                        </m:r>
                        <m:rad>
                          <m:radPr>
                            <m:degHide m:val="on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sSubSup>
                              <m:e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Sup>
                              <m:e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bSup>
                            <m:func>
                              <m:funcPr/>
                              <m:fName>
                                <m:sSup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zh-CN" sz="12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r>
                                  <a:rPr lang="zh-CN" sz="12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func>
                          </m:e>
                        </m:ra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num>
                          <m:den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2k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num>
                          <m:den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a:rPr lang="zh-CN" sz="12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,⋯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TextBox 12"/>
            <p:cNvSpPr txBox="1"/>
            <p:nvPr/>
          </p:nvSpPr>
          <p:spPr>
            <a:xfrm>
              <a:off x="735330" y="317563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上式为明纹，下式为暗纹。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810000"/>
            <a:ext cx="5626418" cy="2221230"/>
            <a:chOff x="533400" y="3810000"/>
            <a:chExt cx="5626418" cy="2221230"/>
          </a:xfrm>
        </p:grpSpPr>
        <p:sp>
          <p:nvSpPr>
            <p:cNvPr id="14" name="Rectangle 14"/>
            <p:cNvSpPr/>
            <p:nvPr/>
          </p:nvSpPr>
          <p:spPr>
            <a:xfrm>
              <a:off x="533400" y="3810000"/>
              <a:ext cx="5626418" cy="2221230"/>
            </a:xfrm>
            <a:prstGeom prst="roundRect">
              <a:avLst>
                <a:gd name="adj" fmla="val 60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943350"/>
              <a:ext cx="47625" cy="195453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4019550"/>
              <a:ext cx="2817495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1670" y="4055269"/>
              <a:ext cx="27762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等倾干涉（equal inclination fringes）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3430" y="4396740"/>
              <a:ext cx="4968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膜厚 e 处处相同时，δ 只随入射角 i 变。入射角相同的光线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对应同一级条纹，所以叫等倾干涉，用透镜观察时条纹是一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组同心圆环。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6464618" y="1524000"/>
            <a:ext cx="5193982" cy="2026920"/>
            <a:chOff x="6464618" y="1524000"/>
            <a:chExt cx="5193982" cy="2026920"/>
          </a:xfrm>
        </p:grpSpPr>
        <p:sp>
          <p:nvSpPr>
            <p:cNvPr id="20" name="Rectangle 20"/>
            <p:cNvSpPr/>
            <p:nvPr/>
          </p:nvSpPr>
          <p:spPr>
            <a:xfrm>
              <a:off x="6464618" y="1524000"/>
              <a:ext cx="5193982" cy="2026920"/>
            </a:xfrm>
            <a:prstGeom prst="roundRect">
              <a:avLst>
                <a:gd name="adj" fmla="val 65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474142" y="1657350"/>
              <a:ext cx="47625" cy="176022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712268" y="1733550"/>
              <a:ext cx="1362075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776954" y="1769269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垂直入射（i = 0）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formula48"/>
                <p:cNvSpPr txBox="1">
                  <a:spLocks noGrp="1"/>
                </p:cNvSpPr>
                <p:nvPr/>
              </p:nvSpPr>
              <p:spPr>
                <a:xfrm>
                  <a:off x="6712268" y="2085975"/>
                  <a:ext cx="4736782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δ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5" name="Ellipse 25"/>
            <p:cNvSpPr/>
            <p:nvPr/>
          </p:nvSpPr>
          <p:spPr>
            <a:xfrm>
              <a:off x="6717983" y="283464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76098" y="2771775"/>
              <a:ext cx="2266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明纹 δ = kλ，k = 1, 2, …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717983" y="316992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76098" y="3107055"/>
              <a:ext cx="33268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暗纹 δ = (2k+1)λ/2，k = 0, 1, 2, …</a:t>
              </a:r>
            </a:p>
          </p:txBody>
        </p:sp>
      </p:grpSp>
      <p:grpSp>
        <p:nvGrpSpPr>
          <p:cNvPr id="35" name="c2-card-2"/>
          <p:cNvGrpSpPr/>
          <p:nvPr/>
        </p:nvGrpSpPr>
        <p:grpSpPr>
          <a:xfrm>
            <a:off x="6464618" y="3741420"/>
            <a:ext cx="5193982" cy="1316355"/>
            <a:chOff x="6464618" y="3741420"/>
            <a:chExt cx="5193982" cy="1316355"/>
          </a:xfrm>
        </p:grpSpPr>
        <p:sp>
          <p:nvSpPr>
            <p:cNvPr id="30" name="Rectangle 30"/>
            <p:cNvSpPr/>
            <p:nvPr/>
          </p:nvSpPr>
          <p:spPr>
            <a:xfrm>
              <a:off x="6464618" y="3741420"/>
              <a:ext cx="5193982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74142" y="387477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712268" y="3950970"/>
              <a:ext cx="90582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91111" y="3986689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k 从几开始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04648" y="4328160"/>
              <a:ext cx="42824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明纹若取 k = 0，得 2n₂e = −λ/2，厚度为负，不存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在，所以明纹从 k = 1 起。暗纹 k = 0 对应 e = 0。</a:t>
              </a:r>
            </a:p>
          </p:txBody>
        </p:sp>
      </p:grpSp>
      <p:grpSp>
        <p:nvGrpSpPr>
          <p:cNvPr id="42" name="c2-callout-3"/>
          <p:cNvGrpSpPr/>
          <p:nvPr/>
        </p:nvGrpSpPr>
        <p:grpSpPr>
          <a:xfrm>
            <a:off x="6464618" y="5248275"/>
            <a:ext cx="5193982" cy="782955"/>
            <a:chOff x="6464618" y="5248275"/>
            <a:chExt cx="5193982" cy="782955"/>
          </a:xfrm>
        </p:grpSpPr>
        <p:sp>
          <p:nvSpPr>
            <p:cNvPr id="36" name="Rectangle 36"/>
            <p:cNvSpPr/>
            <p:nvPr/>
          </p:nvSpPr>
          <p:spPr>
            <a:xfrm>
              <a:off x="6464618" y="524827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669405" y="5539740"/>
              <a:ext cx="200026" cy="200026"/>
              <a:chOff x="6669405" y="5539740"/>
              <a:chExt cx="200026" cy="20002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669405" y="553974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769418" y="560641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758305" y="563975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971348" y="5396865"/>
              <a:ext cx="40633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式中的 λ/2 是否出现，要看三层介质折射率的排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列，见下一页。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薄膜干涉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半波损失看三层折射率的排列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0" name="g_halfwave"/>
          <p:cNvGrpSpPr/>
          <p:nvPr/>
        </p:nvGrpSpPr>
        <p:grpSpPr>
          <a:xfrm>
            <a:off x="1063942" y="2012632"/>
            <a:ext cx="3881438" cy="3123247"/>
            <a:chOff x="1063942" y="2012632"/>
            <a:chExt cx="3881438" cy="3123247"/>
          </a:xfrm>
        </p:grpSpPr>
        <p:sp>
          <p:nvSpPr>
            <p:cNvPr id="7" name="Freeform 7"/>
            <p:cNvSpPr/>
            <p:nvPr/>
          </p:nvSpPr>
          <p:spPr>
            <a:xfrm>
              <a:off x="1078230" y="2577465"/>
              <a:ext cx="2571750" cy="9525"/>
            </a:xfrm>
            <a:custGeom>
              <a:avLst/>
              <a:gdLst/>
              <a:ahLst/>
              <a:cxnLst/>
              <a:rect l="l" t="t" r="r" b="b"/>
              <a:pathLst>
                <a:path w="2571750" h="9525">
                  <a:moveTo>
                    <a:pt x="0" y="0"/>
                  </a:moveTo>
                  <a:lnTo>
                    <a:pt x="25717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078230" y="2998470"/>
              <a:ext cx="2571750" cy="9525"/>
            </a:xfrm>
            <a:custGeom>
              <a:avLst/>
              <a:gdLst/>
              <a:ahLst/>
              <a:cxnLst/>
              <a:rect l="l" t="t" r="r" b="b"/>
              <a:pathLst>
                <a:path w="2571750" h="9525">
                  <a:moveTo>
                    <a:pt x="0" y="0"/>
                  </a:moveTo>
                  <a:lnTo>
                    <a:pt x="25717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657350" y="2262188"/>
              <a:ext cx="160973" cy="229553"/>
            </a:xfrm>
            <a:custGeom>
              <a:avLst/>
              <a:gdLst/>
              <a:ahLst/>
              <a:cxnLst/>
              <a:rect l="l" t="t" r="r" b="b"/>
              <a:pathLst>
                <a:path w="160973" h="229553">
                  <a:moveTo>
                    <a:pt x="0" y="0"/>
                  </a:moveTo>
                  <a:lnTo>
                    <a:pt x="160973" y="229553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779270" y="2465070"/>
              <a:ext cx="93345" cy="104775"/>
            </a:xfrm>
            <a:custGeom>
              <a:avLst/>
              <a:gdLst/>
              <a:ahLst/>
              <a:cxnLst/>
              <a:rect l="l" t="t" r="r" b="b"/>
              <a:pathLst>
                <a:path w="93345" h="104775">
                  <a:moveTo>
                    <a:pt x="93345" y="104775"/>
                  </a:moveTo>
                  <a:lnTo>
                    <a:pt x="0" y="54292"/>
                  </a:lnTo>
                  <a:lnTo>
                    <a:pt x="78105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884045" y="2340292"/>
              <a:ext cx="160972" cy="229553"/>
            </a:xfrm>
            <a:custGeom>
              <a:avLst/>
              <a:gdLst/>
              <a:ahLst/>
              <a:cxnLst/>
              <a:rect l="l" t="t" r="r" b="b"/>
              <a:pathLst>
                <a:path w="160972" h="229553">
                  <a:moveTo>
                    <a:pt x="0" y="229553"/>
                  </a:moveTo>
                  <a:lnTo>
                    <a:pt x="160972" y="0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005965" y="2262188"/>
              <a:ext cx="94298" cy="104775"/>
            </a:xfrm>
            <a:custGeom>
              <a:avLst/>
              <a:gdLst/>
              <a:ahLst/>
              <a:cxnLst/>
              <a:rect l="l" t="t" r="r" b="b"/>
              <a:pathLst>
                <a:path w="94298" h="104775">
                  <a:moveTo>
                    <a:pt x="94298" y="0"/>
                  </a:moveTo>
                  <a:lnTo>
                    <a:pt x="78105" y="104775"/>
                  </a:lnTo>
                  <a:lnTo>
                    <a:pt x="0" y="50483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882140" y="2586990"/>
              <a:ext cx="348615" cy="411480"/>
            </a:xfrm>
            <a:custGeom>
              <a:avLst/>
              <a:gdLst/>
              <a:ahLst/>
              <a:cxnLst/>
              <a:rect l="l" t="t" r="r" b="b"/>
              <a:pathLst>
                <a:path w="348615" h="411480">
                  <a:moveTo>
                    <a:pt x="0" y="0"/>
                  </a:moveTo>
                  <a:lnTo>
                    <a:pt x="174308" y="411480"/>
                  </a:lnTo>
                  <a:lnTo>
                    <a:pt x="348615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240280" y="2340292"/>
              <a:ext cx="160973" cy="229553"/>
            </a:xfrm>
            <a:custGeom>
              <a:avLst/>
              <a:gdLst/>
              <a:ahLst/>
              <a:cxnLst/>
              <a:rect l="l" t="t" r="r" b="b"/>
              <a:pathLst>
                <a:path w="160973" h="229553">
                  <a:moveTo>
                    <a:pt x="0" y="229553"/>
                  </a:moveTo>
                  <a:lnTo>
                    <a:pt x="160973" y="0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362200" y="2262188"/>
              <a:ext cx="93345" cy="104775"/>
            </a:xfrm>
            <a:custGeom>
              <a:avLst/>
              <a:gdLst/>
              <a:ahLst/>
              <a:cxnLst/>
              <a:rect l="l" t="t" r="r" b="b"/>
              <a:pathLst>
                <a:path w="93345" h="104775">
                  <a:moveTo>
                    <a:pt x="93345" y="0"/>
                  </a:moveTo>
                  <a:lnTo>
                    <a:pt x="78105" y="104775"/>
                  </a:lnTo>
                  <a:lnTo>
                    <a:pt x="0" y="50483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1078230" y="4197668"/>
              <a:ext cx="2571750" cy="9525"/>
            </a:xfrm>
            <a:custGeom>
              <a:avLst/>
              <a:gdLst/>
              <a:ahLst/>
              <a:cxnLst/>
              <a:rect l="l" t="t" r="r" b="b"/>
              <a:pathLst>
                <a:path w="2571750" h="9525">
                  <a:moveTo>
                    <a:pt x="0" y="0"/>
                  </a:moveTo>
                  <a:lnTo>
                    <a:pt x="25717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078230" y="4618672"/>
              <a:ext cx="2571750" cy="9525"/>
            </a:xfrm>
            <a:custGeom>
              <a:avLst/>
              <a:gdLst/>
              <a:ahLst/>
              <a:cxnLst/>
              <a:rect l="l" t="t" r="r" b="b"/>
              <a:pathLst>
                <a:path w="2571750" h="9525">
                  <a:moveTo>
                    <a:pt x="0" y="0"/>
                  </a:moveTo>
                  <a:lnTo>
                    <a:pt x="25717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657350" y="3880485"/>
              <a:ext cx="160973" cy="230505"/>
            </a:xfrm>
            <a:custGeom>
              <a:avLst/>
              <a:gdLst/>
              <a:ahLst/>
              <a:cxnLst/>
              <a:rect l="l" t="t" r="r" b="b"/>
              <a:pathLst>
                <a:path w="160973" h="230505">
                  <a:moveTo>
                    <a:pt x="0" y="0"/>
                  </a:moveTo>
                  <a:lnTo>
                    <a:pt x="160973" y="230505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779270" y="4084320"/>
              <a:ext cx="93345" cy="104775"/>
            </a:xfrm>
            <a:custGeom>
              <a:avLst/>
              <a:gdLst/>
              <a:ahLst/>
              <a:cxnLst/>
              <a:rect l="l" t="t" r="r" b="b"/>
              <a:pathLst>
                <a:path w="93345" h="104775">
                  <a:moveTo>
                    <a:pt x="93345" y="104775"/>
                  </a:moveTo>
                  <a:lnTo>
                    <a:pt x="0" y="54292"/>
                  </a:lnTo>
                  <a:lnTo>
                    <a:pt x="78105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1884045" y="3958590"/>
              <a:ext cx="160972" cy="230505"/>
            </a:xfrm>
            <a:custGeom>
              <a:avLst/>
              <a:gdLst/>
              <a:ahLst/>
              <a:cxnLst/>
              <a:rect l="l" t="t" r="r" b="b"/>
              <a:pathLst>
                <a:path w="160972" h="230505">
                  <a:moveTo>
                    <a:pt x="0" y="230505"/>
                  </a:moveTo>
                  <a:lnTo>
                    <a:pt x="160972" y="0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2005965" y="3880485"/>
              <a:ext cx="94298" cy="105728"/>
            </a:xfrm>
            <a:custGeom>
              <a:avLst/>
              <a:gdLst/>
              <a:ahLst/>
              <a:cxnLst/>
              <a:rect l="l" t="t" r="r" b="b"/>
              <a:pathLst>
                <a:path w="94298" h="105728">
                  <a:moveTo>
                    <a:pt x="94298" y="0"/>
                  </a:moveTo>
                  <a:lnTo>
                    <a:pt x="78105" y="105728"/>
                  </a:lnTo>
                  <a:lnTo>
                    <a:pt x="0" y="51435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1882140" y="4206240"/>
              <a:ext cx="348615" cy="412432"/>
            </a:xfrm>
            <a:custGeom>
              <a:avLst/>
              <a:gdLst/>
              <a:ahLst/>
              <a:cxnLst/>
              <a:rect l="l" t="t" r="r" b="b"/>
              <a:pathLst>
                <a:path w="348615" h="412432">
                  <a:moveTo>
                    <a:pt x="0" y="0"/>
                  </a:moveTo>
                  <a:lnTo>
                    <a:pt x="174308" y="412432"/>
                  </a:lnTo>
                  <a:lnTo>
                    <a:pt x="348615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2240280" y="3958590"/>
              <a:ext cx="160973" cy="230505"/>
            </a:xfrm>
            <a:custGeom>
              <a:avLst/>
              <a:gdLst/>
              <a:ahLst/>
              <a:cxnLst/>
              <a:rect l="l" t="t" r="r" b="b"/>
              <a:pathLst>
                <a:path w="160973" h="230505">
                  <a:moveTo>
                    <a:pt x="0" y="230505"/>
                  </a:moveTo>
                  <a:lnTo>
                    <a:pt x="160973" y="0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362200" y="3880485"/>
              <a:ext cx="93345" cy="105728"/>
            </a:xfrm>
            <a:custGeom>
              <a:avLst/>
              <a:gdLst/>
              <a:ahLst/>
              <a:cxnLst/>
              <a:rect l="l" t="t" r="r" b="b"/>
              <a:pathLst>
                <a:path w="93345" h="105728">
                  <a:moveTo>
                    <a:pt x="93345" y="0"/>
                  </a:moveTo>
                  <a:lnTo>
                    <a:pt x="78105" y="105728"/>
                  </a:lnTo>
                  <a:lnTo>
                    <a:pt x="0" y="51435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1078230" y="3565208"/>
              <a:ext cx="3867150" cy="9525"/>
            </a:xfrm>
            <a:custGeom>
              <a:avLst/>
              <a:gdLst/>
              <a:ahLst/>
              <a:cxnLst/>
              <a:rect l="l" t="t" r="r" b="b"/>
              <a:pathLst>
                <a:path w="3867150" h="9525">
                  <a:moveTo>
                    <a:pt x="0" y="0"/>
                  </a:moveTo>
                  <a:lnTo>
                    <a:pt x="386715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63942" y="2012632"/>
              <a:ext cx="8576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空气中的肥皂膜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32866" y="2304098"/>
              <a:ext cx="5486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 = 1.00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019387" y="2725102"/>
              <a:ext cx="5756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n₂ = 1.33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32866" y="3129915"/>
              <a:ext cx="5486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n₃ = 1.00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569845" y="2391251"/>
              <a:ext cx="78748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上表面：有 λ/2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294572" y="3086576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下表面：无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63942" y="3340418"/>
              <a:ext cx="110570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只有一面有：加 λ/2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63942" y="3631882"/>
              <a:ext cx="10113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玻璃上的 MgF₂ 膜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032866" y="3923348"/>
              <a:ext cx="5486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 = 1.00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019387" y="4344352"/>
              <a:ext cx="5756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n₂ = 1.38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032866" y="4749165"/>
              <a:ext cx="5486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n₃ = 1.52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569845" y="4009549"/>
              <a:ext cx="78748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上表面：有 λ/2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294572" y="4705826"/>
              <a:ext cx="78748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下表面：有 λ/2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63942" y="4959667"/>
              <a:ext cx="12211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两面都有：抵消，不加</a:t>
              </a:r>
            </a:p>
          </p:txBody>
        </p:sp>
      </p:grpSp>
      <p:grpSp>
        <p:nvGrpSpPr>
          <p:cNvPr id="75" name="c2-table-1"/>
          <p:cNvGrpSpPr/>
          <p:nvPr/>
        </p:nvGrpSpPr>
        <p:grpSpPr>
          <a:xfrm>
            <a:off x="5815965" y="1524000"/>
            <a:ext cx="5842635" cy="1906905"/>
            <a:chOff x="5815965" y="1524000"/>
            <a:chExt cx="5842635" cy="1906905"/>
          </a:xfrm>
        </p:grpSpPr>
        <p:sp>
          <p:nvSpPr>
            <p:cNvPr id="41" name="Rectangle 41"/>
            <p:cNvSpPr/>
            <p:nvPr/>
          </p:nvSpPr>
          <p:spPr>
            <a:xfrm>
              <a:off x="5815965" y="1524000"/>
              <a:ext cx="5842635" cy="38100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74498" y="1641157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折射率排列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93736" y="1641157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上表面反射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196768" y="1641157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下表面反射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666167" y="1641157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附加 λ/2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910644" y="2023110"/>
              <a:ext cx="841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 &lt; n₂ &gt; n₃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46086" y="20231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948166" y="20231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0266045" y="1914525"/>
              <a:ext cx="1383030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351198" y="2023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要加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815965" y="22821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815965" y="2286952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910644" y="2404110"/>
              <a:ext cx="841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 &gt; n₂ &lt; n₃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546086" y="24041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948166" y="24041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10266045" y="2296478"/>
              <a:ext cx="1383030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351198" y="2404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要加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815965" y="26631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910644" y="2785110"/>
              <a:ext cx="841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 &lt; n₂ &lt; n₃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546086" y="27851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948166" y="27851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10266045" y="2677478"/>
              <a:ext cx="1383030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0351198" y="2785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不加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815965" y="304514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5815965" y="3049905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910644" y="3167062"/>
              <a:ext cx="841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 &gt; n₂ &gt; n₃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546086" y="31670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948166" y="31670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10266045" y="3059430"/>
              <a:ext cx="1383030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10351198" y="31670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不加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5815965" y="1524000"/>
              <a:ext cx="5842635" cy="1906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7446645" y="1524000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8848725" y="1524000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10251758" y="1524000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0" name="c2-card-2"/>
          <p:cNvGrpSpPr/>
          <p:nvPr/>
        </p:nvGrpSpPr>
        <p:grpSpPr>
          <a:xfrm>
            <a:off x="5815965" y="3595688"/>
            <a:ext cx="5842635" cy="1143952"/>
            <a:chOff x="5815965" y="3595688"/>
            <a:chExt cx="5842635" cy="1143952"/>
          </a:xfrm>
        </p:grpSpPr>
        <p:sp>
          <p:nvSpPr>
            <p:cNvPr id="76" name="Rectangle 76"/>
            <p:cNvSpPr/>
            <p:nvPr/>
          </p:nvSpPr>
          <p:spPr>
            <a:xfrm>
              <a:off x="5815965" y="3595688"/>
              <a:ext cx="5842635" cy="1143952"/>
            </a:xfrm>
            <a:prstGeom prst="roundRect">
              <a:avLst>
                <a:gd name="adj" fmla="val 11657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5996940" y="377666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081509" y="38095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判断规则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5990463" y="4117181"/>
              <a:ext cx="504418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两个反射面中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恰好一个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有半波损失，光程差才加 λ/2；两个都有或都没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有，互相抵消，不加。</a:t>
              </a:r>
            </a:p>
          </p:txBody>
        </p:sp>
      </p:grpSp>
      <p:grpSp>
        <p:nvGrpSpPr>
          <p:cNvPr id="87" name="c2-callout-3"/>
          <p:cNvGrpSpPr/>
          <p:nvPr/>
        </p:nvGrpSpPr>
        <p:grpSpPr>
          <a:xfrm>
            <a:off x="5815965" y="4904422"/>
            <a:ext cx="5842635" cy="702945"/>
            <a:chOff x="5815965" y="4904422"/>
            <a:chExt cx="5842635" cy="702945"/>
          </a:xfrm>
        </p:grpSpPr>
        <p:sp>
          <p:nvSpPr>
            <p:cNvPr id="81" name="Rectangle 81"/>
            <p:cNvSpPr/>
            <p:nvPr/>
          </p:nvSpPr>
          <p:spPr>
            <a:xfrm>
              <a:off x="5815965" y="4904422"/>
              <a:ext cx="5842635" cy="702945"/>
            </a:xfrm>
            <a:prstGeom prst="roundRect">
              <a:avLst>
                <a:gd name="adj" fmla="val 1626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6020753" y="5155883"/>
              <a:ext cx="200026" cy="200025"/>
              <a:chOff x="6020753" y="5155883"/>
              <a:chExt cx="200026" cy="200025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6020753" y="51558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6060491" y="52003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6095207" y="53114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6323838" y="5049679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折射率夹在中间（单调递增或递减）不加；膜的折射率最大或最小时</a:t>
              </a:r>
              <a:br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要加。</a:t>
              </a:r>
            </a:p>
          </p:txBody>
        </p:sp>
      </p:grpSp>
      <p:grpSp>
        <p:nvGrpSpPr>
          <p:cNvPr id="94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88" name="Rectangle 88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92" name="Group 92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1" name="Freeform 91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93" name="TextBox 93"/>
            <p:cNvSpPr txBox="1"/>
            <p:nvPr/>
          </p:nvSpPr>
          <p:spPr>
            <a:xfrm>
              <a:off x="1041273" y="6039326"/>
              <a:ext cx="97055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原课件把前两行归为「反射光考虑半波损失」，后两行归为「不考虑半波损失」，说的是两束反射光之间有没有额外的 λ/2 差。</a:t>
              </a:r>
            </a:p>
          </p:txBody>
        </p:sp>
      </p:grpSp>
      <p:grpSp>
        <p:nvGrpSpPr>
          <p:cNvPr id="9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5" name="TextBox 95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薄膜干涉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透射光的干涉与反射光互补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g_trans"/>
          <p:cNvGrpSpPr/>
          <p:nvPr/>
        </p:nvGrpSpPr>
        <p:grpSpPr>
          <a:xfrm>
            <a:off x="733425" y="2072640"/>
            <a:ext cx="4662487" cy="2687479"/>
            <a:chOff x="733425" y="2072640"/>
            <a:chExt cx="4662487" cy="2687479"/>
          </a:xfrm>
        </p:grpSpPr>
        <p:sp>
          <p:nvSpPr>
            <p:cNvPr id="7" name="Freeform 7"/>
            <p:cNvSpPr/>
            <p:nvPr/>
          </p:nvSpPr>
          <p:spPr>
            <a:xfrm>
              <a:off x="733425" y="2987040"/>
              <a:ext cx="4552950" cy="9525"/>
            </a:xfrm>
            <a:custGeom>
              <a:avLst/>
              <a:gdLst/>
              <a:ahLst/>
              <a:cxnLst/>
              <a:rect l="l" t="t" r="r" b="b"/>
              <a:pathLst>
                <a:path w="4552950" h="9525">
                  <a:moveTo>
                    <a:pt x="0" y="0"/>
                  </a:moveTo>
                  <a:lnTo>
                    <a:pt x="45529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733425" y="3653790"/>
              <a:ext cx="4552950" cy="9525"/>
            </a:xfrm>
            <a:custGeom>
              <a:avLst/>
              <a:gdLst/>
              <a:ahLst/>
              <a:cxnLst/>
              <a:rect l="l" t="t" r="r" b="b"/>
              <a:pathLst>
                <a:path w="4552950" h="9525">
                  <a:moveTo>
                    <a:pt x="0" y="0"/>
                  </a:moveTo>
                  <a:lnTo>
                    <a:pt x="45529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325880" y="2227898"/>
              <a:ext cx="569595" cy="679132"/>
            </a:xfrm>
            <a:custGeom>
              <a:avLst/>
              <a:gdLst/>
              <a:ahLst/>
              <a:cxnLst/>
              <a:rect l="l" t="t" r="r" b="b"/>
              <a:pathLst>
                <a:path w="569595" h="679132">
                  <a:moveTo>
                    <a:pt x="0" y="0"/>
                  </a:moveTo>
                  <a:lnTo>
                    <a:pt x="569595" y="679132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858328" y="2876550"/>
              <a:ext cx="98108" cy="102870"/>
            </a:xfrm>
            <a:custGeom>
              <a:avLst/>
              <a:gdLst/>
              <a:ahLst/>
              <a:cxnLst/>
              <a:rect l="l" t="t" r="r" b="b"/>
              <a:pathLst>
                <a:path w="98108" h="102870">
                  <a:moveTo>
                    <a:pt x="98108" y="102870"/>
                  </a:moveTo>
                  <a:lnTo>
                    <a:pt x="0" y="60960"/>
                  </a:lnTo>
                  <a:lnTo>
                    <a:pt x="73343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966912" y="2987040"/>
              <a:ext cx="1094422" cy="666750"/>
            </a:xfrm>
            <a:custGeom>
              <a:avLst/>
              <a:gdLst/>
              <a:ahLst/>
              <a:cxnLst/>
              <a:rect l="l" t="t" r="r" b="b"/>
              <a:pathLst>
                <a:path w="1094422" h="666750">
                  <a:moveTo>
                    <a:pt x="0" y="8572"/>
                  </a:moveTo>
                  <a:lnTo>
                    <a:pt x="362902" y="666750"/>
                  </a:lnTo>
                  <a:lnTo>
                    <a:pt x="731520" y="0"/>
                  </a:lnTo>
                  <a:lnTo>
                    <a:pt x="1094422" y="658177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336482" y="3661410"/>
              <a:ext cx="762000" cy="907733"/>
            </a:xfrm>
            <a:custGeom>
              <a:avLst/>
              <a:gdLst/>
              <a:ahLst/>
              <a:cxnLst/>
              <a:rect l="l" t="t" r="r" b="b"/>
              <a:pathLst>
                <a:path w="762000" h="907733">
                  <a:moveTo>
                    <a:pt x="0" y="0"/>
                  </a:moveTo>
                  <a:lnTo>
                    <a:pt x="762000" y="907733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062288" y="4538662"/>
              <a:ext cx="97155" cy="103822"/>
            </a:xfrm>
            <a:custGeom>
              <a:avLst/>
              <a:gdLst/>
              <a:ahLst/>
              <a:cxnLst/>
              <a:rect l="l" t="t" r="r" b="b"/>
              <a:pathLst>
                <a:path w="97155" h="103822">
                  <a:moveTo>
                    <a:pt x="97155" y="103822"/>
                  </a:moveTo>
                  <a:lnTo>
                    <a:pt x="0" y="60960"/>
                  </a:lnTo>
                  <a:lnTo>
                    <a:pt x="7239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3072765" y="3661410"/>
              <a:ext cx="568642" cy="678180"/>
            </a:xfrm>
            <a:custGeom>
              <a:avLst/>
              <a:gdLst/>
              <a:ahLst/>
              <a:cxnLst/>
              <a:rect l="l" t="t" r="r" b="b"/>
              <a:pathLst>
                <a:path w="568642" h="678180">
                  <a:moveTo>
                    <a:pt x="0" y="0"/>
                  </a:moveTo>
                  <a:lnTo>
                    <a:pt x="568642" y="67818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605212" y="4309110"/>
              <a:ext cx="98108" cy="103823"/>
            </a:xfrm>
            <a:custGeom>
              <a:avLst/>
              <a:gdLst/>
              <a:ahLst/>
              <a:cxnLst/>
              <a:rect l="l" t="t" r="r" b="b"/>
              <a:pathLst>
                <a:path w="98108" h="103823">
                  <a:moveTo>
                    <a:pt x="98108" y="103823"/>
                  </a:moveTo>
                  <a:lnTo>
                    <a:pt x="0" y="60960"/>
                  </a:lnTo>
                  <a:lnTo>
                    <a:pt x="73342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2641282" y="3660458"/>
              <a:ext cx="418147" cy="349567"/>
            </a:xfrm>
            <a:custGeom>
              <a:avLst/>
              <a:gdLst/>
              <a:ahLst/>
              <a:cxnLst/>
              <a:rect l="l" t="t" r="r" b="b"/>
              <a:pathLst>
                <a:path w="418147" h="349567">
                  <a:moveTo>
                    <a:pt x="418147" y="0"/>
                  </a:moveTo>
                  <a:lnTo>
                    <a:pt x="0" y="349567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7" name="Freeform 17"/>
            <p:cNvSpPr/>
            <p:nvPr/>
          </p:nvSpPr>
          <p:spPr>
            <a:xfrm>
              <a:off x="1104900" y="3091815"/>
              <a:ext cx="9525" cy="457200"/>
            </a:xfrm>
            <a:custGeom>
              <a:avLst/>
              <a:gdLst/>
              <a:ahLst/>
              <a:cxnLst/>
              <a:rect l="l" t="t" r="r" b="b"/>
              <a:pathLst>
                <a:path w="9525" h="457200">
                  <a:moveTo>
                    <a:pt x="0" y="0"/>
                  </a:moveTo>
                  <a:lnTo>
                    <a:pt x="0" y="4572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057275" y="35490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1057275" y="299656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758035" y="281987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144750" y="371617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703867" y="278272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166782" y="352472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30500" y="400192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250209" y="45400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③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93134" y="43105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④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41689" y="2072640"/>
              <a:ext cx="28542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B、C 两处都是由光密射向光疏反射，都没有半波损失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99758" y="324421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822113" y="270557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822113" y="324850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822113" y="381047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formula50"/>
              <p:cNvSpPr txBox="1">
                <a:spLocks noGrp="1"/>
              </p:cNvSpPr>
              <p:nvPr/>
            </p:nvSpPr>
            <p:spPr>
              <a:xfrm>
                <a:off x="5815965" y="1524000"/>
                <a:ext cx="5842635" cy="3886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δ'</m:t>
                      </m: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bar>
                            <m:barPr>
                              <m:pos m:val="top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bar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BC</m:t>
                              </m:r>
                            </m:e>
                          </m:bar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bar>
                            <m:barPr>
                              <m:pos m:val="top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bar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CE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bar>
                        <m:barPr>
                          <m:pos m:val="top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barPr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BF</m:t>
                          </m:r>
                        </m:e>
                      </m:ba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2e</m:t>
                      </m:r>
                      <m:rad>
                        <m:radPr>
                          <m:degHide m:val="on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/>
                        <m:e>
                          <m:sSubSup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Sup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  <m:func>
                            <m:funcPr/>
                            <m:fName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func>
                        </m:e>
                      </m:rad>
                    </m:oMath>
                  </m:oMathPara>
                </a14:m>
              </a:p>
            </p:txBody>
          </p:sp>
        </mc:Choice>
      </mc:AlternateContent>
      <p:grpSp>
        <p:nvGrpSpPr>
          <p:cNvPr id="39" name="c2-card-2"/>
          <p:cNvGrpSpPr/>
          <p:nvPr/>
        </p:nvGrpSpPr>
        <p:grpSpPr>
          <a:xfrm>
            <a:off x="5815965" y="2103120"/>
            <a:ext cx="5842635" cy="1602105"/>
            <a:chOff x="5815965" y="2103120"/>
            <a:chExt cx="5842635" cy="1602105"/>
          </a:xfrm>
        </p:grpSpPr>
        <p:sp>
          <p:nvSpPr>
            <p:cNvPr id="34" name="Rectangle 34"/>
            <p:cNvSpPr/>
            <p:nvPr/>
          </p:nvSpPr>
          <p:spPr>
            <a:xfrm>
              <a:off x="5815965" y="2103120"/>
              <a:ext cx="584263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825490" y="223647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063615" y="2312670"/>
              <a:ext cx="24231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096078" y="2348389"/>
              <a:ext cx="2358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透射光为什么不加 λ/2（n₂ &gt; n₁）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055995" y="2689860"/>
              <a:ext cx="51301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透射光 ④ 在 B、C 两处各反射一次，都是由光密射向光疏，都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没有半波损失；光 ③ 直接透过。所以透射光的光程差就是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δ′，比反射光少了 λ/2。</a:t>
              </a:r>
            </a:p>
          </p:txBody>
        </p:sp>
      </p:grpSp>
      <p:grpSp>
        <p:nvGrpSpPr>
          <p:cNvPr id="44" name="c2-card-3"/>
          <p:cNvGrpSpPr/>
          <p:nvPr/>
        </p:nvGrpSpPr>
        <p:grpSpPr>
          <a:xfrm>
            <a:off x="5815965" y="3895725"/>
            <a:ext cx="5842635" cy="1316355"/>
            <a:chOff x="5815965" y="3895725"/>
            <a:chExt cx="5842635" cy="1316355"/>
          </a:xfrm>
        </p:grpSpPr>
        <p:sp>
          <p:nvSpPr>
            <p:cNvPr id="40" name="Rectangle 40"/>
            <p:cNvSpPr/>
            <p:nvPr/>
          </p:nvSpPr>
          <p:spPr>
            <a:xfrm>
              <a:off x="5815965" y="3895725"/>
              <a:ext cx="5842635" cy="1316355"/>
            </a:xfrm>
            <a:prstGeom prst="roundRect">
              <a:avLst>
                <a:gd name="adj" fmla="val 1013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025515" y="410527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102921" y="414099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垂直入射时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017895" y="4482465"/>
              <a:ext cx="5130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2n₂e = kλ 透射光明，= (2k+1)λ/2 透射光暗。反射光加强的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地方透射光正好减弱，反之亦然，符合能量守恒。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5" name="Rectangle 4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130" y="5991225"/>
              <a:ext cx="809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反射与透射两套条件互补，只记反射光的加强、减弱条件就够了，透射光的结论反过来说。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薄膜干涉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增透膜：让两束反射光相消，透射光就加强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5" name="g_coat"/>
          <p:cNvGrpSpPr/>
          <p:nvPr/>
        </p:nvGrpSpPr>
        <p:grpSpPr>
          <a:xfrm>
            <a:off x="808672" y="1581150"/>
            <a:ext cx="4862513" cy="1834134"/>
            <a:chOff x="808672" y="1581150"/>
            <a:chExt cx="4862513" cy="1834134"/>
          </a:xfrm>
        </p:grpSpPr>
        <p:sp>
          <p:nvSpPr>
            <p:cNvPr id="7" name="Freeform 7"/>
            <p:cNvSpPr/>
            <p:nvPr/>
          </p:nvSpPr>
          <p:spPr>
            <a:xfrm>
              <a:off x="808672" y="2540318"/>
              <a:ext cx="4859655" cy="9525"/>
            </a:xfrm>
            <a:custGeom>
              <a:avLst/>
              <a:gdLst/>
              <a:ahLst/>
              <a:cxnLst/>
              <a:rect l="l" t="t" r="r" b="b"/>
              <a:pathLst>
                <a:path w="4859655" h="9525">
                  <a:moveTo>
                    <a:pt x="0" y="0"/>
                  </a:moveTo>
                  <a:lnTo>
                    <a:pt x="4859655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808672" y="2909888"/>
              <a:ext cx="4859655" cy="9525"/>
            </a:xfrm>
            <a:custGeom>
              <a:avLst/>
              <a:gdLst/>
              <a:ahLst/>
              <a:cxnLst/>
              <a:rect l="l" t="t" r="r" b="b"/>
              <a:pathLst>
                <a:path w="4859655" h="9525">
                  <a:moveTo>
                    <a:pt x="0" y="0"/>
                  </a:moveTo>
                  <a:lnTo>
                    <a:pt x="4859655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897255" y="2972752"/>
              <a:ext cx="118110" cy="151447"/>
            </a:xfrm>
            <a:custGeom>
              <a:avLst/>
              <a:gdLst/>
              <a:ahLst/>
              <a:cxnLst/>
              <a:rect l="l" t="t" r="r" b="b"/>
              <a:pathLst>
                <a:path w="118110" h="151447">
                  <a:moveTo>
                    <a:pt x="0" y="0"/>
                  </a:moveTo>
                  <a:lnTo>
                    <a:pt x="118110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119188" y="2972752"/>
              <a:ext cx="118110" cy="151447"/>
            </a:xfrm>
            <a:custGeom>
              <a:avLst/>
              <a:gdLst/>
              <a:ahLst/>
              <a:cxnLst/>
              <a:rect l="l" t="t" r="r" b="b"/>
              <a:pathLst>
                <a:path w="118110" h="151447">
                  <a:moveTo>
                    <a:pt x="0" y="0"/>
                  </a:moveTo>
                  <a:lnTo>
                    <a:pt x="118110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341120" y="2972752"/>
              <a:ext cx="117157" cy="151447"/>
            </a:xfrm>
            <a:custGeom>
              <a:avLst/>
              <a:gdLst/>
              <a:ahLst/>
              <a:cxnLst/>
              <a:rect l="l" t="t" r="r" b="b"/>
              <a:pathLst>
                <a:path w="117157" h="151447">
                  <a:moveTo>
                    <a:pt x="0" y="0"/>
                  </a:moveTo>
                  <a:lnTo>
                    <a:pt x="117157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563052" y="2972752"/>
              <a:ext cx="117158" cy="151447"/>
            </a:xfrm>
            <a:custGeom>
              <a:avLst/>
              <a:gdLst/>
              <a:ahLst/>
              <a:cxnLst/>
              <a:rect l="l" t="t" r="r" b="b"/>
              <a:pathLst>
                <a:path w="117158" h="151447">
                  <a:moveTo>
                    <a:pt x="0" y="0"/>
                  </a:moveTo>
                  <a:lnTo>
                    <a:pt x="117158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784985" y="2972752"/>
              <a:ext cx="117157" cy="151447"/>
            </a:xfrm>
            <a:custGeom>
              <a:avLst/>
              <a:gdLst/>
              <a:ahLst/>
              <a:cxnLst/>
              <a:rect l="l" t="t" r="r" b="b"/>
              <a:pathLst>
                <a:path w="117157" h="151447">
                  <a:moveTo>
                    <a:pt x="0" y="0"/>
                  </a:moveTo>
                  <a:lnTo>
                    <a:pt x="117157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006918" y="2972752"/>
              <a:ext cx="117158" cy="151447"/>
            </a:xfrm>
            <a:custGeom>
              <a:avLst/>
              <a:gdLst/>
              <a:ahLst/>
              <a:cxnLst/>
              <a:rect l="l" t="t" r="r" b="b"/>
              <a:pathLst>
                <a:path w="117158" h="151447">
                  <a:moveTo>
                    <a:pt x="0" y="0"/>
                  </a:moveTo>
                  <a:lnTo>
                    <a:pt x="117158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227898" y="2972752"/>
              <a:ext cx="118110" cy="151447"/>
            </a:xfrm>
            <a:custGeom>
              <a:avLst/>
              <a:gdLst/>
              <a:ahLst/>
              <a:cxnLst/>
              <a:rect l="l" t="t" r="r" b="b"/>
              <a:pathLst>
                <a:path w="118110" h="151447">
                  <a:moveTo>
                    <a:pt x="0" y="0"/>
                  </a:moveTo>
                  <a:lnTo>
                    <a:pt x="118110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449830" y="2972752"/>
              <a:ext cx="117158" cy="151447"/>
            </a:xfrm>
            <a:custGeom>
              <a:avLst/>
              <a:gdLst/>
              <a:ahLst/>
              <a:cxnLst/>
              <a:rect l="l" t="t" r="r" b="b"/>
              <a:pathLst>
                <a:path w="117158" h="151447">
                  <a:moveTo>
                    <a:pt x="0" y="0"/>
                  </a:moveTo>
                  <a:lnTo>
                    <a:pt x="117158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2671762" y="2972752"/>
              <a:ext cx="117158" cy="151447"/>
            </a:xfrm>
            <a:custGeom>
              <a:avLst/>
              <a:gdLst/>
              <a:ahLst/>
              <a:cxnLst/>
              <a:rect l="l" t="t" r="r" b="b"/>
              <a:pathLst>
                <a:path w="117158" h="151447">
                  <a:moveTo>
                    <a:pt x="0" y="0"/>
                  </a:moveTo>
                  <a:lnTo>
                    <a:pt x="117158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893695" y="2972752"/>
              <a:ext cx="117158" cy="151447"/>
            </a:xfrm>
            <a:custGeom>
              <a:avLst/>
              <a:gdLst/>
              <a:ahLst/>
              <a:cxnLst/>
              <a:rect l="l" t="t" r="r" b="b"/>
              <a:pathLst>
                <a:path w="117158" h="151447">
                  <a:moveTo>
                    <a:pt x="0" y="0"/>
                  </a:moveTo>
                  <a:lnTo>
                    <a:pt x="117158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3114675" y="2972752"/>
              <a:ext cx="118110" cy="151447"/>
            </a:xfrm>
            <a:custGeom>
              <a:avLst/>
              <a:gdLst/>
              <a:ahLst/>
              <a:cxnLst/>
              <a:rect l="l" t="t" r="r" b="b"/>
              <a:pathLst>
                <a:path w="118110" h="151447">
                  <a:moveTo>
                    <a:pt x="0" y="0"/>
                  </a:moveTo>
                  <a:lnTo>
                    <a:pt x="118110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336608" y="2972752"/>
              <a:ext cx="118110" cy="151447"/>
            </a:xfrm>
            <a:custGeom>
              <a:avLst/>
              <a:gdLst/>
              <a:ahLst/>
              <a:cxnLst/>
              <a:rect l="l" t="t" r="r" b="b"/>
              <a:pathLst>
                <a:path w="118110" h="151447">
                  <a:moveTo>
                    <a:pt x="0" y="0"/>
                  </a:moveTo>
                  <a:lnTo>
                    <a:pt x="118110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3558540" y="2972752"/>
              <a:ext cx="118110" cy="151447"/>
            </a:xfrm>
            <a:custGeom>
              <a:avLst/>
              <a:gdLst/>
              <a:ahLst/>
              <a:cxnLst/>
              <a:rect l="l" t="t" r="r" b="b"/>
              <a:pathLst>
                <a:path w="118110" h="151447">
                  <a:moveTo>
                    <a:pt x="0" y="0"/>
                  </a:moveTo>
                  <a:lnTo>
                    <a:pt x="118110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779520" y="2972752"/>
              <a:ext cx="118110" cy="151447"/>
            </a:xfrm>
            <a:custGeom>
              <a:avLst/>
              <a:gdLst/>
              <a:ahLst/>
              <a:cxnLst/>
              <a:rect l="l" t="t" r="r" b="b"/>
              <a:pathLst>
                <a:path w="118110" h="151447">
                  <a:moveTo>
                    <a:pt x="0" y="0"/>
                  </a:moveTo>
                  <a:lnTo>
                    <a:pt x="118110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001452" y="2972752"/>
              <a:ext cx="118110" cy="151447"/>
            </a:xfrm>
            <a:custGeom>
              <a:avLst/>
              <a:gdLst/>
              <a:ahLst/>
              <a:cxnLst/>
              <a:rect l="l" t="t" r="r" b="b"/>
              <a:pathLst>
                <a:path w="118110" h="151447">
                  <a:moveTo>
                    <a:pt x="0" y="0"/>
                  </a:moveTo>
                  <a:lnTo>
                    <a:pt x="118110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223385" y="2972752"/>
              <a:ext cx="118110" cy="151447"/>
            </a:xfrm>
            <a:custGeom>
              <a:avLst/>
              <a:gdLst/>
              <a:ahLst/>
              <a:cxnLst/>
              <a:rect l="l" t="t" r="r" b="b"/>
              <a:pathLst>
                <a:path w="118110" h="151447">
                  <a:moveTo>
                    <a:pt x="0" y="0"/>
                  </a:moveTo>
                  <a:lnTo>
                    <a:pt x="118110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4445318" y="2972752"/>
              <a:ext cx="118110" cy="151447"/>
            </a:xfrm>
            <a:custGeom>
              <a:avLst/>
              <a:gdLst/>
              <a:ahLst/>
              <a:cxnLst/>
              <a:rect l="l" t="t" r="r" b="b"/>
              <a:pathLst>
                <a:path w="118110" h="151447">
                  <a:moveTo>
                    <a:pt x="0" y="0"/>
                  </a:moveTo>
                  <a:lnTo>
                    <a:pt x="118110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667250" y="2972752"/>
              <a:ext cx="117158" cy="151447"/>
            </a:xfrm>
            <a:custGeom>
              <a:avLst/>
              <a:gdLst/>
              <a:ahLst/>
              <a:cxnLst/>
              <a:rect l="l" t="t" r="r" b="b"/>
              <a:pathLst>
                <a:path w="117158" h="151447">
                  <a:moveTo>
                    <a:pt x="0" y="0"/>
                  </a:moveTo>
                  <a:lnTo>
                    <a:pt x="117158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4889182" y="2972752"/>
              <a:ext cx="117158" cy="151447"/>
            </a:xfrm>
            <a:custGeom>
              <a:avLst/>
              <a:gdLst/>
              <a:ahLst/>
              <a:cxnLst/>
              <a:rect l="l" t="t" r="r" b="b"/>
              <a:pathLst>
                <a:path w="117158" h="151447">
                  <a:moveTo>
                    <a:pt x="0" y="0"/>
                  </a:moveTo>
                  <a:lnTo>
                    <a:pt x="117158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5111115" y="2972752"/>
              <a:ext cx="117157" cy="151447"/>
            </a:xfrm>
            <a:custGeom>
              <a:avLst/>
              <a:gdLst/>
              <a:ahLst/>
              <a:cxnLst/>
              <a:rect l="l" t="t" r="r" b="b"/>
              <a:pathLst>
                <a:path w="117157" h="151447">
                  <a:moveTo>
                    <a:pt x="0" y="0"/>
                  </a:moveTo>
                  <a:lnTo>
                    <a:pt x="117157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5333048" y="2972752"/>
              <a:ext cx="117158" cy="151447"/>
            </a:xfrm>
            <a:custGeom>
              <a:avLst/>
              <a:gdLst/>
              <a:ahLst/>
              <a:cxnLst/>
              <a:rect l="l" t="t" r="r" b="b"/>
              <a:pathLst>
                <a:path w="117158" h="151447">
                  <a:moveTo>
                    <a:pt x="0" y="0"/>
                  </a:moveTo>
                  <a:lnTo>
                    <a:pt x="117158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5554028" y="2972752"/>
              <a:ext cx="117157" cy="151447"/>
            </a:xfrm>
            <a:custGeom>
              <a:avLst/>
              <a:gdLst/>
              <a:ahLst/>
              <a:cxnLst/>
              <a:rect l="l" t="t" r="r" b="b"/>
              <a:pathLst>
                <a:path w="117157" h="151447">
                  <a:moveTo>
                    <a:pt x="0" y="0"/>
                  </a:moveTo>
                  <a:lnTo>
                    <a:pt x="117157" y="151447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2027872" y="1788795"/>
              <a:ext cx="381952" cy="661035"/>
            </a:xfrm>
            <a:custGeom>
              <a:avLst/>
              <a:gdLst/>
              <a:ahLst/>
              <a:cxnLst/>
              <a:rect l="l" t="t" r="r" b="b"/>
              <a:pathLst>
                <a:path w="381952" h="661035">
                  <a:moveTo>
                    <a:pt x="0" y="0"/>
                  </a:moveTo>
                  <a:lnTo>
                    <a:pt x="381952" y="661035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2368868" y="2426018"/>
              <a:ext cx="88583" cy="105728"/>
            </a:xfrm>
            <a:custGeom>
              <a:avLst/>
              <a:gdLst/>
              <a:ahLst/>
              <a:cxnLst/>
              <a:rect l="l" t="t" r="r" b="b"/>
              <a:pathLst>
                <a:path w="88583" h="105728">
                  <a:moveTo>
                    <a:pt x="88583" y="105728"/>
                  </a:moveTo>
                  <a:lnTo>
                    <a:pt x="0" y="4762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2466975" y="1870710"/>
              <a:ext cx="381953" cy="661035"/>
            </a:xfrm>
            <a:custGeom>
              <a:avLst/>
              <a:gdLst/>
              <a:ahLst/>
              <a:cxnLst/>
              <a:rect l="l" t="t" r="r" b="b"/>
              <a:pathLst>
                <a:path w="381953" h="661035">
                  <a:moveTo>
                    <a:pt x="0" y="661035"/>
                  </a:moveTo>
                  <a:lnTo>
                    <a:pt x="381953" y="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2807970" y="1788795"/>
              <a:ext cx="88583" cy="105727"/>
            </a:xfrm>
            <a:custGeom>
              <a:avLst/>
              <a:gdLst/>
              <a:ahLst/>
              <a:cxnLst/>
              <a:rect l="l" t="t" r="r" b="b"/>
              <a:pathLst>
                <a:path w="88583" h="105727">
                  <a:moveTo>
                    <a:pt x="88583" y="0"/>
                  </a:moveTo>
                  <a:lnTo>
                    <a:pt x="81915" y="105727"/>
                  </a:lnTo>
                  <a:lnTo>
                    <a:pt x="0" y="58102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2466022" y="2548890"/>
              <a:ext cx="280035" cy="360997"/>
            </a:xfrm>
            <a:custGeom>
              <a:avLst/>
              <a:gdLst/>
              <a:ahLst/>
              <a:cxnLst/>
              <a:rect l="l" t="t" r="r" b="b"/>
              <a:pathLst>
                <a:path w="280035" h="360997">
                  <a:moveTo>
                    <a:pt x="0" y="0"/>
                  </a:moveTo>
                  <a:lnTo>
                    <a:pt x="140018" y="360997"/>
                  </a:lnTo>
                  <a:lnTo>
                    <a:pt x="280035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2754630" y="1870710"/>
              <a:ext cx="381953" cy="661035"/>
            </a:xfrm>
            <a:custGeom>
              <a:avLst/>
              <a:gdLst/>
              <a:ahLst/>
              <a:cxnLst/>
              <a:rect l="l" t="t" r="r" b="b"/>
              <a:pathLst>
                <a:path w="381953" h="661035">
                  <a:moveTo>
                    <a:pt x="0" y="661035"/>
                  </a:moveTo>
                  <a:lnTo>
                    <a:pt x="381953" y="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3094672" y="1788795"/>
              <a:ext cx="89535" cy="105727"/>
            </a:xfrm>
            <a:custGeom>
              <a:avLst/>
              <a:gdLst/>
              <a:ahLst/>
              <a:cxnLst/>
              <a:rect l="l" t="t" r="r" b="b"/>
              <a:pathLst>
                <a:path w="89535" h="105727">
                  <a:moveTo>
                    <a:pt x="89535" y="0"/>
                  </a:moveTo>
                  <a:lnTo>
                    <a:pt x="82868" y="105727"/>
                  </a:lnTo>
                  <a:lnTo>
                    <a:pt x="0" y="58102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2799921" y="158115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①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271408" y="167354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②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012454" y="2101215"/>
              <a:ext cx="9647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 = 1.00 空气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943900" y="2655570"/>
              <a:ext cx="11018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n₂ = 1.38 MgF₂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012454" y="3209925"/>
              <a:ext cx="9647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n₃ = 1.55 玻璃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79170" y="2351723"/>
              <a:ext cx="86338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上表面：有 λ/2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79170" y="3201352"/>
              <a:ext cx="86338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下表面：有 λ/2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formula57"/>
              <p:cNvSpPr txBox="1">
                <a:spLocks noGrp="1"/>
              </p:cNvSpPr>
              <p:nvPr/>
            </p:nvSpPr>
            <p:spPr>
              <a:xfrm>
                <a:off x="533400" y="3834765"/>
                <a:ext cx="5410200" cy="4629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&lt;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&lt;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: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2k</m:t>
                          </m:r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d>
                      <m:f>
                        <m:fPr>
                          <m:type m:val="bar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num>
                        <m:den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formula58"/>
              <p:cNvSpPr txBox="1">
                <a:spLocks noGrp="1"/>
              </p:cNvSpPr>
              <p:nvPr/>
            </p:nvSpPr>
            <p:spPr>
              <a:xfrm>
                <a:off x="533400" y="4482465"/>
                <a:ext cx="5410200" cy="4886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2k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num>
                        <m:den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num>
                        <m:den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50" name="c2-image-1"/>
          <p:cNvGrpSpPr/>
          <p:nvPr/>
        </p:nvGrpSpPr>
        <p:grpSpPr>
          <a:xfrm>
            <a:off x="7537132" y="1524000"/>
            <a:ext cx="2833688" cy="2439829"/>
            <a:chOff x="7537132" y="1524000"/>
            <a:chExt cx="2833688" cy="2439829"/>
          </a:xfrm>
        </p:grpSpPr>
        <p:pic>
          <p:nvPicPr>
            <p:cNvPr id="48" name="Image 48"/>
            <p:cNvPicPr>
              <a:picLocks noChangeAspect="1"/>
            </p:cNvPicPr>
            <p:nvPr/>
          </p:nvPicPr>
          <p:blipFill>
            <a:blip r:embed="rId2"/>
            <a:srcRect l="5550" t="0" r="5551" b="0"/>
            <a:stretch>
              <a:fillRect/>
            </a:stretch>
          </p:blipFill>
          <p:spPr>
            <a:xfrm>
              <a:off x="7537132" y="1524000"/>
              <a:ext cx="2833688" cy="2125028"/>
            </a:xfrm>
            <a:prstGeom prst="roundRect">
              <a:avLst>
                <a:gd name="adj" fmla="val 6275"/>
              </a:avLst>
            </a:prstGeom>
          </p:spPr>
        </p:pic>
        <p:sp>
          <p:nvSpPr>
            <p:cNvPr id="49" name="TextBox 49"/>
            <p:cNvSpPr txBox="1"/>
            <p:nvPr/>
          </p:nvSpPr>
          <p:spPr>
            <a:xfrm>
              <a:off x="7582281" y="3743801"/>
              <a:ext cx="27424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镀了 MgF₂ 增透膜的镜头，反光泛蓝紫色</a:t>
              </a:r>
            </a:p>
          </p:txBody>
        </p:sp>
      </p:grpSp>
      <p:grpSp>
        <p:nvGrpSpPr>
          <p:cNvPr id="56" name="c2-card-2"/>
          <p:cNvGrpSpPr/>
          <p:nvPr/>
        </p:nvGrpSpPr>
        <p:grpSpPr>
          <a:xfrm>
            <a:off x="6248400" y="4124325"/>
            <a:ext cx="5410200" cy="1545908"/>
            <a:chOff x="6248400" y="4124325"/>
            <a:chExt cx="5410200" cy="1545908"/>
          </a:xfrm>
        </p:grpSpPr>
        <p:sp>
          <p:nvSpPr>
            <p:cNvPr id="51" name="Rectangle 51"/>
            <p:cNvSpPr/>
            <p:nvPr/>
          </p:nvSpPr>
          <p:spPr>
            <a:xfrm>
              <a:off x="6248400" y="4124325"/>
              <a:ext cx="5410200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257925" y="4257675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490335" y="4328160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550990" y="436387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镜头为什么是蓝紫色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83096" y="4701064"/>
              <a:ext cx="467626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膜厚按人眼最敏感的 550 nm 设计，这个波长反射相消。按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两束反射光等幅估算，400 nm 的反射还剩最大值的 31%，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700 nm 剩 11%，所以反光以蓝紫为主。</a:t>
              </a:r>
            </a:p>
          </p:txBody>
        </p:sp>
      </p:grpSp>
      <p:grpSp>
        <p:nvGrpSpPr>
          <p:cNvPr id="63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7" name="Rectangle 57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511" y="6004084"/>
              <a:ext cx="10012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原课件用透射加强列式 2n₂e + λ/2 = kλ，得 e = (2k − 1)λ/(4n₂)，与反射相消的结果完全相同，只是 k 的编号差 1。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薄膜干涉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增反膜：膜的折射率比基底大，反射光加强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5" name="g_coat2"/>
          <p:cNvGrpSpPr/>
          <p:nvPr/>
        </p:nvGrpSpPr>
        <p:grpSpPr>
          <a:xfrm>
            <a:off x="733425" y="1587818"/>
            <a:ext cx="5013960" cy="1884616"/>
            <a:chOff x="733425" y="1587818"/>
            <a:chExt cx="5013960" cy="1884616"/>
          </a:xfrm>
        </p:grpSpPr>
        <p:sp>
          <p:nvSpPr>
            <p:cNvPr id="7" name="Freeform 7"/>
            <p:cNvSpPr/>
            <p:nvPr/>
          </p:nvSpPr>
          <p:spPr>
            <a:xfrm>
              <a:off x="733425" y="2571750"/>
              <a:ext cx="5010150" cy="9525"/>
            </a:xfrm>
            <a:custGeom>
              <a:avLst/>
              <a:gdLst/>
              <a:ahLst/>
              <a:cxnLst/>
              <a:rect l="l" t="t" r="r" b="b"/>
              <a:pathLst>
                <a:path w="5010150" h="9525">
                  <a:moveTo>
                    <a:pt x="0" y="0"/>
                  </a:moveTo>
                  <a:lnTo>
                    <a:pt x="50101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733425" y="2952750"/>
              <a:ext cx="5010150" cy="9525"/>
            </a:xfrm>
            <a:custGeom>
              <a:avLst/>
              <a:gdLst/>
              <a:ahLst/>
              <a:cxnLst/>
              <a:rect l="l" t="t" r="r" b="b"/>
              <a:pathLst>
                <a:path w="5010150" h="9525">
                  <a:moveTo>
                    <a:pt x="0" y="0"/>
                  </a:moveTo>
                  <a:lnTo>
                    <a:pt x="501015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8248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34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2820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5106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7392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9678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1964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4250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26536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8822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31108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3394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35680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7966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0252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2538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44824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7110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49396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51682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53968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5625465" y="3017520"/>
              <a:ext cx="121920" cy="156210"/>
            </a:xfrm>
            <a:custGeom>
              <a:avLst/>
              <a:gdLst/>
              <a:ahLst/>
              <a:cxnLst/>
              <a:rect l="l" t="t" r="r" b="b"/>
              <a:pathLst>
                <a:path w="121920" h="156210">
                  <a:moveTo>
                    <a:pt x="0" y="0"/>
                  </a:moveTo>
                  <a:lnTo>
                    <a:pt x="121920" y="156210"/>
                  </a:lnTo>
                </a:path>
              </a:pathLst>
            </a:custGeom>
            <a:noFill/>
            <a:ln w="9525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1990725" y="1796415"/>
              <a:ext cx="395288" cy="684848"/>
            </a:xfrm>
            <a:custGeom>
              <a:avLst/>
              <a:gdLst/>
              <a:ahLst/>
              <a:cxnLst/>
              <a:rect l="l" t="t" r="r" b="b"/>
              <a:pathLst>
                <a:path w="395288" h="684848">
                  <a:moveTo>
                    <a:pt x="0" y="0"/>
                  </a:moveTo>
                  <a:lnTo>
                    <a:pt x="395288" y="684848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2345055" y="2457450"/>
              <a:ext cx="88583" cy="105728"/>
            </a:xfrm>
            <a:custGeom>
              <a:avLst/>
              <a:gdLst/>
              <a:ahLst/>
              <a:cxnLst/>
              <a:rect l="l" t="t" r="r" b="b"/>
              <a:pathLst>
                <a:path w="88583" h="105728">
                  <a:moveTo>
                    <a:pt x="88583" y="105728"/>
                  </a:moveTo>
                  <a:lnTo>
                    <a:pt x="0" y="4762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2443162" y="1879282"/>
              <a:ext cx="395288" cy="683895"/>
            </a:xfrm>
            <a:custGeom>
              <a:avLst/>
              <a:gdLst/>
              <a:ahLst/>
              <a:cxnLst/>
              <a:rect l="l" t="t" r="r" b="b"/>
              <a:pathLst>
                <a:path w="395288" h="683895">
                  <a:moveTo>
                    <a:pt x="0" y="683895"/>
                  </a:moveTo>
                  <a:lnTo>
                    <a:pt x="395288" y="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2796540" y="1796415"/>
              <a:ext cx="89535" cy="106680"/>
            </a:xfrm>
            <a:custGeom>
              <a:avLst/>
              <a:gdLst/>
              <a:ahLst/>
              <a:cxnLst/>
              <a:rect l="l" t="t" r="r" b="b"/>
              <a:pathLst>
                <a:path w="89535" h="106680">
                  <a:moveTo>
                    <a:pt x="89535" y="0"/>
                  </a:moveTo>
                  <a:lnTo>
                    <a:pt x="82867" y="106680"/>
                  </a:lnTo>
                  <a:lnTo>
                    <a:pt x="0" y="59055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2440305" y="2581275"/>
              <a:ext cx="161925" cy="371475"/>
            </a:xfrm>
            <a:custGeom>
              <a:avLst/>
              <a:gdLst/>
              <a:ahLst/>
              <a:cxnLst/>
              <a:rect l="l" t="t" r="r" b="b"/>
              <a:pathLst>
                <a:path w="161925" h="371475">
                  <a:moveTo>
                    <a:pt x="0" y="0"/>
                  </a:moveTo>
                  <a:lnTo>
                    <a:pt x="80962" y="371475"/>
                  </a:lnTo>
                  <a:lnTo>
                    <a:pt x="161925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2608898" y="1879282"/>
              <a:ext cx="395288" cy="683895"/>
            </a:xfrm>
            <a:custGeom>
              <a:avLst/>
              <a:gdLst/>
              <a:ahLst/>
              <a:cxnLst/>
              <a:rect l="l" t="t" r="r" b="b"/>
              <a:pathLst>
                <a:path w="395288" h="683895">
                  <a:moveTo>
                    <a:pt x="0" y="683895"/>
                  </a:moveTo>
                  <a:lnTo>
                    <a:pt x="395288" y="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2963228" y="1796415"/>
              <a:ext cx="88582" cy="106680"/>
            </a:xfrm>
            <a:custGeom>
              <a:avLst/>
              <a:gdLst/>
              <a:ahLst/>
              <a:cxnLst/>
              <a:rect l="l" t="t" r="r" b="b"/>
              <a:pathLst>
                <a:path w="88582" h="106680">
                  <a:moveTo>
                    <a:pt x="88582" y="0"/>
                  </a:moveTo>
                  <a:lnTo>
                    <a:pt x="81915" y="106680"/>
                  </a:lnTo>
                  <a:lnTo>
                    <a:pt x="0" y="59055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2787538" y="158781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①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143773" y="168306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②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051506" y="2124075"/>
              <a:ext cx="9647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 = 1.00 空气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040185" y="2695575"/>
              <a:ext cx="9874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n₂ = 2.35 ZnS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051506" y="3267075"/>
              <a:ext cx="9647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n₃ = 1.55 玻璃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9638" y="2381250"/>
              <a:ext cx="86338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上表面：有 λ/2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09638" y="3257550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下表面：无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formula61"/>
              <p:cNvSpPr txBox="1">
                <a:spLocks noGrp="1"/>
              </p:cNvSpPr>
              <p:nvPr/>
            </p:nvSpPr>
            <p:spPr>
              <a:xfrm>
                <a:off x="533400" y="3905250"/>
                <a:ext cx="5410200" cy="4371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&lt;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&gt;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: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sSub>
                        <m:e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num>
                        <m:den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kλ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⇒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12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2k</m:t>
                              </m:r>
                              <m:r>
                                <m:rPr>
                                  <m:sty m:val="p"/>
                                </m:rP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num>
                        <m:den>
                          <m:r>
                            <a:rPr lang="zh-CN" sz="12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  <m:sSub>
                            <m:e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b>
                              <m:r>
                                <a:rPr lang="zh-CN" sz="12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48" name="c1-text-3"/>
          <p:cNvGrpSpPr/>
          <p:nvPr/>
        </p:nvGrpSpPr>
        <p:grpSpPr>
          <a:xfrm>
            <a:off x="526923" y="4554379"/>
            <a:ext cx="4946650" cy="500824"/>
            <a:chOff x="526923" y="4554379"/>
            <a:chExt cx="4946650" cy="500824"/>
          </a:xfrm>
        </p:grpSpPr>
        <p:sp>
          <p:nvSpPr>
            <p:cNvPr id="47" name="TextBox 47"/>
            <p:cNvSpPr txBox="1"/>
            <p:nvPr/>
          </p:nvSpPr>
          <p:spPr>
            <a:xfrm>
              <a:off x="526923" y="4554379"/>
              <a:ext cx="4946650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 = 1 时最薄，e = λ/(4n₂)。ZnS 对 550 nm：e = 550/(4 × 2.35) ≈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58.5 nm。</a:t>
              </a:r>
            </a:p>
          </p:txBody>
        </p:sp>
      </p:grpSp>
      <p:grpSp>
        <p:nvGrpSpPr>
          <p:cNvPr id="53" name="c2-card-1"/>
          <p:cNvGrpSpPr/>
          <p:nvPr/>
        </p:nvGrpSpPr>
        <p:grpSpPr>
          <a:xfrm>
            <a:off x="6248400" y="1524000"/>
            <a:ext cx="5410200" cy="1887855"/>
            <a:chOff x="6248400" y="1524000"/>
            <a:chExt cx="5410200" cy="1887855"/>
          </a:xfrm>
        </p:grpSpPr>
        <p:sp>
          <p:nvSpPr>
            <p:cNvPr id="49" name="Rectangle 49"/>
            <p:cNvSpPr/>
            <p:nvPr/>
          </p:nvSpPr>
          <p:spPr>
            <a:xfrm>
              <a:off x="6248400" y="1524000"/>
              <a:ext cx="5410200" cy="1887855"/>
            </a:xfrm>
            <a:prstGeom prst="roundRect">
              <a:avLst>
                <a:gd name="adj" fmla="val 7064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57950" y="1733550"/>
              <a:ext cx="291179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476251" y="1769269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增透与增反的最薄膜都是「四分之一波长」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50330" y="2110740"/>
              <a:ext cx="47777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两种膜最薄时光学厚度都是 n₂e = λ/4，来回一趟 λ/2。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区别只在于膜的折射率比基底小（再加一次半波损失，反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射相消）还是比基底大（没有这次半波损失，反射加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强）。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6248400" y="3602355"/>
            <a:ext cx="5410200" cy="1887855"/>
            <a:chOff x="6248400" y="3602355"/>
            <a:chExt cx="5410200" cy="1887855"/>
          </a:xfrm>
        </p:grpSpPr>
        <p:sp>
          <p:nvSpPr>
            <p:cNvPr id="54" name="Rectangle 54"/>
            <p:cNvSpPr/>
            <p:nvPr/>
          </p:nvSpPr>
          <p:spPr>
            <a:xfrm>
              <a:off x="6248400" y="3602355"/>
              <a:ext cx="5410200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57925" y="3735705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496050" y="381190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582308" y="384762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多层膜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88430" y="4189095"/>
              <a:ext cx="47682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原课件图里 ZnS 上方还有一层 n = 1.38 的 MgF₂。实用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的高反射膜是高、低折射率材料交替镀成的多层膜，每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层光学厚度都是 λ/4，层数越多反射率越高，激光器的反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射镜就是这样做的。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0" name="Rectangle 6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130" y="5991225"/>
              <a:ext cx="809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增反膜同样可以用透射减弱来列式。反射与透射互补，只记反射光的加强、减弱条件即可。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69857" cy="909257"/>
            <a:chOff x="520446" y="342900"/>
            <a:chExt cx="57698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薄膜干涉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698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例7.4　空气中的肥皂膜呈现什么颜色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869180" cy="1594485"/>
            <a:chOff x="533400" y="1524000"/>
            <a:chExt cx="4869180" cy="15944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1594485"/>
            </a:xfrm>
            <a:prstGeom prst="roundRect">
              <a:avLst>
                <a:gd name="adj" fmla="val 83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277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5981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2709" y="1763554"/>
              <a:ext cx="423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例7.4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418033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空气中水平放置的肥皂膜，厚 e = 0.32 μm，折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射率 n₂ = 1.33，白光垂直照射。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692241"/>
              <a:ext cx="29392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从正面看，肥皂膜呈什么颜色？</a:t>
              </a:r>
            </a:p>
          </p:txBody>
        </p:sp>
      </p:grpSp>
      <p:grpSp>
        <p:nvGrpSpPr>
          <p:cNvPr id="34" name="c1-table-2"/>
          <p:cNvGrpSpPr/>
          <p:nvPr/>
        </p:nvGrpSpPr>
        <p:grpSpPr>
          <a:xfrm>
            <a:off x="533400" y="3304222"/>
            <a:ext cx="4869180" cy="1720215"/>
            <a:chOff x="533400" y="3304222"/>
            <a:chExt cx="4869180" cy="1720215"/>
          </a:xfrm>
        </p:grpSpPr>
        <p:sp>
          <p:nvSpPr>
            <p:cNvPr id="14" name="Rectangle 14"/>
            <p:cNvSpPr/>
            <p:nvPr/>
          </p:nvSpPr>
          <p:spPr>
            <a:xfrm>
              <a:off x="533400" y="3304222"/>
              <a:ext cx="486918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70231" y="34356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17884" y="3435668"/>
              <a:ext cx="13267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λ = 4n₂e/(2k−1)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58640" y="343566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范围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8746" y="38652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417892" y="3865245"/>
              <a:ext cx="6260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1702 nm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55326" y="38652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红外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15956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4164330"/>
              <a:ext cx="486918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746" y="429577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17892" y="4295775"/>
              <a:ext cx="5372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567 nm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59505" y="4173855"/>
              <a:ext cx="1733550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55326" y="429577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可见（黄绿）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59009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8746" y="47263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417892" y="4726305"/>
              <a:ext cx="5372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340 nm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755326" y="472630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紫外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304222"/>
              <a:ext cx="4869180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307782" y="3304222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3645218" y="3304222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c2-steps-1"/>
          <p:cNvGrpSpPr/>
          <p:nvPr/>
        </p:nvGrpSpPr>
        <p:grpSpPr>
          <a:xfrm>
            <a:off x="5707380" y="1533525"/>
            <a:ext cx="5576316" cy="2632139"/>
            <a:chOff x="5707380" y="1533525"/>
            <a:chExt cx="5576316" cy="2632139"/>
          </a:xfrm>
        </p:grpSpPr>
        <p:sp>
          <p:nvSpPr>
            <p:cNvPr id="35" name="Rectangle 35"/>
            <p:cNvSpPr/>
            <p:nvPr/>
          </p:nvSpPr>
          <p:spPr>
            <a:xfrm>
              <a:off x="5840730" y="1676400"/>
              <a:ext cx="19050" cy="20831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570738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80100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5707380" y="215455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80100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5707380" y="277558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801004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707380" y="361664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801004" y="36904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119241" y="156638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判半波损失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120384" y="1846898"/>
              <a:ext cx="47696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空气 1 &lt; 膜 1.33 &gt; 空气 1，只有上表面反射有半波损失，要加 λ/2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119241" y="218741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反射加强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20384" y="2467927"/>
              <a:ext cx="21607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2n₂e + λ/2 = kλ，k = 1, 2, …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119241" y="28084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解出波长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120384" y="3088957"/>
              <a:ext cx="51633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 = 2n₂e/(k − 1/2) = 4n₂e/(2k − 1)，4n₂e = 4 × 1.33 × 320 nm = 1702.4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nm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119241" y="3650456"/>
              <a:ext cx="7585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逐个试 k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120384" y="3930968"/>
              <a:ext cx="31138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 k = 2 的 567 nm 落在 400～760 nm 内</a:t>
              </a:r>
            </a:p>
          </p:txBody>
        </p:sp>
      </p:grpSp>
      <p:grpSp>
        <p:nvGrpSpPr>
          <p:cNvPr id="57" name="c2-card-2"/>
          <p:cNvGrpSpPr/>
          <p:nvPr/>
        </p:nvGrpSpPr>
        <p:grpSpPr>
          <a:xfrm>
            <a:off x="5707380" y="4341495"/>
            <a:ext cx="5951220" cy="1002982"/>
            <a:chOff x="5707380" y="4341495"/>
            <a:chExt cx="5951220" cy="1002982"/>
          </a:xfrm>
        </p:grpSpPr>
        <p:sp>
          <p:nvSpPr>
            <p:cNvPr id="53" name="Rectangle 53"/>
            <p:cNvSpPr/>
            <p:nvPr/>
          </p:nvSpPr>
          <p:spPr>
            <a:xfrm>
              <a:off x="5707380" y="4341495"/>
              <a:ext cx="5951220" cy="1002982"/>
            </a:xfrm>
            <a:prstGeom prst="roundRect">
              <a:avLst>
                <a:gd name="adj" fmla="val 13295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911215" y="454533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006325" y="458104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903976" y="4918234"/>
              <a:ext cx="43824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反射光中 567 nm 加强，肥皂膜呈绿色（偏黄绿）。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58" name="Rectangle 58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5884545"/>
              <a:ext cx="200026" cy="200026"/>
              <a:chOff x="738188" y="5884545"/>
              <a:chExt cx="200026" cy="20002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58845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38200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27088" y="59845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511" y="5753576"/>
              <a:ext cx="9924161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原课件把三个波长写成 1700、567、340 nm，是 1702.4、567.5、340.5 nm 的约数。从背面看透射光时正好缺 567 nm，颜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色偏紫红。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063379" cy="909257"/>
            <a:chOff x="520446" y="342900"/>
            <a:chExt cx="506337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薄膜干涉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0633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例7.5　MgF₂ 增透膜的最小厚度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869180" cy="1651635"/>
            <a:chOff x="533400" y="1524000"/>
            <a:chExt cx="4869180" cy="16516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1651635"/>
            </a:xfrm>
            <a:prstGeom prst="roundRect">
              <a:avLst>
                <a:gd name="adj" fmla="val 8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849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5981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8424" y="1769269"/>
              <a:ext cx="423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例7.5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025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照相机镜头 n₃ = 1.52，表面镀 MgF₂ 薄膜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n₂ = 1.38，要使 λ = 550 nm 的光反射最小。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731770"/>
              <a:ext cx="2259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MgF₂ 膜的最小厚度。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366135"/>
            <a:ext cx="4869180" cy="1905952"/>
            <a:chOff x="533400" y="3366135"/>
            <a:chExt cx="4869180" cy="1905952"/>
          </a:xfrm>
        </p:grpSpPr>
        <p:sp>
          <p:nvSpPr>
            <p:cNvPr id="14" name="Rectangle 14"/>
            <p:cNvSpPr/>
            <p:nvPr/>
          </p:nvSpPr>
          <p:spPr>
            <a:xfrm>
              <a:off x="533400" y="3366135"/>
              <a:ext cx="4869180" cy="1905952"/>
            </a:xfrm>
            <a:prstGeom prst="roundRect">
              <a:avLst>
                <a:gd name="adj" fmla="val 69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499485"/>
              <a:ext cx="47625" cy="163925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57568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71258" y="36114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检验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401574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3952875"/>
              <a:ext cx="39395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光学厚度 n₂e = 1.38 × 99.6 nm = 137.5 nm =</a:t>
              </a:r>
              <a:br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λ/4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463677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4573905"/>
              <a:ext cx="35187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次小厚度取 k = 1：3λ/(4n₂) = 299 nm</a:t>
              </a:r>
            </a:p>
          </p:txBody>
        </p:sp>
      </p:grpSp>
      <p:grpSp>
        <p:nvGrpSpPr>
          <p:cNvPr id="40" name="c2-steps-1"/>
          <p:cNvGrpSpPr/>
          <p:nvPr/>
        </p:nvGrpSpPr>
        <p:grpSpPr>
          <a:xfrm>
            <a:off x="5707380" y="1533525"/>
            <a:ext cx="5939612" cy="2529173"/>
            <a:chOff x="5707380" y="1533525"/>
            <a:chExt cx="5939612" cy="2529173"/>
          </a:xfrm>
        </p:grpSpPr>
        <p:sp>
          <p:nvSpPr>
            <p:cNvPr id="23" name="Rectangle 23"/>
            <p:cNvSpPr/>
            <p:nvPr/>
          </p:nvSpPr>
          <p:spPr>
            <a:xfrm>
              <a:off x="584073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570738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80100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70738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80100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70738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80100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707380" y="34861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0100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18860" y="15678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判半波损失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120003" y="1861661"/>
              <a:ext cx="5526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 = 1 &lt; n₂ = 1.38 &lt; n₃ = 1.52，上下两次反射都有半波损失，互相抵消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118860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20003" y="2512219"/>
              <a:ext cx="6849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 = 2n₂e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18860" y="28689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反射相消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20003" y="3162776"/>
              <a:ext cx="2830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2n₂e = (2k + 1)λ/2，k = 0, 1, 2, …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118860" y="352044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取最小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120003" y="3813334"/>
              <a:ext cx="48549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0：e = λ/(4n₂) = 5.5×10⁻⁷/(4 × 1.38) m ≈ 9.96×10⁻⁸ m</a:t>
              </a:r>
            </a:p>
          </p:txBody>
        </p:sp>
      </p:grpSp>
      <p:grpSp>
        <p:nvGrpSpPr>
          <p:cNvPr id="45" name="c2-card-2"/>
          <p:cNvGrpSpPr/>
          <p:nvPr/>
        </p:nvGrpSpPr>
        <p:grpSpPr>
          <a:xfrm>
            <a:off x="5707380" y="4241482"/>
            <a:ext cx="5951220" cy="1030605"/>
            <a:chOff x="5707380" y="4241482"/>
            <a:chExt cx="5951220" cy="1030605"/>
          </a:xfrm>
        </p:grpSpPr>
        <p:sp>
          <p:nvSpPr>
            <p:cNvPr id="41" name="Rectangle 41"/>
            <p:cNvSpPr/>
            <p:nvPr/>
          </p:nvSpPr>
          <p:spPr>
            <a:xfrm>
              <a:off x="5707380" y="4241482"/>
              <a:ext cx="5951220" cy="1030605"/>
            </a:xfrm>
            <a:prstGeom prst="roundRect">
              <a:avLst>
                <a:gd name="adj" fmla="val 12939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916930" y="4451032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12040" y="448675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909310" y="4828222"/>
              <a:ext cx="37610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最小厚度 e ≈ 1.00×10⁻⁷ m，约 100 nm。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6" name="Rectangle 4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130" y="5991225"/>
              <a:ext cx="89708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误加 λ/2 会得到 e = λ/(2n₂) ≈ 199 nm，这个厚度恰好让 550 nm 反射加强，增透膜变成了增反膜。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323648" cy="3675697"/>
            <a:chOff x="667512" y="1835468"/>
            <a:chExt cx="6323648" cy="367569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劈尖干涉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313742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对应原课件 7.3.2，厚度随位置线性变化，条纹是平行于棱边的等间</a:t>
              </a:r>
              <a:br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距直线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21195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15480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劈尖与等厚干涉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56628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50913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明暗条件与棱边暗纹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92061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63465"/>
              <a:ext cx="21355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厚度差 λ/(2n) 与间距 l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527494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521779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三道例题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劈尖干涉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劈尖：夹角很小的两个平面之间的薄膜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7304" y="1544002"/>
            <a:ext cx="5186172" cy="470916"/>
            <a:chOff x="527304" y="1544002"/>
            <a:chExt cx="5186172" cy="470916"/>
          </a:xfrm>
        </p:grpSpPr>
        <p:sp>
          <p:nvSpPr>
            <p:cNvPr id="7" name="TextBox 7"/>
            <p:cNvSpPr txBox="1"/>
            <p:nvPr/>
          </p:nvSpPr>
          <p:spPr>
            <a:xfrm>
              <a:off x="527304" y="1544002"/>
              <a:ext cx="5186172" cy="470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6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图中 θ 画大了很多。实际 θ 约 10⁻⁴～10⁻⁵ rad，入射光、两束反射光几乎重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合。</a:t>
              </a:r>
            </a:p>
          </p:txBody>
        </p:sp>
      </p:grpSp>
      <p:grpSp>
        <p:nvGrpSpPr>
          <p:cNvPr id="34" name="g_wedge"/>
          <p:cNvGrpSpPr/>
          <p:nvPr/>
        </p:nvGrpSpPr>
        <p:grpSpPr>
          <a:xfrm>
            <a:off x="847052" y="2747962"/>
            <a:ext cx="4839374" cy="2981802"/>
            <a:chOff x="847052" y="2747962"/>
            <a:chExt cx="4839374" cy="2981802"/>
          </a:xfrm>
        </p:grpSpPr>
        <p:sp>
          <p:nvSpPr>
            <p:cNvPr id="9" name="Freeform 9"/>
            <p:cNvSpPr/>
            <p:nvPr/>
          </p:nvSpPr>
          <p:spPr>
            <a:xfrm>
              <a:off x="993458" y="5362575"/>
              <a:ext cx="4692968" cy="9525"/>
            </a:xfrm>
            <a:custGeom>
              <a:avLst/>
              <a:gdLst/>
              <a:ahLst/>
              <a:cxnLst/>
              <a:rect l="l" t="t" r="r" b="b"/>
              <a:pathLst>
                <a:path w="4692968" h="9525">
                  <a:moveTo>
                    <a:pt x="0" y="0"/>
                  </a:moveTo>
                  <a:lnTo>
                    <a:pt x="4692968" y="0"/>
                  </a:lnTo>
                </a:path>
              </a:pathLst>
            </a:custGeom>
            <a:noFill/>
            <a:ln w="2286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993458" y="4212908"/>
              <a:ext cx="4601528" cy="1147762"/>
            </a:xfrm>
            <a:custGeom>
              <a:avLst/>
              <a:gdLst/>
              <a:ahLst/>
              <a:cxnLst/>
              <a:rect l="l" t="t" r="r" b="b"/>
              <a:pathLst>
                <a:path w="4601528" h="1147762">
                  <a:moveTo>
                    <a:pt x="0" y="1147762"/>
                  </a:moveTo>
                  <a:lnTo>
                    <a:pt x="4601528" y="0"/>
                  </a:lnTo>
                </a:path>
              </a:pathLst>
            </a:custGeom>
            <a:noFill/>
            <a:ln w="2286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051935" y="2747962"/>
              <a:ext cx="9525" cy="2509838"/>
            </a:xfrm>
            <a:custGeom>
              <a:avLst/>
              <a:gdLst/>
              <a:ahLst/>
              <a:cxnLst/>
              <a:rect l="l" t="t" r="r" b="b"/>
              <a:pathLst>
                <a:path w="9525" h="2509838">
                  <a:moveTo>
                    <a:pt x="0" y="0"/>
                  </a:moveTo>
                  <a:lnTo>
                    <a:pt x="0" y="2509838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004310" y="52578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125278" y="2917508"/>
              <a:ext cx="9525" cy="1652588"/>
            </a:xfrm>
            <a:custGeom>
              <a:avLst/>
              <a:gdLst/>
              <a:ahLst/>
              <a:cxnLst/>
              <a:rect l="l" t="t" r="r" b="b"/>
              <a:pathLst>
                <a:path w="9525" h="1652588">
                  <a:moveTo>
                    <a:pt x="0" y="1652588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2F4B9A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077652" y="28222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2F4B9A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199572" y="2917508"/>
              <a:ext cx="9525" cy="2435542"/>
            </a:xfrm>
            <a:custGeom>
              <a:avLst/>
              <a:gdLst/>
              <a:ahLst/>
              <a:cxnLst/>
              <a:rect l="l" t="t" r="r" b="b"/>
              <a:pathLst>
                <a:path w="9525" h="2435542">
                  <a:moveTo>
                    <a:pt x="0" y="2435542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151948" y="28222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956810" y="4476750"/>
              <a:ext cx="9525" cy="781050"/>
            </a:xfrm>
            <a:custGeom>
              <a:avLst/>
              <a:gdLst/>
              <a:ahLst/>
              <a:cxnLst/>
              <a:rect l="l" t="t" r="r" b="b"/>
              <a:pathLst>
                <a:path w="9525" h="781050">
                  <a:moveTo>
                    <a:pt x="0" y="78105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909185" y="43815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909185" y="52578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1613535" y="5214938"/>
              <a:ext cx="17145" cy="138112"/>
            </a:xfrm>
            <a:custGeom>
              <a:avLst/>
              <a:gdLst/>
              <a:ahLst/>
              <a:cxnLst/>
              <a:rect l="l" t="t" r="r" b="b"/>
              <a:pathLst>
                <a:path w="17145" h="138112">
                  <a:moveTo>
                    <a:pt x="17145" y="138112"/>
                  </a:moveTo>
                  <a:lnTo>
                    <a:pt x="17145" y="131445"/>
                  </a:lnTo>
                  <a:lnTo>
                    <a:pt x="16192" y="116205"/>
                  </a:lnTo>
                  <a:lnTo>
                    <a:pt x="15240" y="100012"/>
                  </a:lnTo>
                  <a:lnTo>
                    <a:pt x="14288" y="84772"/>
                  </a:lnTo>
                  <a:lnTo>
                    <a:pt x="12382" y="68580"/>
                  </a:lnTo>
                  <a:lnTo>
                    <a:pt x="10477" y="53340"/>
                  </a:lnTo>
                  <a:lnTo>
                    <a:pt x="7620" y="37147"/>
                  </a:lnTo>
                  <a:lnTo>
                    <a:pt x="4762" y="21907"/>
                  </a:lnTo>
                  <a:lnTo>
                    <a:pt x="1905" y="6668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4087178" y="4541520"/>
              <a:ext cx="76200" cy="76200"/>
            </a:xfrm>
            <a:prstGeom prst="ellipse">
              <a:avLst/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873144" y="27932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λ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995343" y="29227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68152" y="29227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925925" y="437530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52658" y="478726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730019" y="52144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7052" y="55011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棱边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74924" y="51401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369425" y="408670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n′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831388" y="550973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n′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810512" y="2803684"/>
              <a:ext cx="8740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b：上表面反射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810512" y="3025616"/>
              <a:ext cx="8740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c：下表面反射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6248400" y="1524000"/>
            <a:ext cx="5410200" cy="1545908"/>
            <a:chOff x="6248400" y="1524000"/>
            <a:chExt cx="5410200" cy="1545908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57925" y="1657350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90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80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劈尖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83096" y="2100739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两个平面夹角很小（θ 约 10⁻⁴～10⁻⁵ rad）时，它们之间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的薄膜叫劈尖。两块平玻璃一端接触、另一端垫一根细丝或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一张纸，中间的空气层就是空气劈尖。</a:t>
              </a:r>
            </a:p>
          </p:txBody>
        </p:sp>
      </p:grpSp>
      <p:grpSp>
        <p:nvGrpSpPr>
          <p:cNvPr id="46" name="c2-card-2"/>
          <p:cNvGrpSpPr/>
          <p:nvPr/>
        </p:nvGrpSpPr>
        <p:grpSpPr>
          <a:xfrm>
            <a:off x="6248400" y="3255645"/>
            <a:ext cx="5410200" cy="1545908"/>
            <a:chOff x="6248400" y="3255645"/>
            <a:chExt cx="5410200" cy="1545908"/>
          </a:xfrm>
        </p:grpSpPr>
        <p:sp>
          <p:nvSpPr>
            <p:cNvPr id="41" name="Rectangle 41"/>
            <p:cNvSpPr/>
            <p:nvPr/>
          </p:nvSpPr>
          <p:spPr>
            <a:xfrm>
              <a:off x="6248400" y="3255645"/>
              <a:ext cx="5410200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257925" y="3388995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490335" y="345948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67742" y="349519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干涉的形成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83096" y="3832384"/>
              <a:ext cx="473036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单色平行光垂直入射，膜上表面反射的 b 和下表面反射的 c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来自同一束入射光，在膜面附近（如 A 点）相遇干涉，形成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明纹或暗纹。</a:t>
              </a:r>
            </a:p>
          </p:txBody>
        </p:sp>
      </p:grpSp>
      <p:grpSp>
        <p:nvGrpSpPr>
          <p:cNvPr id="51" name="c2-card-3"/>
          <p:cNvGrpSpPr/>
          <p:nvPr/>
        </p:nvGrpSpPr>
        <p:grpSpPr>
          <a:xfrm>
            <a:off x="6248400" y="4987290"/>
            <a:ext cx="5410200" cy="1274445"/>
            <a:chOff x="6248400" y="4987290"/>
            <a:chExt cx="5410200" cy="1274445"/>
          </a:xfrm>
        </p:grpSpPr>
        <p:sp>
          <p:nvSpPr>
            <p:cNvPr id="47" name="Rectangle 47"/>
            <p:cNvSpPr/>
            <p:nvPr/>
          </p:nvSpPr>
          <p:spPr>
            <a:xfrm>
              <a:off x="6248400" y="4987290"/>
              <a:ext cx="5410200" cy="1274445"/>
            </a:xfrm>
            <a:prstGeom prst="roundRect">
              <a:avLst>
                <a:gd name="adj" fmla="val 10463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52235" y="5191125"/>
              <a:ext cx="2766060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474842" y="5226844"/>
              <a:ext cx="27208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等厚干涉（equal thickness fringes）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444996" y="556402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厚度相同处光程差相同，对应同一条条纹，所以条纹是一组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平行于棱边、明暗相间的直条纹。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劈尖干涉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劈尖的明暗条件：空气劈尖的棱边是暗纹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63"/>
              <p:cNvSpPr txBox="1">
                <a:spLocks noGrp="1"/>
              </p:cNvSpPr>
              <p:nvPr/>
            </p:nvSpPr>
            <p:spPr>
              <a:xfrm>
                <a:off x="533400" y="1524000"/>
                <a:ext cx="5410200" cy="8420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num>
                        <m:den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kλ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,⋯</m:t>
                              </m:r>
                            </m:e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2k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d>
                              <m:f>
                                <m:fPr>
                                  <m:type m:val="bar"/>
                                  <m:ctrl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num>
                                <m:den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,⋯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9" name="c1-text-2"/>
          <p:cNvGrpSpPr/>
          <p:nvPr/>
        </p:nvGrpSpPr>
        <p:grpSpPr>
          <a:xfrm>
            <a:off x="526923" y="2576989"/>
            <a:ext cx="4613727" cy="249364"/>
            <a:chOff x="526923" y="2576989"/>
            <a:chExt cx="4613727" cy="249364"/>
          </a:xfrm>
        </p:grpSpPr>
        <p:sp>
          <p:nvSpPr>
            <p:cNvPr id="8" name="TextBox 8"/>
            <p:cNvSpPr txBox="1"/>
            <p:nvPr/>
          </p:nvSpPr>
          <p:spPr>
            <a:xfrm>
              <a:off x="526923" y="2576989"/>
              <a:ext cx="46137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上行为明纹，下行为暗纹。空气劈尖 n₂ = 1：δ = 2e + λ/2。</a:t>
              </a:r>
            </a:p>
          </p:txBody>
        </p:sp>
      </p:grpSp>
      <p:grpSp>
        <p:nvGrpSpPr>
          <p:cNvPr id="34" name="c1-table-3"/>
          <p:cNvGrpSpPr/>
          <p:nvPr/>
        </p:nvGrpSpPr>
        <p:grpSpPr>
          <a:xfrm>
            <a:off x="533400" y="2967038"/>
            <a:ext cx="5410200" cy="2244090"/>
            <a:chOff x="533400" y="2967038"/>
            <a:chExt cx="5410200" cy="2244090"/>
          </a:xfrm>
        </p:grpSpPr>
        <p:sp>
          <p:nvSpPr>
            <p:cNvPr id="10" name="Rectangle 10"/>
            <p:cNvSpPr/>
            <p:nvPr/>
          </p:nvSpPr>
          <p:spPr>
            <a:xfrm>
              <a:off x="533400" y="2967038"/>
              <a:ext cx="5410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93826" y="310181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从棱边数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752141" y="310181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暗纹厚度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45711" y="310181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明纹厚度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223" y="3551396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条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264283" y="3551396"/>
              <a:ext cx="7969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0（棱边）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157853" y="355139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λ/(4n₂)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38595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386429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1223" y="4000024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条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64283" y="400002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λ/(2n₂)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57853" y="400002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3λ/(4n₂)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3081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4448651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64283" y="444865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λ/n₂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57853" y="444865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5λ/(4n₂)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7577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76250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4897279"/>
              <a:ext cx="601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m 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264283" y="4897279"/>
              <a:ext cx="11846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(m−1)λ/(2n₂)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157853" y="4897279"/>
              <a:ext cx="12794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(2m−1)λ/(4n₂)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2967038"/>
              <a:ext cx="54102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2151698" y="2967038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045268" y="2967038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2-card-1"/>
          <p:cNvGrpSpPr/>
          <p:nvPr/>
        </p:nvGrpSpPr>
        <p:grpSpPr>
          <a:xfrm>
            <a:off x="6248400" y="1524000"/>
            <a:ext cx="5410200" cy="1887855"/>
            <a:chOff x="6248400" y="1524000"/>
            <a:chExt cx="5410200" cy="1887855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57925" y="165735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88430" y="2110740"/>
              <a:ext cx="467296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 30 页空气劈尖的明、暗条件都标 k = 0, 1,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2, …。明纹 2e + λ/2 = kλ 在 k = 0 时 e = −λ/4 &lt; 0，不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存在，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明纹应从 k = 1 起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；暗纹从 k = 0 起，k = 0 就是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棱边。</a:t>
              </a:r>
            </a:p>
          </p:txBody>
        </p:sp>
      </p:grpSp>
      <p:grpSp>
        <p:nvGrpSpPr>
          <p:cNvPr id="45" name="c2-card-2"/>
          <p:cNvGrpSpPr/>
          <p:nvPr/>
        </p:nvGrpSpPr>
        <p:grpSpPr>
          <a:xfrm>
            <a:off x="6248400" y="3602355"/>
            <a:ext cx="5410200" cy="1608772"/>
            <a:chOff x="6248400" y="3602355"/>
            <a:chExt cx="5410200" cy="1608772"/>
          </a:xfrm>
        </p:grpSpPr>
        <p:sp>
          <p:nvSpPr>
            <p:cNvPr id="41" name="Rectangle 41"/>
            <p:cNvSpPr/>
            <p:nvPr/>
          </p:nvSpPr>
          <p:spPr>
            <a:xfrm>
              <a:off x="6248400" y="3602355"/>
              <a:ext cx="5410200" cy="1608772"/>
            </a:xfrm>
            <a:prstGeom prst="roundRect">
              <a:avLst>
                <a:gd name="adj" fmla="val 8289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57950" y="381190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22555" y="384762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棱边为什么是暗纹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50330" y="4189095"/>
              <a:ext cx="47110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棱边 e = 0，两束反射光的光程差只剩半波损失带来的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λ/2，所以是暗纹。实验上棱边确实是暗的，这又一次证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明了半波损失。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6" name="Rectangle 4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130" y="5991225"/>
              <a:ext cx="100006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数条纹前先定第一条对应的 k。暗纹从棱边算起是 k = 0，明纹第一条是 k = 1，「第 m 条」与 k 差几要写清楚。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61374" cy="909257"/>
            <a:chOff x="520446" y="342900"/>
            <a:chExt cx="74613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劈尖干涉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613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相邻条纹对应厚度差 λ/(2n)，间距 l = λ/(2nθ)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2" name="g_wedgefr"/>
          <p:cNvGrpSpPr/>
          <p:nvPr/>
        </p:nvGrpSpPr>
        <p:grpSpPr>
          <a:xfrm>
            <a:off x="891540" y="1826419"/>
            <a:ext cx="4869609" cy="3457099"/>
            <a:chOff x="891540" y="1826419"/>
            <a:chExt cx="4869609" cy="3457099"/>
          </a:xfrm>
        </p:grpSpPr>
        <p:sp>
          <p:nvSpPr>
            <p:cNvPr id="7" name="Freeform 7"/>
            <p:cNvSpPr/>
            <p:nvPr/>
          </p:nvSpPr>
          <p:spPr>
            <a:xfrm>
              <a:off x="901065" y="4931092"/>
              <a:ext cx="4692967" cy="9525"/>
            </a:xfrm>
            <a:custGeom>
              <a:avLst/>
              <a:gdLst/>
              <a:ahLst/>
              <a:cxnLst/>
              <a:rect l="l" t="t" r="r" b="b"/>
              <a:pathLst>
                <a:path w="4692967" h="9525">
                  <a:moveTo>
                    <a:pt x="0" y="0"/>
                  </a:moveTo>
                  <a:lnTo>
                    <a:pt x="4692967" y="0"/>
                  </a:lnTo>
                </a:path>
              </a:pathLst>
            </a:custGeom>
            <a:noFill/>
            <a:ln w="2286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901065" y="3363278"/>
              <a:ext cx="4693920" cy="1564957"/>
            </a:xfrm>
            <a:custGeom>
              <a:avLst/>
              <a:gdLst/>
              <a:ahLst/>
              <a:cxnLst/>
              <a:rect l="l" t="t" r="r" b="b"/>
              <a:pathLst>
                <a:path w="4693920" h="1564957">
                  <a:moveTo>
                    <a:pt x="0" y="1564957"/>
                  </a:moveTo>
                  <a:lnTo>
                    <a:pt x="4693920" y="0"/>
                  </a:lnTo>
                </a:path>
              </a:pathLst>
            </a:custGeom>
            <a:noFill/>
            <a:ln w="2286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5603558" y="3369945"/>
              <a:ext cx="9525" cy="1551623"/>
            </a:xfrm>
            <a:custGeom>
              <a:avLst/>
              <a:gdLst/>
              <a:ahLst/>
              <a:cxnLst/>
              <a:rect l="l" t="t" r="r" b="b"/>
              <a:pathLst>
                <a:path w="9525" h="1551623">
                  <a:moveTo>
                    <a:pt x="0" y="1551623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891540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283970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D97706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891540" y="2676525"/>
              <a:ext cx="9525" cy="2245043"/>
            </a:xfrm>
            <a:custGeom>
              <a:avLst/>
              <a:gdLst/>
              <a:ahLst/>
              <a:cxnLst/>
              <a:rect l="l" t="t" r="r" b="b"/>
              <a:pathLst>
                <a:path w="9525" h="2245043">
                  <a:moveTo>
                    <a:pt x="0" y="0"/>
                  </a:moveTo>
                  <a:lnTo>
                    <a:pt x="0" y="2245043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13" name="Freeform 13"/>
            <p:cNvSpPr/>
            <p:nvPr/>
          </p:nvSpPr>
          <p:spPr>
            <a:xfrm>
              <a:off x="1677352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069782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D97706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677352" y="2676525"/>
              <a:ext cx="9525" cy="1983105"/>
            </a:xfrm>
            <a:custGeom>
              <a:avLst/>
              <a:gdLst/>
              <a:ahLst/>
              <a:cxnLst/>
              <a:rect l="l" t="t" r="r" b="b"/>
              <a:pathLst>
                <a:path w="9525" h="1983105">
                  <a:moveTo>
                    <a:pt x="0" y="0"/>
                  </a:moveTo>
                  <a:lnTo>
                    <a:pt x="0" y="1983105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2462212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2854642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D97706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462212" y="2676525"/>
              <a:ext cx="9525" cy="1721168"/>
            </a:xfrm>
            <a:custGeom>
              <a:avLst/>
              <a:gdLst/>
              <a:ahLst/>
              <a:cxnLst/>
              <a:rect l="l" t="t" r="r" b="b"/>
              <a:pathLst>
                <a:path w="9525" h="1721168">
                  <a:moveTo>
                    <a:pt x="0" y="0"/>
                  </a:moveTo>
                  <a:lnTo>
                    <a:pt x="0" y="1721168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19" name="Freeform 19"/>
            <p:cNvSpPr/>
            <p:nvPr/>
          </p:nvSpPr>
          <p:spPr>
            <a:xfrm>
              <a:off x="3248025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640455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D97706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3248025" y="2676525"/>
              <a:ext cx="9525" cy="1460182"/>
            </a:xfrm>
            <a:custGeom>
              <a:avLst/>
              <a:gdLst/>
              <a:ahLst/>
              <a:cxnLst/>
              <a:rect l="l" t="t" r="r" b="b"/>
              <a:pathLst>
                <a:path w="9525" h="1460182">
                  <a:moveTo>
                    <a:pt x="0" y="0"/>
                  </a:moveTo>
                  <a:lnTo>
                    <a:pt x="0" y="1460182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22" name="Freeform 22"/>
            <p:cNvSpPr/>
            <p:nvPr/>
          </p:nvSpPr>
          <p:spPr>
            <a:xfrm>
              <a:off x="4032885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425315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D97706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032885" y="2676525"/>
              <a:ext cx="9525" cy="1198245"/>
            </a:xfrm>
            <a:custGeom>
              <a:avLst/>
              <a:gdLst/>
              <a:ahLst/>
              <a:cxnLst/>
              <a:rect l="l" t="t" r="r" b="b"/>
              <a:pathLst>
                <a:path w="9525" h="1198245">
                  <a:moveTo>
                    <a:pt x="0" y="0"/>
                  </a:moveTo>
                  <a:lnTo>
                    <a:pt x="0" y="1198245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25" name="Freeform 25"/>
            <p:cNvSpPr/>
            <p:nvPr/>
          </p:nvSpPr>
          <p:spPr>
            <a:xfrm>
              <a:off x="4818698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5211128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D97706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4818698" y="2676525"/>
              <a:ext cx="9525" cy="936308"/>
            </a:xfrm>
            <a:custGeom>
              <a:avLst/>
              <a:gdLst/>
              <a:ahLst/>
              <a:cxnLst/>
              <a:rect l="l" t="t" r="r" b="b"/>
              <a:pathLst>
                <a:path w="9525" h="936308">
                  <a:moveTo>
                    <a:pt x="0" y="0"/>
                  </a:moveTo>
                  <a:lnTo>
                    <a:pt x="0" y="936308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28" name="Freeform 28"/>
            <p:cNvSpPr/>
            <p:nvPr/>
          </p:nvSpPr>
          <p:spPr>
            <a:xfrm>
              <a:off x="5603558" y="2066925"/>
              <a:ext cx="9525" cy="535305"/>
            </a:xfrm>
            <a:custGeom>
              <a:avLst/>
              <a:gdLst/>
              <a:ahLst/>
              <a:cxnLst/>
              <a:rect l="l" t="t" r="r" b="b"/>
              <a:pathLst>
                <a:path w="9525" h="535305">
                  <a:moveTo>
                    <a:pt x="0" y="0"/>
                  </a:moveTo>
                  <a:lnTo>
                    <a:pt x="0" y="535305"/>
                  </a:lnTo>
                </a:path>
              </a:pathLst>
            </a:custGeom>
            <a:noFill/>
            <a:ln w="114300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5603558" y="2676525"/>
              <a:ext cx="9525" cy="674370"/>
            </a:xfrm>
            <a:custGeom>
              <a:avLst/>
              <a:gdLst/>
              <a:ahLst/>
              <a:cxnLst/>
              <a:rect l="l" t="t" r="r" b="b"/>
              <a:pathLst>
                <a:path w="9525" h="674370">
                  <a:moveTo>
                    <a:pt x="0" y="0"/>
                  </a:moveTo>
                  <a:lnTo>
                    <a:pt x="0" y="67437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30" name="Freeform 30"/>
            <p:cNvSpPr/>
            <p:nvPr/>
          </p:nvSpPr>
          <p:spPr>
            <a:xfrm>
              <a:off x="3352800" y="2833688"/>
              <a:ext cx="575310" cy="9525"/>
            </a:xfrm>
            <a:custGeom>
              <a:avLst/>
              <a:gdLst/>
              <a:ahLst/>
              <a:cxnLst/>
              <a:rect l="l" t="t" r="r" b="b"/>
              <a:pathLst>
                <a:path w="575310" h="9525">
                  <a:moveTo>
                    <a:pt x="0" y="0"/>
                  </a:moveTo>
                  <a:lnTo>
                    <a:pt x="575310" y="0"/>
                  </a:lnTo>
                </a:path>
              </a:pathLst>
            </a:custGeom>
            <a:noFill/>
            <a:ln w="17145">
              <a:solidFill>
                <a:srgbClr val="2F4B9A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3928110" y="278606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F4B9A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3257550" y="278606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2F4B9A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4032885" y="3893820"/>
              <a:ext cx="9525" cy="1027748"/>
            </a:xfrm>
            <a:custGeom>
              <a:avLst/>
              <a:gdLst/>
              <a:ahLst/>
              <a:cxnLst/>
              <a:rect l="l" t="t" r="r" b="b"/>
              <a:pathLst>
                <a:path w="9525" h="1027748">
                  <a:moveTo>
                    <a:pt x="0" y="1027748"/>
                  </a:moveTo>
                  <a:lnTo>
                    <a:pt x="0" y="0"/>
                  </a:lnTo>
                </a:path>
              </a:pathLst>
            </a:custGeom>
            <a:noFill/>
            <a:ln w="22860">
              <a:solidFill>
                <a:srgbClr val="B42318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4818698" y="3631882"/>
              <a:ext cx="9525" cy="1289685"/>
            </a:xfrm>
            <a:custGeom>
              <a:avLst/>
              <a:gdLst/>
              <a:ahLst/>
              <a:cxnLst/>
              <a:rect l="l" t="t" r="r" b="b"/>
              <a:pathLst>
                <a:path w="9525" h="1289685">
                  <a:moveTo>
                    <a:pt x="0" y="1289685"/>
                  </a:moveTo>
                  <a:lnTo>
                    <a:pt x="0" y="0"/>
                  </a:lnTo>
                </a:path>
              </a:pathLst>
            </a:custGeom>
            <a:noFill/>
            <a:ln w="22860">
              <a:solidFill>
                <a:srgbClr val="B42318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4042410" y="3884295"/>
              <a:ext cx="1043940" cy="9525"/>
            </a:xfrm>
            <a:custGeom>
              <a:avLst/>
              <a:gdLst/>
              <a:ahLst/>
              <a:cxnLst/>
              <a:rect l="l" t="t" r="r" b="b"/>
              <a:pathLst>
                <a:path w="1043940" h="9525">
                  <a:moveTo>
                    <a:pt x="0" y="0"/>
                  </a:moveTo>
                  <a:lnTo>
                    <a:pt x="104394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36" name="Freeform 36"/>
            <p:cNvSpPr/>
            <p:nvPr/>
          </p:nvSpPr>
          <p:spPr>
            <a:xfrm>
              <a:off x="5039678" y="3727132"/>
              <a:ext cx="9525" cy="52388"/>
            </a:xfrm>
            <a:custGeom>
              <a:avLst/>
              <a:gdLst/>
              <a:ahLst/>
              <a:cxnLst/>
              <a:rect l="l" t="t" r="r" b="b"/>
              <a:pathLst>
                <a:path w="9525" h="52388">
                  <a:moveTo>
                    <a:pt x="0" y="5238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4992052" y="363188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4992052" y="377952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1595438" y="4706302"/>
              <a:ext cx="35242" cy="215265"/>
            </a:xfrm>
            <a:custGeom>
              <a:avLst/>
              <a:gdLst/>
              <a:ahLst/>
              <a:cxnLst/>
              <a:rect l="l" t="t" r="r" b="b"/>
              <a:pathLst>
                <a:path w="35242" h="215265">
                  <a:moveTo>
                    <a:pt x="35242" y="215265"/>
                  </a:moveTo>
                  <a:lnTo>
                    <a:pt x="35242" y="200978"/>
                  </a:lnTo>
                  <a:lnTo>
                    <a:pt x="34290" y="177165"/>
                  </a:lnTo>
                  <a:lnTo>
                    <a:pt x="31433" y="153352"/>
                  </a:lnTo>
                  <a:lnTo>
                    <a:pt x="29527" y="129540"/>
                  </a:lnTo>
                  <a:lnTo>
                    <a:pt x="25717" y="106680"/>
                  </a:lnTo>
                  <a:lnTo>
                    <a:pt x="21908" y="82867"/>
                  </a:lnTo>
                  <a:lnTo>
                    <a:pt x="17145" y="60007"/>
                  </a:lnTo>
                  <a:lnTo>
                    <a:pt x="11430" y="36195"/>
                  </a:lnTo>
                  <a:lnTo>
                    <a:pt x="4762" y="14288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996315" y="5235892"/>
              <a:ext cx="4502467" cy="9525"/>
            </a:xfrm>
            <a:custGeom>
              <a:avLst/>
              <a:gdLst/>
              <a:ahLst/>
              <a:cxnLst/>
              <a:rect l="l" t="t" r="r" b="b"/>
              <a:pathLst>
                <a:path w="4502467" h="9525">
                  <a:moveTo>
                    <a:pt x="0" y="0"/>
                  </a:moveTo>
                  <a:lnTo>
                    <a:pt x="4502467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5498782" y="518826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901065" y="518826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2319579" y="182641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俯视：暗纹（黑）与明纹（橙）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608916" y="2643188"/>
              <a:ext cx="630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817333" y="4676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eₖ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852986" y="4676775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eₖ₊₁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136141" y="3683318"/>
              <a:ext cx="1785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Δe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730019" y="47639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412961" y="47277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199566" y="5036820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668851" y="407670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formula70"/>
              <p:cNvSpPr txBox="1">
                <a:spLocks noGrp="1"/>
              </p:cNvSpPr>
              <p:nvPr/>
            </p:nvSpPr>
            <p:spPr>
              <a:xfrm>
                <a:off x="6248400" y="1524000"/>
                <a:ext cx="5410200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num>
                        <m:den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formula71"/>
              <p:cNvSpPr txBox="1">
                <a:spLocks noGrp="1"/>
              </p:cNvSpPr>
              <p:nvPr/>
            </p:nvSpPr>
            <p:spPr>
              <a:xfrm>
                <a:off x="6248400" y="2224088"/>
                <a:ext cx="5410200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num>
                        <m:den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</m:func>
                        </m:den>
                      </m:f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num>
                        <m:den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2n</m:t>
                          </m:r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</m:func>
                        </m:den>
                      </m:f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num>
                        <m:den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2nθ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formula72"/>
              <p:cNvSpPr txBox="1">
                <a:spLocks noGrp="1"/>
              </p:cNvSpPr>
              <p:nvPr/>
            </p:nvSpPr>
            <p:spPr>
              <a:xfrm>
                <a:off x="6248400" y="2923222"/>
                <a:ext cx="5410200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num>
                        <m:den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den>
                      </m:f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⇒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Dλ</m:t>
                          </m:r>
                        </m:num>
                        <m:den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2nd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60" name="c2-bullets-4"/>
          <p:cNvGrpSpPr/>
          <p:nvPr/>
        </p:nvGrpSpPr>
        <p:grpSpPr>
          <a:xfrm>
            <a:off x="6256020" y="3646646"/>
            <a:ext cx="4720687" cy="608267"/>
            <a:chOff x="6256020" y="3646646"/>
            <a:chExt cx="4720687" cy="608267"/>
          </a:xfrm>
        </p:grpSpPr>
        <p:sp>
          <p:nvSpPr>
            <p:cNvPr id="56" name="Ellipse 56"/>
            <p:cNvSpPr/>
            <p:nvPr/>
          </p:nvSpPr>
          <p:spPr>
            <a:xfrm>
              <a:off x="6256020" y="370713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412611" y="3646646"/>
              <a:ext cx="43538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 越小，条纹越稀；θ 增大，条纹向棱边收拢、变密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256020" y="403574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412611" y="3976211"/>
              <a:ext cx="45640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劈尖里充入液体（n 变大），间距缩小为空气时的 1/n</a:t>
              </a:r>
            </a:p>
          </p:txBody>
        </p:sp>
      </p:grpSp>
      <p:grpSp>
        <p:nvGrpSpPr>
          <p:cNvPr id="66" name="c2-card-5"/>
          <p:cNvGrpSpPr/>
          <p:nvPr/>
        </p:nvGrpSpPr>
        <p:grpSpPr>
          <a:xfrm>
            <a:off x="6248400" y="4384358"/>
            <a:ext cx="5410200" cy="1274445"/>
            <a:chOff x="6248400" y="4384358"/>
            <a:chExt cx="5410200" cy="1274445"/>
          </a:xfrm>
        </p:grpSpPr>
        <p:sp>
          <p:nvSpPr>
            <p:cNvPr id="61" name="Rectangle 61"/>
            <p:cNvSpPr/>
            <p:nvPr/>
          </p:nvSpPr>
          <p:spPr>
            <a:xfrm>
              <a:off x="6248400" y="4384358"/>
              <a:ext cx="5410200" cy="1274445"/>
            </a:xfrm>
            <a:prstGeom prst="roundRect">
              <a:avLst>
                <a:gd name="adj" fmla="val 10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257925" y="4517708"/>
              <a:ext cx="47625" cy="10077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490335" y="458819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580543" y="462391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小例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483096" y="4961096"/>
              <a:ext cx="450494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空气劈尖 θ = 1.5×10⁻⁴ rad，λ = 600 nm：l = λ/(2θ)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 mm；充水（n = 1.33）后 l = 1.5 mm。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67" name="Rectangle 67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511" y="6004084"/>
              <a:ext cx="88747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每移过一条条纹，膜厚变化 λ/(2n)。数出从棱边到细丝一共有几个间隔，乘以 λ/(2n) 就是细丝直径 d。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劈尖干涉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劈尖的用途：测细丝直径、检验平面的平整度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2112645"/>
            <a:chOff x="533400" y="1524000"/>
            <a:chExt cx="5410200" cy="21126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112645"/>
            </a:xfrm>
            <a:prstGeom prst="roundRect">
              <a:avLst>
                <a:gd name="adj" fmla="val 63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4594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3343" y="175069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测细丝直径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472001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细丝夹在两块平玻璃一端，离棱边 D。测出条纹间距 l，空气劈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尖 l = Dλ/(2d)，于是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77"/>
                <p:cNvSpPr txBox="1">
                  <a:spLocks noGrp="1"/>
                </p:cNvSpPr>
                <p:nvPr/>
              </p:nvSpPr>
              <p:spPr>
                <a:xfrm>
                  <a:off x="763905" y="2610802"/>
                  <a:ext cx="4987290" cy="5143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Dλ</m:t>
                            </m:r>
                          </m:num>
                          <m:den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2l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57047" y="3233738"/>
              <a:ext cx="47731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也可以直接数条纹：从棱边到细丝共 N 个间隔，d = Nλ/2。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811905"/>
            <a:ext cx="5410200" cy="1520190"/>
            <a:chOff x="533400" y="3811905"/>
            <a:chExt cx="5410200" cy="1520190"/>
          </a:xfrm>
        </p:grpSpPr>
        <p:sp>
          <p:nvSpPr>
            <p:cNvPr id="15" name="Rectangle 15"/>
            <p:cNvSpPr/>
            <p:nvPr/>
          </p:nvSpPr>
          <p:spPr>
            <a:xfrm>
              <a:off x="533400" y="3811905"/>
              <a:ext cx="5410200" cy="1520190"/>
            </a:xfrm>
            <a:prstGeom prst="roundRect">
              <a:avLst>
                <a:gd name="adj" fmla="val 87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945255"/>
              <a:ext cx="47625" cy="125349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63905" y="4004310"/>
              <a:ext cx="14097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27341" y="403860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测波长、测微小角度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7047" y="4361498"/>
              <a:ext cx="47114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同一个公式 l = λ/(2nθ)，已知 θ 可求 λ（例7.6），已知 λ 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θ。</a:t>
              </a:r>
            </a:p>
          </p:txBody>
        </p:sp>
      </p:grpSp>
      <p:grpSp>
        <p:nvGrpSpPr>
          <p:cNvPr id="31" name="g_flat"/>
          <p:cNvGrpSpPr/>
          <p:nvPr/>
        </p:nvGrpSpPr>
        <p:grpSpPr>
          <a:xfrm>
            <a:off x="6713030" y="1706880"/>
            <a:ext cx="3870197" cy="1943100"/>
            <a:chOff x="6713030" y="1706880"/>
            <a:chExt cx="3870197" cy="1943100"/>
          </a:xfrm>
        </p:grpSpPr>
        <p:sp>
          <p:nvSpPr>
            <p:cNvPr id="21" name="Freeform 21"/>
            <p:cNvSpPr/>
            <p:nvPr/>
          </p:nvSpPr>
          <p:spPr>
            <a:xfrm>
              <a:off x="6838950" y="1706880"/>
              <a:ext cx="9525" cy="1627823"/>
            </a:xfrm>
            <a:custGeom>
              <a:avLst/>
              <a:gdLst/>
              <a:ahLst/>
              <a:cxnLst/>
              <a:rect l="l" t="t" r="r" b="b"/>
              <a:pathLst>
                <a:path w="9525" h="1627823">
                  <a:moveTo>
                    <a:pt x="0" y="0"/>
                  </a:moveTo>
                  <a:lnTo>
                    <a:pt x="0" y="1627823"/>
                  </a:lnTo>
                </a:path>
              </a:pathLst>
            </a:custGeom>
            <a:noFill/>
            <a:ln w="38100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7446645" y="1706880"/>
              <a:ext cx="16193" cy="1627823"/>
            </a:xfrm>
            <a:custGeom>
              <a:avLst/>
              <a:gdLst/>
              <a:ahLst/>
              <a:cxnLst/>
              <a:rect l="l" t="t" r="r" b="b"/>
              <a:pathLst>
                <a:path w="16193" h="1627823">
                  <a:moveTo>
                    <a:pt x="16193" y="0"/>
                  </a:moveTo>
                  <a:lnTo>
                    <a:pt x="16193" y="18098"/>
                  </a:lnTo>
                  <a:lnTo>
                    <a:pt x="16193" y="46673"/>
                  </a:lnTo>
                  <a:lnTo>
                    <a:pt x="16193" y="74295"/>
                  </a:lnTo>
                  <a:lnTo>
                    <a:pt x="16193" y="101918"/>
                  </a:lnTo>
                  <a:lnTo>
                    <a:pt x="16193" y="130493"/>
                  </a:lnTo>
                  <a:lnTo>
                    <a:pt x="16193" y="158115"/>
                  </a:lnTo>
                  <a:lnTo>
                    <a:pt x="16193" y="185738"/>
                  </a:lnTo>
                  <a:lnTo>
                    <a:pt x="16193" y="214312"/>
                  </a:lnTo>
                  <a:lnTo>
                    <a:pt x="16193" y="241935"/>
                  </a:lnTo>
                  <a:lnTo>
                    <a:pt x="15240" y="269558"/>
                  </a:lnTo>
                  <a:lnTo>
                    <a:pt x="15240" y="297180"/>
                  </a:lnTo>
                  <a:lnTo>
                    <a:pt x="14288" y="325755"/>
                  </a:lnTo>
                  <a:lnTo>
                    <a:pt x="14288" y="353378"/>
                  </a:lnTo>
                  <a:lnTo>
                    <a:pt x="14288" y="381000"/>
                  </a:lnTo>
                  <a:lnTo>
                    <a:pt x="13335" y="409575"/>
                  </a:lnTo>
                  <a:lnTo>
                    <a:pt x="13335" y="437198"/>
                  </a:lnTo>
                  <a:lnTo>
                    <a:pt x="12383" y="464820"/>
                  </a:lnTo>
                  <a:lnTo>
                    <a:pt x="10478" y="493395"/>
                  </a:lnTo>
                  <a:lnTo>
                    <a:pt x="9525" y="521018"/>
                  </a:lnTo>
                  <a:lnTo>
                    <a:pt x="8573" y="548640"/>
                  </a:lnTo>
                  <a:lnTo>
                    <a:pt x="7620" y="576262"/>
                  </a:lnTo>
                  <a:lnTo>
                    <a:pt x="6668" y="604838"/>
                  </a:lnTo>
                  <a:lnTo>
                    <a:pt x="4762" y="632460"/>
                  </a:lnTo>
                  <a:lnTo>
                    <a:pt x="3810" y="660083"/>
                  </a:lnTo>
                  <a:lnTo>
                    <a:pt x="2858" y="688658"/>
                  </a:lnTo>
                  <a:lnTo>
                    <a:pt x="1905" y="716280"/>
                  </a:lnTo>
                  <a:lnTo>
                    <a:pt x="953" y="743903"/>
                  </a:lnTo>
                  <a:lnTo>
                    <a:pt x="953" y="772478"/>
                  </a:lnTo>
                  <a:lnTo>
                    <a:pt x="0" y="800100"/>
                  </a:lnTo>
                  <a:lnTo>
                    <a:pt x="0" y="827723"/>
                  </a:lnTo>
                  <a:lnTo>
                    <a:pt x="953" y="855345"/>
                  </a:lnTo>
                  <a:lnTo>
                    <a:pt x="953" y="883920"/>
                  </a:lnTo>
                  <a:lnTo>
                    <a:pt x="1905" y="911542"/>
                  </a:lnTo>
                  <a:lnTo>
                    <a:pt x="2858" y="939165"/>
                  </a:lnTo>
                  <a:lnTo>
                    <a:pt x="3810" y="967740"/>
                  </a:lnTo>
                  <a:lnTo>
                    <a:pt x="4762" y="995362"/>
                  </a:lnTo>
                  <a:lnTo>
                    <a:pt x="6668" y="1022985"/>
                  </a:lnTo>
                  <a:lnTo>
                    <a:pt x="7620" y="1051560"/>
                  </a:lnTo>
                  <a:lnTo>
                    <a:pt x="8573" y="1079182"/>
                  </a:lnTo>
                  <a:lnTo>
                    <a:pt x="9525" y="1106805"/>
                  </a:lnTo>
                  <a:lnTo>
                    <a:pt x="10478" y="1134428"/>
                  </a:lnTo>
                  <a:lnTo>
                    <a:pt x="12383" y="1163003"/>
                  </a:lnTo>
                  <a:lnTo>
                    <a:pt x="13335" y="1190625"/>
                  </a:lnTo>
                  <a:lnTo>
                    <a:pt x="13335" y="1218248"/>
                  </a:lnTo>
                  <a:lnTo>
                    <a:pt x="14288" y="1246823"/>
                  </a:lnTo>
                  <a:lnTo>
                    <a:pt x="14288" y="1274445"/>
                  </a:lnTo>
                  <a:lnTo>
                    <a:pt x="14288" y="1302068"/>
                  </a:lnTo>
                  <a:lnTo>
                    <a:pt x="15240" y="1330642"/>
                  </a:lnTo>
                  <a:lnTo>
                    <a:pt x="15240" y="1358265"/>
                  </a:lnTo>
                  <a:lnTo>
                    <a:pt x="16193" y="1385888"/>
                  </a:lnTo>
                  <a:lnTo>
                    <a:pt x="16193" y="1413510"/>
                  </a:lnTo>
                  <a:lnTo>
                    <a:pt x="16193" y="1442085"/>
                  </a:lnTo>
                  <a:lnTo>
                    <a:pt x="16193" y="1469708"/>
                  </a:lnTo>
                  <a:lnTo>
                    <a:pt x="16193" y="1497330"/>
                  </a:lnTo>
                  <a:lnTo>
                    <a:pt x="16193" y="1525905"/>
                  </a:lnTo>
                  <a:lnTo>
                    <a:pt x="16193" y="1553528"/>
                  </a:lnTo>
                  <a:lnTo>
                    <a:pt x="16193" y="1581150"/>
                  </a:lnTo>
                  <a:lnTo>
                    <a:pt x="16193" y="1609725"/>
                  </a:lnTo>
                  <a:lnTo>
                    <a:pt x="16193" y="1627823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7989570" y="1706880"/>
              <a:ext cx="97155" cy="1627823"/>
            </a:xfrm>
            <a:custGeom>
              <a:avLst/>
              <a:gdLst/>
              <a:ahLst/>
              <a:cxnLst/>
              <a:rect l="l" t="t" r="r" b="b"/>
              <a:pathLst>
                <a:path w="97155" h="1627823">
                  <a:moveTo>
                    <a:pt x="97155" y="0"/>
                  </a:moveTo>
                  <a:lnTo>
                    <a:pt x="97155" y="18098"/>
                  </a:lnTo>
                  <a:lnTo>
                    <a:pt x="97155" y="46673"/>
                  </a:lnTo>
                  <a:lnTo>
                    <a:pt x="97155" y="74295"/>
                  </a:lnTo>
                  <a:lnTo>
                    <a:pt x="96203" y="101918"/>
                  </a:lnTo>
                  <a:lnTo>
                    <a:pt x="96203" y="130493"/>
                  </a:lnTo>
                  <a:lnTo>
                    <a:pt x="96203" y="158115"/>
                  </a:lnTo>
                  <a:lnTo>
                    <a:pt x="96203" y="185738"/>
                  </a:lnTo>
                  <a:lnTo>
                    <a:pt x="95250" y="214312"/>
                  </a:lnTo>
                  <a:lnTo>
                    <a:pt x="95250" y="241935"/>
                  </a:lnTo>
                  <a:lnTo>
                    <a:pt x="94298" y="269558"/>
                  </a:lnTo>
                  <a:lnTo>
                    <a:pt x="93345" y="297180"/>
                  </a:lnTo>
                  <a:lnTo>
                    <a:pt x="90488" y="325755"/>
                  </a:lnTo>
                  <a:lnTo>
                    <a:pt x="88583" y="353378"/>
                  </a:lnTo>
                  <a:lnTo>
                    <a:pt x="85725" y="381000"/>
                  </a:lnTo>
                  <a:lnTo>
                    <a:pt x="82868" y="409575"/>
                  </a:lnTo>
                  <a:lnTo>
                    <a:pt x="78105" y="437198"/>
                  </a:lnTo>
                  <a:lnTo>
                    <a:pt x="73343" y="464820"/>
                  </a:lnTo>
                  <a:lnTo>
                    <a:pt x="67628" y="493395"/>
                  </a:lnTo>
                  <a:lnTo>
                    <a:pt x="60960" y="521018"/>
                  </a:lnTo>
                  <a:lnTo>
                    <a:pt x="54293" y="548640"/>
                  </a:lnTo>
                  <a:lnTo>
                    <a:pt x="46673" y="576262"/>
                  </a:lnTo>
                  <a:lnTo>
                    <a:pt x="39053" y="604838"/>
                  </a:lnTo>
                  <a:lnTo>
                    <a:pt x="30480" y="632460"/>
                  </a:lnTo>
                  <a:lnTo>
                    <a:pt x="22860" y="660083"/>
                  </a:lnTo>
                  <a:lnTo>
                    <a:pt x="16193" y="688658"/>
                  </a:lnTo>
                  <a:lnTo>
                    <a:pt x="10478" y="716280"/>
                  </a:lnTo>
                  <a:lnTo>
                    <a:pt x="5715" y="743903"/>
                  </a:lnTo>
                  <a:lnTo>
                    <a:pt x="1905" y="772478"/>
                  </a:lnTo>
                  <a:lnTo>
                    <a:pt x="0" y="800100"/>
                  </a:lnTo>
                  <a:lnTo>
                    <a:pt x="0" y="827723"/>
                  </a:lnTo>
                  <a:lnTo>
                    <a:pt x="1905" y="855345"/>
                  </a:lnTo>
                  <a:lnTo>
                    <a:pt x="5715" y="883920"/>
                  </a:lnTo>
                  <a:lnTo>
                    <a:pt x="10478" y="911542"/>
                  </a:lnTo>
                  <a:lnTo>
                    <a:pt x="16193" y="939165"/>
                  </a:lnTo>
                  <a:lnTo>
                    <a:pt x="22860" y="967740"/>
                  </a:lnTo>
                  <a:lnTo>
                    <a:pt x="30480" y="995362"/>
                  </a:lnTo>
                  <a:lnTo>
                    <a:pt x="39053" y="1022985"/>
                  </a:lnTo>
                  <a:lnTo>
                    <a:pt x="46673" y="1051560"/>
                  </a:lnTo>
                  <a:lnTo>
                    <a:pt x="54293" y="1079182"/>
                  </a:lnTo>
                  <a:lnTo>
                    <a:pt x="60960" y="1106805"/>
                  </a:lnTo>
                  <a:lnTo>
                    <a:pt x="67628" y="1134428"/>
                  </a:lnTo>
                  <a:lnTo>
                    <a:pt x="73343" y="1163003"/>
                  </a:lnTo>
                  <a:lnTo>
                    <a:pt x="78105" y="1190625"/>
                  </a:lnTo>
                  <a:lnTo>
                    <a:pt x="82868" y="1218248"/>
                  </a:lnTo>
                  <a:lnTo>
                    <a:pt x="85725" y="1246823"/>
                  </a:lnTo>
                  <a:lnTo>
                    <a:pt x="88583" y="1274445"/>
                  </a:lnTo>
                  <a:lnTo>
                    <a:pt x="90488" y="1302068"/>
                  </a:lnTo>
                  <a:lnTo>
                    <a:pt x="93345" y="1330642"/>
                  </a:lnTo>
                  <a:lnTo>
                    <a:pt x="94298" y="1358265"/>
                  </a:lnTo>
                  <a:lnTo>
                    <a:pt x="95250" y="1385888"/>
                  </a:lnTo>
                  <a:lnTo>
                    <a:pt x="95250" y="1413510"/>
                  </a:lnTo>
                  <a:lnTo>
                    <a:pt x="96203" y="1442085"/>
                  </a:lnTo>
                  <a:lnTo>
                    <a:pt x="96203" y="1469708"/>
                  </a:lnTo>
                  <a:lnTo>
                    <a:pt x="96203" y="1497330"/>
                  </a:lnTo>
                  <a:lnTo>
                    <a:pt x="96203" y="1525905"/>
                  </a:lnTo>
                  <a:lnTo>
                    <a:pt x="97155" y="1553528"/>
                  </a:lnTo>
                  <a:lnTo>
                    <a:pt x="97155" y="1581150"/>
                  </a:lnTo>
                  <a:lnTo>
                    <a:pt x="97155" y="1609725"/>
                  </a:lnTo>
                  <a:lnTo>
                    <a:pt x="97155" y="1627823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8460105" y="1706880"/>
              <a:ext cx="250507" cy="1627823"/>
            </a:xfrm>
            <a:custGeom>
              <a:avLst/>
              <a:gdLst/>
              <a:ahLst/>
              <a:cxnLst/>
              <a:rect l="l" t="t" r="r" b="b"/>
              <a:pathLst>
                <a:path w="250507" h="1627823">
                  <a:moveTo>
                    <a:pt x="250507" y="0"/>
                  </a:moveTo>
                  <a:lnTo>
                    <a:pt x="250507" y="18098"/>
                  </a:lnTo>
                  <a:lnTo>
                    <a:pt x="250507" y="46673"/>
                  </a:lnTo>
                  <a:lnTo>
                    <a:pt x="250507" y="74295"/>
                  </a:lnTo>
                  <a:lnTo>
                    <a:pt x="249555" y="101918"/>
                  </a:lnTo>
                  <a:lnTo>
                    <a:pt x="249555" y="130493"/>
                  </a:lnTo>
                  <a:lnTo>
                    <a:pt x="248602" y="158115"/>
                  </a:lnTo>
                  <a:lnTo>
                    <a:pt x="247650" y="185738"/>
                  </a:lnTo>
                  <a:lnTo>
                    <a:pt x="246697" y="214312"/>
                  </a:lnTo>
                  <a:lnTo>
                    <a:pt x="244792" y="241935"/>
                  </a:lnTo>
                  <a:lnTo>
                    <a:pt x="241935" y="269558"/>
                  </a:lnTo>
                  <a:lnTo>
                    <a:pt x="239077" y="297180"/>
                  </a:lnTo>
                  <a:lnTo>
                    <a:pt x="234315" y="325755"/>
                  </a:lnTo>
                  <a:lnTo>
                    <a:pt x="228600" y="353378"/>
                  </a:lnTo>
                  <a:lnTo>
                    <a:pt x="221932" y="381000"/>
                  </a:lnTo>
                  <a:lnTo>
                    <a:pt x="212407" y="409575"/>
                  </a:lnTo>
                  <a:lnTo>
                    <a:pt x="201930" y="437198"/>
                  </a:lnTo>
                  <a:lnTo>
                    <a:pt x="188595" y="464820"/>
                  </a:lnTo>
                  <a:lnTo>
                    <a:pt x="174307" y="493395"/>
                  </a:lnTo>
                  <a:lnTo>
                    <a:pt x="157162" y="521018"/>
                  </a:lnTo>
                  <a:lnTo>
                    <a:pt x="139065" y="548640"/>
                  </a:lnTo>
                  <a:lnTo>
                    <a:pt x="120015" y="576262"/>
                  </a:lnTo>
                  <a:lnTo>
                    <a:pt x="99060" y="604838"/>
                  </a:lnTo>
                  <a:lnTo>
                    <a:pt x="79057" y="632460"/>
                  </a:lnTo>
                  <a:lnTo>
                    <a:pt x="59055" y="660083"/>
                  </a:lnTo>
                  <a:lnTo>
                    <a:pt x="40957" y="688658"/>
                  </a:lnTo>
                  <a:lnTo>
                    <a:pt x="25717" y="716280"/>
                  </a:lnTo>
                  <a:lnTo>
                    <a:pt x="13335" y="743903"/>
                  </a:lnTo>
                  <a:lnTo>
                    <a:pt x="4762" y="772478"/>
                  </a:lnTo>
                  <a:lnTo>
                    <a:pt x="0" y="800100"/>
                  </a:lnTo>
                  <a:lnTo>
                    <a:pt x="0" y="827723"/>
                  </a:lnTo>
                  <a:lnTo>
                    <a:pt x="4762" y="855345"/>
                  </a:lnTo>
                  <a:lnTo>
                    <a:pt x="13335" y="883920"/>
                  </a:lnTo>
                  <a:lnTo>
                    <a:pt x="25717" y="911542"/>
                  </a:lnTo>
                  <a:lnTo>
                    <a:pt x="40957" y="939165"/>
                  </a:lnTo>
                  <a:lnTo>
                    <a:pt x="59055" y="967740"/>
                  </a:lnTo>
                  <a:lnTo>
                    <a:pt x="79057" y="995362"/>
                  </a:lnTo>
                  <a:lnTo>
                    <a:pt x="99060" y="1022985"/>
                  </a:lnTo>
                  <a:lnTo>
                    <a:pt x="120015" y="1051560"/>
                  </a:lnTo>
                  <a:lnTo>
                    <a:pt x="139065" y="1079182"/>
                  </a:lnTo>
                  <a:lnTo>
                    <a:pt x="157162" y="1106805"/>
                  </a:lnTo>
                  <a:lnTo>
                    <a:pt x="174307" y="1134428"/>
                  </a:lnTo>
                  <a:lnTo>
                    <a:pt x="188595" y="1163003"/>
                  </a:lnTo>
                  <a:lnTo>
                    <a:pt x="201930" y="1190625"/>
                  </a:lnTo>
                  <a:lnTo>
                    <a:pt x="212407" y="1218248"/>
                  </a:lnTo>
                  <a:lnTo>
                    <a:pt x="221932" y="1246823"/>
                  </a:lnTo>
                  <a:lnTo>
                    <a:pt x="228600" y="1274445"/>
                  </a:lnTo>
                  <a:lnTo>
                    <a:pt x="234315" y="1302068"/>
                  </a:lnTo>
                  <a:lnTo>
                    <a:pt x="239077" y="1330642"/>
                  </a:lnTo>
                  <a:lnTo>
                    <a:pt x="241935" y="1358265"/>
                  </a:lnTo>
                  <a:lnTo>
                    <a:pt x="244792" y="1385888"/>
                  </a:lnTo>
                  <a:lnTo>
                    <a:pt x="246697" y="1413510"/>
                  </a:lnTo>
                  <a:lnTo>
                    <a:pt x="247650" y="1442085"/>
                  </a:lnTo>
                  <a:lnTo>
                    <a:pt x="248602" y="1469708"/>
                  </a:lnTo>
                  <a:lnTo>
                    <a:pt x="249555" y="1497330"/>
                  </a:lnTo>
                  <a:lnTo>
                    <a:pt x="249555" y="1525905"/>
                  </a:lnTo>
                  <a:lnTo>
                    <a:pt x="250507" y="1553528"/>
                  </a:lnTo>
                  <a:lnTo>
                    <a:pt x="250507" y="1581150"/>
                  </a:lnTo>
                  <a:lnTo>
                    <a:pt x="250507" y="1609725"/>
                  </a:lnTo>
                  <a:lnTo>
                    <a:pt x="250507" y="1627823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9059228" y="1706880"/>
              <a:ext cx="275272" cy="1627823"/>
            </a:xfrm>
            <a:custGeom>
              <a:avLst/>
              <a:gdLst/>
              <a:ahLst/>
              <a:cxnLst/>
              <a:rect l="l" t="t" r="r" b="b"/>
              <a:pathLst>
                <a:path w="275272" h="1627823">
                  <a:moveTo>
                    <a:pt x="275272" y="0"/>
                  </a:moveTo>
                  <a:lnTo>
                    <a:pt x="275272" y="18098"/>
                  </a:lnTo>
                  <a:lnTo>
                    <a:pt x="275272" y="46673"/>
                  </a:lnTo>
                  <a:lnTo>
                    <a:pt x="275272" y="74295"/>
                  </a:lnTo>
                  <a:lnTo>
                    <a:pt x="274320" y="101918"/>
                  </a:lnTo>
                  <a:lnTo>
                    <a:pt x="274320" y="130493"/>
                  </a:lnTo>
                  <a:lnTo>
                    <a:pt x="273367" y="158115"/>
                  </a:lnTo>
                  <a:lnTo>
                    <a:pt x="272415" y="185738"/>
                  </a:lnTo>
                  <a:lnTo>
                    <a:pt x="271462" y="214312"/>
                  </a:lnTo>
                  <a:lnTo>
                    <a:pt x="269557" y="241935"/>
                  </a:lnTo>
                  <a:lnTo>
                    <a:pt x="266700" y="269558"/>
                  </a:lnTo>
                  <a:lnTo>
                    <a:pt x="262890" y="297180"/>
                  </a:lnTo>
                  <a:lnTo>
                    <a:pt x="258128" y="325755"/>
                  </a:lnTo>
                  <a:lnTo>
                    <a:pt x="251460" y="353378"/>
                  </a:lnTo>
                  <a:lnTo>
                    <a:pt x="243840" y="381000"/>
                  </a:lnTo>
                  <a:lnTo>
                    <a:pt x="234315" y="409575"/>
                  </a:lnTo>
                  <a:lnTo>
                    <a:pt x="221932" y="437198"/>
                  </a:lnTo>
                  <a:lnTo>
                    <a:pt x="207645" y="464820"/>
                  </a:lnTo>
                  <a:lnTo>
                    <a:pt x="191453" y="493395"/>
                  </a:lnTo>
                  <a:lnTo>
                    <a:pt x="173355" y="521018"/>
                  </a:lnTo>
                  <a:lnTo>
                    <a:pt x="153353" y="548640"/>
                  </a:lnTo>
                  <a:lnTo>
                    <a:pt x="131445" y="576262"/>
                  </a:lnTo>
                  <a:lnTo>
                    <a:pt x="108585" y="604838"/>
                  </a:lnTo>
                  <a:lnTo>
                    <a:pt x="86678" y="632460"/>
                  </a:lnTo>
                  <a:lnTo>
                    <a:pt x="64770" y="660083"/>
                  </a:lnTo>
                  <a:lnTo>
                    <a:pt x="44767" y="688658"/>
                  </a:lnTo>
                  <a:lnTo>
                    <a:pt x="28575" y="716280"/>
                  </a:lnTo>
                  <a:lnTo>
                    <a:pt x="14288" y="743903"/>
                  </a:lnTo>
                  <a:lnTo>
                    <a:pt x="4762" y="772478"/>
                  </a:lnTo>
                  <a:lnTo>
                    <a:pt x="0" y="800100"/>
                  </a:lnTo>
                  <a:lnTo>
                    <a:pt x="0" y="827723"/>
                  </a:lnTo>
                  <a:lnTo>
                    <a:pt x="4762" y="855345"/>
                  </a:lnTo>
                  <a:lnTo>
                    <a:pt x="14288" y="883920"/>
                  </a:lnTo>
                  <a:lnTo>
                    <a:pt x="28575" y="911542"/>
                  </a:lnTo>
                  <a:lnTo>
                    <a:pt x="44767" y="939165"/>
                  </a:lnTo>
                  <a:lnTo>
                    <a:pt x="64770" y="967740"/>
                  </a:lnTo>
                  <a:lnTo>
                    <a:pt x="86678" y="995362"/>
                  </a:lnTo>
                  <a:lnTo>
                    <a:pt x="108585" y="1022985"/>
                  </a:lnTo>
                  <a:lnTo>
                    <a:pt x="131445" y="1051560"/>
                  </a:lnTo>
                  <a:lnTo>
                    <a:pt x="153353" y="1079182"/>
                  </a:lnTo>
                  <a:lnTo>
                    <a:pt x="173355" y="1106805"/>
                  </a:lnTo>
                  <a:lnTo>
                    <a:pt x="191453" y="1134428"/>
                  </a:lnTo>
                  <a:lnTo>
                    <a:pt x="207645" y="1163003"/>
                  </a:lnTo>
                  <a:lnTo>
                    <a:pt x="221932" y="1190625"/>
                  </a:lnTo>
                  <a:lnTo>
                    <a:pt x="234315" y="1218248"/>
                  </a:lnTo>
                  <a:lnTo>
                    <a:pt x="243840" y="1246823"/>
                  </a:lnTo>
                  <a:lnTo>
                    <a:pt x="251460" y="1274445"/>
                  </a:lnTo>
                  <a:lnTo>
                    <a:pt x="258128" y="1302068"/>
                  </a:lnTo>
                  <a:lnTo>
                    <a:pt x="262890" y="1330642"/>
                  </a:lnTo>
                  <a:lnTo>
                    <a:pt x="266700" y="1358265"/>
                  </a:lnTo>
                  <a:lnTo>
                    <a:pt x="269557" y="1385888"/>
                  </a:lnTo>
                  <a:lnTo>
                    <a:pt x="271462" y="1413510"/>
                  </a:lnTo>
                  <a:lnTo>
                    <a:pt x="272415" y="1442085"/>
                  </a:lnTo>
                  <a:lnTo>
                    <a:pt x="273367" y="1469708"/>
                  </a:lnTo>
                  <a:lnTo>
                    <a:pt x="274320" y="1497330"/>
                  </a:lnTo>
                  <a:lnTo>
                    <a:pt x="274320" y="1525905"/>
                  </a:lnTo>
                  <a:lnTo>
                    <a:pt x="275272" y="1553528"/>
                  </a:lnTo>
                  <a:lnTo>
                    <a:pt x="275272" y="1581150"/>
                  </a:lnTo>
                  <a:lnTo>
                    <a:pt x="275272" y="1609725"/>
                  </a:lnTo>
                  <a:lnTo>
                    <a:pt x="275272" y="1627823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9830752" y="1706880"/>
              <a:ext cx="127635" cy="1627823"/>
            </a:xfrm>
            <a:custGeom>
              <a:avLst/>
              <a:gdLst/>
              <a:ahLst/>
              <a:cxnLst/>
              <a:rect l="l" t="t" r="r" b="b"/>
              <a:pathLst>
                <a:path w="127635" h="1627823">
                  <a:moveTo>
                    <a:pt x="127635" y="0"/>
                  </a:moveTo>
                  <a:lnTo>
                    <a:pt x="127635" y="18098"/>
                  </a:lnTo>
                  <a:lnTo>
                    <a:pt x="127635" y="46673"/>
                  </a:lnTo>
                  <a:lnTo>
                    <a:pt x="127635" y="74295"/>
                  </a:lnTo>
                  <a:lnTo>
                    <a:pt x="127635" y="101918"/>
                  </a:lnTo>
                  <a:lnTo>
                    <a:pt x="127635" y="130493"/>
                  </a:lnTo>
                  <a:lnTo>
                    <a:pt x="127635" y="158115"/>
                  </a:lnTo>
                  <a:lnTo>
                    <a:pt x="126683" y="185738"/>
                  </a:lnTo>
                  <a:lnTo>
                    <a:pt x="126683" y="214312"/>
                  </a:lnTo>
                  <a:lnTo>
                    <a:pt x="125730" y="241935"/>
                  </a:lnTo>
                  <a:lnTo>
                    <a:pt x="123825" y="269558"/>
                  </a:lnTo>
                  <a:lnTo>
                    <a:pt x="121920" y="297180"/>
                  </a:lnTo>
                  <a:lnTo>
                    <a:pt x="120015" y="325755"/>
                  </a:lnTo>
                  <a:lnTo>
                    <a:pt x="117158" y="353378"/>
                  </a:lnTo>
                  <a:lnTo>
                    <a:pt x="113348" y="381000"/>
                  </a:lnTo>
                  <a:lnTo>
                    <a:pt x="108585" y="409575"/>
                  </a:lnTo>
                  <a:lnTo>
                    <a:pt x="102870" y="437198"/>
                  </a:lnTo>
                  <a:lnTo>
                    <a:pt x="96203" y="464820"/>
                  </a:lnTo>
                  <a:lnTo>
                    <a:pt x="88583" y="493395"/>
                  </a:lnTo>
                  <a:lnTo>
                    <a:pt x="80010" y="521018"/>
                  </a:lnTo>
                  <a:lnTo>
                    <a:pt x="70485" y="548640"/>
                  </a:lnTo>
                  <a:lnTo>
                    <a:pt x="60960" y="576262"/>
                  </a:lnTo>
                  <a:lnTo>
                    <a:pt x="50483" y="604838"/>
                  </a:lnTo>
                  <a:lnTo>
                    <a:pt x="40005" y="632460"/>
                  </a:lnTo>
                  <a:lnTo>
                    <a:pt x="30480" y="660083"/>
                  </a:lnTo>
                  <a:lnTo>
                    <a:pt x="20955" y="688658"/>
                  </a:lnTo>
                  <a:lnTo>
                    <a:pt x="12383" y="716280"/>
                  </a:lnTo>
                  <a:lnTo>
                    <a:pt x="6668" y="743903"/>
                  </a:lnTo>
                  <a:lnTo>
                    <a:pt x="1905" y="772478"/>
                  </a:lnTo>
                  <a:lnTo>
                    <a:pt x="0" y="800100"/>
                  </a:lnTo>
                  <a:lnTo>
                    <a:pt x="0" y="827723"/>
                  </a:lnTo>
                  <a:lnTo>
                    <a:pt x="1905" y="855345"/>
                  </a:lnTo>
                  <a:lnTo>
                    <a:pt x="6668" y="883920"/>
                  </a:lnTo>
                  <a:lnTo>
                    <a:pt x="12383" y="911542"/>
                  </a:lnTo>
                  <a:lnTo>
                    <a:pt x="20955" y="939165"/>
                  </a:lnTo>
                  <a:lnTo>
                    <a:pt x="30480" y="967740"/>
                  </a:lnTo>
                  <a:lnTo>
                    <a:pt x="40005" y="995362"/>
                  </a:lnTo>
                  <a:lnTo>
                    <a:pt x="50483" y="1022985"/>
                  </a:lnTo>
                  <a:lnTo>
                    <a:pt x="60960" y="1051560"/>
                  </a:lnTo>
                  <a:lnTo>
                    <a:pt x="70485" y="1079182"/>
                  </a:lnTo>
                  <a:lnTo>
                    <a:pt x="80010" y="1106805"/>
                  </a:lnTo>
                  <a:lnTo>
                    <a:pt x="88583" y="1134428"/>
                  </a:lnTo>
                  <a:lnTo>
                    <a:pt x="96203" y="1163003"/>
                  </a:lnTo>
                  <a:lnTo>
                    <a:pt x="102870" y="1190625"/>
                  </a:lnTo>
                  <a:lnTo>
                    <a:pt x="108585" y="1218248"/>
                  </a:lnTo>
                  <a:lnTo>
                    <a:pt x="113348" y="1246823"/>
                  </a:lnTo>
                  <a:lnTo>
                    <a:pt x="117158" y="1274445"/>
                  </a:lnTo>
                  <a:lnTo>
                    <a:pt x="120015" y="1302068"/>
                  </a:lnTo>
                  <a:lnTo>
                    <a:pt x="121920" y="1330642"/>
                  </a:lnTo>
                  <a:lnTo>
                    <a:pt x="123825" y="1358265"/>
                  </a:lnTo>
                  <a:lnTo>
                    <a:pt x="125730" y="1385888"/>
                  </a:lnTo>
                  <a:lnTo>
                    <a:pt x="126683" y="1413510"/>
                  </a:lnTo>
                  <a:lnTo>
                    <a:pt x="126683" y="1442085"/>
                  </a:lnTo>
                  <a:lnTo>
                    <a:pt x="127635" y="1469708"/>
                  </a:lnTo>
                  <a:lnTo>
                    <a:pt x="127635" y="1497330"/>
                  </a:lnTo>
                  <a:lnTo>
                    <a:pt x="127635" y="1525905"/>
                  </a:lnTo>
                  <a:lnTo>
                    <a:pt x="127635" y="1553528"/>
                  </a:lnTo>
                  <a:lnTo>
                    <a:pt x="127635" y="1581150"/>
                  </a:lnTo>
                  <a:lnTo>
                    <a:pt x="127635" y="1609725"/>
                  </a:lnTo>
                  <a:lnTo>
                    <a:pt x="127635" y="1627823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10557510" y="1706880"/>
              <a:ext cx="25717" cy="1627823"/>
            </a:xfrm>
            <a:custGeom>
              <a:avLst/>
              <a:gdLst/>
              <a:ahLst/>
              <a:cxnLst/>
              <a:rect l="l" t="t" r="r" b="b"/>
              <a:pathLst>
                <a:path w="25717" h="1627823">
                  <a:moveTo>
                    <a:pt x="25717" y="0"/>
                  </a:moveTo>
                  <a:lnTo>
                    <a:pt x="25717" y="18098"/>
                  </a:lnTo>
                  <a:lnTo>
                    <a:pt x="25717" y="46673"/>
                  </a:lnTo>
                  <a:lnTo>
                    <a:pt x="25717" y="74295"/>
                  </a:lnTo>
                  <a:lnTo>
                    <a:pt x="25717" y="101918"/>
                  </a:lnTo>
                  <a:lnTo>
                    <a:pt x="25717" y="130493"/>
                  </a:lnTo>
                  <a:lnTo>
                    <a:pt x="25717" y="158115"/>
                  </a:lnTo>
                  <a:lnTo>
                    <a:pt x="24765" y="185738"/>
                  </a:lnTo>
                  <a:lnTo>
                    <a:pt x="24765" y="214312"/>
                  </a:lnTo>
                  <a:lnTo>
                    <a:pt x="24765" y="241935"/>
                  </a:lnTo>
                  <a:lnTo>
                    <a:pt x="24765" y="269558"/>
                  </a:lnTo>
                  <a:lnTo>
                    <a:pt x="24765" y="297180"/>
                  </a:lnTo>
                  <a:lnTo>
                    <a:pt x="23812" y="325755"/>
                  </a:lnTo>
                  <a:lnTo>
                    <a:pt x="23812" y="353378"/>
                  </a:lnTo>
                  <a:lnTo>
                    <a:pt x="21907" y="381000"/>
                  </a:lnTo>
                  <a:lnTo>
                    <a:pt x="21907" y="409575"/>
                  </a:lnTo>
                  <a:lnTo>
                    <a:pt x="20955" y="437198"/>
                  </a:lnTo>
                  <a:lnTo>
                    <a:pt x="19050" y="464820"/>
                  </a:lnTo>
                  <a:lnTo>
                    <a:pt x="18097" y="493395"/>
                  </a:lnTo>
                  <a:lnTo>
                    <a:pt x="16192" y="521018"/>
                  </a:lnTo>
                  <a:lnTo>
                    <a:pt x="14288" y="548640"/>
                  </a:lnTo>
                  <a:lnTo>
                    <a:pt x="12382" y="576262"/>
                  </a:lnTo>
                  <a:lnTo>
                    <a:pt x="9525" y="604838"/>
                  </a:lnTo>
                  <a:lnTo>
                    <a:pt x="8572" y="632460"/>
                  </a:lnTo>
                  <a:lnTo>
                    <a:pt x="5715" y="660083"/>
                  </a:lnTo>
                  <a:lnTo>
                    <a:pt x="4762" y="688658"/>
                  </a:lnTo>
                  <a:lnTo>
                    <a:pt x="2857" y="716280"/>
                  </a:lnTo>
                  <a:lnTo>
                    <a:pt x="952" y="743903"/>
                  </a:lnTo>
                  <a:lnTo>
                    <a:pt x="952" y="772478"/>
                  </a:lnTo>
                  <a:lnTo>
                    <a:pt x="0" y="800100"/>
                  </a:lnTo>
                  <a:lnTo>
                    <a:pt x="0" y="827723"/>
                  </a:lnTo>
                  <a:lnTo>
                    <a:pt x="952" y="855345"/>
                  </a:lnTo>
                  <a:lnTo>
                    <a:pt x="952" y="883920"/>
                  </a:lnTo>
                  <a:lnTo>
                    <a:pt x="2857" y="911542"/>
                  </a:lnTo>
                  <a:lnTo>
                    <a:pt x="4762" y="939165"/>
                  </a:lnTo>
                  <a:lnTo>
                    <a:pt x="5715" y="967740"/>
                  </a:lnTo>
                  <a:lnTo>
                    <a:pt x="8572" y="995362"/>
                  </a:lnTo>
                  <a:lnTo>
                    <a:pt x="9525" y="1022985"/>
                  </a:lnTo>
                  <a:lnTo>
                    <a:pt x="12382" y="1051560"/>
                  </a:lnTo>
                  <a:lnTo>
                    <a:pt x="14288" y="1079182"/>
                  </a:lnTo>
                  <a:lnTo>
                    <a:pt x="16192" y="1106805"/>
                  </a:lnTo>
                  <a:lnTo>
                    <a:pt x="18097" y="1134428"/>
                  </a:lnTo>
                  <a:lnTo>
                    <a:pt x="19050" y="1163003"/>
                  </a:lnTo>
                  <a:lnTo>
                    <a:pt x="20955" y="1190625"/>
                  </a:lnTo>
                  <a:lnTo>
                    <a:pt x="21907" y="1218248"/>
                  </a:lnTo>
                  <a:lnTo>
                    <a:pt x="21907" y="1246823"/>
                  </a:lnTo>
                  <a:lnTo>
                    <a:pt x="23812" y="1274445"/>
                  </a:lnTo>
                  <a:lnTo>
                    <a:pt x="23812" y="1302068"/>
                  </a:lnTo>
                  <a:lnTo>
                    <a:pt x="24765" y="1330642"/>
                  </a:lnTo>
                  <a:lnTo>
                    <a:pt x="24765" y="1358265"/>
                  </a:lnTo>
                  <a:lnTo>
                    <a:pt x="24765" y="1385888"/>
                  </a:lnTo>
                  <a:lnTo>
                    <a:pt x="24765" y="1413510"/>
                  </a:lnTo>
                  <a:lnTo>
                    <a:pt x="24765" y="1442085"/>
                  </a:lnTo>
                  <a:lnTo>
                    <a:pt x="25717" y="1469708"/>
                  </a:lnTo>
                  <a:lnTo>
                    <a:pt x="25717" y="1497330"/>
                  </a:lnTo>
                  <a:lnTo>
                    <a:pt x="25717" y="1525905"/>
                  </a:lnTo>
                  <a:lnTo>
                    <a:pt x="25717" y="1553528"/>
                  </a:lnTo>
                  <a:lnTo>
                    <a:pt x="25717" y="1581150"/>
                  </a:lnTo>
                  <a:lnTo>
                    <a:pt x="25717" y="1609725"/>
                  </a:lnTo>
                  <a:lnTo>
                    <a:pt x="25717" y="1627823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8572500" y="2173605"/>
              <a:ext cx="693420" cy="694373"/>
            </a:xfrm>
            <a:custGeom>
              <a:avLst/>
              <a:gdLst/>
              <a:ahLst/>
              <a:cxnLst/>
              <a:rect l="l" t="t" r="r" b="b"/>
              <a:pathLst>
                <a:path w="693420" h="694373">
                  <a:moveTo>
                    <a:pt x="692468" y="338138"/>
                  </a:moveTo>
                  <a:lnTo>
                    <a:pt x="689610" y="301942"/>
                  </a:lnTo>
                  <a:lnTo>
                    <a:pt x="681038" y="257175"/>
                  </a:lnTo>
                  <a:lnTo>
                    <a:pt x="666750" y="214312"/>
                  </a:lnTo>
                  <a:lnTo>
                    <a:pt x="646747" y="173355"/>
                  </a:lnTo>
                  <a:lnTo>
                    <a:pt x="621030" y="136208"/>
                  </a:lnTo>
                  <a:lnTo>
                    <a:pt x="591503" y="101918"/>
                  </a:lnTo>
                  <a:lnTo>
                    <a:pt x="557212" y="72390"/>
                  </a:lnTo>
                  <a:lnTo>
                    <a:pt x="519112" y="46673"/>
                  </a:lnTo>
                  <a:lnTo>
                    <a:pt x="479107" y="26670"/>
                  </a:lnTo>
                  <a:lnTo>
                    <a:pt x="436245" y="12383"/>
                  </a:lnTo>
                  <a:lnTo>
                    <a:pt x="391478" y="3810"/>
                  </a:lnTo>
                  <a:lnTo>
                    <a:pt x="346710" y="0"/>
                  </a:lnTo>
                  <a:lnTo>
                    <a:pt x="300990" y="3810"/>
                  </a:lnTo>
                  <a:lnTo>
                    <a:pt x="256222" y="12383"/>
                  </a:lnTo>
                  <a:lnTo>
                    <a:pt x="213360" y="26670"/>
                  </a:lnTo>
                  <a:lnTo>
                    <a:pt x="172403" y="46673"/>
                  </a:lnTo>
                  <a:lnTo>
                    <a:pt x="135255" y="72390"/>
                  </a:lnTo>
                  <a:lnTo>
                    <a:pt x="100965" y="101918"/>
                  </a:lnTo>
                  <a:lnTo>
                    <a:pt x="71438" y="136208"/>
                  </a:lnTo>
                  <a:lnTo>
                    <a:pt x="45720" y="173355"/>
                  </a:lnTo>
                  <a:lnTo>
                    <a:pt x="25718" y="214312"/>
                  </a:lnTo>
                  <a:lnTo>
                    <a:pt x="11430" y="257175"/>
                  </a:lnTo>
                  <a:lnTo>
                    <a:pt x="2857" y="301942"/>
                  </a:lnTo>
                  <a:lnTo>
                    <a:pt x="0" y="346710"/>
                  </a:lnTo>
                  <a:lnTo>
                    <a:pt x="2857" y="392430"/>
                  </a:lnTo>
                  <a:lnTo>
                    <a:pt x="11430" y="437198"/>
                  </a:lnTo>
                  <a:lnTo>
                    <a:pt x="25718" y="480060"/>
                  </a:lnTo>
                  <a:lnTo>
                    <a:pt x="45720" y="521017"/>
                  </a:lnTo>
                  <a:lnTo>
                    <a:pt x="71438" y="558165"/>
                  </a:lnTo>
                  <a:lnTo>
                    <a:pt x="100965" y="592455"/>
                  </a:lnTo>
                  <a:lnTo>
                    <a:pt x="135255" y="621983"/>
                  </a:lnTo>
                  <a:lnTo>
                    <a:pt x="172403" y="647700"/>
                  </a:lnTo>
                  <a:lnTo>
                    <a:pt x="213360" y="667703"/>
                  </a:lnTo>
                  <a:lnTo>
                    <a:pt x="256222" y="681990"/>
                  </a:lnTo>
                  <a:lnTo>
                    <a:pt x="300990" y="690562"/>
                  </a:lnTo>
                  <a:lnTo>
                    <a:pt x="346710" y="694373"/>
                  </a:lnTo>
                  <a:lnTo>
                    <a:pt x="391478" y="690562"/>
                  </a:lnTo>
                  <a:lnTo>
                    <a:pt x="436245" y="681990"/>
                  </a:lnTo>
                  <a:lnTo>
                    <a:pt x="479107" y="667703"/>
                  </a:lnTo>
                  <a:lnTo>
                    <a:pt x="519112" y="647700"/>
                  </a:lnTo>
                  <a:lnTo>
                    <a:pt x="557212" y="621983"/>
                  </a:lnTo>
                  <a:lnTo>
                    <a:pt x="591503" y="592455"/>
                  </a:lnTo>
                  <a:lnTo>
                    <a:pt x="621030" y="558165"/>
                  </a:lnTo>
                  <a:lnTo>
                    <a:pt x="646747" y="521017"/>
                  </a:lnTo>
                  <a:lnTo>
                    <a:pt x="666750" y="480060"/>
                  </a:lnTo>
                  <a:lnTo>
                    <a:pt x="681038" y="437198"/>
                  </a:lnTo>
                  <a:lnTo>
                    <a:pt x="689610" y="392430"/>
                  </a:lnTo>
                  <a:lnTo>
                    <a:pt x="693420" y="346710"/>
                  </a:lnTo>
                  <a:lnTo>
                    <a:pt x="689610" y="301942"/>
                  </a:lnTo>
                  <a:lnTo>
                    <a:pt x="682943" y="266700"/>
                  </a:lnTo>
                </a:path>
              </a:pathLst>
            </a:custGeom>
            <a:noFill/>
            <a:ln w="17145">
              <a:solidFill>
                <a:srgbClr val="B42318"/>
              </a:solidFill>
              <a:custDash>
                <a:ds d="333333" sp="222222"/>
              </a:custDash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13030" y="342138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棱边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590151" y="3473768"/>
              <a:ext cx="7364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条纹弯向棱边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3866198"/>
            <a:ext cx="5410200" cy="1466850"/>
            <a:chOff x="6248400" y="3866198"/>
            <a:chExt cx="5410200" cy="1466850"/>
          </a:xfrm>
        </p:grpSpPr>
        <p:sp>
          <p:nvSpPr>
            <p:cNvPr id="32" name="Rectangle 32"/>
            <p:cNvSpPr/>
            <p:nvPr/>
          </p:nvSpPr>
          <p:spPr>
            <a:xfrm>
              <a:off x="6248400" y="3866198"/>
              <a:ext cx="5410200" cy="1466850"/>
            </a:xfrm>
            <a:prstGeom prst="roundRect">
              <a:avLst>
                <a:gd name="adj" fmla="val 9091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40805" y="4058602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20244" y="4092893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检验平整度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4414838"/>
              <a:ext cx="48143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标准平板压在待测工件上形成空气劈尖。表面平整时条纹是等间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距直线；某处条纹弯向棱边，说明那里空气层偏厚，工件表面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凹</a:t>
              </a:r>
              <a:br/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陷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；弯离棱边则是凸起。</a:t>
              </a:r>
            </a:p>
          </p:txBody>
        </p:sp>
      </p:grpSp>
      <p:grpSp>
        <p:nvGrpSpPr>
          <p:cNvPr id="43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37" name="Rectangle 37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5897880"/>
              <a:ext cx="200026" cy="200026"/>
              <a:chOff x="738188" y="5897880"/>
              <a:chExt cx="200026" cy="200026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58978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200" y="5964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27088" y="59978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892" y="5779770"/>
              <a:ext cx="99578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条纹是等厚线：弯向棱边的那一段，本该出现在更远处的厚度提前出现了，所以该处空气层更厚。这个判断是本讲义补充的，原课件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未涉及。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69857" cy="909257"/>
            <a:chOff x="520446" y="342900"/>
            <a:chExt cx="57698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劈尖干涉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698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例7.6　由条纹间距求波长，再数条纹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760595" cy="1671638"/>
            <a:chOff x="533400" y="1524000"/>
            <a:chExt cx="4760595" cy="16716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671638"/>
            </a:xfrm>
            <a:prstGeom prst="roundRect">
              <a:avLst>
                <a:gd name="adj" fmla="val 797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049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54959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548" y="1737836"/>
              <a:ext cx="3703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例7.6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5998" y="2045494"/>
              <a:ext cx="409321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劈尖折射率 n = 1.4，夹角 θ = 10⁻⁴ rad，单色光垂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直照射，相邻明纹间距 l = 0.25 cm。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573179"/>
              <a:ext cx="41175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① 光在空气中的波长；② 劈尖长 L = 3.5 cm，共有多少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条明纹、多少条暗纹？</a:t>
              </a:r>
            </a:p>
          </p:txBody>
        </p:sp>
      </p:grpSp>
      <p:grpSp>
        <p:nvGrpSpPr>
          <p:cNvPr id="23" name="c1-steps-2"/>
          <p:cNvGrpSpPr/>
          <p:nvPr/>
        </p:nvGrpSpPr>
        <p:grpSpPr>
          <a:xfrm>
            <a:off x="533400" y="3369945"/>
            <a:ext cx="3993547" cy="1043559"/>
            <a:chOff x="533400" y="3369945"/>
            <a:chExt cx="3993547" cy="1043559"/>
          </a:xfrm>
        </p:grpSpPr>
        <p:sp>
          <p:nvSpPr>
            <p:cNvPr id="14" name="Rectangle 14"/>
            <p:cNvSpPr/>
            <p:nvPr/>
          </p:nvSpPr>
          <p:spPr>
            <a:xfrm>
              <a:off x="666750" y="3512820"/>
              <a:ext cx="19050" cy="55340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33400" y="336994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34437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392334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7024" y="39971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40090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间距公式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7166" y="3655695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 = λ/(2n sinθ) ≈ λ/(2nθ)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95430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求波长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7166" y="4208145"/>
              <a:ext cx="35797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 = 2nθl = 2 × 1.4 × 10⁻⁴ × 0.25×10⁻² m = 7.0×10⁻⁷ m</a:t>
              </a:r>
            </a:p>
          </p:txBody>
        </p:sp>
      </p:grpSp>
      <p:grpSp>
        <p:nvGrpSpPr>
          <p:cNvPr id="28" name="c1-card-3"/>
          <p:cNvGrpSpPr/>
          <p:nvPr/>
        </p:nvGrpSpPr>
        <p:grpSpPr>
          <a:xfrm>
            <a:off x="533400" y="4575810"/>
            <a:ext cx="4760595" cy="995362"/>
            <a:chOff x="533400" y="4575810"/>
            <a:chExt cx="4760595" cy="995362"/>
          </a:xfrm>
        </p:grpSpPr>
        <p:sp>
          <p:nvSpPr>
            <p:cNvPr id="24" name="Rectangle 24"/>
            <p:cNvSpPr/>
            <p:nvPr/>
          </p:nvSpPr>
          <p:spPr>
            <a:xfrm>
              <a:off x="533400" y="4575810"/>
              <a:ext cx="4760595" cy="995362"/>
            </a:xfrm>
            <a:prstGeom prst="roundRect">
              <a:avLst>
                <a:gd name="adj" fmla="val 13397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14375" y="4756785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0146" y="4789646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7898" y="5096351"/>
              <a:ext cx="32955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① λ = 700 nm；② 暗纹 15 条，明纹 14 条。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5598795" y="1524000"/>
            <a:ext cx="6059805" cy="1143952"/>
            <a:chOff x="5598795" y="1524000"/>
            <a:chExt cx="6059805" cy="1143952"/>
          </a:xfrm>
        </p:grpSpPr>
        <p:sp>
          <p:nvSpPr>
            <p:cNvPr id="29" name="Rectangle 29"/>
            <p:cNvSpPr/>
            <p:nvPr/>
          </p:nvSpPr>
          <p:spPr>
            <a:xfrm>
              <a:off x="5598795" y="1524000"/>
              <a:ext cx="6059805" cy="1143952"/>
            </a:xfrm>
            <a:prstGeom prst="roundRect">
              <a:avLst>
                <a:gd name="adj" fmla="val 116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608320" y="1657350"/>
              <a:ext cx="47625" cy="87725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817870" y="1704975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895289" y="1737836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法一：数间距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811393" y="2045494"/>
              <a:ext cx="543433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L/l = 3.5/0.25 = 14，共 14 个条纹间距。棱边是暗纹，每过一个间距又是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一条暗纹，暗纹 14 + 1 = 15 条；每两条暗纹之间夹一条明纹，明纹 14 条。</a:t>
              </a:r>
            </a:p>
          </p:txBody>
        </p:sp>
      </p:grpSp>
      <p:grpSp>
        <p:nvGrpSpPr>
          <p:cNvPr id="41" name="c2-card-2"/>
          <p:cNvGrpSpPr/>
          <p:nvPr/>
        </p:nvGrpSpPr>
        <p:grpSpPr>
          <a:xfrm>
            <a:off x="5598795" y="2832735"/>
            <a:ext cx="6059805" cy="1671638"/>
            <a:chOff x="5598795" y="2832735"/>
            <a:chExt cx="6059805" cy="1671638"/>
          </a:xfrm>
        </p:grpSpPr>
        <p:sp>
          <p:nvSpPr>
            <p:cNvPr id="35" name="Rectangle 35"/>
            <p:cNvSpPr/>
            <p:nvPr/>
          </p:nvSpPr>
          <p:spPr>
            <a:xfrm>
              <a:off x="5598795" y="2832735"/>
              <a:ext cx="6059805" cy="1671638"/>
            </a:xfrm>
            <a:prstGeom prst="roundRect">
              <a:avLst>
                <a:gd name="adj" fmla="val 797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608320" y="2966085"/>
              <a:ext cx="47625" cy="140493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817870" y="3013710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888139" y="3046571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法二：看末端厚度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811393" y="3354229"/>
              <a:ext cx="519861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末端 d = Lθ = 3.5×10⁻⁶ m，2nd = 9.8×10⁻⁶ m = 14λ，δ = 14λ + λ/2，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末端恰好是 k = 14 的暗纹。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811393" y="3881914"/>
              <a:ext cx="527989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暗纹 2ne = kλ，k = 0, 1, …, 14，共 15 条；明纹 2ne = (k − 1/2)λ，k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 …, 14，共 14 条。</a:t>
              </a:r>
            </a:p>
          </p:txBody>
        </p:sp>
      </p:grpSp>
      <p:grpSp>
        <p:nvGrpSpPr>
          <p:cNvPr id="47" name="c2-card-3"/>
          <p:cNvGrpSpPr/>
          <p:nvPr/>
        </p:nvGrpSpPr>
        <p:grpSpPr>
          <a:xfrm>
            <a:off x="5598795" y="4670108"/>
            <a:ext cx="6059805" cy="901065"/>
            <a:chOff x="5598795" y="4670108"/>
            <a:chExt cx="6059805" cy="901065"/>
          </a:xfrm>
        </p:grpSpPr>
        <p:sp>
          <p:nvSpPr>
            <p:cNvPr id="42" name="Rectangle 42"/>
            <p:cNvSpPr/>
            <p:nvPr/>
          </p:nvSpPr>
          <p:spPr>
            <a:xfrm>
              <a:off x="5598795" y="4670108"/>
              <a:ext cx="6059805" cy="901065"/>
            </a:xfrm>
            <a:prstGeom prst="roundRect">
              <a:avLst>
                <a:gd name="adj" fmla="val 147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5608320" y="4803458"/>
              <a:ext cx="47625" cy="6343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817870" y="485108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910542" y="488394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检验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811393" y="5190649"/>
              <a:ext cx="53546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两种方法结果一致。末端恰为暗纹，所以不存在「半条」明纹的问题。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8" name="Rectangle 48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1273" y="6039326"/>
              <a:ext cx="68879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L/l 不是整数时，末端落在两条条纹之间。这时用法二按末端厚度判断 k 的最大值更稳妥。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38167" cy="909257"/>
            <a:chOff x="520446" y="342900"/>
            <a:chExt cx="65381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劈尖干涉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381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例7.7　Si 片上的 SiO₂ 劈尖：棱边是明纹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840230"/>
            <a:chOff x="533400" y="1524000"/>
            <a:chExt cx="5193982" cy="18402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574358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868" y="1756410"/>
              <a:ext cx="3969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例7.7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568063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SiO₂ 折射率 n₂ = 1.46，Si 折射率 n₃ = 3.42。λ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546.1 nm 的绿光垂直照射，SiO₂ 劈尖上出现 7 条暗纹，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7 条在斜坡的起点 M 处。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943701"/>
              <a:ext cx="41532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① SiO₂ 膜厚 e；② 棱边 N 处是明纹还是暗纹？</a:t>
              </a:r>
            </a:p>
          </p:txBody>
        </p:sp>
      </p:grpSp>
      <p:grpSp>
        <p:nvGrpSpPr>
          <p:cNvPr id="35" name="g_ex77"/>
          <p:cNvGrpSpPr/>
          <p:nvPr/>
        </p:nvGrpSpPr>
        <p:grpSpPr>
          <a:xfrm>
            <a:off x="1034533" y="3732848"/>
            <a:ext cx="4130874" cy="1602105"/>
            <a:chOff x="1034533" y="3732848"/>
            <a:chExt cx="4130874" cy="1602105"/>
          </a:xfrm>
        </p:grpSpPr>
        <p:sp>
          <p:nvSpPr>
            <p:cNvPr id="14" name="Freeform 14"/>
            <p:cNvSpPr/>
            <p:nvPr/>
          </p:nvSpPr>
          <p:spPr>
            <a:xfrm>
              <a:off x="1047750" y="5066348"/>
              <a:ext cx="4117657" cy="268605"/>
            </a:xfrm>
            <a:custGeom>
              <a:avLst/>
              <a:gdLst/>
              <a:ahLst/>
              <a:cxnLst/>
              <a:rect l="l" t="t" r="r" b="b"/>
              <a:pathLst>
                <a:path w="4117657" h="268605">
                  <a:moveTo>
                    <a:pt x="9525" y="0"/>
                  </a:moveTo>
                  <a:lnTo>
                    <a:pt x="4117657" y="0"/>
                  </a:lnTo>
                  <a:lnTo>
                    <a:pt x="4117657" y="268605"/>
                  </a:lnTo>
                  <a:lnTo>
                    <a:pt x="0" y="268605"/>
                  </a:lnTo>
                  <a:lnTo>
                    <a:pt x="0" y="0"/>
                  </a:lnTo>
                  <a:lnTo>
                    <a:pt x="4108132" y="0"/>
                  </a:lnTo>
                </a:path>
              </a:pathLst>
            </a:custGeom>
            <a:noFill/>
            <a:ln w="1905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235392" y="4260532"/>
              <a:ext cx="3831908" cy="802958"/>
            </a:xfrm>
            <a:custGeom>
              <a:avLst/>
              <a:gdLst/>
              <a:ahLst/>
              <a:cxnLst/>
              <a:rect l="l" t="t" r="r" b="b"/>
              <a:pathLst>
                <a:path w="3831908" h="802958">
                  <a:moveTo>
                    <a:pt x="0" y="802958"/>
                  </a:moveTo>
                  <a:lnTo>
                    <a:pt x="2856548" y="0"/>
                  </a:lnTo>
                  <a:lnTo>
                    <a:pt x="3831908" y="0"/>
                  </a:lnTo>
                </a:path>
              </a:pathLst>
            </a:custGeom>
            <a:noFill/>
            <a:ln w="22860">
              <a:solidFill>
                <a:srgbClr val="2F4B9A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040630" y="4270058"/>
              <a:ext cx="89535" cy="787717"/>
            </a:xfrm>
            <a:custGeom>
              <a:avLst/>
              <a:gdLst/>
              <a:ahLst/>
              <a:cxnLst/>
              <a:rect l="l" t="t" r="r" b="b"/>
              <a:pathLst>
                <a:path w="89535" h="787717">
                  <a:moveTo>
                    <a:pt x="38100" y="0"/>
                  </a:moveTo>
                  <a:lnTo>
                    <a:pt x="89535" y="169545"/>
                  </a:lnTo>
                  <a:lnTo>
                    <a:pt x="0" y="393383"/>
                  </a:lnTo>
                  <a:lnTo>
                    <a:pt x="89535" y="617220"/>
                  </a:lnTo>
                  <a:lnTo>
                    <a:pt x="38100" y="787717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382078" y="5011102"/>
              <a:ext cx="58102" cy="49530"/>
            </a:xfrm>
            <a:custGeom>
              <a:avLst/>
              <a:gdLst/>
              <a:ahLst/>
              <a:cxnLst/>
              <a:rect l="l" t="t" r="r" b="b"/>
              <a:pathLst>
                <a:path w="58102" h="49530">
                  <a:moveTo>
                    <a:pt x="58102" y="0"/>
                  </a:moveTo>
                  <a:lnTo>
                    <a:pt x="0" y="49530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819275" y="4889182"/>
              <a:ext cx="64770" cy="168593"/>
            </a:xfrm>
            <a:custGeom>
              <a:avLst/>
              <a:gdLst/>
              <a:ahLst/>
              <a:cxnLst/>
              <a:rect l="l" t="t" r="r" b="b"/>
              <a:pathLst>
                <a:path w="64770" h="168593">
                  <a:moveTo>
                    <a:pt x="64770" y="0"/>
                  </a:moveTo>
                  <a:lnTo>
                    <a:pt x="0" y="168593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2258378" y="4765358"/>
              <a:ext cx="67627" cy="291465"/>
            </a:xfrm>
            <a:custGeom>
              <a:avLst/>
              <a:gdLst/>
              <a:ahLst/>
              <a:cxnLst/>
              <a:rect l="l" t="t" r="r" b="b"/>
              <a:pathLst>
                <a:path w="67627" h="291465">
                  <a:moveTo>
                    <a:pt x="67627" y="0"/>
                  </a:moveTo>
                  <a:lnTo>
                    <a:pt x="0" y="291465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2699385" y="4641532"/>
              <a:ext cx="68580" cy="415290"/>
            </a:xfrm>
            <a:custGeom>
              <a:avLst/>
              <a:gdLst/>
              <a:ahLst/>
              <a:cxnLst/>
              <a:rect l="l" t="t" r="r" b="b"/>
              <a:pathLst>
                <a:path w="68580" h="415290">
                  <a:moveTo>
                    <a:pt x="68580" y="0"/>
                  </a:moveTo>
                  <a:lnTo>
                    <a:pt x="0" y="415290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3139440" y="4517708"/>
              <a:ext cx="69532" cy="539115"/>
            </a:xfrm>
            <a:custGeom>
              <a:avLst/>
              <a:gdLst/>
              <a:ahLst/>
              <a:cxnLst/>
              <a:rect l="l" t="t" r="r" b="b"/>
              <a:pathLst>
                <a:path w="69532" h="539115">
                  <a:moveTo>
                    <a:pt x="69532" y="0"/>
                  </a:moveTo>
                  <a:lnTo>
                    <a:pt x="0" y="539115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580448" y="4393882"/>
              <a:ext cx="69533" cy="662940"/>
            </a:xfrm>
            <a:custGeom>
              <a:avLst/>
              <a:gdLst/>
              <a:ahLst/>
              <a:cxnLst/>
              <a:rect l="l" t="t" r="r" b="b"/>
              <a:pathLst>
                <a:path w="69533" h="662940">
                  <a:moveTo>
                    <a:pt x="69533" y="0"/>
                  </a:moveTo>
                  <a:lnTo>
                    <a:pt x="0" y="662940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020502" y="4270058"/>
              <a:ext cx="70485" cy="786765"/>
            </a:xfrm>
            <a:custGeom>
              <a:avLst/>
              <a:gdLst/>
              <a:ahLst/>
              <a:cxnLst/>
              <a:rect l="l" t="t" r="r" b="b"/>
              <a:pathLst>
                <a:path w="70485" h="786765">
                  <a:moveTo>
                    <a:pt x="70485" y="0"/>
                  </a:moveTo>
                  <a:lnTo>
                    <a:pt x="0" y="786765"/>
                  </a:lnTo>
                </a:path>
              </a:pathLst>
            </a:custGeom>
            <a:noFill/>
            <a:ln w="28575">
              <a:solidFill>
                <a:srgbClr val="F26B3A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145280" y="3732848"/>
              <a:ext cx="9525" cy="387668"/>
            </a:xfrm>
            <a:custGeom>
              <a:avLst/>
              <a:gdLst/>
              <a:ahLst/>
              <a:cxnLst/>
              <a:rect l="l" t="t" r="r" b="b"/>
              <a:pathLst>
                <a:path w="9525" h="387668">
                  <a:moveTo>
                    <a:pt x="0" y="0"/>
                  </a:moveTo>
                  <a:lnTo>
                    <a:pt x="0" y="387668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4097655" y="41205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4808220" y="4365308"/>
              <a:ext cx="9525" cy="596265"/>
            </a:xfrm>
            <a:custGeom>
              <a:avLst/>
              <a:gdLst/>
              <a:ahLst/>
              <a:cxnLst/>
              <a:rect l="l" t="t" r="r" b="b"/>
              <a:pathLst>
                <a:path w="9525" h="596265">
                  <a:moveTo>
                    <a:pt x="0" y="0"/>
                  </a:moveTo>
                  <a:lnTo>
                    <a:pt x="0" y="5962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4760595" y="496157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4760595" y="42700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040611" y="5137309"/>
              <a:ext cx="1309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216174" y="482298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SiO₂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34533" y="4890135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27799" y="3815715"/>
              <a:ext cx="1282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883746" y="45896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85105" y="3753802"/>
              <a:ext cx="12532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7 条暗纹，第 7 条在 M</a:t>
              </a:r>
            </a:p>
          </p:txBody>
        </p:sp>
      </p:grpSp>
      <p:grpSp>
        <p:nvGrpSpPr>
          <p:cNvPr id="53" name="c2-steps-1"/>
          <p:cNvGrpSpPr/>
          <p:nvPr/>
        </p:nvGrpSpPr>
        <p:grpSpPr>
          <a:xfrm>
            <a:off x="6032182" y="1533525"/>
            <a:ext cx="5179223" cy="2398776"/>
            <a:chOff x="6032182" y="1533525"/>
            <a:chExt cx="5179223" cy="2398776"/>
          </a:xfrm>
        </p:grpSpPr>
        <p:sp>
          <p:nvSpPr>
            <p:cNvPr id="36" name="Rectangle 36"/>
            <p:cNvSpPr/>
            <p:nvPr/>
          </p:nvSpPr>
          <p:spPr>
            <a:xfrm>
              <a:off x="6165532" y="1676400"/>
              <a:ext cx="19050" cy="18507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6032182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125806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032182" y="215074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125806" y="22245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032182" y="276701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125806" y="2840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032182" y="338423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125806" y="34580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44044" y="156638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判半波损失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45186" y="1846898"/>
              <a:ext cx="47662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空气 1 &lt; SiO₂ 1.46 &lt; Si 3.42，两次反射都有半波损失，δ = 2n₂e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44044" y="218360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暗纹条件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45186" y="2464118"/>
              <a:ext cx="39377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2n₂e = (2k + 1)λ/2，第 1 条暗纹 k = 0，第 7 条 k = 6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44044" y="279987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求厚度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445186" y="3080385"/>
              <a:ext cx="40346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= 13λ/(4n₂) = 13 × 546.1 nm/(4 × 1.46) ≈ 1216 nm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44044" y="341709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棱边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45186" y="3697605"/>
              <a:ext cx="19019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处 e = 0，δ = 0，是明纹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6032182" y="4103370"/>
            <a:ext cx="5626418" cy="1500188"/>
            <a:chOff x="6032182" y="4103370"/>
            <a:chExt cx="5626418" cy="1500188"/>
          </a:xfrm>
        </p:grpSpPr>
        <p:sp>
          <p:nvSpPr>
            <p:cNvPr id="54" name="Rectangle 54"/>
            <p:cNvSpPr/>
            <p:nvPr/>
          </p:nvSpPr>
          <p:spPr>
            <a:xfrm>
              <a:off x="6032182" y="4103370"/>
              <a:ext cx="5626418" cy="1500188"/>
            </a:xfrm>
            <a:prstGeom prst="roundRect">
              <a:avLst>
                <a:gd name="adj" fmla="val 8889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30302" y="4301490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325743" y="433578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223064" y="4662011"/>
              <a:ext cx="31392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① e ≈ 1.22×10⁻⁶ m；② N 处是明纹。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224206" y="4975860"/>
              <a:ext cx="47289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检验：第 1 条暗纹厚 λ/(4n₂) = 93.5 nm，再加 6 个间隔 6λ/(2n₂) =</a:t>
              </a:r>
              <a:br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1122 nm，合计 1216 nm。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60" name="Rectangle 60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511" y="6011704"/>
              <a:ext cx="95629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空气劈尖棱边是暗纹，这里是明纹，区别在于两个反射面的半波损失抵消了。判断棱边明暗，先看要不要加 λ/2。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56419" cy="909257"/>
            <a:chOff x="520446" y="342900"/>
            <a:chExt cx="64564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劈尖干涉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5641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例7.8　玻璃上的油滴：数暗环求最大厚度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428750"/>
            <a:chOff x="533400" y="1524000"/>
            <a:chExt cx="5193982" cy="14287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428750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1620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54959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548" y="1737836"/>
              <a:ext cx="3703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例7.8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5998" y="2045494"/>
              <a:ext cx="449148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平面玻璃板上滴一滴油，λ = 576 nm 的单色光垂直照射，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反射光条纹如图。油 n₂ = 1.60，玻璃 n₃ = 1.50。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573179"/>
              <a:ext cx="39503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① 油滴边缘是明纹还是暗纹；② 油膜最大厚度 h。</a:t>
              </a:r>
            </a:p>
          </p:txBody>
        </p:sp>
      </p:grpSp>
      <p:grpSp>
        <p:nvGrpSpPr>
          <p:cNvPr id="38" name="g_oil"/>
          <p:cNvGrpSpPr/>
          <p:nvPr/>
        </p:nvGrpSpPr>
        <p:grpSpPr>
          <a:xfrm>
            <a:off x="1570672" y="3224212"/>
            <a:ext cx="3087237" cy="2306003"/>
            <a:chOff x="1570672" y="3224212"/>
            <a:chExt cx="3087237" cy="2306003"/>
          </a:xfrm>
        </p:grpSpPr>
        <p:sp>
          <p:nvSpPr>
            <p:cNvPr id="14" name="Freeform 14"/>
            <p:cNvSpPr/>
            <p:nvPr/>
          </p:nvSpPr>
          <p:spPr>
            <a:xfrm>
              <a:off x="1570672" y="4008120"/>
              <a:ext cx="3076575" cy="210502"/>
            </a:xfrm>
            <a:custGeom>
              <a:avLst/>
              <a:gdLst/>
              <a:ahLst/>
              <a:cxnLst/>
              <a:rect l="l" t="t" r="r" b="b"/>
              <a:pathLst>
                <a:path w="3076575" h="210502">
                  <a:moveTo>
                    <a:pt x="9525" y="0"/>
                  </a:moveTo>
                  <a:lnTo>
                    <a:pt x="3076575" y="0"/>
                  </a:lnTo>
                  <a:lnTo>
                    <a:pt x="3076575" y="210502"/>
                  </a:lnTo>
                  <a:lnTo>
                    <a:pt x="0" y="210502"/>
                  </a:lnTo>
                  <a:lnTo>
                    <a:pt x="0" y="0"/>
                  </a:lnTo>
                  <a:lnTo>
                    <a:pt x="3067050" y="0"/>
                  </a:lnTo>
                </a:path>
              </a:pathLst>
            </a:custGeom>
            <a:noFill/>
            <a:ln w="1905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896428" y="3669030"/>
              <a:ext cx="2426018" cy="329565"/>
            </a:xfrm>
            <a:custGeom>
              <a:avLst/>
              <a:gdLst/>
              <a:ahLst/>
              <a:cxnLst/>
              <a:rect l="l" t="t" r="r" b="b"/>
              <a:pathLst>
                <a:path w="2426018" h="329565">
                  <a:moveTo>
                    <a:pt x="2426018" y="329565"/>
                  </a:moveTo>
                  <a:lnTo>
                    <a:pt x="2423160" y="312420"/>
                  </a:lnTo>
                  <a:lnTo>
                    <a:pt x="2411730" y="285750"/>
                  </a:lnTo>
                  <a:lnTo>
                    <a:pt x="2392680" y="260033"/>
                  </a:lnTo>
                  <a:lnTo>
                    <a:pt x="2367915" y="234315"/>
                  </a:lnTo>
                  <a:lnTo>
                    <a:pt x="2334578" y="209550"/>
                  </a:lnTo>
                  <a:lnTo>
                    <a:pt x="2294572" y="184785"/>
                  </a:lnTo>
                  <a:lnTo>
                    <a:pt x="2247900" y="161925"/>
                  </a:lnTo>
                  <a:lnTo>
                    <a:pt x="2194560" y="140017"/>
                  </a:lnTo>
                  <a:lnTo>
                    <a:pt x="2136458" y="118110"/>
                  </a:lnTo>
                  <a:lnTo>
                    <a:pt x="2070735" y="99060"/>
                  </a:lnTo>
                  <a:lnTo>
                    <a:pt x="2001202" y="80962"/>
                  </a:lnTo>
                  <a:lnTo>
                    <a:pt x="1925955" y="64770"/>
                  </a:lnTo>
                  <a:lnTo>
                    <a:pt x="1846898" y="49530"/>
                  </a:lnTo>
                  <a:lnTo>
                    <a:pt x="1764030" y="36195"/>
                  </a:lnTo>
                  <a:lnTo>
                    <a:pt x="1677352" y="25717"/>
                  </a:lnTo>
                  <a:lnTo>
                    <a:pt x="1587818" y="16192"/>
                  </a:lnTo>
                  <a:lnTo>
                    <a:pt x="1496378" y="8573"/>
                  </a:lnTo>
                  <a:lnTo>
                    <a:pt x="1403032" y="3810"/>
                  </a:lnTo>
                  <a:lnTo>
                    <a:pt x="1307782" y="953"/>
                  </a:lnTo>
                  <a:lnTo>
                    <a:pt x="1212532" y="0"/>
                  </a:lnTo>
                  <a:lnTo>
                    <a:pt x="1117282" y="953"/>
                  </a:lnTo>
                  <a:lnTo>
                    <a:pt x="1022032" y="3810"/>
                  </a:lnTo>
                  <a:lnTo>
                    <a:pt x="928688" y="8573"/>
                  </a:lnTo>
                  <a:lnTo>
                    <a:pt x="837248" y="16192"/>
                  </a:lnTo>
                  <a:lnTo>
                    <a:pt x="747713" y="25717"/>
                  </a:lnTo>
                  <a:lnTo>
                    <a:pt x="661035" y="36195"/>
                  </a:lnTo>
                  <a:lnTo>
                    <a:pt x="578168" y="49530"/>
                  </a:lnTo>
                  <a:lnTo>
                    <a:pt x="499110" y="64770"/>
                  </a:lnTo>
                  <a:lnTo>
                    <a:pt x="423862" y="80962"/>
                  </a:lnTo>
                  <a:lnTo>
                    <a:pt x="354330" y="99060"/>
                  </a:lnTo>
                  <a:lnTo>
                    <a:pt x="289560" y="118110"/>
                  </a:lnTo>
                  <a:lnTo>
                    <a:pt x="229552" y="140017"/>
                  </a:lnTo>
                  <a:lnTo>
                    <a:pt x="177165" y="161925"/>
                  </a:lnTo>
                  <a:lnTo>
                    <a:pt x="130493" y="184785"/>
                  </a:lnTo>
                  <a:lnTo>
                    <a:pt x="90488" y="209550"/>
                  </a:lnTo>
                  <a:lnTo>
                    <a:pt x="57150" y="234315"/>
                  </a:lnTo>
                  <a:lnTo>
                    <a:pt x="31433" y="260033"/>
                  </a:lnTo>
                  <a:lnTo>
                    <a:pt x="12383" y="285750"/>
                  </a:lnTo>
                  <a:lnTo>
                    <a:pt x="1905" y="312420"/>
                  </a:lnTo>
                  <a:lnTo>
                    <a:pt x="0" y="329565"/>
                  </a:lnTo>
                </a:path>
              </a:pathLst>
            </a:custGeom>
            <a:noFill/>
            <a:ln w="22860">
              <a:solidFill>
                <a:srgbClr val="2F4B9A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485322" y="3773805"/>
              <a:ext cx="9525" cy="129540"/>
            </a:xfrm>
            <a:custGeom>
              <a:avLst/>
              <a:gdLst/>
              <a:ahLst/>
              <a:cxnLst/>
              <a:rect l="l" t="t" r="r" b="b"/>
              <a:pathLst>
                <a:path w="9525" h="129540">
                  <a:moveTo>
                    <a:pt x="0" y="12954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4437698" y="367855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4437698" y="390334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3118485" y="3669030"/>
              <a:ext cx="1405890" cy="9525"/>
            </a:xfrm>
            <a:custGeom>
              <a:avLst/>
              <a:gdLst/>
              <a:ahLst/>
              <a:cxnLst/>
              <a:rect l="l" t="t" r="r" b="b"/>
              <a:pathLst>
                <a:path w="1405890" h="9525">
                  <a:moveTo>
                    <a:pt x="0" y="0"/>
                  </a:moveTo>
                  <a:lnTo>
                    <a:pt x="140589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20" name="Freeform 20"/>
            <p:cNvSpPr/>
            <p:nvPr/>
          </p:nvSpPr>
          <p:spPr>
            <a:xfrm>
              <a:off x="2623185" y="3224212"/>
              <a:ext cx="9525" cy="290512"/>
            </a:xfrm>
            <a:custGeom>
              <a:avLst/>
              <a:gdLst/>
              <a:ahLst/>
              <a:cxnLst/>
              <a:rect l="l" t="t" r="r" b="b"/>
              <a:pathLst>
                <a:path w="9525" h="290512">
                  <a:moveTo>
                    <a:pt x="0" y="0"/>
                  </a:moveTo>
                  <a:lnTo>
                    <a:pt x="0" y="290512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2575560" y="35147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2542222" y="4396740"/>
              <a:ext cx="1133475" cy="1133475"/>
            </a:xfrm>
            <a:custGeom>
              <a:avLst/>
              <a:gdLst/>
              <a:ahLst/>
              <a:cxnLst/>
              <a:rect l="l" t="t" r="r" b="b"/>
              <a:pathLst>
                <a:path w="1133475" h="1133475">
                  <a:moveTo>
                    <a:pt x="1133475" y="557212"/>
                  </a:moveTo>
                  <a:lnTo>
                    <a:pt x="1131570" y="518160"/>
                  </a:lnTo>
                  <a:lnTo>
                    <a:pt x="1124903" y="468630"/>
                  </a:lnTo>
                  <a:lnTo>
                    <a:pt x="1114425" y="420052"/>
                  </a:lnTo>
                  <a:lnTo>
                    <a:pt x="1099185" y="373380"/>
                  </a:lnTo>
                  <a:lnTo>
                    <a:pt x="1080135" y="327660"/>
                  </a:lnTo>
                  <a:lnTo>
                    <a:pt x="1057275" y="283845"/>
                  </a:lnTo>
                  <a:lnTo>
                    <a:pt x="1031558" y="241935"/>
                  </a:lnTo>
                  <a:lnTo>
                    <a:pt x="1001078" y="202882"/>
                  </a:lnTo>
                  <a:lnTo>
                    <a:pt x="966788" y="166688"/>
                  </a:lnTo>
                  <a:lnTo>
                    <a:pt x="930593" y="133350"/>
                  </a:lnTo>
                  <a:lnTo>
                    <a:pt x="891540" y="102870"/>
                  </a:lnTo>
                  <a:lnTo>
                    <a:pt x="849630" y="76200"/>
                  </a:lnTo>
                  <a:lnTo>
                    <a:pt x="805815" y="53340"/>
                  </a:lnTo>
                  <a:lnTo>
                    <a:pt x="760095" y="34290"/>
                  </a:lnTo>
                  <a:lnTo>
                    <a:pt x="713423" y="20002"/>
                  </a:lnTo>
                  <a:lnTo>
                    <a:pt x="664845" y="8572"/>
                  </a:lnTo>
                  <a:lnTo>
                    <a:pt x="616268" y="2857"/>
                  </a:lnTo>
                  <a:lnTo>
                    <a:pt x="566738" y="0"/>
                  </a:lnTo>
                  <a:lnTo>
                    <a:pt x="517208" y="2857"/>
                  </a:lnTo>
                  <a:lnTo>
                    <a:pt x="467678" y="8572"/>
                  </a:lnTo>
                  <a:lnTo>
                    <a:pt x="420053" y="20002"/>
                  </a:lnTo>
                  <a:lnTo>
                    <a:pt x="373380" y="34290"/>
                  </a:lnTo>
                  <a:lnTo>
                    <a:pt x="327660" y="53340"/>
                  </a:lnTo>
                  <a:lnTo>
                    <a:pt x="282893" y="76200"/>
                  </a:lnTo>
                  <a:lnTo>
                    <a:pt x="241935" y="102870"/>
                  </a:lnTo>
                  <a:lnTo>
                    <a:pt x="201930" y="133350"/>
                  </a:lnTo>
                  <a:lnTo>
                    <a:pt x="165735" y="166688"/>
                  </a:lnTo>
                  <a:lnTo>
                    <a:pt x="132398" y="202882"/>
                  </a:lnTo>
                  <a:lnTo>
                    <a:pt x="102870" y="241935"/>
                  </a:lnTo>
                  <a:lnTo>
                    <a:pt x="76200" y="283845"/>
                  </a:lnTo>
                  <a:lnTo>
                    <a:pt x="53340" y="327660"/>
                  </a:lnTo>
                  <a:lnTo>
                    <a:pt x="34290" y="373380"/>
                  </a:lnTo>
                  <a:lnTo>
                    <a:pt x="19050" y="420052"/>
                  </a:lnTo>
                  <a:lnTo>
                    <a:pt x="8573" y="468630"/>
                  </a:lnTo>
                  <a:lnTo>
                    <a:pt x="1905" y="518160"/>
                  </a:lnTo>
                  <a:lnTo>
                    <a:pt x="0" y="566738"/>
                  </a:lnTo>
                  <a:lnTo>
                    <a:pt x="1905" y="616267"/>
                  </a:lnTo>
                  <a:lnTo>
                    <a:pt x="8573" y="665797"/>
                  </a:lnTo>
                  <a:lnTo>
                    <a:pt x="19050" y="713422"/>
                  </a:lnTo>
                  <a:lnTo>
                    <a:pt x="34290" y="761047"/>
                  </a:lnTo>
                  <a:lnTo>
                    <a:pt x="53340" y="806767"/>
                  </a:lnTo>
                  <a:lnTo>
                    <a:pt x="76200" y="850582"/>
                  </a:lnTo>
                  <a:lnTo>
                    <a:pt x="102870" y="892492"/>
                  </a:lnTo>
                  <a:lnTo>
                    <a:pt x="132398" y="931545"/>
                  </a:lnTo>
                  <a:lnTo>
                    <a:pt x="165735" y="967740"/>
                  </a:lnTo>
                  <a:lnTo>
                    <a:pt x="201930" y="1001078"/>
                  </a:lnTo>
                  <a:lnTo>
                    <a:pt x="241935" y="1031557"/>
                  </a:lnTo>
                  <a:lnTo>
                    <a:pt x="282893" y="1058228"/>
                  </a:lnTo>
                  <a:lnTo>
                    <a:pt x="327660" y="1081088"/>
                  </a:lnTo>
                  <a:lnTo>
                    <a:pt x="373380" y="1100138"/>
                  </a:lnTo>
                  <a:lnTo>
                    <a:pt x="420053" y="1114425"/>
                  </a:lnTo>
                  <a:lnTo>
                    <a:pt x="467678" y="1124903"/>
                  </a:lnTo>
                  <a:lnTo>
                    <a:pt x="517208" y="1131570"/>
                  </a:lnTo>
                  <a:lnTo>
                    <a:pt x="566738" y="1133475"/>
                  </a:lnTo>
                  <a:lnTo>
                    <a:pt x="616268" y="1131570"/>
                  </a:lnTo>
                  <a:lnTo>
                    <a:pt x="664845" y="1124903"/>
                  </a:lnTo>
                  <a:lnTo>
                    <a:pt x="713423" y="1114425"/>
                  </a:lnTo>
                  <a:lnTo>
                    <a:pt x="760095" y="1100138"/>
                  </a:lnTo>
                  <a:lnTo>
                    <a:pt x="805815" y="1081088"/>
                  </a:lnTo>
                  <a:lnTo>
                    <a:pt x="849630" y="1058228"/>
                  </a:lnTo>
                  <a:lnTo>
                    <a:pt x="891540" y="1031557"/>
                  </a:lnTo>
                  <a:lnTo>
                    <a:pt x="930593" y="1001078"/>
                  </a:lnTo>
                  <a:lnTo>
                    <a:pt x="966788" y="967740"/>
                  </a:lnTo>
                  <a:lnTo>
                    <a:pt x="1001078" y="931545"/>
                  </a:lnTo>
                  <a:lnTo>
                    <a:pt x="1031558" y="892492"/>
                  </a:lnTo>
                  <a:lnTo>
                    <a:pt x="1057275" y="850582"/>
                  </a:lnTo>
                  <a:lnTo>
                    <a:pt x="1080135" y="806767"/>
                  </a:lnTo>
                  <a:lnTo>
                    <a:pt x="1099185" y="761047"/>
                  </a:lnTo>
                  <a:lnTo>
                    <a:pt x="1114425" y="713422"/>
                  </a:lnTo>
                  <a:lnTo>
                    <a:pt x="1124903" y="665797"/>
                  </a:lnTo>
                  <a:lnTo>
                    <a:pt x="1131570" y="616267"/>
                  </a:lnTo>
                  <a:lnTo>
                    <a:pt x="1133475" y="566738"/>
                  </a:lnTo>
                  <a:lnTo>
                    <a:pt x="1131570" y="518160"/>
                  </a:lnTo>
                  <a:lnTo>
                    <a:pt x="1125855" y="478155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2578418" y="4433888"/>
              <a:ext cx="1061085" cy="1060132"/>
            </a:xfrm>
            <a:custGeom>
              <a:avLst/>
              <a:gdLst/>
              <a:ahLst/>
              <a:cxnLst/>
              <a:rect l="l" t="t" r="r" b="b"/>
              <a:pathLst>
                <a:path w="1061085" h="1060132">
                  <a:moveTo>
                    <a:pt x="1060132" y="520065"/>
                  </a:moveTo>
                  <a:lnTo>
                    <a:pt x="1059180" y="483870"/>
                  </a:lnTo>
                  <a:lnTo>
                    <a:pt x="1052512" y="438150"/>
                  </a:lnTo>
                  <a:lnTo>
                    <a:pt x="1042988" y="392430"/>
                  </a:lnTo>
                  <a:lnTo>
                    <a:pt x="1028700" y="348615"/>
                  </a:lnTo>
                  <a:lnTo>
                    <a:pt x="1010603" y="305753"/>
                  </a:lnTo>
                  <a:lnTo>
                    <a:pt x="989648" y="264795"/>
                  </a:lnTo>
                  <a:lnTo>
                    <a:pt x="964883" y="225742"/>
                  </a:lnTo>
                  <a:lnTo>
                    <a:pt x="936308" y="189547"/>
                  </a:lnTo>
                  <a:lnTo>
                    <a:pt x="905828" y="155258"/>
                  </a:lnTo>
                  <a:lnTo>
                    <a:pt x="871538" y="123825"/>
                  </a:lnTo>
                  <a:lnTo>
                    <a:pt x="834390" y="96203"/>
                  </a:lnTo>
                  <a:lnTo>
                    <a:pt x="795338" y="71438"/>
                  </a:lnTo>
                  <a:lnTo>
                    <a:pt x="754380" y="49530"/>
                  </a:lnTo>
                  <a:lnTo>
                    <a:pt x="711517" y="31433"/>
                  </a:lnTo>
                  <a:lnTo>
                    <a:pt x="667703" y="18097"/>
                  </a:lnTo>
                  <a:lnTo>
                    <a:pt x="622935" y="7620"/>
                  </a:lnTo>
                  <a:lnTo>
                    <a:pt x="577215" y="1905"/>
                  </a:lnTo>
                  <a:lnTo>
                    <a:pt x="530542" y="0"/>
                  </a:lnTo>
                  <a:lnTo>
                    <a:pt x="484823" y="1905"/>
                  </a:lnTo>
                  <a:lnTo>
                    <a:pt x="439103" y="7620"/>
                  </a:lnTo>
                  <a:lnTo>
                    <a:pt x="393383" y="18097"/>
                  </a:lnTo>
                  <a:lnTo>
                    <a:pt x="349567" y="31433"/>
                  </a:lnTo>
                  <a:lnTo>
                    <a:pt x="305753" y="49530"/>
                  </a:lnTo>
                  <a:lnTo>
                    <a:pt x="265748" y="71438"/>
                  </a:lnTo>
                  <a:lnTo>
                    <a:pt x="226695" y="96203"/>
                  </a:lnTo>
                  <a:lnTo>
                    <a:pt x="189548" y="123825"/>
                  </a:lnTo>
                  <a:lnTo>
                    <a:pt x="155258" y="155258"/>
                  </a:lnTo>
                  <a:lnTo>
                    <a:pt x="124778" y="189547"/>
                  </a:lnTo>
                  <a:lnTo>
                    <a:pt x="96203" y="225742"/>
                  </a:lnTo>
                  <a:lnTo>
                    <a:pt x="71438" y="264795"/>
                  </a:lnTo>
                  <a:lnTo>
                    <a:pt x="50483" y="305753"/>
                  </a:lnTo>
                  <a:lnTo>
                    <a:pt x="32385" y="348615"/>
                  </a:lnTo>
                  <a:lnTo>
                    <a:pt x="18098" y="392430"/>
                  </a:lnTo>
                  <a:lnTo>
                    <a:pt x="8573" y="438150"/>
                  </a:lnTo>
                  <a:lnTo>
                    <a:pt x="1905" y="483870"/>
                  </a:lnTo>
                  <a:lnTo>
                    <a:pt x="0" y="529590"/>
                  </a:lnTo>
                  <a:lnTo>
                    <a:pt x="1905" y="576262"/>
                  </a:lnTo>
                  <a:lnTo>
                    <a:pt x="8573" y="621982"/>
                  </a:lnTo>
                  <a:lnTo>
                    <a:pt x="18098" y="667703"/>
                  </a:lnTo>
                  <a:lnTo>
                    <a:pt x="32385" y="711518"/>
                  </a:lnTo>
                  <a:lnTo>
                    <a:pt x="50483" y="754380"/>
                  </a:lnTo>
                  <a:lnTo>
                    <a:pt x="71438" y="795338"/>
                  </a:lnTo>
                  <a:lnTo>
                    <a:pt x="96203" y="834390"/>
                  </a:lnTo>
                  <a:lnTo>
                    <a:pt x="124778" y="870585"/>
                  </a:lnTo>
                  <a:lnTo>
                    <a:pt x="155258" y="904875"/>
                  </a:lnTo>
                  <a:lnTo>
                    <a:pt x="189548" y="936307"/>
                  </a:lnTo>
                  <a:lnTo>
                    <a:pt x="226695" y="963930"/>
                  </a:lnTo>
                  <a:lnTo>
                    <a:pt x="265748" y="988695"/>
                  </a:lnTo>
                  <a:lnTo>
                    <a:pt x="305753" y="1010603"/>
                  </a:lnTo>
                  <a:lnTo>
                    <a:pt x="349567" y="1027747"/>
                  </a:lnTo>
                  <a:lnTo>
                    <a:pt x="393383" y="1042035"/>
                  </a:lnTo>
                  <a:lnTo>
                    <a:pt x="439103" y="1052512"/>
                  </a:lnTo>
                  <a:lnTo>
                    <a:pt x="484823" y="1058228"/>
                  </a:lnTo>
                  <a:lnTo>
                    <a:pt x="530542" y="1060132"/>
                  </a:lnTo>
                  <a:lnTo>
                    <a:pt x="577215" y="1058228"/>
                  </a:lnTo>
                  <a:lnTo>
                    <a:pt x="622935" y="1052512"/>
                  </a:lnTo>
                  <a:lnTo>
                    <a:pt x="667703" y="1042035"/>
                  </a:lnTo>
                  <a:lnTo>
                    <a:pt x="711517" y="1027747"/>
                  </a:lnTo>
                  <a:lnTo>
                    <a:pt x="754380" y="1010603"/>
                  </a:lnTo>
                  <a:lnTo>
                    <a:pt x="795338" y="988695"/>
                  </a:lnTo>
                  <a:lnTo>
                    <a:pt x="834390" y="963930"/>
                  </a:lnTo>
                  <a:lnTo>
                    <a:pt x="871538" y="936307"/>
                  </a:lnTo>
                  <a:lnTo>
                    <a:pt x="905828" y="904875"/>
                  </a:lnTo>
                  <a:lnTo>
                    <a:pt x="936308" y="870585"/>
                  </a:lnTo>
                  <a:lnTo>
                    <a:pt x="964883" y="834390"/>
                  </a:lnTo>
                  <a:lnTo>
                    <a:pt x="989648" y="795338"/>
                  </a:lnTo>
                  <a:lnTo>
                    <a:pt x="1010603" y="754380"/>
                  </a:lnTo>
                  <a:lnTo>
                    <a:pt x="1028700" y="711518"/>
                  </a:lnTo>
                  <a:lnTo>
                    <a:pt x="1042988" y="667703"/>
                  </a:lnTo>
                  <a:lnTo>
                    <a:pt x="1052512" y="621982"/>
                  </a:lnTo>
                  <a:lnTo>
                    <a:pt x="1059180" y="576262"/>
                  </a:lnTo>
                  <a:lnTo>
                    <a:pt x="1061085" y="529590"/>
                  </a:lnTo>
                  <a:lnTo>
                    <a:pt x="1059180" y="483870"/>
                  </a:lnTo>
                  <a:lnTo>
                    <a:pt x="1053465" y="447675"/>
                  </a:lnTo>
                </a:path>
              </a:pathLst>
            </a:custGeom>
            <a:noFill/>
            <a:ln w="38100">
              <a:solidFill>
                <a:srgbClr val="14A38B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618422" y="4472940"/>
              <a:ext cx="981075" cy="982028"/>
            </a:xfrm>
            <a:custGeom>
              <a:avLst/>
              <a:gdLst/>
              <a:ahLst/>
              <a:cxnLst/>
              <a:rect l="l" t="t" r="r" b="b"/>
              <a:pathLst>
                <a:path w="981075" h="982028">
                  <a:moveTo>
                    <a:pt x="981075" y="481012"/>
                  </a:moveTo>
                  <a:lnTo>
                    <a:pt x="979170" y="447675"/>
                  </a:lnTo>
                  <a:lnTo>
                    <a:pt x="973455" y="405765"/>
                  </a:lnTo>
                  <a:lnTo>
                    <a:pt x="964883" y="363855"/>
                  </a:lnTo>
                  <a:lnTo>
                    <a:pt x="951548" y="322897"/>
                  </a:lnTo>
                  <a:lnTo>
                    <a:pt x="935355" y="283845"/>
                  </a:lnTo>
                  <a:lnTo>
                    <a:pt x="915353" y="245745"/>
                  </a:lnTo>
                  <a:lnTo>
                    <a:pt x="892493" y="209550"/>
                  </a:lnTo>
                  <a:lnTo>
                    <a:pt x="866775" y="175260"/>
                  </a:lnTo>
                  <a:lnTo>
                    <a:pt x="837248" y="143827"/>
                  </a:lnTo>
                  <a:lnTo>
                    <a:pt x="805815" y="115252"/>
                  </a:lnTo>
                  <a:lnTo>
                    <a:pt x="772478" y="88582"/>
                  </a:lnTo>
                  <a:lnTo>
                    <a:pt x="735330" y="65722"/>
                  </a:lnTo>
                  <a:lnTo>
                    <a:pt x="698183" y="46672"/>
                  </a:lnTo>
                  <a:lnTo>
                    <a:pt x="658178" y="29527"/>
                  </a:lnTo>
                  <a:lnTo>
                    <a:pt x="617220" y="17145"/>
                  </a:lnTo>
                  <a:lnTo>
                    <a:pt x="575310" y="7620"/>
                  </a:lnTo>
                  <a:lnTo>
                    <a:pt x="533400" y="1905"/>
                  </a:lnTo>
                  <a:lnTo>
                    <a:pt x="490538" y="0"/>
                  </a:lnTo>
                  <a:lnTo>
                    <a:pt x="447675" y="1905"/>
                  </a:lnTo>
                  <a:lnTo>
                    <a:pt x="405765" y="7620"/>
                  </a:lnTo>
                  <a:lnTo>
                    <a:pt x="362903" y="17145"/>
                  </a:lnTo>
                  <a:lnTo>
                    <a:pt x="322898" y="29527"/>
                  </a:lnTo>
                  <a:lnTo>
                    <a:pt x="282893" y="46672"/>
                  </a:lnTo>
                  <a:lnTo>
                    <a:pt x="244793" y="65722"/>
                  </a:lnTo>
                  <a:lnTo>
                    <a:pt x="209550" y="88582"/>
                  </a:lnTo>
                  <a:lnTo>
                    <a:pt x="175260" y="115252"/>
                  </a:lnTo>
                  <a:lnTo>
                    <a:pt x="143828" y="143827"/>
                  </a:lnTo>
                  <a:lnTo>
                    <a:pt x="114300" y="175260"/>
                  </a:lnTo>
                  <a:lnTo>
                    <a:pt x="88583" y="209550"/>
                  </a:lnTo>
                  <a:lnTo>
                    <a:pt x="64770" y="245745"/>
                  </a:lnTo>
                  <a:lnTo>
                    <a:pt x="45720" y="283845"/>
                  </a:lnTo>
                  <a:lnTo>
                    <a:pt x="29528" y="322897"/>
                  </a:lnTo>
                  <a:lnTo>
                    <a:pt x="16193" y="363855"/>
                  </a:lnTo>
                  <a:lnTo>
                    <a:pt x="6668" y="405765"/>
                  </a:lnTo>
                  <a:lnTo>
                    <a:pt x="953" y="447675"/>
                  </a:lnTo>
                  <a:lnTo>
                    <a:pt x="0" y="490538"/>
                  </a:lnTo>
                  <a:lnTo>
                    <a:pt x="953" y="533400"/>
                  </a:lnTo>
                  <a:lnTo>
                    <a:pt x="6668" y="576262"/>
                  </a:lnTo>
                  <a:lnTo>
                    <a:pt x="16193" y="618172"/>
                  </a:lnTo>
                  <a:lnTo>
                    <a:pt x="29528" y="659130"/>
                  </a:lnTo>
                  <a:lnTo>
                    <a:pt x="45720" y="698182"/>
                  </a:lnTo>
                  <a:lnTo>
                    <a:pt x="64770" y="736282"/>
                  </a:lnTo>
                  <a:lnTo>
                    <a:pt x="88583" y="772478"/>
                  </a:lnTo>
                  <a:lnTo>
                    <a:pt x="114300" y="806767"/>
                  </a:lnTo>
                  <a:lnTo>
                    <a:pt x="143828" y="838200"/>
                  </a:lnTo>
                  <a:lnTo>
                    <a:pt x="175260" y="866775"/>
                  </a:lnTo>
                  <a:lnTo>
                    <a:pt x="209550" y="893445"/>
                  </a:lnTo>
                  <a:lnTo>
                    <a:pt x="244793" y="916305"/>
                  </a:lnTo>
                  <a:lnTo>
                    <a:pt x="282893" y="935355"/>
                  </a:lnTo>
                  <a:lnTo>
                    <a:pt x="322898" y="951547"/>
                  </a:lnTo>
                  <a:lnTo>
                    <a:pt x="362903" y="964882"/>
                  </a:lnTo>
                  <a:lnTo>
                    <a:pt x="405765" y="974407"/>
                  </a:lnTo>
                  <a:lnTo>
                    <a:pt x="447675" y="980122"/>
                  </a:lnTo>
                  <a:lnTo>
                    <a:pt x="490538" y="982028"/>
                  </a:lnTo>
                  <a:lnTo>
                    <a:pt x="533400" y="980122"/>
                  </a:lnTo>
                  <a:lnTo>
                    <a:pt x="575310" y="974407"/>
                  </a:lnTo>
                  <a:lnTo>
                    <a:pt x="617220" y="964882"/>
                  </a:lnTo>
                  <a:lnTo>
                    <a:pt x="658178" y="951547"/>
                  </a:lnTo>
                  <a:lnTo>
                    <a:pt x="698183" y="935355"/>
                  </a:lnTo>
                  <a:lnTo>
                    <a:pt x="735330" y="916305"/>
                  </a:lnTo>
                  <a:lnTo>
                    <a:pt x="772478" y="893445"/>
                  </a:lnTo>
                  <a:lnTo>
                    <a:pt x="805815" y="866775"/>
                  </a:lnTo>
                  <a:lnTo>
                    <a:pt x="837248" y="838200"/>
                  </a:lnTo>
                  <a:lnTo>
                    <a:pt x="866775" y="806767"/>
                  </a:lnTo>
                  <a:lnTo>
                    <a:pt x="892493" y="772478"/>
                  </a:lnTo>
                  <a:lnTo>
                    <a:pt x="915353" y="736282"/>
                  </a:lnTo>
                  <a:lnTo>
                    <a:pt x="935355" y="698182"/>
                  </a:lnTo>
                  <a:lnTo>
                    <a:pt x="951548" y="659130"/>
                  </a:lnTo>
                  <a:lnTo>
                    <a:pt x="964883" y="618172"/>
                  </a:lnTo>
                  <a:lnTo>
                    <a:pt x="973455" y="576262"/>
                  </a:lnTo>
                  <a:lnTo>
                    <a:pt x="979170" y="533400"/>
                  </a:lnTo>
                  <a:lnTo>
                    <a:pt x="981075" y="490538"/>
                  </a:lnTo>
                  <a:lnTo>
                    <a:pt x="979170" y="447675"/>
                  </a:lnTo>
                  <a:lnTo>
                    <a:pt x="974408" y="41529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2660332" y="4515802"/>
              <a:ext cx="896302" cy="896303"/>
            </a:xfrm>
            <a:custGeom>
              <a:avLst/>
              <a:gdLst/>
              <a:ahLst/>
              <a:cxnLst/>
              <a:rect l="l" t="t" r="r" b="b"/>
              <a:pathLst>
                <a:path w="896302" h="896303">
                  <a:moveTo>
                    <a:pt x="896302" y="438150"/>
                  </a:moveTo>
                  <a:lnTo>
                    <a:pt x="894397" y="408622"/>
                  </a:lnTo>
                  <a:lnTo>
                    <a:pt x="889635" y="370522"/>
                  </a:lnTo>
                  <a:lnTo>
                    <a:pt x="881062" y="332422"/>
                  </a:lnTo>
                  <a:lnTo>
                    <a:pt x="869633" y="294322"/>
                  </a:lnTo>
                  <a:lnTo>
                    <a:pt x="854392" y="258127"/>
                  </a:lnTo>
                  <a:lnTo>
                    <a:pt x="836295" y="223838"/>
                  </a:lnTo>
                  <a:lnTo>
                    <a:pt x="815340" y="191452"/>
                  </a:lnTo>
                  <a:lnTo>
                    <a:pt x="791527" y="160020"/>
                  </a:lnTo>
                  <a:lnTo>
                    <a:pt x="765810" y="131445"/>
                  </a:lnTo>
                  <a:lnTo>
                    <a:pt x="736283" y="104775"/>
                  </a:lnTo>
                  <a:lnTo>
                    <a:pt x="705802" y="80962"/>
                  </a:lnTo>
                  <a:lnTo>
                    <a:pt x="672465" y="60007"/>
                  </a:lnTo>
                  <a:lnTo>
                    <a:pt x="638175" y="41910"/>
                  </a:lnTo>
                  <a:lnTo>
                    <a:pt x="601980" y="26670"/>
                  </a:lnTo>
                  <a:lnTo>
                    <a:pt x="564833" y="15240"/>
                  </a:lnTo>
                  <a:lnTo>
                    <a:pt x="526733" y="6667"/>
                  </a:lnTo>
                  <a:lnTo>
                    <a:pt x="487680" y="1905"/>
                  </a:lnTo>
                  <a:lnTo>
                    <a:pt x="448627" y="0"/>
                  </a:lnTo>
                  <a:lnTo>
                    <a:pt x="409575" y="1905"/>
                  </a:lnTo>
                  <a:lnTo>
                    <a:pt x="370522" y="6667"/>
                  </a:lnTo>
                  <a:lnTo>
                    <a:pt x="332422" y="15240"/>
                  </a:lnTo>
                  <a:lnTo>
                    <a:pt x="295275" y="26670"/>
                  </a:lnTo>
                  <a:lnTo>
                    <a:pt x="259080" y="41910"/>
                  </a:lnTo>
                  <a:lnTo>
                    <a:pt x="224790" y="60007"/>
                  </a:lnTo>
                  <a:lnTo>
                    <a:pt x="191452" y="80962"/>
                  </a:lnTo>
                  <a:lnTo>
                    <a:pt x="160020" y="104775"/>
                  </a:lnTo>
                  <a:lnTo>
                    <a:pt x="131445" y="131445"/>
                  </a:lnTo>
                  <a:lnTo>
                    <a:pt x="105727" y="160020"/>
                  </a:lnTo>
                  <a:lnTo>
                    <a:pt x="81915" y="191452"/>
                  </a:lnTo>
                  <a:lnTo>
                    <a:pt x="60960" y="223838"/>
                  </a:lnTo>
                  <a:lnTo>
                    <a:pt x="42862" y="258127"/>
                  </a:lnTo>
                  <a:lnTo>
                    <a:pt x="27622" y="294322"/>
                  </a:lnTo>
                  <a:lnTo>
                    <a:pt x="16192" y="332422"/>
                  </a:lnTo>
                  <a:lnTo>
                    <a:pt x="7620" y="370522"/>
                  </a:lnTo>
                  <a:lnTo>
                    <a:pt x="2858" y="408622"/>
                  </a:lnTo>
                  <a:lnTo>
                    <a:pt x="0" y="447675"/>
                  </a:lnTo>
                  <a:lnTo>
                    <a:pt x="2858" y="486728"/>
                  </a:lnTo>
                  <a:lnTo>
                    <a:pt x="7620" y="525780"/>
                  </a:lnTo>
                  <a:lnTo>
                    <a:pt x="16192" y="563880"/>
                  </a:lnTo>
                  <a:lnTo>
                    <a:pt x="27622" y="601028"/>
                  </a:lnTo>
                  <a:lnTo>
                    <a:pt x="42862" y="637222"/>
                  </a:lnTo>
                  <a:lnTo>
                    <a:pt x="60960" y="671512"/>
                  </a:lnTo>
                  <a:lnTo>
                    <a:pt x="81915" y="704850"/>
                  </a:lnTo>
                  <a:lnTo>
                    <a:pt x="105727" y="736282"/>
                  </a:lnTo>
                  <a:lnTo>
                    <a:pt x="131445" y="764857"/>
                  </a:lnTo>
                  <a:lnTo>
                    <a:pt x="160020" y="791528"/>
                  </a:lnTo>
                  <a:lnTo>
                    <a:pt x="191452" y="815340"/>
                  </a:lnTo>
                  <a:lnTo>
                    <a:pt x="224790" y="836295"/>
                  </a:lnTo>
                  <a:lnTo>
                    <a:pt x="259080" y="854392"/>
                  </a:lnTo>
                  <a:lnTo>
                    <a:pt x="295275" y="868680"/>
                  </a:lnTo>
                  <a:lnTo>
                    <a:pt x="332422" y="881062"/>
                  </a:lnTo>
                  <a:lnTo>
                    <a:pt x="370522" y="889635"/>
                  </a:lnTo>
                  <a:lnTo>
                    <a:pt x="409575" y="894397"/>
                  </a:lnTo>
                  <a:lnTo>
                    <a:pt x="448627" y="896303"/>
                  </a:lnTo>
                  <a:lnTo>
                    <a:pt x="487680" y="894397"/>
                  </a:lnTo>
                  <a:lnTo>
                    <a:pt x="526733" y="889635"/>
                  </a:lnTo>
                  <a:lnTo>
                    <a:pt x="564833" y="881062"/>
                  </a:lnTo>
                  <a:lnTo>
                    <a:pt x="601980" y="868680"/>
                  </a:lnTo>
                  <a:lnTo>
                    <a:pt x="638175" y="854392"/>
                  </a:lnTo>
                  <a:lnTo>
                    <a:pt x="672465" y="836295"/>
                  </a:lnTo>
                  <a:lnTo>
                    <a:pt x="705802" y="815340"/>
                  </a:lnTo>
                  <a:lnTo>
                    <a:pt x="736283" y="791528"/>
                  </a:lnTo>
                  <a:lnTo>
                    <a:pt x="765810" y="764857"/>
                  </a:lnTo>
                  <a:lnTo>
                    <a:pt x="791527" y="736282"/>
                  </a:lnTo>
                  <a:lnTo>
                    <a:pt x="815340" y="704850"/>
                  </a:lnTo>
                  <a:lnTo>
                    <a:pt x="836295" y="671512"/>
                  </a:lnTo>
                  <a:lnTo>
                    <a:pt x="854392" y="637222"/>
                  </a:lnTo>
                  <a:lnTo>
                    <a:pt x="869633" y="601028"/>
                  </a:lnTo>
                  <a:lnTo>
                    <a:pt x="881062" y="563880"/>
                  </a:lnTo>
                  <a:lnTo>
                    <a:pt x="889635" y="525780"/>
                  </a:lnTo>
                  <a:lnTo>
                    <a:pt x="894397" y="486728"/>
                  </a:lnTo>
                  <a:lnTo>
                    <a:pt x="896302" y="447675"/>
                  </a:lnTo>
                  <a:lnTo>
                    <a:pt x="894397" y="408622"/>
                  </a:lnTo>
                  <a:lnTo>
                    <a:pt x="890588" y="380047"/>
                  </a:lnTo>
                </a:path>
              </a:pathLst>
            </a:custGeom>
            <a:noFill/>
            <a:ln w="38100">
              <a:solidFill>
                <a:srgbClr val="14A38B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2707958" y="4563428"/>
              <a:ext cx="801052" cy="801053"/>
            </a:xfrm>
            <a:custGeom>
              <a:avLst/>
              <a:gdLst/>
              <a:ahLst/>
              <a:cxnLst/>
              <a:rect l="l" t="t" r="r" b="b"/>
              <a:pathLst>
                <a:path w="801052" h="801053">
                  <a:moveTo>
                    <a:pt x="801052" y="390525"/>
                  </a:moveTo>
                  <a:lnTo>
                    <a:pt x="800100" y="365760"/>
                  </a:lnTo>
                  <a:lnTo>
                    <a:pt x="795338" y="330517"/>
                  </a:lnTo>
                  <a:lnTo>
                    <a:pt x="787717" y="297180"/>
                  </a:lnTo>
                  <a:lnTo>
                    <a:pt x="777240" y="263842"/>
                  </a:lnTo>
                  <a:lnTo>
                    <a:pt x="763905" y="231457"/>
                  </a:lnTo>
                  <a:lnTo>
                    <a:pt x="747712" y="200025"/>
                  </a:lnTo>
                  <a:lnTo>
                    <a:pt x="729615" y="170497"/>
                  </a:lnTo>
                  <a:lnTo>
                    <a:pt x="707708" y="142875"/>
                  </a:lnTo>
                  <a:lnTo>
                    <a:pt x="683895" y="117157"/>
                  </a:lnTo>
                  <a:lnTo>
                    <a:pt x="659130" y="93345"/>
                  </a:lnTo>
                  <a:lnTo>
                    <a:pt x="630555" y="72390"/>
                  </a:lnTo>
                  <a:lnTo>
                    <a:pt x="601980" y="53340"/>
                  </a:lnTo>
                  <a:lnTo>
                    <a:pt x="570547" y="37147"/>
                  </a:lnTo>
                  <a:lnTo>
                    <a:pt x="538162" y="23812"/>
                  </a:lnTo>
                  <a:lnTo>
                    <a:pt x="504825" y="13335"/>
                  </a:lnTo>
                  <a:lnTo>
                    <a:pt x="470535" y="5715"/>
                  </a:lnTo>
                  <a:lnTo>
                    <a:pt x="436245" y="952"/>
                  </a:lnTo>
                  <a:lnTo>
                    <a:pt x="401002" y="0"/>
                  </a:lnTo>
                  <a:lnTo>
                    <a:pt x="366712" y="952"/>
                  </a:lnTo>
                  <a:lnTo>
                    <a:pt x="331470" y="5715"/>
                  </a:lnTo>
                  <a:lnTo>
                    <a:pt x="297180" y="13335"/>
                  </a:lnTo>
                  <a:lnTo>
                    <a:pt x="263842" y="23812"/>
                  </a:lnTo>
                  <a:lnTo>
                    <a:pt x="231458" y="37147"/>
                  </a:lnTo>
                  <a:lnTo>
                    <a:pt x="200977" y="53340"/>
                  </a:lnTo>
                  <a:lnTo>
                    <a:pt x="170497" y="72390"/>
                  </a:lnTo>
                  <a:lnTo>
                    <a:pt x="143827" y="93345"/>
                  </a:lnTo>
                  <a:lnTo>
                    <a:pt x="117158" y="117157"/>
                  </a:lnTo>
                  <a:lnTo>
                    <a:pt x="94297" y="142875"/>
                  </a:lnTo>
                  <a:lnTo>
                    <a:pt x="72390" y="170497"/>
                  </a:lnTo>
                  <a:lnTo>
                    <a:pt x="54292" y="200025"/>
                  </a:lnTo>
                  <a:lnTo>
                    <a:pt x="38100" y="231457"/>
                  </a:lnTo>
                  <a:lnTo>
                    <a:pt x="24765" y="263842"/>
                  </a:lnTo>
                  <a:lnTo>
                    <a:pt x="14288" y="297180"/>
                  </a:lnTo>
                  <a:lnTo>
                    <a:pt x="6667" y="330517"/>
                  </a:lnTo>
                  <a:lnTo>
                    <a:pt x="1905" y="365760"/>
                  </a:lnTo>
                  <a:lnTo>
                    <a:pt x="0" y="400050"/>
                  </a:lnTo>
                  <a:lnTo>
                    <a:pt x="1905" y="435292"/>
                  </a:lnTo>
                  <a:lnTo>
                    <a:pt x="6667" y="469582"/>
                  </a:lnTo>
                  <a:lnTo>
                    <a:pt x="14288" y="503872"/>
                  </a:lnTo>
                  <a:lnTo>
                    <a:pt x="24765" y="537210"/>
                  </a:lnTo>
                  <a:lnTo>
                    <a:pt x="38100" y="569595"/>
                  </a:lnTo>
                  <a:lnTo>
                    <a:pt x="54292" y="601028"/>
                  </a:lnTo>
                  <a:lnTo>
                    <a:pt x="72390" y="630555"/>
                  </a:lnTo>
                  <a:lnTo>
                    <a:pt x="94297" y="658178"/>
                  </a:lnTo>
                  <a:lnTo>
                    <a:pt x="117158" y="683895"/>
                  </a:lnTo>
                  <a:lnTo>
                    <a:pt x="143827" y="707707"/>
                  </a:lnTo>
                  <a:lnTo>
                    <a:pt x="170497" y="728662"/>
                  </a:lnTo>
                  <a:lnTo>
                    <a:pt x="200977" y="747712"/>
                  </a:lnTo>
                  <a:lnTo>
                    <a:pt x="231458" y="763905"/>
                  </a:lnTo>
                  <a:lnTo>
                    <a:pt x="263842" y="777240"/>
                  </a:lnTo>
                  <a:lnTo>
                    <a:pt x="297180" y="787717"/>
                  </a:lnTo>
                  <a:lnTo>
                    <a:pt x="331470" y="795338"/>
                  </a:lnTo>
                  <a:lnTo>
                    <a:pt x="366712" y="799147"/>
                  </a:lnTo>
                  <a:lnTo>
                    <a:pt x="401002" y="801053"/>
                  </a:lnTo>
                  <a:lnTo>
                    <a:pt x="436245" y="799147"/>
                  </a:lnTo>
                  <a:lnTo>
                    <a:pt x="470535" y="795338"/>
                  </a:lnTo>
                  <a:lnTo>
                    <a:pt x="504825" y="787717"/>
                  </a:lnTo>
                  <a:lnTo>
                    <a:pt x="538162" y="777240"/>
                  </a:lnTo>
                  <a:lnTo>
                    <a:pt x="570547" y="763905"/>
                  </a:lnTo>
                  <a:lnTo>
                    <a:pt x="601980" y="747712"/>
                  </a:lnTo>
                  <a:lnTo>
                    <a:pt x="630555" y="728662"/>
                  </a:lnTo>
                  <a:lnTo>
                    <a:pt x="659130" y="707707"/>
                  </a:lnTo>
                  <a:lnTo>
                    <a:pt x="683895" y="683895"/>
                  </a:lnTo>
                  <a:lnTo>
                    <a:pt x="707708" y="658178"/>
                  </a:lnTo>
                  <a:lnTo>
                    <a:pt x="729615" y="630555"/>
                  </a:lnTo>
                  <a:lnTo>
                    <a:pt x="747712" y="601028"/>
                  </a:lnTo>
                  <a:lnTo>
                    <a:pt x="763905" y="569595"/>
                  </a:lnTo>
                  <a:lnTo>
                    <a:pt x="777240" y="537210"/>
                  </a:lnTo>
                  <a:lnTo>
                    <a:pt x="787717" y="503872"/>
                  </a:lnTo>
                  <a:lnTo>
                    <a:pt x="795338" y="469582"/>
                  </a:lnTo>
                  <a:lnTo>
                    <a:pt x="800100" y="435292"/>
                  </a:lnTo>
                  <a:lnTo>
                    <a:pt x="801052" y="400050"/>
                  </a:lnTo>
                  <a:lnTo>
                    <a:pt x="800100" y="365760"/>
                  </a:lnTo>
                  <a:lnTo>
                    <a:pt x="797242" y="340042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2762250" y="4616768"/>
              <a:ext cx="693420" cy="694373"/>
            </a:xfrm>
            <a:custGeom>
              <a:avLst/>
              <a:gdLst/>
              <a:ahLst/>
              <a:cxnLst/>
              <a:rect l="l" t="t" r="r" b="b"/>
              <a:pathLst>
                <a:path w="693420" h="694373">
                  <a:moveTo>
                    <a:pt x="693420" y="337185"/>
                  </a:moveTo>
                  <a:lnTo>
                    <a:pt x="692467" y="317183"/>
                  </a:lnTo>
                  <a:lnTo>
                    <a:pt x="688658" y="286702"/>
                  </a:lnTo>
                  <a:lnTo>
                    <a:pt x="681990" y="257175"/>
                  </a:lnTo>
                  <a:lnTo>
                    <a:pt x="672465" y="228600"/>
                  </a:lnTo>
                  <a:lnTo>
                    <a:pt x="661035" y="200025"/>
                  </a:lnTo>
                  <a:lnTo>
                    <a:pt x="647700" y="173355"/>
                  </a:lnTo>
                  <a:lnTo>
                    <a:pt x="630555" y="147638"/>
                  </a:lnTo>
                  <a:lnTo>
                    <a:pt x="612458" y="123825"/>
                  </a:lnTo>
                  <a:lnTo>
                    <a:pt x="591503" y="101917"/>
                  </a:lnTo>
                  <a:lnTo>
                    <a:pt x="569595" y="80962"/>
                  </a:lnTo>
                  <a:lnTo>
                    <a:pt x="545783" y="62865"/>
                  </a:lnTo>
                  <a:lnTo>
                    <a:pt x="520065" y="46673"/>
                  </a:lnTo>
                  <a:lnTo>
                    <a:pt x="493395" y="32385"/>
                  </a:lnTo>
                  <a:lnTo>
                    <a:pt x="464820" y="20955"/>
                  </a:lnTo>
                  <a:lnTo>
                    <a:pt x="436245" y="11430"/>
                  </a:lnTo>
                  <a:lnTo>
                    <a:pt x="406717" y="5715"/>
                  </a:lnTo>
                  <a:lnTo>
                    <a:pt x="377190" y="953"/>
                  </a:lnTo>
                  <a:lnTo>
                    <a:pt x="346710" y="0"/>
                  </a:lnTo>
                  <a:lnTo>
                    <a:pt x="316230" y="953"/>
                  </a:lnTo>
                  <a:lnTo>
                    <a:pt x="286703" y="5715"/>
                  </a:lnTo>
                  <a:lnTo>
                    <a:pt x="257175" y="11430"/>
                  </a:lnTo>
                  <a:lnTo>
                    <a:pt x="227647" y="20955"/>
                  </a:lnTo>
                  <a:lnTo>
                    <a:pt x="200025" y="32385"/>
                  </a:lnTo>
                  <a:lnTo>
                    <a:pt x="173355" y="46673"/>
                  </a:lnTo>
                  <a:lnTo>
                    <a:pt x="147638" y="62865"/>
                  </a:lnTo>
                  <a:lnTo>
                    <a:pt x="123825" y="80962"/>
                  </a:lnTo>
                  <a:lnTo>
                    <a:pt x="100965" y="101917"/>
                  </a:lnTo>
                  <a:lnTo>
                    <a:pt x="80962" y="123825"/>
                  </a:lnTo>
                  <a:lnTo>
                    <a:pt x="62865" y="147638"/>
                  </a:lnTo>
                  <a:lnTo>
                    <a:pt x="45720" y="173355"/>
                  </a:lnTo>
                  <a:lnTo>
                    <a:pt x="32385" y="200025"/>
                  </a:lnTo>
                  <a:lnTo>
                    <a:pt x="20955" y="228600"/>
                  </a:lnTo>
                  <a:lnTo>
                    <a:pt x="11430" y="257175"/>
                  </a:lnTo>
                  <a:lnTo>
                    <a:pt x="4762" y="286702"/>
                  </a:lnTo>
                  <a:lnTo>
                    <a:pt x="953" y="317183"/>
                  </a:lnTo>
                  <a:lnTo>
                    <a:pt x="0" y="346710"/>
                  </a:lnTo>
                  <a:lnTo>
                    <a:pt x="953" y="377190"/>
                  </a:lnTo>
                  <a:lnTo>
                    <a:pt x="4762" y="407670"/>
                  </a:lnTo>
                  <a:lnTo>
                    <a:pt x="11430" y="437198"/>
                  </a:lnTo>
                  <a:lnTo>
                    <a:pt x="20955" y="465773"/>
                  </a:lnTo>
                  <a:lnTo>
                    <a:pt x="32385" y="493395"/>
                  </a:lnTo>
                  <a:lnTo>
                    <a:pt x="45720" y="521017"/>
                  </a:lnTo>
                  <a:lnTo>
                    <a:pt x="62865" y="545783"/>
                  </a:lnTo>
                  <a:lnTo>
                    <a:pt x="80962" y="570548"/>
                  </a:lnTo>
                  <a:lnTo>
                    <a:pt x="100965" y="592455"/>
                  </a:lnTo>
                  <a:lnTo>
                    <a:pt x="123825" y="612458"/>
                  </a:lnTo>
                  <a:lnTo>
                    <a:pt x="147638" y="631508"/>
                  </a:lnTo>
                  <a:lnTo>
                    <a:pt x="173355" y="647700"/>
                  </a:lnTo>
                  <a:lnTo>
                    <a:pt x="200025" y="661988"/>
                  </a:lnTo>
                  <a:lnTo>
                    <a:pt x="227647" y="673417"/>
                  </a:lnTo>
                  <a:lnTo>
                    <a:pt x="257175" y="681990"/>
                  </a:lnTo>
                  <a:lnTo>
                    <a:pt x="286703" y="688658"/>
                  </a:lnTo>
                  <a:lnTo>
                    <a:pt x="316230" y="692467"/>
                  </a:lnTo>
                  <a:lnTo>
                    <a:pt x="346710" y="694373"/>
                  </a:lnTo>
                  <a:lnTo>
                    <a:pt x="377190" y="692467"/>
                  </a:lnTo>
                  <a:lnTo>
                    <a:pt x="406717" y="688658"/>
                  </a:lnTo>
                  <a:lnTo>
                    <a:pt x="436245" y="681990"/>
                  </a:lnTo>
                  <a:lnTo>
                    <a:pt x="464820" y="673417"/>
                  </a:lnTo>
                  <a:lnTo>
                    <a:pt x="493395" y="661988"/>
                  </a:lnTo>
                  <a:lnTo>
                    <a:pt x="520065" y="647700"/>
                  </a:lnTo>
                  <a:lnTo>
                    <a:pt x="545783" y="631508"/>
                  </a:lnTo>
                  <a:lnTo>
                    <a:pt x="569595" y="612458"/>
                  </a:lnTo>
                  <a:lnTo>
                    <a:pt x="591503" y="592455"/>
                  </a:lnTo>
                  <a:lnTo>
                    <a:pt x="612458" y="570548"/>
                  </a:lnTo>
                  <a:lnTo>
                    <a:pt x="630555" y="545783"/>
                  </a:lnTo>
                  <a:lnTo>
                    <a:pt x="647700" y="521017"/>
                  </a:lnTo>
                  <a:lnTo>
                    <a:pt x="661035" y="493395"/>
                  </a:lnTo>
                  <a:lnTo>
                    <a:pt x="672465" y="465773"/>
                  </a:lnTo>
                  <a:lnTo>
                    <a:pt x="681990" y="437198"/>
                  </a:lnTo>
                  <a:lnTo>
                    <a:pt x="688658" y="407670"/>
                  </a:lnTo>
                  <a:lnTo>
                    <a:pt x="692467" y="377190"/>
                  </a:lnTo>
                  <a:lnTo>
                    <a:pt x="693420" y="346710"/>
                  </a:lnTo>
                  <a:lnTo>
                    <a:pt x="692467" y="317183"/>
                  </a:lnTo>
                  <a:lnTo>
                    <a:pt x="689610" y="296227"/>
                  </a:lnTo>
                </a:path>
              </a:pathLst>
            </a:custGeom>
            <a:noFill/>
            <a:ln w="38100">
              <a:solidFill>
                <a:srgbClr val="14A38B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2825115" y="4680585"/>
              <a:ext cx="566738" cy="566738"/>
            </a:xfrm>
            <a:custGeom>
              <a:avLst/>
              <a:gdLst/>
              <a:ahLst/>
              <a:cxnLst/>
              <a:rect l="l" t="t" r="r" b="b"/>
              <a:pathLst>
                <a:path w="566738" h="566738">
                  <a:moveTo>
                    <a:pt x="566738" y="273368"/>
                  </a:moveTo>
                  <a:lnTo>
                    <a:pt x="565785" y="258128"/>
                  </a:lnTo>
                  <a:lnTo>
                    <a:pt x="562927" y="234315"/>
                  </a:lnTo>
                  <a:lnTo>
                    <a:pt x="557212" y="210503"/>
                  </a:lnTo>
                  <a:lnTo>
                    <a:pt x="550545" y="186690"/>
                  </a:lnTo>
                  <a:lnTo>
                    <a:pt x="540067" y="163830"/>
                  </a:lnTo>
                  <a:lnTo>
                    <a:pt x="528638" y="141923"/>
                  </a:lnTo>
                  <a:lnTo>
                    <a:pt x="516255" y="120968"/>
                  </a:lnTo>
                  <a:lnTo>
                    <a:pt x="501015" y="100965"/>
                  </a:lnTo>
                  <a:lnTo>
                    <a:pt x="484822" y="82868"/>
                  </a:lnTo>
                  <a:lnTo>
                    <a:pt x="465772" y="66675"/>
                  </a:lnTo>
                  <a:lnTo>
                    <a:pt x="446722" y="51435"/>
                  </a:lnTo>
                  <a:lnTo>
                    <a:pt x="425767" y="38100"/>
                  </a:lnTo>
                  <a:lnTo>
                    <a:pt x="402907" y="26670"/>
                  </a:lnTo>
                  <a:lnTo>
                    <a:pt x="380047" y="17145"/>
                  </a:lnTo>
                  <a:lnTo>
                    <a:pt x="357188" y="9525"/>
                  </a:lnTo>
                  <a:lnTo>
                    <a:pt x="333375" y="3810"/>
                  </a:lnTo>
                  <a:lnTo>
                    <a:pt x="308610" y="953"/>
                  </a:lnTo>
                  <a:lnTo>
                    <a:pt x="283845" y="0"/>
                  </a:lnTo>
                  <a:lnTo>
                    <a:pt x="259080" y="953"/>
                  </a:lnTo>
                  <a:lnTo>
                    <a:pt x="234315" y="3810"/>
                  </a:lnTo>
                  <a:lnTo>
                    <a:pt x="210502" y="9525"/>
                  </a:lnTo>
                  <a:lnTo>
                    <a:pt x="186690" y="17145"/>
                  </a:lnTo>
                  <a:lnTo>
                    <a:pt x="163830" y="26670"/>
                  </a:lnTo>
                  <a:lnTo>
                    <a:pt x="141922" y="38100"/>
                  </a:lnTo>
                  <a:lnTo>
                    <a:pt x="120967" y="51435"/>
                  </a:lnTo>
                  <a:lnTo>
                    <a:pt x="101917" y="66675"/>
                  </a:lnTo>
                  <a:lnTo>
                    <a:pt x="83820" y="82868"/>
                  </a:lnTo>
                  <a:lnTo>
                    <a:pt x="66675" y="100965"/>
                  </a:lnTo>
                  <a:lnTo>
                    <a:pt x="51435" y="120968"/>
                  </a:lnTo>
                  <a:lnTo>
                    <a:pt x="38100" y="141923"/>
                  </a:lnTo>
                  <a:lnTo>
                    <a:pt x="26670" y="163830"/>
                  </a:lnTo>
                  <a:lnTo>
                    <a:pt x="17145" y="186690"/>
                  </a:lnTo>
                  <a:lnTo>
                    <a:pt x="10477" y="210503"/>
                  </a:lnTo>
                  <a:lnTo>
                    <a:pt x="4762" y="234315"/>
                  </a:lnTo>
                  <a:lnTo>
                    <a:pt x="952" y="258128"/>
                  </a:lnTo>
                  <a:lnTo>
                    <a:pt x="0" y="282893"/>
                  </a:lnTo>
                  <a:lnTo>
                    <a:pt x="952" y="307658"/>
                  </a:lnTo>
                  <a:lnTo>
                    <a:pt x="4762" y="332422"/>
                  </a:lnTo>
                  <a:lnTo>
                    <a:pt x="10477" y="356235"/>
                  </a:lnTo>
                  <a:lnTo>
                    <a:pt x="17145" y="380047"/>
                  </a:lnTo>
                  <a:lnTo>
                    <a:pt x="26670" y="402908"/>
                  </a:lnTo>
                  <a:lnTo>
                    <a:pt x="38100" y="424815"/>
                  </a:lnTo>
                  <a:lnTo>
                    <a:pt x="51435" y="445770"/>
                  </a:lnTo>
                  <a:lnTo>
                    <a:pt x="66675" y="465772"/>
                  </a:lnTo>
                  <a:lnTo>
                    <a:pt x="83820" y="483870"/>
                  </a:lnTo>
                  <a:lnTo>
                    <a:pt x="101917" y="500062"/>
                  </a:lnTo>
                  <a:lnTo>
                    <a:pt x="120967" y="515303"/>
                  </a:lnTo>
                  <a:lnTo>
                    <a:pt x="141922" y="528638"/>
                  </a:lnTo>
                  <a:lnTo>
                    <a:pt x="163830" y="540068"/>
                  </a:lnTo>
                  <a:lnTo>
                    <a:pt x="186690" y="549593"/>
                  </a:lnTo>
                  <a:lnTo>
                    <a:pt x="210502" y="557212"/>
                  </a:lnTo>
                  <a:lnTo>
                    <a:pt x="234315" y="561975"/>
                  </a:lnTo>
                  <a:lnTo>
                    <a:pt x="259080" y="565785"/>
                  </a:lnTo>
                  <a:lnTo>
                    <a:pt x="283845" y="566738"/>
                  </a:lnTo>
                  <a:lnTo>
                    <a:pt x="308610" y="565785"/>
                  </a:lnTo>
                  <a:lnTo>
                    <a:pt x="333375" y="561975"/>
                  </a:lnTo>
                  <a:lnTo>
                    <a:pt x="357188" y="557212"/>
                  </a:lnTo>
                  <a:lnTo>
                    <a:pt x="380047" y="549593"/>
                  </a:lnTo>
                  <a:lnTo>
                    <a:pt x="402907" y="540068"/>
                  </a:lnTo>
                  <a:lnTo>
                    <a:pt x="425767" y="528638"/>
                  </a:lnTo>
                  <a:lnTo>
                    <a:pt x="446722" y="515303"/>
                  </a:lnTo>
                  <a:lnTo>
                    <a:pt x="465772" y="500062"/>
                  </a:lnTo>
                  <a:lnTo>
                    <a:pt x="484822" y="483870"/>
                  </a:lnTo>
                  <a:lnTo>
                    <a:pt x="501015" y="465772"/>
                  </a:lnTo>
                  <a:lnTo>
                    <a:pt x="516255" y="445770"/>
                  </a:lnTo>
                  <a:lnTo>
                    <a:pt x="528638" y="424815"/>
                  </a:lnTo>
                  <a:lnTo>
                    <a:pt x="540067" y="402908"/>
                  </a:lnTo>
                  <a:lnTo>
                    <a:pt x="550545" y="380047"/>
                  </a:lnTo>
                  <a:lnTo>
                    <a:pt x="557212" y="356235"/>
                  </a:lnTo>
                  <a:lnTo>
                    <a:pt x="562927" y="332422"/>
                  </a:lnTo>
                  <a:lnTo>
                    <a:pt x="565785" y="307658"/>
                  </a:lnTo>
                  <a:lnTo>
                    <a:pt x="566738" y="282893"/>
                  </a:lnTo>
                  <a:lnTo>
                    <a:pt x="565785" y="258128"/>
                  </a:lnTo>
                  <a:lnTo>
                    <a:pt x="563880" y="24384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2908935" y="4763452"/>
              <a:ext cx="401003" cy="401003"/>
            </a:xfrm>
            <a:custGeom>
              <a:avLst/>
              <a:gdLst/>
              <a:ahLst/>
              <a:cxnLst/>
              <a:rect l="l" t="t" r="r" b="b"/>
              <a:pathLst>
                <a:path w="401003" h="401003">
                  <a:moveTo>
                    <a:pt x="400050" y="190500"/>
                  </a:moveTo>
                  <a:lnTo>
                    <a:pt x="399098" y="182880"/>
                  </a:lnTo>
                  <a:lnTo>
                    <a:pt x="397193" y="165735"/>
                  </a:lnTo>
                  <a:lnTo>
                    <a:pt x="393383" y="148590"/>
                  </a:lnTo>
                  <a:lnTo>
                    <a:pt x="387668" y="132397"/>
                  </a:lnTo>
                  <a:lnTo>
                    <a:pt x="381000" y="115253"/>
                  </a:lnTo>
                  <a:lnTo>
                    <a:pt x="373380" y="100012"/>
                  </a:lnTo>
                  <a:lnTo>
                    <a:pt x="363855" y="85725"/>
                  </a:lnTo>
                  <a:lnTo>
                    <a:pt x="353378" y="71438"/>
                  </a:lnTo>
                  <a:lnTo>
                    <a:pt x="341948" y="59055"/>
                  </a:lnTo>
                  <a:lnTo>
                    <a:pt x="328612" y="46672"/>
                  </a:lnTo>
                  <a:lnTo>
                    <a:pt x="315278" y="36195"/>
                  </a:lnTo>
                  <a:lnTo>
                    <a:pt x="300038" y="26670"/>
                  </a:lnTo>
                  <a:lnTo>
                    <a:pt x="284798" y="19050"/>
                  </a:lnTo>
                  <a:lnTo>
                    <a:pt x="268605" y="12382"/>
                  </a:lnTo>
                  <a:lnTo>
                    <a:pt x="252412" y="6667"/>
                  </a:lnTo>
                  <a:lnTo>
                    <a:pt x="235268" y="2857"/>
                  </a:lnTo>
                  <a:lnTo>
                    <a:pt x="217170" y="952"/>
                  </a:lnTo>
                  <a:lnTo>
                    <a:pt x="200025" y="0"/>
                  </a:lnTo>
                  <a:lnTo>
                    <a:pt x="182880" y="952"/>
                  </a:lnTo>
                  <a:lnTo>
                    <a:pt x="165735" y="2857"/>
                  </a:lnTo>
                  <a:lnTo>
                    <a:pt x="148590" y="6667"/>
                  </a:lnTo>
                  <a:lnTo>
                    <a:pt x="131445" y="12382"/>
                  </a:lnTo>
                  <a:lnTo>
                    <a:pt x="115253" y="19050"/>
                  </a:lnTo>
                  <a:lnTo>
                    <a:pt x="100012" y="26670"/>
                  </a:lnTo>
                  <a:lnTo>
                    <a:pt x="85725" y="36195"/>
                  </a:lnTo>
                  <a:lnTo>
                    <a:pt x="71438" y="46672"/>
                  </a:lnTo>
                  <a:lnTo>
                    <a:pt x="58103" y="59055"/>
                  </a:lnTo>
                  <a:lnTo>
                    <a:pt x="46673" y="71438"/>
                  </a:lnTo>
                  <a:lnTo>
                    <a:pt x="36195" y="85725"/>
                  </a:lnTo>
                  <a:lnTo>
                    <a:pt x="26670" y="100012"/>
                  </a:lnTo>
                  <a:lnTo>
                    <a:pt x="18098" y="115253"/>
                  </a:lnTo>
                  <a:lnTo>
                    <a:pt x="11430" y="132397"/>
                  </a:lnTo>
                  <a:lnTo>
                    <a:pt x="6668" y="148590"/>
                  </a:lnTo>
                  <a:lnTo>
                    <a:pt x="2858" y="165735"/>
                  </a:lnTo>
                  <a:lnTo>
                    <a:pt x="953" y="182880"/>
                  </a:lnTo>
                  <a:lnTo>
                    <a:pt x="0" y="200025"/>
                  </a:lnTo>
                  <a:lnTo>
                    <a:pt x="953" y="218122"/>
                  </a:lnTo>
                  <a:lnTo>
                    <a:pt x="2858" y="235267"/>
                  </a:lnTo>
                  <a:lnTo>
                    <a:pt x="6668" y="252412"/>
                  </a:lnTo>
                  <a:lnTo>
                    <a:pt x="11430" y="268605"/>
                  </a:lnTo>
                  <a:lnTo>
                    <a:pt x="18098" y="284797"/>
                  </a:lnTo>
                  <a:lnTo>
                    <a:pt x="26670" y="300990"/>
                  </a:lnTo>
                  <a:lnTo>
                    <a:pt x="36195" y="315278"/>
                  </a:lnTo>
                  <a:lnTo>
                    <a:pt x="46673" y="329565"/>
                  </a:lnTo>
                  <a:lnTo>
                    <a:pt x="58103" y="341947"/>
                  </a:lnTo>
                  <a:lnTo>
                    <a:pt x="71438" y="353378"/>
                  </a:lnTo>
                  <a:lnTo>
                    <a:pt x="85725" y="364807"/>
                  </a:lnTo>
                  <a:lnTo>
                    <a:pt x="100012" y="374332"/>
                  </a:lnTo>
                  <a:lnTo>
                    <a:pt x="115253" y="381953"/>
                  </a:lnTo>
                  <a:lnTo>
                    <a:pt x="131445" y="388620"/>
                  </a:lnTo>
                  <a:lnTo>
                    <a:pt x="148590" y="394335"/>
                  </a:lnTo>
                  <a:lnTo>
                    <a:pt x="165735" y="398145"/>
                  </a:lnTo>
                  <a:lnTo>
                    <a:pt x="182880" y="400050"/>
                  </a:lnTo>
                  <a:lnTo>
                    <a:pt x="200025" y="401003"/>
                  </a:lnTo>
                  <a:lnTo>
                    <a:pt x="217170" y="400050"/>
                  </a:lnTo>
                  <a:lnTo>
                    <a:pt x="235268" y="398145"/>
                  </a:lnTo>
                  <a:lnTo>
                    <a:pt x="252412" y="394335"/>
                  </a:lnTo>
                  <a:lnTo>
                    <a:pt x="268605" y="388620"/>
                  </a:lnTo>
                  <a:lnTo>
                    <a:pt x="284798" y="381953"/>
                  </a:lnTo>
                  <a:lnTo>
                    <a:pt x="300038" y="374332"/>
                  </a:lnTo>
                  <a:lnTo>
                    <a:pt x="315278" y="364807"/>
                  </a:lnTo>
                  <a:lnTo>
                    <a:pt x="328612" y="353378"/>
                  </a:lnTo>
                  <a:lnTo>
                    <a:pt x="341948" y="341947"/>
                  </a:lnTo>
                  <a:lnTo>
                    <a:pt x="353378" y="329565"/>
                  </a:lnTo>
                  <a:lnTo>
                    <a:pt x="363855" y="315278"/>
                  </a:lnTo>
                  <a:lnTo>
                    <a:pt x="373380" y="300990"/>
                  </a:lnTo>
                  <a:lnTo>
                    <a:pt x="381000" y="284797"/>
                  </a:lnTo>
                  <a:lnTo>
                    <a:pt x="387668" y="268605"/>
                  </a:lnTo>
                  <a:lnTo>
                    <a:pt x="393383" y="252412"/>
                  </a:lnTo>
                  <a:lnTo>
                    <a:pt x="397193" y="235267"/>
                  </a:lnTo>
                  <a:lnTo>
                    <a:pt x="399098" y="218122"/>
                  </a:lnTo>
                  <a:lnTo>
                    <a:pt x="401003" y="200025"/>
                  </a:lnTo>
                  <a:lnTo>
                    <a:pt x="399098" y="182880"/>
                  </a:lnTo>
                  <a:lnTo>
                    <a:pt x="398145" y="175260"/>
                  </a:lnTo>
                </a:path>
              </a:pathLst>
            </a:custGeom>
            <a:noFill/>
            <a:ln w="38100">
              <a:solidFill>
                <a:srgbClr val="14A38B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3076575" y="4931092"/>
              <a:ext cx="64770" cy="64770"/>
            </a:xfrm>
            <a:custGeom>
              <a:avLst/>
              <a:gdLst/>
              <a:ahLst/>
              <a:cxnLst/>
              <a:rect l="l" t="t" r="r" b="b"/>
              <a:pathLst>
                <a:path w="64770" h="64770">
                  <a:moveTo>
                    <a:pt x="63817" y="23812"/>
                  </a:moveTo>
                  <a:lnTo>
                    <a:pt x="63817" y="23812"/>
                  </a:lnTo>
                  <a:lnTo>
                    <a:pt x="60008" y="16192"/>
                  </a:lnTo>
                  <a:lnTo>
                    <a:pt x="55245" y="9525"/>
                  </a:lnTo>
                  <a:lnTo>
                    <a:pt x="48578" y="4762"/>
                  </a:lnTo>
                  <a:lnTo>
                    <a:pt x="40958" y="1905"/>
                  </a:lnTo>
                  <a:lnTo>
                    <a:pt x="32385" y="0"/>
                  </a:lnTo>
                  <a:lnTo>
                    <a:pt x="23812" y="1905"/>
                  </a:lnTo>
                  <a:lnTo>
                    <a:pt x="16192" y="4762"/>
                  </a:lnTo>
                  <a:lnTo>
                    <a:pt x="9525" y="9525"/>
                  </a:lnTo>
                  <a:lnTo>
                    <a:pt x="4762" y="16192"/>
                  </a:lnTo>
                  <a:lnTo>
                    <a:pt x="953" y="23812"/>
                  </a:lnTo>
                  <a:lnTo>
                    <a:pt x="0" y="32385"/>
                  </a:lnTo>
                  <a:lnTo>
                    <a:pt x="953" y="40957"/>
                  </a:lnTo>
                  <a:lnTo>
                    <a:pt x="4762" y="48577"/>
                  </a:lnTo>
                  <a:lnTo>
                    <a:pt x="9525" y="55245"/>
                  </a:lnTo>
                  <a:lnTo>
                    <a:pt x="16192" y="60960"/>
                  </a:lnTo>
                  <a:lnTo>
                    <a:pt x="23812" y="63817"/>
                  </a:lnTo>
                  <a:lnTo>
                    <a:pt x="32385" y="64770"/>
                  </a:lnTo>
                  <a:lnTo>
                    <a:pt x="40958" y="63817"/>
                  </a:lnTo>
                  <a:lnTo>
                    <a:pt x="48578" y="60960"/>
                  </a:lnTo>
                  <a:lnTo>
                    <a:pt x="55245" y="55245"/>
                  </a:lnTo>
                  <a:lnTo>
                    <a:pt x="60008" y="48577"/>
                  </a:lnTo>
                  <a:lnTo>
                    <a:pt x="63817" y="40957"/>
                  </a:lnTo>
                  <a:lnTo>
                    <a:pt x="64770" y="32385"/>
                  </a:lnTo>
                  <a:lnTo>
                    <a:pt x="63817" y="23812"/>
                  </a:lnTo>
                  <a:lnTo>
                    <a:pt x="63817" y="25717"/>
                  </a:lnTo>
                </a:path>
              </a:pathLst>
            </a:custGeom>
            <a:noFill/>
            <a:ln w="85725">
              <a:solidFill>
                <a:srgbClr val="1F2937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703187" y="4053364"/>
              <a:ext cx="75464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玻璃 n₃ = 1.50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773722" y="3819049"/>
              <a:ext cx="67047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油 n₂ = 1.60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71815" y="376951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915139" y="3254216"/>
              <a:ext cx="58326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l-GR" sz="8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λ = 576 nm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751898" y="4661059"/>
              <a:ext cx="6994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0（边缘）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751898" y="4968716"/>
              <a:ext cx="6994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4（中心）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88363" y="4903946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俯视反射光</a:t>
              </a:r>
            </a:p>
          </p:txBody>
        </p:sp>
      </p:grpSp>
      <p:grpSp>
        <p:nvGrpSpPr>
          <p:cNvPr id="60" name="c2-steps-1"/>
          <p:cNvGrpSpPr/>
          <p:nvPr/>
        </p:nvGrpSpPr>
        <p:grpSpPr>
          <a:xfrm>
            <a:off x="6032182" y="1533525"/>
            <a:ext cx="4926463" cy="2702814"/>
            <a:chOff x="6032182" y="1533525"/>
            <a:chExt cx="4926463" cy="2702814"/>
          </a:xfrm>
        </p:grpSpPr>
        <p:sp>
          <p:nvSpPr>
            <p:cNvPr id="39" name="Rectangle 39"/>
            <p:cNvSpPr/>
            <p:nvPr/>
          </p:nvSpPr>
          <p:spPr>
            <a:xfrm>
              <a:off x="6165532" y="1676400"/>
              <a:ext cx="19050" cy="22117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032182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125806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032182" y="208692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25806" y="21607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032182" y="263937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125806" y="27131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032182" y="319278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125806" y="32665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032182" y="374523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125806" y="38190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444806" y="156448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判半波损失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45948" y="1818322"/>
              <a:ext cx="45126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空气 1 &lt; 油 1.60 &gt; 玻璃 1.50，只有上表面有半波损失，δ = 2n₂e + λ/2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44806" y="21169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边缘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45948" y="2371725"/>
              <a:ext cx="15089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= 0，δ = λ/2，是暗纹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444806" y="267033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暗纹厚度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45948" y="2925128"/>
              <a:ext cx="26680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2n₂e + λ/2 = (2k + 1)λ/2，e = kλ/(2n₂)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444806" y="322278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数暗纹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445948" y="3477578"/>
              <a:ext cx="29719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最外暗环 k = 0，中心暗点是第 5 条暗纹，k = 4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44806" y="3776186"/>
              <a:ext cx="3390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h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445948" y="4030980"/>
              <a:ext cx="31415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 = 4λ/(2n₂) = 4 × 576 nm/(2 × 1.60) = 720 nm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6032182" y="4397692"/>
            <a:ext cx="5626418" cy="1229678"/>
            <a:chOff x="6032182" y="4397692"/>
            <a:chExt cx="5626418" cy="1229678"/>
          </a:xfrm>
        </p:grpSpPr>
        <p:sp>
          <p:nvSpPr>
            <p:cNvPr id="61" name="Rectangle 61"/>
            <p:cNvSpPr/>
            <p:nvPr/>
          </p:nvSpPr>
          <p:spPr>
            <a:xfrm>
              <a:off x="6032182" y="4397692"/>
              <a:ext cx="5626418" cy="1229678"/>
            </a:xfrm>
            <a:prstGeom prst="roundRect">
              <a:avLst>
                <a:gd name="adj" fmla="val 10844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213158" y="4578668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308928" y="461152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206680" y="4919186"/>
              <a:ext cx="27441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① 边缘是暗纹；② h = 7.2×10⁻⁷ m。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6" name="Rectangle 66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1273" y="6039326"/>
              <a:ext cx="94815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变式：若油的折射率小于玻璃（如 n₂ = 1.40），两个面都有半波损失，边缘变成明纹，中心暗点对应 2n₂h = (2k + 1)λ/2。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386512" cy="3675697"/>
            <a:chOff x="667512" y="1835468"/>
            <a:chExt cx="6386512" cy="367569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牛顿环与迈克耳孙干涉仪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376606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 7.1.3 把牛顿环列为分振幅法的实例，未展开；两者都是常见</a:t>
              </a:r>
              <a:br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考点，这里补上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21195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15480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牛顿环的环半径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56628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50913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用牛顿环测曲率半径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92061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6346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迈克耳孙干涉仪的结构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527494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521779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条纹移动与动镜位移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62660" cy="909257"/>
            <a:chOff x="520446" y="342900"/>
            <a:chExt cx="52626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牛顿环与迈克耳孙干涉仪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626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牛顿环：环半径 r ∝ √k，内疏外密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g_newton"/>
          <p:cNvGrpSpPr/>
          <p:nvPr/>
        </p:nvGrpSpPr>
        <p:grpSpPr>
          <a:xfrm>
            <a:off x="914400" y="2127885"/>
            <a:ext cx="4667250" cy="2932747"/>
            <a:chOff x="914400" y="2127885"/>
            <a:chExt cx="4667250" cy="2932747"/>
          </a:xfrm>
        </p:grpSpPr>
        <p:sp>
          <p:nvSpPr>
            <p:cNvPr id="7" name="Freeform 7"/>
            <p:cNvSpPr/>
            <p:nvPr/>
          </p:nvSpPr>
          <p:spPr>
            <a:xfrm>
              <a:off x="914400" y="3422332"/>
              <a:ext cx="4667250" cy="228600"/>
            </a:xfrm>
            <a:custGeom>
              <a:avLst/>
              <a:gdLst/>
              <a:ahLst/>
              <a:cxnLst/>
              <a:rect l="l" t="t" r="r" b="b"/>
              <a:pathLst>
                <a:path w="4667250" h="228600">
                  <a:moveTo>
                    <a:pt x="9525" y="0"/>
                  </a:moveTo>
                  <a:lnTo>
                    <a:pt x="4667250" y="0"/>
                  </a:lnTo>
                  <a:lnTo>
                    <a:pt x="4667250" y="228600"/>
                  </a:lnTo>
                  <a:lnTo>
                    <a:pt x="0" y="228600"/>
                  </a:lnTo>
                  <a:lnTo>
                    <a:pt x="0" y="0"/>
                  </a:lnTo>
                  <a:lnTo>
                    <a:pt x="4657725" y="0"/>
                  </a:lnTo>
                </a:path>
              </a:pathLst>
            </a:custGeom>
            <a:noFill/>
            <a:ln w="1905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152525" y="2469832"/>
              <a:ext cx="4191000" cy="952500"/>
            </a:xfrm>
            <a:custGeom>
              <a:avLst/>
              <a:gdLst/>
              <a:ahLst/>
              <a:cxnLst/>
              <a:rect l="l" t="t" r="r" b="b"/>
              <a:pathLst>
                <a:path w="4191000" h="952500">
                  <a:moveTo>
                    <a:pt x="0" y="9525"/>
                  </a:moveTo>
                  <a:lnTo>
                    <a:pt x="0" y="615315"/>
                  </a:lnTo>
                  <a:lnTo>
                    <a:pt x="47625" y="630555"/>
                  </a:lnTo>
                  <a:lnTo>
                    <a:pt x="95250" y="645795"/>
                  </a:lnTo>
                  <a:lnTo>
                    <a:pt x="142875" y="660083"/>
                  </a:lnTo>
                  <a:lnTo>
                    <a:pt x="190500" y="674370"/>
                  </a:lnTo>
                  <a:lnTo>
                    <a:pt x="238125" y="688658"/>
                  </a:lnTo>
                  <a:lnTo>
                    <a:pt x="285750" y="702945"/>
                  </a:lnTo>
                  <a:lnTo>
                    <a:pt x="333375" y="716280"/>
                  </a:lnTo>
                  <a:lnTo>
                    <a:pt x="381000" y="728662"/>
                  </a:lnTo>
                  <a:lnTo>
                    <a:pt x="428625" y="741045"/>
                  </a:lnTo>
                  <a:lnTo>
                    <a:pt x="476250" y="753427"/>
                  </a:lnTo>
                  <a:lnTo>
                    <a:pt x="523875" y="764858"/>
                  </a:lnTo>
                  <a:lnTo>
                    <a:pt x="571500" y="776288"/>
                  </a:lnTo>
                  <a:lnTo>
                    <a:pt x="619125" y="787717"/>
                  </a:lnTo>
                  <a:lnTo>
                    <a:pt x="666750" y="798195"/>
                  </a:lnTo>
                  <a:lnTo>
                    <a:pt x="714375" y="808672"/>
                  </a:lnTo>
                  <a:lnTo>
                    <a:pt x="762000" y="818197"/>
                  </a:lnTo>
                  <a:lnTo>
                    <a:pt x="809625" y="827722"/>
                  </a:lnTo>
                  <a:lnTo>
                    <a:pt x="857250" y="837247"/>
                  </a:lnTo>
                  <a:lnTo>
                    <a:pt x="904875" y="845820"/>
                  </a:lnTo>
                  <a:lnTo>
                    <a:pt x="952500" y="854392"/>
                  </a:lnTo>
                  <a:lnTo>
                    <a:pt x="1000125" y="862012"/>
                  </a:lnTo>
                  <a:lnTo>
                    <a:pt x="1047750" y="869633"/>
                  </a:lnTo>
                  <a:lnTo>
                    <a:pt x="1095375" y="877252"/>
                  </a:lnTo>
                  <a:lnTo>
                    <a:pt x="1143000" y="884872"/>
                  </a:lnTo>
                  <a:lnTo>
                    <a:pt x="1190625" y="891540"/>
                  </a:lnTo>
                  <a:lnTo>
                    <a:pt x="1238250" y="897255"/>
                  </a:lnTo>
                  <a:lnTo>
                    <a:pt x="1285875" y="902970"/>
                  </a:lnTo>
                  <a:lnTo>
                    <a:pt x="1333500" y="908685"/>
                  </a:lnTo>
                  <a:lnTo>
                    <a:pt x="1381125" y="914400"/>
                  </a:lnTo>
                  <a:lnTo>
                    <a:pt x="1428750" y="919162"/>
                  </a:lnTo>
                  <a:lnTo>
                    <a:pt x="1476375" y="923925"/>
                  </a:lnTo>
                  <a:lnTo>
                    <a:pt x="1524000" y="928688"/>
                  </a:lnTo>
                  <a:lnTo>
                    <a:pt x="1571625" y="932497"/>
                  </a:lnTo>
                  <a:lnTo>
                    <a:pt x="1619250" y="935355"/>
                  </a:lnTo>
                  <a:lnTo>
                    <a:pt x="1666875" y="939165"/>
                  </a:lnTo>
                  <a:lnTo>
                    <a:pt x="1714500" y="942022"/>
                  </a:lnTo>
                  <a:lnTo>
                    <a:pt x="1762125" y="944880"/>
                  </a:lnTo>
                  <a:lnTo>
                    <a:pt x="1809750" y="946785"/>
                  </a:lnTo>
                  <a:lnTo>
                    <a:pt x="1857375" y="948690"/>
                  </a:lnTo>
                  <a:lnTo>
                    <a:pt x="1905000" y="949642"/>
                  </a:lnTo>
                  <a:lnTo>
                    <a:pt x="1952625" y="951547"/>
                  </a:lnTo>
                  <a:lnTo>
                    <a:pt x="2000250" y="952500"/>
                  </a:lnTo>
                  <a:lnTo>
                    <a:pt x="2047875" y="952500"/>
                  </a:lnTo>
                  <a:lnTo>
                    <a:pt x="2095500" y="952500"/>
                  </a:lnTo>
                  <a:lnTo>
                    <a:pt x="2143125" y="952500"/>
                  </a:lnTo>
                  <a:lnTo>
                    <a:pt x="2190750" y="952500"/>
                  </a:lnTo>
                  <a:lnTo>
                    <a:pt x="2238375" y="951547"/>
                  </a:lnTo>
                  <a:lnTo>
                    <a:pt x="2286000" y="949642"/>
                  </a:lnTo>
                  <a:lnTo>
                    <a:pt x="2333625" y="948690"/>
                  </a:lnTo>
                  <a:lnTo>
                    <a:pt x="2381250" y="946785"/>
                  </a:lnTo>
                  <a:lnTo>
                    <a:pt x="2428875" y="944880"/>
                  </a:lnTo>
                  <a:lnTo>
                    <a:pt x="2476500" y="942022"/>
                  </a:lnTo>
                  <a:lnTo>
                    <a:pt x="2524125" y="939165"/>
                  </a:lnTo>
                  <a:lnTo>
                    <a:pt x="2571750" y="935355"/>
                  </a:lnTo>
                  <a:lnTo>
                    <a:pt x="2619375" y="932497"/>
                  </a:lnTo>
                  <a:lnTo>
                    <a:pt x="2667000" y="928688"/>
                  </a:lnTo>
                  <a:lnTo>
                    <a:pt x="2714625" y="923925"/>
                  </a:lnTo>
                  <a:lnTo>
                    <a:pt x="2762250" y="919162"/>
                  </a:lnTo>
                  <a:lnTo>
                    <a:pt x="2809875" y="914400"/>
                  </a:lnTo>
                  <a:lnTo>
                    <a:pt x="2857500" y="908685"/>
                  </a:lnTo>
                  <a:lnTo>
                    <a:pt x="2905125" y="902970"/>
                  </a:lnTo>
                  <a:lnTo>
                    <a:pt x="2952750" y="897255"/>
                  </a:lnTo>
                  <a:lnTo>
                    <a:pt x="3000375" y="891540"/>
                  </a:lnTo>
                  <a:lnTo>
                    <a:pt x="3048000" y="884872"/>
                  </a:lnTo>
                  <a:lnTo>
                    <a:pt x="3095625" y="877252"/>
                  </a:lnTo>
                  <a:lnTo>
                    <a:pt x="3143250" y="869633"/>
                  </a:lnTo>
                  <a:lnTo>
                    <a:pt x="3190875" y="862012"/>
                  </a:lnTo>
                  <a:lnTo>
                    <a:pt x="3238500" y="854392"/>
                  </a:lnTo>
                  <a:lnTo>
                    <a:pt x="3286125" y="845820"/>
                  </a:lnTo>
                  <a:lnTo>
                    <a:pt x="3333750" y="837247"/>
                  </a:lnTo>
                  <a:lnTo>
                    <a:pt x="3381375" y="827722"/>
                  </a:lnTo>
                  <a:lnTo>
                    <a:pt x="3429000" y="818197"/>
                  </a:lnTo>
                  <a:lnTo>
                    <a:pt x="3476625" y="808672"/>
                  </a:lnTo>
                  <a:lnTo>
                    <a:pt x="3524250" y="798195"/>
                  </a:lnTo>
                  <a:lnTo>
                    <a:pt x="3571875" y="787717"/>
                  </a:lnTo>
                  <a:lnTo>
                    <a:pt x="3619500" y="776288"/>
                  </a:lnTo>
                  <a:lnTo>
                    <a:pt x="3667125" y="764858"/>
                  </a:lnTo>
                  <a:lnTo>
                    <a:pt x="3714750" y="753427"/>
                  </a:lnTo>
                  <a:lnTo>
                    <a:pt x="3762375" y="741045"/>
                  </a:lnTo>
                  <a:lnTo>
                    <a:pt x="3810000" y="728662"/>
                  </a:lnTo>
                  <a:lnTo>
                    <a:pt x="3857625" y="716280"/>
                  </a:lnTo>
                  <a:lnTo>
                    <a:pt x="3905250" y="702945"/>
                  </a:lnTo>
                  <a:lnTo>
                    <a:pt x="3952875" y="688658"/>
                  </a:lnTo>
                  <a:lnTo>
                    <a:pt x="4000500" y="674370"/>
                  </a:lnTo>
                  <a:lnTo>
                    <a:pt x="4048125" y="660083"/>
                  </a:lnTo>
                  <a:lnTo>
                    <a:pt x="4095750" y="645795"/>
                  </a:lnTo>
                  <a:lnTo>
                    <a:pt x="4143375" y="630555"/>
                  </a:lnTo>
                  <a:lnTo>
                    <a:pt x="4191000" y="615315"/>
                  </a:lnTo>
                  <a:lnTo>
                    <a:pt x="4191000" y="0"/>
                  </a:lnTo>
                  <a:lnTo>
                    <a:pt x="0" y="0"/>
                  </a:lnTo>
                  <a:lnTo>
                    <a:pt x="276225" y="0"/>
                  </a:lnTo>
                </a:path>
              </a:pathLst>
            </a:custGeom>
            <a:noFill/>
            <a:ln w="22860">
              <a:solidFill>
                <a:srgbClr val="2F4B9A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3248025" y="2288858"/>
              <a:ext cx="9525" cy="1123950"/>
            </a:xfrm>
            <a:custGeom>
              <a:avLst/>
              <a:gdLst/>
              <a:ahLst/>
              <a:cxnLst/>
              <a:rect l="l" t="t" r="r" b="b"/>
              <a:pathLst>
                <a:path w="9525" h="1123950">
                  <a:moveTo>
                    <a:pt x="0" y="0"/>
                  </a:moveTo>
                  <a:lnTo>
                    <a:pt x="0" y="112395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3352800" y="3785235"/>
              <a:ext cx="1409700" cy="9525"/>
            </a:xfrm>
            <a:custGeom>
              <a:avLst/>
              <a:gdLst/>
              <a:ahLst/>
              <a:cxnLst/>
              <a:rect l="l" t="t" r="r" b="b"/>
              <a:pathLst>
                <a:path w="1409700" h="9525">
                  <a:moveTo>
                    <a:pt x="0" y="0"/>
                  </a:moveTo>
                  <a:lnTo>
                    <a:pt x="140970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762500" y="37376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3257550" y="37376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867275" y="3194685"/>
              <a:ext cx="9525" cy="618173"/>
            </a:xfrm>
            <a:custGeom>
              <a:avLst/>
              <a:gdLst/>
              <a:ahLst/>
              <a:cxnLst/>
              <a:rect l="l" t="t" r="r" b="b"/>
              <a:pathLst>
                <a:path w="9525" h="618173">
                  <a:moveTo>
                    <a:pt x="0" y="0"/>
                  </a:moveTo>
                  <a:lnTo>
                    <a:pt x="0" y="618173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5210175" y="3317558"/>
              <a:ext cx="9525" cy="10477"/>
            </a:xfrm>
            <a:custGeom>
              <a:avLst/>
              <a:gdLst/>
              <a:ahLst/>
              <a:cxnLst/>
              <a:rect l="l" t="t" r="r" b="b"/>
              <a:pathLst>
                <a:path w="9525" h="10477">
                  <a:moveTo>
                    <a:pt x="0" y="0"/>
                  </a:moveTo>
                  <a:lnTo>
                    <a:pt x="0" y="10477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5162550" y="323278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5162550" y="33175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962275" y="4203382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571500" y="277177"/>
                  </a:moveTo>
                  <a:lnTo>
                    <a:pt x="570547" y="260985"/>
                  </a:lnTo>
                  <a:lnTo>
                    <a:pt x="567690" y="236220"/>
                  </a:lnTo>
                  <a:lnTo>
                    <a:pt x="561975" y="212408"/>
                  </a:lnTo>
                  <a:lnTo>
                    <a:pt x="554355" y="188595"/>
                  </a:lnTo>
                  <a:lnTo>
                    <a:pt x="544830" y="165735"/>
                  </a:lnTo>
                  <a:lnTo>
                    <a:pt x="533400" y="142875"/>
                  </a:lnTo>
                  <a:lnTo>
                    <a:pt x="520065" y="121920"/>
                  </a:lnTo>
                  <a:lnTo>
                    <a:pt x="504825" y="102870"/>
                  </a:lnTo>
                  <a:lnTo>
                    <a:pt x="487680" y="83820"/>
                  </a:lnTo>
                  <a:lnTo>
                    <a:pt x="469583" y="67627"/>
                  </a:lnTo>
                  <a:lnTo>
                    <a:pt x="449580" y="51435"/>
                  </a:lnTo>
                  <a:lnTo>
                    <a:pt x="428625" y="39052"/>
                  </a:lnTo>
                  <a:lnTo>
                    <a:pt x="406717" y="26670"/>
                  </a:lnTo>
                  <a:lnTo>
                    <a:pt x="382905" y="17145"/>
                  </a:lnTo>
                  <a:lnTo>
                    <a:pt x="359092" y="10477"/>
                  </a:lnTo>
                  <a:lnTo>
                    <a:pt x="335280" y="4762"/>
                  </a:lnTo>
                  <a:lnTo>
                    <a:pt x="310515" y="1905"/>
                  </a:lnTo>
                  <a:lnTo>
                    <a:pt x="285750" y="0"/>
                  </a:lnTo>
                  <a:lnTo>
                    <a:pt x="260985" y="1905"/>
                  </a:lnTo>
                  <a:lnTo>
                    <a:pt x="236220" y="4762"/>
                  </a:lnTo>
                  <a:lnTo>
                    <a:pt x="211455" y="10477"/>
                  </a:lnTo>
                  <a:lnTo>
                    <a:pt x="187642" y="17145"/>
                  </a:lnTo>
                  <a:lnTo>
                    <a:pt x="164783" y="26670"/>
                  </a:lnTo>
                  <a:lnTo>
                    <a:pt x="142875" y="39052"/>
                  </a:lnTo>
                  <a:lnTo>
                    <a:pt x="121920" y="51435"/>
                  </a:lnTo>
                  <a:lnTo>
                    <a:pt x="101917" y="67627"/>
                  </a:lnTo>
                  <a:lnTo>
                    <a:pt x="83820" y="83820"/>
                  </a:lnTo>
                  <a:lnTo>
                    <a:pt x="66675" y="102870"/>
                  </a:lnTo>
                  <a:lnTo>
                    <a:pt x="51435" y="121920"/>
                  </a:lnTo>
                  <a:lnTo>
                    <a:pt x="38100" y="142875"/>
                  </a:lnTo>
                  <a:lnTo>
                    <a:pt x="26670" y="165735"/>
                  </a:lnTo>
                  <a:lnTo>
                    <a:pt x="17145" y="188595"/>
                  </a:lnTo>
                  <a:lnTo>
                    <a:pt x="9525" y="212408"/>
                  </a:lnTo>
                  <a:lnTo>
                    <a:pt x="3810" y="236220"/>
                  </a:lnTo>
                  <a:lnTo>
                    <a:pt x="953" y="260985"/>
                  </a:lnTo>
                  <a:lnTo>
                    <a:pt x="0" y="286702"/>
                  </a:lnTo>
                  <a:lnTo>
                    <a:pt x="953" y="311467"/>
                  </a:lnTo>
                  <a:lnTo>
                    <a:pt x="3810" y="335280"/>
                  </a:lnTo>
                  <a:lnTo>
                    <a:pt x="9525" y="360045"/>
                  </a:lnTo>
                  <a:lnTo>
                    <a:pt x="17145" y="383858"/>
                  </a:lnTo>
                  <a:lnTo>
                    <a:pt x="26670" y="406717"/>
                  </a:lnTo>
                  <a:lnTo>
                    <a:pt x="38100" y="429577"/>
                  </a:lnTo>
                  <a:lnTo>
                    <a:pt x="51435" y="449580"/>
                  </a:lnTo>
                  <a:lnTo>
                    <a:pt x="66675" y="469583"/>
                  </a:lnTo>
                  <a:lnTo>
                    <a:pt x="83820" y="487680"/>
                  </a:lnTo>
                  <a:lnTo>
                    <a:pt x="101917" y="504825"/>
                  </a:lnTo>
                  <a:lnTo>
                    <a:pt x="121920" y="520065"/>
                  </a:lnTo>
                  <a:lnTo>
                    <a:pt x="142875" y="533400"/>
                  </a:lnTo>
                  <a:lnTo>
                    <a:pt x="164783" y="544830"/>
                  </a:lnTo>
                  <a:lnTo>
                    <a:pt x="187642" y="554355"/>
                  </a:lnTo>
                  <a:lnTo>
                    <a:pt x="211455" y="561975"/>
                  </a:lnTo>
                  <a:lnTo>
                    <a:pt x="236220" y="567690"/>
                  </a:lnTo>
                  <a:lnTo>
                    <a:pt x="260985" y="570547"/>
                  </a:lnTo>
                  <a:lnTo>
                    <a:pt x="285750" y="571500"/>
                  </a:lnTo>
                  <a:lnTo>
                    <a:pt x="310515" y="570547"/>
                  </a:lnTo>
                  <a:lnTo>
                    <a:pt x="335280" y="567690"/>
                  </a:lnTo>
                  <a:lnTo>
                    <a:pt x="359092" y="561975"/>
                  </a:lnTo>
                  <a:lnTo>
                    <a:pt x="382905" y="554355"/>
                  </a:lnTo>
                  <a:lnTo>
                    <a:pt x="406717" y="544830"/>
                  </a:lnTo>
                  <a:lnTo>
                    <a:pt x="428625" y="533400"/>
                  </a:lnTo>
                  <a:lnTo>
                    <a:pt x="449580" y="520065"/>
                  </a:lnTo>
                  <a:lnTo>
                    <a:pt x="469583" y="504825"/>
                  </a:lnTo>
                  <a:lnTo>
                    <a:pt x="487680" y="487680"/>
                  </a:lnTo>
                  <a:lnTo>
                    <a:pt x="504825" y="469583"/>
                  </a:lnTo>
                  <a:lnTo>
                    <a:pt x="520065" y="449580"/>
                  </a:lnTo>
                  <a:lnTo>
                    <a:pt x="533400" y="429577"/>
                  </a:lnTo>
                  <a:lnTo>
                    <a:pt x="544830" y="406717"/>
                  </a:lnTo>
                  <a:lnTo>
                    <a:pt x="554355" y="383858"/>
                  </a:lnTo>
                  <a:lnTo>
                    <a:pt x="561975" y="360045"/>
                  </a:lnTo>
                  <a:lnTo>
                    <a:pt x="567690" y="335280"/>
                  </a:lnTo>
                  <a:lnTo>
                    <a:pt x="570547" y="311467"/>
                  </a:lnTo>
                  <a:lnTo>
                    <a:pt x="571500" y="286702"/>
                  </a:lnTo>
                  <a:lnTo>
                    <a:pt x="570547" y="260985"/>
                  </a:lnTo>
                  <a:lnTo>
                    <a:pt x="568642" y="245745"/>
                  </a:lnTo>
                </a:path>
              </a:pathLst>
            </a:custGeom>
            <a:noFill/>
            <a:ln w="38100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046095" y="4287202"/>
              <a:ext cx="403860" cy="403860"/>
            </a:xfrm>
            <a:custGeom>
              <a:avLst/>
              <a:gdLst/>
              <a:ahLst/>
              <a:cxnLst/>
              <a:rect l="l" t="t" r="r" b="b"/>
              <a:pathLst>
                <a:path w="403860" h="403860">
                  <a:moveTo>
                    <a:pt x="403860" y="193357"/>
                  </a:moveTo>
                  <a:lnTo>
                    <a:pt x="403860" y="184785"/>
                  </a:lnTo>
                  <a:lnTo>
                    <a:pt x="401002" y="167640"/>
                  </a:lnTo>
                  <a:lnTo>
                    <a:pt x="397192" y="150495"/>
                  </a:lnTo>
                  <a:lnTo>
                    <a:pt x="392430" y="133350"/>
                  </a:lnTo>
                  <a:lnTo>
                    <a:pt x="384810" y="117157"/>
                  </a:lnTo>
                  <a:lnTo>
                    <a:pt x="377190" y="100965"/>
                  </a:lnTo>
                  <a:lnTo>
                    <a:pt x="367665" y="86677"/>
                  </a:lnTo>
                  <a:lnTo>
                    <a:pt x="357188" y="72390"/>
                  </a:lnTo>
                  <a:lnTo>
                    <a:pt x="344805" y="59055"/>
                  </a:lnTo>
                  <a:lnTo>
                    <a:pt x="332422" y="47625"/>
                  </a:lnTo>
                  <a:lnTo>
                    <a:pt x="318135" y="36195"/>
                  </a:lnTo>
                  <a:lnTo>
                    <a:pt x="302895" y="27622"/>
                  </a:lnTo>
                  <a:lnTo>
                    <a:pt x="286702" y="19050"/>
                  </a:lnTo>
                  <a:lnTo>
                    <a:pt x="270510" y="12382"/>
                  </a:lnTo>
                  <a:lnTo>
                    <a:pt x="254317" y="7620"/>
                  </a:lnTo>
                  <a:lnTo>
                    <a:pt x="237172" y="2857"/>
                  </a:lnTo>
                  <a:lnTo>
                    <a:pt x="219075" y="952"/>
                  </a:lnTo>
                  <a:lnTo>
                    <a:pt x="201930" y="0"/>
                  </a:lnTo>
                  <a:lnTo>
                    <a:pt x="183833" y="952"/>
                  </a:lnTo>
                  <a:lnTo>
                    <a:pt x="166688" y="2857"/>
                  </a:lnTo>
                  <a:lnTo>
                    <a:pt x="149542" y="7620"/>
                  </a:lnTo>
                  <a:lnTo>
                    <a:pt x="133350" y="12382"/>
                  </a:lnTo>
                  <a:lnTo>
                    <a:pt x="116205" y="19050"/>
                  </a:lnTo>
                  <a:lnTo>
                    <a:pt x="100965" y="27622"/>
                  </a:lnTo>
                  <a:lnTo>
                    <a:pt x="85725" y="36195"/>
                  </a:lnTo>
                  <a:lnTo>
                    <a:pt x="72390" y="47625"/>
                  </a:lnTo>
                  <a:lnTo>
                    <a:pt x="59055" y="59055"/>
                  </a:lnTo>
                  <a:lnTo>
                    <a:pt x="47625" y="72390"/>
                  </a:lnTo>
                  <a:lnTo>
                    <a:pt x="36195" y="86677"/>
                  </a:lnTo>
                  <a:lnTo>
                    <a:pt x="26670" y="100965"/>
                  </a:lnTo>
                  <a:lnTo>
                    <a:pt x="19050" y="117157"/>
                  </a:lnTo>
                  <a:lnTo>
                    <a:pt x="12383" y="133350"/>
                  </a:lnTo>
                  <a:lnTo>
                    <a:pt x="6667" y="150495"/>
                  </a:lnTo>
                  <a:lnTo>
                    <a:pt x="2858" y="167640"/>
                  </a:lnTo>
                  <a:lnTo>
                    <a:pt x="952" y="184785"/>
                  </a:lnTo>
                  <a:lnTo>
                    <a:pt x="0" y="202882"/>
                  </a:lnTo>
                  <a:lnTo>
                    <a:pt x="952" y="220027"/>
                  </a:lnTo>
                  <a:lnTo>
                    <a:pt x="2858" y="237172"/>
                  </a:lnTo>
                  <a:lnTo>
                    <a:pt x="6667" y="254317"/>
                  </a:lnTo>
                  <a:lnTo>
                    <a:pt x="12383" y="271462"/>
                  </a:lnTo>
                  <a:lnTo>
                    <a:pt x="19050" y="287655"/>
                  </a:lnTo>
                  <a:lnTo>
                    <a:pt x="26670" y="302895"/>
                  </a:lnTo>
                  <a:lnTo>
                    <a:pt x="36195" y="318135"/>
                  </a:lnTo>
                  <a:lnTo>
                    <a:pt x="47625" y="332422"/>
                  </a:lnTo>
                  <a:lnTo>
                    <a:pt x="59055" y="345757"/>
                  </a:lnTo>
                  <a:lnTo>
                    <a:pt x="72390" y="357188"/>
                  </a:lnTo>
                  <a:lnTo>
                    <a:pt x="85725" y="367665"/>
                  </a:lnTo>
                  <a:lnTo>
                    <a:pt x="100965" y="377190"/>
                  </a:lnTo>
                  <a:lnTo>
                    <a:pt x="116205" y="385762"/>
                  </a:lnTo>
                  <a:lnTo>
                    <a:pt x="133350" y="392430"/>
                  </a:lnTo>
                  <a:lnTo>
                    <a:pt x="149542" y="397192"/>
                  </a:lnTo>
                  <a:lnTo>
                    <a:pt x="166688" y="401002"/>
                  </a:lnTo>
                  <a:lnTo>
                    <a:pt x="183833" y="403860"/>
                  </a:lnTo>
                  <a:lnTo>
                    <a:pt x="201930" y="403860"/>
                  </a:lnTo>
                  <a:lnTo>
                    <a:pt x="219075" y="403860"/>
                  </a:lnTo>
                  <a:lnTo>
                    <a:pt x="237172" y="401002"/>
                  </a:lnTo>
                  <a:lnTo>
                    <a:pt x="254317" y="397192"/>
                  </a:lnTo>
                  <a:lnTo>
                    <a:pt x="270510" y="392430"/>
                  </a:lnTo>
                  <a:lnTo>
                    <a:pt x="286702" y="385762"/>
                  </a:lnTo>
                  <a:lnTo>
                    <a:pt x="302895" y="377190"/>
                  </a:lnTo>
                  <a:lnTo>
                    <a:pt x="318135" y="367665"/>
                  </a:lnTo>
                  <a:lnTo>
                    <a:pt x="332422" y="357188"/>
                  </a:lnTo>
                  <a:lnTo>
                    <a:pt x="344805" y="345757"/>
                  </a:lnTo>
                  <a:lnTo>
                    <a:pt x="357188" y="332422"/>
                  </a:lnTo>
                  <a:lnTo>
                    <a:pt x="367665" y="318135"/>
                  </a:lnTo>
                  <a:lnTo>
                    <a:pt x="377190" y="302895"/>
                  </a:lnTo>
                  <a:lnTo>
                    <a:pt x="384810" y="287655"/>
                  </a:lnTo>
                  <a:lnTo>
                    <a:pt x="392430" y="271462"/>
                  </a:lnTo>
                  <a:lnTo>
                    <a:pt x="397192" y="254317"/>
                  </a:lnTo>
                  <a:lnTo>
                    <a:pt x="401002" y="237172"/>
                  </a:lnTo>
                  <a:lnTo>
                    <a:pt x="403860" y="220027"/>
                  </a:lnTo>
                  <a:lnTo>
                    <a:pt x="403860" y="202882"/>
                  </a:lnTo>
                  <a:lnTo>
                    <a:pt x="403860" y="184785"/>
                  </a:lnTo>
                  <a:lnTo>
                    <a:pt x="401955" y="177165"/>
                  </a:lnTo>
                </a:path>
              </a:pathLst>
            </a:custGeom>
            <a:noFill/>
            <a:ln w="38100">
              <a:solidFill>
                <a:srgbClr val="D97706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2844165" y="4085272"/>
              <a:ext cx="808672" cy="807720"/>
            </a:xfrm>
            <a:custGeom>
              <a:avLst/>
              <a:gdLst/>
              <a:ahLst/>
              <a:cxnLst/>
              <a:rect l="l" t="t" r="r" b="b"/>
              <a:pathLst>
                <a:path w="808672" h="807720">
                  <a:moveTo>
                    <a:pt x="807720" y="395288"/>
                  </a:moveTo>
                  <a:lnTo>
                    <a:pt x="806767" y="368618"/>
                  </a:lnTo>
                  <a:lnTo>
                    <a:pt x="802005" y="334328"/>
                  </a:lnTo>
                  <a:lnTo>
                    <a:pt x="794385" y="300038"/>
                  </a:lnTo>
                  <a:lnTo>
                    <a:pt x="783907" y="265748"/>
                  </a:lnTo>
                  <a:lnTo>
                    <a:pt x="770572" y="233362"/>
                  </a:lnTo>
                  <a:lnTo>
                    <a:pt x="753427" y="201930"/>
                  </a:lnTo>
                  <a:lnTo>
                    <a:pt x="734377" y="172403"/>
                  </a:lnTo>
                  <a:lnTo>
                    <a:pt x="713422" y="144780"/>
                  </a:lnTo>
                  <a:lnTo>
                    <a:pt x="689610" y="118110"/>
                  </a:lnTo>
                  <a:lnTo>
                    <a:pt x="663892" y="95250"/>
                  </a:lnTo>
                  <a:lnTo>
                    <a:pt x="635317" y="73343"/>
                  </a:lnTo>
                  <a:lnTo>
                    <a:pt x="605790" y="54293"/>
                  </a:lnTo>
                  <a:lnTo>
                    <a:pt x="574357" y="38100"/>
                  </a:lnTo>
                  <a:lnTo>
                    <a:pt x="541972" y="24765"/>
                  </a:lnTo>
                  <a:lnTo>
                    <a:pt x="508635" y="14288"/>
                  </a:lnTo>
                  <a:lnTo>
                    <a:pt x="473392" y="6668"/>
                  </a:lnTo>
                  <a:lnTo>
                    <a:pt x="439102" y="1905"/>
                  </a:lnTo>
                  <a:lnTo>
                    <a:pt x="403860" y="0"/>
                  </a:lnTo>
                  <a:lnTo>
                    <a:pt x="368617" y="1905"/>
                  </a:lnTo>
                  <a:lnTo>
                    <a:pt x="333375" y="6668"/>
                  </a:lnTo>
                  <a:lnTo>
                    <a:pt x="299085" y="14288"/>
                  </a:lnTo>
                  <a:lnTo>
                    <a:pt x="265747" y="24765"/>
                  </a:lnTo>
                  <a:lnTo>
                    <a:pt x="233362" y="38100"/>
                  </a:lnTo>
                  <a:lnTo>
                    <a:pt x="201930" y="54293"/>
                  </a:lnTo>
                  <a:lnTo>
                    <a:pt x="172402" y="73343"/>
                  </a:lnTo>
                  <a:lnTo>
                    <a:pt x="143827" y="95250"/>
                  </a:lnTo>
                  <a:lnTo>
                    <a:pt x="118110" y="118110"/>
                  </a:lnTo>
                  <a:lnTo>
                    <a:pt x="94297" y="144780"/>
                  </a:lnTo>
                  <a:lnTo>
                    <a:pt x="73342" y="172403"/>
                  </a:lnTo>
                  <a:lnTo>
                    <a:pt x="54292" y="201930"/>
                  </a:lnTo>
                  <a:lnTo>
                    <a:pt x="38100" y="233362"/>
                  </a:lnTo>
                  <a:lnTo>
                    <a:pt x="23812" y="265748"/>
                  </a:lnTo>
                  <a:lnTo>
                    <a:pt x="13335" y="300038"/>
                  </a:lnTo>
                  <a:lnTo>
                    <a:pt x="5715" y="334328"/>
                  </a:lnTo>
                  <a:lnTo>
                    <a:pt x="1905" y="368618"/>
                  </a:lnTo>
                  <a:lnTo>
                    <a:pt x="0" y="404812"/>
                  </a:lnTo>
                  <a:lnTo>
                    <a:pt x="1905" y="439103"/>
                  </a:lnTo>
                  <a:lnTo>
                    <a:pt x="5715" y="474345"/>
                  </a:lnTo>
                  <a:lnTo>
                    <a:pt x="13335" y="508635"/>
                  </a:lnTo>
                  <a:lnTo>
                    <a:pt x="23812" y="541973"/>
                  </a:lnTo>
                  <a:lnTo>
                    <a:pt x="38100" y="575310"/>
                  </a:lnTo>
                  <a:lnTo>
                    <a:pt x="54292" y="605790"/>
                  </a:lnTo>
                  <a:lnTo>
                    <a:pt x="73342" y="636270"/>
                  </a:lnTo>
                  <a:lnTo>
                    <a:pt x="94297" y="663893"/>
                  </a:lnTo>
                  <a:lnTo>
                    <a:pt x="118110" y="689610"/>
                  </a:lnTo>
                  <a:lnTo>
                    <a:pt x="143827" y="713423"/>
                  </a:lnTo>
                  <a:lnTo>
                    <a:pt x="172402" y="735330"/>
                  </a:lnTo>
                  <a:lnTo>
                    <a:pt x="201930" y="754380"/>
                  </a:lnTo>
                  <a:lnTo>
                    <a:pt x="233362" y="770573"/>
                  </a:lnTo>
                  <a:lnTo>
                    <a:pt x="265747" y="783908"/>
                  </a:lnTo>
                  <a:lnTo>
                    <a:pt x="299085" y="794385"/>
                  </a:lnTo>
                  <a:lnTo>
                    <a:pt x="333375" y="802005"/>
                  </a:lnTo>
                  <a:lnTo>
                    <a:pt x="368617" y="806768"/>
                  </a:lnTo>
                  <a:lnTo>
                    <a:pt x="403860" y="807720"/>
                  </a:lnTo>
                  <a:lnTo>
                    <a:pt x="439102" y="806768"/>
                  </a:lnTo>
                  <a:lnTo>
                    <a:pt x="473392" y="802005"/>
                  </a:lnTo>
                  <a:lnTo>
                    <a:pt x="508635" y="794385"/>
                  </a:lnTo>
                  <a:lnTo>
                    <a:pt x="541972" y="783908"/>
                  </a:lnTo>
                  <a:lnTo>
                    <a:pt x="574357" y="770573"/>
                  </a:lnTo>
                  <a:lnTo>
                    <a:pt x="605790" y="754380"/>
                  </a:lnTo>
                  <a:lnTo>
                    <a:pt x="635317" y="735330"/>
                  </a:lnTo>
                  <a:lnTo>
                    <a:pt x="663892" y="713423"/>
                  </a:lnTo>
                  <a:lnTo>
                    <a:pt x="689610" y="689610"/>
                  </a:lnTo>
                  <a:lnTo>
                    <a:pt x="713422" y="663893"/>
                  </a:lnTo>
                  <a:lnTo>
                    <a:pt x="734377" y="636270"/>
                  </a:lnTo>
                  <a:lnTo>
                    <a:pt x="753427" y="605790"/>
                  </a:lnTo>
                  <a:lnTo>
                    <a:pt x="770572" y="575310"/>
                  </a:lnTo>
                  <a:lnTo>
                    <a:pt x="783907" y="541973"/>
                  </a:lnTo>
                  <a:lnTo>
                    <a:pt x="794385" y="508635"/>
                  </a:lnTo>
                  <a:lnTo>
                    <a:pt x="802005" y="474345"/>
                  </a:lnTo>
                  <a:lnTo>
                    <a:pt x="806767" y="439103"/>
                  </a:lnTo>
                  <a:lnTo>
                    <a:pt x="808672" y="404812"/>
                  </a:lnTo>
                  <a:lnTo>
                    <a:pt x="806767" y="368618"/>
                  </a:lnTo>
                  <a:lnTo>
                    <a:pt x="802957" y="343853"/>
                  </a:lnTo>
                </a:path>
              </a:pathLst>
            </a:custGeom>
            <a:noFill/>
            <a:ln w="38100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2898458" y="4139565"/>
              <a:ext cx="699135" cy="700088"/>
            </a:xfrm>
            <a:custGeom>
              <a:avLst/>
              <a:gdLst/>
              <a:ahLst/>
              <a:cxnLst/>
              <a:rect l="l" t="t" r="r" b="b"/>
              <a:pathLst>
                <a:path w="699135" h="700088">
                  <a:moveTo>
                    <a:pt x="699135" y="340995"/>
                  </a:moveTo>
                  <a:lnTo>
                    <a:pt x="698183" y="319088"/>
                  </a:lnTo>
                  <a:lnTo>
                    <a:pt x="694372" y="289560"/>
                  </a:lnTo>
                  <a:lnTo>
                    <a:pt x="687705" y="259080"/>
                  </a:lnTo>
                  <a:lnTo>
                    <a:pt x="678180" y="230505"/>
                  </a:lnTo>
                  <a:lnTo>
                    <a:pt x="666750" y="201930"/>
                  </a:lnTo>
                  <a:lnTo>
                    <a:pt x="652462" y="175260"/>
                  </a:lnTo>
                  <a:lnTo>
                    <a:pt x="636270" y="149542"/>
                  </a:lnTo>
                  <a:lnTo>
                    <a:pt x="617220" y="124777"/>
                  </a:lnTo>
                  <a:lnTo>
                    <a:pt x="597217" y="102870"/>
                  </a:lnTo>
                  <a:lnTo>
                    <a:pt x="574358" y="81915"/>
                  </a:lnTo>
                  <a:lnTo>
                    <a:pt x="550545" y="63817"/>
                  </a:lnTo>
                  <a:lnTo>
                    <a:pt x="524827" y="46672"/>
                  </a:lnTo>
                  <a:lnTo>
                    <a:pt x="497205" y="32385"/>
                  </a:lnTo>
                  <a:lnTo>
                    <a:pt x="469583" y="20955"/>
                  </a:lnTo>
                  <a:lnTo>
                    <a:pt x="440055" y="12382"/>
                  </a:lnTo>
                  <a:lnTo>
                    <a:pt x="410527" y="5715"/>
                  </a:lnTo>
                  <a:lnTo>
                    <a:pt x="380047" y="952"/>
                  </a:lnTo>
                  <a:lnTo>
                    <a:pt x="349567" y="0"/>
                  </a:lnTo>
                  <a:lnTo>
                    <a:pt x="319088" y="952"/>
                  </a:lnTo>
                  <a:lnTo>
                    <a:pt x="288608" y="5715"/>
                  </a:lnTo>
                  <a:lnTo>
                    <a:pt x="259080" y="12382"/>
                  </a:lnTo>
                  <a:lnTo>
                    <a:pt x="229552" y="20955"/>
                  </a:lnTo>
                  <a:lnTo>
                    <a:pt x="201930" y="32385"/>
                  </a:lnTo>
                  <a:lnTo>
                    <a:pt x="174308" y="46672"/>
                  </a:lnTo>
                  <a:lnTo>
                    <a:pt x="148590" y="63817"/>
                  </a:lnTo>
                  <a:lnTo>
                    <a:pt x="124777" y="81915"/>
                  </a:lnTo>
                  <a:lnTo>
                    <a:pt x="101917" y="102870"/>
                  </a:lnTo>
                  <a:lnTo>
                    <a:pt x="80962" y="124777"/>
                  </a:lnTo>
                  <a:lnTo>
                    <a:pt x="62865" y="149542"/>
                  </a:lnTo>
                  <a:lnTo>
                    <a:pt x="46672" y="175260"/>
                  </a:lnTo>
                  <a:lnTo>
                    <a:pt x="32385" y="201930"/>
                  </a:lnTo>
                  <a:lnTo>
                    <a:pt x="20955" y="230505"/>
                  </a:lnTo>
                  <a:lnTo>
                    <a:pt x="11430" y="259080"/>
                  </a:lnTo>
                  <a:lnTo>
                    <a:pt x="4762" y="289560"/>
                  </a:lnTo>
                  <a:lnTo>
                    <a:pt x="952" y="319088"/>
                  </a:lnTo>
                  <a:lnTo>
                    <a:pt x="0" y="350520"/>
                  </a:lnTo>
                  <a:lnTo>
                    <a:pt x="952" y="380047"/>
                  </a:lnTo>
                  <a:lnTo>
                    <a:pt x="4762" y="410527"/>
                  </a:lnTo>
                  <a:lnTo>
                    <a:pt x="11430" y="440055"/>
                  </a:lnTo>
                  <a:lnTo>
                    <a:pt x="20955" y="469582"/>
                  </a:lnTo>
                  <a:lnTo>
                    <a:pt x="32385" y="498157"/>
                  </a:lnTo>
                  <a:lnTo>
                    <a:pt x="46672" y="524827"/>
                  </a:lnTo>
                  <a:lnTo>
                    <a:pt x="62865" y="550545"/>
                  </a:lnTo>
                  <a:lnTo>
                    <a:pt x="80962" y="575310"/>
                  </a:lnTo>
                  <a:lnTo>
                    <a:pt x="101917" y="597217"/>
                  </a:lnTo>
                  <a:lnTo>
                    <a:pt x="124777" y="618172"/>
                  </a:lnTo>
                  <a:lnTo>
                    <a:pt x="148590" y="636270"/>
                  </a:lnTo>
                  <a:lnTo>
                    <a:pt x="174308" y="653415"/>
                  </a:lnTo>
                  <a:lnTo>
                    <a:pt x="201930" y="666750"/>
                  </a:lnTo>
                  <a:lnTo>
                    <a:pt x="229552" y="679132"/>
                  </a:lnTo>
                  <a:lnTo>
                    <a:pt x="259080" y="687705"/>
                  </a:lnTo>
                  <a:lnTo>
                    <a:pt x="288608" y="694372"/>
                  </a:lnTo>
                  <a:lnTo>
                    <a:pt x="319088" y="698182"/>
                  </a:lnTo>
                  <a:lnTo>
                    <a:pt x="349567" y="700088"/>
                  </a:lnTo>
                  <a:lnTo>
                    <a:pt x="380047" y="698182"/>
                  </a:lnTo>
                  <a:lnTo>
                    <a:pt x="410527" y="694372"/>
                  </a:lnTo>
                  <a:lnTo>
                    <a:pt x="440055" y="687705"/>
                  </a:lnTo>
                  <a:lnTo>
                    <a:pt x="469583" y="679132"/>
                  </a:lnTo>
                  <a:lnTo>
                    <a:pt x="497205" y="666750"/>
                  </a:lnTo>
                  <a:lnTo>
                    <a:pt x="524827" y="653415"/>
                  </a:lnTo>
                  <a:lnTo>
                    <a:pt x="550545" y="636270"/>
                  </a:lnTo>
                  <a:lnTo>
                    <a:pt x="574358" y="618172"/>
                  </a:lnTo>
                  <a:lnTo>
                    <a:pt x="597217" y="597217"/>
                  </a:lnTo>
                  <a:lnTo>
                    <a:pt x="617220" y="575310"/>
                  </a:lnTo>
                  <a:lnTo>
                    <a:pt x="636270" y="550545"/>
                  </a:lnTo>
                  <a:lnTo>
                    <a:pt x="652462" y="524827"/>
                  </a:lnTo>
                  <a:lnTo>
                    <a:pt x="666750" y="498157"/>
                  </a:lnTo>
                  <a:lnTo>
                    <a:pt x="678180" y="469582"/>
                  </a:lnTo>
                  <a:lnTo>
                    <a:pt x="687705" y="440055"/>
                  </a:lnTo>
                  <a:lnTo>
                    <a:pt x="694372" y="410527"/>
                  </a:lnTo>
                  <a:lnTo>
                    <a:pt x="698183" y="380047"/>
                  </a:lnTo>
                  <a:lnTo>
                    <a:pt x="699135" y="350520"/>
                  </a:lnTo>
                  <a:lnTo>
                    <a:pt x="698183" y="319088"/>
                  </a:lnTo>
                  <a:lnTo>
                    <a:pt x="695325" y="299085"/>
                  </a:lnTo>
                </a:path>
              </a:pathLst>
            </a:custGeom>
            <a:noFill/>
            <a:ln w="38100">
              <a:solidFill>
                <a:srgbClr val="D97706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2753678" y="3994785"/>
              <a:ext cx="988695" cy="989647"/>
            </a:xfrm>
            <a:custGeom>
              <a:avLst/>
              <a:gdLst/>
              <a:ahLst/>
              <a:cxnLst/>
              <a:rect l="l" t="t" r="r" b="b"/>
              <a:pathLst>
                <a:path w="988695" h="989647">
                  <a:moveTo>
                    <a:pt x="988695" y="485775"/>
                  </a:moveTo>
                  <a:lnTo>
                    <a:pt x="987742" y="451485"/>
                  </a:lnTo>
                  <a:lnTo>
                    <a:pt x="982027" y="408623"/>
                  </a:lnTo>
                  <a:lnTo>
                    <a:pt x="972502" y="366712"/>
                  </a:lnTo>
                  <a:lnTo>
                    <a:pt x="959167" y="325755"/>
                  </a:lnTo>
                  <a:lnTo>
                    <a:pt x="942975" y="285750"/>
                  </a:lnTo>
                  <a:lnTo>
                    <a:pt x="922972" y="247650"/>
                  </a:lnTo>
                  <a:lnTo>
                    <a:pt x="900112" y="210503"/>
                  </a:lnTo>
                  <a:lnTo>
                    <a:pt x="873442" y="177165"/>
                  </a:lnTo>
                  <a:lnTo>
                    <a:pt x="843915" y="144780"/>
                  </a:lnTo>
                  <a:lnTo>
                    <a:pt x="812482" y="115253"/>
                  </a:lnTo>
                  <a:lnTo>
                    <a:pt x="778192" y="89535"/>
                  </a:lnTo>
                  <a:lnTo>
                    <a:pt x="741997" y="65723"/>
                  </a:lnTo>
                  <a:lnTo>
                    <a:pt x="702945" y="45720"/>
                  </a:lnTo>
                  <a:lnTo>
                    <a:pt x="662940" y="29528"/>
                  </a:lnTo>
                  <a:lnTo>
                    <a:pt x="621982" y="17145"/>
                  </a:lnTo>
                  <a:lnTo>
                    <a:pt x="580072" y="7620"/>
                  </a:lnTo>
                  <a:lnTo>
                    <a:pt x="537210" y="1905"/>
                  </a:lnTo>
                  <a:lnTo>
                    <a:pt x="494347" y="0"/>
                  </a:lnTo>
                  <a:lnTo>
                    <a:pt x="451485" y="1905"/>
                  </a:lnTo>
                  <a:lnTo>
                    <a:pt x="408622" y="7620"/>
                  </a:lnTo>
                  <a:lnTo>
                    <a:pt x="366712" y="17145"/>
                  </a:lnTo>
                  <a:lnTo>
                    <a:pt x="324802" y="29528"/>
                  </a:lnTo>
                  <a:lnTo>
                    <a:pt x="284797" y="45720"/>
                  </a:lnTo>
                  <a:lnTo>
                    <a:pt x="246697" y="65723"/>
                  </a:lnTo>
                  <a:lnTo>
                    <a:pt x="210502" y="89535"/>
                  </a:lnTo>
                  <a:lnTo>
                    <a:pt x="176212" y="115253"/>
                  </a:lnTo>
                  <a:lnTo>
                    <a:pt x="144780" y="144780"/>
                  </a:lnTo>
                  <a:lnTo>
                    <a:pt x="115252" y="177165"/>
                  </a:lnTo>
                  <a:lnTo>
                    <a:pt x="88582" y="210503"/>
                  </a:lnTo>
                  <a:lnTo>
                    <a:pt x="65722" y="247650"/>
                  </a:lnTo>
                  <a:lnTo>
                    <a:pt x="45720" y="285750"/>
                  </a:lnTo>
                  <a:lnTo>
                    <a:pt x="29527" y="325755"/>
                  </a:lnTo>
                  <a:lnTo>
                    <a:pt x="16192" y="366712"/>
                  </a:lnTo>
                  <a:lnTo>
                    <a:pt x="6667" y="408623"/>
                  </a:lnTo>
                  <a:lnTo>
                    <a:pt x="952" y="451485"/>
                  </a:lnTo>
                  <a:lnTo>
                    <a:pt x="0" y="495300"/>
                  </a:lnTo>
                  <a:lnTo>
                    <a:pt x="952" y="538162"/>
                  </a:lnTo>
                  <a:lnTo>
                    <a:pt x="6667" y="581025"/>
                  </a:lnTo>
                  <a:lnTo>
                    <a:pt x="16192" y="622935"/>
                  </a:lnTo>
                  <a:lnTo>
                    <a:pt x="29527" y="663893"/>
                  </a:lnTo>
                  <a:lnTo>
                    <a:pt x="45720" y="703898"/>
                  </a:lnTo>
                  <a:lnTo>
                    <a:pt x="65722" y="741998"/>
                  </a:lnTo>
                  <a:lnTo>
                    <a:pt x="88582" y="778193"/>
                  </a:lnTo>
                  <a:lnTo>
                    <a:pt x="115252" y="812483"/>
                  </a:lnTo>
                  <a:lnTo>
                    <a:pt x="144780" y="844868"/>
                  </a:lnTo>
                  <a:lnTo>
                    <a:pt x="176212" y="873443"/>
                  </a:lnTo>
                  <a:lnTo>
                    <a:pt x="210502" y="900112"/>
                  </a:lnTo>
                  <a:lnTo>
                    <a:pt x="246697" y="922972"/>
                  </a:lnTo>
                  <a:lnTo>
                    <a:pt x="284797" y="942975"/>
                  </a:lnTo>
                  <a:lnTo>
                    <a:pt x="324802" y="960120"/>
                  </a:lnTo>
                  <a:lnTo>
                    <a:pt x="366712" y="972503"/>
                  </a:lnTo>
                  <a:lnTo>
                    <a:pt x="408622" y="982028"/>
                  </a:lnTo>
                  <a:lnTo>
                    <a:pt x="451485" y="987743"/>
                  </a:lnTo>
                  <a:lnTo>
                    <a:pt x="494347" y="989647"/>
                  </a:lnTo>
                  <a:lnTo>
                    <a:pt x="537210" y="987743"/>
                  </a:lnTo>
                  <a:lnTo>
                    <a:pt x="580072" y="982028"/>
                  </a:lnTo>
                  <a:lnTo>
                    <a:pt x="621982" y="972503"/>
                  </a:lnTo>
                  <a:lnTo>
                    <a:pt x="662940" y="960120"/>
                  </a:lnTo>
                  <a:lnTo>
                    <a:pt x="702945" y="942975"/>
                  </a:lnTo>
                  <a:lnTo>
                    <a:pt x="741997" y="922972"/>
                  </a:lnTo>
                  <a:lnTo>
                    <a:pt x="778192" y="900112"/>
                  </a:lnTo>
                  <a:lnTo>
                    <a:pt x="812482" y="873443"/>
                  </a:lnTo>
                  <a:lnTo>
                    <a:pt x="843915" y="844868"/>
                  </a:lnTo>
                  <a:lnTo>
                    <a:pt x="873442" y="812483"/>
                  </a:lnTo>
                  <a:lnTo>
                    <a:pt x="900112" y="778193"/>
                  </a:lnTo>
                  <a:lnTo>
                    <a:pt x="922972" y="741998"/>
                  </a:lnTo>
                  <a:lnTo>
                    <a:pt x="942975" y="703898"/>
                  </a:lnTo>
                  <a:lnTo>
                    <a:pt x="959167" y="663893"/>
                  </a:lnTo>
                  <a:lnTo>
                    <a:pt x="972502" y="622935"/>
                  </a:lnTo>
                  <a:lnTo>
                    <a:pt x="982027" y="581025"/>
                  </a:lnTo>
                  <a:lnTo>
                    <a:pt x="987742" y="538162"/>
                  </a:lnTo>
                  <a:lnTo>
                    <a:pt x="988695" y="495300"/>
                  </a:lnTo>
                  <a:lnTo>
                    <a:pt x="987742" y="451485"/>
                  </a:lnTo>
                  <a:lnTo>
                    <a:pt x="982980" y="418148"/>
                  </a:lnTo>
                </a:path>
              </a:pathLst>
            </a:custGeom>
            <a:noFill/>
            <a:ln w="38100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2795588" y="4037648"/>
              <a:ext cx="904875" cy="903922"/>
            </a:xfrm>
            <a:custGeom>
              <a:avLst/>
              <a:gdLst/>
              <a:ahLst/>
              <a:cxnLst/>
              <a:rect l="l" t="t" r="r" b="b"/>
              <a:pathLst>
                <a:path w="904875" h="903922">
                  <a:moveTo>
                    <a:pt x="903922" y="442912"/>
                  </a:moveTo>
                  <a:lnTo>
                    <a:pt x="902970" y="412433"/>
                  </a:lnTo>
                  <a:lnTo>
                    <a:pt x="897255" y="373380"/>
                  </a:lnTo>
                  <a:lnTo>
                    <a:pt x="888683" y="334328"/>
                  </a:lnTo>
                  <a:lnTo>
                    <a:pt x="877253" y="297180"/>
                  </a:lnTo>
                  <a:lnTo>
                    <a:pt x="862012" y="260985"/>
                  </a:lnTo>
                  <a:lnTo>
                    <a:pt x="843915" y="225743"/>
                  </a:lnTo>
                  <a:lnTo>
                    <a:pt x="822960" y="192405"/>
                  </a:lnTo>
                  <a:lnTo>
                    <a:pt x="798195" y="160973"/>
                  </a:lnTo>
                  <a:lnTo>
                    <a:pt x="771525" y="132398"/>
                  </a:lnTo>
                  <a:lnTo>
                    <a:pt x="742950" y="105728"/>
                  </a:lnTo>
                  <a:lnTo>
                    <a:pt x="711517" y="81915"/>
                  </a:lnTo>
                  <a:lnTo>
                    <a:pt x="678180" y="60008"/>
                  </a:lnTo>
                  <a:lnTo>
                    <a:pt x="643890" y="42862"/>
                  </a:lnTo>
                  <a:lnTo>
                    <a:pt x="606742" y="27623"/>
                  </a:lnTo>
                  <a:lnTo>
                    <a:pt x="569595" y="15240"/>
                  </a:lnTo>
                  <a:lnTo>
                    <a:pt x="531495" y="6668"/>
                  </a:lnTo>
                  <a:lnTo>
                    <a:pt x="491490" y="1905"/>
                  </a:lnTo>
                  <a:lnTo>
                    <a:pt x="452438" y="0"/>
                  </a:lnTo>
                  <a:lnTo>
                    <a:pt x="413385" y="1905"/>
                  </a:lnTo>
                  <a:lnTo>
                    <a:pt x="374333" y="6668"/>
                  </a:lnTo>
                  <a:lnTo>
                    <a:pt x="335280" y="15240"/>
                  </a:lnTo>
                  <a:lnTo>
                    <a:pt x="298133" y="27623"/>
                  </a:lnTo>
                  <a:lnTo>
                    <a:pt x="261938" y="42862"/>
                  </a:lnTo>
                  <a:lnTo>
                    <a:pt x="226695" y="60008"/>
                  </a:lnTo>
                  <a:lnTo>
                    <a:pt x="193358" y="81915"/>
                  </a:lnTo>
                  <a:lnTo>
                    <a:pt x="161925" y="105728"/>
                  </a:lnTo>
                  <a:lnTo>
                    <a:pt x="133350" y="132398"/>
                  </a:lnTo>
                  <a:lnTo>
                    <a:pt x="106680" y="160973"/>
                  </a:lnTo>
                  <a:lnTo>
                    <a:pt x="82867" y="192405"/>
                  </a:lnTo>
                  <a:lnTo>
                    <a:pt x="60960" y="225743"/>
                  </a:lnTo>
                  <a:lnTo>
                    <a:pt x="42862" y="260985"/>
                  </a:lnTo>
                  <a:lnTo>
                    <a:pt x="27622" y="297180"/>
                  </a:lnTo>
                  <a:lnTo>
                    <a:pt x="16192" y="334328"/>
                  </a:lnTo>
                  <a:lnTo>
                    <a:pt x="7620" y="373380"/>
                  </a:lnTo>
                  <a:lnTo>
                    <a:pt x="2858" y="412433"/>
                  </a:lnTo>
                  <a:lnTo>
                    <a:pt x="0" y="452438"/>
                  </a:lnTo>
                  <a:lnTo>
                    <a:pt x="2858" y="491490"/>
                  </a:lnTo>
                  <a:lnTo>
                    <a:pt x="7620" y="530543"/>
                  </a:lnTo>
                  <a:lnTo>
                    <a:pt x="16192" y="568643"/>
                  </a:lnTo>
                  <a:lnTo>
                    <a:pt x="27622" y="606743"/>
                  </a:lnTo>
                  <a:lnTo>
                    <a:pt x="42862" y="642938"/>
                  </a:lnTo>
                  <a:lnTo>
                    <a:pt x="60960" y="678180"/>
                  </a:lnTo>
                  <a:lnTo>
                    <a:pt x="82867" y="710565"/>
                  </a:lnTo>
                  <a:lnTo>
                    <a:pt x="106680" y="741998"/>
                  </a:lnTo>
                  <a:lnTo>
                    <a:pt x="133350" y="771525"/>
                  </a:lnTo>
                  <a:lnTo>
                    <a:pt x="161925" y="798195"/>
                  </a:lnTo>
                  <a:lnTo>
                    <a:pt x="193358" y="822008"/>
                  </a:lnTo>
                  <a:lnTo>
                    <a:pt x="226695" y="842962"/>
                  </a:lnTo>
                  <a:lnTo>
                    <a:pt x="261938" y="861060"/>
                  </a:lnTo>
                  <a:lnTo>
                    <a:pt x="298133" y="876300"/>
                  </a:lnTo>
                  <a:lnTo>
                    <a:pt x="335280" y="887730"/>
                  </a:lnTo>
                  <a:lnTo>
                    <a:pt x="374333" y="896303"/>
                  </a:lnTo>
                  <a:lnTo>
                    <a:pt x="413385" y="902018"/>
                  </a:lnTo>
                  <a:lnTo>
                    <a:pt x="452438" y="903922"/>
                  </a:lnTo>
                  <a:lnTo>
                    <a:pt x="491490" y="902018"/>
                  </a:lnTo>
                  <a:lnTo>
                    <a:pt x="531495" y="896303"/>
                  </a:lnTo>
                  <a:lnTo>
                    <a:pt x="569595" y="887730"/>
                  </a:lnTo>
                  <a:lnTo>
                    <a:pt x="606742" y="876300"/>
                  </a:lnTo>
                  <a:lnTo>
                    <a:pt x="643890" y="861060"/>
                  </a:lnTo>
                  <a:lnTo>
                    <a:pt x="678180" y="842962"/>
                  </a:lnTo>
                  <a:lnTo>
                    <a:pt x="711517" y="822008"/>
                  </a:lnTo>
                  <a:lnTo>
                    <a:pt x="742950" y="798195"/>
                  </a:lnTo>
                  <a:lnTo>
                    <a:pt x="771525" y="771525"/>
                  </a:lnTo>
                  <a:lnTo>
                    <a:pt x="798195" y="741998"/>
                  </a:lnTo>
                  <a:lnTo>
                    <a:pt x="822960" y="710565"/>
                  </a:lnTo>
                  <a:lnTo>
                    <a:pt x="843915" y="678180"/>
                  </a:lnTo>
                  <a:lnTo>
                    <a:pt x="862012" y="642938"/>
                  </a:lnTo>
                  <a:lnTo>
                    <a:pt x="877253" y="606743"/>
                  </a:lnTo>
                  <a:lnTo>
                    <a:pt x="888683" y="568643"/>
                  </a:lnTo>
                  <a:lnTo>
                    <a:pt x="897255" y="530543"/>
                  </a:lnTo>
                  <a:lnTo>
                    <a:pt x="902970" y="491490"/>
                  </a:lnTo>
                  <a:lnTo>
                    <a:pt x="904875" y="452438"/>
                  </a:lnTo>
                  <a:lnTo>
                    <a:pt x="902970" y="412433"/>
                  </a:lnTo>
                  <a:lnTo>
                    <a:pt x="899160" y="382905"/>
                  </a:lnTo>
                </a:path>
              </a:pathLst>
            </a:custGeom>
            <a:noFill/>
            <a:ln w="38100">
              <a:solidFill>
                <a:srgbClr val="D97706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2676525" y="3917632"/>
              <a:ext cx="1143000" cy="1143000"/>
            </a:xfrm>
            <a:custGeom>
              <a:avLst/>
              <a:gdLst/>
              <a:ahLst/>
              <a:cxnLst/>
              <a:rect l="l" t="t" r="r" b="b"/>
              <a:pathLst>
                <a:path w="1143000" h="1143000">
                  <a:moveTo>
                    <a:pt x="1143000" y="562927"/>
                  </a:moveTo>
                  <a:lnTo>
                    <a:pt x="1141095" y="521970"/>
                  </a:lnTo>
                  <a:lnTo>
                    <a:pt x="1134428" y="472440"/>
                  </a:lnTo>
                  <a:lnTo>
                    <a:pt x="1123950" y="423862"/>
                  </a:lnTo>
                  <a:lnTo>
                    <a:pt x="1108710" y="376238"/>
                  </a:lnTo>
                  <a:lnTo>
                    <a:pt x="1089660" y="330517"/>
                  </a:lnTo>
                  <a:lnTo>
                    <a:pt x="1065847" y="285750"/>
                  </a:lnTo>
                  <a:lnTo>
                    <a:pt x="1040130" y="243840"/>
                  </a:lnTo>
                  <a:lnTo>
                    <a:pt x="1009650" y="204788"/>
                  </a:lnTo>
                  <a:lnTo>
                    <a:pt x="976312" y="167640"/>
                  </a:lnTo>
                  <a:lnTo>
                    <a:pt x="939165" y="134302"/>
                  </a:lnTo>
                  <a:lnTo>
                    <a:pt x="899160" y="103822"/>
                  </a:lnTo>
                  <a:lnTo>
                    <a:pt x="857250" y="77152"/>
                  </a:lnTo>
                  <a:lnTo>
                    <a:pt x="813435" y="54292"/>
                  </a:lnTo>
                  <a:lnTo>
                    <a:pt x="766762" y="34290"/>
                  </a:lnTo>
                  <a:lnTo>
                    <a:pt x="719138" y="20002"/>
                  </a:lnTo>
                  <a:lnTo>
                    <a:pt x="670560" y="8572"/>
                  </a:lnTo>
                  <a:lnTo>
                    <a:pt x="621030" y="1905"/>
                  </a:lnTo>
                  <a:lnTo>
                    <a:pt x="571500" y="0"/>
                  </a:lnTo>
                  <a:lnTo>
                    <a:pt x="521970" y="1905"/>
                  </a:lnTo>
                  <a:lnTo>
                    <a:pt x="472440" y="8572"/>
                  </a:lnTo>
                  <a:lnTo>
                    <a:pt x="423862" y="20002"/>
                  </a:lnTo>
                  <a:lnTo>
                    <a:pt x="376238" y="34290"/>
                  </a:lnTo>
                  <a:lnTo>
                    <a:pt x="329565" y="54292"/>
                  </a:lnTo>
                  <a:lnTo>
                    <a:pt x="285750" y="77152"/>
                  </a:lnTo>
                  <a:lnTo>
                    <a:pt x="243840" y="103822"/>
                  </a:lnTo>
                  <a:lnTo>
                    <a:pt x="204788" y="134302"/>
                  </a:lnTo>
                  <a:lnTo>
                    <a:pt x="167640" y="167640"/>
                  </a:lnTo>
                  <a:lnTo>
                    <a:pt x="133350" y="204788"/>
                  </a:lnTo>
                  <a:lnTo>
                    <a:pt x="102870" y="243840"/>
                  </a:lnTo>
                  <a:lnTo>
                    <a:pt x="77153" y="285750"/>
                  </a:lnTo>
                  <a:lnTo>
                    <a:pt x="53340" y="330517"/>
                  </a:lnTo>
                  <a:lnTo>
                    <a:pt x="34290" y="376238"/>
                  </a:lnTo>
                  <a:lnTo>
                    <a:pt x="19050" y="423862"/>
                  </a:lnTo>
                  <a:lnTo>
                    <a:pt x="8572" y="472440"/>
                  </a:lnTo>
                  <a:lnTo>
                    <a:pt x="1905" y="521970"/>
                  </a:lnTo>
                  <a:lnTo>
                    <a:pt x="0" y="572452"/>
                  </a:lnTo>
                  <a:lnTo>
                    <a:pt x="1905" y="621983"/>
                  </a:lnTo>
                  <a:lnTo>
                    <a:pt x="8572" y="671512"/>
                  </a:lnTo>
                  <a:lnTo>
                    <a:pt x="19050" y="720090"/>
                  </a:lnTo>
                  <a:lnTo>
                    <a:pt x="34290" y="766762"/>
                  </a:lnTo>
                  <a:lnTo>
                    <a:pt x="53340" y="813435"/>
                  </a:lnTo>
                  <a:lnTo>
                    <a:pt x="77153" y="857250"/>
                  </a:lnTo>
                  <a:lnTo>
                    <a:pt x="102870" y="899160"/>
                  </a:lnTo>
                  <a:lnTo>
                    <a:pt x="133350" y="939165"/>
                  </a:lnTo>
                  <a:lnTo>
                    <a:pt x="167640" y="975360"/>
                  </a:lnTo>
                  <a:lnTo>
                    <a:pt x="204788" y="1009650"/>
                  </a:lnTo>
                  <a:lnTo>
                    <a:pt x="243840" y="1040130"/>
                  </a:lnTo>
                  <a:lnTo>
                    <a:pt x="285750" y="1066800"/>
                  </a:lnTo>
                  <a:lnTo>
                    <a:pt x="329565" y="1089660"/>
                  </a:lnTo>
                  <a:lnTo>
                    <a:pt x="376238" y="1108710"/>
                  </a:lnTo>
                  <a:lnTo>
                    <a:pt x="423862" y="1123950"/>
                  </a:lnTo>
                  <a:lnTo>
                    <a:pt x="472440" y="1134427"/>
                  </a:lnTo>
                  <a:lnTo>
                    <a:pt x="521970" y="1141095"/>
                  </a:lnTo>
                  <a:lnTo>
                    <a:pt x="571500" y="1143000"/>
                  </a:lnTo>
                  <a:lnTo>
                    <a:pt x="621030" y="1141095"/>
                  </a:lnTo>
                  <a:lnTo>
                    <a:pt x="670560" y="1134427"/>
                  </a:lnTo>
                  <a:lnTo>
                    <a:pt x="719138" y="1123950"/>
                  </a:lnTo>
                  <a:lnTo>
                    <a:pt x="766762" y="1108710"/>
                  </a:lnTo>
                  <a:lnTo>
                    <a:pt x="813435" y="1089660"/>
                  </a:lnTo>
                  <a:lnTo>
                    <a:pt x="857250" y="1066800"/>
                  </a:lnTo>
                  <a:lnTo>
                    <a:pt x="899160" y="1040130"/>
                  </a:lnTo>
                  <a:lnTo>
                    <a:pt x="939165" y="1009650"/>
                  </a:lnTo>
                  <a:lnTo>
                    <a:pt x="976312" y="975360"/>
                  </a:lnTo>
                  <a:lnTo>
                    <a:pt x="1009650" y="939165"/>
                  </a:lnTo>
                  <a:lnTo>
                    <a:pt x="1040130" y="899160"/>
                  </a:lnTo>
                  <a:lnTo>
                    <a:pt x="1065847" y="857250"/>
                  </a:lnTo>
                  <a:lnTo>
                    <a:pt x="1089660" y="813435"/>
                  </a:lnTo>
                  <a:lnTo>
                    <a:pt x="1108710" y="766762"/>
                  </a:lnTo>
                  <a:lnTo>
                    <a:pt x="1123950" y="720090"/>
                  </a:lnTo>
                  <a:lnTo>
                    <a:pt x="1134428" y="671512"/>
                  </a:lnTo>
                  <a:lnTo>
                    <a:pt x="1141095" y="621983"/>
                  </a:lnTo>
                  <a:lnTo>
                    <a:pt x="1143000" y="572452"/>
                  </a:lnTo>
                  <a:lnTo>
                    <a:pt x="1141095" y="521970"/>
                  </a:lnTo>
                  <a:lnTo>
                    <a:pt x="1135380" y="481965"/>
                  </a:lnTo>
                </a:path>
              </a:pathLst>
            </a:custGeom>
            <a:noFill/>
            <a:ln w="38100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712720" y="3954780"/>
              <a:ext cx="1069658" cy="1069658"/>
            </a:xfrm>
            <a:custGeom>
              <a:avLst/>
              <a:gdLst/>
              <a:ahLst/>
              <a:cxnLst/>
              <a:rect l="l" t="t" r="r" b="b"/>
              <a:pathLst>
                <a:path w="1069658" h="1069658">
                  <a:moveTo>
                    <a:pt x="1069658" y="525780"/>
                  </a:moveTo>
                  <a:lnTo>
                    <a:pt x="1067752" y="488633"/>
                  </a:lnTo>
                  <a:lnTo>
                    <a:pt x="1062038" y="441960"/>
                  </a:lnTo>
                  <a:lnTo>
                    <a:pt x="1051560" y="396240"/>
                  </a:lnTo>
                  <a:lnTo>
                    <a:pt x="1037272" y="351473"/>
                  </a:lnTo>
                  <a:lnTo>
                    <a:pt x="1020127" y="308610"/>
                  </a:lnTo>
                  <a:lnTo>
                    <a:pt x="998220" y="267653"/>
                  </a:lnTo>
                  <a:lnTo>
                    <a:pt x="973455" y="228600"/>
                  </a:lnTo>
                  <a:lnTo>
                    <a:pt x="944880" y="191453"/>
                  </a:lnTo>
                  <a:lnTo>
                    <a:pt x="913447" y="157162"/>
                  </a:lnTo>
                  <a:lnTo>
                    <a:pt x="879158" y="125730"/>
                  </a:lnTo>
                  <a:lnTo>
                    <a:pt x="842010" y="97155"/>
                  </a:lnTo>
                  <a:lnTo>
                    <a:pt x="802958" y="71438"/>
                  </a:lnTo>
                  <a:lnTo>
                    <a:pt x="761047" y="50483"/>
                  </a:lnTo>
                  <a:lnTo>
                    <a:pt x="718185" y="32385"/>
                  </a:lnTo>
                  <a:lnTo>
                    <a:pt x="673417" y="18098"/>
                  </a:lnTo>
                  <a:lnTo>
                    <a:pt x="627697" y="8573"/>
                  </a:lnTo>
                  <a:lnTo>
                    <a:pt x="581977" y="1905"/>
                  </a:lnTo>
                  <a:lnTo>
                    <a:pt x="535305" y="0"/>
                  </a:lnTo>
                  <a:lnTo>
                    <a:pt x="488633" y="1905"/>
                  </a:lnTo>
                  <a:lnTo>
                    <a:pt x="442912" y="8573"/>
                  </a:lnTo>
                  <a:lnTo>
                    <a:pt x="397192" y="18098"/>
                  </a:lnTo>
                  <a:lnTo>
                    <a:pt x="352425" y="32385"/>
                  </a:lnTo>
                  <a:lnTo>
                    <a:pt x="309562" y="50483"/>
                  </a:lnTo>
                  <a:lnTo>
                    <a:pt x="268605" y="71438"/>
                  </a:lnTo>
                  <a:lnTo>
                    <a:pt x="228600" y="97155"/>
                  </a:lnTo>
                  <a:lnTo>
                    <a:pt x="191452" y="125730"/>
                  </a:lnTo>
                  <a:lnTo>
                    <a:pt x="157162" y="157162"/>
                  </a:lnTo>
                  <a:lnTo>
                    <a:pt x="125730" y="191453"/>
                  </a:lnTo>
                  <a:lnTo>
                    <a:pt x="97155" y="228600"/>
                  </a:lnTo>
                  <a:lnTo>
                    <a:pt x="72390" y="267653"/>
                  </a:lnTo>
                  <a:lnTo>
                    <a:pt x="50483" y="308610"/>
                  </a:lnTo>
                  <a:lnTo>
                    <a:pt x="33338" y="351473"/>
                  </a:lnTo>
                  <a:lnTo>
                    <a:pt x="19050" y="396240"/>
                  </a:lnTo>
                  <a:lnTo>
                    <a:pt x="9525" y="441960"/>
                  </a:lnTo>
                  <a:lnTo>
                    <a:pt x="2858" y="488633"/>
                  </a:lnTo>
                  <a:lnTo>
                    <a:pt x="0" y="535305"/>
                  </a:lnTo>
                  <a:lnTo>
                    <a:pt x="2858" y="581025"/>
                  </a:lnTo>
                  <a:lnTo>
                    <a:pt x="9525" y="627698"/>
                  </a:lnTo>
                  <a:lnTo>
                    <a:pt x="19050" y="672465"/>
                  </a:lnTo>
                  <a:lnTo>
                    <a:pt x="33338" y="717233"/>
                  </a:lnTo>
                  <a:lnTo>
                    <a:pt x="50483" y="761048"/>
                  </a:lnTo>
                  <a:lnTo>
                    <a:pt x="72390" y="802005"/>
                  </a:lnTo>
                  <a:lnTo>
                    <a:pt x="97155" y="841058"/>
                  </a:lnTo>
                  <a:lnTo>
                    <a:pt x="125730" y="878205"/>
                  </a:lnTo>
                  <a:lnTo>
                    <a:pt x="157162" y="912495"/>
                  </a:lnTo>
                  <a:lnTo>
                    <a:pt x="191452" y="943927"/>
                  </a:lnTo>
                  <a:lnTo>
                    <a:pt x="228600" y="972502"/>
                  </a:lnTo>
                  <a:lnTo>
                    <a:pt x="268605" y="997267"/>
                  </a:lnTo>
                  <a:lnTo>
                    <a:pt x="309562" y="1019175"/>
                  </a:lnTo>
                  <a:lnTo>
                    <a:pt x="352425" y="1037273"/>
                  </a:lnTo>
                  <a:lnTo>
                    <a:pt x="397192" y="1050608"/>
                  </a:lnTo>
                  <a:lnTo>
                    <a:pt x="442912" y="1061085"/>
                  </a:lnTo>
                  <a:lnTo>
                    <a:pt x="488633" y="1067752"/>
                  </a:lnTo>
                  <a:lnTo>
                    <a:pt x="535305" y="1069658"/>
                  </a:lnTo>
                  <a:lnTo>
                    <a:pt x="581977" y="1067752"/>
                  </a:lnTo>
                  <a:lnTo>
                    <a:pt x="627697" y="1061085"/>
                  </a:lnTo>
                  <a:lnTo>
                    <a:pt x="673417" y="1050608"/>
                  </a:lnTo>
                  <a:lnTo>
                    <a:pt x="718185" y="1037273"/>
                  </a:lnTo>
                  <a:lnTo>
                    <a:pt x="761047" y="1019175"/>
                  </a:lnTo>
                  <a:lnTo>
                    <a:pt x="802958" y="997267"/>
                  </a:lnTo>
                  <a:lnTo>
                    <a:pt x="842010" y="972502"/>
                  </a:lnTo>
                  <a:lnTo>
                    <a:pt x="879158" y="943927"/>
                  </a:lnTo>
                  <a:lnTo>
                    <a:pt x="913447" y="912495"/>
                  </a:lnTo>
                  <a:lnTo>
                    <a:pt x="944880" y="878205"/>
                  </a:lnTo>
                  <a:lnTo>
                    <a:pt x="973455" y="841058"/>
                  </a:lnTo>
                  <a:lnTo>
                    <a:pt x="998220" y="802005"/>
                  </a:lnTo>
                  <a:lnTo>
                    <a:pt x="1020127" y="761048"/>
                  </a:lnTo>
                  <a:lnTo>
                    <a:pt x="1037272" y="717233"/>
                  </a:lnTo>
                  <a:lnTo>
                    <a:pt x="1051560" y="672465"/>
                  </a:lnTo>
                  <a:lnTo>
                    <a:pt x="1062038" y="627698"/>
                  </a:lnTo>
                  <a:lnTo>
                    <a:pt x="1067752" y="581025"/>
                  </a:lnTo>
                  <a:lnTo>
                    <a:pt x="1069658" y="535305"/>
                  </a:lnTo>
                  <a:lnTo>
                    <a:pt x="1067752" y="488633"/>
                  </a:lnTo>
                  <a:lnTo>
                    <a:pt x="1062990" y="451485"/>
                  </a:lnTo>
                </a:path>
              </a:pathLst>
            </a:custGeom>
            <a:noFill/>
            <a:ln w="38100">
              <a:solidFill>
                <a:srgbClr val="D97706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3200400" y="444150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4297" y="39052"/>
                  </a:moveTo>
                  <a:lnTo>
                    <a:pt x="94297" y="35242"/>
                  </a:lnTo>
                  <a:lnTo>
                    <a:pt x="88583" y="23812"/>
                  </a:lnTo>
                  <a:lnTo>
                    <a:pt x="80962" y="14288"/>
                  </a:lnTo>
                  <a:lnTo>
                    <a:pt x="71438" y="6667"/>
                  </a:lnTo>
                  <a:lnTo>
                    <a:pt x="60008" y="1905"/>
                  </a:lnTo>
                  <a:lnTo>
                    <a:pt x="47625" y="0"/>
                  </a:lnTo>
                  <a:lnTo>
                    <a:pt x="35242" y="1905"/>
                  </a:lnTo>
                  <a:lnTo>
                    <a:pt x="23812" y="6667"/>
                  </a:lnTo>
                  <a:lnTo>
                    <a:pt x="13335" y="14288"/>
                  </a:lnTo>
                  <a:lnTo>
                    <a:pt x="5715" y="23812"/>
                  </a:lnTo>
                  <a:lnTo>
                    <a:pt x="1905" y="35242"/>
                  </a:lnTo>
                  <a:lnTo>
                    <a:pt x="0" y="48577"/>
                  </a:lnTo>
                  <a:lnTo>
                    <a:pt x="1905" y="60008"/>
                  </a:lnTo>
                  <a:lnTo>
                    <a:pt x="5715" y="71438"/>
                  </a:lnTo>
                  <a:lnTo>
                    <a:pt x="13335" y="81915"/>
                  </a:lnTo>
                  <a:lnTo>
                    <a:pt x="23812" y="89535"/>
                  </a:lnTo>
                  <a:lnTo>
                    <a:pt x="35242" y="94297"/>
                  </a:lnTo>
                  <a:lnTo>
                    <a:pt x="47625" y="95250"/>
                  </a:lnTo>
                  <a:lnTo>
                    <a:pt x="60008" y="94297"/>
                  </a:lnTo>
                  <a:lnTo>
                    <a:pt x="71438" y="89535"/>
                  </a:lnTo>
                  <a:lnTo>
                    <a:pt x="80962" y="81915"/>
                  </a:lnTo>
                  <a:lnTo>
                    <a:pt x="88583" y="71438"/>
                  </a:lnTo>
                  <a:lnTo>
                    <a:pt x="94297" y="60008"/>
                  </a:lnTo>
                  <a:lnTo>
                    <a:pt x="95250" y="48577"/>
                  </a:lnTo>
                  <a:lnTo>
                    <a:pt x="94297" y="35242"/>
                  </a:lnTo>
                  <a:lnTo>
                    <a:pt x="92392" y="32385"/>
                  </a:lnTo>
                </a:path>
              </a:pathLst>
            </a:custGeom>
            <a:noFill/>
            <a:ln w="95250">
              <a:solidFill>
                <a:srgbClr val="1F2937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763072" y="3479482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平板玻璃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979217" y="259889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平凸透镜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319462" y="2127885"/>
              <a:ext cx="153383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R（曲率中心在很远的上方）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08399" y="38466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294274" y="32513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69682" y="4432935"/>
              <a:ext cx="12211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反射光俯视：中心暗斑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05262" y="443293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内疏外密</a:t>
              </a:r>
            </a:p>
          </p:txBody>
        </p:sp>
      </p:grpSp>
      <p:grpSp>
        <p:nvGrpSpPr>
          <p:cNvPr id="51" name="c2-steps-1"/>
          <p:cNvGrpSpPr/>
          <p:nvPr/>
        </p:nvGrpSpPr>
        <p:grpSpPr>
          <a:xfrm>
            <a:off x="6248400" y="1533525"/>
            <a:ext cx="5006315" cy="2529173"/>
            <a:chOff x="6248400" y="1533525"/>
            <a:chExt cx="5006315" cy="2529173"/>
          </a:xfrm>
        </p:grpSpPr>
        <p:sp>
          <p:nvSpPr>
            <p:cNvPr id="34" name="Rectangle 34"/>
            <p:cNvSpPr/>
            <p:nvPr/>
          </p:nvSpPr>
          <p:spPr>
            <a:xfrm>
              <a:off x="638175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24840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42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24840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42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248400" y="34861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42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59880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61023" y="1861661"/>
              <a:ext cx="44274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r² = R² − (R − e)² = 2Re − e² ≈ 2Re，所以 e = r²/(2R)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59880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光程差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61023" y="2512219"/>
              <a:ext cx="39521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透镜与平板间的空气膜，δ = 2e + λ/2 = r²/R + λ/2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59880" y="28689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暗环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61023" y="3162776"/>
              <a:ext cx="45936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r²/R = kλ，r = √(kRλ)，k = 0, 1, 2, …，k = 0 是中心暗斑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59880" y="352044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明环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61023" y="3813334"/>
              <a:ext cx="26107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= √((k − 1/2)Rλ)，k = 1, 2, …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6248400" y="4241482"/>
            <a:ext cx="5410200" cy="1365885"/>
            <a:chOff x="6248400" y="4241482"/>
            <a:chExt cx="5410200" cy="1365885"/>
          </a:xfrm>
        </p:grpSpPr>
        <p:sp>
          <p:nvSpPr>
            <p:cNvPr id="52" name="Rectangle 52"/>
            <p:cNvSpPr/>
            <p:nvPr/>
          </p:nvSpPr>
          <p:spPr>
            <a:xfrm>
              <a:off x="6248400" y="4241482"/>
              <a:ext cx="5410200" cy="1365885"/>
            </a:xfrm>
            <a:prstGeom prst="roundRect">
              <a:avLst>
                <a:gd name="adj" fmla="val 9763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457950" y="4451032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540259" y="448675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两点结论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463665" y="4891088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621780" y="4828222"/>
              <a:ext cx="33874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相邻暗环半径 √k 地增加，越往外越密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463665" y="5226368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621780" y="5163502"/>
              <a:ext cx="45833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充入折射率 n 的液体：暗环 r = √(kRλ/n)，环缩小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0" name="Rectangle 6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130" y="5991225"/>
              <a:ext cx="91222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牛顿环也是等厚干涉。劈尖厚度随位置线性增加，条纹等间距；牛顿环厚度 e ∝ r²，条纹越往外越密。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牛顿环与迈克耳孙干涉仪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例（补充）用牛顿环测透镜的曲率半径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869180" cy="1768792"/>
            <a:chOff x="533400" y="1524000"/>
            <a:chExt cx="4869180" cy="17687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1768792"/>
            </a:xfrm>
            <a:prstGeom prst="roundRect">
              <a:avLst>
                <a:gd name="adj" fmla="val 75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0209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9346" y="175069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414566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用钠黄光 λ = 589.3 nm 观察牛顿环，测得第 k 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暗环半径 rₖ = 4.00 mm，第 k + 5 级暗环半径 6.00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mm。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889885"/>
              <a:ext cx="20791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透镜曲率半径 R 与 k。</a:t>
              </a:r>
            </a:p>
          </p:txBody>
        </p:sp>
      </p:grpSp>
      <p:grpSp>
        <p:nvGrpSpPr>
          <p:cNvPr id="42" name="c1-table-2"/>
          <p:cNvGrpSpPr/>
          <p:nvPr/>
        </p:nvGrpSpPr>
        <p:grpSpPr>
          <a:xfrm>
            <a:off x="533400" y="3468052"/>
            <a:ext cx="4869180" cy="2434590"/>
            <a:chOff x="533400" y="3468052"/>
            <a:chExt cx="4869180" cy="2434590"/>
          </a:xfrm>
        </p:grpSpPr>
        <p:sp>
          <p:nvSpPr>
            <p:cNvPr id="14" name="Rectangle 14"/>
            <p:cNvSpPr/>
            <p:nvPr/>
          </p:nvSpPr>
          <p:spPr>
            <a:xfrm>
              <a:off x="533400" y="3468052"/>
              <a:ext cx="4869180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5144" y="359235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21597" y="3592354"/>
              <a:ext cx="12259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rₖ = √(kRλ)/mm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895700" y="359235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与上一环的距离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3412" y="39981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15402" y="399811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2.000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54730" y="399811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2.000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274820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4279582"/>
              <a:ext cx="486918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3412" y="44038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315402" y="440388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2.828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554730" y="440388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0.828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68058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412" y="48096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15402" y="480964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3.464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554730" y="480964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0.636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5086350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5091112"/>
              <a:ext cx="486918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3412" y="521541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15402" y="521541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4.000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554730" y="521541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0.536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549211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3412" y="56211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315402" y="562117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554730" y="562117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3468052"/>
              <a:ext cx="4869180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210628" y="3468052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3449955" y="3468052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steps-1"/>
          <p:cNvGrpSpPr/>
          <p:nvPr/>
        </p:nvGrpSpPr>
        <p:grpSpPr>
          <a:xfrm>
            <a:off x="5707380" y="1533525"/>
            <a:ext cx="4155770" cy="2279809"/>
            <a:chOff x="5707380" y="1533525"/>
            <a:chExt cx="4155770" cy="2279809"/>
          </a:xfrm>
        </p:grpSpPr>
        <p:sp>
          <p:nvSpPr>
            <p:cNvPr id="43" name="Rectangle 43"/>
            <p:cNvSpPr/>
            <p:nvPr/>
          </p:nvSpPr>
          <p:spPr>
            <a:xfrm>
              <a:off x="5840730" y="1676400"/>
              <a:ext cx="19050" cy="176117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570738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80100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707380" y="212026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801004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5707380" y="270700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801004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5707380" y="329469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801004" y="33685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119622" y="1564957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列两个方程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120765" y="1833086"/>
              <a:ext cx="21194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rₖ² = kRλ，rₖ₊₅² = (k + 5)Rλ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119622" y="2152650"/>
              <a:ext cx="902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相减消去 k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120765" y="2419826"/>
              <a:ext cx="128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rₖ₊₅² − rₖ² = 5Rλ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119622" y="2739390"/>
              <a:ext cx="3668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R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120765" y="3006566"/>
              <a:ext cx="3575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= (36 − 16)×10⁻⁶/(5 × 589.3×10⁻⁹) m ≈ 6.79 m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119622" y="3326130"/>
              <a:ext cx="3576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k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120765" y="3593306"/>
              <a:ext cx="3742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rₖ²/(Rλ) = 16×10⁻⁶/(6.79 × 589.3×10⁻⁹) = 4.0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5707380" y="3982402"/>
            <a:ext cx="5951220" cy="952500"/>
            <a:chOff x="5707380" y="3982402"/>
            <a:chExt cx="5951220" cy="952500"/>
          </a:xfrm>
        </p:grpSpPr>
        <p:sp>
          <p:nvSpPr>
            <p:cNvPr id="61" name="Rectangle 61"/>
            <p:cNvSpPr/>
            <p:nvPr/>
          </p:nvSpPr>
          <p:spPr>
            <a:xfrm>
              <a:off x="5707380" y="3982402"/>
              <a:ext cx="5951220" cy="952500"/>
            </a:xfrm>
            <a:prstGeom prst="roundRect">
              <a:avLst>
                <a:gd name="adj" fmla="val 14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5899785" y="4174808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995226" y="420909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892927" y="4531995"/>
              <a:ext cx="37647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 ≈ 6.79 m，k = 4（第 4 级与第 9 级暗环）。</a:t>
              </a:r>
            </a:p>
          </p:txBody>
        </p:sp>
      </p:grpSp>
      <p:grpSp>
        <p:nvGrpSpPr>
          <p:cNvPr id="71" name="c2-card-3"/>
          <p:cNvGrpSpPr/>
          <p:nvPr/>
        </p:nvGrpSpPr>
        <p:grpSpPr>
          <a:xfrm>
            <a:off x="5707380" y="5110162"/>
            <a:ext cx="5951220" cy="1209675"/>
            <a:chOff x="5707380" y="5110162"/>
            <a:chExt cx="5951220" cy="1209675"/>
          </a:xfrm>
        </p:grpSpPr>
        <p:sp>
          <p:nvSpPr>
            <p:cNvPr id="66" name="Rectangle 66"/>
            <p:cNvSpPr/>
            <p:nvPr/>
          </p:nvSpPr>
          <p:spPr>
            <a:xfrm>
              <a:off x="5707380" y="5110162"/>
              <a:ext cx="5951220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5716905" y="5243512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5937885" y="5302568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005322" y="5336858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为什么用两环之差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5931027" y="5658802"/>
              <a:ext cx="525151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透镜与平板接触处常有灰尘或形变，中心不是理想的 e = 0，也不容易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认准第几级。用半径平方之差，这两种误差都消掉了。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51115" cy="909257"/>
            <a:chOff x="520446" y="342900"/>
            <a:chExt cx="725111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牛顿环与迈克耳孙干涉仪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5111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迈克耳孙干涉仪：动镜移动 λ/2，条纹移过一条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g_michelson"/>
          <p:cNvGrpSpPr/>
          <p:nvPr/>
        </p:nvGrpSpPr>
        <p:grpSpPr>
          <a:xfrm>
            <a:off x="1140142" y="1983581"/>
            <a:ext cx="4314826" cy="3006090"/>
            <a:chOff x="1140142" y="1983581"/>
            <a:chExt cx="4314826" cy="3006090"/>
          </a:xfrm>
        </p:grpSpPr>
        <p:sp>
          <p:nvSpPr>
            <p:cNvPr id="7" name="Freeform 7"/>
            <p:cNvSpPr/>
            <p:nvPr/>
          </p:nvSpPr>
          <p:spPr>
            <a:xfrm>
              <a:off x="2687955" y="3407092"/>
              <a:ext cx="557212" cy="556260"/>
            </a:xfrm>
            <a:custGeom>
              <a:avLst/>
              <a:gdLst/>
              <a:ahLst/>
              <a:cxnLst/>
              <a:rect l="l" t="t" r="r" b="b"/>
              <a:pathLst>
                <a:path w="557212" h="556260">
                  <a:moveTo>
                    <a:pt x="0" y="556260"/>
                  </a:moveTo>
                  <a:lnTo>
                    <a:pt x="557212" y="0"/>
                  </a:lnTo>
                </a:path>
              </a:pathLst>
            </a:custGeom>
            <a:noFill/>
            <a:ln w="47625">
              <a:solidFill>
                <a:srgbClr val="2F4B9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609975" y="3407092"/>
              <a:ext cx="556260" cy="556260"/>
            </a:xfrm>
            <a:custGeom>
              <a:avLst/>
              <a:gdLst/>
              <a:ahLst/>
              <a:cxnLst/>
              <a:rect l="l" t="t" r="r" b="b"/>
              <a:pathLst>
                <a:path w="556260" h="556260">
                  <a:moveTo>
                    <a:pt x="0" y="556260"/>
                  </a:moveTo>
                  <a:lnTo>
                    <a:pt x="556260" y="0"/>
                  </a:lnTo>
                </a:path>
              </a:pathLst>
            </a:custGeom>
            <a:noFill/>
            <a:ln w="47625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5313998" y="3275648"/>
              <a:ext cx="9525" cy="819150"/>
            </a:xfrm>
            <a:custGeom>
              <a:avLst/>
              <a:gdLst/>
              <a:ahLst/>
              <a:cxnLst/>
              <a:rect l="l" t="t" r="r" b="b"/>
              <a:pathLst>
                <a:path w="9525" h="819150">
                  <a:moveTo>
                    <a:pt x="0" y="0"/>
                  </a:moveTo>
                  <a:lnTo>
                    <a:pt x="0" y="81915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5083492" y="4221480"/>
              <a:ext cx="276225" cy="9525"/>
            </a:xfrm>
            <a:custGeom>
              <a:avLst/>
              <a:gdLst/>
              <a:ahLst/>
              <a:cxnLst/>
              <a:rect l="l" t="t" r="r" b="b"/>
              <a:pathLst>
                <a:path w="276225" h="9525">
                  <a:moveTo>
                    <a:pt x="276225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988242" y="417385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5359718" y="417385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556510" y="2050732"/>
              <a:ext cx="819150" cy="9525"/>
            </a:xfrm>
            <a:custGeom>
              <a:avLst/>
              <a:gdLst/>
              <a:ahLst/>
              <a:cxnLst/>
              <a:rect l="l" t="t" r="r" b="b"/>
              <a:pathLst>
                <a:path w="819150" h="9525">
                  <a:moveTo>
                    <a:pt x="0" y="0"/>
                  </a:moveTo>
                  <a:lnTo>
                    <a:pt x="819150" y="0"/>
                  </a:lnTo>
                </a:path>
              </a:pathLst>
            </a:custGeom>
            <a:noFill/>
            <a:ln w="4762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129212" y="3275648"/>
              <a:ext cx="9525" cy="819150"/>
            </a:xfrm>
            <a:custGeom>
              <a:avLst/>
              <a:gdLst/>
              <a:ahLst/>
              <a:cxnLst/>
              <a:rect l="l" t="t" r="r" b="b"/>
              <a:pathLst>
                <a:path w="9525" h="819150">
                  <a:moveTo>
                    <a:pt x="0" y="0"/>
                  </a:moveTo>
                  <a:lnTo>
                    <a:pt x="0" y="819150"/>
                  </a:lnTo>
                </a:path>
              </a:pathLst>
            </a:custGeom>
            <a:noFill/>
            <a:ln w="19050">
              <a:solidFill>
                <a:srgbClr val="5B6475"/>
              </a:solidFill>
              <a:custDash>
                <a:ds d="300000" sp="200000"/>
              </a:custDash>
            </a:ln>
          </p:spPr>
        </p:sp>
        <p:sp>
          <p:nvSpPr>
            <p:cNvPr id="15" name="Freeform 15"/>
            <p:cNvSpPr/>
            <p:nvPr/>
          </p:nvSpPr>
          <p:spPr>
            <a:xfrm>
              <a:off x="1283018" y="3685222"/>
              <a:ext cx="1544955" cy="9525"/>
            </a:xfrm>
            <a:custGeom>
              <a:avLst/>
              <a:gdLst/>
              <a:ahLst/>
              <a:cxnLst/>
              <a:rect l="l" t="t" r="r" b="b"/>
              <a:pathLst>
                <a:path w="1544955" h="9525">
                  <a:moveTo>
                    <a:pt x="0" y="0"/>
                  </a:moveTo>
                  <a:lnTo>
                    <a:pt x="1544955" y="0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827972" y="363759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009900" y="3634740"/>
              <a:ext cx="2165032" cy="9525"/>
            </a:xfrm>
            <a:custGeom>
              <a:avLst/>
              <a:gdLst/>
              <a:ahLst/>
              <a:cxnLst/>
              <a:rect l="l" t="t" r="r" b="b"/>
              <a:pathLst>
                <a:path w="2165032" h="9525">
                  <a:moveTo>
                    <a:pt x="0" y="0"/>
                  </a:moveTo>
                  <a:lnTo>
                    <a:pt x="2165032" y="0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174932" y="35871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3105150" y="3734752"/>
              <a:ext cx="2165032" cy="9525"/>
            </a:xfrm>
            <a:custGeom>
              <a:avLst/>
              <a:gdLst/>
              <a:ahLst/>
              <a:cxnLst/>
              <a:rect l="l" t="t" r="r" b="b"/>
              <a:pathLst>
                <a:path w="2165032" h="9525">
                  <a:moveTo>
                    <a:pt x="2165032" y="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B42318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009900" y="368712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2916555" y="2188845"/>
              <a:ext cx="9525" cy="1452562"/>
            </a:xfrm>
            <a:custGeom>
              <a:avLst/>
              <a:gdLst/>
              <a:ahLst/>
              <a:cxnLst/>
              <a:rect l="l" t="t" r="r" b="b"/>
              <a:pathLst>
                <a:path w="9525" h="1452562">
                  <a:moveTo>
                    <a:pt x="0" y="1452562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2868930" y="209359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3016568" y="2093595"/>
              <a:ext cx="9525" cy="1452562"/>
            </a:xfrm>
            <a:custGeom>
              <a:avLst/>
              <a:gdLst/>
              <a:ahLst/>
              <a:cxnLst/>
              <a:rect l="l" t="t" r="r" b="b"/>
              <a:pathLst>
                <a:path w="9525" h="1452562">
                  <a:moveTo>
                    <a:pt x="0" y="0"/>
                  </a:moveTo>
                  <a:lnTo>
                    <a:pt x="0" y="1452562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968942" y="35461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2966085" y="3761422"/>
              <a:ext cx="9525" cy="966788"/>
            </a:xfrm>
            <a:custGeom>
              <a:avLst/>
              <a:gdLst/>
              <a:ahLst/>
              <a:cxnLst/>
              <a:rect l="l" t="t" r="r" b="b"/>
              <a:pathLst>
                <a:path w="9525" h="966788">
                  <a:moveTo>
                    <a:pt x="0" y="0"/>
                  </a:moveTo>
                  <a:lnTo>
                    <a:pt x="0" y="966788"/>
                  </a:lnTo>
                </a:path>
              </a:pathLst>
            </a:custGeom>
            <a:noFill/>
            <a:ln w="22860">
              <a:solidFill>
                <a:srgbClr val="2F4B9A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2918460" y="47282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2F4B9A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1140142" y="3618548"/>
              <a:ext cx="133350" cy="1333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161614" y="3434239"/>
              <a:ext cx="904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123421" y="4081939"/>
              <a:ext cx="5121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G₁ 分光板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32032" y="4081939"/>
              <a:ext cx="5121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G₂ 补偿板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247245" y="308181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51260" y="4297204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可移动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436542" y="198358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849619" y="3087052"/>
              <a:ext cx="25819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M₂′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79432" y="4827746"/>
              <a:ext cx="33440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观察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146092" y="3442811"/>
              <a:ext cx="3241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光束 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361918" y="2746534"/>
              <a:ext cx="3241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光束 2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6464618" y="1524000"/>
            <a:ext cx="5193982" cy="1700212"/>
            <a:chOff x="6464618" y="1524000"/>
            <a:chExt cx="5193982" cy="1700212"/>
          </a:xfrm>
        </p:grpSpPr>
        <p:sp>
          <p:nvSpPr>
            <p:cNvPr id="39" name="Rectangle 39"/>
            <p:cNvSpPr/>
            <p:nvPr/>
          </p:nvSpPr>
          <p:spPr>
            <a:xfrm>
              <a:off x="6464618" y="1524000"/>
              <a:ext cx="5193982" cy="1700212"/>
            </a:xfrm>
            <a:prstGeom prst="roundRect">
              <a:avLst>
                <a:gd name="adj" fmla="val 78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74142" y="1657350"/>
              <a:ext cx="47625" cy="143351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689408" y="1710690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770878" y="17435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结构与光路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82549" y="2054542"/>
              <a:ext cx="4565714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光源 S 的光被分光板 G₁（背面镀半透半反膜）分成两束，分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别射向互相垂直的 M₁、M₂，反射回来后在 E 处相遇干涉。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补偿板 G₂ 与 G₁ 同材料同厚度，使两束光穿过玻璃的次数相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同。</a:t>
              </a:r>
            </a:p>
          </p:txBody>
        </p:sp>
      </p:grpSp>
      <p:grpSp>
        <p:nvGrpSpPr>
          <p:cNvPr id="51" name="c2-card-2"/>
          <p:cNvGrpSpPr/>
          <p:nvPr/>
        </p:nvGrpSpPr>
        <p:grpSpPr>
          <a:xfrm>
            <a:off x="6464618" y="3393758"/>
            <a:ext cx="5193982" cy="2032635"/>
            <a:chOff x="6464618" y="3393758"/>
            <a:chExt cx="5193982" cy="2032635"/>
          </a:xfrm>
        </p:grpSpPr>
        <p:sp>
          <p:nvSpPr>
            <p:cNvPr id="45" name="Rectangle 45"/>
            <p:cNvSpPr/>
            <p:nvPr/>
          </p:nvSpPr>
          <p:spPr>
            <a:xfrm>
              <a:off x="6464618" y="3393758"/>
              <a:ext cx="5193982" cy="2032635"/>
            </a:xfrm>
            <a:prstGeom prst="roundRect">
              <a:avLst>
                <a:gd name="adj" fmla="val 656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651308" y="358044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36829" y="361330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两个公式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44449" y="3925252"/>
              <a:ext cx="46085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M₂ 经 G₁ 成像为 M₂′，相当于 M₁ 与 M₂′ 之间的空气薄膜。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M₁ 移动 Δd，光程差变化 2Δd，每变一个 λ 移过一条条纹：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formula83"/>
                <p:cNvSpPr txBox="1">
                  <a:spLocks noGrp="1"/>
                </p:cNvSpPr>
                <p:nvPr/>
              </p:nvSpPr>
              <p:spPr>
                <a:xfrm>
                  <a:off x="6651308" y="4459605"/>
                  <a:ext cx="4820602" cy="4629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Δ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num>
                          <m:den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t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Nλ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50" name="TextBox 50"/>
            <p:cNvSpPr txBox="1"/>
            <p:nvPr/>
          </p:nvSpPr>
          <p:spPr>
            <a:xfrm>
              <a:off x="6644449" y="50292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右式是在一臂插入厚 t、折射率 n 的薄片，光来回穿过两次。</a:t>
              </a:r>
            </a:p>
          </p:txBody>
        </p:sp>
      </p:grpSp>
      <p:grpSp>
        <p:nvGrpSpPr>
          <p:cNvPr id="58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2" name="Rectangle 52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40892" y="6028373"/>
              <a:ext cx="89695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M₁ 与 M₂′ 严格平行时看到等倾圆环，稍有夹角时看到劈尖式的等厚直条纹。数条纹能测出比波长还小的位移。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牛顿环与迈克耳孙干涉仪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例（补充）迈克耳孙干涉仪测波长与膜厚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869180" cy="1937385"/>
            <a:chOff x="533400" y="1524000"/>
            <a:chExt cx="4869180" cy="19373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6160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1681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① 动镜移动 0.322 mm，数得 1024 条条纹移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过；② 换用 λ = 589 nm 的光，在一臂插入 n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1.40 的薄膜，看到 7 条条纹移过。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3017520"/>
              <a:ext cx="28119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① 光的波长；② 薄膜厚度 t。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651885"/>
            <a:ext cx="4869180" cy="1651635"/>
            <a:chOff x="533400" y="3651885"/>
            <a:chExt cx="4869180" cy="1651635"/>
          </a:xfrm>
        </p:grpSpPr>
        <p:sp>
          <p:nvSpPr>
            <p:cNvPr id="14" name="Rectangle 14"/>
            <p:cNvSpPr/>
            <p:nvPr/>
          </p:nvSpPr>
          <p:spPr>
            <a:xfrm>
              <a:off x="533400" y="3651885"/>
              <a:ext cx="4869180" cy="1651635"/>
            </a:xfrm>
            <a:prstGeom prst="roundRect">
              <a:avLst>
                <a:gd name="adj" fmla="val 8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785235"/>
              <a:ext cx="47625" cy="13849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8614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71258" y="38971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检验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43014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4238625"/>
              <a:ext cx="31754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628.9 nm 是红光，在可见光范围内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463677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4573905"/>
              <a:ext cx="35394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× 0.40 × 5.15 μm = 4.12 μm，等于 7 ×</a:t>
              </a:r>
              <a:br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0.589 μm</a:t>
              </a:r>
            </a:p>
          </p:txBody>
        </p:sp>
      </p:grpSp>
      <p:grpSp>
        <p:nvGrpSpPr>
          <p:cNvPr id="40" name="c2-steps-1"/>
          <p:cNvGrpSpPr/>
          <p:nvPr/>
        </p:nvGrpSpPr>
        <p:grpSpPr>
          <a:xfrm>
            <a:off x="5707380" y="1533525"/>
            <a:ext cx="5043663" cy="2529173"/>
            <a:chOff x="5707380" y="1533525"/>
            <a:chExt cx="5043663" cy="2529173"/>
          </a:xfrm>
        </p:grpSpPr>
        <p:sp>
          <p:nvSpPr>
            <p:cNvPr id="23" name="Rectangle 23"/>
            <p:cNvSpPr/>
            <p:nvPr/>
          </p:nvSpPr>
          <p:spPr>
            <a:xfrm>
              <a:off x="584073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570738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80100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70738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80100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70738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80100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707380" y="34861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0100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1886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动镜移动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120003" y="1861661"/>
              <a:ext cx="26526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光往返两次，光程差变化 2Δd = Nλ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118860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求波长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20003" y="2512219"/>
              <a:ext cx="42791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 = 2Δd/N = 2 × 0.322×10⁻³/1024 m ≈ 6.289×10⁻⁷ m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18860" y="28689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插入薄膜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20003" y="3162776"/>
              <a:ext cx="38209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光来回穿过薄膜两次，光程差增加 2(n − 1)t = Nλ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118860" y="352044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求厚度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120003" y="3813334"/>
              <a:ext cx="46310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 = Nλ/[2(n − 1)] = 7 × 589×10⁻⁹/0.80 m ≈ 5.15×10⁻⁶ m</a:t>
              </a:r>
            </a:p>
          </p:txBody>
        </p:sp>
      </p:grpSp>
      <p:grpSp>
        <p:nvGrpSpPr>
          <p:cNvPr id="45" name="c2-card-2"/>
          <p:cNvGrpSpPr/>
          <p:nvPr/>
        </p:nvGrpSpPr>
        <p:grpSpPr>
          <a:xfrm>
            <a:off x="5707380" y="4241482"/>
            <a:ext cx="5951220" cy="1062038"/>
            <a:chOff x="5707380" y="4241482"/>
            <a:chExt cx="5951220" cy="1062038"/>
          </a:xfrm>
        </p:grpSpPr>
        <p:sp>
          <p:nvSpPr>
            <p:cNvPr id="41" name="Rectangle 41"/>
            <p:cNvSpPr/>
            <p:nvPr/>
          </p:nvSpPr>
          <p:spPr>
            <a:xfrm>
              <a:off x="5707380" y="4241482"/>
              <a:ext cx="5951220" cy="1062038"/>
            </a:xfrm>
            <a:prstGeom prst="roundRect">
              <a:avLst>
                <a:gd name="adj" fmla="val 12556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916930" y="4451032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12040" y="448675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909310" y="4828222"/>
              <a:ext cx="30946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① λ ≈ 628.9 nm；② t ≈ 5.15 μm。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6" name="Rectangle 4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130" y="5991225"/>
              <a:ext cx="99098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迈克耳孙干涉仪里光在每一臂都走一个来回，所以动镜位移和膜厚都要乘 2；忘了乘 2 是这类题最常见的错误。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 · 牛顿环与迈克耳孙干涉仪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干涉题的通用步骤与公式汇总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flow-1"/>
          <p:cNvGrpSpPr/>
          <p:nvPr/>
        </p:nvGrpSpPr>
        <p:grpSpPr>
          <a:xfrm>
            <a:off x="851535" y="1788795"/>
            <a:ext cx="3908108" cy="4309110"/>
            <a:chOff x="851535" y="1788795"/>
            <a:chExt cx="3908108" cy="4309110"/>
          </a:xfrm>
        </p:grpSpPr>
        <p:sp>
          <p:nvSpPr>
            <p:cNvPr id="7" name="Freeform 7"/>
            <p:cNvSpPr/>
            <p:nvPr/>
          </p:nvSpPr>
          <p:spPr>
            <a:xfrm>
              <a:off x="2806065" y="2226945"/>
              <a:ext cx="9525" cy="424815"/>
            </a:xfrm>
            <a:custGeom>
              <a:avLst/>
              <a:gdLst/>
              <a:ahLst/>
              <a:cxnLst/>
              <a:rect l="l" t="t" r="r" b="b"/>
              <a:pathLst>
                <a:path w="9525" h="424815">
                  <a:moveTo>
                    <a:pt x="0" y="0"/>
                  </a:moveTo>
                  <a:lnTo>
                    <a:pt x="0" y="4248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753678" y="26517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806065" y="3194685"/>
              <a:ext cx="9525" cy="424815"/>
            </a:xfrm>
            <a:custGeom>
              <a:avLst/>
              <a:gdLst/>
              <a:ahLst/>
              <a:cxnLst/>
              <a:rect l="l" t="t" r="r" b="b"/>
              <a:pathLst>
                <a:path w="9525" h="424815">
                  <a:moveTo>
                    <a:pt x="0" y="0"/>
                  </a:moveTo>
                  <a:lnTo>
                    <a:pt x="0" y="4248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753678" y="36195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806065" y="4162425"/>
              <a:ext cx="9525" cy="329565"/>
            </a:xfrm>
            <a:custGeom>
              <a:avLst/>
              <a:gdLst/>
              <a:ahLst/>
              <a:cxnLst/>
              <a:rect l="l" t="t" r="r" b="b"/>
              <a:pathLst>
                <a:path w="9525" h="329565">
                  <a:moveTo>
                    <a:pt x="0" y="0"/>
                  </a:moveTo>
                  <a:lnTo>
                    <a:pt x="0" y="3295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753678" y="44919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806065" y="5225415"/>
              <a:ext cx="9525" cy="329565"/>
            </a:xfrm>
            <a:custGeom>
              <a:avLst/>
              <a:gdLst/>
              <a:ahLst/>
              <a:cxnLst/>
              <a:rect l="l" t="t" r="r" b="b"/>
              <a:pathLst>
                <a:path w="9525" h="329565">
                  <a:moveTo>
                    <a:pt x="0" y="0"/>
                  </a:moveTo>
                  <a:lnTo>
                    <a:pt x="0" y="3295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753678" y="55549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851535" y="1788795"/>
              <a:ext cx="390810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851535" y="2756535"/>
              <a:ext cx="390810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851535" y="3724275"/>
              <a:ext cx="3908108" cy="438150"/>
            </a:xfrm>
            <a:prstGeom prst="roundRect">
              <a:avLst>
                <a:gd name="adj" fmla="val 21739"/>
              </a:avLst>
            </a:prstGeom>
            <a:solidFill>
              <a:srgbClr val="E8EDF8"/>
            </a:solidFill>
            <a:ln w="19050">
              <a:solidFill>
                <a:srgbClr val="2F4B9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51535" y="4596765"/>
              <a:ext cx="3908108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851535" y="5659755"/>
              <a:ext cx="3908108" cy="43815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024177" y="191881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确定是哪两束光相干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48184" y="2886551"/>
              <a:ext cx="11157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逐段写光程 nr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10334" y="385429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判断有无半波损失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153412" y="4712494"/>
              <a:ext cx="130530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 δ = kλ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 δ = (2k+1)λ/2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833986" y="5789771"/>
              <a:ext cx="19441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 k 的起点，求解并检验</a:t>
              </a:r>
            </a:p>
          </p:txBody>
        </p:sp>
      </p:grpSp>
      <p:grpSp>
        <p:nvGrpSpPr>
          <p:cNvPr id="59" name="c2-table-1"/>
          <p:cNvGrpSpPr/>
          <p:nvPr/>
        </p:nvGrpSpPr>
        <p:grpSpPr>
          <a:xfrm>
            <a:off x="5382578" y="1524000"/>
            <a:ext cx="6276022" cy="3141346"/>
            <a:chOff x="5382578" y="1524000"/>
            <a:chExt cx="6276022" cy="3141346"/>
          </a:xfrm>
        </p:grpSpPr>
        <p:sp>
          <p:nvSpPr>
            <p:cNvPr id="26" name="Rectangle 26"/>
            <p:cNvSpPr/>
            <p:nvPr/>
          </p:nvSpPr>
          <p:spPr>
            <a:xfrm>
              <a:off x="5382578" y="1524000"/>
              <a:ext cx="6276022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76861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装置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14095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光程差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0159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常用结论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490401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杨氏双缝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20066" y="2108359"/>
              <a:ext cx="694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 = ax/D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753666" y="2108359"/>
              <a:ext cx="22618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kDλ/a（明），Δx = Dλ/a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82578" y="24164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82578" y="2421255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490401" y="25569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缝后加片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20066" y="2556986"/>
              <a:ext cx="10812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 (n − 1)d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753666" y="255698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零级明纹移向加片一侧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82578" y="286607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490401" y="30056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薄膜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20066" y="3005614"/>
              <a:ext cx="10123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2n₂e (+λ/2)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753666" y="30056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增透、增反最薄 λ/(4n₂)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82578" y="331470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382578" y="3319462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490401" y="34542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劈尖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20066" y="3454241"/>
              <a:ext cx="9176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2ne (+λ/2)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753666" y="3454241"/>
              <a:ext cx="20684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Δe = λ/(2n)，l = λ/(2nθ)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82578" y="376332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490401" y="390382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牛顿环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20066" y="3903821"/>
              <a:ext cx="6849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2e + λ/2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753666" y="3903821"/>
              <a:ext cx="12837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暗环 r = √(kRλ)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82578" y="421195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382578" y="4216718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490401" y="435244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迈克耳孙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620066" y="4352449"/>
              <a:ext cx="3053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2Δd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753666" y="4352449"/>
              <a:ext cx="801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Δd = Nλ/2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382578" y="1524000"/>
              <a:ext cx="6276022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507480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8641080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5" name="c2-callout-2"/>
          <p:cNvGrpSpPr/>
          <p:nvPr/>
        </p:nvGrpSpPr>
        <p:grpSpPr>
          <a:xfrm>
            <a:off x="5382578" y="4855845"/>
            <a:ext cx="6276022" cy="782955"/>
            <a:chOff x="5382578" y="4855845"/>
            <a:chExt cx="6276022" cy="782955"/>
          </a:xfrm>
        </p:grpSpPr>
        <p:sp>
          <p:nvSpPr>
            <p:cNvPr id="60" name="Rectangle 60"/>
            <p:cNvSpPr/>
            <p:nvPr/>
          </p:nvSpPr>
          <p:spPr>
            <a:xfrm>
              <a:off x="5382578" y="4855845"/>
              <a:ext cx="6276022" cy="782955"/>
            </a:xfrm>
            <a:prstGeom prst="roundRect">
              <a:avLst>
                <a:gd name="adj" fmla="val 1459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5587365" y="5147312"/>
              <a:ext cx="200023" cy="200023"/>
              <a:chOff x="5587365" y="5147312"/>
              <a:chExt cx="200023" cy="200023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5587365" y="51473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5720715" y="52139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5889308" y="5004435"/>
              <a:ext cx="52063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薄膜类题目的 λ/2 只看两个反射面：恰有一个面由光疏射向光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密反射时才加。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自测题（上）光程与双缝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137410"/>
            <a:chOff x="533400" y="1524000"/>
            <a:chExt cx="3505200" cy="21374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9996" y="2100739"/>
              <a:ext cx="285077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 = 500 nm 的光在 n = 1.5 的玻璃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中走 1.5 μm，光程是多少？相位改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变多少？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9996" y="2963704"/>
              <a:ext cx="278269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 nr = 2.25 μm，相位改变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2π × 2.25/0.5 = 9π。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847148"/>
            <a:ext cx="3505200" cy="2137410"/>
            <a:chOff x="533400" y="3847148"/>
            <a:chExt cx="3505200" cy="2137410"/>
          </a:xfrm>
        </p:grpSpPr>
        <p:sp>
          <p:nvSpPr>
            <p:cNvPr id="13" name="Rectangle 13"/>
            <p:cNvSpPr/>
            <p:nvPr/>
          </p:nvSpPr>
          <p:spPr>
            <a:xfrm>
              <a:off x="533400" y="3847148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7235" y="4050982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4722" y="408670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9996" y="4423886"/>
              <a:ext cx="296213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 = 600 nm，一缝后盖 n = 1.5 的薄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片，零级明纹移到原第 5 级明纹处，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片厚多少？条纹往哪边移？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9996" y="5286851"/>
              <a:ext cx="291795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(n − 1)d = 5λ，d = 6.0 μm；条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纹向盖片的一侧移动。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1865948"/>
            <a:chOff x="4343400" y="1524000"/>
            <a:chExt cx="3505200" cy="1865948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1865948"/>
            </a:xfrm>
            <a:prstGeom prst="roundRect">
              <a:avLst>
                <a:gd name="adj" fmla="val 714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4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9996" y="2100739"/>
              <a:ext cx="292742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两束相干光的光强分别为 I 和 4I，干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涉后最大、最小光强各是多少？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9996" y="2692241"/>
              <a:ext cx="250317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= I + 4I ± 2√(I·4I)，最大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9I，最小 I。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575685"/>
            <a:ext cx="3505200" cy="2408872"/>
            <a:chOff x="4343400" y="3575685"/>
            <a:chExt cx="3505200" cy="2408872"/>
          </a:xfrm>
        </p:grpSpPr>
        <p:sp>
          <p:nvSpPr>
            <p:cNvPr id="25" name="Rectangle 25"/>
            <p:cNvSpPr/>
            <p:nvPr/>
          </p:nvSpPr>
          <p:spPr>
            <a:xfrm>
              <a:off x="4343400" y="3575685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47235" y="377952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34722" y="381523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39996" y="4152424"/>
              <a:ext cx="27195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劳埃德镜实验中把屏移到与镜端接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触，接触处是明纹还是暗纹？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39996" y="4743926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暗纹。几何路程相等，但反射光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有半波损失，两束光相差 λ/2。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137410"/>
            <a:chOff x="8153400" y="1524000"/>
            <a:chExt cx="3505200" cy="2137410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5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9996" y="2100739"/>
              <a:ext cx="2547804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双缝实验在空气中条纹间距 3.0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mm，整个装置浸入水中（n =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1.33）后间距是多少？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49996" y="2963704"/>
              <a:ext cx="281876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光程差变为 nax/D，Δx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Dλ/(na) = 3.0/1.33 ≈ 2.26 mm。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847148"/>
            <a:ext cx="3505200" cy="2137410"/>
            <a:chOff x="8153400" y="3847148"/>
            <a:chExt cx="3505200" cy="2137410"/>
          </a:xfrm>
        </p:grpSpPr>
        <p:sp>
          <p:nvSpPr>
            <p:cNvPr id="37" name="Rectangle 37"/>
            <p:cNvSpPr/>
            <p:nvPr/>
          </p:nvSpPr>
          <p:spPr>
            <a:xfrm>
              <a:off x="8153400" y="3847148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57235" y="4050982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44722" y="408670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9996" y="4423886"/>
              <a:ext cx="27195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两盏同型号的钠光灯同时照亮一面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墙，为什么看不到干涉条纹？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49996" y="5015389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两灯各原子发出的波列之间初相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没有固定关系，不满足相位差恒定这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一相干条件。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自测题（下）薄膜、劈尖与牛顿环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137410"/>
            <a:chOff x="533400" y="1524000"/>
            <a:chExt cx="3505200" cy="21374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9996" y="2100739"/>
              <a:ext cx="285077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空气中的肥皂膜 n = 1.33，要让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600 nm 的反射光最强，膜最薄是多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9996" y="2963704"/>
              <a:ext cx="280974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要加 λ/2：2ne + λ/2 = λ，e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λ/(4n) ≈ 113 nm。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847148"/>
            <a:ext cx="3505200" cy="2408872"/>
            <a:chOff x="533400" y="3847148"/>
            <a:chExt cx="3505200" cy="2408872"/>
          </a:xfrm>
        </p:grpSpPr>
        <p:sp>
          <p:nvSpPr>
            <p:cNvPr id="13" name="Rectangle 13"/>
            <p:cNvSpPr/>
            <p:nvPr/>
          </p:nvSpPr>
          <p:spPr>
            <a:xfrm>
              <a:off x="533400" y="3847148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7235" y="4050982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4722" y="408670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9996" y="4423886"/>
              <a:ext cx="288864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空气劈尖的条纹间距为 2.0 mm，充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 n = 1.25 的液体后变为多少？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9996" y="5015389"/>
              <a:ext cx="287286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 ∝ 1/n，变为 1.6 mm，条纹向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棱边收拢。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2137410"/>
            <a:chOff x="4343400" y="1524000"/>
            <a:chExt cx="3505200" cy="2137410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4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9996" y="2100739"/>
              <a:ext cx="2907582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n = 1.5 的玻璃上镀 n = 1.25 的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增透膜，对 500 nm 的最小膜厚是多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9996" y="2963704"/>
              <a:ext cx="298107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两面都有半波损失，2ne = λ/2，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= λ/(4n) = 100 nm。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847148"/>
            <a:ext cx="3505200" cy="2408872"/>
            <a:chOff x="4343400" y="3847148"/>
            <a:chExt cx="3505200" cy="2408872"/>
          </a:xfrm>
        </p:grpSpPr>
        <p:sp>
          <p:nvSpPr>
            <p:cNvPr id="25" name="Rectangle 25"/>
            <p:cNvSpPr/>
            <p:nvPr/>
          </p:nvSpPr>
          <p:spPr>
            <a:xfrm>
              <a:off x="4343400" y="3847148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47235" y="4050982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34722" y="408670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39996" y="4423886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牛顿环反射光中心为什么是暗斑？透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射光呢？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39996" y="5015389"/>
              <a:ext cx="293598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中心 e = 0，反射光 δ = λ/2，是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暗斑；透射光与反射光互补，中心是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亮斑。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408872"/>
            <a:chOff x="8153400" y="1524000"/>
            <a:chExt cx="3505200" cy="2408872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5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9996" y="2100739"/>
              <a:ext cx="29156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两块玻璃长 5 cm，一端夹 0.03 mm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的纸片，λ = 600 nm 垂直照射，条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纹间距多少？共几条明纹？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49996" y="2963704"/>
              <a:ext cx="2890901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 = λL/(2d) = 0.5 mm；2d +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λ/2 = kλ，k 最大 100，共 100 条明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纹。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4118610"/>
            <a:ext cx="3505200" cy="2137410"/>
            <a:chOff x="8153400" y="4118610"/>
            <a:chExt cx="3505200" cy="2137410"/>
          </a:xfrm>
        </p:grpSpPr>
        <p:sp>
          <p:nvSpPr>
            <p:cNvPr id="37" name="Rectangle 37"/>
            <p:cNvSpPr/>
            <p:nvPr/>
          </p:nvSpPr>
          <p:spPr>
            <a:xfrm>
              <a:off x="8153400" y="411861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57235" y="432244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44722" y="435816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9996" y="4695349"/>
              <a:ext cx="2907582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迈克耳孙干涉仪用 600 nm 的光，数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 200 条条纹移过，动镜移动了多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49996" y="5558314"/>
              <a:ext cx="262940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Δd = Nλ/2 = 200 × 300 nm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 μm。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第7章 光的干涉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bullets-1"/>
          <p:cNvGrpSpPr/>
          <p:nvPr/>
        </p:nvGrpSpPr>
        <p:grpSpPr>
          <a:xfrm>
            <a:off x="533400" y="1534478"/>
            <a:ext cx="5249589" cy="2549080"/>
            <a:chOff x="533400" y="1534478"/>
            <a:chExt cx="5249589" cy="2549080"/>
          </a:xfrm>
        </p:grpSpPr>
        <p:sp>
          <p:nvSpPr>
            <p:cNvPr id="7" name="Ellipse 7"/>
            <p:cNvSpPr/>
            <p:nvPr/>
          </p:nvSpPr>
          <p:spPr>
            <a:xfrm>
              <a:off x="533400" y="1534478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89078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4197" y="1545907"/>
              <a:ext cx="41542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相干条件：频率相同、振动方向相同、相位差恒定；I =</a:t>
              </a:r>
              <a:br/>
              <a:r>
                <a:rPr lang="el-GR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4I₀cos²(Δφ/2)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02168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9078" y="21415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4197" y="2114550"/>
              <a:ext cx="49687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光程 L = nr，Δφ = 2πδ/λ；明纹 δ = kλ，暗纹 δ = (2k+1)λ/2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413635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9078" y="245202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197" y="2426018"/>
              <a:ext cx="48314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杨氏双缝 δ = ax/D，x = kDλ/a，Δx = Dλ/a；加片后零级明纹移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向加片一侧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982277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9078" y="30206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197" y="2993708"/>
              <a:ext cx="47543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薄膜 δ = 2e√(n₂² − n₁² sin² i) (+λ/2)；反射与透射互补；增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透、增反最薄 λ/(4n₂)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3549968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9078" y="35893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4197" y="3562350"/>
              <a:ext cx="472001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劈尖 Δe = λ/(2n)，l = λ/(2nθ)；牛顿环暗环 r = √(kRλ)；迈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克耳孙 Δd = Nλ/2</a:t>
              </a:r>
            </a:p>
          </p:txBody>
        </p:sp>
      </p:grpSp>
      <p:grpSp>
        <p:nvGrpSpPr>
          <p:cNvPr id="29" name="c1-callout-2"/>
          <p:cNvGrpSpPr/>
          <p:nvPr/>
        </p:nvGrpSpPr>
        <p:grpSpPr>
          <a:xfrm>
            <a:off x="533400" y="4205288"/>
            <a:ext cx="5410200" cy="1424940"/>
            <a:chOff x="533400" y="4205288"/>
            <a:chExt cx="5410200" cy="1424940"/>
          </a:xfrm>
        </p:grpSpPr>
        <p:sp>
          <p:nvSpPr>
            <p:cNvPr id="23" name="Rectangle 23"/>
            <p:cNvSpPr/>
            <p:nvPr/>
          </p:nvSpPr>
          <p:spPr>
            <a:xfrm>
              <a:off x="533400" y="4205288"/>
              <a:ext cx="5410200" cy="1424940"/>
            </a:xfrm>
            <a:prstGeom prst="roundRect">
              <a:avLst>
                <a:gd name="adj" fmla="val 802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4817745"/>
              <a:ext cx="200026" cy="200025"/>
              <a:chOff x="738188" y="4817745"/>
              <a:chExt cx="200026" cy="200025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48177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777926" y="48621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12642" y="49733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892" y="4574858"/>
              <a:ext cx="447141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λ/2 只在两个反射面中恰有一个由光疏射向光密反射时才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加。空气劈尖、空气中的肥皂膜要加，玻璃上的 MgF₂ 膜不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加。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6248400" y="1524000"/>
            <a:ext cx="5410200" cy="2071688"/>
            <a:chOff x="6248400" y="1524000"/>
            <a:chExt cx="5410200" cy="2071688"/>
          </a:xfrm>
        </p:grpSpPr>
        <p:sp>
          <p:nvSpPr>
            <p:cNvPr id="30" name="Rectangle 30"/>
            <p:cNvSpPr/>
            <p:nvPr/>
          </p:nvSpPr>
          <p:spPr>
            <a:xfrm>
              <a:off x="6248400" y="1524000"/>
              <a:ext cx="5410200" cy="2071688"/>
            </a:xfrm>
            <a:prstGeom prst="roundRect">
              <a:avLst>
                <a:gd name="adj" fmla="val 64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57925" y="1657350"/>
              <a:ext cx="47625" cy="180498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78905" y="1716405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38341" y="1750695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487478" y="212883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43497" y="2072640"/>
              <a:ext cx="45142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空气劈尖明纹应从 k = 1 起，原课件第 30 页明暗纹都写 k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0, 1, 2, …（讲义第 34 页）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487478" y="2688907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43497" y="2632710"/>
              <a:ext cx="434282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例7.4 的 1700、567、340 nm 是约数，准确值 1702.4、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567.5、340.5 nm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487478" y="3248977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43497" y="3192780"/>
              <a:ext cx="4675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例7.3、练习原课件未给出移动方向和厚度的数值，已补全</a:t>
              </a:r>
            </a:p>
          </p:txBody>
        </p:sp>
      </p:grpSp>
      <p:grpSp>
        <p:nvGrpSpPr>
          <p:cNvPr id="52" name="c2-card-2"/>
          <p:cNvGrpSpPr/>
          <p:nvPr/>
        </p:nvGrpSpPr>
        <p:grpSpPr>
          <a:xfrm>
            <a:off x="6248400" y="3770948"/>
            <a:ext cx="5410200" cy="1860232"/>
            <a:chOff x="6248400" y="3770948"/>
            <a:chExt cx="5410200" cy="1860232"/>
          </a:xfrm>
        </p:grpSpPr>
        <p:sp>
          <p:nvSpPr>
            <p:cNvPr id="41" name="Rectangle 41"/>
            <p:cNvSpPr/>
            <p:nvPr/>
          </p:nvSpPr>
          <p:spPr>
            <a:xfrm>
              <a:off x="6248400" y="3770948"/>
              <a:ext cx="5410200" cy="1860232"/>
            </a:xfrm>
            <a:prstGeom prst="roundRect">
              <a:avLst>
                <a:gd name="adj" fmla="val 7168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40805" y="3963352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12242" y="3997643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补充进来的内容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449378" y="437578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05397" y="431958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普通光源不相干的原因、光强曲线与非相干对比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449378" y="467868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605397" y="4622482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白光双缝从第二级起重叠、镜头泛蓝紫色的定量解释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449378" y="498062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05397" y="492442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多层增反膜、劈尖检验平整度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449378" y="5283517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605397" y="5227320"/>
              <a:ext cx="46298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牛顿环与迈克耳孙干涉仪的公式和两道例题，12 道自测题</a:t>
              </a:r>
            </a:p>
          </p:txBody>
        </p:sp>
      </p:grpSp>
      <p:grpSp>
        <p:nvGrpSpPr>
          <p:cNvPr id="5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3" name="Rectangle 5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40892" y="6023610"/>
              <a:ext cx="100001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所有干涉题都归结为一句：写对两束光的光程差（几何路程、介质、半波损失三样都算上），再令它等于 kλ 或 (2k+1)λ/2。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基础物理学 · 第7章 光的干涉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phys_ch7">
  <a:themeElements>
    <a:clrScheme name="phys_ch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hys_ch7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hys_ch7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2026-09-23T12:10:28Z</dcterms:created>
  <dcterms:modified xsi:type="dcterms:W3CDTF">2026-09-23T12:10:28Z</dcterms:modified>
  <cp:category/>
  <cp:contentStatus/>
</cp:coreProperties>
</file>