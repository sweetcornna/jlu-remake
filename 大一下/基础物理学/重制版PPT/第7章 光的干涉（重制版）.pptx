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d9f443ec854793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27eefb339494498.png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98e52e8d049324c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389882" cy="3437763"/>
            <a:chOff x="666750" y="1619250"/>
            <a:chExt cx="438988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第七章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光的干涉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从相干条件、光程差到双缝、薄膜与劈尖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相干光与光程差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杨氏双缝与劳埃德镜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薄膜干涉与增透膜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劈尖、牛顿环与迈克耳孙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08793" cy="205359"/>
            <a:chOff x="680466" y="6192202"/>
            <a:chExt cx="420879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0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自学复习版｜据吉林大学《基础物理学》第7章课件整理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光的相干性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光矢量、相干条件、相干叠加的光强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光程与光程差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5204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光程 L = nr、相位差、透镜的等光程性、获得相干光的方法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分波阵面干涉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杨氏双缝、条纹特征、劳埃德镜与五道例题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薄膜干涉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光程差推导、半波损失判据、增透膜与增反膜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劈尖干涉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等厚条纹、条纹间距与三道例题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补充：牛顿环与迈克耳孙干涉仪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原课件只列了名字，这里补上公式与例题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把几何路程换成光程，写出两束光的光程差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与相位差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x = kDλ/a、Δx = Dλ/a 算双缝条纹的位置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与间距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判断两个反射面有无半波损失，写出薄膜反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射光的光程差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15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由劈尖条纹间距 l = λ/(2nθ) 求波长、夹角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或条纹数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算增透膜、增反膜的最小厚度，解释镜头为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什么泛蓝紫色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479343" cy="3351847"/>
            <a:chOff x="667512" y="1835468"/>
            <a:chExt cx="647934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光的相干性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4694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7.1.1，什么样的两束光相遇才会出现稳定的明暗条纹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光学的分类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光矢量与可见光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干涉现象与相干条件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相干叠加的光强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光的相干性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光学研究光的现象、本质以及光与物质的相互作用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steps-1"/>
          <p:cNvGrpSpPr/>
          <p:nvPr/>
        </p:nvGrpSpPr>
        <p:grpSpPr>
          <a:xfrm>
            <a:off x="533400" y="1533525"/>
            <a:ext cx="5204841" cy="2348198"/>
            <a:chOff x="533400" y="1533525"/>
            <a:chExt cx="5204841" cy="234819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706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3042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880" y="1567815"/>
              <a:ext cx="2160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粒子说（17～19 世纪）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023" y="186166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牛顿认为光是微粒流，能解释直线传播和反射，但解释不了干涉、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2453640"/>
              <a:ext cx="2160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波动说（19～20 世纪）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2746534"/>
              <a:ext cx="4792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世纪初杨氏双缝实验、菲涅耳的衍射理论确立了光的波动性；麦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克斯韦进一步指出光是电磁波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3338512"/>
              <a:ext cx="27352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波粒二象性（20 世纪初以来）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632359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光电效应等实验说明光同时具有粒子性，光既是波也是光子流</a:t>
              </a:r>
            </a:p>
          </p:txBody>
        </p:sp>
      </p:grpSp>
      <p:grpSp>
        <p:nvGrpSpPr>
          <p:cNvPr id="32" name="c1-kv-2"/>
          <p:cNvGrpSpPr/>
          <p:nvPr/>
        </p:nvGrpSpPr>
        <p:grpSpPr>
          <a:xfrm>
            <a:off x="525780" y="4085272"/>
            <a:ext cx="5417820" cy="1613536"/>
            <a:chOff x="525780" y="4085272"/>
            <a:chExt cx="5417820" cy="1613536"/>
          </a:xfrm>
        </p:grpSpPr>
        <p:sp>
          <p:nvSpPr>
            <p:cNvPr id="21" name="TextBox 21"/>
            <p:cNvSpPr txBox="1"/>
            <p:nvPr/>
          </p:nvSpPr>
          <p:spPr>
            <a:xfrm>
              <a:off x="525780" y="4085272"/>
              <a:ext cx="74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1801 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92568" y="4085272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托马斯·杨做双缝实验，第一次测出光的波长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4053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5780" y="4525328"/>
              <a:ext cx="74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1818 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92568" y="452532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菲涅耳用波动理论算出衍射图样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8453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5780" y="4965382"/>
              <a:ext cx="74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1865 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92568" y="4965382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麦克斯韦建立电磁理论，指出光是电磁波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2854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780" y="5405438"/>
              <a:ext cx="747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1905 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2568" y="540543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爱因斯坦用光量子解释光电效应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6248400" y="1524000"/>
            <a:ext cx="5410200" cy="1795462"/>
            <a:chOff x="6248400" y="1524000"/>
            <a:chExt cx="5410200" cy="1795462"/>
          </a:xfrm>
        </p:grpSpPr>
        <p:sp>
          <p:nvSpPr>
            <p:cNvPr id="33" name="Rectangle 33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268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596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研究内容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6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几何光学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70698" y="210835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光的直线传播、反射、折射规律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2430780"/>
              <a:ext cx="149542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6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波动光学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70698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光的干涉、衍射、偏振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56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量子光学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70698" y="3005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光与物质相互作用的规律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75811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2"/>
          <p:cNvGrpSpPr/>
          <p:nvPr/>
        </p:nvGrpSpPr>
        <p:grpSpPr>
          <a:xfrm>
            <a:off x="6248400" y="3509962"/>
            <a:ext cx="5410200" cy="2129790"/>
            <a:chOff x="6248400" y="3509962"/>
            <a:chExt cx="5410200" cy="2129790"/>
          </a:xfrm>
        </p:grpSpPr>
        <p:sp>
          <p:nvSpPr>
            <p:cNvPr id="49" name="Rectangle 49"/>
            <p:cNvSpPr/>
            <p:nvPr/>
          </p:nvSpPr>
          <p:spPr>
            <a:xfrm>
              <a:off x="6248400" y="3509962"/>
              <a:ext cx="5410200" cy="2129790"/>
            </a:xfrm>
            <a:prstGeom prst="roundRect">
              <a:avLst>
                <a:gd name="adj" fmla="val 62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3643312"/>
              <a:ext cx="47625" cy="18630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6050" y="371951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5557" y="37552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两种光学的关系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8430" y="4096702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几何光学是波动光学在波长趋于零时的近似。障碍物、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缝宽远大于波长时，光近似沿直线走；尺度与波长可比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时，干涉、衍射就显现出来。</a:t>
              </a:r>
            </a:p>
          </p:txBody>
        </p:sp>
      </p:grpSp>
      <p:grpSp>
        <p:nvGrpSpPr>
          <p:cNvPr id="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130" y="5991225"/>
              <a:ext cx="101319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本章的干涉和第8章的衍射都属于波动光学，处理方法沿用第3章机械波的叠加与干涉，只是把波程差换成光程差。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3158" cy="909257"/>
            <a:chOff x="520446" y="342900"/>
            <a:chExt cx="73731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光的相干性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31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光矢量是电场强度 E，可见光波长 400～760 nm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602105"/>
            <a:chOff x="533400" y="1524000"/>
            <a:chExt cx="497776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9451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588" y="1769269"/>
              <a:ext cx="169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光矢量（light vector）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光是电磁波，引起感光作用和生理作用的主要是其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中的电场强度 E，所以把 E 矢量叫光矢量。以后说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「光的振动」，指的就是 E 的振动。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316605"/>
            <a:ext cx="4977765" cy="1602105"/>
            <a:chOff x="533400" y="3316605"/>
            <a:chExt cx="4977765" cy="1602105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97776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4995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2615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4507" y="356187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光的干涉现象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3903345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满足相干条件的几束光在相遇区域里，有些点的振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动始终加强（亮条纹），有些点始终减弱（暗条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纹），这种稳定的强弱分布叫光的干涉。</a:t>
              </a:r>
            </a:p>
          </p:txBody>
        </p:sp>
      </p:grpSp>
      <p:grpSp>
        <p:nvGrpSpPr>
          <p:cNvPr id="264" name="g_spectrum"/>
          <p:cNvGrpSpPr/>
          <p:nvPr/>
        </p:nvGrpSpPr>
        <p:grpSpPr>
          <a:xfrm>
            <a:off x="6016739" y="1666875"/>
            <a:ext cx="5577677" cy="1281779"/>
            <a:chOff x="6016739" y="1666875"/>
            <a:chExt cx="5577677" cy="1281779"/>
          </a:xfrm>
        </p:grpSpPr>
        <p:sp>
          <p:nvSpPr>
            <p:cNvPr id="19" name="Freeform 19"/>
            <p:cNvSpPr/>
            <p:nvPr/>
          </p:nvSpPr>
          <p:spPr>
            <a:xfrm>
              <a:off x="640842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8300BE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47509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8000D1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54177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7A00E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60844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7000F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67512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5F00FF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74179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4900FF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80847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3000FF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87514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1400FF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94182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17FF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00944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38FF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07612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54FF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14279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6EF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20947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87FF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27614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9EF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34282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B5F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40949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CBF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47712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E0F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54380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F5F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60952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FFE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67619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FFAF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74382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FF74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81050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00FF30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787717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12FF0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94385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2BFF00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801052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40FF00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07720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54FF00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14387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67FF0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21150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79FF00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27817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8AFF00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34485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9BFF00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41152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ABFF00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47820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BBFF00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854487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CBFF00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61155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DAFF00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67822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E9FF00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74490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8FF0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81157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F700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887920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E700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94588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D700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01255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C600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07923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B600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14590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A40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21258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9200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27925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8000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34688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6D00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41355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590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947928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4400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954595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2D00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961358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1300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68025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974693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981360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88028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94695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01458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008126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1014793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1021461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1028128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1034796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F0000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1041463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B0000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1048226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F20000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1054798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E80000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10614660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DF0000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10681335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D60000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1074896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CD0000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081563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C30000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1088231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BA0000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94898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B00000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1101566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A60000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11082338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9C0000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11149012" y="191928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85439">
              <a:solidFill>
                <a:srgbClr val="920000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6375082" y="2357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7710488" y="2357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9045892" y="2357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10381298" y="2357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11183302" y="2357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640365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640365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647033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647033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653700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653700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660368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660368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667035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667035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673703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673703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680370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680370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687038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687038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693705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693705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700468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700468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707136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707136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713803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713803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0" name="Ellipse 120"/>
            <p:cNvSpPr/>
            <p:nvPr/>
          </p:nvSpPr>
          <p:spPr>
            <a:xfrm>
              <a:off x="720471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1" name="Ellipse 121"/>
            <p:cNvSpPr/>
            <p:nvPr/>
          </p:nvSpPr>
          <p:spPr>
            <a:xfrm>
              <a:off x="720471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2" name="Ellipse 122"/>
            <p:cNvSpPr/>
            <p:nvPr/>
          </p:nvSpPr>
          <p:spPr>
            <a:xfrm>
              <a:off x="727138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727138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4" name="Ellipse 124"/>
            <p:cNvSpPr/>
            <p:nvPr/>
          </p:nvSpPr>
          <p:spPr>
            <a:xfrm>
              <a:off x="733806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733806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740473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740473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747236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747236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753903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753903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760476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760476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767143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767143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773906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773906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780573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780573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787241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787241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793908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793908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800576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800576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807243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807243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8" name="Ellipse 148"/>
            <p:cNvSpPr/>
            <p:nvPr/>
          </p:nvSpPr>
          <p:spPr>
            <a:xfrm>
              <a:off x="813911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9" name="Ellipse 149"/>
            <p:cNvSpPr/>
            <p:nvPr/>
          </p:nvSpPr>
          <p:spPr>
            <a:xfrm>
              <a:off x="813911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0" name="Ellipse 150"/>
            <p:cNvSpPr/>
            <p:nvPr/>
          </p:nvSpPr>
          <p:spPr>
            <a:xfrm>
              <a:off x="820674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1" name="Ellipse 151"/>
            <p:cNvSpPr/>
            <p:nvPr/>
          </p:nvSpPr>
          <p:spPr>
            <a:xfrm>
              <a:off x="820674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2" name="Ellipse 152"/>
            <p:cNvSpPr/>
            <p:nvPr/>
          </p:nvSpPr>
          <p:spPr>
            <a:xfrm>
              <a:off x="827341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827341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834009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834009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840676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840676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8" name="Ellipse 158"/>
            <p:cNvSpPr/>
            <p:nvPr/>
          </p:nvSpPr>
          <p:spPr>
            <a:xfrm>
              <a:off x="847344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847344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854011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854011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860679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3" name="Ellipse 163"/>
            <p:cNvSpPr/>
            <p:nvPr/>
          </p:nvSpPr>
          <p:spPr>
            <a:xfrm>
              <a:off x="860679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4" name="Ellipse 164"/>
            <p:cNvSpPr/>
            <p:nvPr/>
          </p:nvSpPr>
          <p:spPr>
            <a:xfrm>
              <a:off x="867346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867346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6" name="Ellipse 166"/>
            <p:cNvSpPr/>
            <p:nvPr/>
          </p:nvSpPr>
          <p:spPr>
            <a:xfrm>
              <a:off x="874014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874014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880681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9" name="Ellipse 169"/>
            <p:cNvSpPr/>
            <p:nvPr/>
          </p:nvSpPr>
          <p:spPr>
            <a:xfrm>
              <a:off x="880681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0" name="Ellipse 170"/>
            <p:cNvSpPr/>
            <p:nvPr/>
          </p:nvSpPr>
          <p:spPr>
            <a:xfrm>
              <a:off x="887444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1" name="Ellipse 171"/>
            <p:cNvSpPr/>
            <p:nvPr/>
          </p:nvSpPr>
          <p:spPr>
            <a:xfrm>
              <a:off x="887444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2" name="Ellipse 172"/>
            <p:cNvSpPr/>
            <p:nvPr/>
          </p:nvSpPr>
          <p:spPr>
            <a:xfrm>
              <a:off x="894111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3" name="Ellipse 173"/>
            <p:cNvSpPr/>
            <p:nvPr/>
          </p:nvSpPr>
          <p:spPr>
            <a:xfrm>
              <a:off x="894111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4" name="Ellipse 174"/>
            <p:cNvSpPr/>
            <p:nvPr/>
          </p:nvSpPr>
          <p:spPr>
            <a:xfrm>
              <a:off x="900779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5" name="Ellipse 175"/>
            <p:cNvSpPr/>
            <p:nvPr/>
          </p:nvSpPr>
          <p:spPr>
            <a:xfrm>
              <a:off x="900779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6" name="Ellipse 176"/>
            <p:cNvSpPr/>
            <p:nvPr/>
          </p:nvSpPr>
          <p:spPr>
            <a:xfrm>
              <a:off x="907446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7" name="Ellipse 177"/>
            <p:cNvSpPr/>
            <p:nvPr/>
          </p:nvSpPr>
          <p:spPr>
            <a:xfrm>
              <a:off x="907446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8" name="Ellipse 178"/>
            <p:cNvSpPr/>
            <p:nvPr/>
          </p:nvSpPr>
          <p:spPr>
            <a:xfrm>
              <a:off x="914114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9" name="Ellipse 179"/>
            <p:cNvSpPr/>
            <p:nvPr/>
          </p:nvSpPr>
          <p:spPr>
            <a:xfrm>
              <a:off x="914114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0" name="Ellipse 180"/>
            <p:cNvSpPr/>
            <p:nvPr/>
          </p:nvSpPr>
          <p:spPr>
            <a:xfrm>
              <a:off x="920781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1" name="Ellipse 181"/>
            <p:cNvSpPr/>
            <p:nvPr/>
          </p:nvSpPr>
          <p:spPr>
            <a:xfrm>
              <a:off x="920781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2" name="Ellipse 182"/>
            <p:cNvSpPr/>
            <p:nvPr/>
          </p:nvSpPr>
          <p:spPr>
            <a:xfrm>
              <a:off x="927449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3" name="Ellipse 183"/>
            <p:cNvSpPr/>
            <p:nvPr/>
          </p:nvSpPr>
          <p:spPr>
            <a:xfrm>
              <a:off x="927449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934212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5" name="Ellipse 185"/>
            <p:cNvSpPr/>
            <p:nvPr/>
          </p:nvSpPr>
          <p:spPr>
            <a:xfrm>
              <a:off x="934212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6" name="Ellipse 186"/>
            <p:cNvSpPr/>
            <p:nvPr/>
          </p:nvSpPr>
          <p:spPr>
            <a:xfrm>
              <a:off x="940879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7" name="Ellipse 187"/>
            <p:cNvSpPr/>
            <p:nvPr/>
          </p:nvSpPr>
          <p:spPr>
            <a:xfrm>
              <a:off x="940879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8" name="Ellipse 188"/>
            <p:cNvSpPr/>
            <p:nvPr/>
          </p:nvSpPr>
          <p:spPr>
            <a:xfrm>
              <a:off x="947451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9" name="Ellipse 189"/>
            <p:cNvSpPr/>
            <p:nvPr/>
          </p:nvSpPr>
          <p:spPr>
            <a:xfrm>
              <a:off x="947451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0" name="Ellipse 190"/>
            <p:cNvSpPr/>
            <p:nvPr/>
          </p:nvSpPr>
          <p:spPr>
            <a:xfrm>
              <a:off x="954119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1" name="Ellipse 191"/>
            <p:cNvSpPr/>
            <p:nvPr/>
          </p:nvSpPr>
          <p:spPr>
            <a:xfrm>
              <a:off x="954119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2" name="Ellipse 192"/>
            <p:cNvSpPr/>
            <p:nvPr/>
          </p:nvSpPr>
          <p:spPr>
            <a:xfrm>
              <a:off x="960882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3" name="Ellipse 193"/>
            <p:cNvSpPr/>
            <p:nvPr/>
          </p:nvSpPr>
          <p:spPr>
            <a:xfrm>
              <a:off x="960882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4" name="Ellipse 194"/>
            <p:cNvSpPr/>
            <p:nvPr/>
          </p:nvSpPr>
          <p:spPr>
            <a:xfrm>
              <a:off x="967549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5" name="Ellipse 195"/>
            <p:cNvSpPr/>
            <p:nvPr/>
          </p:nvSpPr>
          <p:spPr>
            <a:xfrm>
              <a:off x="967549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6" name="Ellipse 196"/>
            <p:cNvSpPr/>
            <p:nvPr/>
          </p:nvSpPr>
          <p:spPr>
            <a:xfrm>
              <a:off x="974217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7" name="Ellipse 197"/>
            <p:cNvSpPr/>
            <p:nvPr/>
          </p:nvSpPr>
          <p:spPr>
            <a:xfrm>
              <a:off x="974217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8" name="Ellipse 198"/>
            <p:cNvSpPr/>
            <p:nvPr/>
          </p:nvSpPr>
          <p:spPr>
            <a:xfrm>
              <a:off x="980884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9" name="Ellipse 199"/>
            <p:cNvSpPr/>
            <p:nvPr/>
          </p:nvSpPr>
          <p:spPr>
            <a:xfrm>
              <a:off x="980884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0" name="Ellipse 200"/>
            <p:cNvSpPr/>
            <p:nvPr/>
          </p:nvSpPr>
          <p:spPr>
            <a:xfrm>
              <a:off x="987552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1" name="Ellipse 201"/>
            <p:cNvSpPr/>
            <p:nvPr/>
          </p:nvSpPr>
          <p:spPr>
            <a:xfrm>
              <a:off x="987552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2" name="Ellipse 202"/>
            <p:cNvSpPr/>
            <p:nvPr/>
          </p:nvSpPr>
          <p:spPr>
            <a:xfrm>
              <a:off x="994219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3" name="Ellipse 203"/>
            <p:cNvSpPr/>
            <p:nvPr/>
          </p:nvSpPr>
          <p:spPr>
            <a:xfrm>
              <a:off x="994219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4" name="Ellipse 204"/>
            <p:cNvSpPr/>
            <p:nvPr/>
          </p:nvSpPr>
          <p:spPr>
            <a:xfrm>
              <a:off x="1000982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5" name="Ellipse 205"/>
            <p:cNvSpPr/>
            <p:nvPr/>
          </p:nvSpPr>
          <p:spPr>
            <a:xfrm>
              <a:off x="1000982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6" name="Ellipse 206"/>
            <p:cNvSpPr/>
            <p:nvPr/>
          </p:nvSpPr>
          <p:spPr>
            <a:xfrm>
              <a:off x="1007649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7" name="Ellipse 207"/>
            <p:cNvSpPr/>
            <p:nvPr/>
          </p:nvSpPr>
          <p:spPr>
            <a:xfrm>
              <a:off x="1007649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8" name="Ellipse 208"/>
            <p:cNvSpPr/>
            <p:nvPr/>
          </p:nvSpPr>
          <p:spPr>
            <a:xfrm>
              <a:off x="1014317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9" name="Ellipse 209"/>
            <p:cNvSpPr/>
            <p:nvPr/>
          </p:nvSpPr>
          <p:spPr>
            <a:xfrm>
              <a:off x="1014317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0" name="Ellipse 210"/>
            <p:cNvSpPr/>
            <p:nvPr/>
          </p:nvSpPr>
          <p:spPr>
            <a:xfrm>
              <a:off x="1020984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1" name="Ellipse 211"/>
            <p:cNvSpPr/>
            <p:nvPr/>
          </p:nvSpPr>
          <p:spPr>
            <a:xfrm>
              <a:off x="1020984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2" name="Ellipse 212"/>
            <p:cNvSpPr/>
            <p:nvPr/>
          </p:nvSpPr>
          <p:spPr>
            <a:xfrm>
              <a:off x="1027652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3" name="Ellipse 213"/>
            <p:cNvSpPr/>
            <p:nvPr/>
          </p:nvSpPr>
          <p:spPr>
            <a:xfrm>
              <a:off x="1027652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4" name="Ellipse 214"/>
            <p:cNvSpPr/>
            <p:nvPr/>
          </p:nvSpPr>
          <p:spPr>
            <a:xfrm>
              <a:off x="1034319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5" name="Ellipse 215"/>
            <p:cNvSpPr/>
            <p:nvPr/>
          </p:nvSpPr>
          <p:spPr>
            <a:xfrm>
              <a:off x="1034319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6" name="Ellipse 216"/>
            <p:cNvSpPr/>
            <p:nvPr/>
          </p:nvSpPr>
          <p:spPr>
            <a:xfrm>
              <a:off x="1040987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7" name="Ellipse 217"/>
            <p:cNvSpPr/>
            <p:nvPr/>
          </p:nvSpPr>
          <p:spPr>
            <a:xfrm>
              <a:off x="1040987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8" name="Ellipse 218"/>
            <p:cNvSpPr/>
            <p:nvPr/>
          </p:nvSpPr>
          <p:spPr>
            <a:xfrm>
              <a:off x="1047750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9" name="Ellipse 219"/>
            <p:cNvSpPr/>
            <p:nvPr/>
          </p:nvSpPr>
          <p:spPr>
            <a:xfrm>
              <a:off x="1047750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0" name="Ellipse 220"/>
            <p:cNvSpPr/>
            <p:nvPr/>
          </p:nvSpPr>
          <p:spPr>
            <a:xfrm>
              <a:off x="1054322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1" name="Ellipse 221"/>
            <p:cNvSpPr/>
            <p:nvPr/>
          </p:nvSpPr>
          <p:spPr>
            <a:xfrm>
              <a:off x="1054322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2" name="Ellipse 222"/>
            <p:cNvSpPr/>
            <p:nvPr/>
          </p:nvSpPr>
          <p:spPr>
            <a:xfrm>
              <a:off x="1060989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3" name="Ellipse 223"/>
            <p:cNvSpPr/>
            <p:nvPr/>
          </p:nvSpPr>
          <p:spPr>
            <a:xfrm>
              <a:off x="10609898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4" name="Ellipse 224"/>
            <p:cNvSpPr/>
            <p:nvPr/>
          </p:nvSpPr>
          <p:spPr>
            <a:xfrm>
              <a:off x="10676572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5" name="Ellipse 225"/>
            <p:cNvSpPr/>
            <p:nvPr/>
          </p:nvSpPr>
          <p:spPr>
            <a:xfrm>
              <a:off x="10676572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6" name="Ellipse 226"/>
            <p:cNvSpPr/>
            <p:nvPr/>
          </p:nvSpPr>
          <p:spPr>
            <a:xfrm>
              <a:off x="1074420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7" name="Ellipse 227"/>
            <p:cNvSpPr/>
            <p:nvPr/>
          </p:nvSpPr>
          <p:spPr>
            <a:xfrm>
              <a:off x="1074420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8" name="Ellipse 228"/>
            <p:cNvSpPr/>
            <p:nvPr/>
          </p:nvSpPr>
          <p:spPr>
            <a:xfrm>
              <a:off x="1081087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9" name="Ellipse 229"/>
            <p:cNvSpPr/>
            <p:nvPr/>
          </p:nvSpPr>
          <p:spPr>
            <a:xfrm>
              <a:off x="1081087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0" name="Ellipse 230"/>
            <p:cNvSpPr/>
            <p:nvPr/>
          </p:nvSpPr>
          <p:spPr>
            <a:xfrm>
              <a:off x="1087755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1" name="Ellipse 231"/>
            <p:cNvSpPr/>
            <p:nvPr/>
          </p:nvSpPr>
          <p:spPr>
            <a:xfrm>
              <a:off x="1087755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2" name="Ellipse 232"/>
            <p:cNvSpPr/>
            <p:nvPr/>
          </p:nvSpPr>
          <p:spPr>
            <a:xfrm>
              <a:off x="1094422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3" name="Ellipse 233"/>
            <p:cNvSpPr/>
            <p:nvPr/>
          </p:nvSpPr>
          <p:spPr>
            <a:xfrm>
              <a:off x="1094422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4" name="Ellipse 234"/>
            <p:cNvSpPr/>
            <p:nvPr/>
          </p:nvSpPr>
          <p:spPr>
            <a:xfrm>
              <a:off x="1101090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5" name="Ellipse 235"/>
            <p:cNvSpPr/>
            <p:nvPr/>
          </p:nvSpPr>
          <p:spPr>
            <a:xfrm>
              <a:off x="1101090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6" name="Ellipse 236"/>
            <p:cNvSpPr/>
            <p:nvPr/>
          </p:nvSpPr>
          <p:spPr>
            <a:xfrm>
              <a:off x="11077575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7" name="Ellipse 237"/>
            <p:cNvSpPr/>
            <p:nvPr/>
          </p:nvSpPr>
          <p:spPr>
            <a:xfrm>
              <a:off x="11077575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8" name="Ellipse 238"/>
            <p:cNvSpPr/>
            <p:nvPr/>
          </p:nvSpPr>
          <p:spPr>
            <a:xfrm>
              <a:off x="11144250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9" name="Ellipse 239"/>
            <p:cNvSpPr/>
            <p:nvPr/>
          </p:nvSpPr>
          <p:spPr>
            <a:xfrm>
              <a:off x="11144250" y="2319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0" name="Ellipse 240"/>
            <p:cNvSpPr/>
            <p:nvPr/>
          </p:nvSpPr>
          <p:spPr>
            <a:xfrm>
              <a:off x="6370320" y="2338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1" name="Ellipse 241"/>
            <p:cNvSpPr/>
            <p:nvPr/>
          </p:nvSpPr>
          <p:spPr>
            <a:xfrm>
              <a:off x="6370320" y="2414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2" name="Ellipse 242"/>
            <p:cNvSpPr/>
            <p:nvPr/>
          </p:nvSpPr>
          <p:spPr>
            <a:xfrm>
              <a:off x="7705725" y="2338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3" name="Ellipse 243"/>
            <p:cNvSpPr/>
            <p:nvPr/>
          </p:nvSpPr>
          <p:spPr>
            <a:xfrm>
              <a:off x="7705725" y="2414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4" name="Ellipse 244"/>
            <p:cNvSpPr/>
            <p:nvPr/>
          </p:nvSpPr>
          <p:spPr>
            <a:xfrm>
              <a:off x="9041130" y="2338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5" name="Ellipse 245"/>
            <p:cNvSpPr/>
            <p:nvPr/>
          </p:nvSpPr>
          <p:spPr>
            <a:xfrm>
              <a:off x="9041130" y="2414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6" name="Ellipse 246"/>
            <p:cNvSpPr/>
            <p:nvPr/>
          </p:nvSpPr>
          <p:spPr>
            <a:xfrm>
              <a:off x="10376535" y="2338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7" name="Ellipse 247"/>
            <p:cNvSpPr/>
            <p:nvPr/>
          </p:nvSpPr>
          <p:spPr>
            <a:xfrm>
              <a:off x="10376535" y="2414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8" name="Ellipse 248"/>
            <p:cNvSpPr/>
            <p:nvPr/>
          </p:nvSpPr>
          <p:spPr>
            <a:xfrm>
              <a:off x="11178540" y="2338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9" name="Ellipse 249"/>
            <p:cNvSpPr/>
            <p:nvPr/>
          </p:nvSpPr>
          <p:spPr>
            <a:xfrm>
              <a:off x="11178540" y="2414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0" name="TextBox 250"/>
            <p:cNvSpPr txBox="1"/>
            <p:nvPr/>
          </p:nvSpPr>
          <p:spPr>
            <a:xfrm>
              <a:off x="6261289" y="24903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400</a:t>
              </a:r>
            </a:p>
          </p:txBody>
        </p:sp>
        <p:sp>
          <p:nvSpPr>
            <p:cNvPr id="251" name="TextBox 251"/>
            <p:cNvSpPr txBox="1"/>
            <p:nvPr/>
          </p:nvSpPr>
          <p:spPr>
            <a:xfrm>
              <a:off x="7596694" y="24903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500</a:t>
              </a:r>
            </a:p>
          </p:txBody>
        </p:sp>
        <p:sp>
          <p:nvSpPr>
            <p:cNvPr id="252" name="TextBox 252"/>
            <p:cNvSpPr txBox="1"/>
            <p:nvPr/>
          </p:nvSpPr>
          <p:spPr>
            <a:xfrm>
              <a:off x="8932099" y="24903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600</a:t>
              </a:r>
            </a:p>
          </p:txBody>
        </p:sp>
        <p:sp>
          <p:nvSpPr>
            <p:cNvPr id="253" name="TextBox 253"/>
            <p:cNvSpPr txBox="1"/>
            <p:nvPr/>
          </p:nvSpPr>
          <p:spPr>
            <a:xfrm>
              <a:off x="10267504" y="24903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700</a:t>
              </a:r>
            </a:p>
          </p:txBody>
        </p:sp>
        <p:sp>
          <p:nvSpPr>
            <p:cNvPr id="254" name="TextBox 254"/>
            <p:cNvSpPr txBox="1"/>
            <p:nvPr/>
          </p:nvSpPr>
          <p:spPr>
            <a:xfrm>
              <a:off x="11069509" y="24903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760</a:t>
              </a:r>
            </a:p>
          </p:txBody>
        </p:sp>
        <p:sp>
          <p:nvSpPr>
            <p:cNvPr id="255" name="TextBox 255"/>
            <p:cNvSpPr txBox="1"/>
            <p:nvPr/>
          </p:nvSpPr>
          <p:spPr>
            <a:xfrm>
              <a:off x="11267884" y="2661761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λ/nm</a:t>
              </a:r>
            </a:p>
          </p:txBody>
        </p:sp>
        <p:sp>
          <p:nvSpPr>
            <p:cNvPr id="256" name="TextBox 256"/>
            <p:cNvSpPr txBox="1"/>
            <p:nvPr/>
          </p:nvSpPr>
          <p:spPr>
            <a:xfrm>
              <a:off x="6016739" y="20531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紫外</a:t>
              </a:r>
            </a:p>
          </p:txBody>
        </p:sp>
        <p:sp>
          <p:nvSpPr>
            <p:cNvPr id="257" name="TextBox 257"/>
            <p:cNvSpPr txBox="1"/>
            <p:nvPr/>
          </p:nvSpPr>
          <p:spPr>
            <a:xfrm>
              <a:off x="11267884" y="20531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红外</a:t>
              </a:r>
            </a:p>
          </p:txBody>
        </p:sp>
        <p:sp>
          <p:nvSpPr>
            <p:cNvPr id="258" name="TextBox 258"/>
            <p:cNvSpPr txBox="1"/>
            <p:nvPr/>
          </p:nvSpPr>
          <p:spPr>
            <a:xfrm>
              <a:off x="6499098" y="1666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紫</a:t>
              </a:r>
            </a:p>
          </p:txBody>
        </p:sp>
        <p:sp>
          <p:nvSpPr>
            <p:cNvPr id="259" name="TextBox 259"/>
            <p:cNvSpPr txBox="1"/>
            <p:nvPr/>
          </p:nvSpPr>
          <p:spPr>
            <a:xfrm>
              <a:off x="7166801" y="1666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蓝</a:t>
              </a:r>
            </a:p>
          </p:txBody>
        </p:sp>
        <p:sp>
          <p:nvSpPr>
            <p:cNvPr id="260" name="TextBox 260"/>
            <p:cNvSpPr txBox="1"/>
            <p:nvPr/>
          </p:nvSpPr>
          <p:spPr>
            <a:xfrm>
              <a:off x="8034528" y="1666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</a:t>
              </a:r>
            </a:p>
          </p:txBody>
        </p:sp>
        <p:sp>
          <p:nvSpPr>
            <p:cNvPr id="261" name="TextBox 261"/>
            <p:cNvSpPr txBox="1"/>
            <p:nvPr/>
          </p:nvSpPr>
          <p:spPr>
            <a:xfrm>
              <a:off x="8702231" y="1666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黄</a:t>
              </a:r>
            </a:p>
          </p:txBody>
        </p:sp>
        <p:sp>
          <p:nvSpPr>
            <p:cNvPr id="262" name="TextBox 262"/>
            <p:cNvSpPr txBox="1"/>
            <p:nvPr/>
          </p:nvSpPr>
          <p:spPr>
            <a:xfrm>
              <a:off x="10038588" y="1666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</a:t>
              </a:r>
            </a:p>
          </p:txBody>
        </p:sp>
        <p:sp>
          <p:nvSpPr>
            <p:cNvPr id="263" name="TextBox 263"/>
            <p:cNvSpPr txBox="1"/>
            <p:nvPr/>
          </p:nvSpPr>
          <p:spPr>
            <a:xfrm>
              <a:off x="7747550" y="2757964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人眼最敏感：550 nm 附近的黄绿光</a:t>
              </a:r>
            </a:p>
          </p:txBody>
        </p:sp>
      </p:grpSp>
      <p:grpSp>
        <p:nvGrpSpPr>
          <p:cNvPr id="277" name="c2-card-2"/>
          <p:cNvGrpSpPr/>
          <p:nvPr/>
        </p:nvGrpSpPr>
        <p:grpSpPr>
          <a:xfrm>
            <a:off x="5815965" y="3143250"/>
            <a:ext cx="5842635" cy="1775460"/>
            <a:chOff x="5815965" y="3143250"/>
            <a:chExt cx="5842635" cy="1775460"/>
          </a:xfrm>
        </p:grpSpPr>
        <p:sp>
          <p:nvSpPr>
            <p:cNvPr id="265" name="Rectangle 265"/>
            <p:cNvSpPr/>
            <p:nvPr/>
          </p:nvSpPr>
          <p:spPr>
            <a:xfrm>
              <a:off x="5815965" y="3143250"/>
              <a:ext cx="5842635" cy="1775460"/>
            </a:xfrm>
            <a:prstGeom prst="roundRect">
              <a:avLst>
                <a:gd name="adj" fmla="val 751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6" name="Rectangle 266"/>
            <p:cNvSpPr/>
            <p:nvPr/>
          </p:nvSpPr>
          <p:spPr>
            <a:xfrm>
              <a:off x="6025515" y="3352800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7" name="TextBox 267"/>
            <p:cNvSpPr txBox="1"/>
            <p:nvPr/>
          </p:nvSpPr>
          <p:spPr>
            <a:xfrm>
              <a:off x="6073369" y="3388519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相干条件（与机械波相同）</a:t>
              </a:r>
            </a:p>
          </p:txBody>
        </p:sp>
        <p:sp>
          <p:nvSpPr>
            <p:cNvPr id="268" name="Ellipse 268"/>
            <p:cNvSpPr/>
            <p:nvPr/>
          </p:nvSpPr>
          <p:spPr>
            <a:xfrm>
              <a:off x="6025515" y="371665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9" name="TextBox 269"/>
            <p:cNvSpPr txBox="1"/>
            <p:nvPr/>
          </p:nvSpPr>
          <p:spPr>
            <a:xfrm>
              <a:off x="6087364" y="37589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0" name="TextBox 270"/>
            <p:cNvSpPr txBox="1"/>
            <p:nvPr/>
          </p:nvSpPr>
          <p:spPr>
            <a:xfrm>
              <a:off x="6326505" y="372999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频率相同</a:t>
              </a:r>
            </a:p>
          </p:txBody>
        </p:sp>
        <p:sp>
          <p:nvSpPr>
            <p:cNvPr id="271" name="Ellipse 271"/>
            <p:cNvSpPr/>
            <p:nvPr/>
          </p:nvSpPr>
          <p:spPr>
            <a:xfrm>
              <a:off x="6025515" y="405193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2" name="TextBox 272"/>
            <p:cNvSpPr txBox="1"/>
            <p:nvPr/>
          </p:nvSpPr>
          <p:spPr>
            <a:xfrm>
              <a:off x="6087364" y="40942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3" name="TextBox 273"/>
            <p:cNvSpPr txBox="1"/>
            <p:nvPr/>
          </p:nvSpPr>
          <p:spPr>
            <a:xfrm>
              <a:off x="6326505" y="406527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光矢量的振动方向相同</a:t>
              </a:r>
            </a:p>
          </p:txBody>
        </p:sp>
        <p:sp>
          <p:nvSpPr>
            <p:cNvPr id="274" name="Ellipse 274"/>
            <p:cNvSpPr/>
            <p:nvPr/>
          </p:nvSpPr>
          <p:spPr>
            <a:xfrm>
              <a:off x="6025515" y="43872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5" name="TextBox 275"/>
            <p:cNvSpPr txBox="1"/>
            <p:nvPr/>
          </p:nvSpPr>
          <p:spPr>
            <a:xfrm>
              <a:off x="6087364" y="44295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6" name="TextBox 276"/>
            <p:cNvSpPr txBox="1"/>
            <p:nvPr/>
          </p:nvSpPr>
          <p:spPr>
            <a:xfrm>
              <a:off x="6326505" y="44005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相位差恒定</a:t>
              </a:r>
            </a:p>
          </p:txBody>
        </p:sp>
      </p:grpSp>
      <p:grpSp>
        <p:nvGrpSpPr>
          <p:cNvPr id="284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78" name="Rectangle 278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2" name="Group 282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279" name="Freeform 279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0" name="Freeform 280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1" name="Freeform 281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3" name="TextBox 283"/>
            <p:cNvSpPr txBox="1"/>
            <p:nvPr/>
          </p:nvSpPr>
          <p:spPr>
            <a:xfrm>
              <a:off x="1040130" y="5728335"/>
              <a:ext cx="9978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可见光只占电磁波谱很窄的一段，从紫到红波长增加一倍都不到。本章例题里的 546.1 nm、589.3 nm 分别是汞灯绿线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和钠黄光。</a:t>
              </a:r>
            </a:p>
          </p:txBody>
        </p:sp>
      </p:grpSp>
      <p:grpSp>
        <p:nvGrpSpPr>
          <p:cNvPr id="2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5" name="TextBox 28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286" name="TextBox 28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37892" cy="909257"/>
            <a:chOff x="520446" y="342900"/>
            <a:chExt cx="70378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光的相干性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378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相干叠加的光强随相位差在 0 到 4I₀ 之间变化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4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</m:e>
                      </m:func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5"/>
              <p:cNvSpPr txBox="1">
                <a:spLocks noGrp="1"/>
              </p:cNvSpPr>
              <p:nvPr/>
            </p:nvSpPr>
            <p:spPr>
              <a:xfrm>
                <a:off x="533400" y="217170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</m:func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4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0" name="c1-table-3"/>
          <p:cNvGrpSpPr/>
          <p:nvPr/>
        </p:nvGrpSpPr>
        <p:grpSpPr>
          <a:xfrm>
            <a:off x="533400" y="2825115"/>
            <a:ext cx="5410200" cy="1795462"/>
            <a:chOff x="533400" y="2825115"/>
            <a:chExt cx="5410200" cy="1795462"/>
          </a:xfrm>
        </p:grpSpPr>
        <p:sp>
          <p:nvSpPr>
            <p:cNvPr id="9" name="Rectangle 9"/>
            <p:cNvSpPr/>
            <p:nvPr/>
          </p:nvSpPr>
          <p:spPr>
            <a:xfrm>
              <a:off x="533400" y="282511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11673" y="2960846"/>
              <a:ext cx="790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 Δφ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8066" y="2960846"/>
              <a:ext cx="4722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光强 I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7062" y="29608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340947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±2kπ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89086" y="3409474"/>
              <a:ext cx="267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4I₀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97630" y="3283268"/>
              <a:ext cx="203644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95928" y="340947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干涉极大（亮）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7176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72237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3858101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±(2k+1)π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89086" y="385810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97630" y="3731895"/>
              <a:ext cx="203644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95928" y="385810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干涉极小（暗）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67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1223" y="43067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89086" y="4306729"/>
              <a:ext cx="534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0～4I₀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95928" y="43067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介于两者之间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82511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476500" y="28251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883342" y="282511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6"/>
              <p:cNvSpPr txBox="1">
                <a:spLocks noGrp="1"/>
              </p:cNvSpPr>
              <p:nvPr/>
            </p:nvSpPr>
            <p:spPr>
              <a:xfrm>
                <a:off x="533400" y="4811078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I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72" name="g_intens"/>
          <p:cNvGrpSpPr/>
          <p:nvPr/>
        </p:nvGrpSpPr>
        <p:grpSpPr>
          <a:xfrm>
            <a:off x="6529388" y="1676400"/>
            <a:ext cx="5066087" cy="2243804"/>
            <a:chOff x="6529388" y="1676400"/>
            <a:chExt cx="5066087" cy="2243804"/>
          </a:xfrm>
        </p:grpSpPr>
        <p:sp>
          <p:nvSpPr>
            <p:cNvPr id="32" name="Freeform 32"/>
            <p:cNvSpPr/>
            <p:nvPr/>
          </p:nvSpPr>
          <p:spPr>
            <a:xfrm>
              <a:off x="6548438" y="3429000"/>
              <a:ext cx="4905375" cy="9525"/>
            </a:xfrm>
            <a:custGeom>
              <a:avLst/>
              <a:gdLst/>
              <a:ahLst/>
              <a:cxnLst/>
              <a:rect l="l" t="t" r="r" b="b"/>
              <a:pathLst>
                <a:path w="4905375" h="9525">
                  <a:moveTo>
                    <a:pt x="0" y="0"/>
                  </a:moveTo>
                  <a:lnTo>
                    <a:pt x="49053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1453812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9010650" y="1852612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163830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963025" y="17573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643688" y="1952625"/>
              <a:ext cx="4733925" cy="1476375"/>
            </a:xfrm>
            <a:custGeom>
              <a:avLst/>
              <a:gdLst/>
              <a:ahLst/>
              <a:cxnLst/>
              <a:rect l="l" t="t" r="r" b="b"/>
              <a:pathLst>
                <a:path w="4733925" h="1476375">
                  <a:moveTo>
                    <a:pt x="0" y="1474470"/>
                  </a:moveTo>
                  <a:lnTo>
                    <a:pt x="12382" y="1472565"/>
                  </a:lnTo>
                  <a:lnTo>
                    <a:pt x="39053" y="1460182"/>
                  </a:lnTo>
                  <a:lnTo>
                    <a:pt x="64770" y="1440180"/>
                  </a:lnTo>
                  <a:lnTo>
                    <a:pt x="91440" y="1412558"/>
                  </a:lnTo>
                  <a:lnTo>
                    <a:pt x="118110" y="1377315"/>
                  </a:lnTo>
                  <a:lnTo>
                    <a:pt x="144780" y="1335405"/>
                  </a:lnTo>
                  <a:lnTo>
                    <a:pt x="171450" y="1286828"/>
                  </a:lnTo>
                  <a:lnTo>
                    <a:pt x="197168" y="1232535"/>
                  </a:lnTo>
                  <a:lnTo>
                    <a:pt x="223838" y="1172528"/>
                  </a:lnTo>
                  <a:lnTo>
                    <a:pt x="250507" y="1106805"/>
                  </a:lnTo>
                  <a:lnTo>
                    <a:pt x="276225" y="1038225"/>
                  </a:lnTo>
                  <a:lnTo>
                    <a:pt x="302895" y="965835"/>
                  </a:lnTo>
                  <a:lnTo>
                    <a:pt x="329565" y="891540"/>
                  </a:lnTo>
                  <a:lnTo>
                    <a:pt x="356235" y="815340"/>
                  </a:lnTo>
                  <a:lnTo>
                    <a:pt x="382905" y="738188"/>
                  </a:lnTo>
                  <a:lnTo>
                    <a:pt x="409575" y="661035"/>
                  </a:lnTo>
                  <a:lnTo>
                    <a:pt x="435293" y="584835"/>
                  </a:lnTo>
                  <a:lnTo>
                    <a:pt x="461962" y="510540"/>
                  </a:lnTo>
                  <a:lnTo>
                    <a:pt x="488632" y="438150"/>
                  </a:lnTo>
                  <a:lnTo>
                    <a:pt x="514350" y="369570"/>
                  </a:lnTo>
                  <a:lnTo>
                    <a:pt x="541020" y="303848"/>
                  </a:lnTo>
                  <a:lnTo>
                    <a:pt x="567690" y="244792"/>
                  </a:lnTo>
                  <a:lnTo>
                    <a:pt x="594360" y="189548"/>
                  </a:lnTo>
                  <a:lnTo>
                    <a:pt x="621030" y="140970"/>
                  </a:lnTo>
                  <a:lnTo>
                    <a:pt x="647700" y="99060"/>
                  </a:lnTo>
                  <a:lnTo>
                    <a:pt x="673418" y="63817"/>
                  </a:lnTo>
                  <a:lnTo>
                    <a:pt x="700088" y="36195"/>
                  </a:lnTo>
                  <a:lnTo>
                    <a:pt x="726757" y="16192"/>
                  </a:lnTo>
                  <a:lnTo>
                    <a:pt x="752475" y="3810"/>
                  </a:lnTo>
                  <a:lnTo>
                    <a:pt x="779145" y="0"/>
                  </a:lnTo>
                  <a:lnTo>
                    <a:pt x="805815" y="3810"/>
                  </a:lnTo>
                  <a:lnTo>
                    <a:pt x="832485" y="16192"/>
                  </a:lnTo>
                  <a:lnTo>
                    <a:pt x="859155" y="36195"/>
                  </a:lnTo>
                  <a:lnTo>
                    <a:pt x="884872" y="63817"/>
                  </a:lnTo>
                  <a:lnTo>
                    <a:pt x="911543" y="99060"/>
                  </a:lnTo>
                  <a:lnTo>
                    <a:pt x="938212" y="140970"/>
                  </a:lnTo>
                  <a:lnTo>
                    <a:pt x="964882" y="189548"/>
                  </a:lnTo>
                  <a:lnTo>
                    <a:pt x="991553" y="244792"/>
                  </a:lnTo>
                  <a:lnTo>
                    <a:pt x="1018222" y="303848"/>
                  </a:lnTo>
                  <a:lnTo>
                    <a:pt x="1043940" y="369570"/>
                  </a:lnTo>
                  <a:lnTo>
                    <a:pt x="1070610" y="438150"/>
                  </a:lnTo>
                  <a:lnTo>
                    <a:pt x="1097280" y="510540"/>
                  </a:lnTo>
                  <a:lnTo>
                    <a:pt x="1122997" y="584835"/>
                  </a:lnTo>
                  <a:lnTo>
                    <a:pt x="1149668" y="661035"/>
                  </a:lnTo>
                  <a:lnTo>
                    <a:pt x="1176338" y="738188"/>
                  </a:lnTo>
                  <a:lnTo>
                    <a:pt x="1203007" y="815340"/>
                  </a:lnTo>
                  <a:lnTo>
                    <a:pt x="1229678" y="891540"/>
                  </a:lnTo>
                  <a:lnTo>
                    <a:pt x="1256347" y="965835"/>
                  </a:lnTo>
                  <a:lnTo>
                    <a:pt x="1282065" y="1038225"/>
                  </a:lnTo>
                  <a:lnTo>
                    <a:pt x="1308735" y="1106805"/>
                  </a:lnTo>
                  <a:lnTo>
                    <a:pt x="1334453" y="1172528"/>
                  </a:lnTo>
                  <a:lnTo>
                    <a:pt x="1361122" y="1232535"/>
                  </a:lnTo>
                  <a:lnTo>
                    <a:pt x="1387793" y="1286828"/>
                  </a:lnTo>
                  <a:lnTo>
                    <a:pt x="1414462" y="1335405"/>
                  </a:lnTo>
                  <a:lnTo>
                    <a:pt x="1441132" y="1377315"/>
                  </a:lnTo>
                  <a:lnTo>
                    <a:pt x="1467803" y="1412558"/>
                  </a:lnTo>
                  <a:lnTo>
                    <a:pt x="1493520" y="1440180"/>
                  </a:lnTo>
                  <a:lnTo>
                    <a:pt x="1520190" y="1460182"/>
                  </a:lnTo>
                  <a:lnTo>
                    <a:pt x="1546860" y="1472565"/>
                  </a:lnTo>
                  <a:lnTo>
                    <a:pt x="1572578" y="1476375"/>
                  </a:lnTo>
                  <a:lnTo>
                    <a:pt x="1599247" y="1472565"/>
                  </a:lnTo>
                  <a:lnTo>
                    <a:pt x="1625918" y="1460182"/>
                  </a:lnTo>
                  <a:lnTo>
                    <a:pt x="1652588" y="1440180"/>
                  </a:lnTo>
                  <a:lnTo>
                    <a:pt x="1679257" y="1412558"/>
                  </a:lnTo>
                  <a:lnTo>
                    <a:pt x="1705928" y="1377315"/>
                  </a:lnTo>
                  <a:lnTo>
                    <a:pt x="1731645" y="1335405"/>
                  </a:lnTo>
                  <a:lnTo>
                    <a:pt x="1758315" y="1286828"/>
                  </a:lnTo>
                  <a:lnTo>
                    <a:pt x="1784985" y="1232535"/>
                  </a:lnTo>
                  <a:lnTo>
                    <a:pt x="1811655" y="1172528"/>
                  </a:lnTo>
                  <a:lnTo>
                    <a:pt x="1838325" y="1106805"/>
                  </a:lnTo>
                  <a:lnTo>
                    <a:pt x="1864043" y="1038225"/>
                  </a:lnTo>
                  <a:lnTo>
                    <a:pt x="1890712" y="965835"/>
                  </a:lnTo>
                  <a:lnTo>
                    <a:pt x="1917382" y="891540"/>
                  </a:lnTo>
                  <a:lnTo>
                    <a:pt x="1943100" y="815340"/>
                  </a:lnTo>
                  <a:lnTo>
                    <a:pt x="1969770" y="738188"/>
                  </a:lnTo>
                  <a:lnTo>
                    <a:pt x="1996440" y="661035"/>
                  </a:lnTo>
                  <a:lnTo>
                    <a:pt x="2023110" y="584835"/>
                  </a:lnTo>
                  <a:lnTo>
                    <a:pt x="2049780" y="510540"/>
                  </a:lnTo>
                  <a:lnTo>
                    <a:pt x="2076450" y="438150"/>
                  </a:lnTo>
                  <a:lnTo>
                    <a:pt x="2102168" y="369570"/>
                  </a:lnTo>
                  <a:lnTo>
                    <a:pt x="2128838" y="303848"/>
                  </a:lnTo>
                  <a:lnTo>
                    <a:pt x="2155507" y="244792"/>
                  </a:lnTo>
                  <a:lnTo>
                    <a:pt x="2181225" y="189548"/>
                  </a:lnTo>
                  <a:lnTo>
                    <a:pt x="2207895" y="140970"/>
                  </a:lnTo>
                  <a:lnTo>
                    <a:pt x="2234565" y="99060"/>
                  </a:lnTo>
                  <a:lnTo>
                    <a:pt x="2261235" y="63817"/>
                  </a:lnTo>
                  <a:lnTo>
                    <a:pt x="2287905" y="36195"/>
                  </a:lnTo>
                  <a:lnTo>
                    <a:pt x="2314575" y="16192"/>
                  </a:lnTo>
                  <a:lnTo>
                    <a:pt x="2340293" y="3810"/>
                  </a:lnTo>
                  <a:lnTo>
                    <a:pt x="2366962" y="0"/>
                  </a:lnTo>
                  <a:lnTo>
                    <a:pt x="2393632" y="3810"/>
                  </a:lnTo>
                  <a:lnTo>
                    <a:pt x="2419350" y="16192"/>
                  </a:lnTo>
                  <a:lnTo>
                    <a:pt x="2446020" y="36195"/>
                  </a:lnTo>
                  <a:lnTo>
                    <a:pt x="2472690" y="63817"/>
                  </a:lnTo>
                  <a:lnTo>
                    <a:pt x="2499360" y="99060"/>
                  </a:lnTo>
                  <a:lnTo>
                    <a:pt x="2526030" y="140970"/>
                  </a:lnTo>
                  <a:lnTo>
                    <a:pt x="2551748" y="189548"/>
                  </a:lnTo>
                  <a:lnTo>
                    <a:pt x="2578418" y="244792"/>
                  </a:lnTo>
                  <a:lnTo>
                    <a:pt x="2605088" y="303848"/>
                  </a:lnTo>
                  <a:lnTo>
                    <a:pt x="2631757" y="369570"/>
                  </a:lnTo>
                  <a:lnTo>
                    <a:pt x="2658428" y="438150"/>
                  </a:lnTo>
                  <a:lnTo>
                    <a:pt x="2684145" y="510540"/>
                  </a:lnTo>
                  <a:lnTo>
                    <a:pt x="2710815" y="584835"/>
                  </a:lnTo>
                  <a:lnTo>
                    <a:pt x="2737485" y="661035"/>
                  </a:lnTo>
                  <a:lnTo>
                    <a:pt x="2764155" y="738188"/>
                  </a:lnTo>
                  <a:lnTo>
                    <a:pt x="2789872" y="815340"/>
                  </a:lnTo>
                  <a:lnTo>
                    <a:pt x="2816543" y="891540"/>
                  </a:lnTo>
                  <a:lnTo>
                    <a:pt x="2843212" y="965835"/>
                  </a:lnTo>
                  <a:lnTo>
                    <a:pt x="2869882" y="1038225"/>
                  </a:lnTo>
                  <a:lnTo>
                    <a:pt x="2896552" y="1106805"/>
                  </a:lnTo>
                  <a:lnTo>
                    <a:pt x="2923222" y="1172528"/>
                  </a:lnTo>
                  <a:lnTo>
                    <a:pt x="2948940" y="1232535"/>
                  </a:lnTo>
                  <a:lnTo>
                    <a:pt x="2975610" y="1286828"/>
                  </a:lnTo>
                  <a:lnTo>
                    <a:pt x="3001328" y="1335405"/>
                  </a:lnTo>
                  <a:lnTo>
                    <a:pt x="3027998" y="1377315"/>
                  </a:lnTo>
                  <a:lnTo>
                    <a:pt x="3054668" y="1412558"/>
                  </a:lnTo>
                  <a:lnTo>
                    <a:pt x="3081338" y="1440180"/>
                  </a:lnTo>
                  <a:lnTo>
                    <a:pt x="3108007" y="1460182"/>
                  </a:lnTo>
                  <a:lnTo>
                    <a:pt x="3134677" y="1472565"/>
                  </a:lnTo>
                  <a:lnTo>
                    <a:pt x="3160395" y="1476375"/>
                  </a:lnTo>
                  <a:lnTo>
                    <a:pt x="3187065" y="1472565"/>
                  </a:lnTo>
                  <a:lnTo>
                    <a:pt x="3213735" y="1460182"/>
                  </a:lnTo>
                  <a:lnTo>
                    <a:pt x="3239452" y="1440180"/>
                  </a:lnTo>
                  <a:lnTo>
                    <a:pt x="3266123" y="1412558"/>
                  </a:lnTo>
                  <a:lnTo>
                    <a:pt x="3292793" y="1377315"/>
                  </a:lnTo>
                  <a:lnTo>
                    <a:pt x="3319462" y="1335405"/>
                  </a:lnTo>
                  <a:lnTo>
                    <a:pt x="3346132" y="1286828"/>
                  </a:lnTo>
                  <a:lnTo>
                    <a:pt x="3372802" y="1232535"/>
                  </a:lnTo>
                  <a:lnTo>
                    <a:pt x="3398520" y="1172528"/>
                  </a:lnTo>
                  <a:lnTo>
                    <a:pt x="3425190" y="1106805"/>
                  </a:lnTo>
                  <a:lnTo>
                    <a:pt x="3451860" y="1038225"/>
                  </a:lnTo>
                  <a:lnTo>
                    <a:pt x="3478530" y="965835"/>
                  </a:lnTo>
                  <a:lnTo>
                    <a:pt x="3505200" y="891540"/>
                  </a:lnTo>
                  <a:lnTo>
                    <a:pt x="3530918" y="815340"/>
                  </a:lnTo>
                  <a:lnTo>
                    <a:pt x="3557588" y="738188"/>
                  </a:lnTo>
                  <a:lnTo>
                    <a:pt x="3584257" y="661035"/>
                  </a:lnTo>
                  <a:lnTo>
                    <a:pt x="3609975" y="584835"/>
                  </a:lnTo>
                  <a:lnTo>
                    <a:pt x="3636645" y="510540"/>
                  </a:lnTo>
                  <a:lnTo>
                    <a:pt x="3663315" y="438150"/>
                  </a:lnTo>
                  <a:lnTo>
                    <a:pt x="3689985" y="369570"/>
                  </a:lnTo>
                  <a:lnTo>
                    <a:pt x="3716655" y="303848"/>
                  </a:lnTo>
                  <a:lnTo>
                    <a:pt x="3743325" y="244792"/>
                  </a:lnTo>
                  <a:lnTo>
                    <a:pt x="3769043" y="189548"/>
                  </a:lnTo>
                  <a:lnTo>
                    <a:pt x="3795712" y="140970"/>
                  </a:lnTo>
                  <a:lnTo>
                    <a:pt x="3822382" y="99060"/>
                  </a:lnTo>
                  <a:lnTo>
                    <a:pt x="3848100" y="63817"/>
                  </a:lnTo>
                  <a:lnTo>
                    <a:pt x="3874770" y="36195"/>
                  </a:lnTo>
                  <a:lnTo>
                    <a:pt x="3901440" y="16192"/>
                  </a:lnTo>
                  <a:lnTo>
                    <a:pt x="3928110" y="3810"/>
                  </a:lnTo>
                  <a:lnTo>
                    <a:pt x="3954780" y="0"/>
                  </a:lnTo>
                  <a:lnTo>
                    <a:pt x="3981450" y="3810"/>
                  </a:lnTo>
                  <a:lnTo>
                    <a:pt x="4007168" y="16192"/>
                  </a:lnTo>
                  <a:lnTo>
                    <a:pt x="4033838" y="36195"/>
                  </a:lnTo>
                  <a:lnTo>
                    <a:pt x="4060507" y="63817"/>
                  </a:lnTo>
                  <a:lnTo>
                    <a:pt x="4086225" y="99060"/>
                  </a:lnTo>
                  <a:lnTo>
                    <a:pt x="4112895" y="140970"/>
                  </a:lnTo>
                  <a:lnTo>
                    <a:pt x="4139565" y="189548"/>
                  </a:lnTo>
                  <a:lnTo>
                    <a:pt x="4166235" y="244792"/>
                  </a:lnTo>
                  <a:lnTo>
                    <a:pt x="4192905" y="303848"/>
                  </a:lnTo>
                  <a:lnTo>
                    <a:pt x="4218623" y="369570"/>
                  </a:lnTo>
                  <a:lnTo>
                    <a:pt x="4245292" y="438150"/>
                  </a:lnTo>
                  <a:lnTo>
                    <a:pt x="4271962" y="510540"/>
                  </a:lnTo>
                  <a:lnTo>
                    <a:pt x="4298632" y="584835"/>
                  </a:lnTo>
                  <a:lnTo>
                    <a:pt x="4325302" y="661035"/>
                  </a:lnTo>
                  <a:lnTo>
                    <a:pt x="4351020" y="738188"/>
                  </a:lnTo>
                  <a:lnTo>
                    <a:pt x="4377690" y="815340"/>
                  </a:lnTo>
                  <a:lnTo>
                    <a:pt x="4404360" y="891540"/>
                  </a:lnTo>
                  <a:lnTo>
                    <a:pt x="4431030" y="965835"/>
                  </a:lnTo>
                  <a:lnTo>
                    <a:pt x="4456748" y="1038225"/>
                  </a:lnTo>
                  <a:lnTo>
                    <a:pt x="4483418" y="1106805"/>
                  </a:lnTo>
                  <a:lnTo>
                    <a:pt x="4510088" y="1172528"/>
                  </a:lnTo>
                  <a:lnTo>
                    <a:pt x="4536758" y="1232535"/>
                  </a:lnTo>
                  <a:lnTo>
                    <a:pt x="4563427" y="1286828"/>
                  </a:lnTo>
                  <a:lnTo>
                    <a:pt x="4590098" y="1335405"/>
                  </a:lnTo>
                  <a:lnTo>
                    <a:pt x="4615815" y="1377315"/>
                  </a:lnTo>
                  <a:lnTo>
                    <a:pt x="4642485" y="1412558"/>
                  </a:lnTo>
                  <a:lnTo>
                    <a:pt x="4668202" y="1440180"/>
                  </a:lnTo>
                  <a:lnTo>
                    <a:pt x="4694873" y="1460182"/>
                  </a:lnTo>
                  <a:lnTo>
                    <a:pt x="4721542" y="1472565"/>
                  </a:lnTo>
                  <a:lnTo>
                    <a:pt x="4733925" y="1474470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643688" y="2690812"/>
              <a:ext cx="4733925" cy="9525"/>
            </a:xfrm>
            <a:custGeom>
              <a:avLst/>
              <a:gdLst/>
              <a:ahLst/>
              <a:cxnLst/>
              <a:rect l="l" t="t" r="r" b="b"/>
              <a:pathLst>
                <a:path w="4733925" h="9525">
                  <a:moveTo>
                    <a:pt x="0" y="0"/>
                  </a:moveTo>
                  <a:lnTo>
                    <a:pt x="473392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8967788" y="1952625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422832" y="340518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216265" y="340518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804082" y="340518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598468" y="340518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52938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55858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005888" y="35004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005888" y="17383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62463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38713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624638" y="26860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1387138" y="26860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948738" y="19478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9063038" y="19478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418070" y="3386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418070" y="3462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211502" y="3386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8211502" y="3462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799320" y="3386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799320" y="3462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593705" y="3386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0593705" y="34623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416926" y="3552825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19616" y="1676400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71469" y="1847850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4I₀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162986" y="2496026"/>
              <a:ext cx="2148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2I₀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09039" y="353901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−2π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138752" y="353901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−π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2849" y="35390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20954" y="353901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83692" y="353901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062902" y="3729514"/>
              <a:ext cx="18384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实线：相干 I = 4I₀cos²(Δφ/2)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19997" y="3729514"/>
              <a:ext cx="12405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虚线：非相干 I = 2I₀</a:t>
              </a:r>
            </a:p>
          </p:txBody>
        </p:sp>
      </p:grpSp>
      <p:grpSp>
        <p:nvGrpSpPr>
          <p:cNvPr id="79" name="c2-callout-2"/>
          <p:cNvGrpSpPr/>
          <p:nvPr/>
        </p:nvGrpSpPr>
        <p:grpSpPr>
          <a:xfrm>
            <a:off x="6248400" y="4095750"/>
            <a:ext cx="5410200" cy="1126808"/>
            <a:chOff x="6248400" y="4095750"/>
            <a:chExt cx="5410200" cy="1126808"/>
          </a:xfrm>
        </p:grpSpPr>
        <p:sp>
          <p:nvSpPr>
            <p:cNvPr id="73" name="Rectangle 73"/>
            <p:cNvSpPr/>
            <p:nvPr/>
          </p:nvSpPr>
          <p:spPr>
            <a:xfrm>
              <a:off x="6248400" y="4095750"/>
              <a:ext cx="5410200" cy="1126808"/>
            </a:xfrm>
            <a:prstGeom prst="roundRect">
              <a:avLst>
                <a:gd name="adj" fmla="val 1014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453188" y="4558665"/>
              <a:ext cx="200026" cy="200025"/>
              <a:chOff x="6453188" y="4558665"/>
              <a:chExt cx="200026" cy="200025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453188" y="45586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492926" y="46031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527642" y="47142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755130" y="4277678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两束光不相干时，cosΔφ 随时间乱变、平均为零，处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处 I = I₁ + I₂ = 2I₀，看不到条纹。相干时能量只是重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新分配：亮处 4I₀，暗处 0，平均仍是 2I₀。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80" name="Rectangle 8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0130" y="5728335"/>
              <a:ext cx="9806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4I₀ 和 0 这两个极值要求两束光强相等。若 I₂ = 4I₁，极大为 9I₁、极小为 I₁，暗纹不黑，条纹就不清楚，这也是后面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「振幅不能相差太大」的来由。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01689" cy="3351847"/>
            <a:chOff x="667512" y="1835468"/>
            <a:chExt cx="620168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光程与光程差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191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7.1.2～7.1.3，光在不同介质里走，比较的是光程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568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 L = nr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光程差与相位差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薄透镜的等光程性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分波阵面法与分振幅法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光程与光程差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光程：把介质中的路程折算成真空中的路程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75510"/>
            <a:chOff x="533400" y="1524000"/>
            <a:chExt cx="5410200" cy="21755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光程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光在折射率 n 的介质中频率不变，波长变为 λₙ = λ/n。走过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几何路程 r，相位落后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"/>
                <p:cNvSpPr txBox="1">
                  <a:spLocks noGrp="1"/>
                </p:cNvSpPr>
                <p:nvPr/>
              </p:nvSpPr>
              <p:spPr>
                <a:xfrm>
                  <a:off x="775335" y="2668905"/>
                  <a:ext cx="496443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2π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2π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nr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2π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3273266"/>
              <a:ext cx="4412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nr 叫光程。用光程计算时，λ 一律取真空波长。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885248"/>
            <a:ext cx="5410200" cy="1558290"/>
            <a:chOff x="533400" y="3885248"/>
            <a:chExt cx="5410200" cy="1558290"/>
          </a:xfrm>
        </p:grpSpPr>
        <p:sp>
          <p:nvSpPr>
            <p:cNvPr id="15" name="Rectangle 15"/>
            <p:cNvSpPr/>
            <p:nvPr/>
          </p:nvSpPr>
          <p:spPr>
            <a:xfrm>
              <a:off x="533400" y="3885248"/>
              <a:ext cx="5410200" cy="1558290"/>
            </a:xfrm>
            <a:prstGeom prst="roundRect">
              <a:avLst>
                <a:gd name="adj" fmla="val 85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18598"/>
              <a:ext cx="47625" cy="12915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75335" y="408908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7644" y="41248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物理意义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2"/>
                <p:cNvSpPr txBox="1">
                  <a:spLocks noGrp="1"/>
                </p:cNvSpPr>
                <p:nvPr/>
              </p:nvSpPr>
              <p:spPr>
                <a:xfrm>
                  <a:off x="775335" y="4438650"/>
                  <a:ext cx="496443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TextBox 20"/>
            <p:cNvSpPr txBox="1"/>
            <p:nvPr/>
          </p:nvSpPr>
          <p:spPr>
            <a:xfrm>
              <a:off x="768096" y="501729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光程等于同样时间里光在真空中走过的路程。</a:t>
              </a:r>
            </a:p>
          </p:txBody>
        </p:sp>
      </p:grpSp>
      <p:grpSp>
        <p:nvGrpSpPr>
          <p:cNvPr id="73" name="g_optlen"/>
          <p:cNvGrpSpPr/>
          <p:nvPr/>
        </p:nvGrpSpPr>
        <p:grpSpPr>
          <a:xfrm>
            <a:off x="6693980" y="1662589"/>
            <a:ext cx="4491227" cy="1743265"/>
            <a:chOff x="6693980" y="1662589"/>
            <a:chExt cx="4491227" cy="1743265"/>
          </a:xfrm>
        </p:grpSpPr>
        <p:sp>
          <p:nvSpPr>
            <p:cNvPr id="22" name="Freeform 22"/>
            <p:cNvSpPr/>
            <p:nvPr/>
          </p:nvSpPr>
          <p:spPr>
            <a:xfrm>
              <a:off x="7715250" y="1801178"/>
              <a:ext cx="2309812" cy="739140"/>
            </a:xfrm>
            <a:custGeom>
              <a:avLst/>
              <a:gdLst/>
              <a:ahLst/>
              <a:cxnLst/>
              <a:rect l="l" t="t" r="r" b="b"/>
              <a:pathLst>
                <a:path w="2309812" h="739140">
                  <a:moveTo>
                    <a:pt x="14288" y="0"/>
                  </a:moveTo>
                  <a:lnTo>
                    <a:pt x="2309812" y="0"/>
                  </a:lnTo>
                  <a:lnTo>
                    <a:pt x="2309812" y="739140"/>
                  </a:lnTo>
                  <a:lnTo>
                    <a:pt x="0" y="739140"/>
                  </a:lnTo>
                  <a:lnTo>
                    <a:pt x="0" y="0"/>
                  </a:lnTo>
                  <a:lnTo>
                    <a:pt x="2295525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891462" y="2366010"/>
              <a:ext cx="109538" cy="108585"/>
            </a:xfrm>
            <a:custGeom>
              <a:avLst/>
              <a:gdLst/>
              <a:ahLst/>
              <a:cxnLst/>
              <a:rect l="l" t="t" r="r" b="b"/>
              <a:pathLst>
                <a:path w="109538" h="108585">
                  <a:moveTo>
                    <a:pt x="0" y="108585"/>
                  </a:moveTo>
                  <a:lnTo>
                    <a:pt x="109538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132445" y="236601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8585"/>
                  </a:moveTo>
                  <a:lnTo>
                    <a:pt x="108585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372475" y="236601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8585"/>
                  </a:moveTo>
                  <a:lnTo>
                    <a:pt x="108585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612505" y="2366010"/>
              <a:ext cx="109538" cy="108585"/>
            </a:xfrm>
            <a:custGeom>
              <a:avLst/>
              <a:gdLst/>
              <a:ahLst/>
              <a:cxnLst/>
              <a:rect l="l" t="t" r="r" b="b"/>
              <a:pathLst>
                <a:path w="109538" h="108585">
                  <a:moveTo>
                    <a:pt x="0" y="108585"/>
                  </a:moveTo>
                  <a:lnTo>
                    <a:pt x="109538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852535" y="2366010"/>
              <a:ext cx="109538" cy="108585"/>
            </a:xfrm>
            <a:custGeom>
              <a:avLst/>
              <a:gdLst/>
              <a:ahLst/>
              <a:cxnLst/>
              <a:rect l="l" t="t" r="r" b="b"/>
              <a:pathLst>
                <a:path w="109538" h="108585">
                  <a:moveTo>
                    <a:pt x="0" y="108585"/>
                  </a:moveTo>
                  <a:lnTo>
                    <a:pt x="109538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092565" y="2366010"/>
              <a:ext cx="109538" cy="108585"/>
            </a:xfrm>
            <a:custGeom>
              <a:avLst/>
              <a:gdLst/>
              <a:ahLst/>
              <a:cxnLst/>
              <a:rect l="l" t="t" r="r" b="b"/>
              <a:pathLst>
                <a:path w="109538" h="108585">
                  <a:moveTo>
                    <a:pt x="0" y="108585"/>
                  </a:moveTo>
                  <a:lnTo>
                    <a:pt x="109538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333548" y="236601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8585"/>
                  </a:moveTo>
                  <a:lnTo>
                    <a:pt x="108585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573578" y="236601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8585"/>
                  </a:moveTo>
                  <a:lnTo>
                    <a:pt x="108585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813608" y="236601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8585"/>
                  </a:moveTo>
                  <a:lnTo>
                    <a:pt x="108585" y="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713220" y="2170748"/>
              <a:ext cx="4311015" cy="9525"/>
            </a:xfrm>
            <a:custGeom>
              <a:avLst/>
              <a:gdLst/>
              <a:ahLst/>
              <a:cxnLst/>
              <a:rect l="l" t="t" r="r" b="b"/>
              <a:pathLst>
                <a:path w="4311015" h="9525">
                  <a:moveTo>
                    <a:pt x="0" y="0"/>
                  </a:moveTo>
                  <a:lnTo>
                    <a:pt x="4311015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1024235" y="21231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7824788" y="2707005"/>
              <a:ext cx="2090738" cy="9525"/>
            </a:xfrm>
            <a:custGeom>
              <a:avLst/>
              <a:gdLst/>
              <a:ahLst/>
              <a:cxnLst/>
              <a:rect l="l" t="t" r="r" b="b"/>
              <a:pathLst>
                <a:path w="2090738" h="9525">
                  <a:moveTo>
                    <a:pt x="0" y="0"/>
                  </a:moveTo>
                  <a:lnTo>
                    <a:pt x="209073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915525" y="26593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729538" y="26593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824788" y="3112770"/>
              <a:ext cx="3246120" cy="9525"/>
            </a:xfrm>
            <a:custGeom>
              <a:avLst/>
              <a:gdLst/>
              <a:ahLst/>
              <a:cxnLst/>
              <a:rect l="l" t="t" r="r" b="b"/>
              <a:pathLst>
                <a:path w="3246120" h="9525">
                  <a:moveTo>
                    <a:pt x="0" y="0"/>
                  </a:moveTo>
                  <a:lnTo>
                    <a:pt x="324612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1070908" y="3065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729538" y="30651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715250" y="2554605"/>
              <a:ext cx="9525" cy="618173"/>
            </a:xfrm>
            <a:custGeom>
              <a:avLst/>
              <a:gdLst/>
              <a:ahLst/>
              <a:cxnLst/>
              <a:rect l="l" t="t" r="r" b="b"/>
              <a:pathLst>
                <a:path w="9525" h="618173">
                  <a:moveTo>
                    <a:pt x="0" y="0"/>
                  </a:moveTo>
                  <a:lnTo>
                    <a:pt x="0" y="61817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1" name="Ellipse 41"/>
            <p:cNvSpPr/>
            <p:nvPr/>
          </p:nvSpPr>
          <p:spPr>
            <a:xfrm>
              <a:off x="7710488" y="17964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020300" y="17964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877175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006715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117205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246745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8357235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8486775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597265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726805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8838248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8966835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9078278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9207818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9318308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9447848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9558338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687878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9798368" y="2480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9927908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694170" y="21659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1129010" y="21659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7710488" y="27022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0020300" y="27022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710488" y="31080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1175682" y="31080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7710488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7710488" y="31823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817891" y="18697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45755" y="277129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几何路程 r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641506" y="3215164"/>
              <a:ext cx="1612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光程 L = nr（取 n = 1.5）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93980" y="1662589"/>
              <a:ext cx="959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介质中 λₙ = λ/n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248400" y="3649980"/>
            <a:ext cx="5410200" cy="1794510"/>
            <a:chOff x="6248400" y="3649980"/>
            <a:chExt cx="5410200" cy="1794510"/>
          </a:xfrm>
        </p:grpSpPr>
        <p:sp>
          <p:nvSpPr>
            <p:cNvPr id="74" name="Rectangle 74"/>
            <p:cNvSpPr/>
            <p:nvPr/>
          </p:nvSpPr>
          <p:spPr>
            <a:xfrm>
              <a:off x="6248400" y="3649980"/>
              <a:ext cx="5410200" cy="1794510"/>
            </a:xfrm>
            <a:prstGeom prst="roundRect">
              <a:avLst>
                <a:gd name="adj" fmla="val 74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3783330"/>
              <a:ext cx="47625" cy="15278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90335" y="38538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80543" y="38895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83096" y="4226719"/>
              <a:ext cx="47123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厚 d = 6 μm、n = 1.5 的玻璃片，光程 nd = 9 μm，比同样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厚的空气多出 (n − 1)d = 3 μm。对 λ = 600 nm 的光，相位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多落后 2π × 3/0.6 = 10π。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80" name="Rectangle 8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511" y="6004084"/>
              <a:ext cx="102128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在光路里插入一块厚 d 的透明片，这一路的光程增加 (n − 1)d。双缝加介质片、迈克耳孙干涉仪插薄膜的题都用这一句。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光程与光程差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干涉加强还是减弱，由光程差决定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1"/>
              <p:cNvSpPr txBox="1">
                <a:spLocks noGrp="1"/>
              </p:cNvSpPr>
              <p:nvPr/>
            </p:nvSpPr>
            <p:spPr>
              <a:xfrm>
                <a:off x="533400" y="1524000"/>
                <a:ext cx="5193982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8066" y="2143125"/>
            <a:ext cx="5100237" cy="205359"/>
            <a:chOff x="528066" y="2143125"/>
            <a:chExt cx="5100237" cy="205359"/>
          </a:xfrm>
        </p:grpSpPr>
        <p:sp>
          <p:nvSpPr>
            <p:cNvPr id="8" name="TextBox 8"/>
            <p:cNvSpPr txBox="1"/>
            <p:nvPr/>
          </p:nvSpPr>
          <p:spPr>
            <a:xfrm>
              <a:off x="528066" y="2143125"/>
              <a:ext cx="5100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S₁、S₂ 初相相同，分别在 n₁、n₂ 中传到 P 点。n₁ = n₂ = n 时 δ = n(r₂ − r₁)。</a:t>
              </a:r>
            </a:p>
          </p:txBody>
        </p:sp>
      </p:grpSp>
      <p:grpSp>
        <p:nvGrpSpPr>
          <p:cNvPr id="100" name="g_optdiff"/>
          <p:cNvGrpSpPr/>
          <p:nvPr/>
        </p:nvGrpSpPr>
        <p:grpSpPr>
          <a:xfrm>
            <a:off x="1080135" y="3058954"/>
            <a:ext cx="4106228" cy="1915667"/>
            <a:chOff x="1080135" y="3058954"/>
            <a:chExt cx="4106228" cy="1915667"/>
          </a:xfrm>
        </p:grpSpPr>
        <p:sp>
          <p:nvSpPr>
            <p:cNvPr id="10" name="Freeform 10"/>
            <p:cNvSpPr/>
            <p:nvPr/>
          </p:nvSpPr>
          <p:spPr>
            <a:xfrm>
              <a:off x="1099185" y="3970020"/>
              <a:ext cx="4060508" cy="9525"/>
            </a:xfrm>
            <a:custGeom>
              <a:avLst/>
              <a:gdLst/>
              <a:ahLst/>
              <a:cxnLst/>
              <a:rect l="l" t="t" r="r" b="b"/>
              <a:pathLst>
                <a:path w="4060508" h="9525">
                  <a:moveTo>
                    <a:pt x="0" y="0"/>
                  </a:moveTo>
                  <a:lnTo>
                    <a:pt x="4060508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76338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54455" y="4012882"/>
              <a:ext cx="77153" cy="77152"/>
            </a:xfrm>
            <a:custGeom>
              <a:avLst/>
              <a:gdLst/>
              <a:ahLst/>
              <a:cxnLst/>
              <a:rect l="l" t="t" r="r" b="b"/>
              <a:pathLst>
                <a:path w="77153" h="77152">
                  <a:moveTo>
                    <a:pt x="0" y="0"/>
                  </a:moveTo>
                  <a:lnTo>
                    <a:pt x="77153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32572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10690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88808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65972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244090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22208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600325" y="4012882"/>
              <a:ext cx="77153" cy="77152"/>
            </a:xfrm>
            <a:custGeom>
              <a:avLst/>
              <a:gdLst/>
              <a:ahLst/>
              <a:cxnLst/>
              <a:rect l="l" t="t" r="r" b="b"/>
              <a:pathLst>
                <a:path w="77153" h="77152">
                  <a:moveTo>
                    <a:pt x="0" y="0"/>
                  </a:moveTo>
                  <a:lnTo>
                    <a:pt x="77153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78442" y="4012882"/>
              <a:ext cx="77153" cy="77152"/>
            </a:xfrm>
            <a:custGeom>
              <a:avLst/>
              <a:gdLst/>
              <a:ahLst/>
              <a:cxnLst/>
              <a:rect l="l" t="t" r="r" b="b"/>
              <a:pathLst>
                <a:path w="77153" h="77152">
                  <a:moveTo>
                    <a:pt x="0" y="0"/>
                  </a:moveTo>
                  <a:lnTo>
                    <a:pt x="77153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957512" y="4012882"/>
              <a:ext cx="76200" cy="77152"/>
            </a:xfrm>
            <a:custGeom>
              <a:avLst/>
              <a:gdLst/>
              <a:ahLst/>
              <a:cxnLst/>
              <a:rect l="l" t="t" r="r" b="b"/>
              <a:pathLst>
                <a:path w="76200" h="77152">
                  <a:moveTo>
                    <a:pt x="0" y="0"/>
                  </a:moveTo>
                  <a:lnTo>
                    <a:pt x="76200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135630" y="4012882"/>
              <a:ext cx="76200" cy="77152"/>
            </a:xfrm>
            <a:custGeom>
              <a:avLst/>
              <a:gdLst/>
              <a:ahLst/>
              <a:cxnLst/>
              <a:rect l="l" t="t" r="r" b="b"/>
              <a:pathLst>
                <a:path w="76200" h="77152">
                  <a:moveTo>
                    <a:pt x="0" y="0"/>
                  </a:moveTo>
                  <a:lnTo>
                    <a:pt x="76200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313748" y="4012882"/>
              <a:ext cx="76200" cy="77152"/>
            </a:xfrm>
            <a:custGeom>
              <a:avLst/>
              <a:gdLst/>
              <a:ahLst/>
              <a:cxnLst/>
              <a:rect l="l" t="t" r="r" b="b"/>
              <a:pathLst>
                <a:path w="76200" h="77152">
                  <a:moveTo>
                    <a:pt x="0" y="0"/>
                  </a:moveTo>
                  <a:lnTo>
                    <a:pt x="76200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3491865" y="4012882"/>
              <a:ext cx="76200" cy="77152"/>
            </a:xfrm>
            <a:custGeom>
              <a:avLst/>
              <a:gdLst/>
              <a:ahLst/>
              <a:cxnLst/>
              <a:rect l="l" t="t" r="r" b="b"/>
              <a:pathLst>
                <a:path w="76200" h="77152">
                  <a:moveTo>
                    <a:pt x="0" y="0"/>
                  </a:moveTo>
                  <a:lnTo>
                    <a:pt x="76200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669982" y="4012882"/>
              <a:ext cx="76200" cy="77152"/>
            </a:xfrm>
            <a:custGeom>
              <a:avLst/>
              <a:gdLst/>
              <a:ahLst/>
              <a:cxnLst/>
              <a:rect l="l" t="t" r="r" b="b"/>
              <a:pathLst>
                <a:path w="76200" h="77152">
                  <a:moveTo>
                    <a:pt x="0" y="0"/>
                  </a:moveTo>
                  <a:lnTo>
                    <a:pt x="76200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848100" y="4012882"/>
              <a:ext cx="76200" cy="77152"/>
            </a:xfrm>
            <a:custGeom>
              <a:avLst/>
              <a:gdLst/>
              <a:ahLst/>
              <a:cxnLst/>
              <a:rect l="l" t="t" r="r" b="b"/>
              <a:pathLst>
                <a:path w="76200" h="77152">
                  <a:moveTo>
                    <a:pt x="0" y="0"/>
                  </a:moveTo>
                  <a:lnTo>
                    <a:pt x="76200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026218" y="4012882"/>
              <a:ext cx="76200" cy="77152"/>
            </a:xfrm>
            <a:custGeom>
              <a:avLst/>
              <a:gdLst/>
              <a:ahLst/>
              <a:cxnLst/>
              <a:rect l="l" t="t" r="r" b="b"/>
              <a:pathLst>
                <a:path w="76200" h="77152">
                  <a:moveTo>
                    <a:pt x="0" y="0"/>
                  </a:moveTo>
                  <a:lnTo>
                    <a:pt x="76200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204335" y="4012882"/>
              <a:ext cx="77153" cy="77152"/>
            </a:xfrm>
            <a:custGeom>
              <a:avLst/>
              <a:gdLst/>
              <a:ahLst/>
              <a:cxnLst/>
              <a:rect l="l" t="t" r="r" b="b"/>
              <a:pathLst>
                <a:path w="77153" h="77152">
                  <a:moveTo>
                    <a:pt x="0" y="0"/>
                  </a:moveTo>
                  <a:lnTo>
                    <a:pt x="77153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382452" y="4012882"/>
              <a:ext cx="77152" cy="77152"/>
            </a:xfrm>
            <a:custGeom>
              <a:avLst/>
              <a:gdLst/>
              <a:ahLst/>
              <a:cxnLst/>
              <a:rect l="l" t="t" r="r" b="b"/>
              <a:pathLst>
                <a:path w="77152" h="77152">
                  <a:moveTo>
                    <a:pt x="0" y="0"/>
                  </a:moveTo>
                  <a:lnTo>
                    <a:pt x="77152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559618" y="4012882"/>
              <a:ext cx="78105" cy="77152"/>
            </a:xfrm>
            <a:custGeom>
              <a:avLst/>
              <a:gdLst/>
              <a:ahLst/>
              <a:cxnLst/>
              <a:rect l="l" t="t" r="r" b="b"/>
              <a:pathLst>
                <a:path w="78105" h="77152">
                  <a:moveTo>
                    <a:pt x="0" y="0"/>
                  </a:moveTo>
                  <a:lnTo>
                    <a:pt x="78105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737735" y="4012882"/>
              <a:ext cx="77153" cy="77152"/>
            </a:xfrm>
            <a:custGeom>
              <a:avLst/>
              <a:gdLst/>
              <a:ahLst/>
              <a:cxnLst/>
              <a:rect l="l" t="t" r="r" b="b"/>
              <a:pathLst>
                <a:path w="77153" h="77152">
                  <a:moveTo>
                    <a:pt x="0" y="0"/>
                  </a:moveTo>
                  <a:lnTo>
                    <a:pt x="77153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915852" y="4012882"/>
              <a:ext cx="77153" cy="77152"/>
            </a:xfrm>
            <a:custGeom>
              <a:avLst/>
              <a:gdLst/>
              <a:ahLst/>
              <a:cxnLst/>
              <a:rect l="l" t="t" r="r" b="b"/>
              <a:pathLst>
                <a:path w="77153" h="77152">
                  <a:moveTo>
                    <a:pt x="0" y="0"/>
                  </a:moveTo>
                  <a:lnTo>
                    <a:pt x="77153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093970" y="4012882"/>
              <a:ext cx="77153" cy="77152"/>
            </a:xfrm>
            <a:custGeom>
              <a:avLst/>
              <a:gdLst/>
              <a:ahLst/>
              <a:cxnLst/>
              <a:rect l="l" t="t" r="r" b="b"/>
              <a:pathLst>
                <a:path w="77153" h="77152">
                  <a:moveTo>
                    <a:pt x="0" y="0"/>
                  </a:moveTo>
                  <a:lnTo>
                    <a:pt x="77153" y="77152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503045" y="3180398"/>
              <a:ext cx="3118485" cy="763905"/>
            </a:xfrm>
            <a:custGeom>
              <a:avLst/>
              <a:gdLst/>
              <a:ahLst/>
              <a:cxnLst/>
              <a:rect l="l" t="t" r="r" b="b"/>
              <a:pathLst>
                <a:path w="3118485" h="763905">
                  <a:moveTo>
                    <a:pt x="0" y="0"/>
                  </a:moveTo>
                  <a:lnTo>
                    <a:pt x="3118485" y="763905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610100" y="3897630"/>
              <a:ext cx="103822" cy="92392"/>
            </a:xfrm>
            <a:custGeom>
              <a:avLst/>
              <a:gdLst/>
              <a:ahLst/>
              <a:cxnLst/>
              <a:rect l="l" t="t" r="r" b="b"/>
              <a:pathLst>
                <a:path w="103822" h="92392">
                  <a:moveTo>
                    <a:pt x="103822" y="69533"/>
                  </a:moveTo>
                  <a:lnTo>
                    <a:pt x="0" y="92392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2312670" y="4007168"/>
              <a:ext cx="2311718" cy="824865"/>
            </a:xfrm>
            <a:custGeom>
              <a:avLst/>
              <a:gdLst/>
              <a:ahLst/>
              <a:cxnLst/>
              <a:rect l="l" t="t" r="r" b="b"/>
              <a:pathLst>
                <a:path w="2311718" h="824865">
                  <a:moveTo>
                    <a:pt x="0" y="824865"/>
                  </a:moveTo>
                  <a:lnTo>
                    <a:pt x="2311718" y="0"/>
                  </a:lnTo>
                </a:path>
              </a:pathLst>
            </a:custGeom>
            <a:noFill/>
            <a:ln w="22860">
              <a:solidFill>
                <a:srgbClr val="F26B3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4609148" y="396240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2383"/>
                  </a:moveTo>
                  <a:lnTo>
                    <a:pt x="31433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80135" y="3965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169218" y="3965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161098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258252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339215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436370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517332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614488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695450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792605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873568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970722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051685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148840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2229802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326958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407920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505075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586038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683192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764155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2861310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942272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3039428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3120390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3217545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3298508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395662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3476625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3573780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654742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751898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3832860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3930015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4010978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4108132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4189095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4286250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4367212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4464368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545330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4642485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4723448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4820602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4901565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4998720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5079682" y="39976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176838" y="40947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484948" y="31718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4723448" y="3965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294572" y="48320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4723448" y="3965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1442085" y="312896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251710" y="478917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4680585" y="392239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258524" y="3058954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2051956" y="478393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812547" y="38038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3027819" y="3350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3513594" y="44677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728031" y="3350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728031" y="444388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</a:t>
              </a:r>
            </a:p>
          </p:txBody>
        </p:sp>
      </p:grpSp>
      <p:grpSp>
        <p:nvGrpSpPr>
          <p:cNvPr id="107" name="c2-card-1"/>
          <p:cNvGrpSpPr/>
          <p:nvPr/>
        </p:nvGrpSpPr>
        <p:grpSpPr>
          <a:xfrm>
            <a:off x="6032182" y="1524000"/>
            <a:ext cx="5626418" cy="1824038"/>
            <a:chOff x="6032182" y="1524000"/>
            <a:chExt cx="5626418" cy="1824038"/>
          </a:xfrm>
        </p:grpSpPr>
        <p:sp>
          <p:nvSpPr>
            <p:cNvPr id="101" name="Rectangle 101"/>
            <p:cNvSpPr/>
            <p:nvPr/>
          </p:nvSpPr>
          <p:spPr>
            <a:xfrm>
              <a:off x="6032182" y="1524000"/>
              <a:ext cx="5626418" cy="1824038"/>
            </a:xfrm>
            <a:prstGeom prst="roundRect">
              <a:avLst>
                <a:gd name="adj" fmla="val 731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213158" y="1704975"/>
              <a:ext cx="179927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64842" y="1737836"/>
              <a:ext cx="1694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明暗条件（k = 0, 1, 2, …）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formula32"/>
                <p:cNvSpPr txBox="1">
                  <a:spLocks noGrp="1"/>
                </p:cNvSpPr>
                <p:nvPr/>
              </p:nvSpPr>
              <p:spPr>
                <a:xfrm>
                  <a:off x="6213158" y="2024062"/>
                  <a:ext cx="5264468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=±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2kπ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formula33"/>
                <p:cNvSpPr txBox="1">
                  <a:spLocks noGrp="1"/>
                </p:cNvSpPr>
                <p:nvPr/>
              </p:nvSpPr>
              <p:spPr>
                <a:xfrm>
                  <a:off x="6213158" y="2428875"/>
                  <a:ext cx="526446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Δ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φ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=±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π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06" name="TextBox 106"/>
            <p:cNvSpPr txBox="1"/>
            <p:nvPr/>
          </p:nvSpPr>
          <p:spPr>
            <a:xfrm>
              <a:off x="6206680" y="296846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上式为明纹，下式为暗纹。</a:t>
              </a:r>
            </a:p>
          </p:txBody>
        </p:sp>
      </p:grpSp>
      <p:grpSp>
        <p:nvGrpSpPr>
          <p:cNvPr id="134" name="c2-table-2"/>
          <p:cNvGrpSpPr/>
          <p:nvPr/>
        </p:nvGrpSpPr>
        <p:grpSpPr>
          <a:xfrm>
            <a:off x="6032182" y="3512820"/>
            <a:ext cx="5626418" cy="1906905"/>
            <a:chOff x="6032182" y="3512820"/>
            <a:chExt cx="5626418" cy="1906905"/>
          </a:xfrm>
        </p:grpSpPr>
        <p:sp>
          <p:nvSpPr>
            <p:cNvPr id="108" name="Rectangle 108"/>
            <p:cNvSpPr/>
            <p:nvPr/>
          </p:nvSpPr>
          <p:spPr>
            <a:xfrm>
              <a:off x="6032182" y="351282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708054" y="362997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光程差 δ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571357" y="36299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499408" y="36299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126861" y="401193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039481" y="40119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727311" y="40119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6032182" y="42710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032182" y="427577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126861" y="439293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λ/2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039481" y="439293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9642158" y="4285298"/>
              <a:ext cx="20069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9727311" y="43929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6032182" y="46520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126861" y="477488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039481" y="477488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727311" y="477488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6032182" y="5033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6032182" y="503872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126861" y="515588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3λ/2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8039481" y="515588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3π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9642158" y="5048250"/>
              <a:ext cx="2006918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9727311" y="515588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032182" y="3512820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7940040" y="35128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9627870" y="351282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41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135" name="Rectangle 135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39" name="Group 139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1041273" y="5805011"/>
              <a:ext cx="9929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两束光在不同介质中传播时，决定干涉结果的是光程差，不是几何路程差。几何路程相等的两条光路，只要穿过的介质不同，照样可以相差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半个波长。</a:t>
              </a:r>
            </a:p>
          </p:txBody>
        </p:sp>
      </p:grpSp>
      <p:grpSp>
        <p:nvGrpSpPr>
          <p:cNvPr id="1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2" name="TextBox 14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光程与光程差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薄透镜不产生附加的光程差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g_lens"/>
          <p:cNvGrpSpPr/>
          <p:nvPr/>
        </p:nvGrpSpPr>
        <p:grpSpPr>
          <a:xfrm>
            <a:off x="694491" y="1829276"/>
            <a:ext cx="5063372" cy="3829240"/>
            <a:chOff x="694491" y="1829276"/>
            <a:chExt cx="5063372" cy="3829240"/>
          </a:xfrm>
        </p:grpSpPr>
        <p:sp>
          <p:nvSpPr>
            <p:cNvPr id="7" name="Freeform 7"/>
            <p:cNvSpPr/>
            <p:nvPr/>
          </p:nvSpPr>
          <p:spPr>
            <a:xfrm>
              <a:off x="2790825" y="2119312"/>
              <a:ext cx="247650" cy="1181100"/>
            </a:xfrm>
            <a:custGeom>
              <a:avLst/>
              <a:gdLst/>
              <a:ahLst/>
              <a:cxnLst/>
              <a:rect l="l" t="t" r="r" b="b"/>
              <a:pathLst>
                <a:path w="247650" h="1181100">
                  <a:moveTo>
                    <a:pt x="247650" y="576262"/>
                  </a:moveTo>
                  <a:lnTo>
                    <a:pt x="246697" y="532447"/>
                  </a:lnTo>
                  <a:lnTo>
                    <a:pt x="245745" y="475297"/>
                  </a:lnTo>
                  <a:lnTo>
                    <a:pt x="241935" y="419100"/>
                  </a:lnTo>
                  <a:lnTo>
                    <a:pt x="238125" y="364808"/>
                  </a:lnTo>
                  <a:lnTo>
                    <a:pt x="233362" y="312420"/>
                  </a:lnTo>
                  <a:lnTo>
                    <a:pt x="226695" y="262890"/>
                  </a:lnTo>
                  <a:lnTo>
                    <a:pt x="219075" y="216217"/>
                  </a:lnTo>
                  <a:lnTo>
                    <a:pt x="211455" y="172402"/>
                  </a:lnTo>
                  <a:lnTo>
                    <a:pt x="202883" y="134302"/>
                  </a:lnTo>
                  <a:lnTo>
                    <a:pt x="192405" y="100012"/>
                  </a:lnTo>
                  <a:lnTo>
                    <a:pt x="181928" y="69533"/>
                  </a:lnTo>
                  <a:lnTo>
                    <a:pt x="171450" y="44767"/>
                  </a:lnTo>
                  <a:lnTo>
                    <a:pt x="160020" y="24765"/>
                  </a:lnTo>
                  <a:lnTo>
                    <a:pt x="147638" y="11430"/>
                  </a:lnTo>
                  <a:lnTo>
                    <a:pt x="136208" y="2858"/>
                  </a:lnTo>
                  <a:lnTo>
                    <a:pt x="123825" y="0"/>
                  </a:lnTo>
                  <a:lnTo>
                    <a:pt x="111442" y="2858"/>
                  </a:lnTo>
                  <a:lnTo>
                    <a:pt x="100012" y="11430"/>
                  </a:lnTo>
                  <a:lnTo>
                    <a:pt x="87630" y="24765"/>
                  </a:lnTo>
                  <a:lnTo>
                    <a:pt x="76200" y="44767"/>
                  </a:lnTo>
                  <a:lnTo>
                    <a:pt x="65722" y="69533"/>
                  </a:lnTo>
                  <a:lnTo>
                    <a:pt x="55245" y="100012"/>
                  </a:lnTo>
                  <a:lnTo>
                    <a:pt x="44767" y="134302"/>
                  </a:lnTo>
                  <a:lnTo>
                    <a:pt x="36195" y="172402"/>
                  </a:lnTo>
                  <a:lnTo>
                    <a:pt x="27622" y="216217"/>
                  </a:lnTo>
                  <a:lnTo>
                    <a:pt x="20955" y="262890"/>
                  </a:lnTo>
                  <a:lnTo>
                    <a:pt x="15240" y="312420"/>
                  </a:lnTo>
                  <a:lnTo>
                    <a:pt x="9525" y="364808"/>
                  </a:lnTo>
                  <a:lnTo>
                    <a:pt x="4762" y="419100"/>
                  </a:lnTo>
                  <a:lnTo>
                    <a:pt x="2858" y="475297"/>
                  </a:lnTo>
                  <a:lnTo>
                    <a:pt x="953" y="532447"/>
                  </a:lnTo>
                  <a:lnTo>
                    <a:pt x="0" y="590550"/>
                  </a:lnTo>
                  <a:lnTo>
                    <a:pt x="953" y="648653"/>
                  </a:lnTo>
                  <a:lnTo>
                    <a:pt x="2858" y="705803"/>
                  </a:lnTo>
                  <a:lnTo>
                    <a:pt x="4762" y="762000"/>
                  </a:lnTo>
                  <a:lnTo>
                    <a:pt x="9525" y="816292"/>
                  </a:lnTo>
                  <a:lnTo>
                    <a:pt x="15240" y="868680"/>
                  </a:lnTo>
                  <a:lnTo>
                    <a:pt x="20955" y="918210"/>
                  </a:lnTo>
                  <a:lnTo>
                    <a:pt x="27622" y="964883"/>
                  </a:lnTo>
                  <a:lnTo>
                    <a:pt x="36195" y="1007745"/>
                  </a:lnTo>
                  <a:lnTo>
                    <a:pt x="44767" y="1046797"/>
                  </a:lnTo>
                  <a:lnTo>
                    <a:pt x="55245" y="1082040"/>
                  </a:lnTo>
                  <a:lnTo>
                    <a:pt x="65722" y="1111568"/>
                  </a:lnTo>
                  <a:lnTo>
                    <a:pt x="76200" y="1136332"/>
                  </a:lnTo>
                  <a:lnTo>
                    <a:pt x="87630" y="1155382"/>
                  </a:lnTo>
                  <a:lnTo>
                    <a:pt x="100012" y="1169670"/>
                  </a:lnTo>
                  <a:lnTo>
                    <a:pt x="111442" y="1178242"/>
                  </a:lnTo>
                  <a:lnTo>
                    <a:pt x="123825" y="1181100"/>
                  </a:lnTo>
                  <a:lnTo>
                    <a:pt x="136208" y="1178242"/>
                  </a:lnTo>
                  <a:lnTo>
                    <a:pt x="147638" y="1169670"/>
                  </a:lnTo>
                  <a:lnTo>
                    <a:pt x="160020" y="1155382"/>
                  </a:lnTo>
                  <a:lnTo>
                    <a:pt x="171450" y="1136332"/>
                  </a:lnTo>
                  <a:lnTo>
                    <a:pt x="181928" y="1111568"/>
                  </a:lnTo>
                  <a:lnTo>
                    <a:pt x="192405" y="1082040"/>
                  </a:lnTo>
                  <a:lnTo>
                    <a:pt x="202883" y="1046797"/>
                  </a:lnTo>
                  <a:lnTo>
                    <a:pt x="211455" y="1007745"/>
                  </a:lnTo>
                  <a:lnTo>
                    <a:pt x="219075" y="964883"/>
                  </a:lnTo>
                  <a:lnTo>
                    <a:pt x="226695" y="918210"/>
                  </a:lnTo>
                  <a:lnTo>
                    <a:pt x="233362" y="868680"/>
                  </a:lnTo>
                  <a:lnTo>
                    <a:pt x="238125" y="816292"/>
                  </a:lnTo>
                  <a:lnTo>
                    <a:pt x="241935" y="762000"/>
                  </a:lnTo>
                  <a:lnTo>
                    <a:pt x="245745" y="705803"/>
                  </a:lnTo>
                  <a:lnTo>
                    <a:pt x="246697" y="648653"/>
                  </a:lnTo>
                  <a:lnTo>
                    <a:pt x="247650" y="604838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38188" y="2709862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833438" y="2328862"/>
              <a:ext cx="4162425" cy="378142"/>
            </a:xfrm>
            <a:custGeom>
              <a:avLst/>
              <a:gdLst/>
              <a:ahLst/>
              <a:cxnLst/>
              <a:rect l="l" t="t" r="r" b="b"/>
              <a:pathLst>
                <a:path w="4162425" h="378142">
                  <a:moveTo>
                    <a:pt x="0" y="0"/>
                  </a:moveTo>
                  <a:lnTo>
                    <a:pt x="2081212" y="0"/>
                  </a:lnTo>
                  <a:lnTo>
                    <a:pt x="4162425" y="378142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33438" y="2709862"/>
              <a:ext cx="4162425" cy="9525"/>
            </a:xfrm>
            <a:custGeom>
              <a:avLst/>
              <a:gdLst/>
              <a:ahLst/>
              <a:cxnLst/>
              <a:rect l="l" t="t" r="r" b="b"/>
              <a:pathLst>
                <a:path w="4162425" h="9525">
                  <a:moveTo>
                    <a:pt x="0" y="0"/>
                  </a:moveTo>
                  <a:lnTo>
                    <a:pt x="2081212" y="0"/>
                  </a:lnTo>
                  <a:lnTo>
                    <a:pt x="416242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33438" y="2712720"/>
              <a:ext cx="4162425" cy="378142"/>
            </a:xfrm>
            <a:custGeom>
              <a:avLst/>
              <a:gdLst/>
              <a:ahLst/>
              <a:cxnLst/>
              <a:rect l="l" t="t" r="r" b="b"/>
              <a:pathLst>
                <a:path w="4162425" h="378142">
                  <a:moveTo>
                    <a:pt x="0" y="378142"/>
                  </a:moveTo>
                  <a:lnTo>
                    <a:pt x="2081212" y="378142"/>
                  </a:lnTo>
                  <a:lnTo>
                    <a:pt x="416242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38275" y="2200275"/>
              <a:ext cx="9525" cy="1019175"/>
            </a:xfrm>
            <a:custGeom>
              <a:avLst/>
              <a:gdLst/>
              <a:ahLst/>
              <a:cxnLst/>
              <a:rect l="l" t="t" r="r" b="b"/>
              <a:pathLst>
                <a:path w="9525" h="1019175">
                  <a:moveTo>
                    <a:pt x="0" y="0"/>
                  </a:moveTo>
                  <a:lnTo>
                    <a:pt x="0" y="1019175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057400" y="2200275"/>
              <a:ext cx="9525" cy="1019175"/>
            </a:xfrm>
            <a:custGeom>
              <a:avLst/>
              <a:gdLst/>
              <a:ahLst/>
              <a:cxnLst/>
              <a:rect l="l" t="t" r="r" b="b"/>
              <a:pathLst>
                <a:path w="9525" h="1019175">
                  <a:moveTo>
                    <a:pt x="0" y="0"/>
                  </a:moveTo>
                  <a:lnTo>
                    <a:pt x="0" y="1019175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343400" y="2388870"/>
              <a:ext cx="82867" cy="641985"/>
            </a:xfrm>
            <a:custGeom>
              <a:avLst/>
              <a:gdLst/>
              <a:ahLst/>
              <a:cxnLst/>
              <a:rect l="l" t="t" r="r" b="b"/>
              <a:pathLst>
                <a:path w="82867" h="641985">
                  <a:moveTo>
                    <a:pt x="82867" y="0"/>
                  </a:moveTo>
                  <a:lnTo>
                    <a:pt x="73342" y="18097"/>
                  </a:lnTo>
                  <a:lnTo>
                    <a:pt x="58103" y="49530"/>
                  </a:lnTo>
                  <a:lnTo>
                    <a:pt x="43815" y="81915"/>
                  </a:lnTo>
                  <a:lnTo>
                    <a:pt x="33338" y="115252"/>
                  </a:lnTo>
                  <a:lnTo>
                    <a:pt x="22860" y="148590"/>
                  </a:lnTo>
                  <a:lnTo>
                    <a:pt x="14288" y="182880"/>
                  </a:lnTo>
                  <a:lnTo>
                    <a:pt x="7620" y="217170"/>
                  </a:lnTo>
                  <a:lnTo>
                    <a:pt x="3810" y="251460"/>
                  </a:lnTo>
                  <a:lnTo>
                    <a:pt x="953" y="285750"/>
                  </a:lnTo>
                  <a:lnTo>
                    <a:pt x="0" y="320992"/>
                  </a:lnTo>
                  <a:lnTo>
                    <a:pt x="953" y="355283"/>
                  </a:lnTo>
                  <a:lnTo>
                    <a:pt x="3810" y="390525"/>
                  </a:lnTo>
                  <a:lnTo>
                    <a:pt x="7620" y="425767"/>
                  </a:lnTo>
                  <a:lnTo>
                    <a:pt x="14288" y="460058"/>
                  </a:lnTo>
                  <a:lnTo>
                    <a:pt x="22860" y="493395"/>
                  </a:lnTo>
                  <a:lnTo>
                    <a:pt x="33338" y="526733"/>
                  </a:lnTo>
                  <a:lnTo>
                    <a:pt x="43815" y="560070"/>
                  </a:lnTo>
                  <a:lnTo>
                    <a:pt x="58103" y="592455"/>
                  </a:lnTo>
                  <a:lnTo>
                    <a:pt x="73342" y="623888"/>
                  </a:lnTo>
                  <a:lnTo>
                    <a:pt x="82867" y="641985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3676650" y="2055495"/>
              <a:ext cx="171450" cy="1308735"/>
            </a:xfrm>
            <a:custGeom>
              <a:avLst/>
              <a:gdLst/>
              <a:ahLst/>
              <a:cxnLst/>
              <a:rect l="l" t="t" r="r" b="b"/>
              <a:pathLst>
                <a:path w="171450" h="1308735">
                  <a:moveTo>
                    <a:pt x="171450" y="0"/>
                  </a:moveTo>
                  <a:lnTo>
                    <a:pt x="145733" y="48577"/>
                  </a:lnTo>
                  <a:lnTo>
                    <a:pt x="115253" y="112395"/>
                  </a:lnTo>
                  <a:lnTo>
                    <a:pt x="88583" y="176212"/>
                  </a:lnTo>
                  <a:lnTo>
                    <a:pt x="64770" y="241935"/>
                  </a:lnTo>
                  <a:lnTo>
                    <a:pt x="45720" y="309562"/>
                  </a:lnTo>
                  <a:lnTo>
                    <a:pt x="29528" y="377190"/>
                  </a:lnTo>
                  <a:lnTo>
                    <a:pt x="16192" y="445770"/>
                  </a:lnTo>
                  <a:lnTo>
                    <a:pt x="6667" y="515302"/>
                  </a:lnTo>
                  <a:lnTo>
                    <a:pt x="1905" y="584835"/>
                  </a:lnTo>
                  <a:lnTo>
                    <a:pt x="0" y="654367"/>
                  </a:lnTo>
                  <a:lnTo>
                    <a:pt x="1905" y="723900"/>
                  </a:lnTo>
                  <a:lnTo>
                    <a:pt x="6667" y="793433"/>
                  </a:lnTo>
                  <a:lnTo>
                    <a:pt x="16192" y="862965"/>
                  </a:lnTo>
                  <a:lnTo>
                    <a:pt x="29528" y="931545"/>
                  </a:lnTo>
                  <a:lnTo>
                    <a:pt x="45720" y="999172"/>
                  </a:lnTo>
                  <a:lnTo>
                    <a:pt x="64770" y="1065847"/>
                  </a:lnTo>
                  <a:lnTo>
                    <a:pt x="88583" y="1132522"/>
                  </a:lnTo>
                  <a:lnTo>
                    <a:pt x="115253" y="1196340"/>
                  </a:lnTo>
                  <a:lnTo>
                    <a:pt x="145733" y="1259205"/>
                  </a:lnTo>
                  <a:lnTo>
                    <a:pt x="171450" y="1308735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790825" y="4119562"/>
              <a:ext cx="247650" cy="1181100"/>
            </a:xfrm>
            <a:custGeom>
              <a:avLst/>
              <a:gdLst/>
              <a:ahLst/>
              <a:cxnLst/>
              <a:rect l="l" t="t" r="r" b="b"/>
              <a:pathLst>
                <a:path w="247650" h="1181100">
                  <a:moveTo>
                    <a:pt x="247650" y="576262"/>
                  </a:moveTo>
                  <a:lnTo>
                    <a:pt x="246697" y="532447"/>
                  </a:lnTo>
                  <a:lnTo>
                    <a:pt x="245745" y="475297"/>
                  </a:lnTo>
                  <a:lnTo>
                    <a:pt x="241935" y="419100"/>
                  </a:lnTo>
                  <a:lnTo>
                    <a:pt x="238125" y="364808"/>
                  </a:lnTo>
                  <a:lnTo>
                    <a:pt x="233362" y="312420"/>
                  </a:lnTo>
                  <a:lnTo>
                    <a:pt x="226695" y="262890"/>
                  </a:lnTo>
                  <a:lnTo>
                    <a:pt x="219075" y="216217"/>
                  </a:lnTo>
                  <a:lnTo>
                    <a:pt x="211455" y="172403"/>
                  </a:lnTo>
                  <a:lnTo>
                    <a:pt x="202883" y="134303"/>
                  </a:lnTo>
                  <a:lnTo>
                    <a:pt x="192405" y="100012"/>
                  </a:lnTo>
                  <a:lnTo>
                    <a:pt x="181928" y="69533"/>
                  </a:lnTo>
                  <a:lnTo>
                    <a:pt x="171450" y="44767"/>
                  </a:lnTo>
                  <a:lnTo>
                    <a:pt x="160020" y="25717"/>
                  </a:lnTo>
                  <a:lnTo>
                    <a:pt x="147638" y="11430"/>
                  </a:lnTo>
                  <a:lnTo>
                    <a:pt x="136208" y="2858"/>
                  </a:lnTo>
                  <a:lnTo>
                    <a:pt x="123825" y="0"/>
                  </a:lnTo>
                  <a:lnTo>
                    <a:pt x="111442" y="2858"/>
                  </a:lnTo>
                  <a:lnTo>
                    <a:pt x="100012" y="11430"/>
                  </a:lnTo>
                  <a:lnTo>
                    <a:pt x="87630" y="25717"/>
                  </a:lnTo>
                  <a:lnTo>
                    <a:pt x="76200" y="44767"/>
                  </a:lnTo>
                  <a:lnTo>
                    <a:pt x="65722" y="69533"/>
                  </a:lnTo>
                  <a:lnTo>
                    <a:pt x="55245" y="100012"/>
                  </a:lnTo>
                  <a:lnTo>
                    <a:pt x="44767" y="134303"/>
                  </a:lnTo>
                  <a:lnTo>
                    <a:pt x="36195" y="172403"/>
                  </a:lnTo>
                  <a:lnTo>
                    <a:pt x="27622" y="216217"/>
                  </a:lnTo>
                  <a:lnTo>
                    <a:pt x="20955" y="262890"/>
                  </a:lnTo>
                  <a:lnTo>
                    <a:pt x="15240" y="312420"/>
                  </a:lnTo>
                  <a:lnTo>
                    <a:pt x="9525" y="364808"/>
                  </a:lnTo>
                  <a:lnTo>
                    <a:pt x="4762" y="419100"/>
                  </a:lnTo>
                  <a:lnTo>
                    <a:pt x="2858" y="475297"/>
                  </a:lnTo>
                  <a:lnTo>
                    <a:pt x="953" y="532447"/>
                  </a:lnTo>
                  <a:lnTo>
                    <a:pt x="0" y="590550"/>
                  </a:lnTo>
                  <a:lnTo>
                    <a:pt x="953" y="648653"/>
                  </a:lnTo>
                  <a:lnTo>
                    <a:pt x="2858" y="705803"/>
                  </a:lnTo>
                  <a:lnTo>
                    <a:pt x="4762" y="762000"/>
                  </a:lnTo>
                  <a:lnTo>
                    <a:pt x="9525" y="816293"/>
                  </a:lnTo>
                  <a:lnTo>
                    <a:pt x="15240" y="868680"/>
                  </a:lnTo>
                  <a:lnTo>
                    <a:pt x="20955" y="918210"/>
                  </a:lnTo>
                  <a:lnTo>
                    <a:pt x="27622" y="964882"/>
                  </a:lnTo>
                  <a:lnTo>
                    <a:pt x="36195" y="1007745"/>
                  </a:lnTo>
                  <a:lnTo>
                    <a:pt x="44767" y="1046797"/>
                  </a:lnTo>
                  <a:lnTo>
                    <a:pt x="55245" y="1082040"/>
                  </a:lnTo>
                  <a:lnTo>
                    <a:pt x="65722" y="1111568"/>
                  </a:lnTo>
                  <a:lnTo>
                    <a:pt x="76200" y="1136332"/>
                  </a:lnTo>
                  <a:lnTo>
                    <a:pt x="87630" y="1155382"/>
                  </a:lnTo>
                  <a:lnTo>
                    <a:pt x="100012" y="1169670"/>
                  </a:lnTo>
                  <a:lnTo>
                    <a:pt x="111442" y="1178243"/>
                  </a:lnTo>
                  <a:lnTo>
                    <a:pt x="123825" y="1181100"/>
                  </a:lnTo>
                  <a:lnTo>
                    <a:pt x="136208" y="1178243"/>
                  </a:lnTo>
                  <a:lnTo>
                    <a:pt x="147638" y="1169670"/>
                  </a:lnTo>
                  <a:lnTo>
                    <a:pt x="160020" y="1155382"/>
                  </a:lnTo>
                  <a:lnTo>
                    <a:pt x="171450" y="1136332"/>
                  </a:lnTo>
                  <a:lnTo>
                    <a:pt x="181928" y="1111568"/>
                  </a:lnTo>
                  <a:lnTo>
                    <a:pt x="192405" y="1082040"/>
                  </a:lnTo>
                  <a:lnTo>
                    <a:pt x="202883" y="1046797"/>
                  </a:lnTo>
                  <a:lnTo>
                    <a:pt x="211455" y="1007745"/>
                  </a:lnTo>
                  <a:lnTo>
                    <a:pt x="219075" y="964882"/>
                  </a:lnTo>
                  <a:lnTo>
                    <a:pt x="226695" y="918210"/>
                  </a:lnTo>
                  <a:lnTo>
                    <a:pt x="233362" y="868680"/>
                  </a:lnTo>
                  <a:lnTo>
                    <a:pt x="238125" y="816293"/>
                  </a:lnTo>
                  <a:lnTo>
                    <a:pt x="241935" y="762000"/>
                  </a:lnTo>
                  <a:lnTo>
                    <a:pt x="245745" y="705803"/>
                  </a:lnTo>
                  <a:lnTo>
                    <a:pt x="246697" y="648653"/>
                  </a:lnTo>
                  <a:lnTo>
                    <a:pt x="247650" y="604838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38188" y="4710112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118235" y="4291012"/>
              <a:ext cx="3972878" cy="416242"/>
            </a:xfrm>
            <a:custGeom>
              <a:avLst/>
              <a:gdLst/>
              <a:ahLst/>
              <a:cxnLst/>
              <a:rect l="l" t="t" r="r" b="b"/>
              <a:pathLst>
                <a:path w="3972878" h="416242">
                  <a:moveTo>
                    <a:pt x="0" y="416242"/>
                  </a:moveTo>
                  <a:lnTo>
                    <a:pt x="1796415" y="0"/>
                  </a:lnTo>
                  <a:lnTo>
                    <a:pt x="3972878" y="416242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119188" y="4710112"/>
              <a:ext cx="3971925" cy="9525"/>
            </a:xfrm>
            <a:custGeom>
              <a:avLst/>
              <a:gdLst/>
              <a:ahLst/>
              <a:cxnLst/>
              <a:rect l="l" t="t" r="r" b="b"/>
              <a:pathLst>
                <a:path w="3971925" h="9525">
                  <a:moveTo>
                    <a:pt x="0" y="0"/>
                  </a:moveTo>
                  <a:lnTo>
                    <a:pt x="1795462" y="0"/>
                  </a:lnTo>
                  <a:lnTo>
                    <a:pt x="397192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118235" y="4712970"/>
              <a:ext cx="3972878" cy="416242"/>
            </a:xfrm>
            <a:custGeom>
              <a:avLst/>
              <a:gdLst/>
              <a:ahLst/>
              <a:cxnLst/>
              <a:rect l="l" t="t" r="r" b="b"/>
              <a:pathLst>
                <a:path w="3972878" h="416242">
                  <a:moveTo>
                    <a:pt x="0" y="0"/>
                  </a:moveTo>
                  <a:lnTo>
                    <a:pt x="1796415" y="416242"/>
                  </a:lnTo>
                  <a:lnTo>
                    <a:pt x="3972878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688782" y="4389120"/>
              <a:ext cx="82867" cy="641985"/>
            </a:xfrm>
            <a:custGeom>
              <a:avLst/>
              <a:gdLst/>
              <a:ahLst/>
              <a:cxnLst/>
              <a:rect l="l" t="t" r="r" b="b"/>
              <a:pathLst>
                <a:path w="82867" h="641985">
                  <a:moveTo>
                    <a:pt x="952" y="641985"/>
                  </a:moveTo>
                  <a:lnTo>
                    <a:pt x="9525" y="623887"/>
                  </a:lnTo>
                  <a:lnTo>
                    <a:pt x="24765" y="592455"/>
                  </a:lnTo>
                  <a:lnTo>
                    <a:pt x="39052" y="560070"/>
                  </a:lnTo>
                  <a:lnTo>
                    <a:pt x="50482" y="526733"/>
                  </a:lnTo>
                  <a:lnTo>
                    <a:pt x="60007" y="493395"/>
                  </a:lnTo>
                  <a:lnTo>
                    <a:pt x="68580" y="460058"/>
                  </a:lnTo>
                  <a:lnTo>
                    <a:pt x="75247" y="425767"/>
                  </a:lnTo>
                  <a:lnTo>
                    <a:pt x="79057" y="390525"/>
                  </a:lnTo>
                  <a:lnTo>
                    <a:pt x="81915" y="355283"/>
                  </a:lnTo>
                  <a:lnTo>
                    <a:pt x="82867" y="320992"/>
                  </a:lnTo>
                  <a:lnTo>
                    <a:pt x="81915" y="285750"/>
                  </a:lnTo>
                  <a:lnTo>
                    <a:pt x="79057" y="251460"/>
                  </a:lnTo>
                  <a:lnTo>
                    <a:pt x="75247" y="216217"/>
                  </a:lnTo>
                  <a:lnTo>
                    <a:pt x="68580" y="182880"/>
                  </a:lnTo>
                  <a:lnTo>
                    <a:pt x="60007" y="148590"/>
                  </a:lnTo>
                  <a:lnTo>
                    <a:pt x="50482" y="115252"/>
                  </a:lnTo>
                  <a:lnTo>
                    <a:pt x="39052" y="81915"/>
                  </a:lnTo>
                  <a:lnTo>
                    <a:pt x="24765" y="49530"/>
                  </a:lnTo>
                  <a:lnTo>
                    <a:pt x="9525" y="18097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2184082" y="4103370"/>
              <a:ext cx="159067" cy="1213485"/>
            </a:xfrm>
            <a:custGeom>
              <a:avLst/>
              <a:gdLst/>
              <a:ahLst/>
              <a:cxnLst/>
              <a:rect l="l" t="t" r="r" b="b"/>
              <a:pathLst>
                <a:path w="159067" h="1213485">
                  <a:moveTo>
                    <a:pt x="0" y="1213485"/>
                  </a:moveTo>
                  <a:lnTo>
                    <a:pt x="24765" y="1168718"/>
                  </a:lnTo>
                  <a:lnTo>
                    <a:pt x="51435" y="1110615"/>
                  </a:lnTo>
                  <a:lnTo>
                    <a:pt x="77152" y="1050608"/>
                  </a:lnTo>
                  <a:lnTo>
                    <a:pt x="98107" y="989648"/>
                  </a:lnTo>
                  <a:lnTo>
                    <a:pt x="117157" y="926783"/>
                  </a:lnTo>
                  <a:lnTo>
                    <a:pt x="132397" y="863917"/>
                  </a:lnTo>
                  <a:lnTo>
                    <a:pt x="143827" y="800100"/>
                  </a:lnTo>
                  <a:lnTo>
                    <a:pt x="152400" y="736283"/>
                  </a:lnTo>
                  <a:lnTo>
                    <a:pt x="157162" y="671512"/>
                  </a:lnTo>
                  <a:lnTo>
                    <a:pt x="159067" y="606742"/>
                  </a:lnTo>
                  <a:lnTo>
                    <a:pt x="157162" y="541972"/>
                  </a:lnTo>
                  <a:lnTo>
                    <a:pt x="152400" y="477202"/>
                  </a:lnTo>
                  <a:lnTo>
                    <a:pt x="143827" y="413385"/>
                  </a:lnTo>
                  <a:lnTo>
                    <a:pt x="132397" y="349567"/>
                  </a:lnTo>
                  <a:lnTo>
                    <a:pt x="117157" y="286702"/>
                  </a:lnTo>
                  <a:lnTo>
                    <a:pt x="98107" y="223838"/>
                  </a:lnTo>
                  <a:lnTo>
                    <a:pt x="77152" y="162877"/>
                  </a:lnTo>
                  <a:lnTo>
                    <a:pt x="51435" y="102870"/>
                  </a:lnTo>
                  <a:lnTo>
                    <a:pt x="24765" y="44767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  <a:custDash>
                <a:ds d="333333" sp="222222"/>
              </a:custDash>
            </a:ln>
          </p:spPr>
        </p:sp>
        <p:sp>
          <p:nvSpPr>
            <p:cNvPr id="23" name="Ellipse 23"/>
            <p:cNvSpPr/>
            <p:nvPr/>
          </p:nvSpPr>
          <p:spPr>
            <a:xfrm>
              <a:off x="3033712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033712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19138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748338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14388" y="2324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5005388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14388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005388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14388" y="3086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005388" y="27051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433512" y="21812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433512" y="32289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052638" y="21812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052638" y="32289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428172" y="23717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428172" y="30384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850958" y="2038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850958" y="33718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962525" y="266223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033712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033712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191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7483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001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1006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001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1006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1001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100638" y="47053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677352" y="50387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677352" y="43719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172652" y="53244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172652" y="40862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057275" y="466248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5057775" y="466248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4491" y="21478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4491" y="25288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4491" y="29098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110835" y="248554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295865" y="1829276"/>
              <a:ext cx="18852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平行光：各光线到 F 的光程相等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15085" y="444769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60084" y="446770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S′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132325" y="5467826"/>
              <a:ext cx="22123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点光源成像：S 到 S′ 各光线光程相等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6248400" y="1524000"/>
            <a:ext cx="5410200" cy="1887855"/>
            <a:chOff x="6248400" y="1524000"/>
            <a:chExt cx="5410200" cy="1887855"/>
          </a:xfrm>
        </p:grpSpPr>
        <p:sp>
          <p:nvSpPr>
            <p:cNvPr id="67" name="Rectangle 67"/>
            <p:cNvSpPr/>
            <p:nvPr/>
          </p:nvSpPr>
          <p:spPr>
            <a:xfrm>
              <a:off x="6248400" y="1524000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57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等光程性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88430" y="2110740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平行光经透镜会聚到焦点 F，同一波面上各点到 F 的光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程相等。中间那条光线几何路程最短，但在玻璃里走得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最长；边上的光线几何路程长，在玻璃里走得短，两者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正好补齐。</a:t>
              </a:r>
            </a:p>
          </p:txBody>
        </p:sp>
      </p:grpSp>
      <p:grpSp>
        <p:nvGrpSpPr>
          <p:cNvPr id="79" name="c2-bullets-2"/>
          <p:cNvGrpSpPr/>
          <p:nvPr/>
        </p:nvGrpSpPr>
        <p:grpSpPr>
          <a:xfrm>
            <a:off x="6254115" y="3627120"/>
            <a:ext cx="4712589" cy="982980"/>
            <a:chOff x="6254115" y="3627120"/>
            <a:chExt cx="4712589" cy="982980"/>
          </a:xfrm>
        </p:grpSpPr>
        <p:sp>
          <p:nvSpPr>
            <p:cNvPr id="73" name="Ellipse 73"/>
            <p:cNvSpPr/>
            <p:nvPr/>
          </p:nvSpPr>
          <p:spPr>
            <a:xfrm>
              <a:off x="6254115" y="36899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12230" y="3627120"/>
              <a:ext cx="3023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平行于主轴的平行光会聚于焦点 F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254115" y="40347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412230" y="3971925"/>
              <a:ext cx="4554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斜入射的平行光会聚于焦平面上的 F′，同样等光程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254115" y="43795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412230" y="4316730"/>
              <a:ext cx="4536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点光源 S 成像于 S′，S 到 S′ 的各条光线光程相等</a:t>
              </a:r>
            </a:p>
          </p:txBody>
        </p:sp>
      </p:grpSp>
      <p:grpSp>
        <p:nvGrpSpPr>
          <p:cNvPr id="86" name="c2-callout-3"/>
          <p:cNvGrpSpPr/>
          <p:nvPr/>
        </p:nvGrpSpPr>
        <p:grpSpPr>
          <a:xfrm>
            <a:off x="6248400" y="4741545"/>
            <a:ext cx="5410200" cy="1059180"/>
            <a:chOff x="6248400" y="4741545"/>
            <a:chExt cx="5410200" cy="1059180"/>
          </a:xfrm>
        </p:grpSpPr>
        <p:sp>
          <p:nvSpPr>
            <p:cNvPr id="80" name="Rectangle 80"/>
            <p:cNvSpPr/>
            <p:nvPr/>
          </p:nvSpPr>
          <p:spPr>
            <a:xfrm>
              <a:off x="6248400" y="474154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453188" y="5171123"/>
              <a:ext cx="200026" cy="200025"/>
              <a:chOff x="6453188" y="5171123"/>
              <a:chExt cx="200026" cy="200025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453188" y="51711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492926" y="52155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527642" y="53266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755130" y="4890135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所以双缝、薄膜实验里用透镜把光会聚到屏上或眼睛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里观察，透镜本身不会改变两束光的光程差，计算时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可以不管它。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光程与光程差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获得相干光：把同一列光波一分为二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887855"/>
            <a:chOff x="533400" y="1524000"/>
            <a:chExt cx="5626418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755" y="17692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普通光源为什么不相干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68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普通光源里每个原子一次发光只持续约 10⁻⁸ s，发出一段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有限长的波列。不同原子、同一原子先后发出的波列，频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率、振动方向、初相都没有固定关系，所以两盏独立的灯、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甚至同一灯丝的两部分发的光都不相干。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33400" y="3602355"/>
            <a:ext cx="5626418" cy="1800225"/>
            <a:chOff x="533400" y="3602355"/>
            <a:chExt cx="5626418" cy="1800225"/>
          </a:xfrm>
        </p:grpSpPr>
        <p:sp>
          <p:nvSpPr>
            <p:cNvPr id="13" name="Rectangle 13"/>
            <p:cNvSpPr/>
            <p:nvPr/>
          </p:nvSpPr>
          <p:spPr>
            <a:xfrm>
              <a:off x="533400" y="3602355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537" y="37380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17762" y="37380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68519" y="37380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223" y="43000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分波阵面法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66125" y="43000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从同一波面上取出两部分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42626" y="4186714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杨氏双缝、菲涅耳双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镜、劳埃德镜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72154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72630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9753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分振幅法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66125" y="4862036"/>
              <a:ext cx="21262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一束光在薄膜上下表面反射，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振幅（能量）分成两份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42626" y="49753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薄膜、劈尖、牛顿环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02355"/>
              <a:ext cx="5626418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653540" y="360235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130040" y="360235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1" name="g_split"/>
          <p:cNvGrpSpPr/>
          <p:nvPr/>
        </p:nvGrpSpPr>
        <p:grpSpPr>
          <a:xfrm>
            <a:off x="6556058" y="1677352"/>
            <a:ext cx="4809172" cy="3081338"/>
            <a:chOff x="6556058" y="1677352"/>
            <a:chExt cx="4809172" cy="3081338"/>
          </a:xfrm>
        </p:grpSpPr>
        <p:sp>
          <p:nvSpPr>
            <p:cNvPr id="29" name="Freeform 29"/>
            <p:cNvSpPr/>
            <p:nvPr/>
          </p:nvSpPr>
          <p:spPr>
            <a:xfrm>
              <a:off x="7197090" y="2419350"/>
              <a:ext cx="124778" cy="563880"/>
            </a:xfrm>
            <a:custGeom>
              <a:avLst/>
              <a:gdLst/>
              <a:ahLst/>
              <a:cxnLst/>
              <a:rect l="l" t="t" r="r" b="b"/>
              <a:pathLst>
                <a:path w="124778" h="563880">
                  <a:moveTo>
                    <a:pt x="0" y="563880"/>
                  </a:moveTo>
                  <a:lnTo>
                    <a:pt x="9525" y="555308"/>
                  </a:lnTo>
                  <a:lnTo>
                    <a:pt x="28575" y="535305"/>
                  </a:lnTo>
                  <a:lnTo>
                    <a:pt x="46672" y="513397"/>
                  </a:lnTo>
                  <a:lnTo>
                    <a:pt x="61912" y="491490"/>
                  </a:lnTo>
                  <a:lnTo>
                    <a:pt x="77153" y="467678"/>
                  </a:lnTo>
                  <a:lnTo>
                    <a:pt x="89535" y="442912"/>
                  </a:lnTo>
                  <a:lnTo>
                    <a:pt x="100012" y="417195"/>
                  </a:lnTo>
                  <a:lnTo>
                    <a:pt x="109538" y="391478"/>
                  </a:lnTo>
                  <a:lnTo>
                    <a:pt x="116205" y="363855"/>
                  </a:lnTo>
                  <a:lnTo>
                    <a:pt x="120967" y="337185"/>
                  </a:lnTo>
                  <a:lnTo>
                    <a:pt x="123825" y="309562"/>
                  </a:lnTo>
                  <a:lnTo>
                    <a:pt x="124778" y="281940"/>
                  </a:lnTo>
                  <a:lnTo>
                    <a:pt x="123825" y="254317"/>
                  </a:lnTo>
                  <a:lnTo>
                    <a:pt x="120967" y="226695"/>
                  </a:lnTo>
                  <a:lnTo>
                    <a:pt x="116205" y="199072"/>
                  </a:lnTo>
                  <a:lnTo>
                    <a:pt x="109538" y="172403"/>
                  </a:lnTo>
                  <a:lnTo>
                    <a:pt x="100012" y="146685"/>
                  </a:lnTo>
                  <a:lnTo>
                    <a:pt x="89535" y="120967"/>
                  </a:lnTo>
                  <a:lnTo>
                    <a:pt x="77153" y="96203"/>
                  </a:lnTo>
                  <a:lnTo>
                    <a:pt x="61912" y="72390"/>
                  </a:lnTo>
                  <a:lnTo>
                    <a:pt x="46672" y="49530"/>
                  </a:lnTo>
                  <a:lnTo>
                    <a:pt x="28575" y="28575"/>
                  </a:lnTo>
                  <a:lnTo>
                    <a:pt x="9525" y="8573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441882" y="2126932"/>
              <a:ext cx="260985" cy="1147762"/>
            </a:xfrm>
            <a:custGeom>
              <a:avLst/>
              <a:gdLst/>
              <a:ahLst/>
              <a:cxnLst/>
              <a:rect l="l" t="t" r="r" b="b"/>
              <a:pathLst>
                <a:path w="260985" h="1147762">
                  <a:moveTo>
                    <a:pt x="0" y="1147762"/>
                  </a:moveTo>
                  <a:lnTo>
                    <a:pt x="29528" y="1121092"/>
                  </a:lnTo>
                  <a:lnTo>
                    <a:pt x="68580" y="1080135"/>
                  </a:lnTo>
                  <a:lnTo>
                    <a:pt x="103823" y="1038225"/>
                  </a:lnTo>
                  <a:lnTo>
                    <a:pt x="136208" y="992505"/>
                  </a:lnTo>
                  <a:lnTo>
                    <a:pt x="164783" y="945833"/>
                  </a:lnTo>
                  <a:lnTo>
                    <a:pt x="189548" y="896302"/>
                  </a:lnTo>
                  <a:lnTo>
                    <a:pt x="211455" y="844867"/>
                  </a:lnTo>
                  <a:lnTo>
                    <a:pt x="229553" y="792480"/>
                  </a:lnTo>
                  <a:lnTo>
                    <a:pt x="242888" y="739140"/>
                  </a:lnTo>
                  <a:lnTo>
                    <a:pt x="253365" y="684847"/>
                  </a:lnTo>
                  <a:lnTo>
                    <a:pt x="259080" y="629602"/>
                  </a:lnTo>
                  <a:lnTo>
                    <a:pt x="260985" y="574358"/>
                  </a:lnTo>
                  <a:lnTo>
                    <a:pt x="259080" y="519112"/>
                  </a:lnTo>
                  <a:lnTo>
                    <a:pt x="253365" y="463867"/>
                  </a:lnTo>
                  <a:lnTo>
                    <a:pt x="242888" y="409575"/>
                  </a:lnTo>
                  <a:lnTo>
                    <a:pt x="229553" y="355283"/>
                  </a:lnTo>
                  <a:lnTo>
                    <a:pt x="211455" y="303847"/>
                  </a:lnTo>
                  <a:lnTo>
                    <a:pt x="189548" y="252412"/>
                  </a:lnTo>
                  <a:lnTo>
                    <a:pt x="164783" y="202882"/>
                  </a:lnTo>
                  <a:lnTo>
                    <a:pt x="136208" y="155257"/>
                  </a:lnTo>
                  <a:lnTo>
                    <a:pt x="103823" y="110490"/>
                  </a:lnTo>
                  <a:lnTo>
                    <a:pt x="68580" y="67627"/>
                  </a:lnTo>
                  <a:lnTo>
                    <a:pt x="29528" y="27622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686675" y="1835468"/>
              <a:ext cx="397193" cy="1731645"/>
            </a:xfrm>
            <a:custGeom>
              <a:avLst/>
              <a:gdLst/>
              <a:ahLst/>
              <a:cxnLst/>
              <a:rect l="l" t="t" r="r" b="b"/>
              <a:pathLst>
                <a:path w="397193" h="1731645">
                  <a:moveTo>
                    <a:pt x="0" y="1731645"/>
                  </a:moveTo>
                  <a:lnTo>
                    <a:pt x="50482" y="1684973"/>
                  </a:lnTo>
                  <a:lnTo>
                    <a:pt x="108585" y="1624965"/>
                  </a:lnTo>
                  <a:lnTo>
                    <a:pt x="160972" y="1561148"/>
                  </a:lnTo>
                  <a:lnTo>
                    <a:pt x="209550" y="1493520"/>
                  </a:lnTo>
                  <a:lnTo>
                    <a:pt x="252412" y="1423035"/>
                  </a:lnTo>
                  <a:lnTo>
                    <a:pt x="290512" y="1348740"/>
                  </a:lnTo>
                  <a:lnTo>
                    <a:pt x="322897" y="1271588"/>
                  </a:lnTo>
                  <a:lnTo>
                    <a:pt x="349568" y="1193482"/>
                  </a:lnTo>
                  <a:lnTo>
                    <a:pt x="370522" y="1112520"/>
                  </a:lnTo>
                  <a:lnTo>
                    <a:pt x="384810" y="1031558"/>
                  </a:lnTo>
                  <a:lnTo>
                    <a:pt x="394335" y="948690"/>
                  </a:lnTo>
                  <a:lnTo>
                    <a:pt x="397193" y="865823"/>
                  </a:lnTo>
                  <a:lnTo>
                    <a:pt x="394335" y="782955"/>
                  </a:lnTo>
                  <a:lnTo>
                    <a:pt x="384810" y="700088"/>
                  </a:lnTo>
                  <a:lnTo>
                    <a:pt x="370522" y="618173"/>
                  </a:lnTo>
                  <a:lnTo>
                    <a:pt x="349568" y="538162"/>
                  </a:lnTo>
                  <a:lnTo>
                    <a:pt x="322897" y="459105"/>
                  </a:lnTo>
                  <a:lnTo>
                    <a:pt x="290512" y="382905"/>
                  </a:lnTo>
                  <a:lnTo>
                    <a:pt x="252412" y="308610"/>
                  </a:lnTo>
                  <a:lnTo>
                    <a:pt x="209550" y="238125"/>
                  </a:lnTo>
                  <a:lnTo>
                    <a:pt x="160972" y="169545"/>
                  </a:lnTo>
                  <a:lnTo>
                    <a:pt x="108585" y="105728"/>
                  </a:lnTo>
                  <a:lnTo>
                    <a:pt x="50482" y="4572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8275320" y="2020252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275320" y="2572702"/>
              <a:ext cx="9525" cy="257175"/>
            </a:xfrm>
            <a:custGeom>
              <a:avLst/>
              <a:gdLst/>
              <a:ahLst/>
              <a:cxnLst/>
              <a:rect l="l" t="t" r="r" b="b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275320" y="2972752"/>
              <a:ext cx="9525" cy="409575"/>
            </a:xfrm>
            <a:custGeom>
              <a:avLst/>
              <a:gdLst/>
              <a:ahLst/>
              <a:cxnLst/>
              <a:rect l="l" t="t" r="r" b="b"/>
              <a:pathLst>
                <a:path w="9525" h="409575">
                  <a:moveTo>
                    <a:pt x="0" y="0"/>
                  </a:moveTo>
                  <a:lnTo>
                    <a:pt x="0" y="4095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477250" y="2237422"/>
              <a:ext cx="130493" cy="527685"/>
            </a:xfrm>
            <a:custGeom>
              <a:avLst/>
              <a:gdLst/>
              <a:ahLst/>
              <a:cxnLst/>
              <a:rect l="l" t="t" r="r" b="b"/>
              <a:pathLst>
                <a:path w="130493" h="527685">
                  <a:moveTo>
                    <a:pt x="0" y="527685"/>
                  </a:moveTo>
                  <a:lnTo>
                    <a:pt x="9525" y="521018"/>
                  </a:lnTo>
                  <a:lnTo>
                    <a:pt x="29528" y="502920"/>
                  </a:lnTo>
                  <a:lnTo>
                    <a:pt x="47625" y="482918"/>
                  </a:lnTo>
                  <a:lnTo>
                    <a:pt x="64770" y="462915"/>
                  </a:lnTo>
                  <a:lnTo>
                    <a:pt x="80010" y="441007"/>
                  </a:lnTo>
                  <a:lnTo>
                    <a:pt x="93345" y="418148"/>
                  </a:lnTo>
                  <a:lnTo>
                    <a:pt x="104775" y="393382"/>
                  </a:lnTo>
                  <a:lnTo>
                    <a:pt x="114300" y="368618"/>
                  </a:lnTo>
                  <a:lnTo>
                    <a:pt x="120968" y="342900"/>
                  </a:lnTo>
                  <a:lnTo>
                    <a:pt x="126682" y="317182"/>
                  </a:lnTo>
                  <a:lnTo>
                    <a:pt x="129540" y="290512"/>
                  </a:lnTo>
                  <a:lnTo>
                    <a:pt x="130493" y="263843"/>
                  </a:lnTo>
                  <a:lnTo>
                    <a:pt x="129540" y="237173"/>
                  </a:lnTo>
                  <a:lnTo>
                    <a:pt x="126682" y="210502"/>
                  </a:lnTo>
                  <a:lnTo>
                    <a:pt x="120968" y="184785"/>
                  </a:lnTo>
                  <a:lnTo>
                    <a:pt x="114300" y="159067"/>
                  </a:lnTo>
                  <a:lnTo>
                    <a:pt x="104775" y="134302"/>
                  </a:lnTo>
                  <a:lnTo>
                    <a:pt x="93345" y="109538"/>
                  </a:lnTo>
                  <a:lnTo>
                    <a:pt x="80010" y="86677"/>
                  </a:lnTo>
                  <a:lnTo>
                    <a:pt x="64770" y="64770"/>
                  </a:lnTo>
                  <a:lnTo>
                    <a:pt x="47625" y="43815"/>
                  </a:lnTo>
                  <a:lnTo>
                    <a:pt x="29528" y="24765"/>
                  </a:lnTo>
                  <a:lnTo>
                    <a:pt x="9525" y="6667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668702" y="1964055"/>
              <a:ext cx="272415" cy="1074420"/>
            </a:xfrm>
            <a:custGeom>
              <a:avLst/>
              <a:gdLst/>
              <a:ahLst/>
              <a:cxnLst/>
              <a:rect l="l" t="t" r="r" b="b"/>
              <a:pathLst>
                <a:path w="272415" h="1074420">
                  <a:moveTo>
                    <a:pt x="0" y="1074420"/>
                  </a:moveTo>
                  <a:lnTo>
                    <a:pt x="30480" y="1051560"/>
                  </a:lnTo>
                  <a:lnTo>
                    <a:pt x="70485" y="1015365"/>
                  </a:lnTo>
                  <a:lnTo>
                    <a:pt x="107632" y="976312"/>
                  </a:lnTo>
                  <a:lnTo>
                    <a:pt x="140970" y="935355"/>
                  </a:lnTo>
                  <a:lnTo>
                    <a:pt x="170497" y="891540"/>
                  </a:lnTo>
                  <a:lnTo>
                    <a:pt x="197167" y="844867"/>
                  </a:lnTo>
                  <a:lnTo>
                    <a:pt x="220028" y="796290"/>
                  </a:lnTo>
                  <a:lnTo>
                    <a:pt x="239078" y="746760"/>
                  </a:lnTo>
                  <a:lnTo>
                    <a:pt x="253365" y="695325"/>
                  </a:lnTo>
                  <a:lnTo>
                    <a:pt x="263842" y="643890"/>
                  </a:lnTo>
                  <a:lnTo>
                    <a:pt x="270510" y="590550"/>
                  </a:lnTo>
                  <a:lnTo>
                    <a:pt x="272415" y="537210"/>
                  </a:lnTo>
                  <a:lnTo>
                    <a:pt x="270510" y="483870"/>
                  </a:lnTo>
                  <a:lnTo>
                    <a:pt x="263842" y="430530"/>
                  </a:lnTo>
                  <a:lnTo>
                    <a:pt x="253365" y="379095"/>
                  </a:lnTo>
                  <a:lnTo>
                    <a:pt x="239078" y="327660"/>
                  </a:lnTo>
                  <a:lnTo>
                    <a:pt x="220028" y="277178"/>
                  </a:lnTo>
                  <a:lnTo>
                    <a:pt x="197167" y="229553"/>
                  </a:lnTo>
                  <a:lnTo>
                    <a:pt x="170497" y="182880"/>
                  </a:lnTo>
                  <a:lnTo>
                    <a:pt x="140970" y="139065"/>
                  </a:lnTo>
                  <a:lnTo>
                    <a:pt x="107632" y="97155"/>
                  </a:lnTo>
                  <a:lnTo>
                    <a:pt x="70485" y="59055"/>
                  </a:lnTo>
                  <a:lnTo>
                    <a:pt x="30480" y="23812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859202" y="1690688"/>
              <a:ext cx="415290" cy="1621155"/>
            </a:xfrm>
            <a:custGeom>
              <a:avLst/>
              <a:gdLst/>
              <a:ahLst/>
              <a:cxnLst/>
              <a:rect l="l" t="t" r="r" b="b"/>
              <a:pathLst>
                <a:path w="415290" h="1621155">
                  <a:moveTo>
                    <a:pt x="0" y="1621155"/>
                  </a:moveTo>
                  <a:lnTo>
                    <a:pt x="52388" y="1581150"/>
                  </a:lnTo>
                  <a:lnTo>
                    <a:pt x="112395" y="1527810"/>
                  </a:lnTo>
                  <a:lnTo>
                    <a:pt x="167640" y="1469708"/>
                  </a:lnTo>
                  <a:lnTo>
                    <a:pt x="217170" y="1407795"/>
                  </a:lnTo>
                  <a:lnTo>
                    <a:pt x="262890" y="1341120"/>
                  </a:lnTo>
                  <a:lnTo>
                    <a:pt x="301942" y="1272540"/>
                  </a:lnTo>
                  <a:lnTo>
                    <a:pt x="336232" y="1200150"/>
                  </a:lnTo>
                  <a:lnTo>
                    <a:pt x="364807" y="1124903"/>
                  </a:lnTo>
                  <a:lnTo>
                    <a:pt x="386715" y="1048703"/>
                  </a:lnTo>
                  <a:lnTo>
                    <a:pt x="402907" y="969645"/>
                  </a:lnTo>
                  <a:lnTo>
                    <a:pt x="412432" y="890588"/>
                  </a:lnTo>
                  <a:lnTo>
                    <a:pt x="415290" y="810578"/>
                  </a:lnTo>
                  <a:lnTo>
                    <a:pt x="412432" y="730567"/>
                  </a:lnTo>
                  <a:lnTo>
                    <a:pt x="402907" y="651510"/>
                  </a:lnTo>
                  <a:lnTo>
                    <a:pt x="386715" y="572452"/>
                  </a:lnTo>
                  <a:lnTo>
                    <a:pt x="364807" y="496252"/>
                  </a:lnTo>
                  <a:lnTo>
                    <a:pt x="336232" y="421005"/>
                  </a:lnTo>
                  <a:lnTo>
                    <a:pt x="301942" y="348615"/>
                  </a:lnTo>
                  <a:lnTo>
                    <a:pt x="262890" y="279083"/>
                  </a:lnTo>
                  <a:lnTo>
                    <a:pt x="217170" y="213360"/>
                  </a:lnTo>
                  <a:lnTo>
                    <a:pt x="167640" y="150495"/>
                  </a:lnTo>
                  <a:lnTo>
                    <a:pt x="112395" y="93345"/>
                  </a:lnTo>
                  <a:lnTo>
                    <a:pt x="52388" y="4000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477250" y="2636520"/>
              <a:ext cx="130493" cy="528638"/>
            </a:xfrm>
            <a:custGeom>
              <a:avLst/>
              <a:gdLst/>
              <a:ahLst/>
              <a:cxnLst/>
              <a:rect l="l" t="t" r="r" b="b"/>
              <a:pathLst>
                <a:path w="130493" h="528638">
                  <a:moveTo>
                    <a:pt x="0" y="528638"/>
                  </a:moveTo>
                  <a:lnTo>
                    <a:pt x="9525" y="521970"/>
                  </a:lnTo>
                  <a:lnTo>
                    <a:pt x="29528" y="503872"/>
                  </a:lnTo>
                  <a:lnTo>
                    <a:pt x="47625" y="484822"/>
                  </a:lnTo>
                  <a:lnTo>
                    <a:pt x="64770" y="463867"/>
                  </a:lnTo>
                  <a:lnTo>
                    <a:pt x="80010" y="441960"/>
                  </a:lnTo>
                  <a:lnTo>
                    <a:pt x="93345" y="418147"/>
                  </a:lnTo>
                  <a:lnTo>
                    <a:pt x="104775" y="394335"/>
                  </a:lnTo>
                  <a:lnTo>
                    <a:pt x="114300" y="369570"/>
                  </a:lnTo>
                  <a:lnTo>
                    <a:pt x="120968" y="343852"/>
                  </a:lnTo>
                  <a:lnTo>
                    <a:pt x="126682" y="318135"/>
                  </a:lnTo>
                  <a:lnTo>
                    <a:pt x="129540" y="291465"/>
                  </a:lnTo>
                  <a:lnTo>
                    <a:pt x="130493" y="264795"/>
                  </a:lnTo>
                  <a:lnTo>
                    <a:pt x="129540" y="238125"/>
                  </a:lnTo>
                  <a:lnTo>
                    <a:pt x="126682" y="211455"/>
                  </a:lnTo>
                  <a:lnTo>
                    <a:pt x="120968" y="185738"/>
                  </a:lnTo>
                  <a:lnTo>
                    <a:pt x="114300" y="160020"/>
                  </a:lnTo>
                  <a:lnTo>
                    <a:pt x="104775" y="134302"/>
                  </a:lnTo>
                  <a:lnTo>
                    <a:pt x="93345" y="110490"/>
                  </a:lnTo>
                  <a:lnTo>
                    <a:pt x="80010" y="87630"/>
                  </a:lnTo>
                  <a:lnTo>
                    <a:pt x="64770" y="65722"/>
                  </a:lnTo>
                  <a:lnTo>
                    <a:pt x="47625" y="44767"/>
                  </a:lnTo>
                  <a:lnTo>
                    <a:pt x="29528" y="25717"/>
                  </a:lnTo>
                  <a:lnTo>
                    <a:pt x="9525" y="762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668702" y="2364105"/>
              <a:ext cx="272415" cy="1074420"/>
            </a:xfrm>
            <a:custGeom>
              <a:avLst/>
              <a:gdLst/>
              <a:ahLst/>
              <a:cxnLst/>
              <a:rect l="l" t="t" r="r" b="b"/>
              <a:pathLst>
                <a:path w="272415" h="1074420">
                  <a:moveTo>
                    <a:pt x="0" y="1074420"/>
                  </a:moveTo>
                  <a:lnTo>
                    <a:pt x="30480" y="1050608"/>
                  </a:lnTo>
                  <a:lnTo>
                    <a:pt x="70485" y="1015365"/>
                  </a:lnTo>
                  <a:lnTo>
                    <a:pt x="107632" y="977265"/>
                  </a:lnTo>
                  <a:lnTo>
                    <a:pt x="140970" y="935355"/>
                  </a:lnTo>
                  <a:lnTo>
                    <a:pt x="170497" y="891540"/>
                  </a:lnTo>
                  <a:lnTo>
                    <a:pt x="197167" y="844867"/>
                  </a:lnTo>
                  <a:lnTo>
                    <a:pt x="220028" y="796290"/>
                  </a:lnTo>
                  <a:lnTo>
                    <a:pt x="239078" y="746760"/>
                  </a:lnTo>
                  <a:lnTo>
                    <a:pt x="253365" y="695325"/>
                  </a:lnTo>
                  <a:lnTo>
                    <a:pt x="263842" y="642938"/>
                  </a:lnTo>
                  <a:lnTo>
                    <a:pt x="270510" y="590550"/>
                  </a:lnTo>
                  <a:lnTo>
                    <a:pt x="272415" y="537210"/>
                  </a:lnTo>
                  <a:lnTo>
                    <a:pt x="270510" y="483870"/>
                  </a:lnTo>
                  <a:lnTo>
                    <a:pt x="263842" y="430530"/>
                  </a:lnTo>
                  <a:lnTo>
                    <a:pt x="253365" y="378142"/>
                  </a:lnTo>
                  <a:lnTo>
                    <a:pt x="239078" y="327660"/>
                  </a:lnTo>
                  <a:lnTo>
                    <a:pt x="220028" y="277178"/>
                  </a:lnTo>
                  <a:lnTo>
                    <a:pt x="197167" y="229553"/>
                  </a:lnTo>
                  <a:lnTo>
                    <a:pt x="170497" y="182880"/>
                  </a:lnTo>
                  <a:lnTo>
                    <a:pt x="140970" y="139065"/>
                  </a:lnTo>
                  <a:lnTo>
                    <a:pt x="107632" y="98108"/>
                  </a:lnTo>
                  <a:lnTo>
                    <a:pt x="70485" y="59055"/>
                  </a:lnTo>
                  <a:lnTo>
                    <a:pt x="30480" y="2286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859202" y="2090738"/>
              <a:ext cx="415290" cy="1621155"/>
            </a:xfrm>
            <a:custGeom>
              <a:avLst/>
              <a:gdLst/>
              <a:ahLst/>
              <a:cxnLst/>
              <a:rect l="l" t="t" r="r" b="b"/>
              <a:pathLst>
                <a:path w="415290" h="1621155">
                  <a:moveTo>
                    <a:pt x="0" y="1621155"/>
                  </a:moveTo>
                  <a:lnTo>
                    <a:pt x="52388" y="1581150"/>
                  </a:lnTo>
                  <a:lnTo>
                    <a:pt x="112395" y="1527810"/>
                  </a:lnTo>
                  <a:lnTo>
                    <a:pt x="167640" y="1469708"/>
                  </a:lnTo>
                  <a:lnTo>
                    <a:pt x="217170" y="1407795"/>
                  </a:lnTo>
                  <a:lnTo>
                    <a:pt x="262890" y="1342072"/>
                  </a:lnTo>
                  <a:lnTo>
                    <a:pt x="301942" y="1272540"/>
                  </a:lnTo>
                  <a:lnTo>
                    <a:pt x="336232" y="1200150"/>
                  </a:lnTo>
                  <a:lnTo>
                    <a:pt x="364807" y="1124903"/>
                  </a:lnTo>
                  <a:lnTo>
                    <a:pt x="386715" y="1047750"/>
                  </a:lnTo>
                  <a:lnTo>
                    <a:pt x="402907" y="969645"/>
                  </a:lnTo>
                  <a:lnTo>
                    <a:pt x="412432" y="890588"/>
                  </a:lnTo>
                  <a:lnTo>
                    <a:pt x="415290" y="810578"/>
                  </a:lnTo>
                  <a:lnTo>
                    <a:pt x="412432" y="730567"/>
                  </a:lnTo>
                  <a:lnTo>
                    <a:pt x="402907" y="650558"/>
                  </a:lnTo>
                  <a:lnTo>
                    <a:pt x="386715" y="572453"/>
                  </a:lnTo>
                  <a:lnTo>
                    <a:pt x="364807" y="496253"/>
                  </a:lnTo>
                  <a:lnTo>
                    <a:pt x="336232" y="421005"/>
                  </a:lnTo>
                  <a:lnTo>
                    <a:pt x="301942" y="348615"/>
                  </a:lnTo>
                  <a:lnTo>
                    <a:pt x="262890" y="279083"/>
                  </a:lnTo>
                  <a:lnTo>
                    <a:pt x="217170" y="213360"/>
                  </a:lnTo>
                  <a:lnTo>
                    <a:pt x="167640" y="151448"/>
                  </a:lnTo>
                  <a:lnTo>
                    <a:pt x="112395" y="93345"/>
                  </a:lnTo>
                  <a:lnTo>
                    <a:pt x="52388" y="4000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575108" y="3558540"/>
              <a:ext cx="4771073" cy="9525"/>
            </a:xfrm>
            <a:custGeom>
              <a:avLst/>
              <a:gdLst/>
              <a:ahLst/>
              <a:cxnLst/>
              <a:rect l="l" t="t" r="r" b="b"/>
              <a:pathLst>
                <a:path w="4771073" h="9525">
                  <a:moveTo>
                    <a:pt x="0" y="0"/>
                  </a:moveTo>
                  <a:lnTo>
                    <a:pt x="4771073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2" name="Freeform 42"/>
            <p:cNvSpPr/>
            <p:nvPr/>
          </p:nvSpPr>
          <p:spPr>
            <a:xfrm>
              <a:off x="6859905" y="4387215"/>
              <a:ext cx="4162425" cy="9525"/>
            </a:xfrm>
            <a:custGeom>
              <a:avLst/>
              <a:gdLst/>
              <a:ahLst/>
              <a:cxnLst/>
              <a:rect l="l" t="t" r="r" b="b"/>
              <a:pathLst>
                <a:path w="4162425" h="9525">
                  <a:moveTo>
                    <a:pt x="0" y="0"/>
                  </a:moveTo>
                  <a:lnTo>
                    <a:pt x="41624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859905" y="4749165"/>
              <a:ext cx="4162425" cy="9525"/>
            </a:xfrm>
            <a:custGeom>
              <a:avLst/>
              <a:gdLst/>
              <a:ahLst/>
              <a:cxnLst/>
              <a:rect l="l" t="t" r="r" b="b"/>
              <a:pathLst>
                <a:path w="4162425" h="9525">
                  <a:moveTo>
                    <a:pt x="0" y="0"/>
                  </a:moveTo>
                  <a:lnTo>
                    <a:pt x="41624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709535" y="3852862"/>
              <a:ext cx="311468" cy="443865"/>
            </a:xfrm>
            <a:custGeom>
              <a:avLst/>
              <a:gdLst/>
              <a:ahLst/>
              <a:cxnLst/>
              <a:rect l="l" t="t" r="r" b="b"/>
              <a:pathLst>
                <a:path w="311468" h="443865">
                  <a:moveTo>
                    <a:pt x="0" y="0"/>
                  </a:moveTo>
                  <a:lnTo>
                    <a:pt x="311468" y="443865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981950" y="4270058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94297" y="104775"/>
                  </a:moveTo>
                  <a:lnTo>
                    <a:pt x="0" y="54292"/>
                  </a:lnTo>
                  <a:lnTo>
                    <a:pt x="78105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8092440" y="3930968"/>
              <a:ext cx="311467" cy="443865"/>
            </a:xfrm>
            <a:custGeom>
              <a:avLst/>
              <a:gdLst/>
              <a:ahLst/>
              <a:cxnLst/>
              <a:rect l="l" t="t" r="r" b="b"/>
              <a:pathLst>
                <a:path w="311467" h="443865">
                  <a:moveTo>
                    <a:pt x="0" y="443865"/>
                  </a:moveTo>
                  <a:lnTo>
                    <a:pt x="311467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8364855" y="3852862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0"/>
                  </a:moveTo>
                  <a:lnTo>
                    <a:pt x="78105" y="104775"/>
                  </a:lnTo>
                  <a:lnTo>
                    <a:pt x="0" y="50483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090535" y="4399598"/>
              <a:ext cx="313372" cy="349568"/>
            </a:xfrm>
            <a:custGeom>
              <a:avLst/>
              <a:gdLst/>
              <a:ahLst/>
              <a:cxnLst/>
              <a:rect l="l" t="t" r="r" b="b"/>
              <a:pathLst>
                <a:path w="313372" h="349568">
                  <a:moveTo>
                    <a:pt x="0" y="0"/>
                  </a:moveTo>
                  <a:lnTo>
                    <a:pt x="156210" y="349568"/>
                  </a:lnTo>
                  <a:lnTo>
                    <a:pt x="313372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417242" y="3930968"/>
              <a:ext cx="311467" cy="443865"/>
            </a:xfrm>
            <a:custGeom>
              <a:avLst/>
              <a:gdLst/>
              <a:ahLst/>
              <a:cxnLst/>
              <a:rect l="l" t="t" r="r" b="b"/>
              <a:pathLst>
                <a:path w="311467" h="443865">
                  <a:moveTo>
                    <a:pt x="0" y="443865"/>
                  </a:moveTo>
                  <a:lnTo>
                    <a:pt x="311467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689658" y="3852862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0"/>
                  </a:moveTo>
                  <a:lnTo>
                    <a:pt x="78105" y="104775"/>
                  </a:lnTo>
                  <a:lnTo>
                    <a:pt x="0" y="50483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893242" y="265366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181850" y="2987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181850" y="24050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425690" y="32804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425690" y="21126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671435" y="35718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7671435" y="18211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8270558" y="20012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8270558" y="24393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270558" y="25536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270558" y="2839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8270558" y="2953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8270558" y="33918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461058" y="27698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461058" y="22231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8652510" y="30422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652510" y="19497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843010" y="33156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8843010" y="16773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8461058" y="31689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8461058" y="26231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8652510" y="34423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652510" y="2350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843010" y="3715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8843010" y="2077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6556058" y="35537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11355705" y="35537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6840855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1031855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6840855" y="4744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1031855" y="47444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7697152" y="38357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8079105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8079105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8462010" y="38357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8079105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8404860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8404860" y="4382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8786812" y="38357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51052" y="24198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992283" y="230124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992283" y="298704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157854" y="22007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分波阵面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866490" y="245887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同一波面上取两部分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60516" y="377380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341708" y="364045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a′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818911" y="377380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a″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089737" y="45058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薄膜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233241" y="377237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分振幅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478099" y="4029551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一束光在两个表面分成两束</a:t>
              </a:r>
            </a:p>
          </p:txBody>
        </p:sp>
      </p:grpSp>
      <p:grpSp>
        <p:nvGrpSpPr>
          <p:cNvPr id="108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02" name="Rectangle 102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补充条件：两束光振幅不能相差太大，否则暗纹不暗；光程差不能太大，不能超过一个波列的长度（相干长度），否则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两束光来自不同波列，就不再相干。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58024" cy="3351847"/>
            <a:chOff x="667512" y="1835468"/>
            <a:chExt cx="445802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分波阵面干涉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7.2，杨氏双缝是整章计算的起点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实验装置与光程差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明暗纹位置与条纹间距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劳埃德镜与半波损失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五道例题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杨氏双缝：两条缝取自同一波面，是一对相干光源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1" name="g_young"/>
          <p:cNvGrpSpPr/>
          <p:nvPr/>
        </p:nvGrpSpPr>
        <p:grpSpPr>
          <a:xfrm>
            <a:off x="737997" y="1801178"/>
            <a:ext cx="5805960" cy="3048666"/>
            <a:chOff x="737997" y="1801178"/>
            <a:chExt cx="5805960" cy="3048666"/>
          </a:xfrm>
        </p:grpSpPr>
        <p:sp>
          <p:nvSpPr>
            <p:cNvPr id="7" name="Freeform 7"/>
            <p:cNvSpPr/>
            <p:nvPr/>
          </p:nvSpPr>
          <p:spPr>
            <a:xfrm>
              <a:off x="1009650" y="1877378"/>
              <a:ext cx="9525" cy="1247775"/>
            </a:xfrm>
            <a:custGeom>
              <a:avLst/>
              <a:gdLst/>
              <a:ahLst/>
              <a:cxnLst/>
              <a:rect l="l" t="t" r="r" b="b"/>
              <a:pathLst>
                <a:path w="9525" h="1247775">
                  <a:moveTo>
                    <a:pt x="0" y="0"/>
                  </a:moveTo>
                  <a:lnTo>
                    <a:pt x="0" y="12477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09650" y="3268028"/>
              <a:ext cx="9525" cy="1247775"/>
            </a:xfrm>
            <a:custGeom>
              <a:avLst/>
              <a:gdLst/>
              <a:ahLst/>
              <a:cxnLst/>
              <a:rect l="l" t="t" r="r" b="b"/>
              <a:pathLst>
                <a:path w="9525" h="1247775">
                  <a:moveTo>
                    <a:pt x="0" y="0"/>
                  </a:moveTo>
                  <a:lnTo>
                    <a:pt x="0" y="12477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43150" y="1877378"/>
              <a:ext cx="9525" cy="942975"/>
            </a:xfrm>
            <a:custGeom>
              <a:avLst/>
              <a:gdLst/>
              <a:ahLst/>
              <a:cxnLst/>
              <a:rect l="l" t="t" r="r" b="b"/>
              <a:pathLst>
                <a:path w="9525" h="942975">
                  <a:moveTo>
                    <a:pt x="0" y="0"/>
                  </a:moveTo>
                  <a:lnTo>
                    <a:pt x="0" y="9429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343150" y="2963228"/>
              <a:ext cx="9525" cy="466725"/>
            </a:xfrm>
            <a:custGeom>
              <a:avLst/>
              <a:gdLst/>
              <a:ahLst/>
              <a:cxnLst/>
              <a:rect l="l" t="t" r="r" b="b"/>
              <a:pathLst>
                <a:path w="952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43150" y="3572828"/>
              <a:ext cx="9525" cy="942975"/>
            </a:xfrm>
            <a:custGeom>
              <a:avLst/>
              <a:gdLst/>
              <a:ahLst/>
              <a:cxnLst/>
              <a:rect l="l" t="t" r="r" b="b"/>
              <a:pathLst>
                <a:path w="9525" h="942975">
                  <a:moveTo>
                    <a:pt x="0" y="0"/>
                  </a:moveTo>
                  <a:lnTo>
                    <a:pt x="0" y="9429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676900" y="1820228"/>
              <a:ext cx="9525" cy="2752725"/>
            </a:xfrm>
            <a:custGeom>
              <a:avLst/>
              <a:gdLst/>
              <a:ahLst/>
              <a:cxnLst/>
              <a:rect l="l" t="t" r="r" b="b"/>
              <a:pathLst>
                <a:path w="9525" h="2752725">
                  <a:moveTo>
                    <a:pt x="0" y="0"/>
                  </a:moveTo>
                  <a:lnTo>
                    <a:pt x="0" y="275272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023938" y="3196590"/>
              <a:ext cx="4638675" cy="9525"/>
            </a:xfrm>
            <a:custGeom>
              <a:avLst/>
              <a:gdLst/>
              <a:ahLst/>
              <a:cxnLst/>
              <a:rect l="l" t="t" r="r" b="b"/>
              <a:pathLst>
                <a:path w="4638675" h="9525">
                  <a:moveTo>
                    <a:pt x="0" y="0"/>
                  </a:moveTo>
                  <a:lnTo>
                    <a:pt x="46386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023938" y="2895600"/>
              <a:ext cx="1305878" cy="298133"/>
            </a:xfrm>
            <a:custGeom>
              <a:avLst/>
              <a:gdLst/>
              <a:ahLst/>
              <a:cxnLst/>
              <a:rect l="l" t="t" r="r" b="b"/>
              <a:pathLst>
                <a:path w="1305878" h="298133">
                  <a:moveTo>
                    <a:pt x="0" y="298133"/>
                  </a:moveTo>
                  <a:lnTo>
                    <a:pt x="1305878" y="0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3200400"/>
              <a:ext cx="1305878" cy="298133"/>
            </a:xfrm>
            <a:custGeom>
              <a:avLst/>
              <a:gdLst/>
              <a:ahLst/>
              <a:cxnLst/>
              <a:rect l="l" t="t" r="r" b="b"/>
              <a:pathLst>
                <a:path w="1305878" h="298133">
                  <a:moveTo>
                    <a:pt x="0" y="0"/>
                  </a:moveTo>
                  <a:lnTo>
                    <a:pt x="1305878" y="298133"/>
                  </a:lnTo>
                </a:path>
              </a:pathLst>
            </a:custGeom>
            <a:noFill/>
            <a:ln w="15240">
              <a:solidFill>
                <a:srgbClr val="D9770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357438" y="2265998"/>
              <a:ext cx="3305175" cy="622935"/>
            </a:xfrm>
            <a:custGeom>
              <a:avLst/>
              <a:gdLst/>
              <a:ahLst/>
              <a:cxnLst/>
              <a:rect l="l" t="t" r="r" b="b"/>
              <a:pathLst>
                <a:path w="3305175" h="622935">
                  <a:moveTo>
                    <a:pt x="0" y="622935"/>
                  </a:moveTo>
                  <a:lnTo>
                    <a:pt x="3305175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56485" y="2267902"/>
              <a:ext cx="3307080" cy="1228725"/>
            </a:xfrm>
            <a:custGeom>
              <a:avLst/>
              <a:gdLst/>
              <a:ahLst/>
              <a:cxnLst/>
              <a:rect l="l" t="t" r="r" b="b"/>
              <a:pathLst>
                <a:path w="3307080" h="1228725">
                  <a:moveTo>
                    <a:pt x="0" y="1228725"/>
                  </a:moveTo>
                  <a:lnTo>
                    <a:pt x="330708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52688" y="4434840"/>
              <a:ext cx="3114675" cy="9525"/>
            </a:xfrm>
            <a:custGeom>
              <a:avLst/>
              <a:gdLst/>
              <a:ahLst/>
              <a:cxnLst/>
              <a:rect l="l" t="t" r="r" b="b"/>
              <a:pathLst>
                <a:path w="3114675" h="9525">
                  <a:moveTo>
                    <a:pt x="0" y="0"/>
                  </a:moveTo>
                  <a:lnTo>
                    <a:pt x="31146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567362" y="43872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357438" y="43872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552700" y="3001328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505075" y="33918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2505075" y="29060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505450" y="2372678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7143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5457825" y="22774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5457825" y="30870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92152" y="1848802"/>
              <a:ext cx="570547" cy="2695575"/>
            </a:xfrm>
            <a:custGeom>
              <a:avLst/>
              <a:gdLst/>
              <a:ahLst/>
              <a:cxnLst/>
              <a:rect l="l" t="t" r="r" b="b"/>
              <a:pathLst>
                <a:path w="570547" h="2695575">
                  <a:moveTo>
                    <a:pt x="500062" y="0"/>
                  </a:moveTo>
                  <a:lnTo>
                    <a:pt x="462915" y="14288"/>
                  </a:lnTo>
                  <a:lnTo>
                    <a:pt x="400050" y="33338"/>
                  </a:lnTo>
                  <a:lnTo>
                    <a:pt x="330517" y="52388"/>
                  </a:lnTo>
                  <a:lnTo>
                    <a:pt x="257175" y="71438"/>
                  </a:lnTo>
                  <a:lnTo>
                    <a:pt x="185738" y="90488"/>
                  </a:lnTo>
                  <a:lnTo>
                    <a:pt x="121920" y="109538"/>
                  </a:lnTo>
                  <a:lnTo>
                    <a:pt x="66675" y="128588"/>
                  </a:lnTo>
                  <a:lnTo>
                    <a:pt x="27622" y="147638"/>
                  </a:lnTo>
                  <a:lnTo>
                    <a:pt x="3810" y="166688"/>
                  </a:lnTo>
                  <a:lnTo>
                    <a:pt x="0" y="185738"/>
                  </a:lnTo>
                  <a:lnTo>
                    <a:pt x="13335" y="204788"/>
                  </a:lnTo>
                  <a:lnTo>
                    <a:pt x="44767" y="223838"/>
                  </a:lnTo>
                  <a:lnTo>
                    <a:pt x="92392" y="242888"/>
                  </a:lnTo>
                  <a:lnTo>
                    <a:pt x="152400" y="261938"/>
                  </a:lnTo>
                  <a:lnTo>
                    <a:pt x="220980" y="280988"/>
                  </a:lnTo>
                  <a:lnTo>
                    <a:pt x="294322" y="300038"/>
                  </a:lnTo>
                  <a:lnTo>
                    <a:pt x="366712" y="319088"/>
                  </a:lnTo>
                  <a:lnTo>
                    <a:pt x="432435" y="338138"/>
                  </a:lnTo>
                  <a:lnTo>
                    <a:pt x="489585" y="357188"/>
                  </a:lnTo>
                  <a:lnTo>
                    <a:pt x="533400" y="376238"/>
                  </a:lnTo>
                  <a:lnTo>
                    <a:pt x="561022" y="395288"/>
                  </a:lnTo>
                  <a:lnTo>
                    <a:pt x="570547" y="414338"/>
                  </a:lnTo>
                  <a:lnTo>
                    <a:pt x="561022" y="433388"/>
                  </a:lnTo>
                  <a:lnTo>
                    <a:pt x="533400" y="452438"/>
                  </a:lnTo>
                  <a:lnTo>
                    <a:pt x="489585" y="471488"/>
                  </a:lnTo>
                  <a:lnTo>
                    <a:pt x="432435" y="490538"/>
                  </a:lnTo>
                  <a:lnTo>
                    <a:pt x="366712" y="509588"/>
                  </a:lnTo>
                  <a:lnTo>
                    <a:pt x="294322" y="528638"/>
                  </a:lnTo>
                  <a:lnTo>
                    <a:pt x="220980" y="547688"/>
                  </a:lnTo>
                  <a:lnTo>
                    <a:pt x="152400" y="566738"/>
                  </a:lnTo>
                  <a:lnTo>
                    <a:pt x="92392" y="585788"/>
                  </a:lnTo>
                  <a:lnTo>
                    <a:pt x="44767" y="604838"/>
                  </a:lnTo>
                  <a:lnTo>
                    <a:pt x="13335" y="623888"/>
                  </a:lnTo>
                  <a:lnTo>
                    <a:pt x="0" y="642938"/>
                  </a:lnTo>
                  <a:lnTo>
                    <a:pt x="3810" y="661988"/>
                  </a:lnTo>
                  <a:lnTo>
                    <a:pt x="27622" y="681038"/>
                  </a:lnTo>
                  <a:lnTo>
                    <a:pt x="66675" y="700088"/>
                  </a:lnTo>
                  <a:lnTo>
                    <a:pt x="121920" y="719138"/>
                  </a:lnTo>
                  <a:lnTo>
                    <a:pt x="185738" y="738188"/>
                  </a:lnTo>
                  <a:lnTo>
                    <a:pt x="257175" y="757238"/>
                  </a:lnTo>
                  <a:lnTo>
                    <a:pt x="330517" y="776288"/>
                  </a:lnTo>
                  <a:lnTo>
                    <a:pt x="400050" y="795338"/>
                  </a:lnTo>
                  <a:lnTo>
                    <a:pt x="462915" y="814388"/>
                  </a:lnTo>
                  <a:lnTo>
                    <a:pt x="513397" y="833438"/>
                  </a:lnTo>
                  <a:lnTo>
                    <a:pt x="549592" y="852488"/>
                  </a:lnTo>
                  <a:lnTo>
                    <a:pt x="568642" y="871538"/>
                  </a:lnTo>
                  <a:lnTo>
                    <a:pt x="568642" y="890588"/>
                  </a:lnTo>
                  <a:lnTo>
                    <a:pt x="549592" y="909638"/>
                  </a:lnTo>
                  <a:lnTo>
                    <a:pt x="513397" y="928688"/>
                  </a:lnTo>
                  <a:lnTo>
                    <a:pt x="462915" y="947738"/>
                  </a:lnTo>
                  <a:lnTo>
                    <a:pt x="400050" y="966788"/>
                  </a:lnTo>
                  <a:lnTo>
                    <a:pt x="330517" y="985838"/>
                  </a:lnTo>
                  <a:lnTo>
                    <a:pt x="257175" y="1004888"/>
                  </a:lnTo>
                  <a:lnTo>
                    <a:pt x="185738" y="1023938"/>
                  </a:lnTo>
                  <a:lnTo>
                    <a:pt x="121920" y="1042988"/>
                  </a:lnTo>
                  <a:lnTo>
                    <a:pt x="66675" y="1062038"/>
                  </a:lnTo>
                  <a:lnTo>
                    <a:pt x="27622" y="1081088"/>
                  </a:lnTo>
                  <a:lnTo>
                    <a:pt x="3810" y="1100138"/>
                  </a:lnTo>
                  <a:lnTo>
                    <a:pt x="0" y="1119188"/>
                  </a:lnTo>
                  <a:lnTo>
                    <a:pt x="13335" y="1138238"/>
                  </a:lnTo>
                  <a:lnTo>
                    <a:pt x="44767" y="1157288"/>
                  </a:lnTo>
                  <a:lnTo>
                    <a:pt x="92392" y="1176338"/>
                  </a:lnTo>
                  <a:lnTo>
                    <a:pt x="152400" y="1195388"/>
                  </a:lnTo>
                  <a:lnTo>
                    <a:pt x="220980" y="1214438"/>
                  </a:lnTo>
                  <a:lnTo>
                    <a:pt x="294322" y="1233488"/>
                  </a:lnTo>
                  <a:lnTo>
                    <a:pt x="366712" y="1252538"/>
                  </a:lnTo>
                  <a:lnTo>
                    <a:pt x="432435" y="1271588"/>
                  </a:lnTo>
                  <a:lnTo>
                    <a:pt x="489585" y="1290638"/>
                  </a:lnTo>
                  <a:lnTo>
                    <a:pt x="533400" y="1309688"/>
                  </a:lnTo>
                  <a:lnTo>
                    <a:pt x="561022" y="1328738"/>
                  </a:lnTo>
                  <a:lnTo>
                    <a:pt x="570547" y="1347788"/>
                  </a:lnTo>
                  <a:lnTo>
                    <a:pt x="561022" y="1366838"/>
                  </a:lnTo>
                  <a:lnTo>
                    <a:pt x="533400" y="1385888"/>
                  </a:lnTo>
                  <a:lnTo>
                    <a:pt x="489585" y="1404938"/>
                  </a:lnTo>
                  <a:lnTo>
                    <a:pt x="432435" y="1423988"/>
                  </a:lnTo>
                  <a:lnTo>
                    <a:pt x="366712" y="1443038"/>
                  </a:lnTo>
                  <a:lnTo>
                    <a:pt x="294322" y="1462088"/>
                  </a:lnTo>
                  <a:lnTo>
                    <a:pt x="220980" y="1481138"/>
                  </a:lnTo>
                  <a:lnTo>
                    <a:pt x="152400" y="1500188"/>
                  </a:lnTo>
                  <a:lnTo>
                    <a:pt x="92392" y="1519238"/>
                  </a:lnTo>
                  <a:lnTo>
                    <a:pt x="44767" y="1538288"/>
                  </a:lnTo>
                  <a:lnTo>
                    <a:pt x="13335" y="1557338"/>
                  </a:lnTo>
                  <a:lnTo>
                    <a:pt x="0" y="1576388"/>
                  </a:lnTo>
                  <a:lnTo>
                    <a:pt x="3810" y="1595438"/>
                  </a:lnTo>
                  <a:lnTo>
                    <a:pt x="27622" y="1614488"/>
                  </a:lnTo>
                  <a:lnTo>
                    <a:pt x="66675" y="1633538"/>
                  </a:lnTo>
                  <a:lnTo>
                    <a:pt x="121920" y="1652588"/>
                  </a:lnTo>
                  <a:lnTo>
                    <a:pt x="185738" y="1671638"/>
                  </a:lnTo>
                  <a:lnTo>
                    <a:pt x="257175" y="1690688"/>
                  </a:lnTo>
                  <a:lnTo>
                    <a:pt x="330517" y="1709738"/>
                  </a:lnTo>
                  <a:lnTo>
                    <a:pt x="400050" y="1728788"/>
                  </a:lnTo>
                  <a:lnTo>
                    <a:pt x="462915" y="1747838"/>
                  </a:lnTo>
                  <a:lnTo>
                    <a:pt x="513397" y="1766888"/>
                  </a:lnTo>
                  <a:lnTo>
                    <a:pt x="549592" y="1785938"/>
                  </a:lnTo>
                  <a:lnTo>
                    <a:pt x="568642" y="1804988"/>
                  </a:lnTo>
                  <a:lnTo>
                    <a:pt x="568642" y="1824038"/>
                  </a:lnTo>
                  <a:lnTo>
                    <a:pt x="549592" y="1843088"/>
                  </a:lnTo>
                  <a:lnTo>
                    <a:pt x="513397" y="1862138"/>
                  </a:lnTo>
                  <a:lnTo>
                    <a:pt x="462915" y="1881188"/>
                  </a:lnTo>
                  <a:lnTo>
                    <a:pt x="400050" y="1900238"/>
                  </a:lnTo>
                  <a:lnTo>
                    <a:pt x="330517" y="1919288"/>
                  </a:lnTo>
                  <a:lnTo>
                    <a:pt x="257175" y="1938338"/>
                  </a:lnTo>
                  <a:lnTo>
                    <a:pt x="185738" y="1957388"/>
                  </a:lnTo>
                  <a:lnTo>
                    <a:pt x="121920" y="1976438"/>
                  </a:lnTo>
                  <a:lnTo>
                    <a:pt x="66675" y="1995488"/>
                  </a:lnTo>
                  <a:lnTo>
                    <a:pt x="27622" y="2014538"/>
                  </a:lnTo>
                  <a:lnTo>
                    <a:pt x="3810" y="2033588"/>
                  </a:lnTo>
                  <a:lnTo>
                    <a:pt x="0" y="2052638"/>
                  </a:lnTo>
                  <a:lnTo>
                    <a:pt x="13335" y="2071688"/>
                  </a:lnTo>
                  <a:lnTo>
                    <a:pt x="44767" y="2090738"/>
                  </a:lnTo>
                  <a:lnTo>
                    <a:pt x="92392" y="2109788"/>
                  </a:lnTo>
                  <a:lnTo>
                    <a:pt x="152400" y="2128838"/>
                  </a:lnTo>
                  <a:lnTo>
                    <a:pt x="220980" y="2147888"/>
                  </a:lnTo>
                  <a:lnTo>
                    <a:pt x="294322" y="2166938"/>
                  </a:lnTo>
                  <a:lnTo>
                    <a:pt x="366712" y="2185988"/>
                  </a:lnTo>
                  <a:lnTo>
                    <a:pt x="432435" y="2205038"/>
                  </a:lnTo>
                  <a:lnTo>
                    <a:pt x="489585" y="2224088"/>
                  </a:lnTo>
                  <a:lnTo>
                    <a:pt x="533400" y="2243138"/>
                  </a:lnTo>
                  <a:lnTo>
                    <a:pt x="561022" y="2262188"/>
                  </a:lnTo>
                  <a:lnTo>
                    <a:pt x="570547" y="2281238"/>
                  </a:lnTo>
                  <a:lnTo>
                    <a:pt x="561022" y="2300288"/>
                  </a:lnTo>
                  <a:lnTo>
                    <a:pt x="533400" y="2319338"/>
                  </a:lnTo>
                  <a:lnTo>
                    <a:pt x="489585" y="2338388"/>
                  </a:lnTo>
                  <a:lnTo>
                    <a:pt x="432435" y="2357438"/>
                  </a:lnTo>
                  <a:lnTo>
                    <a:pt x="366712" y="2376488"/>
                  </a:lnTo>
                  <a:lnTo>
                    <a:pt x="294322" y="2395538"/>
                  </a:lnTo>
                  <a:lnTo>
                    <a:pt x="220980" y="2414588"/>
                  </a:lnTo>
                  <a:lnTo>
                    <a:pt x="152400" y="2433638"/>
                  </a:lnTo>
                  <a:lnTo>
                    <a:pt x="92392" y="2452688"/>
                  </a:lnTo>
                  <a:lnTo>
                    <a:pt x="44767" y="2471738"/>
                  </a:lnTo>
                  <a:lnTo>
                    <a:pt x="13335" y="2490788"/>
                  </a:lnTo>
                  <a:lnTo>
                    <a:pt x="0" y="2509838"/>
                  </a:lnTo>
                  <a:lnTo>
                    <a:pt x="3810" y="2528888"/>
                  </a:lnTo>
                  <a:lnTo>
                    <a:pt x="27622" y="2547938"/>
                  </a:lnTo>
                  <a:lnTo>
                    <a:pt x="66675" y="2566988"/>
                  </a:lnTo>
                  <a:lnTo>
                    <a:pt x="121920" y="2586038"/>
                  </a:lnTo>
                  <a:lnTo>
                    <a:pt x="185738" y="2605088"/>
                  </a:lnTo>
                  <a:lnTo>
                    <a:pt x="257175" y="2624138"/>
                  </a:lnTo>
                  <a:lnTo>
                    <a:pt x="330517" y="2643188"/>
                  </a:lnTo>
                  <a:lnTo>
                    <a:pt x="400050" y="2662238"/>
                  </a:lnTo>
                  <a:lnTo>
                    <a:pt x="462915" y="2681288"/>
                  </a:lnTo>
                  <a:lnTo>
                    <a:pt x="500062" y="2695575"/>
                  </a:ln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04888" y="1858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04888" y="31346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04888" y="32489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04888" y="4525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338388" y="1858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338388" y="28298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338388" y="29441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338388" y="34394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338388" y="35537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338388" y="45253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672138" y="18011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672138" y="45824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04888" y="3191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672138" y="3191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04888" y="3191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338388" y="2887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04888" y="3191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338388" y="34966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338388" y="2887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672138" y="22583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338388" y="34966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5672138" y="22583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5629275" y="221551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338388" y="44300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672138" y="44300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547938" y="2887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547938" y="34966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5500688" y="31918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5500688" y="22583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300788" y="1839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6300788" y="45443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5535" y="297322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073984" y="268652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073984" y="358282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491835" y="20578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75107" y="3278029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74363" y="243982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250613" y="29160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958310" y="42295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636799" y="3125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22849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6243" y="1815465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D97706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7997" y="46591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单色光</a:t>
              </a:r>
            </a:p>
          </p:txBody>
        </p:sp>
      </p:grpSp>
      <p:grpSp>
        <p:nvGrpSpPr>
          <p:cNvPr id="85" name="c2-steps-1"/>
          <p:cNvGrpSpPr/>
          <p:nvPr/>
        </p:nvGrpSpPr>
        <p:grpSpPr>
          <a:xfrm>
            <a:off x="7114222" y="1533525"/>
            <a:ext cx="4561104" cy="2112930"/>
            <a:chOff x="7114222" y="1533525"/>
            <a:chExt cx="4561104" cy="2112930"/>
          </a:xfrm>
        </p:grpSpPr>
        <p:sp>
          <p:nvSpPr>
            <p:cNvPr id="72" name="Rectangle 72"/>
            <p:cNvSpPr/>
            <p:nvPr/>
          </p:nvSpPr>
          <p:spPr>
            <a:xfrm>
              <a:off x="7247572" y="1676400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114222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207846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114222" y="30699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07846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525702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单缝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526846" y="1861661"/>
              <a:ext cx="30794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单色光照亮狭缝 S，S 相当于一个线光源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525702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双缝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526846" y="2512219"/>
              <a:ext cx="3857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S₁、S₂ 与 S 等距，位于同一波面上，发出的光频率相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同、相位相同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525702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屏幕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526846" y="339709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两束光在屏上叠加，出现与缝平行、明暗相间的直条纹</a:t>
              </a:r>
            </a:p>
          </p:txBody>
        </p:sp>
      </p:grpSp>
      <p:grpSp>
        <p:nvGrpSpPr>
          <p:cNvPr id="94" name="c2-kv-2"/>
          <p:cNvGrpSpPr/>
          <p:nvPr/>
        </p:nvGrpSpPr>
        <p:grpSpPr>
          <a:xfrm>
            <a:off x="7106602" y="3850005"/>
            <a:ext cx="4551998" cy="1173480"/>
            <a:chOff x="7106602" y="3850005"/>
            <a:chExt cx="4551998" cy="1173480"/>
          </a:xfrm>
        </p:grpSpPr>
        <p:sp>
          <p:nvSpPr>
            <p:cNvPr id="86" name="TextBox 86"/>
            <p:cNvSpPr txBox="1"/>
            <p:nvPr/>
          </p:nvSpPr>
          <p:spPr>
            <a:xfrm>
              <a:off x="7106602" y="38500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468552" y="38500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两缝间距，零点几毫米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114222" y="41700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106602" y="429006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468552" y="4290060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缝到屏的距离，约 1 m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114222" y="46101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106602" y="473011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68552" y="4730115"/>
              <a:ext cx="23660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屏上 P 点到中心 O 的距离</a:t>
              </a:r>
            </a:p>
          </p:txBody>
        </p:sp>
      </p:grpSp>
      <p:grpSp>
        <p:nvGrpSpPr>
          <p:cNvPr id="101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95" name="Rectangle 9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9" name="Group 99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96" name="Freeform 96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0" name="TextBox 100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D ≫ a、D ≫ x 保证 r₁、r₂ 几乎平行，后面的近似 δ ≈ ax/D 才成立。杨氏在 19 世纪初做成这个实验，是光的波动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说的关键证据。</a:t>
              </a:r>
            </a:p>
          </p:txBody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3853" cy="909257"/>
            <a:chOff x="520446" y="342900"/>
            <a:chExt cx="60238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38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 δ ≈ ax/D，由此得到明暗纹位置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193397" cy="2529173"/>
            <a:chOff x="533400" y="1533525"/>
            <a:chExt cx="5193397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列距离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6977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r₁² = D² + (x − a/2)²，r₂² = D² + (x + a/2)²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045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r₂² − r₁² = 2ax，所以 δ = r₂ − r₁ = 2ax/(r₁ + r₂)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2792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≫ a、x 时 r₁ + r₂ ≈ 2D，δ ≈ ax/D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另一种看法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4780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S₁ 向 S₂P 作垂线，δ = a sinφ；φ 很小，sinφ ≈ tanφ = x/D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241482"/>
            <a:ext cx="5410200" cy="1588770"/>
            <a:chOff x="533400" y="4241482"/>
            <a:chExt cx="5410200" cy="1588770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5410200" cy="1588770"/>
            </a:xfrm>
            <a:prstGeom prst="roundRect">
              <a:avLst>
                <a:gd name="adj" fmla="val 839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42950" y="4451032"/>
              <a:ext cx="216884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2910" y="4486751"/>
              <a:ext cx="2087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明暗纹位置（k = 0, 1, 2, …）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35"/>
                <p:cNvSpPr txBox="1">
                  <a:spLocks noGrp="1"/>
                </p:cNvSpPr>
                <p:nvPr/>
              </p:nvSpPr>
              <p:spPr>
                <a:xfrm>
                  <a:off x="742950" y="4803458"/>
                  <a:ext cx="49911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明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den>
                        </m:f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nor m:val="on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暗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735330" y="5386388"/>
              <a:ext cx="4452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0 的明纹在 O 点，叫中央明纹（零级明纹）。</a:t>
              </a:r>
            </a:p>
          </p:txBody>
        </p:sp>
      </p:grpSp>
      <p:grpSp>
        <p:nvGrpSpPr>
          <p:cNvPr id="37" name="c2-callout-1"/>
          <p:cNvGrpSpPr/>
          <p:nvPr/>
        </p:nvGrpSpPr>
        <p:grpSpPr>
          <a:xfrm>
            <a:off x="6248400" y="1524000"/>
            <a:ext cx="5410200" cy="782955"/>
            <a:chOff x="6248400" y="1524000"/>
            <a:chExt cx="5410200" cy="78295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53188" y="1815465"/>
              <a:ext cx="200026" cy="200025"/>
              <a:chOff x="6453188" y="181546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18154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492926" y="18599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27642" y="19710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755130" y="1672590"/>
              <a:ext cx="4453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图中 a、x 都画得夸张了。实际 a 约 0.2 mm、D 约 1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m，φ 只有千分之几弧度，两条光线几乎平行。</a:t>
              </a:r>
            </a:p>
          </p:txBody>
        </p:sp>
      </p:grpSp>
      <p:grpSp>
        <p:nvGrpSpPr>
          <p:cNvPr id="92" name="g_ypath"/>
          <p:cNvGrpSpPr/>
          <p:nvPr/>
        </p:nvGrpSpPr>
        <p:grpSpPr>
          <a:xfrm>
            <a:off x="6722184" y="2673668"/>
            <a:ext cx="4681009" cy="2827972"/>
            <a:chOff x="6722184" y="2673668"/>
            <a:chExt cx="4681009" cy="2827972"/>
          </a:xfrm>
        </p:grpSpPr>
        <p:sp>
          <p:nvSpPr>
            <p:cNvPr id="38" name="Freeform 38"/>
            <p:cNvSpPr/>
            <p:nvPr/>
          </p:nvSpPr>
          <p:spPr>
            <a:xfrm>
              <a:off x="7010400" y="2748915"/>
              <a:ext cx="9525" cy="981075"/>
            </a:xfrm>
            <a:custGeom>
              <a:avLst/>
              <a:gdLst/>
              <a:ahLst/>
              <a:cxnLst/>
              <a:rect l="l" t="t" r="r" b="b"/>
              <a:pathLst>
                <a:path w="9525" h="981075">
                  <a:moveTo>
                    <a:pt x="0" y="0"/>
                  </a:moveTo>
                  <a:lnTo>
                    <a:pt x="0" y="98107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010400" y="3872865"/>
              <a:ext cx="9525" cy="581977"/>
            </a:xfrm>
            <a:custGeom>
              <a:avLst/>
              <a:gdLst/>
              <a:ahLst/>
              <a:cxnLst/>
              <a:rect l="l" t="t" r="r" b="b"/>
              <a:pathLst>
                <a:path w="9525" h="581977">
                  <a:moveTo>
                    <a:pt x="0" y="0"/>
                  </a:moveTo>
                  <a:lnTo>
                    <a:pt x="0" y="581977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010400" y="4597718"/>
              <a:ext cx="9525" cy="789623"/>
            </a:xfrm>
            <a:custGeom>
              <a:avLst/>
              <a:gdLst/>
              <a:ahLst/>
              <a:cxnLst/>
              <a:rect l="l" t="t" r="r" b="b"/>
              <a:pathLst>
                <a:path w="9525" h="789623">
                  <a:moveTo>
                    <a:pt x="0" y="0"/>
                  </a:moveTo>
                  <a:lnTo>
                    <a:pt x="0" y="78962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1201400" y="2692718"/>
              <a:ext cx="9525" cy="2789873"/>
            </a:xfrm>
            <a:custGeom>
              <a:avLst/>
              <a:gdLst/>
              <a:ahLst/>
              <a:cxnLst/>
              <a:rect l="l" t="t" r="r" b="b"/>
              <a:pathLst>
                <a:path w="9525" h="2789873">
                  <a:moveTo>
                    <a:pt x="0" y="0"/>
                  </a:moveTo>
                  <a:lnTo>
                    <a:pt x="0" y="278987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7024688" y="4163378"/>
              <a:ext cx="4162425" cy="9525"/>
            </a:xfrm>
            <a:custGeom>
              <a:avLst/>
              <a:gdLst/>
              <a:ahLst/>
              <a:cxnLst/>
              <a:rect l="l" t="t" r="r" b="b"/>
              <a:pathLst>
                <a:path w="4162425" h="9525">
                  <a:moveTo>
                    <a:pt x="0" y="0"/>
                  </a:moveTo>
                  <a:lnTo>
                    <a:pt x="41624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3" name="Freeform 43"/>
            <p:cNvSpPr/>
            <p:nvPr/>
          </p:nvSpPr>
          <p:spPr>
            <a:xfrm>
              <a:off x="7023735" y="2928938"/>
              <a:ext cx="4163378" cy="869633"/>
            </a:xfrm>
            <a:custGeom>
              <a:avLst/>
              <a:gdLst/>
              <a:ahLst/>
              <a:cxnLst/>
              <a:rect l="l" t="t" r="r" b="b"/>
              <a:pathLst>
                <a:path w="4163378" h="869633">
                  <a:moveTo>
                    <a:pt x="0" y="869633"/>
                  </a:moveTo>
                  <a:lnTo>
                    <a:pt x="4163378" y="0"/>
                  </a:lnTo>
                </a:path>
              </a:pathLst>
            </a:custGeom>
            <a:noFill/>
            <a:ln w="20955">
              <a:solidFill>
                <a:srgbClr val="2F4B9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7023735" y="2930842"/>
              <a:ext cx="4164330" cy="1589723"/>
            </a:xfrm>
            <a:custGeom>
              <a:avLst/>
              <a:gdLst/>
              <a:ahLst/>
              <a:cxnLst/>
              <a:rect l="l" t="t" r="r" b="b"/>
              <a:pathLst>
                <a:path w="4164330" h="1589723">
                  <a:moveTo>
                    <a:pt x="0" y="1589723"/>
                  </a:moveTo>
                  <a:lnTo>
                    <a:pt x="4164330" y="0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023735" y="2929890"/>
              <a:ext cx="4164330" cy="1229677"/>
            </a:xfrm>
            <a:custGeom>
              <a:avLst/>
              <a:gdLst/>
              <a:ahLst/>
              <a:cxnLst/>
              <a:rect l="l" t="t" r="r" b="b"/>
              <a:pathLst>
                <a:path w="4164330" h="1229677">
                  <a:moveTo>
                    <a:pt x="0" y="1229677"/>
                  </a:moveTo>
                  <a:lnTo>
                    <a:pt x="416433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7015162" y="3814762"/>
              <a:ext cx="231457" cy="605790"/>
            </a:xfrm>
            <a:custGeom>
              <a:avLst/>
              <a:gdLst/>
              <a:ahLst/>
              <a:cxnLst/>
              <a:rect l="l" t="t" r="r" b="b"/>
              <a:pathLst>
                <a:path w="231457" h="605790">
                  <a:moveTo>
                    <a:pt x="0" y="0"/>
                  </a:moveTo>
                  <a:lnTo>
                    <a:pt x="231457" y="60579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7" name="Freeform 47"/>
            <p:cNvSpPr/>
            <p:nvPr/>
          </p:nvSpPr>
          <p:spPr>
            <a:xfrm>
              <a:off x="7023735" y="4438650"/>
              <a:ext cx="214312" cy="81915"/>
            </a:xfrm>
            <a:custGeom>
              <a:avLst/>
              <a:gdLst/>
              <a:ahLst/>
              <a:cxnLst/>
              <a:rect l="l" t="t" r="r" b="b"/>
              <a:pathLst>
                <a:path w="214312" h="81915">
                  <a:moveTo>
                    <a:pt x="0" y="81915"/>
                  </a:moveTo>
                  <a:lnTo>
                    <a:pt x="214312" y="0"/>
                  </a:lnTo>
                </a:path>
              </a:pathLst>
            </a:custGeom>
            <a:noFill/>
            <a:ln w="38100">
              <a:solidFill>
                <a:srgbClr val="B42318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7543800" y="4020502"/>
              <a:ext cx="19050" cy="129540"/>
            </a:xfrm>
            <a:custGeom>
              <a:avLst/>
              <a:gdLst/>
              <a:ahLst/>
              <a:cxnLst/>
              <a:rect l="l" t="t" r="r" b="b"/>
              <a:pathLst>
                <a:path w="19050" h="129540">
                  <a:moveTo>
                    <a:pt x="19050" y="128588"/>
                  </a:moveTo>
                  <a:lnTo>
                    <a:pt x="19050" y="129540"/>
                  </a:lnTo>
                  <a:lnTo>
                    <a:pt x="18097" y="117157"/>
                  </a:lnTo>
                  <a:lnTo>
                    <a:pt x="18097" y="103822"/>
                  </a:lnTo>
                  <a:lnTo>
                    <a:pt x="16193" y="90488"/>
                  </a:lnTo>
                  <a:lnTo>
                    <a:pt x="15240" y="77152"/>
                  </a:lnTo>
                  <a:lnTo>
                    <a:pt x="13335" y="63817"/>
                  </a:lnTo>
                  <a:lnTo>
                    <a:pt x="11430" y="51435"/>
                  </a:lnTo>
                  <a:lnTo>
                    <a:pt x="8572" y="38100"/>
                  </a:lnTo>
                  <a:lnTo>
                    <a:pt x="6668" y="25717"/>
                  </a:lnTo>
                  <a:lnTo>
                    <a:pt x="2857" y="12382"/>
                  </a:lnTo>
                  <a:lnTo>
                    <a:pt x="0" y="0"/>
                  </a:lnTo>
                  <a:lnTo>
                    <a:pt x="0" y="95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119938" y="5325428"/>
              <a:ext cx="3971925" cy="9525"/>
            </a:xfrm>
            <a:custGeom>
              <a:avLst/>
              <a:gdLst/>
              <a:ahLst/>
              <a:cxnLst/>
              <a:rect l="l" t="t" r="r" b="b"/>
              <a:pathLst>
                <a:path w="3971925" h="9525">
                  <a:moveTo>
                    <a:pt x="0" y="0"/>
                  </a:moveTo>
                  <a:lnTo>
                    <a:pt x="3971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1091862" y="52778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024688" y="52778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1049000" y="3035618"/>
              <a:ext cx="9525" cy="1018223"/>
            </a:xfrm>
            <a:custGeom>
              <a:avLst/>
              <a:gdLst/>
              <a:ahLst/>
              <a:cxnLst/>
              <a:rect l="l" t="t" r="r" b="b"/>
              <a:pathLst>
                <a:path w="9525" h="1018223">
                  <a:moveTo>
                    <a:pt x="0" y="101822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11001375" y="29403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1001375" y="40538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005638" y="27298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005638" y="37395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7005638" y="38538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005638" y="44643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005638" y="45786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7005638" y="53968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11196638" y="26736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1196638" y="54921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7005638" y="4158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11196638" y="4158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7005638" y="37966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1196638" y="2921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7005638" y="45205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1196638" y="2921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7005638" y="4158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1196638" y="2921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7005638" y="37966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246620" y="44291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7005638" y="45205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7246620" y="44291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7558088" y="4158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7535228" y="40024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7005638" y="53206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1196638" y="53206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1044238" y="41586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1044238" y="29213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116726" y="455580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δ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627899" y="39781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722184" y="367331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22184" y="453056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83035" y="287321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66307" y="411146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917863" y="315896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298863" y="378761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054185" y="512111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866399" y="34732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51599" y="40924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23035" cy="909257"/>
            <a:chOff x="520446" y="342900"/>
            <a:chExt cx="45230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230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条纹等间距，间距 Δx = Dλ/a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7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den>
                      </m:f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7" name="c1-bullets-2"/>
          <p:cNvGrpSpPr/>
          <p:nvPr/>
        </p:nvGrpSpPr>
        <p:grpSpPr>
          <a:xfrm>
            <a:off x="533400" y="2291715"/>
            <a:ext cx="5183505" cy="1567815"/>
            <a:chOff x="533400" y="2291715"/>
            <a:chExt cx="5183505" cy="1567815"/>
          </a:xfrm>
        </p:grpSpPr>
        <p:sp>
          <p:nvSpPr>
            <p:cNvPr id="8" name="Ellipse 8"/>
            <p:cNvSpPr/>
            <p:nvPr/>
          </p:nvSpPr>
          <p:spPr>
            <a:xfrm>
              <a:off x="533400" y="229171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2334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23050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明暗相间的直条纹，对称分布在中央明纹两侧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2636520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5249" y="26788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4390" y="2649855"/>
              <a:ext cx="4882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相邻明纹（或相邻暗纹）间距相等：Δx ∝ λ，Δx ∝ D，Δx ∝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1/a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67075"/>
              <a:ext cx="213360" cy="2133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5249" y="33093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4390" y="328041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白光入射时中央明纹是白色，其他各级是内紫外红的彩色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</a:t>
              </a:r>
            </a:p>
          </p:txBody>
        </p:sp>
      </p:grpSp>
      <p:grpSp>
        <p:nvGrpSpPr>
          <p:cNvPr id="36" name="c1-table-3"/>
          <p:cNvGrpSpPr/>
          <p:nvPr/>
        </p:nvGrpSpPr>
        <p:grpSpPr>
          <a:xfrm>
            <a:off x="533400" y="3990975"/>
            <a:ext cx="5410200" cy="2244091"/>
            <a:chOff x="533400" y="3990975"/>
            <a:chExt cx="5410200" cy="2244091"/>
          </a:xfrm>
        </p:grpSpPr>
        <p:sp>
          <p:nvSpPr>
            <p:cNvPr id="18" name="Rectangle 18"/>
            <p:cNvSpPr/>
            <p:nvPr/>
          </p:nvSpPr>
          <p:spPr>
            <a:xfrm>
              <a:off x="533400" y="3990975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977669" y="4126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10456" y="41267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条纹间距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1223" y="457533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换用波长更长的红光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87343" y="4575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变宽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8834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88823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5023961"/>
              <a:ext cx="15539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屏幕移远（D 增大）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887343" y="50239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变宽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3330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5472589"/>
              <a:ext cx="15452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两缝靠近（a 减小）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87343" y="54725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变宽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7816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78643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59212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整个装置浸入水中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87343" y="5921216"/>
              <a:ext cx="8659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变窄为 1/n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990975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774758" y="399097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4" name="g_fringes"/>
          <p:cNvGrpSpPr/>
          <p:nvPr/>
        </p:nvGrpSpPr>
        <p:grpSpPr>
          <a:xfrm>
            <a:off x="6472238" y="1590675"/>
            <a:ext cx="5099161" cy="2509838"/>
            <a:chOff x="6472238" y="1590675"/>
            <a:chExt cx="5099161" cy="2509838"/>
          </a:xfrm>
        </p:grpSpPr>
        <p:sp>
          <p:nvSpPr>
            <p:cNvPr id="37" name="Freeform 37"/>
            <p:cNvSpPr/>
            <p:nvPr/>
          </p:nvSpPr>
          <p:spPr>
            <a:xfrm>
              <a:off x="6480810" y="2000250"/>
              <a:ext cx="4945380" cy="1143000"/>
            </a:xfrm>
            <a:custGeom>
              <a:avLst/>
              <a:gdLst/>
              <a:ahLst/>
              <a:cxnLst/>
              <a:rect l="l" t="t" r="r" b="b"/>
              <a:pathLst>
                <a:path w="4945380" h="1143000">
                  <a:moveTo>
                    <a:pt x="0" y="321945"/>
                  </a:moveTo>
                  <a:lnTo>
                    <a:pt x="15240" y="380048"/>
                  </a:lnTo>
                  <a:lnTo>
                    <a:pt x="34290" y="455295"/>
                  </a:lnTo>
                  <a:lnTo>
                    <a:pt x="53340" y="532447"/>
                  </a:lnTo>
                  <a:lnTo>
                    <a:pt x="72390" y="610553"/>
                  </a:lnTo>
                  <a:lnTo>
                    <a:pt x="91440" y="687705"/>
                  </a:lnTo>
                  <a:lnTo>
                    <a:pt x="110490" y="762953"/>
                  </a:lnTo>
                  <a:lnTo>
                    <a:pt x="129540" y="834390"/>
                  </a:lnTo>
                  <a:lnTo>
                    <a:pt x="148590" y="901065"/>
                  </a:lnTo>
                  <a:lnTo>
                    <a:pt x="167640" y="961072"/>
                  </a:lnTo>
                  <a:lnTo>
                    <a:pt x="186690" y="1014412"/>
                  </a:lnTo>
                  <a:lnTo>
                    <a:pt x="205740" y="1060132"/>
                  </a:lnTo>
                  <a:lnTo>
                    <a:pt x="224790" y="1095375"/>
                  </a:lnTo>
                  <a:lnTo>
                    <a:pt x="243840" y="1122045"/>
                  </a:lnTo>
                  <a:lnTo>
                    <a:pt x="262890" y="1137285"/>
                  </a:lnTo>
                  <a:lnTo>
                    <a:pt x="281940" y="1143000"/>
                  </a:lnTo>
                  <a:lnTo>
                    <a:pt x="300990" y="1137285"/>
                  </a:lnTo>
                  <a:lnTo>
                    <a:pt x="320040" y="1122045"/>
                  </a:lnTo>
                  <a:lnTo>
                    <a:pt x="339090" y="1095375"/>
                  </a:lnTo>
                  <a:lnTo>
                    <a:pt x="358140" y="1060132"/>
                  </a:lnTo>
                  <a:lnTo>
                    <a:pt x="377190" y="1014412"/>
                  </a:lnTo>
                  <a:lnTo>
                    <a:pt x="396240" y="961072"/>
                  </a:lnTo>
                  <a:lnTo>
                    <a:pt x="415290" y="901065"/>
                  </a:lnTo>
                  <a:lnTo>
                    <a:pt x="434340" y="834390"/>
                  </a:lnTo>
                  <a:lnTo>
                    <a:pt x="453390" y="762953"/>
                  </a:lnTo>
                  <a:lnTo>
                    <a:pt x="472440" y="687705"/>
                  </a:lnTo>
                  <a:lnTo>
                    <a:pt x="491490" y="610553"/>
                  </a:lnTo>
                  <a:lnTo>
                    <a:pt x="510540" y="532447"/>
                  </a:lnTo>
                  <a:lnTo>
                    <a:pt x="529590" y="455295"/>
                  </a:lnTo>
                  <a:lnTo>
                    <a:pt x="548640" y="380048"/>
                  </a:lnTo>
                  <a:lnTo>
                    <a:pt x="567690" y="308610"/>
                  </a:lnTo>
                  <a:lnTo>
                    <a:pt x="586740" y="241935"/>
                  </a:lnTo>
                  <a:lnTo>
                    <a:pt x="605790" y="180975"/>
                  </a:lnTo>
                  <a:lnTo>
                    <a:pt x="624840" y="128588"/>
                  </a:lnTo>
                  <a:lnTo>
                    <a:pt x="643890" y="82867"/>
                  </a:lnTo>
                  <a:lnTo>
                    <a:pt x="662940" y="47625"/>
                  </a:lnTo>
                  <a:lnTo>
                    <a:pt x="681990" y="20955"/>
                  </a:lnTo>
                  <a:lnTo>
                    <a:pt x="701040" y="4762"/>
                  </a:lnTo>
                  <a:lnTo>
                    <a:pt x="720090" y="0"/>
                  </a:lnTo>
                  <a:lnTo>
                    <a:pt x="739140" y="4762"/>
                  </a:lnTo>
                  <a:lnTo>
                    <a:pt x="758190" y="20955"/>
                  </a:lnTo>
                  <a:lnTo>
                    <a:pt x="777240" y="47625"/>
                  </a:lnTo>
                  <a:lnTo>
                    <a:pt x="796290" y="82867"/>
                  </a:lnTo>
                  <a:lnTo>
                    <a:pt x="815340" y="128588"/>
                  </a:lnTo>
                  <a:lnTo>
                    <a:pt x="834390" y="180975"/>
                  </a:lnTo>
                  <a:lnTo>
                    <a:pt x="853440" y="241935"/>
                  </a:lnTo>
                  <a:lnTo>
                    <a:pt x="872490" y="308610"/>
                  </a:lnTo>
                  <a:lnTo>
                    <a:pt x="891540" y="380048"/>
                  </a:lnTo>
                  <a:lnTo>
                    <a:pt x="910590" y="455295"/>
                  </a:lnTo>
                  <a:lnTo>
                    <a:pt x="929640" y="532447"/>
                  </a:lnTo>
                  <a:lnTo>
                    <a:pt x="948690" y="610553"/>
                  </a:lnTo>
                  <a:lnTo>
                    <a:pt x="967740" y="687705"/>
                  </a:lnTo>
                  <a:lnTo>
                    <a:pt x="986790" y="762953"/>
                  </a:lnTo>
                  <a:lnTo>
                    <a:pt x="1005840" y="834390"/>
                  </a:lnTo>
                  <a:lnTo>
                    <a:pt x="1024890" y="901065"/>
                  </a:lnTo>
                  <a:lnTo>
                    <a:pt x="1043940" y="961072"/>
                  </a:lnTo>
                  <a:lnTo>
                    <a:pt x="1062990" y="1014412"/>
                  </a:lnTo>
                  <a:lnTo>
                    <a:pt x="1082040" y="1060132"/>
                  </a:lnTo>
                  <a:lnTo>
                    <a:pt x="1101090" y="1095375"/>
                  </a:lnTo>
                  <a:lnTo>
                    <a:pt x="1120140" y="1122045"/>
                  </a:lnTo>
                  <a:lnTo>
                    <a:pt x="1139190" y="1137285"/>
                  </a:lnTo>
                  <a:lnTo>
                    <a:pt x="1158240" y="1143000"/>
                  </a:lnTo>
                  <a:lnTo>
                    <a:pt x="1177290" y="1137285"/>
                  </a:lnTo>
                  <a:lnTo>
                    <a:pt x="1196340" y="1122045"/>
                  </a:lnTo>
                  <a:lnTo>
                    <a:pt x="1215390" y="1095375"/>
                  </a:lnTo>
                  <a:lnTo>
                    <a:pt x="1234440" y="1060132"/>
                  </a:lnTo>
                  <a:lnTo>
                    <a:pt x="1253490" y="1014412"/>
                  </a:lnTo>
                  <a:lnTo>
                    <a:pt x="1272540" y="961072"/>
                  </a:lnTo>
                  <a:lnTo>
                    <a:pt x="1291590" y="901065"/>
                  </a:lnTo>
                  <a:lnTo>
                    <a:pt x="1310640" y="834390"/>
                  </a:lnTo>
                  <a:lnTo>
                    <a:pt x="1329690" y="762953"/>
                  </a:lnTo>
                  <a:lnTo>
                    <a:pt x="1348740" y="687705"/>
                  </a:lnTo>
                  <a:lnTo>
                    <a:pt x="1367790" y="610553"/>
                  </a:lnTo>
                  <a:lnTo>
                    <a:pt x="1386840" y="532447"/>
                  </a:lnTo>
                  <a:lnTo>
                    <a:pt x="1405890" y="455295"/>
                  </a:lnTo>
                  <a:lnTo>
                    <a:pt x="1424940" y="380048"/>
                  </a:lnTo>
                  <a:lnTo>
                    <a:pt x="1443990" y="308610"/>
                  </a:lnTo>
                  <a:lnTo>
                    <a:pt x="1463040" y="241935"/>
                  </a:lnTo>
                  <a:lnTo>
                    <a:pt x="1482090" y="180975"/>
                  </a:lnTo>
                  <a:lnTo>
                    <a:pt x="1501140" y="128588"/>
                  </a:lnTo>
                  <a:lnTo>
                    <a:pt x="1520190" y="82867"/>
                  </a:lnTo>
                  <a:lnTo>
                    <a:pt x="1539240" y="47625"/>
                  </a:lnTo>
                  <a:lnTo>
                    <a:pt x="1558290" y="20955"/>
                  </a:lnTo>
                  <a:lnTo>
                    <a:pt x="1577340" y="4762"/>
                  </a:lnTo>
                  <a:lnTo>
                    <a:pt x="1596390" y="0"/>
                  </a:lnTo>
                  <a:lnTo>
                    <a:pt x="1615440" y="4762"/>
                  </a:lnTo>
                  <a:lnTo>
                    <a:pt x="1634490" y="20955"/>
                  </a:lnTo>
                  <a:lnTo>
                    <a:pt x="1653540" y="47625"/>
                  </a:lnTo>
                  <a:lnTo>
                    <a:pt x="1672590" y="82867"/>
                  </a:lnTo>
                  <a:lnTo>
                    <a:pt x="1691640" y="128588"/>
                  </a:lnTo>
                  <a:lnTo>
                    <a:pt x="1710690" y="180975"/>
                  </a:lnTo>
                  <a:lnTo>
                    <a:pt x="1729740" y="241935"/>
                  </a:lnTo>
                  <a:lnTo>
                    <a:pt x="1748790" y="308610"/>
                  </a:lnTo>
                  <a:lnTo>
                    <a:pt x="1767840" y="380048"/>
                  </a:lnTo>
                  <a:lnTo>
                    <a:pt x="1786890" y="455295"/>
                  </a:lnTo>
                  <a:lnTo>
                    <a:pt x="1805940" y="532447"/>
                  </a:lnTo>
                  <a:lnTo>
                    <a:pt x="1824990" y="610553"/>
                  </a:lnTo>
                  <a:lnTo>
                    <a:pt x="1844040" y="687705"/>
                  </a:lnTo>
                  <a:lnTo>
                    <a:pt x="1863090" y="762953"/>
                  </a:lnTo>
                  <a:lnTo>
                    <a:pt x="1882140" y="834390"/>
                  </a:lnTo>
                  <a:lnTo>
                    <a:pt x="1901190" y="901065"/>
                  </a:lnTo>
                  <a:lnTo>
                    <a:pt x="1920240" y="961072"/>
                  </a:lnTo>
                  <a:lnTo>
                    <a:pt x="1939290" y="1014412"/>
                  </a:lnTo>
                  <a:lnTo>
                    <a:pt x="1958340" y="1060132"/>
                  </a:lnTo>
                  <a:lnTo>
                    <a:pt x="1977390" y="1095375"/>
                  </a:lnTo>
                  <a:lnTo>
                    <a:pt x="1996440" y="1122045"/>
                  </a:lnTo>
                  <a:lnTo>
                    <a:pt x="2015490" y="1137285"/>
                  </a:lnTo>
                  <a:lnTo>
                    <a:pt x="2034540" y="1143000"/>
                  </a:lnTo>
                  <a:lnTo>
                    <a:pt x="2053590" y="1137285"/>
                  </a:lnTo>
                  <a:lnTo>
                    <a:pt x="2072640" y="1122045"/>
                  </a:lnTo>
                  <a:lnTo>
                    <a:pt x="2091690" y="1095375"/>
                  </a:lnTo>
                  <a:lnTo>
                    <a:pt x="2110740" y="1060132"/>
                  </a:lnTo>
                  <a:lnTo>
                    <a:pt x="2129790" y="1014412"/>
                  </a:lnTo>
                  <a:lnTo>
                    <a:pt x="2148840" y="961072"/>
                  </a:lnTo>
                  <a:lnTo>
                    <a:pt x="2167890" y="901065"/>
                  </a:lnTo>
                  <a:lnTo>
                    <a:pt x="2186940" y="834390"/>
                  </a:lnTo>
                  <a:lnTo>
                    <a:pt x="2205990" y="762953"/>
                  </a:lnTo>
                  <a:lnTo>
                    <a:pt x="2225040" y="687705"/>
                  </a:lnTo>
                  <a:lnTo>
                    <a:pt x="2244090" y="610553"/>
                  </a:lnTo>
                  <a:lnTo>
                    <a:pt x="2263140" y="532447"/>
                  </a:lnTo>
                  <a:lnTo>
                    <a:pt x="2282190" y="455295"/>
                  </a:lnTo>
                  <a:lnTo>
                    <a:pt x="2301240" y="380048"/>
                  </a:lnTo>
                  <a:lnTo>
                    <a:pt x="2320290" y="308610"/>
                  </a:lnTo>
                  <a:lnTo>
                    <a:pt x="2339340" y="241935"/>
                  </a:lnTo>
                  <a:lnTo>
                    <a:pt x="2358390" y="180975"/>
                  </a:lnTo>
                  <a:lnTo>
                    <a:pt x="2377440" y="128588"/>
                  </a:lnTo>
                  <a:lnTo>
                    <a:pt x="2396490" y="82867"/>
                  </a:lnTo>
                  <a:lnTo>
                    <a:pt x="2415540" y="47625"/>
                  </a:lnTo>
                  <a:lnTo>
                    <a:pt x="2434590" y="20955"/>
                  </a:lnTo>
                  <a:lnTo>
                    <a:pt x="2453640" y="4762"/>
                  </a:lnTo>
                  <a:lnTo>
                    <a:pt x="2472690" y="0"/>
                  </a:lnTo>
                  <a:lnTo>
                    <a:pt x="2491740" y="4762"/>
                  </a:lnTo>
                  <a:lnTo>
                    <a:pt x="2510790" y="20955"/>
                  </a:lnTo>
                  <a:lnTo>
                    <a:pt x="2529840" y="47625"/>
                  </a:lnTo>
                  <a:lnTo>
                    <a:pt x="2548890" y="82867"/>
                  </a:lnTo>
                  <a:lnTo>
                    <a:pt x="2567940" y="128588"/>
                  </a:lnTo>
                  <a:lnTo>
                    <a:pt x="2586990" y="180975"/>
                  </a:lnTo>
                  <a:lnTo>
                    <a:pt x="2606040" y="241935"/>
                  </a:lnTo>
                  <a:lnTo>
                    <a:pt x="2625090" y="308610"/>
                  </a:lnTo>
                  <a:lnTo>
                    <a:pt x="2644140" y="380048"/>
                  </a:lnTo>
                  <a:lnTo>
                    <a:pt x="2663190" y="455295"/>
                  </a:lnTo>
                  <a:lnTo>
                    <a:pt x="2682240" y="532447"/>
                  </a:lnTo>
                  <a:lnTo>
                    <a:pt x="2701290" y="610553"/>
                  </a:lnTo>
                  <a:lnTo>
                    <a:pt x="2720340" y="687705"/>
                  </a:lnTo>
                  <a:lnTo>
                    <a:pt x="2739390" y="762953"/>
                  </a:lnTo>
                  <a:lnTo>
                    <a:pt x="2758440" y="834390"/>
                  </a:lnTo>
                  <a:lnTo>
                    <a:pt x="2777490" y="901065"/>
                  </a:lnTo>
                  <a:lnTo>
                    <a:pt x="2796540" y="961072"/>
                  </a:lnTo>
                  <a:lnTo>
                    <a:pt x="2815590" y="1014412"/>
                  </a:lnTo>
                  <a:lnTo>
                    <a:pt x="2834640" y="1060132"/>
                  </a:lnTo>
                  <a:lnTo>
                    <a:pt x="2853690" y="1095375"/>
                  </a:lnTo>
                  <a:lnTo>
                    <a:pt x="2872740" y="1122045"/>
                  </a:lnTo>
                  <a:lnTo>
                    <a:pt x="2891790" y="1137285"/>
                  </a:lnTo>
                  <a:lnTo>
                    <a:pt x="2910840" y="1143000"/>
                  </a:lnTo>
                  <a:lnTo>
                    <a:pt x="2929890" y="1137285"/>
                  </a:lnTo>
                  <a:lnTo>
                    <a:pt x="2948940" y="1122045"/>
                  </a:lnTo>
                  <a:lnTo>
                    <a:pt x="2967990" y="1095375"/>
                  </a:lnTo>
                  <a:lnTo>
                    <a:pt x="2987040" y="1060132"/>
                  </a:lnTo>
                  <a:lnTo>
                    <a:pt x="3006090" y="1014412"/>
                  </a:lnTo>
                  <a:lnTo>
                    <a:pt x="3025140" y="961072"/>
                  </a:lnTo>
                  <a:lnTo>
                    <a:pt x="3044190" y="901065"/>
                  </a:lnTo>
                  <a:lnTo>
                    <a:pt x="3063240" y="834390"/>
                  </a:lnTo>
                  <a:lnTo>
                    <a:pt x="3082290" y="762953"/>
                  </a:lnTo>
                  <a:lnTo>
                    <a:pt x="3101340" y="687705"/>
                  </a:lnTo>
                  <a:lnTo>
                    <a:pt x="3120390" y="610553"/>
                  </a:lnTo>
                  <a:lnTo>
                    <a:pt x="3139440" y="532447"/>
                  </a:lnTo>
                  <a:lnTo>
                    <a:pt x="3158490" y="455295"/>
                  </a:lnTo>
                  <a:lnTo>
                    <a:pt x="3177540" y="380048"/>
                  </a:lnTo>
                  <a:lnTo>
                    <a:pt x="3196590" y="308610"/>
                  </a:lnTo>
                  <a:lnTo>
                    <a:pt x="3215640" y="241935"/>
                  </a:lnTo>
                  <a:lnTo>
                    <a:pt x="3234690" y="180975"/>
                  </a:lnTo>
                  <a:lnTo>
                    <a:pt x="3253740" y="128588"/>
                  </a:lnTo>
                  <a:lnTo>
                    <a:pt x="3272790" y="82867"/>
                  </a:lnTo>
                  <a:lnTo>
                    <a:pt x="3291840" y="47625"/>
                  </a:lnTo>
                  <a:lnTo>
                    <a:pt x="3310890" y="20955"/>
                  </a:lnTo>
                  <a:lnTo>
                    <a:pt x="3329940" y="4762"/>
                  </a:lnTo>
                  <a:lnTo>
                    <a:pt x="3348990" y="0"/>
                  </a:lnTo>
                  <a:lnTo>
                    <a:pt x="3368040" y="4762"/>
                  </a:lnTo>
                  <a:lnTo>
                    <a:pt x="3387090" y="20955"/>
                  </a:lnTo>
                  <a:lnTo>
                    <a:pt x="3406140" y="47625"/>
                  </a:lnTo>
                  <a:lnTo>
                    <a:pt x="3425190" y="82867"/>
                  </a:lnTo>
                  <a:lnTo>
                    <a:pt x="3444240" y="128588"/>
                  </a:lnTo>
                  <a:lnTo>
                    <a:pt x="3463290" y="180975"/>
                  </a:lnTo>
                  <a:lnTo>
                    <a:pt x="3482340" y="241935"/>
                  </a:lnTo>
                  <a:lnTo>
                    <a:pt x="3501390" y="308610"/>
                  </a:lnTo>
                  <a:lnTo>
                    <a:pt x="3520440" y="380048"/>
                  </a:lnTo>
                  <a:lnTo>
                    <a:pt x="3539490" y="455295"/>
                  </a:lnTo>
                  <a:lnTo>
                    <a:pt x="3558540" y="532447"/>
                  </a:lnTo>
                  <a:lnTo>
                    <a:pt x="3577590" y="610553"/>
                  </a:lnTo>
                  <a:lnTo>
                    <a:pt x="3596640" y="687705"/>
                  </a:lnTo>
                  <a:lnTo>
                    <a:pt x="3615690" y="762953"/>
                  </a:lnTo>
                  <a:lnTo>
                    <a:pt x="3634740" y="834390"/>
                  </a:lnTo>
                  <a:lnTo>
                    <a:pt x="3653790" y="901065"/>
                  </a:lnTo>
                  <a:lnTo>
                    <a:pt x="3672840" y="961072"/>
                  </a:lnTo>
                  <a:lnTo>
                    <a:pt x="3691890" y="1014412"/>
                  </a:lnTo>
                  <a:lnTo>
                    <a:pt x="3710940" y="1060132"/>
                  </a:lnTo>
                  <a:lnTo>
                    <a:pt x="3729990" y="1095375"/>
                  </a:lnTo>
                  <a:lnTo>
                    <a:pt x="3749040" y="1122045"/>
                  </a:lnTo>
                  <a:lnTo>
                    <a:pt x="3768090" y="1137285"/>
                  </a:lnTo>
                  <a:lnTo>
                    <a:pt x="3787140" y="1143000"/>
                  </a:lnTo>
                  <a:lnTo>
                    <a:pt x="3806190" y="1137285"/>
                  </a:lnTo>
                  <a:lnTo>
                    <a:pt x="3825240" y="1122045"/>
                  </a:lnTo>
                  <a:lnTo>
                    <a:pt x="3844290" y="1095375"/>
                  </a:lnTo>
                  <a:lnTo>
                    <a:pt x="3863340" y="1060132"/>
                  </a:lnTo>
                  <a:lnTo>
                    <a:pt x="3882390" y="1014412"/>
                  </a:lnTo>
                  <a:lnTo>
                    <a:pt x="3901440" y="961072"/>
                  </a:lnTo>
                  <a:lnTo>
                    <a:pt x="3920490" y="901065"/>
                  </a:lnTo>
                  <a:lnTo>
                    <a:pt x="3939540" y="834390"/>
                  </a:lnTo>
                  <a:lnTo>
                    <a:pt x="3958590" y="762953"/>
                  </a:lnTo>
                  <a:lnTo>
                    <a:pt x="3977640" y="687705"/>
                  </a:lnTo>
                  <a:lnTo>
                    <a:pt x="3996690" y="610553"/>
                  </a:lnTo>
                  <a:lnTo>
                    <a:pt x="4015740" y="532447"/>
                  </a:lnTo>
                  <a:lnTo>
                    <a:pt x="4034790" y="455295"/>
                  </a:lnTo>
                  <a:lnTo>
                    <a:pt x="4053840" y="380048"/>
                  </a:lnTo>
                  <a:lnTo>
                    <a:pt x="4072890" y="308610"/>
                  </a:lnTo>
                  <a:lnTo>
                    <a:pt x="4091940" y="241935"/>
                  </a:lnTo>
                  <a:lnTo>
                    <a:pt x="4110990" y="180975"/>
                  </a:lnTo>
                  <a:lnTo>
                    <a:pt x="4130040" y="128588"/>
                  </a:lnTo>
                  <a:lnTo>
                    <a:pt x="4149090" y="82867"/>
                  </a:lnTo>
                  <a:lnTo>
                    <a:pt x="4168140" y="47625"/>
                  </a:lnTo>
                  <a:lnTo>
                    <a:pt x="4187190" y="20955"/>
                  </a:lnTo>
                  <a:lnTo>
                    <a:pt x="4206240" y="4762"/>
                  </a:lnTo>
                  <a:lnTo>
                    <a:pt x="4225290" y="0"/>
                  </a:lnTo>
                  <a:lnTo>
                    <a:pt x="4244340" y="4762"/>
                  </a:lnTo>
                  <a:lnTo>
                    <a:pt x="4263390" y="20955"/>
                  </a:lnTo>
                  <a:lnTo>
                    <a:pt x="4282440" y="47625"/>
                  </a:lnTo>
                  <a:lnTo>
                    <a:pt x="4301490" y="82867"/>
                  </a:lnTo>
                  <a:lnTo>
                    <a:pt x="4320540" y="128588"/>
                  </a:lnTo>
                  <a:lnTo>
                    <a:pt x="4339590" y="180975"/>
                  </a:lnTo>
                  <a:lnTo>
                    <a:pt x="4358640" y="241935"/>
                  </a:lnTo>
                  <a:lnTo>
                    <a:pt x="4377690" y="308610"/>
                  </a:lnTo>
                  <a:lnTo>
                    <a:pt x="4396740" y="380048"/>
                  </a:lnTo>
                  <a:lnTo>
                    <a:pt x="4415790" y="455295"/>
                  </a:lnTo>
                  <a:lnTo>
                    <a:pt x="4434840" y="532447"/>
                  </a:lnTo>
                  <a:lnTo>
                    <a:pt x="4453890" y="610553"/>
                  </a:lnTo>
                  <a:lnTo>
                    <a:pt x="4472940" y="687705"/>
                  </a:lnTo>
                  <a:lnTo>
                    <a:pt x="4491990" y="762953"/>
                  </a:lnTo>
                  <a:lnTo>
                    <a:pt x="4511040" y="834390"/>
                  </a:lnTo>
                  <a:lnTo>
                    <a:pt x="4530090" y="901065"/>
                  </a:lnTo>
                  <a:lnTo>
                    <a:pt x="4549140" y="961072"/>
                  </a:lnTo>
                  <a:lnTo>
                    <a:pt x="4568190" y="1014412"/>
                  </a:lnTo>
                  <a:lnTo>
                    <a:pt x="4587240" y="1060132"/>
                  </a:lnTo>
                  <a:lnTo>
                    <a:pt x="4606290" y="1095375"/>
                  </a:lnTo>
                  <a:lnTo>
                    <a:pt x="4625340" y="1122045"/>
                  </a:lnTo>
                  <a:lnTo>
                    <a:pt x="4644390" y="1137285"/>
                  </a:lnTo>
                  <a:lnTo>
                    <a:pt x="4663440" y="1143000"/>
                  </a:lnTo>
                  <a:lnTo>
                    <a:pt x="4682490" y="1137285"/>
                  </a:lnTo>
                  <a:lnTo>
                    <a:pt x="4701540" y="1122045"/>
                  </a:lnTo>
                  <a:lnTo>
                    <a:pt x="4720590" y="1095375"/>
                  </a:lnTo>
                  <a:lnTo>
                    <a:pt x="4739640" y="1060132"/>
                  </a:lnTo>
                  <a:lnTo>
                    <a:pt x="4758690" y="1014412"/>
                  </a:lnTo>
                  <a:lnTo>
                    <a:pt x="4777740" y="961072"/>
                  </a:lnTo>
                  <a:lnTo>
                    <a:pt x="4796790" y="901065"/>
                  </a:lnTo>
                  <a:lnTo>
                    <a:pt x="4815840" y="834390"/>
                  </a:lnTo>
                  <a:lnTo>
                    <a:pt x="4834890" y="762953"/>
                  </a:lnTo>
                  <a:lnTo>
                    <a:pt x="4853940" y="687705"/>
                  </a:lnTo>
                  <a:lnTo>
                    <a:pt x="4872990" y="610553"/>
                  </a:lnTo>
                  <a:lnTo>
                    <a:pt x="4892040" y="532447"/>
                  </a:lnTo>
                  <a:lnTo>
                    <a:pt x="4911090" y="455295"/>
                  </a:lnTo>
                  <a:lnTo>
                    <a:pt x="4930140" y="380048"/>
                  </a:lnTo>
                  <a:lnTo>
                    <a:pt x="4945380" y="321945"/>
                  </a:lnTo>
                </a:path>
              </a:pathLst>
            </a:custGeom>
            <a:noFill/>
            <a:ln w="24765">
              <a:solidFill>
                <a:srgbClr val="2F4B9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491288" y="3143250"/>
              <a:ext cx="4943475" cy="9525"/>
            </a:xfrm>
            <a:custGeom>
              <a:avLst/>
              <a:gdLst/>
              <a:ahLst/>
              <a:cxnLst/>
              <a:rect l="l" t="t" r="r" b="b"/>
              <a:pathLst>
                <a:path w="4943475" h="9525">
                  <a:moveTo>
                    <a:pt x="0" y="0"/>
                  </a:moveTo>
                  <a:lnTo>
                    <a:pt x="494347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1434762" y="30956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200900" y="3119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077200" y="3119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53500" y="3119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829800" y="3119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0706100" y="3119438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4762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063038" y="1809750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720262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967788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500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0881B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548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8A6C1B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596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64511B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643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3381C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691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B271C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6738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E1D1C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6786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E1D1C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834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B271C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6881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3381C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929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64511B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977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8A6C1B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024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0881B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072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D2A11A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7119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ECB41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167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CC01A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7215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EC21A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262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4BA1A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310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DEAA1A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358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E931B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7405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99771B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453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735B1B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7500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F411C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548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332D1C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596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1201C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7643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C1C1C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7691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4221C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7739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38301C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7786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56461B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834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7A611B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7881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A17D1B"/>
              </a:solidFill>
            </a:ln>
          </p:spPr>
        </p:sp>
        <p:sp>
          <p:nvSpPr>
            <p:cNvPr id="78" name="Freeform 78"/>
            <p:cNvSpPr/>
            <p:nvPr/>
          </p:nvSpPr>
          <p:spPr>
            <a:xfrm>
              <a:off x="7929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C5981B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7977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E3AE1A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8024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7BC1A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8072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FC21A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120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ABE1A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8167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E8B11A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8215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CC9D1A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8262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A8831B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8310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82671B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8358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5D4B1B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8405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3D341C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8453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7241C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8501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D1C1C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8548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F1E1C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8596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F2A1C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8643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93D1C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8691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6B561B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8739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91721B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8786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78D1B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8834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D8A61A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8882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0B71A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8929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DC11A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8977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DC11A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9024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0B71A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9072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D8A61A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9120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78D1B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9167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91721B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9215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6B561B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9263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93D1C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9310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F2A1C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9358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F1E1C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9405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D1C1C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9453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7241C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9501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3D341C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9548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5D4B1B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9596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82671B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9644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A8831B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9691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CC9D1A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9739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E8B11A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9786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ABE1A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9834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FC21A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9882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7BC1A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9929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E3AE1A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9977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C5981B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10025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A17D1B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10072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7A611B"/>
              </a:solidFill>
            </a:ln>
          </p:spPr>
        </p:sp>
        <p:sp>
          <p:nvSpPr>
            <p:cNvPr id="124" name="Freeform 124"/>
            <p:cNvSpPr/>
            <p:nvPr/>
          </p:nvSpPr>
          <p:spPr>
            <a:xfrm>
              <a:off x="10120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56461B"/>
              </a:solidFill>
            </a:ln>
          </p:spPr>
        </p:sp>
        <p:sp>
          <p:nvSpPr>
            <p:cNvPr id="125" name="Freeform 125"/>
            <p:cNvSpPr/>
            <p:nvPr/>
          </p:nvSpPr>
          <p:spPr>
            <a:xfrm>
              <a:off x="10167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38301C"/>
              </a:solidFill>
            </a:ln>
          </p:spPr>
        </p:sp>
        <p:sp>
          <p:nvSpPr>
            <p:cNvPr id="126" name="Freeform 126"/>
            <p:cNvSpPr/>
            <p:nvPr/>
          </p:nvSpPr>
          <p:spPr>
            <a:xfrm>
              <a:off x="10215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4221C"/>
              </a:solidFill>
            </a:ln>
          </p:spPr>
        </p:sp>
        <p:sp>
          <p:nvSpPr>
            <p:cNvPr id="127" name="Freeform 127"/>
            <p:cNvSpPr/>
            <p:nvPr/>
          </p:nvSpPr>
          <p:spPr>
            <a:xfrm>
              <a:off x="10263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C1C1C"/>
              </a:solidFill>
            </a:ln>
          </p:spPr>
        </p:sp>
        <p:sp>
          <p:nvSpPr>
            <p:cNvPr id="128" name="Freeform 128"/>
            <p:cNvSpPr/>
            <p:nvPr/>
          </p:nvSpPr>
          <p:spPr>
            <a:xfrm>
              <a:off x="10310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1201C"/>
              </a:solidFill>
            </a:ln>
          </p:spPr>
        </p:sp>
        <p:sp>
          <p:nvSpPr>
            <p:cNvPr id="129" name="Freeform 129"/>
            <p:cNvSpPr/>
            <p:nvPr/>
          </p:nvSpPr>
          <p:spPr>
            <a:xfrm>
              <a:off x="10358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332D1C"/>
              </a:solidFill>
            </a:ln>
          </p:spPr>
        </p:sp>
        <p:sp>
          <p:nvSpPr>
            <p:cNvPr id="130" name="Freeform 130"/>
            <p:cNvSpPr/>
            <p:nvPr/>
          </p:nvSpPr>
          <p:spPr>
            <a:xfrm>
              <a:off x="10406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F411C"/>
              </a:solidFill>
            </a:ln>
          </p:spPr>
        </p:sp>
        <p:sp>
          <p:nvSpPr>
            <p:cNvPr id="131" name="Freeform 131"/>
            <p:cNvSpPr/>
            <p:nvPr/>
          </p:nvSpPr>
          <p:spPr>
            <a:xfrm>
              <a:off x="10453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735B1B"/>
              </a:solidFill>
            </a:ln>
          </p:spPr>
        </p:sp>
        <p:sp>
          <p:nvSpPr>
            <p:cNvPr id="132" name="Freeform 132"/>
            <p:cNvSpPr/>
            <p:nvPr/>
          </p:nvSpPr>
          <p:spPr>
            <a:xfrm>
              <a:off x="10501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99771B"/>
              </a:solidFill>
            </a:ln>
          </p:spPr>
        </p:sp>
        <p:sp>
          <p:nvSpPr>
            <p:cNvPr id="133" name="Freeform 133"/>
            <p:cNvSpPr/>
            <p:nvPr/>
          </p:nvSpPr>
          <p:spPr>
            <a:xfrm>
              <a:off x="10548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E931B"/>
              </a:solidFill>
            </a:ln>
          </p:spPr>
        </p:sp>
        <p:sp>
          <p:nvSpPr>
            <p:cNvPr id="134" name="Freeform 134"/>
            <p:cNvSpPr/>
            <p:nvPr/>
          </p:nvSpPr>
          <p:spPr>
            <a:xfrm>
              <a:off x="10596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DEAA1A"/>
              </a:solidFill>
            </a:ln>
          </p:spPr>
        </p:sp>
        <p:sp>
          <p:nvSpPr>
            <p:cNvPr id="135" name="Freeform 135"/>
            <p:cNvSpPr/>
            <p:nvPr/>
          </p:nvSpPr>
          <p:spPr>
            <a:xfrm>
              <a:off x="10644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4BA1A"/>
              </a:solidFill>
            </a:ln>
          </p:spPr>
        </p:sp>
        <p:sp>
          <p:nvSpPr>
            <p:cNvPr id="136" name="Freeform 136"/>
            <p:cNvSpPr/>
            <p:nvPr/>
          </p:nvSpPr>
          <p:spPr>
            <a:xfrm>
              <a:off x="10691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EC21A"/>
              </a:solidFill>
            </a:ln>
          </p:spPr>
        </p:sp>
        <p:sp>
          <p:nvSpPr>
            <p:cNvPr id="137" name="Freeform 137"/>
            <p:cNvSpPr/>
            <p:nvPr/>
          </p:nvSpPr>
          <p:spPr>
            <a:xfrm>
              <a:off x="10739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FCC01A"/>
              </a:solidFill>
            </a:ln>
          </p:spPr>
        </p:sp>
        <p:sp>
          <p:nvSpPr>
            <p:cNvPr id="138" name="Freeform 138"/>
            <p:cNvSpPr/>
            <p:nvPr/>
          </p:nvSpPr>
          <p:spPr>
            <a:xfrm>
              <a:off x="10787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ECB41A"/>
              </a:solidFill>
            </a:ln>
          </p:spPr>
        </p:sp>
        <p:sp>
          <p:nvSpPr>
            <p:cNvPr id="139" name="Freeform 139"/>
            <p:cNvSpPr/>
            <p:nvPr/>
          </p:nvSpPr>
          <p:spPr>
            <a:xfrm>
              <a:off x="10834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D2A11A"/>
              </a:solidFill>
            </a:ln>
          </p:spPr>
        </p:sp>
        <p:sp>
          <p:nvSpPr>
            <p:cNvPr id="140" name="Freeform 140"/>
            <p:cNvSpPr/>
            <p:nvPr/>
          </p:nvSpPr>
          <p:spPr>
            <a:xfrm>
              <a:off x="10882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0881B"/>
              </a:solidFill>
            </a:ln>
          </p:spPr>
        </p:sp>
        <p:sp>
          <p:nvSpPr>
            <p:cNvPr id="141" name="Freeform 141"/>
            <p:cNvSpPr/>
            <p:nvPr/>
          </p:nvSpPr>
          <p:spPr>
            <a:xfrm>
              <a:off x="10929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8A6C1B"/>
              </a:solidFill>
            </a:ln>
          </p:spPr>
        </p:sp>
        <p:sp>
          <p:nvSpPr>
            <p:cNvPr id="142" name="Freeform 142"/>
            <p:cNvSpPr/>
            <p:nvPr/>
          </p:nvSpPr>
          <p:spPr>
            <a:xfrm>
              <a:off x="10977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64511B"/>
              </a:solidFill>
            </a:ln>
          </p:spPr>
        </p:sp>
        <p:sp>
          <p:nvSpPr>
            <p:cNvPr id="143" name="Freeform 143"/>
            <p:cNvSpPr/>
            <p:nvPr/>
          </p:nvSpPr>
          <p:spPr>
            <a:xfrm>
              <a:off x="11025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3381C"/>
              </a:solidFill>
            </a:ln>
          </p:spPr>
        </p:sp>
        <p:sp>
          <p:nvSpPr>
            <p:cNvPr id="144" name="Freeform 144"/>
            <p:cNvSpPr/>
            <p:nvPr/>
          </p:nvSpPr>
          <p:spPr>
            <a:xfrm>
              <a:off x="110728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B271C"/>
              </a:solidFill>
            </a:ln>
          </p:spPr>
        </p:sp>
        <p:sp>
          <p:nvSpPr>
            <p:cNvPr id="145" name="Freeform 145"/>
            <p:cNvSpPr/>
            <p:nvPr/>
          </p:nvSpPr>
          <p:spPr>
            <a:xfrm>
              <a:off x="111204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E1D1C"/>
              </a:solidFill>
            </a:ln>
          </p:spPr>
        </p:sp>
        <p:sp>
          <p:nvSpPr>
            <p:cNvPr id="146" name="Freeform 146"/>
            <p:cNvSpPr/>
            <p:nvPr/>
          </p:nvSpPr>
          <p:spPr>
            <a:xfrm>
              <a:off x="111680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1E1D1C"/>
              </a:solidFill>
            </a:ln>
          </p:spPr>
        </p:sp>
        <p:sp>
          <p:nvSpPr>
            <p:cNvPr id="147" name="Freeform 147"/>
            <p:cNvSpPr/>
            <p:nvPr/>
          </p:nvSpPr>
          <p:spPr>
            <a:xfrm>
              <a:off x="112156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2B271C"/>
              </a:solidFill>
            </a:ln>
          </p:spPr>
        </p:sp>
        <p:sp>
          <p:nvSpPr>
            <p:cNvPr id="148" name="Freeform 148"/>
            <p:cNvSpPr/>
            <p:nvPr/>
          </p:nvSpPr>
          <p:spPr>
            <a:xfrm>
              <a:off x="1126331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43381C"/>
              </a:solidFill>
            </a:ln>
          </p:spPr>
        </p:sp>
        <p:sp>
          <p:nvSpPr>
            <p:cNvPr id="149" name="Freeform 149"/>
            <p:cNvSpPr/>
            <p:nvPr/>
          </p:nvSpPr>
          <p:spPr>
            <a:xfrm>
              <a:off x="1131093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64511B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11358562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8A6C1B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11406188" y="3729038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61912">
              <a:solidFill>
                <a:srgbClr val="B0881B"/>
              </a:solidFill>
            </a:ln>
          </p:spPr>
        </p:sp>
        <p:sp>
          <p:nvSpPr>
            <p:cNvPr id="152" name="Ellipse 152"/>
            <p:cNvSpPr/>
            <p:nvPr/>
          </p:nvSpPr>
          <p:spPr>
            <a:xfrm>
              <a:off x="6472238" y="23040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3" name="Ellipse 153"/>
            <p:cNvSpPr/>
            <p:nvPr/>
          </p:nvSpPr>
          <p:spPr>
            <a:xfrm>
              <a:off x="11425238" y="23040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4" name="Ellipse 154"/>
            <p:cNvSpPr/>
            <p:nvPr/>
          </p:nvSpPr>
          <p:spPr>
            <a:xfrm>
              <a:off x="647223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5" name="Ellipse 155"/>
            <p:cNvSpPr/>
            <p:nvPr/>
          </p:nvSpPr>
          <p:spPr>
            <a:xfrm>
              <a:off x="11539538" y="3138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6" name="Ellipse 156"/>
            <p:cNvSpPr/>
            <p:nvPr/>
          </p:nvSpPr>
          <p:spPr>
            <a:xfrm>
              <a:off x="7196138" y="3100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7" name="Ellipse 157"/>
            <p:cNvSpPr/>
            <p:nvPr/>
          </p:nvSpPr>
          <p:spPr>
            <a:xfrm>
              <a:off x="71961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8" name="Ellipse 158"/>
            <p:cNvSpPr/>
            <p:nvPr/>
          </p:nvSpPr>
          <p:spPr>
            <a:xfrm>
              <a:off x="8072438" y="3100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9" name="Ellipse 159"/>
            <p:cNvSpPr/>
            <p:nvPr/>
          </p:nvSpPr>
          <p:spPr>
            <a:xfrm>
              <a:off x="80724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0" name="Ellipse 160"/>
            <p:cNvSpPr/>
            <p:nvPr/>
          </p:nvSpPr>
          <p:spPr>
            <a:xfrm>
              <a:off x="8948738" y="3100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1" name="Ellipse 161"/>
            <p:cNvSpPr/>
            <p:nvPr/>
          </p:nvSpPr>
          <p:spPr>
            <a:xfrm>
              <a:off x="89487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2" name="Ellipse 162"/>
            <p:cNvSpPr/>
            <p:nvPr/>
          </p:nvSpPr>
          <p:spPr>
            <a:xfrm>
              <a:off x="9825038" y="3100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3" name="Ellipse 163"/>
            <p:cNvSpPr/>
            <p:nvPr/>
          </p:nvSpPr>
          <p:spPr>
            <a:xfrm>
              <a:off x="98250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4" name="Ellipse 164"/>
            <p:cNvSpPr/>
            <p:nvPr/>
          </p:nvSpPr>
          <p:spPr>
            <a:xfrm>
              <a:off x="10701338" y="3100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5" name="Ellipse 165"/>
            <p:cNvSpPr/>
            <p:nvPr/>
          </p:nvSpPr>
          <p:spPr>
            <a:xfrm>
              <a:off x="107013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6" name="Ellipse 166"/>
            <p:cNvSpPr/>
            <p:nvPr/>
          </p:nvSpPr>
          <p:spPr>
            <a:xfrm>
              <a:off x="8948738" y="1804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7" name="Ellipse 167"/>
            <p:cNvSpPr/>
            <p:nvPr/>
          </p:nvSpPr>
          <p:spPr>
            <a:xfrm>
              <a:off x="9825038" y="1804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8" name="Ellipse 168"/>
            <p:cNvSpPr/>
            <p:nvPr/>
          </p:nvSpPr>
          <p:spPr>
            <a:xfrm>
              <a:off x="6496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9" name="Ellipse 169"/>
            <p:cNvSpPr/>
            <p:nvPr/>
          </p:nvSpPr>
          <p:spPr>
            <a:xfrm>
              <a:off x="6496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0" name="Ellipse 170"/>
            <p:cNvSpPr/>
            <p:nvPr/>
          </p:nvSpPr>
          <p:spPr>
            <a:xfrm>
              <a:off x="6543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1" name="Ellipse 171"/>
            <p:cNvSpPr/>
            <p:nvPr/>
          </p:nvSpPr>
          <p:spPr>
            <a:xfrm>
              <a:off x="6543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2" name="Ellipse 172"/>
            <p:cNvSpPr/>
            <p:nvPr/>
          </p:nvSpPr>
          <p:spPr>
            <a:xfrm>
              <a:off x="6591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3" name="Ellipse 173"/>
            <p:cNvSpPr/>
            <p:nvPr/>
          </p:nvSpPr>
          <p:spPr>
            <a:xfrm>
              <a:off x="6591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4" name="Ellipse 174"/>
            <p:cNvSpPr/>
            <p:nvPr/>
          </p:nvSpPr>
          <p:spPr>
            <a:xfrm>
              <a:off x="6638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5" name="Ellipse 175"/>
            <p:cNvSpPr/>
            <p:nvPr/>
          </p:nvSpPr>
          <p:spPr>
            <a:xfrm>
              <a:off x="6638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6" name="Ellipse 176"/>
            <p:cNvSpPr/>
            <p:nvPr/>
          </p:nvSpPr>
          <p:spPr>
            <a:xfrm>
              <a:off x="6686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7" name="Ellipse 177"/>
            <p:cNvSpPr/>
            <p:nvPr/>
          </p:nvSpPr>
          <p:spPr>
            <a:xfrm>
              <a:off x="6686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8" name="Ellipse 178"/>
            <p:cNvSpPr/>
            <p:nvPr/>
          </p:nvSpPr>
          <p:spPr>
            <a:xfrm>
              <a:off x="6734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9" name="Ellipse 179"/>
            <p:cNvSpPr/>
            <p:nvPr/>
          </p:nvSpPr>
          <p:spPr>
            <a:xfrm>
              <a:off x="6734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0" name="Ellipse 180"/>
            <p:cNvSpPr/>
            <p:nvPr/>
          </p:nvSpPr>
          <p:spPr>
            <a:xfrm>
              <a:off x="6781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1" name="Ellipse 181"/>
            <p:cNvSpPr/>
            <p:nvPr/>
          </p:nvSpPr>
          <p:spPr>
            <a:xfrm>
              <a:off x="6781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2" name="Ellipse 182"/>
            <p:cNvSpPr/>
            <p:nvPr/>
          </p:nvSpPr>
          <p:spPr>
            <a:xfrm>
              <a:off x="6829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3" name="Ellipse 183"/>
            <p:cNvSpPr/>
            <p:nvPr/>
          </p:nvSpPr>
          <p:spPr>
            <a:xfrm>
              <a:off x="6829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4" name="Ellipse 184"/>
            <p:cNvSpPr/>
            <p:nvPr/>
          </p:nvSpPr>
          <p:spPr>
            <a:xfrm>
              <a:off x="6877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5" name="Ellipse 185"/>
            <p:cNvSpPr/>
            <p:nvPr/>
          </p:nvSpPr>
          <p:spPr>
            <a:xfrm>
              <a:off x="6877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6" name="Ellipse 186"/>
            <p:cNvSpPr/>
            <p:nvPr/>
          </p:nvSpPr>
          <p:spPr>
            <a:xfrm>
              <a:off x="6924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7" name="Ellipse 187"/>
            <p:cNvSpPr/>
            <p:nvPr/>
          </p:nvSpPr>
          <p:spPr>
            <a:xfrm>
              <a:off x="6924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8" name="Ellipse 188"/>
            <p:cNvSpPr/>
            <p:nvPr/>
          </p:nvSpPr>
          <p:spPr>
            <a:xfrm>
              <a:off x="6972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9" name="Ellipse 189"/>
            <p:cNvSpPr/>
            <p:nvPr/>
          </p:nvSpPr>
          <p:spPr>
            <a:xfrm>
              <a:off x="6972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0" name="Ellipse 190"/>
            <p:cNvSpPr/>
            <p:nvPr/>
          </p:nvSpPr>
          <p:spPr>
            <a:xfrm>
              <a:off x="7019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1" name="Ellipse 191"/>
            <p:cNvSpPr/>
            <p:nvPr/>
          </p:nvSpPr>
          <p:spPr>
            <a:xfrm>
              <a:off x="7019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2" name="Ellipse 192"/>
            <p:cNvSpPr/>
            <p:nvPr/>
          </p:nvSpPr>
          <p:spPr>
            <a:xfrm>
              <a:off x="7067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3" name="Ellipse 193"/>
            <p:cNvSpPr/>
            <p:nvPr/>
          </p:nvSpPr>
          <p:spPr>
            <a:xfrm>
              <a:off x="7067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4" name="Ellipse 194"/>
            <p:cNvSpPr/>
            <p:nvPr/>
          </p:nvSpPr>
          <p:spPr>
            <a:xfrm>
              <a:off x="7115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5" name="Ellipse 195"/>
            <p:cNvSpPr/>
            <p:nvPr/>
          </p:nvSpPr>
          <p:spPr>
            <a:xfrm>
              <a:off x="7115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6" name="Ellipse 196"/>
            <p:cNvSpPr/>
            <p:nvPr/>
          </p:nvSpPr>
          <p:spPr>
            <a:xfrm>
              <a:off x="7162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7" name="Ellipse 197"/>
            <p:cNvSpPr/>
            <p:nvPr/>
          </p:nvSpPr>
          <p:spPr>
            <a:xfrm>
              <a:off x="7162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8" name="Ellipse 198"/>
            <p:cNvSpPr/>
            <p:nvPr/>
          </p:nvSpPr>
          <p:spPr>
            <a:xfrm>
              <a:off x="7210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9" name="Ellipse 199"/>
            <p:cNvSpPr/>
            <p:nvPr/>
          </p:nvSpPr>
          <p:spPr>
            <a:xfrm>
              <a:off x="7210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0" name="Ellipse 200"/>
            <p:cNvSpPr/>
            <p:nvPr/>
          </p:nvSpPr>
          <p:spPr>
            <a:xfrm>
              <a:off x="7258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1" name="Ellipse 201"/>
            <p:cNvSpPr/>
            <p:nvPr/>
          </p:nvSpPr>
          <p:spPr>
            <a:xfrm>
              <a:off x="7258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2" name="Ellipse 202"/>
            <p:cNvSpPr/>
            <p:nvPr/>
          </p:nvSpPr>
          <p:spPr>
            <a:xfrm>
              <a:off x="7305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3" name="Ellipse 203"/>
            <p:cNvSpPr/>
            <p:nvPr/>
          </p:nvSpPr>
          <p:spPr>
            <a:xfrm>
              <a:off x="7305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4" name="Ellipse 204"/>
            <p:cNvSpPr/>
            <p:nvPr/>
          </p:nvSpPr>
          <p:spPr>
            <a:xfrm>
              <a:off x="7353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5" name="Ellipse 205"/>
            <p:cNvSpPr/>
            <p:nvPr/>
          </p:nvSpPr>
          <p:spPr>
            <a:xfrm>
              <a:off x="7353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6" name="Ellipse 206"/>
            <p:cNvSpPr/>
            <p:nvPr/>
          </p:nvSpPr>
          <p:spPr>
            <a:xfrm>
              <a:off x="7400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7" name="Ellipse 207"/>
            <p:cNvSpPr/>
            <p:nvPr/>
          </p:nvSpPr>
          <p:spPr>
            <a:xfrm>
              <a:off x="7400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8" name="Ellipse 208"/>
            <p:cNvSpPr/>
            <p:nvPr/>
          </p:nvSpPr>
          <p:spPr>
            <a:xfrm>
              <a:off x="7448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9" name="Ellipse 209"/>
            <p:cNvSpPr/>
            <p:nvPr/>
          </p:nvSpPr>
          <p:spPr>
            <a:xfrm>
              <a:off x="7448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0" name="Ellipse 210"/>
            <p:cNvSpPr/>
            <p:nvPr/>
          </p:nvSpPr>
          <p:spPr>
            <a:xfrm>
              <a:off x="7496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1" name="Ellipse 211"/>
            <p:cNvSpPr/>
            <p:nvPr/>
          </p:nvSpPr>
          <p:spPr>
            <a:xfrm>
              <a:off x="7496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2" name="Ellipse 212"/>
            <p:cNvSpPr/>
            <p:nvPr/>
          </p:nvSpPr>
          <p:spPr>
            <a:xfrm>
              <a:off x="7543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3" name="Ellipse 213"/>
            <p:cNvSpPr/>
            <p:nvPr/>
          </p:nvSpPr>
          <p:spPr>
            <a:xfrm>
              <a:off x="7543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4" name="Ellipse 214"/>
            <p:cNvSpPr/>
            <p:nvPr/>
          </p:nvSpPr>
          <p:spPr>
            <a:xfrm>
              <a:off x="7591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5" name="Ellipse 215"/>
            <p:cNvSpPr/>
            <p:nvPr/>
          </p:nvSpPr>
          <p:spPr>
            <a:xfrm>
              <a:off x="7591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6" name="Ellipse 216"/>
            <p:cNvSpPr/>
            <p:nvPr/>
          </p:nvSpPr>
          <p:spPr>
            <a:xfrm>
              <a:off x="7639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7" name="Ellipse 217"/>
            <p:cNvSpPr/>
            <p:nvPr/>
          </p:nvSpPr>
          <p:spPr>
            <a:xfrm>
              <a:off x="7639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8" name="Ellipse 218"/>
            <p:cNvSpPr/>
            <p:nvPr/>
          </p:nvSpPr>
          <p:spPr>
            <a:xfrm>
              <a:off x="7686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9" name="Ellipse 219"/>
            <p:cNvSpPr/>
            <p:nvPr/>
          </p:nvSpPr>
          <p:spPr>
            <a:xfrm>
              <a:off x="7686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0" name="Ellipse 220"/>
            <p:cNvSpPr/>
            <p:nvPr/>
          </p:nvSpPr>
          <p:spPr>
            <a:xfrm>
              <a:off x="7734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1" name="Ellipse 221"/>
            <p:cNvSpPr/>
            <p:nvPr/>
          </p:nvSpPr>
          <p:spPr>
            <a:xfrm>
              <a:off x="7734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2" name="Ellipse 222"/>
            <p:cNvSpPr/>
            <p:nvPr/>
          </p:nvSpPr>
          <p:spPr>
            <a:xfrm>
              <a:off x="7781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3" name="Ellipse 223"/>
            <p:cNvSpPr/>
            <p:nvPr/>
          </p:nvSpPr>
          <p:spPr>
            <a:xfrm>
              <a:off x="7781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4" name="Ellipse 224"/>
            <p:cNvSpPr/>
            <p:nvPr/>
          </p:nvSpPr>
          <p:spPr>
            <a:xfrm>
              <a:off x="7829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5" name="Ellipse 225"/>
            <p:cNvSpPr/>
            <p:nvPr/>
          </p:nvSpPr>
          <p:spPr>
            <a:xfrm>
              <a:off x="7829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6" name="Ellipse 226"/>
            <p:cNvSpPr/>
            <p:nvPr/>
          </p:nvSpPr>
          <p:spPr>
            <a:xfrm>
              <a:off x="7877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7" name="Ellipse 227"/>
            <p:cNvSpPr/>
            <p:nvPr/>
          </p:nvSpPr>
          <p:spPr>
            <a:xfrm>
              <a:off x="7877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8" name="Ellipse 228"/>
            <p:cNvSpPr/>
            <p:nvPr/>
          </p:nvSpPr>
          <p:spPr>
            <a:xfrm>
              <a:off x="7924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9" name="Ellipse 229"/>
            <p:cNvSpPr/>
            <p:nvPr/>
          </p:nvSpPr>
          <p:spPr>
            <a:xfrm>
              <a:off x="7924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0" name="Ellipse 230"/>
            <p:cNvSpPr/>
            <p:nvPr/>
          </p:nvSpPr>
          <p:spPr>
            <a:xfrm>
              <a:off x="7972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1" name="Ellipse 231"/>
            <p:cNvSpPr/>
            <p:nvPr/>
          </p:nvSpPr>
          <p:spPr>
            <a:xfrm>
              <a:off x="7972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2" name="Ellipse 232"/>
            <p:cNvSpPr/>
            <p:nvPr/>
          </p:nvSpPr>
          <p:spPr>
            <a:xfrm>
              <a:off x="8020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3" name="Ellipse 233"/>
            <p:cNvSpPr/>
            <p:nvPr/>
          </p:nvSpPr>
          <p:spPr>
            <a:xfrm>
              <a:off x="8020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4" name="Ellipse 234"/>
            <p:cNvSpPr/>
            <p:nvPr/>
          </p:nvSpPr>
          <p:spPr>
            <a:xfrm>
              <a:off x="8067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5" name="Ellipse 235"/>
            <p:cNvSpPr/>
            <p:nvPr/>
          </p:nvSpPr>
          <p:spPr>
            <a:xfrm>
              <a:off x="8067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6" name="Ellipse 236"/>
            <p:cNvSpPr/>
            <p:nvPr/>
          </p:nvSpPr>
          <p:spPr>
            <a:xfrm>
              <a:off x="8115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7" name="Ellipse 237"/>
            <p:cNvSpPr/>
            <p:nvPr/>
          </p:nvSpPr>
          <p:spPr>
            <a:xfrm>
              <a:off x="8115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8" name="Ellipse 238"/>
            <p:cNvSpPr/>
            <p:nvPr/>
          </p:nvSpPr>
          <p:spPr>
            <a:xfrm>
              <a:off x="8162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9" name="Ellipse 239"/>
            <p:cNvSpPr/>
            <p:nvPr/>
          </p:nvSpPr>
          <p:spPr>
            <a:xfrm>
              <a:off x="8162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0" name="Ellipse 240"/>
            <p:cNvSpPr/>
            <p:nvPr/>
          </p:nvSpPr>
          <p:spPr>
            <a:xfrm>
              <a:off x="8210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1" name="Ellipse 241"/>
            <p:cNvSpPr/>
            <p:nvPr/>
          </p:nvSpPr>
          <p:spPr>
            <a:xfrm>
              <a:off x="8210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2" name="Ellipse 242"/>
            <p:cNvSpPr/>
            <p:nvPr/>
          </p:nvSpPr>
          <p:spPr>
            <a:xfrm>
              <a:off x="8258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3" name="Ellipse 243"/>
            <p:cNvSpPr/>
            <p:nvPr/>
          </p:nvSpPr>
          <p:spPr>
            <a:xfrm>
              <a:off x="8258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4" name="Ellipse 244"/>
            <p:cNvSpPr/>
            <p:nvPr/>
          </p:nvSpPr>
          <p:spPr>
            <a:xfrm>
              <a:off x="8305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5" name="Ellipse 245"/>
            <p:cNvSpPr/>
            <p:nvPr/>
          </p:nvSpPr>
          <p:spPr>
            <a:xfrm>
              <a:off x="8305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6" name="Ellipse 246"/>
            <p:cNvSpPr/>
            <p:nvPr/>
          </p:nvSpPr>
          <p:spPr>
            <a:xfrm>
              <a:off x="8353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7" name="Ellipse 247"/>
            <p:cNvSpPr/>
            <p:nvPr/>
          </p:nvSpPr>
          <p:spPr>
            <a:xfrm>
              <a:off x="8353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8" name="Ellipse 248"/>
            <p:cNvSpPr/>
            <p:nvPr/>
          </p:nvSpPr>
          <p:spPr>
            <a:xfrm>
              <a:off x="8401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9" name="Ellipse 249"/>
            <p:cNvSpPr/>
            <p:nvPr/>
          </p:nvSpPr>
          <p:spPr>
            <a:xfrm>
              <a:off x="8401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0" name="Ellipse 250"/>
            <p:cNvSpPr/>
            <p:nvPr/>
          </p:nvSpPr>
          <p:spPr>
            <a:xfrm>
              <a:off x="8448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1" name="Ellipse 251"/>
            <p:cNvSpPr/>
            <p:nvPr/>
          </p:nvSpPr>
          <p:spPr>
            <a:xfrm>
              <a:off x="8448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2" name="Ellipse 252"/>
            <p:cNvSpPr/>
            <p:nvPr/>
          </p:nvSpPr>
          <p:spPr>
            <a:xfrm>
              <a:off x="8496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3" name="Ellipse 253"/>
            <p:cNvSpPr/>
            <p:nvPr/>
          </p:nvSpPr>
          <p:spPr>
            <a:xfrm>
              <a:off x="8496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4" name="Ellipse 254"/>
            <p:cNvSpPr/>
            <p:nvPr/>
          </p:nvSpPr>
          <p:spPr>
            <a:xfrm>
              <a:off x="8543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5" name="Ellipse 255"/>
            <p:cNvSpPr/>
            <p:nvPr/>
          </p:nvSpPr>
          <p:spPr>
            <a:xfrm>
              <a:off x="8543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6" name="Ellipse 256"/>
            <p:cNvSpPr/>
            <p:nvPr/>
          </p:nvSpPr>
          <p:spPr>
            <a:xfrm>
              <a:off x="8591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7" name="Ellipse 257"/>
            <p:cNvSpPr/>
            <p:nvPr/>
          </p:nvSpPr>
          <p:spPr>
            <a:xfrm>
              <a:off x="8591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8" name="Ellipse 258"/>
            <p:cNvSpPr/>
            <p:nvPr/>
          </p:nvSpPr>
          <p:spPr>
            <a:xfrm>
              <a:off x="8639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9" name="Ellipse 259"/>
            <p:cNvSpPr/>
            <p:nvPr/>
          </p:nvSpPr>
          <p:spPr>
            <a:xfrm>
              <a:off x="8639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0" name="Ellipse 260"/>
            <p:cNvSpPr/>
            <p:nvPr/>
          </p:nvSpPr>
          <p:spPr>
            <a:xfrm>
              <a:off x="8686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1" name="Ellipse 261"/>
            <p:cNvSpPr/>
            <p:nvPr/>
          </p:nvSpPr>
          <p:spPr>
            <a:xfrm>
              <a:off x="8686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2" name="Ellipse 262"/>
            <p:cNvSpPr/>
            <p:nvPr/>
          </p:nvSpPr>
          <p:spPr>
            <a:xfrm>
              <a:off x="8734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3" name="Ellipse 263"/>
            <p:cNvSpPr/>
            <p:nvPr/>
          </p:nvSpPr>
          <p:spPr>
            <a:xfrm>
              <a:off x="8734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4" name="Ellipse 264"/>
            <p:cNvSpPr/>
            <p:nvPr/>
          </p:nvSpPr>
          <p:spPr>
            <a:xfrm>
              <a:off x="8782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5" name="Ellipse 265"/>
            <p:cNvSpPr/>
            <p:nvPr/>
          </p:nvSpPr>
          <p:spPr>
            <a:xfrm>
              <a:off x="8782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6" name="Ellipse 266"/>
            <p:cNvSpPr/>
            <p:nvPr/>
          </p:nvSpPr>
          <p:spPr>
            <a:xfrm>
              <a:off x="8829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7" name="Ellipse 267"/>
            <p:cNvSpPr/>
            <p:nvPr/>
          </p:nvSpPr>
          <p:spPr>
            <a:xfrm>
              <a:off x="8829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8" name="Ellipse 268"/>
            <p:cNvSpPr/>
            <p:nvPr/>
          </p:nvSpPr>
          <p:spPr>
            <a:xfrm>
              <a:off x="8877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9" name="Ellipse 269"/>
            <p:cNvSpPr/>
            <p:nvPr/>
          </p:nvSpPr>
          <p:spPr>
            <a:xfrm>
              <a:off x="8877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0" name="Ellipse 270"/>
            <p:cNvSpPr/>
            <p:nvPr/>
          </p:nvSpPr>
          <p:spPr>
            <a:xfrm>
              <a:off x="8924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1" name="Ellipse 271"/>
            <p:cNvSpPr/>
            <p:nvPr/>
          </p:nvSpPr>
          <p:spPr>
            <a:xfrm>
              <a:off x="8924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2" name="Ellipse 272"/>
            <p:cNvSpPr/>
            <p:nvPr/>
          </p:nvSpPr>
          <p:spPr>
            <a:xfrm>
              <a:off x="8972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3" name="Ellipse 273"/>
            <p:cNvSpPr/>
            <p:nvPr/>
          </p:nvSpPr>
          <p:spPr>
            <a:xfrm>
              <a:off x="8972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4" name="Ellipse 274"/>
            <p:cNvSpPr/>
            <p:nvPr/>
          </p:nvSpPr>
          <p:spPr>
            <a:xfrm>
              <a:off x="9020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5" name="Ellipse 275"/>
            <p:cNvSpPr/>
            <p:nvPr/>
          </p:nvSpPr>
          <p:spPr>
            <a:xfrm>
              <a:off x="9020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6" name="Ellipse 276"/>
            <p:cNvSpPr/>
            <p:nvPr/>
          </p:nvSpPr>
          <p:spPr>
            <a:xfrm>
              <a:off x="9067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7" name="Ellipse 277"/>
            <p:cNvSpPr/>
            <p:nvPr/>
          </p:nvSpPr>
          <p:spPr>
            <a:xfrm>
              <a:off x="9067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8" name="Ellipse 278"/>
            <p:cNvSpPr/>
            <p:nvPr/>
          </p:nvSpPr>
          <p:spPr>
            <a:xfrm>
              <a:off x="9115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9" name="Ellipse 279"/>
            <p:cNvSpPr/>
            <p:nvPr/>
          </p:nvSpPr>
          <p:spPr>
            <a:xfrm>
              <a:off x="9115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0" name="Ellipse 280"/>
            <p:cNvSpPr/>
            <p:nvPr/>
          </p:nvSpPr>
          <p:spPr>
            <a:xfrm>
              <a:off x="9163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1" name="Ellipse 281"/>
            <p:cNvSpPr/>
            <p:nvPr/>
          </p:nvSpPr>
          <p:spPr>
            <a:xfrm>
              <a:off x="9163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2" name="Ellipse 282"/>
            <p:cNvSpPr/>
            <p:nvPr/>
          </p:nvSpPr>
          <p:spPr>
            <a:xfrm>
              <a:off x="9210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3" name="Ellipse 283"/>
            <p:cNvSpPr/>
            <p:nvPr/>
          </p:nvSpPr>
          <p:spPr>
            <a:xfrm>
              <a:off x="9210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4" name="Ellipse 284"/>
            <p:cNvSpPr/>
            <p:nvPr/>
          </p:nvSpPr>
          <p:spPr>
            <a:xfrm>
              <a:off x="9258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5" name="Ellipse 285"/>
            <p:cNvSpPr/>
            <p:nvPr/>
          </p:nvSpPr>
          <p:spPr>
            <a:xfrm>
              <a:off x="9258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6" name="Ellipse 286"/>
            <p:cNvSpPr/>
            <p:nvPr/>
          </p:nvSpPr>
          <p:spPr>
            <a:xfrm>
              <a:off x="9305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7" name="Ellipse 287"/>
            <p:cNvSpPr/>
            <p:nvPr/>
          </p:nvSpPr>
          <p:spPr>
            <a:xfrm>
              <a:off x="9305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8" name="Ellipse 288"/>
            <p:cNvSpPr/>
            <p:nvPr/>
          </p:nvSpPr>
          <p:spPr>
            <a:xfrm>
              <a:off x="9353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9" name="Ellipse 289"/>
            <p:cNvSpPr/>
            <p:nvPr/>
          </p:nvSpPr>
          <p:spPr>
            <a:xfrm>
              <a:off x="9353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0" name="Ellipse 290"/>
            <p:cNvSpPr/>
            <p:nvPr/>
          </p:nvSpPr>
          <p:spPr>
            <a:xfrm>
              <a:off x="9401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1" name="Ellipse 291"/>
            <p:cNvSpPr/>
            <p:nvPr/>
          </p:nvSpPr>
          <p:spPr>
            <a:xfrm>
              <a:off x="9401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2" name="Ellipse 292"/>
            <p:cNvSpPr/>
            <p:nvPr/>
          </p:nvSpPr>
          <p:spPr>
            <a:xfrm>
              <a:off x="9448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3" name="Ellipse 293"/>
            <p:cNvSpPr/>
            <p:nvPr/>
          </p:nvSpPr>
          <p:spPr>
            <a:xfrm>
              <a:off x="9448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4" name="Ellipse 294"/>
            <p:cNvSpPr/>
            <p:nvPr/>
          </p:nvSpPr>
          <p:spPr>
            <a:xfrm>
              <a:off x="9496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5" name="Ellipse 295"/>
            <p:cNvSpPr/>
            <p:nvPr/>
          </p:nvSpPr>
          <p:spPr>
            <a:xfrm>
              <a:off x="9496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6" name="Ellipse 296"/>
            <p:cNvSpPr/>
            <p:nvPr/>
          </p:nvSpPr>
          <p:spPr>
            <a:xfrm>
              <a:off x="9544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7" name="Ellipse 297"/>
            <p:cNvSpPr/>
            <p:nvPr/>
          </p:nvSpPr>
          <p:spPr>
            <a:xfrm>
              <a:off x="9544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8" name="Ellipse 298"/>
            <p:cNvSpPr/>
            <p:nvPr/>
          </p:nvSpPr>
          <p:spPr>
            <a:xfrm>
              <a:off x="9591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9" name="Ellipse 299"/>
            <p:cNvSpPr/>
            <p:nvPr/>
          </p:nvSpPr>
          <p:spPr>
            <a:xfrm>
              <a:off x="9591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0" name="Ellipse 300"/>
            <p:cNvSpPr/>
            <p:nvPr/>
          </p:nvSpPr>
          <p:spPr>
            <a:xfrm>
              <a:off x="9639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1" name="Ellipse 301"/>
            <p:cNvSpPr/>
            <p:nvPr/>
          </p:nvSpPr>
          <p:spPr>
            <a:xfrm>
              <a:off x="9639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2" name="Ellipse 302"/>
            <p:cNvSpPr/>
            <p:nvPr/>
          </p:nvSpPr>
          <p:spPr>
            <a:xfrm>
              <a:off x="9686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3" name="Ellipse 303"/>
            <p:cNvSpPr/>
            <p:nvPr/>
          </p:nvSpPr>
          <p:spPr>
            <a:xfrm>
              <a:off x="9686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4" name="Ellipse 304"/>
            <p:cNvSpPr/>
            <p:nvPr/>
          </p:nvSpPr>
          <p:spPr>
            <a:xfrm>
              <a:off x="9734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5" name="Ellipse 305"/>
            <p:cNvSpPr/>
            <p:nvPr/>
          </p:nvSpPr>
          <p:spPr>
            <a:xfrm>
              <a:off x="9734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6" name="Ellipse 306"/>
            <p:cNvSpPr/>
            <p:nvPr/>
          </p:nvSpPr>
          <p:spPr>
            <a:xfrm>
              <a:off x="9782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7" name="Ellipse 307"/>
            <p:cNvSpPr/>
            <p:nvPr/>
          </p:nvSpPr>
          <p:spPr>
            <a:xfrm>
              <a:off x="9782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8" name="Ellipse 308"/>
            <p:cNvSpPr/>
            <p:nvPr/>
          </p:nvSpPr>
          <p:spPr>
            <a:xfrm>
              <a:off x="9829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9" name="Ellipse 309"/>
            <p:cNvSpPr/>
            <p:nvPr/>
          </p:nvSpPr>
          <p:spPr>
            <a:xfrm>
              <a:off x="9829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0" name="Ellipse 310"/>
            <p:cNvSpPr/>
            <p:nvPr/>
          </p:nvSpPr>
          <p:spPr>
            <a:xfrm>
              <a:off x="9877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1" name="Ellipse 311"/>
            <p:cNvSpPr/>
            <p:nvPr/>
          </p:nvSpPr>
          <p:spPr>
            <a:xfrm>
              <a:off x="9877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2" name="Ellipse 312"/>
            <p:cNvSpPr/>
            <p:nvPr/>
          </p:nvSpPr>
          <p:spPr>
            <a:xfrm>
              <a:off x="9925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3" name="Ellipse 313"/>
            <p:cNvSpPr/>
            <p:nvPr/>
          </p:nvSpPr>
          <p:spPr>
            <a:xfrm>
              <a:off x="9925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4" name="Ellipse 314"/>
            <p:cNvSpPr/>
            <p:nvPr/>
          </p:nvSpPr>
          <p:spPr>
            <a:xfrm>
              <a:off x="9972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5" name="Ellipse 315"/>
            <p:cNvSpPr/>
            <p:nvPr/>
          </p:nvSpPr>
          <p:spPr>
            <a:xfrm>
              <a:off x="9972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6" name="Ellipse 316"/>
            <p:cNvSpPr/>
            <p:nvPr/>
          </p:nvSpPr>
          <p:spPr>
            <a:xfrm>
              <a:off x="10020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7" name="Ellipse 317"/>
            <p:cNvSpPr/>
            <p:nvPr/>
          </p:nvSpPr>
          <p:spPr>
            <a:xfrm>
              <a:off x="10020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8" name="Ellipse 318"/>
            <p:cNvSpPr/>
            <p:nvPr/>
          </p:nvSpPr>
          <p:spPr>
            <a:xfrm>
              <a:off x="10067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9" name="Ellipse 319"/>
            <p:cNvSpPr/>
            <p:nvPr/>
          </p:nvSpPr>
          <p:spPr>
            <a:xfrm>
              <a:off x="10067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0" name="Ellipse 320"/>
            <p:cNvSpPr/>
            <p:nvPr/>
          </p:nvSpPr>
          <p:spPr>
            <a:xfrm>
              <a:off x="10115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1" name="Ellipse 321"/>
            <p:cNvSpPr/>
            <p:nvPr/>
          </p:nvSpPr>
          <p:spPr>
            <a:xfrm>
              <a:off x="10115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2" name="Ellipse 322"/>
            <p:cNvSpPr/>
            <p:nvPr/>
          </p:nvSpPr>
          <p:spPr>
            <a:xfrm>
              <a:off x="10163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3" name="Ellipse 323"/>
            <p:cNvSpPr/>
            <p:nvPr/>
          </p:nvSpPr>
          <p:spPr>
            <a:xfrm>
              <a:off x="10163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4" name="Ellipse 324"/>
            <p:cNvSpPr/>
            <p:nvPr/>
          </p:nvSpPr>
          <p:spPr>
            <a:xfrm>
              <a:off x="10210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5" name="Ellipse 325"/>
            <p:cNvSpPr/>
            <p:nvPr/>
          </p:nvSpPr>
          <p:spPr>
            <a:xfrm>
              <a:off x="10210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6" name="Ellipse 326"/>
            <p:cNvSpPr/>
            <p:nvPr/>
          </p:nvSpPr>
          <p:spPr>
            <a:xfrm>
              <a:off x="10258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7" name="Ellipse 327"/>
            <p:cNvSpPr/>
            <p:nvPr/>
          </p:nvSpPr>
          <p:spPr>
            <a:xfrm>
              <a:off x="10258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8" name="Ellipse 328"/>
            <p:cNvSpPr/>
            <p:nvPr/>
          </p:nvSpPr>
          <p:spPr>
            <a:xfrm>
              <a:off x="10306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9" name="Ellipse 329"/>
            <p:cNvSpPr/>
            <p:nvPr/>
          </p:nvSpPr>
          <p:spPr>
            <a:xfrm>
              <a:off x="10306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0" name="Ellipse 330"/>
            <p:cNvSpPr/>
            <p:nvPr/>
          </p:nvSpPr>
          <p:spPr>
            <a:xfrm>
              <a:off x="10353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1" name="Ellipse 331"/>
            <p:cNvSpPr/>
            <p:nvPr/>
          </p:nvSpPr>
          <p:spPr>
            <a:xfrm>
              <a:off x="10353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2" name="Ellipse 332"/>
            <p:cNvSpPr/>
            <p:nvPr/>
          </p:nvSpPr>
          <p:spPr>
            <a:xfrm>
              <a:off x="10401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3" name="Ellipse 333"/>
            <p:cNvSpPr/>
            <p:nvPr/>
          </p:nvSpPr>
          <p:spPr>
            <a:xfrm>
              <a:off x="10401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4" name="Ellipse 334"/>
            <p:cNvSpPr/>
            <p:nvPr/>
          </p:nvSpPr>
          <p:spPr>
            <a:xfrm>
              <a:off x="10448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5" name="Ellipse 335"/>
            <p:cNvSpPr/>
            <p:nvPr/>
          </p:nvSpPr>
          <p:spPr>
            <a:xfrm>
              <a:off x="10448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6" name="Ellipse 336"/>
            <p:cNvSpPr/>
            <p:nvPr/>
          </p:nvSpPr>
          <p:spPr>
            <a:xfrm>
              <a:off x="10496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7" name="Ellipse 337"/>
            <p:cNvSpPr/>
            <p:nvPr/>
          </p:nvSpPr>
          <p:spPr>
            <a:xfrm>
              <a:off x="10496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8" name="Ellipse 338"/>
            <p:cNvSpPr/>
            <p:nvPr/>
          </p:nvSpPr>
          <p:spPr>
            <a:xfrm>
              <a:off x="10544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9" name="Ellipse 339"/>
            <p:cNvSpPr/>
            <p:nvPr/>
          </p:nvSpPr>
          <p:spPr>
            <a:xfrm>
              <a:off x="10544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0" name="Ellipse 340"/>
            <p:cNvSpPr/>
            <p:nvPr/>
          </p:nvSpPr>
          <p:spPr>
            <a:xfrm>
              <a:off x="10591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1" name="Ellipse 341"/>
            <p:cNvSpPr/>
            <p:nvPr/>
          </p:nvSpPr>
          <p:spPr>
            <a:xfrm>
              <a:off x="10591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2" name="Ellipse 342"/>
            <p:cNvSpPr/>
            <p:nvPr/>
          </p:nvSpPr>
          <p:spPr>
            <a:xfrm>
              <a:off x="10639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3" name="Ellipse 343"/>
            <p:cNvSpPr/>
            <p:nvPr/>
          </p:nvSpPr>
          <p:spPr>
            <a:xfrm>
              <a:off x="10639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4" name="Ellipse 344"/>
            <p:cNvSpPr/>
            <p:nvPr/>
          </p:nvSpPr>
          <p:spPr>
            <a:xfrm>
              <a:off x="10687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5" name="Ellipse 345"/>
            <p:cNvSpPr/>
            <p:nvPr/>
          </p:nvSpPr>
          <p:spPr>
            <a:xfrm>
              <a:off x="10687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6" name="Ellipse 346"/>
            <p:cNvSpPr/>
            <p:nvPr/>
          </p:nvSpPr>
          <p:spPr>
            <a:xfrm>
              <a:off x="10734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7" name="Ellipse 347"/>
            <p:cNvSpPr/>
            <p:nvPr/>
          </p:nvSpPr>
          <p:spPr>
            <a:xfrm>
              <a:off x="10734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8" name="Ellipse 348"/>
            <p:cNvSpPr/>
            <p:nvPr/>
          </p:nvSpPr>
          <p:spPr>
            <a:xfrm>
              <a:off x="10782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9" name="Ellipse 349"/>
            <p:cNvSpPr/>
            <p:nvPr/>
          </p:nvSpPr>
          <p:spPr>
            <a:xfrm>
              <a:off x="10782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0" name="Ellipse 350"/>
            <p:cNvSpPr/>
            <p:nvPr/>
          </p:nvSpPr>
          <p:spPr>
            <a:xfrm>
              <a:off x="10829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1" name="Ellipse 351"/>
            <p:cNvSpPr/>
            <p:nvPr/>
          </p:nvSpPr>
          <p:spPr>
            <a:xfrm>
              <a:off x="10829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2" name="Ellipse 352"/>
            <p:cNvSpPr/>
            <p:nvPr/>
          </p:nvSpPr>
          <p:spPr>
            <a:xfrm>
              <a:off x="10877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3" name="Ellipse 353"/>
            <p:cNvSpPr/>
            <p:nvPr/>
          </p:nvSpPr>
          <p:spPr>
            <a:xfrm>
              <a:off x="10877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4" name="Ellipse 354"/>
            <p:cNvSpPr/>
            <p:nvPr/>
          </p:nvSpPr>
          <p:spPr>
            <a:xfrm>
              <a:off x="10925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5" name="Ellipse 355"/>
            <p:cNvSpPr/>
            <p:nvPr/>
          </p:nvSpPr>
          <p:spPr>
            <a:xfrm>
              <a:off x="10925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6" name="Ellipse 356"/>
            <p:cNvSpPr/>
            <p:nvPr/>
          </p:nvSpPr>
          <p:spPr>
            <a:xfrm>
              <a:off x="10972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7" name="Ellipse 357"/>
            <p:cNvSpPr/>
            <p:nvPr/>
          </p:nvSpPr>
          <p:spPr>
            <a:xfrm>
              <a:off x="10972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8" name="Ellipse 358"/>
            <p:cNvSpPr/>
            <p:nvPr/>
          </p:nvSpPr>
          <p:spPr>
            <a:xfrm>
              <a:off x="11020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9" name="Ellipse 359"/>
            <p:cNvSpPr/>
            <p:nvPr/>
          </p:nvSpPr>
          <p:spPr>
            <a:xfrm>
              <a:off x="11020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0" name="Ellipse 360"/>
            <p:cNvSpPr/>
            <p:nvPr/>
          </p:nvSpPr>
          <p:spPr>
            <a:xfrm>
              <a:off x="110680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1" name="Ellipse 361"/>
            <p:cNvSpPr/>
            <p:nvPr/>
          </p:nvSpPr>
          <p:spPr>
            <a:xfrm>
              <a:off x="110680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2" name="Ellipse 362"/>
            <p:cNvSpPr/>
            <p:nvPr/>
          </p:nvSpPr>
          <p:spPr>
            <a:xfrm>
              <a:off x="111156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3" name="Ellipse 363"/>
            <p:cNvSpPr/>
            <p:nvPr/>
          </p:nvSpPr>
          <p:spPr>
            <a:xfrm>
              <a:off x="111156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4" name="Ellipse 364"/>
            <p:cNvSpPr/>
            <p:nvPr/>
          </p:nvSpPr>
          <p:spPr>
            <a:xfrm>
              <a:off x="111633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5" name="Ellipse 365"/>
            <p:cNvSpPr/>
            <p:nvPr/>
          </p:nvSpPr>
          <p:spPr>
            <a:xfrm>
              <a:off x="111633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6" name="Ellipse 366"/>
            <p:cNvSpPr/>
            <p:nvPr/>
          </p:nvSpPr>
          <p:spPr>
            <a:xfrm>
              <a:off x="112109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7" name="Ellipse 367"/>
            <p:cNvSpPr/>
            <p:nvPr/>
          </p:nvSpPr>
          <p:spPr>
            <a:xfrm>
              <a:off x="112109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8" name="Ellipse 368"/>
            <p:cNvSpPr/>
            <p:nvPr/>
          </p:nvSpPr>
          <p:spPr>
            <a:xfrm>
              <a:off x="1125855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9" name="Ellipse 369"/>
            <p:cNvSpPr/>
            <p:nvPr/>
          </p:nvSpPr>
          <p:spPr>
            <a:xfrm>
              <a:off x="1125855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0" name="Ellipse 370"/>
            <p:cNvSpPr/>
            <p:nvPr/>
          </p:nvSpPr>
          <p:spPr>
            <a:xfrm>
              <a:off x="1130617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1" name="Ellipse 371"/>
            <p:cNvSpPr/>
            <p:nvPr/>
          </p:nvSpPr>
          <p:spPr>
            <a:xfrm>
              <a:off x="1130617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2" name="Ellipse 372"/>
            <p:cNvSpPr/>
            <p:nvPr/>
          </p:nvSpPr>
          <p:spPr>
            <a:xfrm>
              <a:off x="11353800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3" name="Ellipse 373"/>
            <p:cNvSpPr/>
            <p:nvPr/>
          </p:nvSpPr>
          <p:spPr>
            <a:xfrm>
              <a:off x="11353800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4" name="Ellipse 374"/>
            <p:cNvSpPr/>
            <p:nvPr/>
          </p:nvSpPr>
          <p:spPr>
            <a:xfrm>
              <a:off x="11401425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5" name="Ellipse 375"/>
            <p:cNvSpPr/>
            <p:nvPr/>
          </p:nvSpPr>
          <p:spPr>
            <a:xfrm>
              <a:off x="11401425" y="4090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6" name="TextBox 376"/>
            <p:cNvSpPr txBox="1"/>
            <p:nvPr/>
          </p:nvSpPr>
          <p:spPr>
            <a:xfrm>
              <a:off x="11479101" y="32480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77" name="TextBox 377"/>
            <p:cNvSpPr txBox="1"/>
            <p:nvPr/>
          </p:nvSpPr>
          <p:spPr>
            <a:xfrm>
              <a:off x="7123387" y="327231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378" name="TextBox 378"/>
            <p:cNvSpPr txBox="1"/>
            <p:nvPr/>
          </p:nvSpPr>
          <p:spPr>
            <a:xfrm>
              <a:off x="7999687" y="327231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79" name="TextBox 379"/>
            <p:cNvSpPr txBox="1"/>
            <p:nvPr/>
          </p:nvSpPr>
          <p:spPr>
            <a:xfrm>
              <a:off x="8800128" y="3272314"/>
              <a:ext cx="3067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0</a:t>
              </a:r>
            </a:p>
          </p:txBody>
        </p:sp>
        <p:sp>
          <p:nvSpPr>
            <p:cNvPr id="380" name="TextBox 380"/>
            <p:cNvSpPr txBox="1"/>
            <p:nvPr/>
          </p:nvSpPr>
          <p:spPr>
            <a:xfrm>
              <a:off x="9752287" y="327231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+1</a:t>
              </a:r>
            </a:p>
          </p:txBody>
        </p:sp>
        <p:sp>
          <p:nvSpPr>
            <p:cNvPr id="381" name="TextBox 381"/>
            <p:cNvSpPr txBox="1"/>
            <p:nvPr/>
          </p:nvSpPr>
          <p:spPr>
            <a:xfrm>
              <a:off x="10628587" y="3272314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+2</a:t>
              </a:r>
            </a:p>
          </p:txBody>
        </p:sp>
        <p:sp>
          <p:nvSpPr>
            <p:cNvPr id="382" name="TextBox 382"/>
            <p:cNvSpPr txBox="1"/>
            <p:nvPr/>
          </p:nvSpPr>
          <p:spPr>
            <a:xfrm>
              <a:off x="9048608" y="1590675"/>
              <a:ext cx="686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Δx = Dλ/a</a:t>
              </a:r>
            </a:p>
          </p:txBody>
        </p:sp>
        <p:sp>
          <p:nvSpPr>
            <p:cNvPr id="383" name="TextBox 383"/>
            <p:cNvSpPr txBox="1"/>
            <p:nvPr/>
          </p:nvSpPr>
          <p:spPr>
            <a:xfrm>
              <a:off x="6472238" y="350520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屏上看到的条纹（亮处橙黄，暗处黑）</a:t>
              </a:r>
            </a:p>
          </p:txBody>
        </p:sp>
      </p:grpSp>
      <p:grpSp>
        <p:nvGrpSpPr>
          <p:cNvPr id="391" name="c2-callout-2"/>
          <p:cNvGrpSpPr/>
          <p:nvPr/>
        </p:nvGrpSpPr>
        <p:grpSpPr>
          <a:xfrm>
            <a:off x="6248400" y="4476750"/>
            <a:ext cx="5410200" cy="1758315"/>
            <a:chOff x="6248400" y="4476750"/>
            <a:chExt cx="5410200" cy="1758315"/>
          </a:xfrm>
        </p:grpSpPr>
        <p:sp>
          <p:nvSpPr>
            <p:cNvPr id="385" name="Rectangle 385"/>
            <p:cNvSpPr/>
            <p:nvPr/>
          </p:nvSpPr>
          <p:spPr>
            <a:xfrm>
              <a:off x="6248400" y="4476750"/>
              <a:ext cx="5410200" cy="1758315"/>
            </a:xfrm>
            <a:prstGeom prst="roundRect">
              <a:avLst>
                <a:gd name="adj" fmla="val 65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9" name="Group 389"/>
            <p:cNvGrpSpPr/>
            <p:nvPr/>
          </p:nvGrpSpPr>
          <p:grpSpPr>
            <a:xfrm>
              <a:off x="6453188" y="5255895"/>
              <a:ext cx="200026" cy="200025"/>
              <a:chOff x="6453188" y="5255895"/>
              <a:chExt cx="200026" cy="200025"/>
            </a:xfrm>
          </p:grpSpPr>
          <p:sp>
            <p:nvSpPr>
              <p:cNvPr id="386" name="Freeform 386"/>
              <p:cNvSpPr/>
              <p:nvPr/>
            </p:nvSpPr>
            <p:spPr>
              <a:xfrm>
                <a:off x="6453188" y="5255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7" name="Freeform 387"/>
              <p:cNvSpPr/>
              <p:nvPr/>
            </p:nvSpPr>
            <p:spPr>
              <a:xfrm>
                <a:off x="6492926" y="5300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8" name="Freeform 388"/>
              <p:cNvSpPr/>
              <p:nvPr/>
            </p:nvSpPr>
            <p:spPr>
              <a:xfrm>
                <a:off x="6527642" y="5411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0" name="TextBox 390"/>
            <p:cNvSpPr txBox="1"/>
            <p:nvPr/>
          </p:nvSpPr>
          <p:spPr>
            <a:xfrm>
              <a:off x="6755130" y="4974908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 只有零点几微米，要让 Δx 达到毫米量级，就得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D/a 达到几千，这就是 a 取零点几毫米、D 取 1 m 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原因。</a:t>
              </a:r>
            </a:p>
          </p:txBody>
        </p:sp>
      </p:grpSp>
      <p:grpSp>
        <p:nvGrpSpPr>
          <p:cNvPr id="3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2" name="TextBox 39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393" name="TextBox 3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劳埃德镜：接触点是暗纹，证明反射光有半波损失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6" name="g_lloyd"/>
          <p:cNvGrpSpPr/>
          <p:nvPr/>
        </p:nvGrpSpPr>
        <p:grpSpPr>
          <a:xfrm>
            <a:off x="740484" y="1595914"/>
            <a:ext cx="5337152" cy="2628137"/>
            <a:chOff x="740484" y="1595914"/>
            <a:chExt cx="5337152" cy="2628137"/>
          </a:xfrm>
        </p:grpSpPr>
        <p:sp>
          <p:nvSpPr>
            <p:cNvPr id="7" name="Freeform 7"/>
            <p:cNvSpPr/>
            <p:nvPr/>
          </p:nvSpPr>
          <p:spPr>
            <a:xfrm>
              <a:off x="2262188" y="3429000"/>
              <a:ext cx="2257425" cy="9525"/>
            </a:xfrm>
            <a:custGeom>
              <a:avLst/>
              <a:gdLst/>
              <a:ahLst/>
              <a:cxnLst/>
              <a:rect l="l" t="t" r="r" b="b"/>
              <a:pathLst>
                <a:path w="2257425" h="9525">
                  <a:moveTo>
                    <a:pt x="0" y="0"/>
                  </a:moveTo>
                  <a:lnTo>
                    <a:pt x="2257425" y="0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00275" y="3468052"/>
              <a:ext cx="95250" cy="93345"/>
            </a:xfrm>
            <a:custGeom>
              <a:avLst/>
              <a:gdLst/>
              <a:ahLst/>
              <a:cxnLst/>
              <a:rect l="l" t="t" r="r" b="b"/>
              <a:pathLst>
                <a:path w="95250" h="93345">
                  <a:moveTo>
                    <a:pt x="95250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391728" y="346805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93345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82228" y="346805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93345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771775" y="3468052"/>
              <a:ext cx="94297" cy="93345"/>
            </a:xfrm>
            <a:custGeom>
              <a:avLst/>
              <a:gdLst/>
              <a:ahLst/>
              <a:cxnLst/>
              <a:rect l="l" t="t" r="r" b="b"/>
              <a:pathLst>
                <a:path w="94297" h="93345">
                  <a:moveTo>
                    <a:pt x="94297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3228" y="346805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93345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52775" y="3468052"/>
              <a:ext cx="95250" cy="93345"/>
            </a:xfrm>
            <a:custGeom>
              <a:avLst/>
              <a:gdLst/>
              <a:ahLst/>
              <a:cxnLst/>
              <a:rect l="l" t="t" r="r" b="b"/>
              <a:pathLst>
                <a:path w="95250" h="93345">
                  <a:moveTo>
                    <a:pt x="95250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344228" y="346805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93345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534728" y="3468052"/>
              <a:ext cx="94297" cy="93345"/>
            </a:xfrm>
            <a:custGeom>
              <a:avLst/>
              <a:gdLst/>
              <a:ahLst/>
              <a:cxnLst/>
              <a:rect l="l" t="t" r="r" b="b"/>
              <a:pathLst>
                <a:path w="94297" h="93345">
                  <a:moveTo>
                    <a:pt x="94297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725228" y="346805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93345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15728" y="3468052"/>
              <a:ext cx="94297" cy="93345"/>
            </a:xfrm>
            <a:custGeom>
              <a:avLst/>
              <a:gdLst/>
              <a:ahLst/>
              <a:cxnLst/>
              <a:rect l="l" t="t" r="r" b="b"/>
              <a:pathLst>
                <a:path w="94297" h="93345">
                  <a:moveTo>
                    <a:pt x="94297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105275" y="3468052"/>
              <a:ext cx="94297" cy="93345"/>
            </a:xfrm>
            <a:custGeom>
              <a:avLst/>
              <a:gdLst/>
              <a:ahLst/>
              <a:cxnLst/>
              <a:rect l="l" t="t" r="r" b="b"/>
              <a:pathLst>
                <a:path w="94297" h="93345">
                  <a:moveTo>
                    <a:pt x="94297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296728" y="3468052"/>
              <a:ext cx="93345" cy="93345"/>
            </a:xfrm>
            <a:custGeom>
              <a:avLst/>
              <a:gdLst/>
              <a:ahLst/>
              <a:cxnLst/>
              <a:rect l="l" t="t" r="r" b="b"/>
              <a:pathLst>
                <a:path w="93345" h="93345">
                  <a:moveTo>
                    <a:pt x="93345" y="0"/>
                  </a:moveTo>
                  <a:lnTo>
                    <a:pt x="0" y="93345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00650" y="1728788"/>
              <a:ext cx="9525" cy="168592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0"/>
                  </a:moveTo>
                  <a:lnTo>
                    <a:pt x="0" y="1685925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22985" y="2298382"/>
              <a:ext cx="4164330" cy="1130618"/>
            </a:xfrm>
            <a:custGeom>
              <a:avLst/>
              <a:gdLst/>
              <a:ahLst/>
              <a:cxnLst/>
              <a:rect l="l" t="t" r="r" b="b"/>
              <a:pathLst>
                <a:path w="4164330" h="1130618">
                  <a:moveTo>
                    <a:pt x="0" y="659130"/>
                  </a:moveTo>
                  <a:lnTo>
                    <a:pt x="1224915" y="1130618"/>
                  </a:lnTo>
                  <a:lnTo>
                    <a:pt x="416433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022985" y="3434715"/>
              <a:ext cx="1211580" cy="465772"/>
            </a:xfrm>
            <a:custGeom>
              <a:avLst/>
              <a:gdLst/>
              <a:ahLst/>
              <a:cxnLst/>
              <a:rect l="l" t="t" r="r" b="b"/>
              <a:pathLst>
                <a:path w="1211580" h="465772">
                  <a:moveTo>
                    <a:pt x="0" y="465772"/>
                  </a:moveTo>
                  <a:lnTo>
                    <a:pt x="121158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1023938" y="2954655"/>
              <a:ext cx="4162425" cy="474345"/>
            </a:xfrm>
            <a:custGeom>
              <a:avLst/>
              <a:gdLst/>
              <a:ahLst/>
              <a:cxnLst/>
              <a:rect l="l" t="t" r="r" b="b"/>
              <a:pathLst>
                <a:path w="4162425" h="474345">
                  <a:moveTo>
                    <a:pt x="0" y="0"/>
                  </a:moveTo>
                  <a:lnTo>
                    <a:pt x="3509962" y="474345"/>
                  </a:lnTo>
                  <a:lnTo>
                    <a:pt x="4162425" y="385762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23938" y="3430905"/>
              <a:ext cx="3495675" cy="472440"/>
            </a:xfrm>
            <a:custGeom>
              <a:avLst/>
              <a:gdLst/>
              <a:ahLst/>
              <a:cxnLst/>
              <a:rect l="l" t="t" r="r" b="b"/>
              <a:pathLst>
                <a:path w="3495675" h="472440">
                  <a:moveTo>
                    <a:pt x="0" y="472440"/>
                  </a:moveTo>
                  <a:lnTo>
                    <a:pt x="349567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1022985" y="1908810"/>
              <a:ext cx="4163378" cy="1040130"/>
            </a:xfrm>
            <a:custGeom>
              <a:avLst/>
              <a:gdLst/>
              <a:ahLst/>
              <a:cxnLst/>
              <a:rect l="l" t="t" r="r" b="b"/>
              <a:pathLst>
                <a:path w="4163378" h="1040130">
                  <a:moveTo>
                    <a:pt x="0" y="1040130"/>
                  </a:moveTo>
                  <a:lnTo>
                    <a:pt x="4163378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23938" y="2953702"/>
              <a:ext cx="4162425" cy="331470"/>
            </a:xfrm>
            <a:custGeom>
              <a:avLst/>
              <a:gdLst/>
              <a:ahLst/>
              <a:cxnLst/>
              <a:rect l="l" t="t" r="r" b="b"/>
              <a:pathLst>
                <a:path w="4162425" h="331470">
                  <a:moveTo>
                    <a:pt x="0" y="0"/>
                  </a:moveTo>
                  <a:lnTo>
                    <a:pt x="4162425" y="33147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253038" y="235077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253038" y="248412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253038" y="261747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253038" y="275082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53038" y="288417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253038" y="301752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253038" y="315087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253038" y="3284220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543550" y="2403158"/>
              <a:ext cx="9525" cy="825817"/>
            </a:xfrm>
            <a:custGeom>
              <a:avLst/>
              <a:gdLst/>
              <a:ahLst/>
              <a:cxnLst/>
              <a:rect l="l" t="t" r="r" b="b"/>
              <a:pathLst>
                <a:path w="9525" h="825817">
                  <a:moveTo>
                    <a:pt x="0" y="0"/>
                  </a:moveTo>
                  <a:lnTo>
                    <a:pt x="0" y="825817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495925" y="32289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495925" y="23079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24313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52913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3002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1859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4907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3764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6812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5669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8717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7574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0622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9479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2527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1384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4432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3289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6337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5194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38242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37099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40147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39004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42052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40909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4395788" y="3452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4281488" y="35671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5195888" y="1709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519588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962025" y="290512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962025" y="3857625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00488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5195888" y="22888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1004888" y="3900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224313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100488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5195888" y="33337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1004888" y="39004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4529138" y="3424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100488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5195888" y="1900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00488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5195888" y="3281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5233988" y="23460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405438" y="23460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5233988" y="2479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5405438" y="2479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5233988" y="26127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405438" y="26127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5233988" y="2746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5405438" y="2746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5233988" y="28794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5405438" y="28794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5233988" y="30127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5405438" y="30127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5233988" y="31461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5405438" y="31461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5233988" y="3279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5405438" y="32794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5538788" y="22888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5538788" y="333375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40484" y="278653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80897" y="4033361"/>
              <a:ext cx="822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S₂（虚光源）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2141357" y="360473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520285" y="36047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5671947" y="25636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干涉区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233797" y="159591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屏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2711806" y="243316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直射光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3473806" y="31389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反射光</a:t>
              </a:r>
            </a:p>
          </p:txBody>
        </p:sp>
      </p:grpSp>
      <p:grpSp>
        <p:nvGrpSpPr>
          <p:cNvPr id="108" name="c1-text-2"/>
          <p:cNvGrpSpPr/>
          <p:nvPr/>
        </p:nvGrpSpPr>
        <p:grpSpPr>
          <a:xfrm>
            <a:off x="526923" y="4498181"/>
            <a:ext cx="5409946" cy="500824"/>
            <a:chOff x="526923" y="4498181"/>
            <a:chExt cx="5409946" cy="500824"/>
          </a:xfrm>
        </p:grpSpPr>
        <p:sp>
          <p:nvSpPr>
            <p:cNvPr id="107" name="TextBox 107"/>
            <p:cNvSpPr txBox="1"/>
            <p:nvPr/>
          </p:nvSpPr>
          <p:spPr>
            <a:xfrm>
              <a:off x="526923" y="4498181"/>
              <a:ext cx="540994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直射光与镜面反射光（好像从虚光源 S₂ 发出）在屏上重叠，S₁、S₂ 相当于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一对双缝。</a:t>
              </a:r>
            </a:p>
          </p:txBody>
        </p:sp>
      </p:grpSp>
      <p:grpSp>
        <p:nvGrpSpPr>
          <p:cNvPr id="114" name="c2-card-1"/>
          <p:cNvGrpSpPr/>
          <p:nvPr/>
        </p:nvGrpSpPr>
        <p:grpSpPr>
          <a:xfrm>
            <a:off x="6464618" y="1524000"/>
            <a:ext cx="5193982" cy="2223135"/>
            <a:chOff x="6464618" y="1524000"/>
            <a:chExt cx="5193982" cy="2223135"/>
          </a:xfrm>
        </p:grpSpPr>
        <p:sp>
          <p:nvSpPr>
            <p:cNvPr id="109" name="Rectangle 109"/>
            <p:cNvSpPr/>
            <p:nvPr/>
          </p:nvSpPr>
          <p:spPr>
            <a:xfrm>
              <a:off x="6464618" y="1524000"/>
              <a:ext cx="5193982" cy="2223135"/>
            </a:xfrm>
            <a:prstGeom prst="roundRect">
              <a:avLst>
                <a:gd name="adj" fmla="val 599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66741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7564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实验意义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6666548" y="211074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把屏移到与镜端 L 接触，接触点处直射光和反射光的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几何路程相等，按光程差为零应是明纹，实际观察到的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是暗纹。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666548" y="301752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这说明反射光的相位突变了 π，相当于多走（或少走）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了半个波长，叫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半波损失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21" name="c2-card-2"/>
          <p:cNvGrpSpPr/>
          <p:nvPr/>
        </p:nvGrpSpPr>
        <p:grpSpPr>
          <a:xfrm>
            <a:off x="6464618" y="3937635"/>
            <a:ext cx="5193982" cy="1612582"/>
            <a:chOff x="6464618" y="3937635"/>
            <a:chExt cx="5193982" cy="1612582"/>
          </a:xfrm>
        </p:grpSpPr>
        <p:sp>
          <p:nvSpPr>
            <p:cNvPr id="115" name="Rectangle 115"/>
            <p:cNvSpPr/>
            <p:nvPr/>
          </p:nvSpPr>
          <p:spPr>
            <a:xfrm>
              <a:off x="6464618" y="3937635"/>
              <a:ext cx="5193982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474142" y="4070985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6712268" y="414718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781775" y="418290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半波损失的条件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704648" y="452437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光从光疏介质射向光密介质（n 小到 n 大），在界面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时有半波损失；折射光没有。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6705791" y="5142071"/>
              <a:ext cx="4760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与第3章机械波在波密介质界面反射时的半波损失是同一回事。</a:t>
              </a:r>
            </a:p>
          </p:txBody>
        </p:sp>
      </p:grpSp>
      <p:grpSp>
        <p:nvGrpSpPr>
          <p:cNvPr id="12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22" name="Rectangle 12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6" name="Group 126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27" name="TextBox 127"/>
            <p:cNvSpPr txBox="1"/>
            <p:nvPr/>
          </p:nvSpPr>
          <p:spPr>
            <a:xfrm>
              <a:off x="1040130" y="5991225"/>
              <a:ext cx="9061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算光程差时，有半波损失的那一路要额外加（或减）λ/2，加或减只影响 k 的编号，不影响明暗判断。</a:t>
              </a:r>
            </a:p>
          </p:txBody>
        </p:sp>
      </p:grpSp>
      <p:grpSp>
        <p:nvGrpSpPr>
          <p:cNvPr id="1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9" name="TextBox 12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83295" cy="909257"/>
            <a:chOff x="520446" y="342900"/>
            <a:chExt cx="50832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832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例7.1　由两条明纹的距离求波长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671638"/>
            <a:chOff x="533400" y="1524000"/>
            <a:chExt cx="4869180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2232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单色光照射相距 a = 0.2 mm 的双缝，双缝与屏相距 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一级明纹到同侧四级明纹的距离为 7.5 mm 时的波长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λ；② 入射光换成 600 nm 时相邻明纹的间距。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360420"/>
            <a:ext cx="4869180" cy="1714500"/>
            <a:chOff x="533400" y="3360420"/>
            <a:chExt cx="4869180" cy="1714500"/>
          </a:xfrm>
        </p:grpSpPr>
        <p:sp>
          <p:nvSpPr>
            <p:cNvPr id="14" name="Rectangle 14"/>
            <p:cNvSpPr/>
            <p:nvPr/>
          </p:nvSpPr>
          <p:spPr>
            <a:xfrm>
              <a:off x="533400" y="3360420"/>
              <a:ext cx="4869180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93770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413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5742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93477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881914"/>
              <a:ext cx="2864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nm 在可见光范围内，是青绿色光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2000" y="421957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48" y="4166711"/>
              <a:ext cx="4020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nm 时 Δx = 2.5 mm，一级到四级 3 个间距正好 7.5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62000" y="474726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7448" y="4694396"/>
              <a:ext cx="41575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∝ λ：2.5 mm × 600/500 = 3.0 mm，与第 ② 问一致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707380" y="1533525"/>
            <a:ext cx="4998491" cy="2149412"/>
            <a:chOff x="5707380" y="1533525"/>
            <a:chExt cx="4998491" cy="2149412"/>
          </a:xfrm>
        </p:grpSpPr>
        <p:sp>
          <p:nvSpPr>
            <p:cNvPr id="25" name="Rectangle 25"/>
            <p:cNvSpPr/>
            <p:nvPr/>
          </p:nvSpPr>
          <p:spPr>
            <a:xfrm>
              <a:off x="5840730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70738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100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70738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80100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20003" y="1564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明纹位置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1146" y="1818322"/>
              <a:ext cx="725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xₖ = kDλ/a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20003" y="21169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同侧一级到四级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1146" y="2371725"/>
              <a:ext cx="28820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x₄ − x₁ = (4 − 1)Dλ/a，中间隔 3 个条纹间距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0003" y="267033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求波长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1146" y="2925128"/>
              <a:ext cx="4584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a(x₄ − x₁)/(3D) = 0.2×10⁻³ × 7.5×10⁻³/(3 × 1) m = 5.0×10⁻⁷ 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20003" y="32227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求间距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21146" y="3477578"/>
              <a:ext cx="3501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Dλ/a = 1 × 6×10⁻⁷/(0.2×10⁻³) m = 3.0×10⁻³ m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5707380" y="3844290"/>
            <a:ext cx="5951220" cy="1230630"/>
            <a:chOff x="5707380" y="3844290"/>
            <a:chExt cx="5951220" cy="1230630"/>
          </a:xfrm>
        </p:grpSpPr>
        <p:sp>
          <p:nvSpPr>
            <p:cNvPr id="43" name="Rectangle 43"/>
            <p:cNvSpPr/>
            <p:nvPr/>
          </p:nvSpPr>
          <p:spPr>
            <a:xfrm>
              <a:off x="5707380" y="3844290"/>
              <a:ext cx="5951220" cy="1230630"/>
            </a:xfrm>
            <a:prstGeom prst="roundRect">
              <a:avLst>
                <a:gd name="adj" fmla="val 1083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88355" y="402526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84126" y="40581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81878" y="4365784"/>
              <a:ext cx="2501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λ = 500 nm；② Δx = 3.0 mm。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10398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变式：若 7.5 mm 是一级明纹到另一侧四级明纹的距离，中间有 1 + 4 = 5 个间距，λ = aΔx/(5D) = 300 nm。「同侧」「异侧」要看清。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9857" cy="909257"/>
            <a:chOff x="520446" y="342900"/>
            <a:chExt cx="57698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98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例7.2　条纹间距与屏上某点的相位差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937385"/>
            <a:chOff x="533400" y="1524000"/>
            <a:chExt cx="486918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424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53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杨氏实验中 λ = 640 nm，两缝间距 a = 0.4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mm，屏离缝 D = 50 cm。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两个第三级明纹之间的距离；② 屏上 P 点离中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央明纹中心 x = 0.1 mm，两束光到 P 的相位差。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51885"/>
            <a:ext cx="4869180" cy="1937385"/>
            <a:chOff x="533400" y="3651885"/>
            <a:chExt cx="4869180" cy="1937385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8523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3014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238625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条纹间距 Dλ/a = 0.8 mm，x = 0.1 mm 是它的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1/8，相位差应为 2π/8 = π/4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9225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859655"/>
              <a:ext cx="3891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不作近似、直接算 r₂ − r₁，同样得 8.0×10⁻⁸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707380" y="1533525"/>
            <a:ext cx="5459712" cy="2529173"/>
            <a:chOff x="5707380" y="1533525"/>
            <a:chExt cx="5459712" cy="2529173"/>
          </a:xfrm>
        </p:grpSpPr>
        <p:sp>
          <p:nvSpPr>
            <p:cNvPr id="23" name="Rectangle 23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8860" y="15678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两个三级明纹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003" y="1861661"/>
              <a:ext cx="39015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在中央明纹两侧，x = ±3Dλ/a，相距 Δk = 6 个间距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886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2512219"/>
              <a:ext cx="5047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 = 6Dλ/a = 6 × 0.5 × 6.4×10⁻⁷/(0.4×10⁻³) m = 4.8×10⁻³ 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18860" y="286893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3162776"/>
              <a:ext cx="4335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ax/D = 0.4×10⁻³ × 0.1×10⁻³/0.5 m = 8.0×10⁻⁸ 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18860" y="35204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3813334"/>
              <a:ext cx="3773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2πδ/λ = 2π × 0.8×10⁻⁷/(6.4×10⁻⁷) = π/4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707380" y="4241482"/>
            <a:ext cx="5951220" cy="1347788"/>
            <a:chOff x="5707380" y="4241482"/>
            <a:chExt cx="5951220" cy="1347788"/>
          </a:xfrm>
        </p:grpSpPr>
        <p:sp>
          <p:nvSpPr>
            <p:cNvPr id="41" name="Rectangle 41"/>
            <p:cNvSpPr/>
            <p:nvPr/>
          </p:nvSpPr>
          <p:spPr>
            <a:xfrm>
              <a:off x="5707380" y="4241482"/>
              <a:ext cx="5951220" cy="1347788"/>
            </a:xfrm>
            <a:prstGeom prst="roundRect">
              <a:avLst>
                <a:gd name="adj" fmla="val 989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16930" y="445103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12040" y="44867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09310" y="4828222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4.8 mm；② Δφ = π/4。P 点光强 I = 4I₀cos²(π/8) 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3.41I₀。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83549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「两个第三级明纹」指中央两侧各一条，跨 6 个间距；「第三级明纹到中央明纹」只跨 3 个。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86262" cy="909257"/>
            <a:chOff x="520446" y="342900"/>
            <a:chExt cx="7486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862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例7.3　缝后加介质片，零级明纹移向加片的一侧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768792"/>
            <a:chOff x="533400" y="1524000"/>
            <a:chExt cx="4977765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双缝实验中波长 λ 的单色光垂直入射，在缝 S₂ 与屏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之间放厚 d、折射率 n 的透明薄片。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43771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原来的零级明纹怎样移动？若零级明纹移到原来第 k 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明纹处，d 是多少？</a:t>
              </a:r>
            </a:p>
          </p:txBody>
        </p:sp>
      </p:grpSp>
      <p:grpSp>
        <p:nvGrpSpPr>
          <p:cNvPr id="50" name="g_ex73"/>
          <p:cNvGrpSpPr/>
          <p:nvPr/>
        </p:nvGrpSpPr>
        <p:grpSpPr>
          <a:xfrm>
            <a:off x="1012363" y="3636645"/>
            <a:ext cx="4168871" cy="1801177"/>
            <a:chOff x="1012363" y="3636645"/>
            <a:chExt cx="4168871" cy="1801177"/>
          </a:xfrm>
        </p:grpSpPr>
        <p:sp>
          <p:nvSpPr>
            <p:cNvPr id="14" name="Freeform 14"/>
            <p:cNvSpPr/>
            <p:nvPr/>
          </p:nvSpPr>
          <p:spPr>
            <a:xfrm>
              <a:off x="1277302" y="3655695"/>
              <a:ext cx="9525" cy="526733"/>
            </a:xfrm>
            <a:custGeom>
              <a:avLst/>
              <a:gdLst/>
              <a:ahLst/>
              <a:cxnLst/>
              <a:rect l="l" t="t" r="r" b="b"/>
              <a:pathLst>
                <a:path w="9525" h="526733">
                  <a:moveTo>
                    <a:pt x="0" y="0"/>
                  </a:moveTo>
                  <a:lnTo>
                    <a:pt x="0" y="526733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77302" y="4314825"/>
              <a:ext cx="9525" cy="387667"/>
            </a:xfrm>
            <a:custGeom>
              <a:avLst/>
              <a:gdLst/>
              <a:ahLst/>
              <a:cxnLst/>
              <a:rect l="l" t="t" r="r" b="b"/>
              <a:pathLst>
                <a:path w="9525" h="387667">
                  <a:moveTo>
                    <a:pt x="0" y="0"/>
                  </a:moveTo>
                  <a:lnTo>
                    <a:pt x="0" y="387667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77302" y="4834890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917758" y="3655695"/>
              <a:ext cx="9525" cy="1748790"/>
            </a:xfrm>
            <a:custGeom>
              <a:avLst/>
              <a:gdLst/>
              <a:ahLst/>
              <a:cxnLst/>
              <a:rect l="l" t="t" r="r" b="b"/>
              <a:pathLst>
                <a:path w="9525" h="1748790">
                  <a:moveTo>
                    <a:pt x="0" y="0"/>
                  </a:moveTo>
                  <a:lnTo>
                    <a:pt x="0" y="1748790"/>
                  </a:lnTo>
                </a:path>
              </a:pathLst>
            </a:custGeom>
            <a:noFill/>
            <a:ln w="2857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291590" y="4508182"/>
              <a:ext cx="3611880" cy="9525"/>
            </a:xfrm>
            <a:custGeom>
              <a:avLst/>
              <a:gdLst/>
              <a:ahLst/>
              <a:cxnLst/>
              <a:rect l="l" t="t" r="r" b="b"/>
              <a:pathLst>
                <a:path w="3611880" h="9525">
                  <a:moveTo>
                    <a:pt x="0" y="0"/>
                  </a:moveTo>
                  <a:lnTo>
                    <a:pt x="361188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1433512" y="4664392"/>
              <a:ext cx="139065" cy="242888"/>
            </a:xfrm>
            <a:custGeom>
              <a:avLst/>
              <a:gdLst/>
              <a:ahLst/>
              <a:cxnLst/>
              <a:rect l="l" t="t" r="r" b="b"/>
              <a:pathLst>
                <a:path w="139065" h="242888">
                  <a:moveTo>
                    <a:pt x="14288" y="0"/>
                  </a:moveTo>
                  <a:lnTo>
                    <a:pt x="139065" y="0"/>
                  </a:lnTo>
                  <a:lnTo>
                    <a:pt x="139065" y="242888"/>
                  </a:lnTo>
                  <a:lnTo>
                    <a:pt x="0" y="242888"/>
                  </a:lnTo>
                  <a:lnTo>
                    <a:pt x="0" y="0"/>
                  </a:lnTo>
                  <a:lnTo>
                    <a:pt x="124777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291590" y="4251008"/>
              <a:ext cx="3612832" cy="740092"/>
            </a:xfrm>
            <a:custGeom>
              <a:avLst/>
              <a:gdLst/>
              <a:ahLst/>
              <a:cxnLst/>
              <a:rect l="l" t="t" r="r" b="b"/>
              <a:pathLst>
                <a:path w="3612832" h="740092">
                  <a:moveTo>
                    <a:pt x="0" y="0"/>
                  </a:moveTo>
                  <a:lnTo>
                    <a:pt x="3612832" y="740092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291590" y="4769168"/>
              <a:ext cx="3611880" cy="223838"/>
            </a:xfrm>
            <a:custGeom>
              <a:avLst/>
              <a:gdLst/>
              <a:ahLst/>
              <a:cxnLst/>
              <a:rect l="l" t="t" r="r" b="b"/>
              <a:pathLst>
                <a:path w="3611880" h="223838">
                  <a:moveTo>
                    <a:pt x="0" y="0"/>
                  </a:moveTo>
                  <a:lnTo>
                    <a:pt x="3611880" y="223838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796790" y="4557712"/>
              <a:ext cx="9525" cy="274320"/>
            </a:xfrm>
            <a:custGeom>
              <a:avLst/>
              <a:gdLst/>
              <a:ahLst/>
              <a:cxnLst/>
              <a:rect l="l" t="t" r="r" b="b"/>
              <a:pathLst>
                <a:path w="9525"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749165" y="48320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272540" y="36366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272540" y="41919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272540" y="42957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272540" y="47120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272540" y="48158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272540" y="53701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912995" y="36366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912995" y="54140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72540" y="45034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912995" y="45034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428750" y="46596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567815" y="46596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272540" y="42433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912995" y="49891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72540" y="47634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912995" y="49891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870132" y="4460558"/>
              <a:ext cx="95250" cy="952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870132" y="494633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4792028" y="45386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792028" y="49368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12363" y="41767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2363" y="469677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63031" y="501348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n, 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92681" y="4401502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66701" y="488727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O′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53914" y="5261610"/>
              <a:ext cx="1207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零级明纹移向 S₂ 一侧</a:t>
              </a:r>
            </a:p>
          </p:txBody>
        </p:sp>
      </p:grpSp>
      <p:grpSp>
        <p:nvGrpSpPr>
          <p:cNvPr id="68" name="c2-steps-1"/>
          <p:cNvGrpSpPr/>
          <p:nvPr/>
        </p:nvGrpSpPr>
        <p:grpSpPr>
          <a:xfrm>
            <a:off x="5815965" y="1533525"/>
            <a:ext cx="5616575" cy="2487454"/>
            <a:chOff x="5815965" y="1533525"/>
            <a:chExt cx="5616575" cy="2487454"/>
          </a:xfrm>
        </p:grpSpPr>
        <p:sp>
          <p:nvSpPr>
            <p:cNvPr id="51" name="Rectangle 51"/>
            <p:cNvSpPr/>
            <p:nvPr/>
          </p:nvSpPr>
          <p:spPr>
            <a:xfrm>
              <a:off x="5949315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5815965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09589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5815965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09589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5815965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09589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8207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放片前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9350" y="1833086"/>
              <a:ext cx="2689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点 r₁ = r₂，光程差为零，是零级明纹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8207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放片后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9350" y="2419826"/>
              <a:ext cx="37625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 这一路光程增加 (n − 1)d，δ = r₁ − [r₂ + (n − 1)d]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28207" y="273939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判方向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29350" y="3006566"/>
              <a:ext cx="52031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零级明纹要求 δ = 0，即 r₁ − r₂ = (n − 1)d &gt; 0，P 点离 S₂ 更近，所以零级明纹向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S₂ 一侧（图中向下）移动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28207" y="353282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求厚度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29350" y="3800951"/>
              <a:ext cx="3961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原第 k 级明纹处 r₁ − r₂ = kλ，现在是零级：(n − 1)d = kλ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5815965" y="4190048"/>
            <a:ext cx="5842635" cy="1358265"/>
            <a:chOff x="5815965" y="4190048"/>
            <a:chExt cx="5842635" cy="1358265"/>
          </a:xfrm>
        </p:grpSpPr>
        <p:sp>
          <p:nvSpPr>
            <p:cNvPr id="69" name="Rectangle 69"/>
            <p:cNvSpPr/>
            <p:nvPr/>
          </p:nvSpPr>
          <p:spPr>
            <a:xfrm>
              <a:off x="5815965" y="4190048"/>
              <a:ext cx="5842635" cy="1358265"/>
            </a:xfrm>
            <a:prstGeom prst="roundRect">
              <a:avLst>
                <a:gd name="adj" fmla="val 981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008370" y="438245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03811" y="44167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001512" y="4738687"/>
              <a:ext cx="37756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零级明纹向加片的一侧移动；d = kλ/(n − 1)。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4" name="Rectangle 7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3610"/>
              <a:ext cx="93213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整组条纹一起平移，间距 Dλ/a 不变，平移量 Δx = (n − 1)dD/a。数一数有几条明纹移过中心 O，就能反推 d 或 n。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　云母片使第七级明纹移到中央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869180" cy="2233612"/>
            <a:chOff x="533400" y="1524000"/>
            <a:chExt cx="4869180" cy="22336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233612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669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44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双缝装置中，用很薄的云母片（n = 1.58）盖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住其中一条缝，屏幕上的第七级明纹恰好移到屏中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央原零级明纹的位置，λ = 5.5×10⁻⁷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云母片的厚度 e。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34946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原课件只列出 e = 7λ/(n − 1)，没有代数，这里补全。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48112"/>
            <a:ext cx="4869180" cy="1323975"/>
            <a:chOff x="533400" y="3948112"/>
            <a:chExt cx="4869180" cy="1323975"/>
          </a:xfrm>
        </p:grpSpPr>
        <p:sp>
          <p:nvSpPr>
            <p:cNvPr id="15" name="Rectangle 15"/>
            <p:cNvSpPr/>
            <p:nvPr/>
          </p:nvSpPr>
          <p:spPr>
            <a:xfrm>
              <a:off x="533400" y="3948112"/>
              <a:ext cx="4869180" cy="1323975"/>
            </a:xfrm>
            <a:prstGeom prst="roundRect">
              <a:avLst>
                <a:gd name="adj" fmla="val 100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081462"/>
              <a:ext cx="47625" cy="10572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41576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41933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4534852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− 1)e = 0.58 × 6.64 μm ≈ 3.85 μm，正好是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× 0.55 μm。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707380" y="1533525"/>
            <a:ext cx="4941819" cy="2529173"/>
            <a:chOff x="5707380" y="1533525"/>
            <a:chExt cx="4941819" cy="2529173"/>
          </a:xfrm>
        </p:grpSpPr>
        <p:sp>
          <p:nvSpPr>
            <p:cNvPr id="21" name="Rectangle 21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18860" y="1567815"/>
              <a:ext cx="856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看中心 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20003" y="1861661"/>
              <a:ext cx="3305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点两缝几何路程相等，盖片前是零级明纹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886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盖片后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003" y="2512219"/>
              <a:ext cx="4529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盖片那一路光程多出 (n − 1)e，O 点的光程差 δ = (n − 1)e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8860" y="2868930"/>
              <a:ext cx="12601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第七级移到 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3162776"/>
              <a:ext cx="2237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点变成第七级明纹，δ = 7λ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18860" y="35204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解出厚度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3813334"/>
              <a:ext cx="4303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7λ/(n − 1) = 7 × 5.5×10⁻⁷/0.58 m ≈ 6.64×10⁻⁶ m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5707380" y="4241482"/>
            <a:ext cx="5951220" cy="1030605"/>
            <a:chOff x="5707380" y="4241482"/>
            <a:chExt cx="5951220" cy="1030605"/>
          </a:xfrm>
        </p:grpSpPr>
        <p:sp>
          <p:nvSpPr>
            <p:cNvPr id="39" name="Rectangle 39"/>
            <p:cNvSpPr/>
            <p:nvPr/>
          </p:nvSpPr>
          <p:spPr>
            <a:xfrm>
              <a:off x="5707380" y="4241482"/>
              <a:ext cx="5951220" cy="1030605"/>
            </a:xfrm>
            <a:prstGeom prst="roundRect">
              <a:avLst>
                <a:gd name="adj" fmla="val 129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16930" y="445103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012040" y="44867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909310" y="4828222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 ≈ 6.6 μm。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84631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和例7.3 是同一件事：盖片后 O 点光程差为 (n − 1)e，是 λ 的几倍，O 点就变成第几级明纹。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分波阵面干涉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　白光双缝的彩色带：只有第一级是干净的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94485"/>
            <a:chOff x="533400" y="1524000"/>
            <a:chExt cx="5410200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6131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白光（400～760 nm）垂直入射到 a = 0.25 mm 的双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缝，屏距 D = 50 cm。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92241"/>
              <a:ext cx="33215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第一级和第五级明纹彩色带的宽度。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313748"/>
            <a:ext cx="4974793" cy="1790128"/>
            <a:chOff x="533400" y="3313748"/>
            <a:chExt cx="4974793" cy="1790128"/>
          </a:xfrm>
        </p:grpSpPr>
        <p:sp>
          <p:nvSpPr>
            <p:cNvPr id="14" name="Rectangle 14"/>
            <p:cNvSpPr/>
            <p:nvPr/>
          </p:nvSpPr>
          <p:spPr>
            <a:xfrm>
              <a:off x="666750" y="3456622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137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3875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347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008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5558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629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261" y="33466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位置公式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404" y="3627120"/>
              <a:ext cx="3000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kDλ/a，同一级里紫光在内、红光在外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261" y="39676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彩带宽度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404" y="4248150"/>
              <a:ext cx="45617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Δxₖ = kD(λ红 − λ紫)/a = k × 0.5 × 3.6×10⁻⁷/(0.25×10⁻³) 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261" y="45886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86918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1：7.2×10⁻⁴ m；k = 5：3.6×10⁻³ m</a:t>
              </a:r>
            </a:p>
          </p:txBody>
        </p:sp>
      </p:grpSp>
      <p:grpSp>
        <p:nvGrpSpPr>
          <p:cNvPr id="32" name="c1-card-3"/>
          <p:cNvGrpSpPr/>
          <p:nvPr/>
        </p:nvGrpSpPr>
        <p:grpSpPr>
          <a:xfrm>
            <a:off x="533400" y="5279708"/>
            <a:ext cx="5410200" cy="1002982"/>
            <a:chOff x="533400" y="5279708"/>
            <a:chExt cx="5410200" cy="1002982"/>
          </a:xfrm>
        </p:grpSpPr>
        <p:sp>
          <p:nvSpPr>
            <p:cNvPr id="28" name="Rectangle 28"/>
            <p:cNvSpPr/>
            <p:nvPr/>
          </p:nvSpPr>
          <p:spPr>
            <a:xfrm>
              <a:off x="533400" y="5279708"/>
              <a:ext cx="5410200" cy="1002982"/>
            </a:xfrm>
            <a:prstGeom prst="roundRect">
              <a:avLst>
                <a:gd name="adj" fmla="val 1329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7235" y="548354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2345" y="5519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9996" y="5856446"/>
              <a:ext cx="36560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第一级彩带宽 0.72 mm，第五级 3.6 mm。</a:t>
              </a:r>
            </a:p>
          </p:txBody>
        </p:sp>
      </p:grpSp>
      <p:grpSp>
        <p:nvGrpSpPr>
          <p:cNvPr id="85" name="g_white"/>
          <p:cNvGrpSpPr/>
          <p:nvPr/>
        </p:nvGrpSpPr>
        <p:grpSpPr>
          <a:xfrm>
            <a:off x="6694170" y="1662589"/>
            <a:ext cx="4782052" cy="2212847"/>
            <a:chOff x="6694170" y="1662589"/>
            <a:chExt cx="4782052" cy="2212847"/>
          </a:xfrm>
        </p:grpSpPr>
        <p:sp>
          <p:nvSpPr>
            <p:cNvPr id="33" name="Freeform 33"/>
            <p:cNvSpPr/>
            <p:nvPr/>
          </p:nvSpPr>
          <p:spPr>
            <a:xfrm>
              <a:off x="6711315" y="1893570"/>
              <a:ext cx="4594860" cy="1385888"/>
            </a:xfrm>
            <a:custGeom>
              <a:avLst/>
              <a:gdLst/>
              <a:ahLst/>
              <a:cxnLst/>
              <a:rect l="l" t="t" r="r" b="b"/>
              <a:pathLst>
                <a:path w="4594860" h="1385888">
                  <a:moveTo>
                    <a:pt x="0" y="1378268"/>
                  </a:moveTo>
                  <a:lnTo>
                    <a:pt x="1905" y="1377315"/>
                  </a:lnTo>
                  <a:lnTo>
                    <a:pt x="16192" y="1351597"/>
                  </a:lnTo>
                  <a:lnTo>
                    <a:pt x="31432" y="1310640"/>
                  </a:lnTo>
                  <a:lnTo>
                    <a:pt x="45720" y="1253490"/>
                  </a:lnTo>
                  <a:lnTo>
                    <a:pt x="60007" y="1183005"/>
                  </a:lnTo>
                  <a:lnTo>
                    <a:pt x="74295" y="1100138"/>
                  </a:lnTo>
                  <a:lnTo>
                    <a:pt x="88582" y="1007745"/>
                  </a:lnTo>
                  <a:lnTo>
                    <a:pt x="103822" y="906780"/>
                  </a:lnTo>
                  <a:lnTo>
                    <a:pt x="117157" y="801052"/>
                  </a:lnTo>
                  <a:lnTo>
                    <a:pt x="132397" y="693420"/>
                  </a:lnTo>
                  <a:lnTo>
                    <a:pt x="146685" y="584835"/>
                  </a:lnTo>
                  <a:lnTo>
                    <a:pt x="160972" y="479107"/>
                  </a:lnTo>
                  <a:lnTo>
                    <a:pt x="175260" y="378142"/>
                  </a:lnTo>
                  <a:lnTo>
                    <a:pt x="190500" y="285750"/>
                  </a:lnTo>
                  <a:lnTo>
                    <a:pt x="203835" y="202882"/>
                  </a:lnTo>
                  <a:lnTo>
                    <a:pt x="219075" y="132397"/>
                  </a:lnTo>
                  <a:lnTo>
                    <a:pt x="233362" y="75247"/>
                  </a:lnTo>
                  <a:lnTo>
                    <a:pt x="247650" y="34290"/>
                  </a:lnTo>
                  <a:lnTo>
                    <a:pt x="261938" y="8572"/>
                  </a:lnTo>
                  <a:lnTo>
                    <a:pt x="276225" y="0"/>
                  </a:lnTo>
                  <a:lnTo>
                    <a:pt x="290512" y="8572"/>
                  </a:lnTo>
                  <a:lnTo>
                    <a:pt x="305753" y="34290"/>
                  </a:lnTo>
                  <a:lnTo>
                    <a:pt x="320040" y="75247"/>
                  </a:lnTo>
                  <a:lnTo>
                    <a:pt x="334328" y="132397"/>
                  </a:lnTo>
                  <a:lnTo>
                    <a:pt x="348615" y="202882"/>
                  </a:lnTo>
                  <a:lnTo>
                    <a:pt x="362903" y="285750"/>
                  </a:lnTo>
                  <a:lnTo>
                    <a:pt x="378142" y="378142"/>
                  </a:lnTo>
                  <a:lnTo>
                    <a:pt x="391478" y="479107"/>
                  </a:lnTo>
                  <a:lnTo>
                    <a:pt x="406717" y="584835"/>
                  </a:lnTo>
                  <a:lnTo>
                    <a:pt x="421005" y="693420"/>
                  </a:lnTo>
                  <a:lnTo>
                    <a:pt x="435292" y="801052"/>
                  </a:lnTo>
                  <a:lnTo>
                    <a:pt x="449580" y="906780"/>
                  </a:lnTo>
                  <a:lnTo>
                    <a:pt x="464820" y="1007745"/>
                  </a:lnTo>
                  <a:lnTo>
                    <a:pt x="478155" y="1100138"/>
                  </a:lnTo>
                  <a:lnTo>
                    <a:pt x="493395" y="1183005"/>
                  </a:lnTo>
                  <a:lnTo>
                    <a:pt x="507682" y="1253490"/>
                  </a:lnTo>
                  <a:lnTo>
                    <a:pt x="521970" y="1310640"/>
                  </a:lnTo>
                  <a:lnTo>
                    <a:pt x="536257" y="1351597"/>
                  </a:lnTo>
                  <a:lnTo>
                    <a:pt x="550545" y="1377315"/>
                  </a:lnTo>
                  <a:lnTo>
                    <a:pt x="564832" y="1385888"/>
                  </a:lnTo>
                  <a:lnTo>
                    <a:pt x="580072" y="1377315"/>
                  </a:lnTo>
                  <a:lnTo>
                    <a:pt x="594360" y="1351597"/>
                  </a:lnTo>
                  <a:lnTo>
                    <a:pt x="608647" y="1310640"/>
                  </a:lnTo>
                  <a:lnTo>
                    <a:pt x="622935" y="1253490"/>
                  </a:lnTo>
                  <a:lnTo>
                    <a:pt x="637222" y="1183005"/>
                  </a:lnTo>
                  <a:lnTo>
                    <a:pt x="652462" y="1100138"/>
                  </a:lnTo>
                  <a:lnTo>
                    <a:pt x="665797" y="1007745"/>
                  </a:lnTo>
                  <a:lnTo>
                    <a:pt x="681038" y="906780"/>
                  </a:lnTo>
                  <a:lnTo>
                    <a:pt x="695325" y="801052"/>
                  </a:lnTo>
                  <a:lnTo>
                    <a:pt x="709612" y="693420"/>
                  </a:lnTo>
                  <a:lnTo>
                    <a:pt x="723900" y="584835"/>
                  </a:lnTo>
                  <a:lnTo>
                    <a:pt x="739140" y="479107"/>
                  </a:lnTo>
                  <a:lnTo>
                    <a:pt x="752475" y="378142"/>
                  </a:lnTo>
                  <a:lnTo>
                    <a:pt x="767715" y="285750"/>
                  </a:lnTo>
                  <a:lnTo>
                    <a:pt x="782003" y="202882"/>
                  </a:lnTo>
                  <a:lnTo>
                    <a:pt x="796290" y="132397"/>
                  </a:lnTo>
                  <a:lnTo>
                    <a:pt x="810578" y="75247"/>
                  </a:lnTo>
                  <a:lnTo>
                    <a:pt x="824865" y="34290"/>
                  </a:lnTo>
                  <a:lnTo>
                    <a:pt x="839153" y="8572"/>
                  </a:lnTo>
                  <a:lnTo>
                    <a:pt x="854392" y="0"/>
                  </a:lnTo>
                  <a:lnTo>
                    <a:pt x="868680" y="8572"/>
                  </a:lnTo>
                  <a:lnTo>
                    <a:pt x="882967" y="34290"/>
                  </a:lnTo>
                  <a:lnTo>
                    <a:pt x="897255" y="75247"/>
                  </a:lnTo>
                  <a:lnTo>
                    <a:pt x="911542" y="132397"/>
                  </a:lnTo>
                  <a:lnTo>
                    <a:pt x="926782" y="202882"/>
                  </a:lnTo>
                  <a:lnTo>
                    <a:pt x="940117" y="285750"/>
                  </a:lnTo>
                  <a:lnTo>
                    <a:pt x="955357" y="378142"/>
                  </a:lnTo>
                  <a:lnTo>
                    <a:pt x="969645" y="479107"/>
                  </a:lnTo>
                  <a:lnTo>
                    <a:pt x="983932" y="584835"/>
                  </a:lnTo>
                  <a:lnTo>
                    <a:pt x="998220" y="693420"/>
                  </a:lnTo>
                  <a:lnTo>
                    <a:pt x="1013460" y="801052"/>
                  </a:lnTo>
                  <a:lnTo>
                    <a:pt x="1026795" y="906780"/>
                  </a:lnTo>
                  <a:lnTo>
                    <a:pt x="1042035" y="1007745"/>
                  </a:lnTo>
                  <a:lnTo>
                    <a:pt x="1056322" y="1100138"/>
                  </a:lnTo>
                  <a:lnTo>
                    <a:pt x="1070610" y="1183005"/>
                  </a:lnTo>
                  <a:lnTo>
                    <a:pt x="1084897" y="1253490"/>
                  </a:lnTo>
                  <a:lnTo>
                    <a:pt x="1099185" y="1310640"/>
                  </a:lnTo>
                  <a:lnTo>
                    <a:pt x="1113472" y="1351597"/>
                  </a:lnTo>
                  <a:lnTo>
                    <a:pt x="1127760" y="1377315"/>
                  </a:lnTo>
                  <a:lnTo>
                    <a:pt x="1143000" y="1385888"/>
                  </a:lnTo>
                  <a:lnTo>
                    <a:pt x="1157288" y="1377315"/>
                  </a:lnTo>
                  <a:lnTo>
                    <a:pt x="1171575" y="1351597"/>
                  </a:lnTo>
                  <a:lnTo>
                    <a:pt x="1185862" y="1310640"/>
                  </a:lnTo>
                  <a:lnTo>
                    <a:pt x="1201103" y="1253490"/>
                  </a:lnTo>
                  <a:lnTo>
                    <a:pt x="1214438" y="1183005"/>
                  </a:lnTo>
                  <a:lnTo>
                    <a:pt x="1229678" y="1100138"/>
                  </a:lnTo>
                  <a:lnTo>
                    <a:pt x="1243965" y="1007745"/>
                  </a:lnTo>
                  <a:lnTo>
                    <a:pt x="1258253" y="906780"/>
                  </a:lnTo>
                  <a:lnTo>
                    <a:pt x="1272540" y="801052"/>
                  </a:lnTo>
                  <a:lnTo>
                    <a:pt x="1286828" y="693420"/>
                  </a:lnTo>
                  <a:lnTo>
                    <a:pt x="1301115" y="584835"/>
                  </a:lnTo>
                  <a:lnTo>
                    <a:pt x="1316355" y="479107"/>
                  </a:lnTo>
                  <a:lnTo>
                    <a:pt x="1330642" y="378142"/>
                  </a:lnTo>
                  <a:lnTo>
                    <a:pt x="1344930" y="285750"/>
                  </a:lnTo>
                  <a:lnTo>
                    <a:pt x="1359217" y="202882"/>
                  </a:lnTo>
                  <a:lnTo>
                    <a:pt x="1373505" y="132397"/>
                  </a:lnTo>
                  <a:lnTo>
                    <a:pt x="1387792" y="75247"/>
                  </a:lnTo>
                  <a:lnTo>
                    <a:pt x="1402080" y="34290"/>
                  </a:lnTo>
                  <a:lnTo>
                    <a:pt x="1417320" y="8572"/>
                  </a:lnTo>
                  <a:lnTo>
                    <a:pt x="1431607" y="0"/>
                  </a:lnTo>
                  <a:lnTo>
                    <a:pt x="1445895" y="8572"/>
                  </a:lnTo>
                  <a:lnTo>
                    <a:pt x="1460182" y="34290"/>
                  </a:lnTo>
                  <a:lnTo>
                    <a:pt x="1475422" y="75247"/>
                  </a:lnTo>
                  <a:lnTo>
                    <a:pt x="1488757" y="132397"/>
                  </a:lnTo>
                  <a:lnTo>
                    <a:pt x="1503997" y="202882"/>
                  </a:lnTo>
                  <a:lnTo>
                    <a:pt x="1518285" y="285750"/>
                  </a:lnTo>
                  <a:lnTo>
                    <a:pt x="1532572" y="378142"/>
                  </a:lnTo>
                  <a:lnTo>
                    <a:pt x="1546860" y="479107"/>
                  </a:lnTo>
                  <a:lnTo>
                    <a:pt x="1561147" y="584835"/>
                  </a:lnTo>
                  <a:lnTo>
                    <a:pt x="1575435" y="693420"/>
                  </a:lnTo>
                  <a:lnTo>
                    <a:pt x="1590675" y="801052"/>
                  </a:lnTo>
                  <a:lnTo>
                    <a:pt x="1604962" y="906780"/>
                  </a:lnTo>
                  <a:lnTo>
                    <a:pt x="1619250" y="1007745"/>
                  </a:lnTo>
                  <a:lnTo>
                    <a:pt x="1633538" y="1100138"/>
                  </a:lnTo>
                  <a:lnTo>
                    <a:pt x="1647825" y="1183005"/>
                  </a:lnTo>
                  <a:lnTo>
                    <a:pt x="1662112" y="1253490"/>
                  </a:lnTo>
                  <a:lnTo>
                    <a:pt x="1676400" y="1310640"/>
                  </a:lnTo>
                  <a:lnTo>
                    <a:pt x="1691640" y="1351597"/>
                  </a:lnTo>
                  <a:lnTo>
                    <a:pt x="1705928" y="1377315"/>
                  </a:lnTo>
                  <a:lnTo>
                    <a:pt x="1720215" y="1385888"/>
                  </a:lnTo>
                  <a:lnTo>
                    <a:pt x="1734503" y="1377315"/>
                  </a:lnTo>
                  <a:lnTo>
                    <a:pt x="1748790" y="1351597"/>
                  </a:lnTo>
                  <a:lnTo>
                    <a:pt x="1763078" y="1310640"/>
                  </a:lnTo>
                  <a:lnTo>
                    <a:pt x="1778317" y="1253490"/>
                  </a:lnTo>
                  <a:lnTo>
                    <a:pt x="1792605" y="1183005"/>
                  </a:lnTo>
                  <a:lnTo>
                    <a:pt x="1806892" y="1100138"/>
                  </a:lnTo>
                  <a:lnTo>
                    <a:pt x="1821180" y="1007745"/>
                  </a:lnTo>
                  <a:lnTo>
                    <a:pt x="1835467" y="906780"/>
                  </a:lnTo>
                  <a:lnTo>
                    <a:pt x="1849755" y="801052"/>
                  </a:lnTo>
                  <a:lnTo>
                    <a:pt x="1864995" y="693420"/>
                  </a:lnTo>
                  <a:lnTo>
                    <a:pt x="1879282" y="584835"/>
                  </a:lnTo>
                  <a:lnTo>
                    <a:pt x="1893570" y="479107"/>
                  </a:lnTo>
                  <a:lnTo>
                    <a:pt x="1907857" y="378142"/>
                  </a:lnTo>
                  <a:lnTo>
                    <a:pt x="1922145" y="285750"/>
                  </a:lnTo>
                  <a:lnTo>
                    <a:pt x="1936432" y="202882"/>
                  </a:lnTo>
                  <a:lnTo>
                    <a:pt x="1950720" y="132397"/>
                  </a:lnTo>
                  <a:lnTo>
                    <a:pt x="1965960" y="75247"/>
                  </a:lnTo>
                  <a:lnTo>
                    <a:pt x="1980247" y="34290"/>
                  </a:lnTo>
                  <a:lnTo>
                    <a:pt x="1994535" y="8572"/>
                  </a:lnTo>
                  <a:lnTo>
                    <a:pt x="2008822" y="0"/>
                  </a:lnTo>
                  <a:lnTo>
                    <a:pt x="2023110" y="8572"/>
                  </a:lnTo>
                  <a:lnTo>
                    <a:pt x="2037397" y="34290"/>
                  </a:lnTo>
                  <a:lnTo>
                    <a:pt x="2052638" y="75247"/>
                  </a:lnTo>
                  <a:lnTo>
                    <a:pt x="2066925" y="132397"/>
                  </a:lnTo>
                  <a:lnTo>
                    <a:pt x="2081212" y="202882"/>
                  </a:lnTo>
                  <a:lnTo>
                    <a:pt x="2095500" y="285750"/>
                  </a:lnTo>
                  <a:lnTo>
                    <a:pt x="2109788" y="378142"/>
                  </a:lnTo>
                  <a:lnTo>
                    <a:pt x="2124075" y="479107"/>
                  </a:lnTo>
                  <a:lnTo>
                    <a:pt x="2139315" y="584835"/>
                  </a:lnTo>
                  <a:lnTo>
                    <a:pt x="2153602" y="693420"/>
                  </a:lnTo>
                  <a:lnTo>
                    <a:pt x="2167890" y="801052"/>
                  </a:lnTo>
                  <a:lnTo>
                    <a:pt x="2182178" y="906780"/>
                  </a:lnTo>
                  <a:lnTo>
                    <a:pt x="2196465" y="1007745"/>
                  </a:lnTo>
                  <a:lnTo>
                    <a:pt x="2210752" y="1100138"/>
                  </a:lnTo>
                  <a:lnTo>
                    <a:pt x="2225040" y="1183005"/>
                  </a:lnTo>
                  <a:lnTo>
                    <a:pt x="2240280" y="1253490"/>
                  </a:lnTo>
                  <a:lnTo>
                    <a:pt x="2253615" y="1310640"/>
                  </a:lnTo>
                  <a:lnTo>
                    <a:pt x="2268855" y="1351597"/>
                  </a:lnTo>
                  <a:lnTo>
                    <a:pt x="2283142" y="1377315"/>
                  </a:lnTo>
                  <a:lnTo>
                    <a:pt x="2297430" y="1385888"/>
                  </a:lnTo>
                  <a:lnTo>
                    <a:pt x="2311717" y="1377315"/>
                  </a:lnTo>
                  <a:lnTo>
                    <a:pt x="2326957" y="1351597"/>
                  </a:lnTo>
                  <a:lnTo>
                    <a:pt x="2341245" y="1310640"/>
                  </a:lnTo>
                  <a:lnTo>
                    <a:pt x="2355532" y="1253490"/>
                  </a:lnTo>
                  <a:lnTo>
                    <a:pt x="2369820" y="1183005"/>
                  </a:lnTo>
                  <a:lnTo>
                    <a:pt x="2384107" y="1100138"/>
                  </a:lnTo>
                  <a:lnTo>
                    <a:pt x="2398395" y="1007745"/>
                  </a:lnTo>
                  <a:lnTo>
                    <a:pt x="2412682" y="906780"/>
                  </a:lnTo>
                  <a:lnTo>
                    <a:pt x="2427922" y="801052"/>
                  </a:lnTo>
                  <a:lnTo>
                    <a:pt x="2442210" y="693420"/>
                  </a:lnTo>
                  <a:lnTo>
                    <a:pt x="2456498" y="584835"/>
                  </a:lnTo>
                  <a:lnTo>
                    <a:pt x="2470785" y="479107"/>
                  </a:lnTo>
                  <a:lnTo>
                    <a:pt x="2485072" y="378142"/>
                  </a:lnTo>
                  <a:lnTo>
                    <a:pt x="2499360" y="285750"/>
                  </a:lnTo>
                  <a:lnTo>
                    <a:pt x="2514600" y="202882"/>
                  </a:lnTo>
                  <a:lnTo>
                    <a:pt x="2527935" y="132397"/>
                  </a:lnTo>
                  <a:lnTo>
                    <a:pt x="2543175" y="75247"/>
                  </a:lnTo>
                  <a:lnTo>
                    <a:pt x="2557462" y="34290"/>
                  </a:lnTo>
                  <a:lnTo>
                    <a:pt x="2571750" y="8572"/>
                  </a:lnTo>
                  <a:lnTo>
                    <a:pt x="2586038" y="0"/>
                  </a:lnTo>
                  <a:lnTo>
                    <a:pt x="2601278" y="8572"/>
                  </a:lnTo>
                  <a:lnTo>
                    <a:pt x="2615565" y="34290"/>
                  </a:lnTo>
                  <a:lnTo>
                    <a:pt x="2629852" y="75247"/>
                  </a:lnTo>
                  <a:lnTo>
                    <a:pt x="2644140" y="132397"/>
                  </a:lnTo>
                  <a:lnTo>
                    <a:pt x="2658428" y="202882"/>
                  </a:lnTo>
                  <a:lnTo>
                    <a:pt x="2672715" y="285750"/>
                  </a:lnTo>
                  <a:lnTo>
                    <a:pt x="2687002" y="378142"/>
                  </a:lnTo>
                  <a:lnTo>
                    <a:pt x="2702242" y="479107"/>
                  </a:lnTo>
                  <a:lnTo>
                    <a:pt x="2716530" y="584835"/>
                  </a:lnTo>
                  <a:lnTo>
                    <a:pt x="2730817" y="693420"/>
                  </a:lnTo>
                  <a:lnTo>
                    <a:pt x="2745105" y="801052"/>
                  </a:lnTo>
                  <a:lnTo>
                    <a:pt x="2759392" y="906780"/>
                  </a:lnTo>
                  <a:lnTo>
                    <a:pt x="2773680" y="1007745"/>
                  </a:lnTo>
                  <a:lnTo>
                    <a:pt x="2788920" y="1100138"/>
                  </a:lnTo>
                  <a:lnTo>
                    <a:pt x="2802255" y="1183005"/>
                  </a:lnTo>
                  <a:lnTo>
                    <a:pt x="2817495" y="1253490"/>
                  </a:lnTo>
                  <a:lnTo>
                    <a:pt x="2831782" y="1310640"/>
                  </a:lnTo>
                  <a:lnTo>
                    <a:pt x="2846070" y="1351597"/>
                  </a:lnTo>
                  <a:lnTo>
                    <a:pt x="2860357" y="1377315"/>
                  </a:lnTo>
                  <a:lnTo>
                    <a:pt x="2875598" y="1385888"/>
                  </a:lnTo>
                  <a:lnTo>
                    <a:pt x="2888932" y="1377315"/>
                  </a:lnTo>
                  <a:lnTo>
                    <a:pt x="2904172" y="1351597"/>
                  </a:lnTo>
                  <a:lnTo>
                    <a:pt x="2918460" y="1310640"/>
                  </a:lnTo>
                  <a:lnTo>
                    <a:pt x="2932748" y="1253490"/>
                  </a:lnTo>
                  <a:lnTo>
                    <a:pt x="2947035" y="1183005"/>
                  </a:lnTo>
                  <a:lnTo>
                    <a:pt x="2961322" y="1100138"/>
                  </a:lnTo>
                  <a:lnTo>
                    <a:pt x="2976562" y="1007745"/>
                  </a:lnTo>
                  <a:lnTo>
                    <a:pt x="2990850" y="906780"/>
                  </a:lnTo>
                  <a:lnTo>
                    <a:pt x="3005138" y="801052"/>
                  </a:lnTo>
                  <a:lnTo>
                    <a:pt x="3019425" y="693420"/>
                  </a:lnTo>
                  <a:lnTo>
                    <a:pt x="3033712" y="584835"/>
                  </a:lnTo>
                  <a:lnTo>
                    <a:pt x="3048000" y="479107"/>
                  </a:lnTo>
                  <a:lnTo>
                    <a:pt x="3063240" y="378142"/>
                  </a:lnTo>
                  <a:lnTo>
                    <a:pt x="3076575" y="285750"/>
                  </a:lnTo>
                  <a:lnTo>
                    <a:pt x="3091815" y="202882"/>
                  </a:lnTo>
                  <a:lnTo>
                    <a:pt x="3106102" y="132397"/>
                  </a:lnTo>
                  <a:lnTo>
                    <a:pt x="3120390" y="75247"/>
                  </a:lnTo>
                  <a:lnTo>
                    <a:pt x="3134678" y="34290"/>
                  </a:lnTo>
                  <a:lnTo>
                    <a:pt x="3149917" y="8572"/>
                  </a:lnTo>
                  <a:lnTo>
                    <a:pt x="3163252" y="0"/>
                  </a:lnTo>
                  <a:lnTo>
                    <a:pt x="3178492" y="8572"/>
                  </a:lnTo>
                  <a:lnTo>
                    <a:pt x="3192780" y="34290"/>
                  </a:lnTo>
                  <a:lnTo>
                    <a:pt x="3207067" y="75247"/>
                  </a:lnTo>
                  <a:lnTo>
                    <a:pt x="3221355" y="132397"/>
                  </a:lnTo>
                  <a:lnTo>
                    <a:pt x="3235642" y="202882"/>
                  </a:lnTo>
                  <a:lnTo>
                    <a:pt x="3250883" y="285750"/>
                  </a:lnTo>
                  <a:lnTo>
                    <a:pt x="3265170" y="378142"/>
                  </a:lnTo>
                  <a:lnTo>
                    <a:pt x="3279458" y="479107"/>
                  </a:lnTo>
                  <a:lnTo>
                    <a:pt x="3293745" y="584835"/>
                  </a:lnTo>
                  <a:lnTo>
                    <a:pt x="3308033" y="693420"/>
                  </a:lnTo>
                  <a:lnTo>
                    <a:pt x="3322320" y="801052"/>
                  </a:lnTo>
                  <a:lnTo>
                    <a:pt x="3337560" y="906780"/>
                  </a:lnTo>
                  <a:lnTo>
                    <a:pt x="3350895" y="1007745"/>
                  </a:lnTo>
                  <a:lnTo>
                    <a:pt x="3366135" y="1100138"/>
                  </a:lnTo>
                  <a:lnTo>
                    <a:pt x="3380422" y="1183005"/>
                  </a:lnTo>
                  <a:lnTo>
                    <a:pt x="3394710" y="1253490"/>
                  </a:lnTo>
                  <a:lnTo>
                    <a:pt x="3408998" y="1310640"/>
                  </a:lnTo>
                  <a:lnTo>
                    <a:pt x="3424237" y="1351597"/>
                  </a:lnTo>
                  <a:lnTo>
                    <a:pt x="3437572" y="1377315"/>
                  </a:lnTo>
                  <a:lnTo>
                    <a:pt x="3452812" y="1385888"/>
                  </a:lnTo>
                  <a:lnTo>
                    <a:pt x="3467100" y="1377315"/>
                  </a:lnTo>
                  <a:lnTo>
                    <a:pt x="3481387" y="1351597"/>
                  </a:lnTo>
                  <a:lnTo>
                    <a:pt x="3495675" y="1310640"/>
                  </a:lnTo>
                  <a:lnTo>
                    <a:pt x="3509962" y="1253490"/>
                  </a:lnTo>
                  <a:lnTo>
                    <a:pt x="3525202" y="1183005"/>
                  </a:lnTo>
                  <a:lnTo>
                    <a:pt x="3538537" y="1100138"/>
                  </a:lnTo>
                  <a:lnTo>
                    <a:pt x="3553778" y="1007745"/>
                  </a:lnTo>
                  <a:lnTo>
                    <a:pt x="3568065" y="906780"/>
                  </a:lnTo>
                  <a:lnTo>
                    <a:pt x="3582352" y="801052"/>
                  </a:lnTo>
                  <a:lnTo>
                    <a:pt x="3596640" y="693420"/>
                  </a:lnTo>
                  <a:lnTo>
                    <a:pt x="3611880" y="584835"/>
                  </a:lnTo>
                  <a:lnTo>
                    <a:pt x="3625215" y="479107"/>
                  </a:lnTo>
                  <a:lnTo>
                    <a:pt x="3640455" y="378142"/>
                  </a:lnTo>
                  <a:lnTo>
                    <a:pt x="3654742" y="285750"/>
                  </a:lnTo>
                  <a:lnTo>
                    <a:pt x="3669030" y="202882"/>
                  </a:lnTo>
                  <a:lnTo>
                    <a:pt x="3683317" y="132397"/>
                  </a:lnTo>
                  <a:lnTo>
                    <a:pt x="3697605" y="75247"/>
                  </a:lnTo>
                  <a:lnTo>
                    <a:pt x="3711892" y="34290"/>
                  </a:lnTo>
                  <a:lnTo>
                    <a:pt x="3727133" y="8572"/>
                  </a:lnTo>
                  <a:lnTo>
                    <a:pt x="3741420" y="0"/>
                  </a:lnTo>
                  <a:lnTo>
                    <a:pt x="3755708" y="8572"/>
                  </a:lnTo>
                  <a:lnTo>
                    <a:pt x="3769995" y="34290"/>
                  </a:lnTo>
                  <a:lnTo>
                    <a:pt x="3784283" y="75247"/>
                  </a:lnTo>
                  <a:lnTo>
                    <a:pt x="3799522" y="132397"/>
                  </a:lnTo>
                  <a:lnTo>
                    <a:pt x="3812858" y="202882"/>
                  </a:lnTo>
                  <a:lnTo>
                    <a:pt x="3828098" y="285750"/>
                  </a:lnTo>
                  <a:lnTo>
                    <a:pt x="3842385" y="378142"/>
                  </a:lnTo>
                  <a:lnTo>
                    <a:pt x="3856672" y="479107"/>
                  </a:lnTo>
                  <a:lnTo>
                    <a:pt x="3870960" y="584835"/>
                  </a:lnTo>
                  <a:lnTo>
                    <a:pt x="3886200" y="693420"/>
                  </a:lnTo>
                  <a:lnTo>
                    <a:pt x="3899535" y="801052"/>
                  </a:lnTo>
                  <a:lnTo>
                    <a:pt x="3914775" y="906780"/>
                  </a:lnTo>
                  <a:lnTo>
                    <a:pt x="3929062" y="1007745"/>
                  </a:lnTo>
                  <a:lnTo>
                    <a:pt x="3943350" y="1100138"/>
                  </a:lnTo>
                  <a:lnTo>
                    <a:pt x="3957637" y="1183005"/>
                  </a:lnTo>
                  <a:lnTo>
                    <a:pt x="3971925" y="1253490"/>
                  </a:lnTo>
                  <a:lnTo>
                    <a:pt x="3986212" y="1310640"/>
                  </a:lnTo>
                  <a:lnTo>
                    <a:pt x="4001452" y="1351597"/>
                  </a:lnTo>
                  <a:lnTo>
                    <a:pt x="4015740" y="1377315"/>
                  </a:lnTo>
                  <a:lnTo>
                    <a:pt x="4030028" y="1385888"/>
                  </a:lnTo>
                  <a:lnTo>
                    <a:pt x="4044315" y="1377315"/>
                  </a:lnTo>
                  <a:lnTo>
                    <a:pt x="4058602" y="1351597"/>
                  </a:lnTo>
                  <a:lnTo>
                    <a:pt x="4073842" y="1310640"/>
                  </a:lnTo>
                  <a:lnTo>
                    <a:pt x="4087178" y="1253490"/>
                  </a:lnTo>
                  <a:lnTo>
                    <a:pt x="4102417" y="1183005"/>
                  </a:lnTo>
                  <a:lnTo>
                    <a:pt x="4116705" y="1100138"/>
                  </a:lnTo>
                  <a:lnTo>
                    <a:pt x="4130992" y="1007745"/>
                  </a:lnTo>
                  <a:lnTo>
                    <a:pt x="4145280" y="906780"/>
                  </a:lnTo>
                  <a:lnTo>
                    <a:pt x="4160520" y="801052"/>
                  </a:lnTo>
                  <a:lnTo>
                    <a:pt x="4173855" y="693420"/>
                  </a:lnTo>
                  <a:lnTo>
                    <a:pt x="4189095" y="584835"/>
                  </a:lnTo>
                  <a:lnTo>
                    <a:pt x="4203383" y="479107"/>
                  </a:lnTo>
                  <a:lnTo>
                    <a:pt x="4217670" y="378142"/>
                  </a:lnTo>
                  <a:lnTo>
                    <a:pt x="4231958" y="285750"/>
                  </a:lnTo>
                  <a:lnTo>
                    <a:pt x="4246245" y="202882"/>
                  </a:lnTo>
                  <a:lnTo>
                    <a:pt x="4260533" y="132397"/>
                  </a:lnTo>
                  <a:lnTo>
                    <a:pt x="4275772" y="75247"/>
                  </a:lnTo>
                  <a:lnTo>
                    <a:pt x="4290060" y="34290"/>
                  </a:lnTo>
                  <a:lnTo>
                    <a:pt x="4304348" y="8572"/>
                  </a:lnTo>
                  <a:lnTo>
                    <a:pt x="4318635" y="0"/>
                  </a:lnTo>
                  <a:lnTo>
                    <a:pt x="4332922" y="8572"/>
                  </a:lnTo>
                  <a:lnTo>
                    <a:pt x="4348162" y="34290"/>
                  </a:lnTo>
                  <a:lnTo>
                    <a:pt x="4361498" y="75247"/>
                  </a:lnTo>
                  <a:lnTo>
                    <a:pt x="4376737" y="132397"/>
                  </a:lnTo>
                  <a:lnTo>
                    <a:pt x="4391025" y="202882"/>
                  </a:lnTo>
                  <a:lnTo>
                    <a:pt x="4405312" y="285750"/>
                  </a:lnTo>
                  <a:lnTo>
                    <a:pt x="4419600" y="378142"/>
                  </a:lnTo>
                  <a:lnTo>
                    <a:pt x="4434840" y="479107"/>
                  </a:lnTo>
                  <a:lnTo>
                    <a:pt x="4448175" y="584835"/>
                  </a:lnTo>
                  <a:lnTo>
                    <a:pt x="4463415" y="693420"/>
                  </a:lnTo>
                  <a:lnTo>
                    <a:pt x="4477702" y="801052"/>
                  </a:lnTo>
                  <a:lnTo>
                    <a:pt x="4491990" y="906780"/>
                  </a:lnTo>
                  <a:lnTo>
                    <a:pt x="4506278" y="1007745"/>
                  </a:lnTo>
                  <a:lnTo>
                    <a:pt x="4520565" y="1100138"/>
                  </a:lnTo>
                  <a:lnTo>
                    <a:pt x="4534852" y="1183005"/>
                  </a:lnTo>
                  <a:lnTo>
                    <a:pt x="4550092" y="1253490"/>
                  </a:lnTo>
                  <a:lnTo>
                    <a:pt x="4564380" y="1310640"/>
                  </a:lnTo>
                  <a:lnTo>
                    <a:pt x="4578667" y="1351597"/>
                  </a:lnTo>
                  <a:lnTo>
                    <a:pt x="4592955" y="1377315"/>
                  </a:lnTo>
                  <a:lnTo>
                    <a:pt x="4594860" y="1378268"/>
                  </a:lnTo>
                </a:path>
              </a:pathLst>
            </a:custGeom>
            <a:noFill/>
            <a:ln w="19050">
              <a:solidFill>
                <a:srgbClr val="7B3FC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702742" y="1893570"/>
              <a:ext cx="4609147" cy="1384935"/>
            </a:xfrm>
            <a:custGeom>
              <a:avLst/>
              <a:gdLst/>
              <a:ahLst/>
              <a:cxnLst/>
              <a:rect l="l" t="t" r="r" b="b"/>
              <a:pathLst>
                <a:path w="4609147" h="1384935">
                  <a:moveTo>
                    <a:pt x="0" y="1132522"/>
                  </a:moveTo>
                  <a:lnTo>
                    <a:pt x="10477" y="1083945"/>
                  </a:lnTo>
                  <a:lnTo>
                    <a:pt x="24765" y="1016317"/>
                  </a:lnTo>
                  <a:lnTo>
                    <a:pt x="40005" y="943927"/>
                  </a:lnTo>
                  <a:lnTo>
                    <a:pt x="54292" y="869633"/>
                  </a:lnTo>
                  <a:lnTo>
                    <a:pt x="68580" y="791527"/>
                  </a:lnTo>
                  <a:lnTo>
                    <a:pt x="82867" y="712470"/>
                  </a:lnTo>
                  <a:lnTo>
                    <a:pt x="97155" y="633412"/>
                  </a:lnTo>
                  <a:lnTo>
                    <a:pt x="112395" y="555308"/>
                  </a:lnTo>
                  <a:lnTo>
                    <a:pt x="125730" y="479107"/>
                  </a:lnTo>
                  <a:lnTo>
                    <a:pt x="140970" y="404812"/>
                  </a:lnTo>
                  <a:lnTo>
                    <a:pt x="155257" y="335280"/>
                  </a:lnTo>
                  <a:lnTo>
                    <a:pt x="169545" y="269557"/>
                  </a:lnTo>
                  <a:lnTo>
                    <a:pt x="183832" y="209550"/>
                  </a:lnTo>
                  <a:lnTo>
                    <a:pt x="199072" y="156210"/>
                  </a:lnTo>
                  <a:lnTo>
                    <a:pt x="212407" y="109538"/>
                  </a:lnTo>
                  <a:lnTo>
                    <a:pt x="227647" y="71438"/>
                  </a:lnTo>
                  <a:lnTo>
                    <a:pt x="241935" y="40005"/>
                  </a:lnTo>
                  <a:lnTo>
                    <a:pt x="256222" y="18097"/>
                  </a:lnTo>
                  <a:lnTo>
                    <a:pt x="270510" y="4762"/>
                  </a:lnTo>
                  <a:lnTo>
                    <a:pt x="284797" y="0"/>
                  </a:lnTo>
                  <a:lnTo>
                    <a:pt x="299085" y="4762"/>
                  </a:lnTo>
                  <a:lnTo>
                    <a:pt x="314325" y="18097"/>
                  </a:lnTo>
                  <a:lnTo>
                    <a:pt x="328612" y="40005"/>
                  </a:lnTo>
                  <a:lnTo>
                    <a:pt x="342900" y="71438"/>
                  </a:lnTo>
                  <a:lnTo>
                    <a:pt x="357188" y="109538"/>
                  </a:lnTo>
                  <a:lnTo>
                    <a:pt x="371475" y="156210"/>
                  </a:lnTo>
                  <a:lnTo>
                    <a:pt x="386715" y="209550"/>
                  </a:lnTo>
                  <a:lnTo>
                    <a:pt x="400050" y="269557"/>
                  </a:lnTo>
                  <a:lnTo>
                    <a:pt x="415290" y="335280"/>
                  </a:lnTo>
                  <a:lnTo>
                    <a:pt x="429577" y="404812"/>
                  </a:lnTo>
                  <a:lnTo>
                    <a:pt x="443865" y="479107"/>
                  </a:lnTo>
                  <a:lnTo>
                    <a:pt x="458152" y="555308"/>
                  </a:lnTo>
                  <a:lnTo>
                    <a:pt x="473392" y="633412"/>
                  </a:lnTo>
                  <a:lnTo>
                    <a:pt x="486727" y="712470"/>
                  </a:lnTo>
                  <a:lnTo>
                    <a:pt x="501967" y="791527"/>
                  </a:lnTo>
                  <a:lnTo>
                    <a:pt x="516255" y="869633"/>
                  </a:lnTo>
                  <a:lnTo>
                    <a:pt x="530542" y="943927"/>
                  </a:lnTo>
                  <a:lnTo>
                    <a:pt x="544830" y="1016317"/>
                  </a:lnTo>
                  <a:lnTo>
                    <a:pt x="559117" y="1083945"/>
                  </a:lnTo>
                  <a:lnTo>
                    <a:pt x="573405" y="1146810"/>
                  </a:lnTo>
                  <a:lnTo>
                    <a:pt x="588645" y="1203008"/>
                  </a:lnTo>
                  <a:lnTo>
                    <a:pt x="602932" y="1253490"/>
                  </a:lnTo>
                  <a:lnTo>
                    <a:pt x="617220" y="1296352"/>
                  </a:lnTo>
                  <a:lnTo>
                    <a:pt x="631507" y="1331595"/>
                  </a:lnTo>
                  <a:lnTo>
                    <a:pt x="645795" y="1357312"/>
                  </a:lnTo>
                  <a:lnTo>
                    <a:pt x="661035" y="1375410"/>
                  </a:lnTo>
                  <a:lnTo>
                    <a:pt x="674370" y="1384935"/>
                  </a:lnTo>
                  <a:lnTo>
                    <a:pt x="689610" y="1384935"/>
                  </a:lnTo>
                  <a:lnTo>
                    <a:pt x="703897" y="1375410"/>
                  </a:lnTo>
                  <a:lnTo>
                    <a:pt x="718185" y="1357312"/>
                  </a:lnTo>
                  <a:lnTo>
                    <a:pt x="732472" y="1331595"/>
                  </a:lnTo>
                  <a:lnTo>
                    <a:pt x="747712" y="1296352"/>
                  </a:lnTo>
                  <a:lnTo>
                    <a:pt x="761047" y="1253490"/>
                  </a:lnTo>
                  <a:lnTo>
                    <a:pt x="776288" y="1203008"/>
                  </a:lnTo>
                  <a:lnTo>
                    <a:pt x="790575" y="1146810"/>
                  </a:lnTo>
                  <a:lnTo>
                    <a:pt x="804862" y="1083945"/>
                  </a:lnTo>
                  <a:lnTo>
                    <a:pt x="819150" y="1016317"/>
                  </a:lnTo>
                  <a:lnTo>
                    <a:pt x="833438" y="943927"/>
                  </a:lnTo>
                  <a:lnTo>
                    <a:pt x="847725" y="869633"/>
                  </a:lnTo>
                  <a:lnTo>
                    <a:pt x="862965" y="791527"/>
                  </a:lnTo>
                  <a:lnTo>
                    <a:pt x="877252" y="712470"/>
                  </a:lnTo>
                  <a:lnTo>
                    <a:pt x="891540" y="633412"/>
                  </a:lnTo>
                  <a:lnTo>
                    <a:pt x="905827" y="555308"/>
                  </a:lnTo>
                  <a:lnTo>
                    <a:pt x="920115" y="479107"/>
                  </a:lnTo>
                  <a:lnTo>
                    <a:pt x="935355" y="404812"/>
                  </a:lnTo>
                  <a:lnTo>
                    <a:pt x="948690" y="335280"/>
                  </a:lnTo>
                  <a:lnTo>
                    <a:pt x="963930" y="269557"/>
                  </a:lnTo>
                  <a:lnTo>
                    <a:pt x="978217" y="209550"/>
                  </a:lnTo>
                  <a:lnTo>
                    <a:pt x="992505" y="156210"/>
                  </a:lnTo>
                  <a:lnTo>
                    <a:pt x="1006792" y="109538"/>
                  </a:lnTo>
                  <a:lnTo>
                    <a:pt x="1022032" y="71438"/>
                  </a:lnTo>
                  <a:lnTo>
                    <a:pt x="1035367" y="40005"/>
                  </a:lnTo>
                  <a:lnTo>
                    <a:pt x="1050607" y="18097"/>
                  </a:lnTo>
                  <a:lnTo>
                    <a:pt x="1064895" y="4762"/>
                  </a:lnTo>
                  <a:lnTo>
                    <a:pt x="1079182" y="0"/>
                  </a:lnTo>
                  <a:lnTo>
                    <a:pt x="1093470" y="4762"/>
                  </a:lnTo>
                  <a:lnTo>
                    <a:pt x="1107757" y="18097"/>
                  </a:lnTo>
                  <a:lnTo>
                    <a:pt x="1122045" y="40005"/>
                  </a:lnTo>
                  <a:lnTo>
                    <a:pt x="1136332" y="71438"/>
                  </a:lnTo>
                  <a:lnTo>
                    <a:pt x="1151572" y="109538"/>
                  </a:lnTo>
                  <a:lnTo>
                    <a:pt x="1165860" y="156210"/>
                  </a:lnTo>
                  <a:lnTo>
                    <a:pt x="1180147" y="209550"/>
                  </a:lnTo>
                  <a:lnTo>
                    <a:pt x="1194435" y="269557"/>
                  </a:lnTo>
                  <a:lnTo>
                    <a:pt x="1209675" y="335280"/>
                  </a:lnTo>
                  <a:lnTo>
                    <a:pt x="1223010" y="404812"/>
                  </a:lnTo>
                  <a:lnTo>
                    <a:pt x="1238250" y="479107"/>
                  </a:lnTo>
                  <a:lnTo>
                    <a:pt x="1252538" y="555308"/>
                  </a:lnTo>
                  <a:lnTo>
                    <a:pt x="1266825" y="633412"/>
                  </a:lnTo>
                  <a:lnTo>
                    <a:pt x="1281112" y="712470"/>
                  </a:lnTo>
                  <a:lnTo>
                    <a:pt x="1295400" y="791527"/>
                  </a:lnTo>
                  <a:lnTo>
                    <a:pt x="1309688" y="869633"/>
                  </a:lnTo>
                  <a:lnTo>
                    <a:pt x="1324927" y="943927"/>
                  </a:lnTo>
                  <a:lnTo>
                    <a:pt x="1339215" y="1016317"/>
                  </a:lnTo>
                  <a:lnTo>
                    <a:pt x="1353502" y="1083945"/>
                  </a:lnTo>
                  <a:lnTo>
                    <a:pt x="1367790" y="1146810"/>
                  </a:lnTo>
                  <a:lnTo>
                    <a:pt x="1382077" y="1203008"/>
                  </a:lnTo>
                  <a:lnTo>
                    <a:pt x="1396365" y="1253490"/>
                  </a:lnTo>
                  <a:lnTo>
                    <a:pt x="1410652" y="1296352"/>
                  </a:lnTo>
                  <a:lnTo>
                    <a:pt x="1425892" y="1331595"/>
                  </a:lnTo>
                  <a:lnTo>
                    <a:pt x="1440180" y="1357312"/>
                  </a:lnTo>
                  <a:lnTo>
                    <a:pt x="1454467" y="1375410"/>
                  </a:lnTo>
                  <a:lnTo>
                    <a:pt x="1468755" y="1384935"/>
                  </a:lnTo>
                  <a:lnTo>
                    <a:pt x="1483995" y="1384935"/>
                  </a:lnTo>
                  <a:lnTo>
                    <a:pt x="1497330" y="1375410"/>
                  </a:lnTo>
                  <a:lnTo>
                    <a:pt x="1512570" y="1357312"/>
                  </a:lnTo>
                  <a:lnTo>
                    <a:pt x="1526857" y="1331595"/>
                  </a:lnTo>
                  <a:lnTo>
                    <a:pt x="1541145" y="1296352"/>
                  </a:lnTo>
                  <a:lnTo>
                    <a:pt x="1555432" y="1253490"/>
                  </a:lnTo>
                  <a:lnTo>
                    <a:pt x="1569720" y="1203008"/>
                  </a:lnTo>
                  <a:lnTo>
                    <a:pt x="1584007" y="1146810"/>
                  </a:lnTo>
                  <a:lnTo>
                    <a:pt x="1599247" y="1083945"/>
                  </a:lnTo>
                  <a:lnTo>
                    <a:pt x="1613535" y="1016317"/>
                  </a:lnTo>
                  <a:lnTo>
                    <a:pt x="1627822" y="943927"/>
                  </a:lnTo>
                  <a:lnTo>
                    <a:pt x="1642110" y="869633"/>
                  </a:lnTo>
                  <a:lnTo>
                    <a:pt x="1656397" y="791527"/>
                  </a:lnTo>
                  <a:lnTo>
                    <a:pt x="1670685" y="712470"/>
                  </a:lnTo>
                  <a:lnTo>
                    <a:pt x="1684972" y="633412"/>
                  </a:lnTo>
                  <a:lnTo>
                    <a:pt x="1700212" y="555308"/>
                  </a:lnTo>
                  <a:lnTo>
                    <a:pt x="1714500" y="479107"/>
                  </a:lnTo>
                  <a:lnTo>
                    <a:pt x="1728788" y="404812"/>
                  </a:lnTo>
                  <a:lnTo>
                    <a:pt x="1743075" y="335280"/>
                  </a:lnTo>
                  <a:lnTo>
                    <a:pt x="1757362" y="269557"/>
                  </a:lnTo>
                  <a:lnTo>
                    <a:pt x="1771650" y="209550"/>
                  </a:lnTo>
                  <a:lnTo>
                    <a:pt x="1786890" y="156210"/>
                  </a:lnTo>
                  <a:lnTo>
                    <a:pt x="1801177" y="109538"/>
                  </a:lnTo>
                  <a:lnTo>
                    <a:pt x="1815465" y="71438"/>
                  </a:lnTo>
                  <a:lnTo>
                    <a:pt x="1829752" y="40005"/>
                  </a:lnTo>
                  <a:lnTo>
                    <a:pt x="1844040" y="18097"/>
                  </a:lnTo>
                  <a:lnTo>
                    <a:pt x="1858327" y="4762"/>
                  </a:lnTo>
                  <a:lnTo>
                    <a:pt x="1873567" y="0"/>
                  </a:lnTo>
                  <a:lnTo>
                    <a:pt x="1887855" y="4762"/>
                  </a:lnTo>
                  <a:lnTo>
                    <a:pt x="1902142" y="18097"/>
                  </a:lnTo>
                  <a:lnTo>
                    <a:pt x="1916430" y="40005"/>
                  </a:lnTo>
                  <a:lnTo>
                    <a:pt x="1930717" y="71438"/>
                  </a:lnTo>
                  <a:lnTo>
                    <a:pt x="1945005" y="109538"/>
                  </a:lnTo>
                  <a:lnTo>
                    <a:pt x="1959292" y="156210"/>
                  </a:lnTo>
                  <a:lnTo>
                    <a:pt x="1974532" y="209550"/>
                  </a:lnTo>
                  <a:lnTo>
                    <a:pt x="1988820" y="269557"/>
                  </a:lnTo>
                  <a:lnTo>
                    <a:pt x="2003107" y="335280"/>
                  </a:lnTo>
                  <a:lnTo>
                    <a:pt x="2017395" y="404812"/>
                  </a:lnTo>
                  <a:lnTo>
                    <a:pt x="2031682" y="479107"/>
                  </a:lnTo>
                  <a:lnTo>
                    <a:pt x="2045970" y="555308"/>
                  </a:lnTo>
                  <a:lnTo>
                    <a:pt x="2061210" y="633412"/>
                  </a:lnTo>
                  <a:lnTo>
                    <a:pt x="2075497" y="712470"/>
                  </a:lnTo>
                  <a:lnTo>
                    <a:pt x="2089785" y="791527"/>
                  </a:lnTo>
                  <a:lnTo>
                    <a:pt x="2104072" y="869633"/>
                  </a:lnTo>
                  <a:lnTo>
                    <a:pt x="2118360" y="943927"/>
                  </a:lnTo>
                  <a:lnTo>
                    <a:pt x="2132648" y="1016317"/>
                  </a:lnTo>
                  <a:lnTo>
                    <a:pt x="2147888" y="1083945"/>
                  </a:lnTo>
                  <a:lnTo>
                    <a:pt x="2162175" y="1146810"/>
                  </a:lnTo>
                  <a:lnTo>
                    <a:pt x="2176462" y="1203008"/>
                  </a:lnTo>
                  <a:lnTo>
                    <a:pt x="2190750" y="1253490"/>
                  </a:lnTo>
                  <a:lnTo>
                    <a:pt x="2205038" y="1296352"/>
                  </a:lnTo>
                  <a:lnTo>
                    <a:pt x="2219325" y="1331595"/>
                  </a:lnTo>
                  <a:lnTo>
                    <a:pt x="2233612" y="1357312"/>
                  </a:lnTo>
                  <a:lnTo>
                    <a:pt x="2248852" y="1375410"/>
                  </a:lnTo>
                  <a:lnTo>
                    <a:pt x="2262188" y="1384935"/>
                  </a:lnTo>
                  <a:lnTo>
                    <a:pt x="2277427" y="1384935"/>
                  </a:lnTo>
                  <a:lnTo>
                    <a:pt x="2291715" y="1375410"/>
                  </a:lnTo>
                  <a:lnTo>
                    <a:pt x="2306002" y="1357312"/>
                  </a:lnTo>
                  <a:lnTo>
                    <a:pt x="2320290" y="1331595"/>
                  </a:lnTo>
                  <a:lnTo>
                    <a:pt x="2335530" y="1296352"/>
                  </a:lnTo>
                  <a:lnTo>
                    <a:pt x="2349817" y="1253490"/>
                  </a:lnTo>
                  <a:lnTo>
                    <a:pt x="2364105" y="1203008"/>
                  </a:lnTo>
                  <a:lnTo>
                    <a:pt x="2378392" y="1146810"/>
                  </a:lnTo>
                  <a:lnTo>
                    <a:pt x="2392680" y="1083945"/>
                  </a:lnTo>
                  <a:lnTo>
                    <a:pt x="2406967" y="1016317"/>
                  </a:lnTo>
                  <a:lnTo>
                    <a:pt x="2421255" y="943927"/>
                  </a:lnTo>
                  <a:lnTo>
                    <a:pt x="2436495" y="869633"/>
                  </a:lnTo>
                  <a:lnTo>
                    <a:pt x="2450782" y="791527"/>
                  </a:lnTo>
                  <a:lnTo>
                    <a:pt x="2465070" y="712470"/>
                  </a:lnTo>
                  <a:lnTo>
                    <a:pt x="2479357" y="633412"/>
                  </a:lnTo>
                  <a:lnTo>
                    <a:pt x="2493645" y="555308"/>
                  </a:lnTo>
                  <a:lnTo>
                    <a:pt x="2507932" y="479107"/>
                  </a:lnTo>
                  <a:lnTo>
                    <a:pt x="2523172" y="404812"/>
                  </a:lnTo>
                  <a:lnTo>
                    <a:pt x="2536507" y="335280"/>
                  </a:lnTo>
                  <a:lnTo>
                    <a:pt x="2551748" y="269557"/>
                  </a:lnTo>
                  <a:lnTo>
                    <a:pt x="2566035" y="209550"/>
                  </a:lnTo>
                  <a:lnTo>
                    <a:pt x="2580322" y="156210"/>
                  </a:lnTo>
                  <a:lnTo>
                    <a:pt x="2594610" y="109538"/>
                  </a:lnTo>
                  <a:lnTo>
                    <a:pt x="2609850" y="71438"/>
                  </a:lnTo>
                  <a:lnTo>
                    <a:pt x="2624138" y="40005"/>
                  </a:lnTo>
                  <a:lnTo>
                    <a:pt x="2638425" y="18097"/>
                  </a:lnTo>
                  <a:lnTo>
                    <a:pt x="2652712" y="4762"/>
                  </a:lnTo>
                  <a:lnTo>
                    <a:pt x="2667000" y="0"/>
                  </a:lnTo>
                  <a:lnTo>
                    <a:pt x="2681288" y="4762"/>
                  </a:lnTo>
                  <a:lnTo>
                    <a:pt x="2695575" y="18097"/>
                  </a:lnTo>
                  <a:lnTo>
                    <a:pt x="2710815" y="40005"/>
                  </a:lnTo>
                  <a:lnTo>
                    <a:pt x="2725102" y="71438"/>
                  </a:lnTo>
                  <a:lnTo>
                    <a:pt x="2739390" y="109538"/>
                  </a:lnTo>
                  <a:lnTo>
                    <a:pt x="2753677" y="156210"/>
                  </a:lnTo>
                  <a:lnTo>
                    <a:pt x="2767965" y="209550"/>
                  </a:lnTo>
                  <a:lnTo>
                    <a:pt x="2782252" y="269557"/>
                  </a:lnTo>
                  <a:lnTo>
                    <a:pt x="2797492" y="335280"/>
                  </a:lnTo>
                  <a:lnTo>
                    <a:pt x="2810827" y="404812"/>
                  </a:lnTo>
                  <a:lnTo>
                    <a:pt x="2826067" y="479107"/>
                  </a:lnTo>
                  <a:lnTo>
                    <a:pt x="2840355" y="555308"/>
                  </a:lnTo>
                  <a:lnTo>
                    <a:pt x="2854642" y="633412"/>
                  </a:lnTo>
                  <a:lnTo>
                    <a:pt x="2868930" y="712470"/>
                  </a:lnTo>
                  <a:lnTo>
                    <a:pt x="2884170" y="791527"/>
                  </a:lnTo>
                  <a:lnTo>
                    <a:pt x="2897505" y="869633"/>
                  </a:lnTo>
                  <a:lnTo>
                    <a:pt x="2912745" y="943927"/>
                  </a:lnTo>
                  <a:lnTo>
                    <a:pt x="2927032" y="1016317"/>
                  </a:lnTo>
                  <a:lnTo>
                    <a:pt x="2941320" y="1083945"/>
                  </a:lnTo>
                  <a:lnTo>
                    <a:pt x="2955607" y="1146810"/>
                  </a:lnTo>
                  <a:lnTo>
                    <a:pt x="2969895" y="1203008"/>
                  </a:lnTo>
                  <a:lnTo>
                    <a:pt x="2985135" y="1253490"/>
                  </a:lnTo>
                  <a:lnTo>
                    <a:pt x="2999422" y="1296352"/>
                  </a:lnTo>
                  <a:lnTo>
                    <a:pt x="3013710" y="1331595"/>
                  </a:lnTo>
                  <a:lnTo>
                    <a:pt x="3027998" y="1357312"/>
                  </a:lnTo>
                  <a:lnTo>
                    <a:pt x="3042285" y="1375410"/>
                  </a:lnTo>
                  <a:lnTo>
                    <a:pt x="3056572" y="1384935"/>
                  </a:lnTo>
                  <a:lnTo>
                    <a:pt x="3071812" y="1384935"/>
                  </a:lnTo>
                  <a:lnTo>
                    <a:pt x="3085147" y="1375410"/>
                  </a:lnTo>
                  <a:lnTo>
                    <a:pt x="3100388" y="1357312"/>
                  </a:lnTo>
                  <a:lnTo>
                    <a:pt x="3114675" y="1331595"/>
                  </a:lnTo>
                  <a:lnTo>
                    <a:pt x="3128962" y="1296352"/>
                  </a:lnTo>
                  <a:lnTo>
                    <a:pt x="3143250" y="1253490"/>
                  </a:lnTo>
                  <a:lnTo>
                    <a:pt x="3158490" y="1203008"/>
                  </a:lnTo>
                  <a:lnTo>
                    <a:pt x="3171825" y="1146810"/>
                  </a:lnTo>
                  <a:lnTo>
                    <a:pt x="3187065" y="1083945"/>
                  </a:lnTo>
                  <a:lnTo>
                    <a:pt x="3201352" y="1016317"/>
                  </a:lnTo>
                  <a:lnTo>
                    <a:pt x="3215640" y="943927"/>
                  </a:lnTo>
                  <a:lnTo>
                    <a:pt x="3229927" y="869633"/>
                  </a:lnTo>
                  <a:lnTo>
                    <a:pt x="3244215" y="791527"/>
                  </a:lnTo>
                  <a:lnTo>
                    <a:pt x="3259455" y="712470"/>
                  </a:lnTo>
                  <a:lnTo>
                    <a:pt x="3273743" y="633412"/>
                  </a:lnTo>
                  <a:lnTo>
                    <a:pt x="3288030" y="555308"/>
                  </a:lnTo>
                  <a:lnTo>
                    <a:pt x="3302318" y="479107"/>
                  </a:lnTo>
                  <a:lnTo>
                    <a:pt x="3316605" y="404812"/>
                  </a:lnTo>
                  <a:lnTo>
                    <a:pt x="3330893" y="335280"/>
                  </a:lnTo>
                  <a:lnTo>
                    <a:pt x="3346132" y="269557"/>
                  </a:lnTo>
                  <a:lnTo>
                    <a:pt x="3359468" y="209550"/>
                  </a:lnTo>
                  <a:lnTo>
                    <a:pt x="3374707" y="156210"/>
                  </a:lnTo>
                  <a:lnTo>
                    <a:pt x="3388995" y="109538"/>
                  </a:lnTo>
                  <a:lnTo>
                    <a:pt x="3403282" y="71438"/>
                  </a:lnTo>
                  <a:lnTo>
                    <a:pt x="3417570" y="40005"/>
                  </a:lnTo>
                  <a:lnTo>
                    <a:pt x="3432810" y="18097"/>
                  </a:lnTo>
                  <a:lnTo>
                    <a:pt x="3446145" y="4762"/>
                  </a:lnTo>
                  <a:lnTo>
                    <a:pt x="3461385" y="0"/>
                  </a:lnTo>
                  <a:lnTo>
                    <a:pt x="3475672" y="4762"/>
                  </a:lnTo>
                  <a:lnTo>
                    <a:pt x="3489960" y="18097"/>
                  </a:lnTo>
                  <a:lnTo>
                    <a:pt x="3504247" y="40005"/>
                  </a:lnTo>
                  <a:lnTo>
                    <a:pt x="3518535" y="71438"/>
                  </a:lnTo>
                  <a:lnTo>
                    <a:pt x="3533775" y="109538"/>
                  </a:lnTo>
                  <a:lnTo>
                    <a:pt x="3547110" y="156210"/>
                  </a:lnTo>
                  <a:lnTo>
                    <a:pt x="3562350" y="209550"/>
                  </a:lnTo>
                  <a:lnTo>
                    <a:pt x="3576638" y="269557"/>
                  </a:lnTo>
                  <a:lnTo>
                    <a:pt x="3590925" y="335280"/>
                  </a:lnTo>
                  <a:lnTo>
                    <a:pt x="3605212" y="404812"/>
                  </a:lnTo>
                  <a:lnTo>
                    <a:pt x="3620452" y="479107"/>
                  </a:lnTo>
                  <a:lnTo>
                    <a:pt x="3633788" y="555308"/>
                  </a:lnTo>
                  <a:lnTo>
                    <a:pt x="3649027" y="633412"/>
                  </a:lnTo>
                  <a:lnTo>
                    <a:pt x="3663315" y="712470"/>
                  </a:lnTo>
                  <a:lnTo>
                    <a:pt x="3677602" y="791527"/>
                  </a:lnTo>
                  <a:lnTo>
                    <a:pt x="3691890" y="869633"/>
                  </a:lnTo>
                  <a:lnTo>
                    <a:pt x="3706177" y="943927"/>
                  </a:lnTo>
                  <a:lnTo>
                    <a:pt x="3720465" y="1016317"/>
                  </a:lnTo>
                  <a:lnTo>
                    <a:pt x="3735705" y="1083945"/>
                  </a:lnTo>
                  <a:lnTo>
                    <a:pt x="3749993" y="1146810"/>
                  </a:lnTo>
                  <a:lnTo>
                    <a:pt x="3764280" y="1203008"/>
                  </a:lnTo>
                  <a:lnTo>
                    <a:pt x="3778568" y="1253490"/>
                  </a:lnTo>
                  <a:lnTo>
                    <a:pt x="3792855" y="1296352"/>
                  </a:lnTo>
                  <a:lnTo>
                    <a:pt x="3808095" y="1331595"/>
                  </a:lnTo>
                  <a:lnTo>
                    <a:pt x="3821430" y="1357312"/>
                  </a:lnTo>
                  <a:lnTo>
                    <a:pt x="3836670" y="1375410"/>
                  </a:lnTo>
                  <a:lnTo>
                    <a:pt x="3850957" y="1384935"/>
                  </a:lnTo>
                  <a:lnTo>
                    <a:pt x="3865245" y="1384935"/>
                  </a:lnTo>
                  <a:lnTo>
                    <a:pt x="3879532" y="1375410"/>
                  </a:lnTo>
                  <a:lnTo>
                    <a:pt x="3894772" y="1357312"/>
                  </a:lnTo>
                  <a:lnTo>
                    <a:pt x="3908107" y="1331595"/>
                  </a:lnTo>
                  <a:lnTo>
                    <a:pt x="3923347" y="1296352"/>
                  </a:lnTo>
                  <a:lnTo>
                    <a:pt x="3937635" y="1253490"/>
                  </a:lnTo>
                  <a:lnTo>
                    <a:pt x="3951922" y="1203008"/>
                  </a:lnTo>
                  <a:lnTo>
                    <a:pt x="3966210" y="1146810"/>
                  </a:lnTo>
                  <a:lnTo>
                    <a:pt x="3980497" y="1083945"/>
                  </a:lnTo>
                  <a:lnTo>
                    <a:pt x="3994785" y="1016317"/>
                  </a:lnTo>
                  <a:lnTo>
                    <a:pt x="4010025" y="943927"/>
                  </a:lnTo>
                  <a:lnTo>
                    <a:pt x="4024312" y="869633"/>
                  </a:lnTo>
                  <a:lnTo>
                    <a:pt x="4038600" y="791527"/>
                  </a:lnTo>
                  <a:lnTo>
                    <a:pt x="4052888" y="712470"/>
                  </a:lnTo>
                  <a:lnTo>
                    <a:pt x="4067175" y="633412"/>
                  </a:lnTo>
                  <a:lnTo>
                    <a:pt x="4082415" y="555308"/>
                  </a:lnTo>
                  <a:lnTo>
                    <a:pt x="4095750" y="479107"/>
                  </a:lnTo>
                  <a:lnTo>
                    <a:pt x="4110990" y="404812"/>
                  </a:lnTo>
                  <a:lnTo>
                    <a:pt x="4125277" y="335280"/>
                  </a:lnTo>
                  <a:lnTo>
                    <a:pt x="4139565" y="269557"/>
                  </a:lnTo>
                  <a:lnTo>
                    <a:pt x="4153852" y="209550"/>
                  </a:lnTo>
                  <a:lnTo>
                    <a:pt x="4169093" y="156210"/>
                  </a:lnTo>
                  <a:lnTo>
                    <a:pt x="4182427" y="109538"/>
                  </a:lnTo>
                  <a:lnTo>
                    <a:pt x="4197668" y="71438"/>
                  </a:lnTo>
                  <a:lnTo>
                    <a:pt x="4211955" y="40005"/>
                  </a:lnTo>
                  <a:lnTo>
                    <a:pt x="4226242" y="18097"/>
                  </a:lnTo>
                  <a:lnTo>
                    <a:pt x="4240530" y="4762"/>
                  </a:lnTo>
                  <a:lnTo>
                    <a:pt x="4254818" y="0"/>
                  </a:lnTo>
                  <a:lnTo>
                    <a:pt x="4269105" y="4762"/>
                  </a:lnTo>
                  <a:lnTo>
                    <a:pt x="4284345" y="18097"/>
                  </a:lnTo>
                  <a:lnTo>
                    <a:pt x="4298632" y="40005"/>
                  </a:lnTo>
                  <a:lnTo>
                    <a:pt x="4312920" y="71438"/>
                  </a:lnTo>
                  <a:lnTo>
                    <a:pt x="4327208" y="109538"/>
                  </a:lnTo>
                  <a:lnTo>
                    <a:pt x="4341495" y="156210"/>
                  </a:lnTo>
                  <a:lnTo>
                    <a:pt x="4356735" y="209550"/>
                  </a:lnTo>
                  <a:lnTo>
                    <a:pt x="4370070" y="269557"/>
                  </a:lnTo>
                  <a:lnTo>
                    <a:pt x="4385310" y="335280"/>
                  </a:lnTo>
                  <a:lnTo>
                    <a:pt x="4399597" y="404812"/>
                  </a:lnTo>
                  <a:lnTo>
                    <a:pt x="4413885" y="479107"/>
                  </a:lnTo>
                  <a:lnTo>
                    <a:pt x="4428172" y="555308"/>
                  </a:lnTo>
                  <a:lnTo>
                    <a:pt x="4443412" y="633412"/>
                  </a:lnTo>
                  <a:lnTo>
                    <a:pt x="4456747" y="712470"/>
                  </a:lnTo>
                  <a:lnTo>
                    <a:pt x="4471988" y="791527"/>
                  </a:lnTo>
                  <a:lnTo>
                    <a:pt x="4486275" y="869633"/>
                  </a:lnTo>
                  <a:lnTo>
                    <a:pt x="4500562" y="943927"/>
                  </a:lnTo>
                  <a:lnTo>
                    <a:pt x="4514850" y="1016317"/>
                  </a:lnTo>
                  <a:lnTo>
                    <a:pt x="4529138" y="1083945"/>
                  </a:lnTo>
                  <a:lnTo>
                    <a:pt x="4543425" y="1146810"/>
                  </a:lnTo>
                  <a:lnTo>
                    <a:pt x="4558665" y="1203008"/>
                  </a:lnTo>
                  <a:lnTo>
                    <a:pt x="4572952" y="1253490"/>
                  </a:lnTo>
                  <a:lnTo>
                    <a:pt x="4587240" y="1296352"/>
                  </a:lnTo>
                  <a:lnTo>
                    <a:pt x="4601527" y="1331595"/>
                  </a:lnTo>
                  <a:lnTo>
                    <a:pt x="4609147" y="1344930"/>
                  </a:lnTo>
                </a:path>
              </a:pathLst>
            </a:custGeom>
            <a:noFill/>
            <a:ln w="19050">
              <a:solidFill>
                <a:srgbClr val="2E9A3E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702742" y="1893570"/>
              <a:ext cx="4608195" cy="1385888"/>
            </a:xfrm>
            <a:custGeom>
              <a:avLst/>
              <a:gdLst/>
              <a:ahLst/>
              <a:cxnLst/>
              <a:rect l="l" t="t" r="r" b="b"/>
              <a:pathLst>
                <a:path w="4608195" h="1385888">
                  <a:moveTo>
                    <a:pt x="0" y="736283"/>
                  </a:moveTo>
                  <a:lnTo>
                    <a:pt x="10477" y="693420"/>
                  </a:lnTo>
                  <a:lnTo>
                    <a:pt x="24765" y="635317"/>
                  </a:lnTo>
                  <a:lnTo>
                    <a:pt x="40005" y="579120"/>
                  </a:lnTo>
                  <a:lnTo>
                    <a:pt x="54292" y="522922"/>
                  </a:lnTo>
                  <a:lnTo>
                    <a:pt x="68580" y="467677"/>
                  </a:lnTo>
                  <a:lnTo>
                    <a:pt x="82867" y="414338"/>
                  </a:lnTo>
                  <a:lnTo>
                    <a:pt x="97155" y="362902"/>
                  </a:lnTo>
                  <a:lnTo>
                    <a:pt x="112395" y="314325"/>
                  </a:lnTo>
                  <a:lnTo>
                    <a:pt x="125730" y="267652"/>
                  </a:lnTo>
                  <a:lnTo>
                    <a:pt x="140970" y="223838"/>
                  </a:lnTo>
                  <a:lnTo>
                    <a:pt x="155257" y="182880"/>
                  </a:lnTo>
                  <a:lnTo>
                    <a:pt x="169545" y="146685"/>
                  </a:lnTo>
                  <a:lnTo>
                    <a:pt x="183832" y="113347"/>
                  </a:lnTo>
                  <a:lnTo>
                    <a:pt x="199072" y="83820"/>
                  </a:lnTo>
                  <a:lnTo>
                    <a:pt x="212407" y="58102"/>
                  </a:lnTo>
                  <a:lnTo>
                    <a:pt x="227647" y="38100"/>
                  </a:lnTo>
                  <a:lnTo>
                    <a:pt x="241935" y="20955"/>
                  </a:lnTo>
                  <a:lnTo>
                    <a:pt x="256222" y="9525"/>
                  </a:lnTo>
                  <a:lnTo>
                    <a:pt x="270510" y="1905"/>
                  </a:lnTo>
                  <a:lnTo>
                    <a:pt x="284797" y="0"/>
                  </a:lnTo>
                  <a:lnTo>
                    <a:pt x="299085" y="1905"/>
                  </a:lnTo>
                  <a:lnTo>
                    <a:pt x="314325" y="9525"/>
                  </a:lnTo>
                  <a:lnTo>
                    <a:pt x="328612" y="20955"/>
                  </a:lnTo>
                  <a:lnTo>
                    <a:pt x="342900" y="38100"/>
                  </a:lnTo>
                  <a:lnTo>
                    <a:pt x="357188" y="58102"/>
                  </a:lnTo>
                  <a:lnTo>
                    <a:pt x="371475" y="83820"/>
                  </a:lnTo>
                  <a:lnTo>
                    <a:pt x="386715" y="113347"/>
                  </a:lnTo>
                  <a:lnTo>
                    <a:pt x="400050" y="146685"/>
                  </a:lnTo>
                  <a:lnTo>
                    <a:pt x="415290" y="182880"/>
                  </a:lnTo>
                  <a:lnTo>
                    <a:pt x="429577" y="223838"/>
                  </a:lnTo>
                  <a:lnTo>
                    <a:pt x="443865" y="267652"/>
                  </a:lnTo>
                  <a:lnTo>
                    <a:pt x="458152" y="314325"/>
                  </a:lnTo>
                  <a:lnTo>
                    <a:pt x="473392" y="362902"/>
                  </a:lnTo>
                  <a:lnTo>
                    <a:pt x="486727" y="414338"/>
                  </a:lnTo>
                  <a:lnTo>
                    <a:pt x="501967" y="467677"/>
                  </a:lnTo>
                  <a:lnTo>
                    <a:pt x="516255" y="522922"/>
                  </a:lnTo>
                  <a:lnTo>
                    <a:pt x="530542" y="579120"/>
                  </a:lnTo>
                  <a:lnTo>
                    <a:pt x="544830" y="635317"/>
                  </a:lnTo>
                  <a:lnTo>
                    <a:pt x="559117" y="693420"/>
                  </a:lnTo>
                  <a:lnTo>
                    <a:pt x="573405" y="750570"/>
                  </a:lnTo>
                  <a:lnTo>
                    <a:pt x="588645" y="806767"/>
                  </a:lnTo>
                  <a:lnTo>
                    <a:pt x="602932" y="862965"/>
                  </a:lnTo>
                  <a:lnTo>
                    <a:pt x="617220" y="918210"/>
                  </a:lnTo>
                  <a:lnTo>
                    <a:pt x="631507" y="971550"/>
                  </a:lnTo>
                  <a:lnTo>
                    <a:pt x="645795" y="1022985"/>
                  </a:lnTo>
                  <a:lnTo>
                    <a:pt x="661035" y="1071562"/>
                  </a:lnTo>
                  <a:lnTo>
                    <a:pt x="674370" y="1118235"/>
                  </a:lnTo>
                  <a:lnTo>
                    <a:pt x="689610" y="1162050"/>
                  </a:lnTo>
                  <a:lnTo>
                    <a:pt x="703897" y="1203008"/>
                  </a:lnTo>
                  <a:lnTo>
                    <a:pt x="718185" y="1239202"/>
                  </a:lnTo>
                  <a:lnTo>
                    <a:pt x="732472" y="1272540"/>
                  </a:lnTo>
                  <a:lnTo>
                    <a:pt x="747712" y="1302068"/>
                  </a:lnTo>
                  <a:lnTo>
                    <a:pt x="761047" y="1327785"/>
                  </a:lnTo>
                  <a:lnTo>
                    <a:pt x="776288" y="1347788"/>
                  </a:lnTo>
                  <a:lnTo>
                    <a:pt x="790575" y="1364932"/>
                  </a:lnTo>
                  <a:lnTo>
                    <a:pt x="804862" y="1376362"/>
                  </a:lnTo>
                  <a:lnTo>
                    <a:pt x="819150" y="1383982"/>
                  </a:lnTo>
                  <a:lnTo>
                    <a:pt x="833438" y="1385888"/>
                  </a:lnTo>
                  <a:lnTo>
                    <a:pt x="847725" y="1383982"/>
                  </a:lnTo>
                  <a:lnTo>
                    <a:pt x="862965" y="1376362"/>
                  </a:lnTo>
                  <a:lnTo>
                    <a:pt x="877252" y="1364932"/>
                  </a:lnTo>
                  <a:lnTo>
                    <a:pt x="891540" y="1347788"/>
                  </a:lnTo>
                  <a:lnTo>
                    <a:pt x="905827" y="1327785"/>
                  </a:lnTo>
                  <a:lnTo>
                    <a:pt x="920115" y="1302068"/>
                  </a:lnTo>
                  <a:lnTo>
                    <a:pt x="935355" y="1272540"/>
                  </a:lnTo>
                  <a:lnTo>
                    <a:pt x="948690" y="1239202"/>
                  </a:lnTo>
                  <a:lnTo>
                    <a:pt x="963930" y="1203008"/>
                  </a:lnTo>
                  <a:lnTo>
                    <a:pt x="978217" y="1162050"/>
                  </a:lnTo>
                  <a:lnTo>
                    <a:pt x="992505" y="1118235"/>
                  </a:lnTo>
                  <a:lnTo>
                    <a:pt x="1006792" y="1071562"/>
                  </a:lnTo>
                  <a:lnTo>
                    <a:pt x="1022032" y="1022985"/>
                  </a:lnTo>
                  <a:lnTo>
                    <a:pt x="1035367" y="971550"/>
                  </a:lnTo>
                  <a:lnTo>
                    <a:pt x="1050607" y="918210"/>
                  </a:lnTo>
                  <a:lnTo>
                    <a:pt x="1064895" y="862965"/>
                  </a:lnTo>
                  <a:lnTo>
                    <a:pt x="1079182" y="806767"/>
                  </a:lnTo>
                  <a:lnTo>
                    <a:pt x="1093470" y="750570"/>
                  </a:lnTo>
                  <a:lnTo>
                    <a:pt x="1107757" y="693420"/>
                  </a:lnTo>
                  <a:lnTo>
                    <a:pt x="1122045" y="635317"/>
                  </a:lnTo>
                  <a:lnTo>
                    <a:pt x="1136332" y="579120"/>
                  </a:lnTo>
                  <a:lnTo>
                    <a:pt x="1151572" y="522922"/>
                  </a:lnTo>
                  <a:lnTo>
                    <a:pt x="1165860" y="467677"/>
                  </a:lnTo>
                  <a:lnTo>
                    <a:pt x="1180147" y="414338"/>
                  </a:lnTo>
                  <a:lnTo>
                    <a:pt x="1194435" y="362902"/>
                  </a:lnTo>
                  <a:lnTo>
                    <a:pt x="1209675" y="314325"/>
                  </a:lnTo>
                  <a:lnTo>
                    <a:pt x="1223010" y="267652"/>
                  </a:lnTo>
                  <a:lnTo>
                    <a:pt x="1238250" y="223838"/>
                  </a:lnTo>
                  <a:lnTo>
                    <a:pt x="1252538" y="182880"/>
                  </a:lnTo>
                  <a:lnTo>
                    <a:pt x="1266825" y="146685"/>
                  </a:lnTo>
                  <a:lnTo>
                    <a:pt x="1281112" y="113347"/>
                  </a:lnTo>
                  <a:lnTo>
                    <a:pt x="1295400" y="83820"/>
                  </a:lnTo>
                  <a:lnTo>
                    <a:pt x="1309688" y="58102"/>
                  </a:lnTo>
                  <a:lnTo>
                    <a:pt x="1324927" y="38100"/>
                  </a:lnTo>
                  <a:lnTo>
                    <a:pt x="1339215" y="20955"/>
                  </a:lnTo>
                  <a:lnTo>
                    <a:pt x="1353502" y="9525"/>
                  </a:lnTo>
                  <a:lnTo>
                    <a:pt x="1367790" y="1905"/>
                  </a:lnTo>
                  <a:lnTo>
                    <a:pt x="1382077" y="0"/>
                  </a:lnTo>
                  <a:lnTo>
                    <a:pt x="1396365" y="1905"/>
                  </a:lnTo>
                  <a:lnTo>
                    <a:pt x="1410652" y="9525"/>
                  </a:lnTo>
                  <a:lnTo>
                    <a:pt x="1425892" y="20955"/>
                  </a:lnTo>
                  <a:lnTo>
                    <a:pt x="1440180" y="38100"/>
                  </a:lnTo>
                  <a:lnTo>
                    <a:pt x="1454467" y="58102"/>
                  </a:lnTo>
                  <a:lnTo>
                    <a:pt x="1468755" y="83820"/>
                  </a:lnTo>
                  <a:lnTo>
                    <a:pt x="1483995" y="113347"/>
                  </a:lnTo>
                  <a:lnTo>
                    <a:pt x="1497330" y="146685"/>
                  </a:lnTo>
                  <a:lnTo>
                    <a:pt x="1512570" y="182880"/>
                  </a:lnTo>
                  <a:lnTo>
                    <a:pt x="1526857" y="223838"/>
                  </a:lnTo>
                  <a:lnTo>
                    <a:pt x="1541145" y="267652"/>
                  </a:lnTo>
                  <a:lnTo>
                    <a:pt x="1555432" y="314325"/>
                  </a:lnTo>
                  <a:lnTo>
                    <a:pt x="1569720" y="362902"/>
                  </a:lnTo>
                  <a:lnTo>
                    <a:pt x="1584007" y="414338"/>
                  </a:lnTo>
                  <a:lnTo>
                    <a:pt x="1599247" y="467677"/>
                  </a:lnTo>
                  <a:lnTo>
                    <a:pt x="1613535" y="522922"/>
                  </a:lnTo>
                  <a:lnTo>
                    <a:pt x="1627822" y="579120"/>
                  </a:lnTo>
                  <a:lnTo>
                    <a:pt x="1642110" y="635317"/>
                  </a:lnTo>
                  <a:lnTo>
                    <a:pt x="1656397" y="693420"/>
                  </a:lnTo>
                  <a:lnTo>
                    <a:pt x="1670685" y="750570"/>
                  </a:lnTo>
                  <a:lnTo>
                    <a:pt x="1684972" y="806767"/>
                  </a:lnTo>
                  <a:lnTo>
                    <a:pt x="1700212" y="862965"/>
                  </a:lnTo>
                  <a:lnTo>
                    <a:pt x="1714500" y="918210"/>
                  </a:lnTo>
                  <a:lnTo>
                    <a:pt x="1728788" y="971550"/>
                  </a:lnTo>
                  <a:lnTo>
                    <a:pt x="1743075" y="1022985"/>
                  </a:lnTo>
                  <a:lnTo>
                    <a:pt x="1757362" y="1071562"/>
                  </a:lnTo>
                  <a:lnTo>
                    <a:pt x="1771650" y="1118235"/>
                  </a:lnTo>
                  <a:lnTo>
                    <a:pt x="1786890" y="1162050"/>
                  </a:lnTo>
                  <a:lnTo>
                    <a:pt x="1801177" y="1203008"/>
                  </a:lnTo>
                  <a:lnTo>
                    <a:pt x="1815465" y="1239202"/>
                  </a:lnTo>
                  <a:lnTo>
                    <a:pt x="1829752" y="1272540"/>
                  </a:lnTo>
                  <a:lnTo>
                    <a:pt x="1844040" y="1302068"/>
                  </a:lnTo>
                  <a:lnTo>
                    <a:pt x="1858327" y="1327785"/>
                  </a:lnTo>
                  <a:lnTo>
                    <a:pt x="1873567" y="1347788"/>
                  </a:lnTo>
                  <a:lnTo>
                    <a:pt x="1887855" y="1364932"/>
                  </a:lnTo>
                  <a:lnTo>
                    <a:pt x="1902142" y="1376362"/>
                  </a:lnTo>
                  <a:lnTo>
                    <a:pt x="1916430" y="1383982"/>
                  </a:lnTo>
                  <a:lnTo>
                    <a:pt x="1930717" y="1385888"/>
                  </a:lnTo>
                  <a:lnTo>
                    <a:pt x="1945005" y="1383982"/>
                  </a:lnTo>
                  <a:lnTo>
                    <a:pt x="1959292" y="1376362"/>
                  </a:lnTo>
                  <a:lnTo>
                    <a:pt x="1974532" y="1364932"/>
                  </a:lnTo>
                  <a:lnTo>
                    <a:pt x="1988820" y="1347788"/>
                  </a:lnTo>
                  <a:lnTo>
                    <a:pt x="2003107" y="1327785"/>
                  </a:lnTo>
                  <a:lnTo>
                    <a:pt x="2017395" y="1302068"/>
                  </a:lnTo>
                  <a:lnTo>
                    <a:pt x="2031682" y="1272540"/>
                  </a:lnTo>
                  <a:lnTo>
                    <a:pt x="2045970" y="1239202"/>
                  </a:lnTo>
                  <a:lnTo>
                    <a:pt x="2061210" y="1203008"/>
                  </a:lnTo>
                  <a:lnTo>
                    <a:pt x="2075497" y="1162050"/>
                  </a:lnTo>
                  <a:lnTo>
                    <a:pt x="2089785" y="1118235"/>
                  </a:lnTo>
                  <a:lnTo>
                    <a:pt x="2104072" y="1071562"/>
                  </a:lnTo>
                  <a:lnTo>
                    <a:pt x="2118360" y="1022985"/>
                  </a:lnTo>
                  <a:lnTo>
                    <a:pt x="2132648" y="971550"/>
                  </a:lnTo>
                  <a:lnTo>
                    <a:pt x="2147888" y="918210"/>
                  </a:lnTo>
                  <a:lnTo>
                    <a:pt x="2162175" y="862965"/>
                  </a:lnTo>
                  <a:lnTo>
                    <a:pt x="2176462" y="806767"/>
                  </a:lnTo>
                  <a:lnTo>
                    <a:pt x="2190750" y="750570"/>
                  </a:lnTo>
                  <a:lnTo>
                    <a:pt x="2205038" y="693420"/>
                  </a:lnTo>
                  <a:lnTo>
                    <a:pt x="2219325" y="635317"/>
                  </a:lnTo>
                  <a:lnTo>
                    <a:pt x="2233612" y="579120"/>
                  </a:lnTo>
                  <a:lnTo>
                    <a:pt x="2248852" y="522922"/>
                  </a:lnTo>
                  <a:lnTo>
                    <a:pt x="2262188" y="467677"/>
                  </a:lnTo>
                  <a:lnTo>
                    <a:pt x="2277427" y="414338"/>
                  </a:lnTo>
                  <a:lnTo>
                    <a:pt x="2291715" y="362902"/>
                  </a:lnTo>
                  <a:lnTo>
                    <a:pt x="2306002" y="314325"/>
                  </a:lnTo>
                  <a:lnTo>
                    <a:pt x="2320290" y="267652"/>
                  </a:lnTo>
                  <a:lnTo>
                    <a:pt x="2335530" y="223838"/>
                  </a:lnTo>
                  <a:lnTo>
                    <a:pt x="2349817" y="182880"/>
                  </a:lnTo>
                  <a:lnTo>
                    <a:pt x="2364105" y="146685"/>
                  </a:lnTo>
                  <a:lnTo>
                    <a:pt x="2378392" y="113347"/>
                  </a:lnTo>
                  <a:lnTo>
                    <a:pt x="2392680" y="83820"/>
                  </a:lnTo>
                  <a:lnTo>
                    <a:pt x="2406967" y="58102"/>
                  </a:lnTo>
                  <a:lnTo>
                    <a:pt x="2421255" y="38100"/>
                  </a:lnTo>
                  <a:lnTo>
                    <a:pt x="2436495" y="20955"/>
                  </a:lnTo>
                  <a:lnTo>
                    <a:pt x="2450782" y="9525"/>
                  </a:lnTo>
                  <a:lnTo>
                    <a:pt x="2465070" y="1905"/>
                  </a:lnTo>
                  <a:lnTo>
                    <a:pt x="2479357" y="0"/>
                  </a:lnTo>
                  <a:lnTo>
                    <a:pt x="2493645" y="1905"/>
                  </a:lnTo>
                  <a:lnTo>
                    <a:pt x="2507932" y="9525"/>
                  </a:lnTo>
                  <a:lnTo>
                    <a:pt x="2523172" y="20955"/>
                  </a:lnTo>
                  <a:lnTo>
                    <a:pt x="2536507" y="38100"/>
                  </a:lnTo>
                  <a:lnTo>
                    <a:pt x="2551748" y="58102"/>
                  </a:lnTo>
                  <a:lnTo>
                    <a:pt x="2566035" y="83820"/>
                  </a:lnTo>
                  <a:lnTo>
                    <a:pt x="2580322" y="113347"/>
                  </a:lnTo>
                  <a:lnTo>
                    <a:pt x="2594610" y="146685"/>
                  </a:lnTo>
                  <a:lnTo>
                    <a:pt x="2609850" y="182880"/>
                  </a:lnTo>
                  <a:lnTo>
                    <a:pt x="2624138" y="223838"/>
                  </a:lnTo>
                  <a:lnTo>
                    <a:pt x="2638425" y="267652"/>
                  </a:lnTo>
                  <a:lnTo>
                    <a:pt x="2652712" y="314325"/>
                  </a:lnTo>
                  <a:lnTo>
                    <a:pt x="2667000" y="362902"/>
                  </a:lnTo>
                  <a:lnTo>
                    <a:pt x="2681288" y="414338"/>
                  </a:lnTo>
                  <a:lnTo>
                    <a:pt x="2695575" y="467677"/>
                  </a:lnTo>
                  <a:lnTo>
                    <a:pt x="2710815" y="522922"/>
                  </a:lnTo>
                  <a:lnTo>
                    <a:pt x="2725102" y="579120"/>
                  </a:lnTo>
                  <a:lnTo>
                    <a:pt x="2739390" y="635317"/>
                  </a:lnTo>
                  <a:lnTo>
                    <a:pt x="2753677" y="693420"/>
                  </a:lnTo>
                  <a:lnTo>
                    <a:pt x="2767965" y="750570"/>
                  </a:lnTo>
                  <a:lnTo>
                    <a:pt x="2782252" y="806767"/>
                  </a:lnTo>
                  <a:lnTo>
                    <a:pt x="2797492" y="862965"/>
                  </a:lnTo>
                  <a:lnTo>
                    <a:pt x="2810827" y="918210"/>
                  </a:lnTo>
                  <a:lnTo>
                    <a:pt x="2826067" y="971550"/>
                  </a:lnTo>
                  <a:lnTo>
                    <a:pt x="2840355" y="1022985"/>
                  </a:lnTo>
                  <a:lnTo>
                    <a:pt x="2854642" y="1071562"/>
                  </a:lnTo>
                  <a:lnTo>
                    <a:pt x="2868930" y="1118235"/>
                  </a:lnTo>
                  <a:lnTo>
                    <a:pt x="2884170" y="1162050"/>
                  </a:lnTo>
                  <a:lnTo>
                    <a:pt x="2897505" y="1203008"/>
                  </a:lnTo>
                  <a:lnTo>
                    <a:pt x="2912745" y="1239202"/>
                  </a:lnTo>
                  <a:lnTo>
                    <a:pt x="2927032" y="1272540"/>
                  </a:lnTo>
                  <a:lnTo>
                    <a:pt x="2941320" y="1302068"/>
                  </a:lnTo>
                  <a:lnTo>
                    <a:pt x="2955607" y="1327785"/>
                  </a:lnTo>
                  <a:lnTo>
                    <a:pt x="2969895" y="1347788"/>
                  </a:lnTo>
                  <a:lnTo>
                    <a:pt x="2985135" y="1364932"/>
                  </a:lnTo>
                  <a:lnTo>
                    <a:pt x="2999422" y="1376362"/>
                  </a:lnTo>
                  <a:lnTo>
                    <a:pt x="3013710" y="1383982"/>
                  </a:lnTo>
                  <a:lnTo>
                    <a:pt x="3027998" y="1385888"/>
                  </a:lnTo>
                  <a:lnTo>
                    <a:pt x="3042285" y="1383982"/>
                  </a:lnTo>
                  <a:lnTo>
                    <a:pt x="3056572" y="1376362"/>
                  </a:lnTo>
                  <a:lnTo>
                    <a:pt x="3071812" y="1364932"/>
                  </a:lnTo>
                  <a:lnTo>
                    <a:pt x="3085147" y="1347788"/>
                  </a:lnTo>
                  <a:lnTo>
                    <a:pt x="3100388" y="1327785"/>
                  </a:lnTo>
                  <a:lnTo>
                    <a:pt x="3114675" y="1302068"/>
                  </a:lnTo>
                  <a:lnTo>
                    <a:pt x="3128962" y="1272540"/>
                  </a:lnTo>
                  <a:lnTo>
                    <a:pt x="3143250" y="1239202"/>
                  </a:lnTo>
                  <a:lnTo>
                    <a:pt x="3158490" y="1203008"/>
                  </a:lnTo>
                  <a:lnTo>
                    <a:pt x="3171825" y="1162050"/>
                  </a:lnTo>
                  <a:lnTo>
                    <a:pt x="3187065" y="1118235"/>
                  </a:lnTo>
                  <a:lnTo>
                    <a:pt x="3201352" y="1071562"/>
                  </a:lnTo>
                  <a:lnTo>
                    <a:pt x="3215640" y="1022985"/>
                  </a:lnTo>
                  <a:lnTo>
                    <a:pt x="3229927" y="971550"/>
                  </a:lnTo>
                  <a:lnTo>
                    <a:pt x="3244215" y="918210"/>
                  </a:lnTo>
                  <a:lnTo>
                    <a:pt x="3259455" y="862965"/>
                  </a:lnTo>
                  <a:lnTo>
                    <a:pt x="3273743" y="806767"/>
                  </a:lnTo>
                  <a:lnTo>
                    <a:pt x="3288030" y="750570"/>
                  </a:lnTo>
                  <a:lnTo>
                    <a:pt x="3302318" y="693420"/>
                  </a:lnTo>
                  <a:lnTo>
                    <a:pt x="3316605" y="635317"/>
                  </a:lnTo>
                  <a:lnTo>
                    <a:pt x="3330893" y="579120"/>
                  </a:lnTo>
                  <a:lnTo>
                    <a:pt x="3346132" y="522922"/>
                  </a:lnTo>
                  <a:lnTo>
                    <a:pt x="3359468" y="467677"/>
                  </a:lnTo>
                  <a:lnTo>
                    <a:pt x="3374707" y="414338"/>
                  </a:lnTo>
                  <a:lnTo>
                    <a:pt x="3388995" y="362902"/>
                  </a:lnTo>
                  <a:lnTo>
                    <a:pt x="3403282" y="314325"/>
                  </a:lnTo>
                  <a:lnTo>
                    <a:pt x="3417570" y="267652"/>
                  </a:lnTo>
                  <a:lnTo>
                    <a:pt x="3432810" y="223838"/>
                  </a:lnTo>
                  <a:lnTo>
                    <a:pt x="3446145" y="182880"/>
                  </a:lnTo>
                  <a:lnTo>
                    <a:pt x="3461385" y="146685"/>
                  </a:lnTo>
                  <a:lnTo>
                    <a:pt x="3475672" y="113347"/>
                  </a:lnTo>
                  <a:lnTo>
                    <a:pt x="3489960" y="83820"/>
                  </a:lnTo>
                  <a:lnTo>
                    <a:pt x="3504247" y="58102"/>
                  </a:lnTo>
                  <a:lnTo>
                    <a:pt x="3518535" y="38100"/>
                  </a:lnTo>
                  <a:lnTo>
                    <a:pt x="3533775" y="20955"/>
                  </a:lnTo>
                  <a:lnTo>
                    <a:pt x="3547110" y="9525"/>
                  </a:lnTo>
                  <a:lnTo>
                    <a:pt x="3562350" y="1905"/>
                  </a:lnTo>
                  <a:lnTo>
                    <a:pt x="3576638" y="0"/>
                  </a:lnTo>
                  <a:lnTo>
                    <a:pt x="3590925" y="1905"/>
                  </a:lnTo>
                  <a:lnTo>
                    <a:pt x="3605212" y="9525"/>
                  </a:lnTo>
                  <a:lnTo>
                    <a:pt x="3620452" y="20955"/>
                  </a:lnTo>
                  <a:lnTo>
                    <a:pt x="3633788" y="38100"/>
                  </a:lnTo>
                  <a:lnTo>
                    <a:pt x="3649027" y="58102"/>
                  </a:lnTo>
                  <a:lnTo>
                    <a:pt x="3663315" y="83820"/>
                  </a:lnTo>
                  <a:lnTo>
                    <a:pt x="3677602" y="113347"/>
                  </a:lnTo>
                  <a:lnTo>
                    <a:pt x="3691890" y="146685"/>
                  </a:lnTo>
                  <a:lnTo>
                    <a:pt x="3706177" y="182880"/>
                  </a:lnTo>
                  <a:lnTo>
                    <a:pt x="3720465" y="223838"/>
                  </a:lnTo>
                  <a:lnTo>
                    <a:pt x="3735705" y="267652"/>
                  </a:lnTo>
                  <a:lnTo>
                    <a:pt x="3749993" y="314325"/>
                  </a:lnTo>
                  <a:lnTo>
                    <a:pt x="3764280" y="362902"/>
                  </a:lnTo>
                  <a:lnTo>
                    <a:pt x="3778568" y="414338"/>
                  </a:lnTo>
                  <a:lnTo>
                    <a:pt x="3792855" y="467677"/>
                  </a:lnTo>
                  <a:lnTo>
                    <a:pt x="3808095" y="522922"/>
                  </a:lnTo>
                  <a:lnTo>
                    <a:pt x="3821430" y="579120"/>
                  </a:lnTo>
                  <a:lnTo>
                    <a:pt x="3836670" y="635317"/>
                  </a:lnTo>
                  <a:lnTo>
                    <a:pt x="3850957" y="693420"/>
                  </a:lnTo>
                  <a:lnTo>
                    <a:pt x="3865245" y="750570"/>
                  </a:lnTo>
                  <a:lnTo>
                    <a:pt x="3879532" y="806767"/>
                  </a:lnTo>
                  <a:lnTo>
                    <a:pt x="3894772" y="862965"/>
                  </a:lnTo>
                  <a:lnTo>
                    <a:pt x="3908107" y="918210"/>
                  </a:lnTo>
                  <a:lnTo>
                    <a:pt x="3923347" y="971550"/>
                  </a:lnTo>
                  <a:lnTo>
                    <a:pt x="3937635" y="1022985"/>
                  </a:lnTo>
                  <a:lnTo>
                    <a:pt x="3951922" y="1071562"/>
                  </a:lnTo>
                  <a:lnTo>
                    <a:pt x="3966210" y="1118235"/>
                  </a:lnTo>
                  <a:lnTo>
                    <a:pt x="3980497" y="1162050"/>
                  </a:lnTo>
                  <a:lnTo>
                    <a:pt x="3994785" y="1203008"/>
                  </a:lnTo>
                  <a:lnTo>
                    <a:pt x="4010025" y="1239202"/>
                  </a:lnTo>
                  <a:lnTo>
                    <a:pt x="4024312" y="1272540"/>
                  </a:lnTo>
                  <a:lnTo>
                    <a:pt x="4038600" y="1302068"/>
                  </a:lnTo>
                  <a:lnTo>
                    <a:pt x="4052888" y="1327785"/>
                  </a:lnTo>
                  <a:lnTo>
                    <a:pt x="4067175" y="1347788"/>
                  </a:lnTo>
                  <a:lnTo>
                    <a:pt x="4082415" y="1364932"/>
                  </a:lnTo>
                  <a:lnTo>
                    <a:pt x="4095750" y="1376362"/>
                  </a:lnTo>
                  <a:lnTo>
                    <a:pt x="4110990" y="1383982"/>
                  </a:lnTo>
                  <a:lnTo>
                    <a:pt x="4125277" y="1385888"/>
                  </a:lnTo>
                  <a:lnTo>
                    <a:pt x="4139565" y="1383982"/>
                  </a:lnTo>
                  <a:lnTo>
                    <a:pt x="4153852" y="1376362"/>
                  </a:lnTo>
                  <a:lnTo>
                    <a:pt x="4169093" y="1364932"/>
                  </a:lnTo>
                  <a:lnTo>
                    <a:pt x="4182427" y="1347788"/>
                  </a:lnTo>
                  <a:lnTo>
                    <a:pt x="4197668" y="1327785"/>
                  </a:lnTo>
                  <a:lnTo>
                    <a:pt x="4211955" y="1302068"/>
                  </a:lnTo>
                  <a:lnTo>
                    <a:pt x="4226242" y="1272540"/>
                  </a:lnTo>
                  <a:lnTo>
                    <a:pt x="4240530" y="1239202"/>
                  </a:lnTo>
                  <a:lnTo>
                    <a:pt x="4254818" y="1203008"/>
                  </a:lnTo>
                  <a:lnTo>
                    <a:pt x="4269105" y="1162050"/>
                  </a:lnTo>
                  <a:lnTo>
                    <a:pt x="4284345" y="1118235"/>
                  </a:lnTo>
                  <a:lnTo>
                    <a:pt x="4298632" y="1071562"/>
                  </a:lnTo>
                  <a:lnTo>
                    <a:pt x="4312920" y="1022985"/>
                  </a:lnTo>
                  <a:lnTo>
                    <a:pt x="4327208" y="971550"/>
                  </a:lnTo>
                  <a:lnTo>
                    <a:pt x="4341495" y="918210"/>
                  </a:lnTo>
                  <a:lnTo>
                    <a:pt x="4356735" y="862965"/>
                  </a:lnTo>
                  <a:lnTo>
                    <a:pt x="4370070" y="806767"/>
                  </a:lnTo>
                  <a:lnTo>
                    <a:pt x="4385310" y="750570"/>
                  </a:lnTo>
                  <a:lnTo>
                    <a:pt x="4399597" y="693420"/>
                  </a:lnTo>
                  <a:lnTo>
                    <a:pt x="4413885" y="635317"/>
                  </a:lnTo>
                  <a:lnTo>
                    <a:pt x="4428172" y="579120"/>
                  </a:lnTo>
                  <a:lnTo>
                    <a:pt x="4443412" y="522922"/>
                  </a:lnTo>
                  <a:lnTo>
                    <a:pt x="4456747" y="467677"/>
                  </a:lnTo>
                  <a:lnTo>
                    <a:pt x="4471988" y="414338"/>
                  </a:lnTo>
                  <a:lnTo>
                    <a:pt x="4486275" y="362902"/>
                  </a:lnTo>
                  <a:lnTo>
                    <a:pt x="4500562" y="314325"/>
                  </a:lnTo>
                  <a:lnTo>
                    <a:pt x="4514850" y="267652"/>
                  </a:lnTo>
                  <a:lnTo>
                    <a:pt x="4529138" y="223838"/>
                  </a:lnTo>
                  <a:lnTo>
                    <a:pt x="4543425" y="182880"/>
                  </a:lnTo>
                  <a:lnTo>
                    <a:pt x="4558665" y="146685"/>
                  </a:lnTo>
                  <a:lnTo>
                    <a:pt x="4572952" y="113347"/>
                  </a:lnTo>
                  <a:lnTo>
                    <a:pt x="4587240" y="83820"/>
                  </a:lnTo>
                  <a:lnTo>
                    <a:pt x="4601527" y="58102"/>
                  </a:lnTo>
                  <a:lnTo>
                    <a:pt x="4608195" y="49530"/>
                  </a:lnTo>
                </a:path>
              </a:pathLst>
            </a:custGeom>
            <a:noFill/>
            <a:ln w="19050">
              <a:solidFill>
                <a:srgbClr val="D0342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713220" y="3279458"/>
              <a:ext cx="4607242" cy="9525"/>
            </a:xfrm>
            <a:custGeom>
              <a:avLst/>
              <a:gdLst/>
              <a:ahLst/>
              <a:cxnLst/>
              <a:rect l="l" t="t" r="r" b="b"/>
              <a:pathLst>
                <a:path w="4607242" h="9525">
                  <a:moveTo>
                    <a:pt x="0" y="0"/>
                  </a:moveTo>
                  <a:lnTo>
                    <a:pt x="46072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1320462" y="3231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987540" y="3256598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709535" y="3256598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431530" y="3256598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53525" y="3256598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9874568" y="3256598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597515" y="3256598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1318558" y="3256598"/>
              <a:ext cx="9525" cy="45720"/>
            </a:xfrm>
            <a:custGeom>
              <a:avLst/>
              <a:gdLst/>
              <a:ahLst/>
              <a:cxnLst/>
              <a:rect l="l" t="t" r="r" b="b"/>
              <a:pathLst>
                <a:path w="9525" h="45720">
                  <a:moveTo>
                    <a:pt x="0" y="0"/>
                  </a:moveTo>
                  <a:lnTo>
                    <a:pt x="0" y="4572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675245" y="3611880"/>
              <a:ext cx="300038" cy="9525"/>
            </a:xfrm>
            <a:custGeom>
              <a:avLst/>
              <a:gdLst/>
              <a:ahLst/>
              <a:cxnLst/>
              <a:rect l="l" t="t" r="r" b="b"/>
              <a:pathLst>
                <a:path w="300038" h="9525">
                  <a:moveTo>
                    <a:pt x="0" y="0"/>
                  </a:moveTo>
                  <a:lnTo>
                    <a:pt x="3000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975282" y="35642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579995" y="35642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694170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313795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694170" y="30356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1313795" y="32461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6694170" y="26393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11313795" y="19269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694170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1425238" y="32746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982778" y="32375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6982778" y="33118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704772" y="32375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704772" y="33118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8426768" y="32375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426768" y="33118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9148762" y="32375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9148762" y="33118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9869805" y="32375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9869805" y="33118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10592752" y="32375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10592752" y="33118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11313795" y="32375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11313795" y="33118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7560945" y="36071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8080058" y="36071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007740" y="3566636"/>
              <a:ext cx="3529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x/mm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946307" y="33818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668302" y="33818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90297" y="33818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112292" y="33818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833334" y="33818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556282" y="33818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277324" y="338185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675425" y="3684746"/>
              <a:ext cx="12226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 彩带 0.72 mm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755879" y="16816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中央白纹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861683" y="1662589"/>
              <a:ext cx="460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7B3FC4"/>
                  </a:solidFill>
                  <a:latin typeface="+mn-lt"/>
                  <a:ea typeface="+mn-ea"/>
                  <a:cs typeface="+mn-cs"/>
                </a:rPr>
                <a:t>400 nm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438898" y="1662589"/>
              <a:ext cx="460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9A3E"/>
                  </a:solidFill>
                  <a:latin typeface="+mn-lt"/>
                  <a:ea typeface="+mn-ea"/>
                  <a:cs typeface="+mn-cs"/>
                </a:rPr>
                <a:t>550 nm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016113" y="1662589"/>
              <a:ext cx="4601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D0342C"/>
                  </a:solidFill>
                  <a:latin typeface="+mn-lt"/>
                  <a:ea typeface="+mn-ea"/>
                  <a:cs typeface="+mn-cs"/>
                </a:rPr>
                <a:t>760 nm</a:t>
              </a:r>
            </a:p>
          </p:txBody>
        </p:sp>
      </p:grpSp>
      <p:grpSp>
        <p:nvGrpSpPr>
          <p:cNvPr id="91" name="c2-card-2"/>
          <p:cNvGrpSpPr/>
          <p:nvPr/>
        </p:nvGrpSpPr>
        <p:grpSpPr>
          <a:xfrm>
            <a:off x="6248400" y="4019550"/>
            <a:ext cx="5410200" cy="2264092"/>
            <a:chOff x="6248400" y="4019550"/>
            <a:chExt cx="5410200" cy="2264092"/>
          </a:xfrm>
        </p:grpSpPr>
        <p:sp>
          <p:nvSpPr>
            <p:cNvPr id="86" name="Rectangle 86"/>
            <p:cNvSpPr/>
            <p:nvPr/>
          </p:nvSpPr>
          <p:spPr>
            <a:xfrm>
              <a:off x="6248400" y="4019550"/>
              <a:ext cx="5410200" cy="2264092"/>
            </a:xfrm>
            <a:prstGeom prst="roundRect">
              <a:avLst>
                <a:gd name="adj" fmla="val 58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257925" y="4152900"/>
              <a:ext cx="47625" cy="19973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490335" y="4223385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38189" y="425910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补充：从第二级起就重叠了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83096" y="4596289"/>
              <a:ext cx="477545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第二级红端 x = 2 × 2000 × 760 nm = 3.04 mm，第三级紫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 2.40 mm，已经交叠。第五级彩带（4.0～7.6 mm）里混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着第四、六级的光，实际看不出清楚的第五级彩带。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701466" cy="3706177"/>
            <a:chOff x="667512" y="1835468"/>
            <a:chExt cx="6701466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薄膜干涉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915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7.3.1，分振幅干涉，肥皂泡和镜头镀膜的颜色都来自它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反射光的光程差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等倾干涉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半波损失判据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透射光互补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增透膜与增反膜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薄膜的上下两个表面各反射一束光，两束光相干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5193982" cy="4210527"/>
            <a:chOff x="533400" y="1524000"/>
            <a:chExt cx="5193982" cy="4210527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0" t="18748" r="0" b="18748"/>
            <a:stretch>
              <a:fillRect/>
            </a:stretch>
          </p:blipFill>
          <p:spPr>
            <a:xfrm>
              <a:off x="533400" y="1524000"/>
              <a:ext cx="5193982" cy="3895725"/>
            </a:xfrm>
            <a:prstGeom prst="roundRect">
              <a:avLst>
                <a:gd name="adj" fmla="val 3422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64133" y="5514499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竖直肥皂膜：上薄下厚，同一高度厚度相同，色带大致水平</a:t>
              </a:r>
            </a:p>
          </p:txBody>
        </p:sp>
      </p:grpSp>
      <p:grpSp>
        <p:nvGrpSpPr>
          <p:cNvPr id="15" name="c2-card-1"/>
          <p:cNvGrpSpPr/>
          <p:nvPr/>
        </p:nvGrpSpPr>
        <p:grpSpPr>
          <a:xfrm>
            <a:off x="6032182" y="1524000"/>
            <a:ext cx="5626418" cy="1602105"/>
            <a:chOff x="6032182" y="1524000"/>
            <a:chExt cx="5626418" cy="1602105"/>
          </a:xfrm>
        </p:grpSpPr>
        <p:sp>
          <p:nvSpPr>
            <p:cNvPr id="10" name="Rectangle 10"/>
            <p:cNvSpPr/>
            <p:nvPr/>
          </p:nvSpPr>
          <p:spPr>
            <a:xfrm>
              <a:off x="6032182" y="1524000"/>
              <a:ext cx="5626418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41708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79832" y="1733550"/>
              <a:ext cx="23402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314676" y="1769269"/>
              <a:ext cx="22696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薄膜干涉（film interference）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2212" y="211074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光照到薄膜上，从上表面反射的一束和折入膜内、从下表面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反射出来的一束来自同一入射光，是分振幅得到的相干光，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它们相遇时发生干涉。</a:t>
              </a:r>
            </a:p>
          </p:txBody>
        </p:sp>
      </p:grpSp>
      <p:grpSp>
        <p:nvGrpSpPr>
          <p:cNvPr id="27" name="c2-table-2"/>
          <p:cNvGrpSpPr/>
          <p:nvPr/>
        </p:nvGrpSpPr>
        <p:grpSpPr>
          <a:xfrm>
            <a:off x="6032182" y="3316605"/>
            <a:ext cx="5626418" cy="1346835"/>
            <a:chOff x="6032182" y="3316605"/>
            <a:chExt cx="5626418" cy="1346835"/>
          </a:xfrm>
        </p:grpSpPr>
        <p:sp>
          <p:nvSpPr>
            <p:cNvPr id="16" name="Rectangle 16"/>
            <p:cNvSpPr/>
            <p:nvPr/>
          </p:nvSpPr>
          <p:spPr>
            <a:xfrm>
              <a:off x="6032182" y="3316605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54953" y="34523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入射光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95372" y="34523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看到的现象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40006" y="39009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白光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15441" y="39009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不同厚度处加强的波长不同，呈彩色条纹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32182" y="42090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32182" y="4213860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40006" y="43495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单色光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15441" y="43495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明暗相间的条纹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32182" y="3316605"/>
              <a:ext cx="5626418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02855" y="331660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2-card-3"/>
          <p:cNvGrpSpPr/>
          <p:nvPr/>
        </p:nvGrpSpPr>
        <p:grpSpPr>
          <a:xfrm>
            <a:off x="6032182" y="4853940"/>
            <a:ext cx="5626418" cy="1316355"/>
            <a:chOff x="6032182" y="4853940"/>
            <a:chExt cx="5626418" cy="1316355"/>
          </a:xfrm>
        </p:grpSpPr>
        <p:sp>
          <p:nvSpPr>
            <p:cNvPr id="28" name="Rectangle 28"/>
            <p:cNvSpPr/>
            <p:nvPr/>
          </p:nvSpPr>
          <p:spPr>
            <a:xfrm>
              <a:off x="6032182" y="4853940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41708" y="498729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79832" y="5063490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35586" y="509920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肥皂膜顶端为什么发黑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2212" y="544068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膜快破时顶端厚度远小于波长，两束反射光的光程差只剩上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表面反射的 λ/2，各种颜色都相消，看起来是黑的。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推导薄膜反射光的光程差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923" y="1545431"/>
            <a:ext cx="4775962" cy="500824"/>
            <a:chOff x="526923" y="1545431"/>
            <a:chExt cx="4775962" cy="50082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477596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膜厚 e、折射率 n₂，上下都是 n₁（n₂ &gt; n₁）。从 C 作光线 ① 的垂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线 CD，此后两束光到 P 等光程。</a:t>
              </a:r>
            </a:p>
          </p:txBody>
        </p:sp>
      </p:grpSp>
      <p:grpSp>
        <p:nvGrpSpPr>
          <p:cNvPr id="64" name="g_film"/>
          <p:cNvGrpSpPr/>
          <p:nvPr/>
        </p:nvGrpSpPr>
        <p:grpSpPr>
          <a:xfrm>
            <a:off x="719138" y="2833211"/>
            <a:ext cx="4581525" cy="2429352"/>
            <a:chOff x="719138" y="2833211"/>
            <a:chExt cx="4581525" cy="2429352"/>
          </a:xfrm>
        </p:grpSpPr>
        <p:sp>
          <p:nvSpPr>
            <p:cNvPr id="9" name="Freeform 9"/>
            <p:cNvSpPr/>
            <p:nvPr/>
          </p:nvSpPr>
          <p:spPr>
            <a:xfrm>
              <a:off x="738188" y="4114800"/>
              <a:ext cx="4543425" cy="9525"/>
            </a:xfrm>
            <a:custGeom>
              <a:avLst/>
              <a:gdLst/>
              <a:ahLst/>
              <a:cxnLst/>
              <a:rect l="l" t="t" r="r" b="b"/>
              <a:pathLst>
                <a:path w="4543425" h="9525">
                  <a:moveTo>
                    <a:pt x="0" y="0"/>
                  </a:moveTo>
                  <a:lnTo>
                    <a:pt x="45434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38188" y="4876800"/>
              <a:ext cx="4543425" cy="9525"/>
            </a:xfrm>
            <a:custGeom>
              <a:avLst/>
              <a:gdLst/>
              <a:ahLst/>
              <a:cxnLst/>
              <a:rect l="l" t="t" r="r" b="b"/>
              <a:pathLst>
                <a:path w="4543425" h="9525">
                  <a:moveTo>
                    <a:pt x="0" y="0"/>
                  </a:moveTo>
                  <a:lnTo>
                    <a:pt x="45434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586865" y="3213735"/>
              <a:ext cx="685800" cy="817245"/>
            </a:xfrm>
            <a:custGeom>
              <a:avLst/>
              <a:gdLst/>
              <a:ahLst/>
              <a:cxnLst/>
              <a:rect l="l" t="t" r="r" b="b"/>
              <a:pathLst>
                <a:path w="685800" h="817245">
                  <a:moveTo>
                    <a:pt x="0" y="0"/>
                  </a:moveTo>
                  <a:lnTo>
                    <a:pt x="685800" y="817245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36470" y="3999548"/>
              <a:ext cx="97155" cy="103823"/>
            </a:xfrm>
            <a:custGeom>
              <a:avLst/>
              <a:gdLst/>
              <a:ahLst/>
              <a:cxnLst/>
              <a:rect l="l" t="t" r="r" b="b"/>
              <a:pathLst>
                <a:path w="97155" h="103823">
                  <a:moveTo>
                    <a:pt x="97155" y="103823"/>
                  </a:moveTo>
                  <a:lnTo>
                    <a:pt x="0" y="61912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352675" y="3176588"/>
              <a:ext cx="777240" cy="926783"/>
            </a:xfrm>
            <a:custGeom>
              <a:avLst/>
              <a:gdLst/>
              <a:ahLst/>
              <a:cxnLst/>
              <a:rect l="l" t="t" r="r" b="b"/>
              <a:pathLst>
                <a:path w="777240" h="926783">
                  <a:moveTo>
                    <a:pt x="0" y="926783"/>
                  </a:moveTo>
                  <a:lnTo>
                    <a:pt x="777240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93720" y="3104198"/>
              <a:ext cx="97155" cy="102870"/>
            </a:xfrm>
            <a:custGeom>
              <a:avLst/>
              <a:gdLst/>
              <a:ahLst/>
              <a:cxnLst/>
              <a:rect l="l" t="t" r="r" b="b"/>
              <a:pathLst>
                <a:path w="97155" h="102870">
                  <a:moveTo>
                    <a:pt x="97155" y="0"/>
                  </a:moveTo>
                  <a:lnTo>
                    <a:pt x="72390" y="102870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349818" y="4127182"/>
              <a:ext cx="827723" cy="749617"/>
            </a:xfrm>
            <a:custGeom>
              <a:avLst/>
              <a:gdLst/>
              <a:ahLst/>
              <a:cxnLst/>
              <a:rect l="l" t="t" r="r" b="b"/>
              <a:pathLst>
                <a:path w="827723" h="749617">
                  <a:moveTo>
                    <a:pt x="0" y="0"/>
                  </a:moveTo>
                  <a:lnTo>
                    <a:pt x="414338" y="749617"/>
                  </a:lnTo>
                  <a:lnTo>
                    <a:pt x="827723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93732" y="3176588"/>
              <a:ext cx="777240" cy="926783"/>
            </a:xfrm>
            <a:custGeom>
              <a:avLst/>
              <a:gdLst/>
              <a:ahLst/>
              <a:cxnLst/>
              <a:rect l="l" t="t" r="r" b="b"/>
              <a:pathLst>
                <a:path w="777240" h="926783">
                  <a:moveTo>
                    <a:pt x="0" y="926783"/>
                  </a:moveTo>
                  <a:lnTo>
                    <a:pt x="777240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34778" y="3104198"/>
              <a:ext cx="97155" cy="102870"/>
            </a:xfrm>
            <a:custGeom>
              <a:avLst/>
              <a:gdLst/>
              <a:ahLst/>
              <a:cxnLst/>
              <a:rect l="l" t="t" r="r" b="b"/>
              <a:pathLst>
                <a:path w="97155" h="102870">
                  <a:moveTo>
                    <a:pt x="97155" y="0"/>
                  </a:moveTo>
                  <a:lnTo>
                    <a:pt x="72390" y="102870"/>
                  </a:lnTo>
                  <a:lnTo>
                    <a:pt x="0" y="4191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701290" y="3709035"/>
              <a:ext cx="472440" cy="396240"/>
            </a:xfrm>
            <a:custGeom>
              <a:avLst/>
              <a:gdLst/>
              <a:ahLst/>
              <a:cxnLst/>
              <a:rect l="l" t="t" r="r" b="b"/>
              <a:pathLst>
                <a:path w="472440" h="396240">
                  <a:moveTo>
                    <a:pt x="472440" y="3962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2343150" y="3081338"/>
              <a:ext cx="9525" cy="2162175"/>
            </a:xfrm>
            <a:custGeom>
              <a:avLst/>
              <a:gdLst/>
              <a:ahLst/>
              <a:cxnLst/>
              <a:rect l="l" t="t" r="r" b="b"/>
              <a:pathLst>
                <a:path w="9525" h="2162175">
                  <a:moveTo>
                    <a:pt x="0" y="0"/>
                  </a:moveTo>
                  <a:lnTo>
                    <a:pt x="0" y="2162175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764155" y="4129088"/>
              <a:ext cx="9525" cy="733425"/>
            </a:xfrm>
            <a:custGeom>
              <a:avLst/>
              <a:gdLst/>
              <a:ahLst/>
              <a:cxnLst/>
              <a:rect l="l" t="t" r="r" b="b"/>
              <a:pathLst>
                <a:path w="9525" h="733425">
                  <a:moveTo>
                    <a:pt x="0" y="0"/>
                  </a:moveTo>
                  <a:lnTo>
                    <a:pt x="0" y="73342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1" name="Freeform 21"/>
            <p:cNvSpPr/>
            <p:nvPr/>
          </p:nvSpPr>
          <p:spPr>
            <a:xfrm>
              <a:off x="2097405" y="3714750"/>
              <a:ext cx="231458" cy="84772"/>
            </a:xfrm>
            <a:custGeom>
              <a:avLst/>
              <a:gdLst/>
              <a:ahLst/>
              <a:cxnLst/>
              <a:rect l="l" t="t" r="r" b="b"/>
              <a:pathLst>
                <a:path w="231458" h="84772">
                  <a:moveTo>
                    <a:pt x="231458" y="0"/>
                  </a:moveTo>
                  <a:lnTo>
                    <a:pt x="218123" y="953"/>
                  </a:lnTo>
                  <a:lnTo>
                    <a:pt x="190500" y="3810"/>
                  </a:lnTo>
                  <a:lnTo>
                    <a:pt x="162878" y="8572"/>
                  </a:lnTo>
                  <a:lnTo>
                    <a:pt x="136208" y="15240"/>
                  </a:lnTo>
                  <a:lnTo>
                    <a:pt x="108585" y="23812"/>
                  </a:lnTo>
                  <a:lnTo>
                    <a:pt x="82868" y="34290"/>
                  </a:lnTo>
                  <a:lnTo>
                    <a:pt x="58103" y="46672"/>
                  </a:lnTo>
                  <a:lnTo>
                    <a:pt x="33338" y="60960"/>
                  </a:lnTo>
                  <a:lnTo>
                    <a:pt x="10478" y="76200"/>
                  </a:lnTo>
                  <a:lnTo>
                    <a:pt x="0" y="847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357438" y="4421505"/>
              <a:ext cx="139065" cy="35242"/>
            </a:xfrm>
            <a:custGeom>
              <a:avLst/>
              <a:gdLst/>
              <a:ahLst/>
              <a:cxnLst/>
              <a:rect l="l" t="t" r="r" b="b"/>
              <a:pathLst>
                <a:path w="139065" h="35242">
                  <a:moveTo>
                    <a:pt x="0" y="35242"/>
                  </a:moveTo>
                  <a:lnTo>
                    <a:pt x="2858" y="35242"/>
                  </a:lnTo>
                  <a:lnTo>
                    <a:pt x="20002" y="34290"/>
                  </a:lnTo>
                  <a:lnTo>
                    <a:pt x="37148" y="32385"/>
                  </a:lnTo>
                  <a:lnTo>
                    <a:pt x="54292" y="28575"/>
                  </a:lnTo>
                  <a:lnTo>
                    <a:pt x="71438" y="24765"/>
                  </a:lnTo>
                  <a:lnTo>
                    <a:pt x="87630" y="20003"/>
                  </a:lnTo>
                  <a:lnTo>
                    <a:pt x="103822" y="14288"/>
                  </a:lnTo>
                  <a:lnTo>
                    <a:pt x="120967" y="8573"/>
                  </a:lnTo>
                  <a:lnTo>
                    <a:pt x="136208" y="953"/>
                  </a:lnTo>
                  <a:lnTo>
                    <a:pt x="1390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104900" y="4224338"/>
              <a:ext cx="9525" cy="542925"/>
            </a:xfrm>
            <a:custGeom>
              <a:avLst/>
              <a:gdLst/>
              <a:ahLst/>
              <a:cxnLst/>
              <a:rect l="l" t="t" r="r" b="b"/>
              <a:pathLst>
                <a:path w="9525" h="542925">
                  <a:moveTo>
                    <a:pt x="0" y="0"/>
                  </a:moveTo>
                  <a:lnTo>
                    <a:pt x="0" y="5429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57275" y="4767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57275" y="41290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19138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291138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19138" y="4872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291138" y="4872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573530" y="31975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338388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338388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195638" y="30880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338388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179445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3179445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036695" y="30880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179445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686050" y="369570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338388" y="30622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338388" y="5253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759392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2759392" y="4872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338388" y="3709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081212" y="38033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338388" y="44529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504122" y="44100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00138" y="4110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00138" y="48720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159211" y="3486150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89149" y="4519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139035" y="415718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12440" y="49763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65842" y="41762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86697" y="360949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265449" y="3098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106506" y="3098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9758" y="44196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22113" y="38333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822113" y="44238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22113" y="503348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49425" y="303514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104533" y="2833211"/>
              <a:ext cx="1144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① ② 经透镜会聚到 P</a:t>
              </a:r>
            </a:p>
          </p:txBody>
        </p:sp>
      </p:grpSp>
      <p:grpSp>
        <p:nvGrpSpPr>
          <p:cNvPr id="82" name="c2-steps-1"/>
          <p:cNvGrpSpPr/>
          <p:nvPr/>
        </p:nvGrpSpPr>
        <p:grpSpPr>
          <a:xfrm>
            <a:off x="5815965" y="1533525"/>
            <a:ext cx="4298655" cy="2529173"/>
            <a:chOff x="5815965" y="1533525"/>
            <a:chExt cx="4298655" cy="2529173"/>
          </a:xfrm>
        </p:grpSpPr>
        <p:sp>
          <p:nvSpPr>
            <p:cNvPr id="65" name="Rectangle 65"/>
            <p:cNvSpPr/>
            <p:nvPr/>
          </p:nvSpPr>
          <p:spPr>
            <a:xfrm>
              <a:off x="594931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2744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写光程差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28588" y="1861661"/>
              <a:ext cx="2006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δ′ = n₂(AB + BC) − n₁AD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27445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几何关系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28588" y="2512219"/>
              <a:ext cx="3886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 = BC = e/cos r，AD = AC sin i = 2e tan r sin i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227445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28588" y="3162776"/>
              <a:ext cx="29078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δ′ = (2e/cos r)(n₂ − n₁ sin r sin i)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227445" y="35204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用折射定律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28588" y="3813334"/>
              <a:ext cx="3416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sin i = n₂ sin r，化简得 δ′ = 2n₂e cos r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formula41"/>
              <p:cNvSpPr txBox="1">
                <a:spLocks noGrp="1"/>
              </p:cNvSpPr>
              <p:nvPr/>
            </p:nvSpPr>
            <p:spPr>
              <a:xfrm>
                <a:off x="5815965" y="4241482"/>
                <a:ext cx="584263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δ'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2e</m:t>
                      </m:r>
                      <m:rad>
                        <m:radPr>
                          <m:deg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func>
                            <m:funcPr/>
                            <m:fNam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formula42"/>
              <p:cNvSpPr txBox="1">
                <a:spLocks noGrp="1"/>
              </p:cNvSpPr>
              <p:nvPr/>
            </p:nvSpPr>
            <p:spPr>
              <a:xfrm>
                <a:off x="5815965" y="4889182"/>
                <a:ext cx="5842635" cy="5400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2e</m:t>
                      </m:r>
                      <m:rad>
                        <m:radPr>
                          <m:degHide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Sup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func>
                            <m:funcPr/>
                            <m:fNam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func>
                        </m:e>
                      </m:rad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86" name="c2-text-4"/>
          <p:cNvGrpSpPr/>
          <p:nvPr/>
        </p:nvGrpSpPr>
        <p:grpSpPr>
          <a:xfrm>
            <a:off x="5809488" y="5640229"/>
            <a:ext cx="5580634" cy="500824"/>
            <a:chOff x="5809488" y="5640229"/>
            <a:chExt cx="5580634" cy="500824"/>
          </a:xfrm>
        </p:grpSpPr>
        <p:sp>
          <p:nvSpPr>
            <p:cNvPr id="85" name="TextBox 85"/>
            <p:cNvSpPr txBox="1"/>
            <p:nvPr/>
          </p:nvSpPr>
          <p:spPr>
            <a:xfrm>
              <a:off x="5809488" y="5640229"/>
              <a:ext cx="558063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最后加的 λ/2：光 ① 在上表面由光疏射向光密反射，有半波损失；光 ② 在下表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面由光密射向光疏反射，没有。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极值条件；膜厚均匀时同一条纹对应同一入射角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626418" cy="2095500"/>
            <a:chOff x="533400" y="1524000"/>
            <a:chExt cx="5626418" cy="2095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95500"/>
            </a:xfrm>
            <a:prstGeom prst="roundRect">
              <a:avLst>
                <a:gd name="adj" fmla="val 636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213264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4036" y="1769269"/>
              <a:ext cx="2049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反射光的明暗条件（n₂ &gt; n₁）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46"/>
                <p:cNvSpPr txBox="1">
                  <a:spLocks noGrp="1"/>
                </p:cNvSpPr>
                <p:nvPr/>
              </p:nvSpPr>
              <p:spPr>
                <a:xfrm>
                  <a:off x="742950" y="2085975"/>
                  <a:ext cx="520731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2e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func>
                              <m:funcPr/>
                              <m:fNam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func>
                          </m:e>
                        </m:ra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kλ</m:t>
                        </m:r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47"/>
                <p:cNvSpPr txBox="1">
                  <a:spLocks noGrp="1"/>
                </p:cNvSpPr>
                <p:nvPr/>
              </p:nvSpPr>
              <p:spPr>
                <a:xfrm>
                  <a:off x="742950" y="2618422"/>
                  <a:ext cx="5207318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2e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Sup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bSup>
                            <m:func>
                              <m:funcPr/>
                              <m:fNam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zh-CN" sz="12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</m:func>
                          </m:e>
                        </m:ra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TextBox 12"/>
            <p:cNvSpPr txBox="1"/>
            <p:nvPr/>
          </p:nvSpPr>
          <p:spPr>
            <a:xfrm>
              <a:off x="735330" y="317563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上式为明纹，下式为暗纹。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810000"/>
            <a:ext cx="5626418" cy="2221230"/>
            <a:chOff x="533400" y="3810000"/>
            <a:chExt cx="5626418" cy="2221230"/>
          </a:xfrm>
        </p:grpSpPr>
        <p:sp>
          <p:nvSpPr>
            <p:cNvPr id="14" name="Rectangle 14"/>
            <p:cNvSpPr/>
            <p:nvPr/>
          </p:nvSpPr>
          <p:spPr>
            <a:xfrm>
              <a:off x="533400" y="3810000"/>
              <a:ext cx="5626418" cy="2221230"/>
            </a:xfrm>
            <a:prstGeom prst="roundRect">
              <a:avLst>
                <a:gd name="adj" fmla="val 60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943350"/>
              <a:ext cx="47625" cy="195453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4019550"/>
              <a:ext cx="281749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1670" y="4055269"/>
              <a:ext cx="27762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等倾干涉（equal inclination fringes）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39674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膜厚 e 处处相同时，δ 只随入射角 i 变。入射角相同的光线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对应同一级条纹，所以叫等倾干涉，用透镜观察时条纹是一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组同心圆环。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2026920"/>
            <a:chOff x="6464618" y="1524000"/>
            <a:chExt cx="5193982" cy="2026920"/>
          </a:xfrm>
        </p:grpSpPr>
        <p:sp>
          <p:nvSpPr>
            <p:cNvPr id="20" name="Rectangle 20"/>
            <p:cNvSpPr/>
            <p:nvPr/>
          </p:nvSpPr>
          <p:spPr>
            <a:xfrm>
              <a:off x="6464618" y="1524000"/>
              <a:ext cx="5193982" cy="2026920"/>
            </a:xfrm>
            <a:prstGeom prst="roundRect">
              <a:avLst>
                <a:gd name="adj" fmla="val 65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4142" y="1657350"/>
              <a:ext cx="47625" cy="17602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12268" y="1733550"/>
              <a:ext cx="1362075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6954" y="1769269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垂直入射（i = 0）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48"/>
                <p:cNvSpPr txBox="1">
                  <a:spLocks noGrp="1"/>
                </p:cNvSpPr>
                <p:nvPr/>
              </p:nvSpPr>
              <p:spPr>
                <a:xfrm>
                  <a:off x="6712268" y="2085975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Ellipse 25"/>
            <p:cNvSpPr/>
            <p:nvPr/>
          </p:nvSpPr>
          <p:spPr>
            <a:xfrm>
              <a:off x="6717983" y="28346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76098" y="27717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 δ = kλ，k = 1, 2, …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717983" y="31699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76098" y="3107055"/>
              <a:ext cx="3326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 δ = (2k+1)λ/2，k = 0, 1, 2, …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741420"/>
            <a:ext cx="5193982" cy="1316355"/>
            <a:chOff x="6464618" y="3741420"/>
            <a:chExt cx="5193982" cy="1316355"/>
          </a:xfrm>
        </p:grpSpPr>
        <p:sp>
          <p:nvSpPr>
            <p:cNvPr id="30" name="Rectangle 30"/>
            <p:cNvSpPr/>
            <p:nvPr/>
          </p:nvSpPr>
          <p:spPr>
            <a:xfrm>
              <a:off x="6464618" y="374142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387477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12268" y="3950970"/>
              <a:ext cx="90582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1111" y="3986689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k 从几开始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432816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明纹若取 k = 0，得 2n₂e = −λ/2，厚度为负，不存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在，所以明纹从 k = 1 起。暗纹 k = 0 对应 e = 0。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464618" y="5248275"/>
            <a:ext cx="5193982" cy="782955"/>
            <a:chOff x="6464618" y="5248275"/>
            <a:chExt cx="5193982" cy="782955"/>
          </a:xfrm>
        </p:grpSpPr>
        <p:sp>
          <p:nvSpPr>
            <p:cNvPr id="36" name="Rectangle 36"/>
            <p:cNvSpPr/>
            <p:nvPr/>
          </p:nvSpPr>
          <p:spPr>
            <a:xfrm>
              <a:off x="6464618" y="524827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5539740"/>
              <a:ext cx="200026" cy="200026"/>
              <a:chOff x="6669405" y="553974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69405" y="55397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69418" y="5606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58305" y="56397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348" y="5396865"/>
              <a:ext cx="4063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式中的 λ/2 是否出现，要看三层介质折射率的排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列，见下一页。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半波损失看三层折射率的排列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g_halfwave"/>
          <p:cNvGrpSpPr/>
          <p:nvPr/>
        </p:nvGrpSpPr>
        <p:grpSpPr>
          <a:xfrm>
            <a:off x="1063942" y="2012632"/>
            <a:ext cx="3895725" cy="3123247"/>
            <a:chOff x="1063942" y="2012632"/>
            <a:chExt cx="3895725" cy="3123247"/>
          </a:xfrm>
        </p:grpSpPr>
        <p:sp>
          <p:nvSpPr>
            <p:cNvPr id="7" name="Freeform 7"/>
            <p:cNvSpPr/>
            <p:nvPr/>
          </p:nvSpPr>
          <p:spPr>
            <a:xfrm>
              <a:off x="1082992" y="2577465"/>
              <a:ext cx="2562225" cy="9525"/>
            </a:xfrm>
            <a:custGeom>
              <a:avLst/>
              <a:gdLst/>
              <a:ahLst/>
              <a:cxnLst/>
              <a:rect l="l" t="t" r="r" b="b"/>
              <a:pathLst>
                <a:path w="2562225" h="9525">
                  <a:moveTo>
                    <a:pt x="0" y="0"/>
                  </a:moveTo>
                  <a:lnTo>
                    <a:pt x="25622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82992" y="2998470"/>
              <a:ext cx="2562225" cy="9525"/>
            </a:xfrm>
            <a:custGeom>
              <a:avLst/>
              <a:gdLst/>
              <a:ahLst/>
              <a:cxnLst/>
              <a:rect l="l" t="t" r="r" b="b"/>
              <a:pathLst>
                <a:path w="2562225" h="9525">
                  <a:moveTo>
                    <a:pt x="0" y="0"/>
                  </a:moveTo>
                  <a:lnTo>
                    <a:pt x="25622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660208" y="2265998"/>
              <a:ext cx="155257" cy="221932"/>
            </a:xfrm>
            <a:custGeom>
              <a:avLst/>
              <a:gdLst/>
              <a:ahLst/>
              <a:cxnLst/>
              <a:rect l="l" t="t" r="r" b="b"/>
              <a:pathLst>
                <a:path w="155257" h="221932">
                  <a:moveTo>
                    <a:pt x="0" y="0"/>
                  </a:moveTo>
                  <a:lnTo>
                    <a:pt x="155257" y="221932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76412" y="2461260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104775"/>
                  </a:moveTo>
                  <a:lnTo>
                    <a:pt x="0" y="54293"/>
                  </a:lnTo>
                  <a:lnTo>
                    <a:pt x="78105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86902" y="2344102"/>
              <a:ext cx="155258" cy="221932"/>
            </a:xfrm>
            <a:custGeom>
              <a:avLst/>
              <a:gdLst/>
              <a:ahLst/>
              <a:cxnLst/>
              <a:rect l="l" t="t" r="r" b="b"/>
              <a:pathLst>
                <a:path w="155258" h="221932">
                  <a:moveTo>
                    <a:pt x="0" y="221932"/>
                  </a:moveTo>
                  <a:lnTo>
                    <a:pt x="155258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03108" y="2265998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94297" y="0"/>
                  </a:moveTo>
                  <a:lnTo>
                    <a:pt x="78105" y="104775"/>
                  </a:lnTo>
                  <a:lnTo>
                    <a:pt x="0" y="50482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4045" y="2590800"/>
              <a:ext cx="344805" cy="407670"/>
            </a:xfrm>
            <a:custGeom>
              <a:avLst/>
              <a:gdLst/>
              <a:ahLst/>
              <a:cxnLst/>
              <a:rect l="l" t="t" r="r" b="b"/>
              <a:pathLst>
                <a:path w="344805" h="407670">
                  <a:moveTo>
                    <a:pt x="0" y="0"/>
                  </a:moveTo>
                  <a:lnTo>
                    <a:pt x="172402" y="407670"/>
                  </a:lnTo>
                  <a:lnTo>
                    <a:pt x="34480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243138" y="2344102"/>
              <a:ext cx="155258" cy="221932"/>
            </a:xfrm>
            <a:custGeom>
              <a:avLst/>
              <a:gdLst/>
              <a:ahLst/>
              <a:cxnLst/>
              <a:rect l="l" t="t" r="r" b="b"/>
              <a:pathLst>
                <a:path w="155258" h="221932">
                  <a:moveTo>
                    <a:pt x="0" y="221932"/>
                  </a:moveTo>
                  <a:lnTo>
                    <a:pt x="155258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359342" y="2265998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0"/>
                  </a:moveTo>
                  <a:lnTo>
                    <a:pt x="78105" y="104775"/>
                  </a:lnTo>
                  <a:lnTo>
                    <a:pt x="0" y="50482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082992" y="4197668"/>
              <a:ext cx="2562225" cy="9525"/>
            </a:xfrm>
            <a:custGeom>
              <a:avLst/>
              <a:gdLst/>
              <a:ahLst/>
              <a:cxnLst/>
              <a:rect l="l" t="t" r="r" b="b"/>
              <a:pathLst>
                <a:path w="2562225" h="9525">
                  <a:moveTo>
                    <a:pt x="0" y="0"/>
                  </a:moveTo>
                  <a:lnTo>
                    <a:pt x="25622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82992" y="4618672"/>
              <a:ext cx="2562225" cy="9525"/>
            </a:xfrm>
            <a:custGeom>
              <a:avLst/>
              <a:gdLst/>
              <a:ahLst/>
              <a:cxnLst/>
              <a:rect l="l" t="t" r="r" b="b"/>
              <a:pathLst>
                <a:path w="2562225" h="9525">
                  <a:moveTo>
                    <a:pt x="0" y="0"/>
                  </a:moveTo>
                  <a:lnTo>
                    <a:pt x="25622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60208" y="3885248"/>
              <a:ext cx="155257" cy="221933"/>
            </a:xfrm>
            <a:custGeom>
              <a:avLst/>
              <a:gdLst/>
              <a:ahLst/>
              <a:cxnLst/>
              <a:rect l="l" t="t" r="r" b="b"/>
              <a:pathLst>
                <a:path w="155257" h="221933">
                  <a:moveTo>
                    <a:pt x="0" y="0"/>
                  </a:moveTo>
                  <a:lnTo>
                    <a:pt x="155257" y="221933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776412" y="4080510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104775"/>
                  </a:moveTo>
                  <a:lnTo>
                    <a:pt x="0" y="54293"/>
                  </a:lnTo>
                  <a:lnTo>
                    <a:pt x="78105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886902" y="3962400"/>
              <a:ext cx="155258" cy="222885"/>
            </a:xfrm>
            <a:custGeom>
              <a:avLst/>
              <a:gdLst/>
              <a:ahLst/>
              <a:cxnLst/>
              <a:rect l="l" t="t" r="r" b="b"/>
              <a:pathLst>
                <a:path w="155258" h="222885">
                  <a:moveTo>
                    <a:pt x="0" y="222885"/>
                  </a:moveTo>
                  <a:lnTo>
                    <a:pt x="155258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003108" y="3885248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94297" y="0"/>
                  </a:moveTo>
                  <a:lnTo>
                    <a:pt x="78105" y="104775"/>
                  </a:lnTo>
                  <a:lnTo>
                    <a:pt x="0" y="50483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884045" y="4210050"/>
              <a:ext cx="344805" cy="408622"/>
            </a:xfrm>
            <a:custGeom>
              <a:avLst/>
              <a:gdLst/>
              <a:ahLst/>
              <a:cxnLst/>
              <a:rect l="l" t="t" r="r" b="b"/>
              <a:pathLst>
                <a:path w="344805" h="408622">
                  <a:moveTo>
                    <a:pt x="0" y="0"/>
                  </a:moveTo>
                  <a:lnTo>
                    <a:pt x="172402" y="408622"/>
                  </a:lnTo>
                  <a:lnTo>
                    <a:pt x="34480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243138" y="3963352"/>
              <a:ext cx="155258" cy="221932"/>
            </a:xfrm>
            <a:custGeom>
              <a:avLst/>
              <a:gdLst/>
              <a:ahLst/>
              <a:cxnLst/>
              <a:rect l="l" t="t" r="r" b="b"/>
              <a:pathLst>
                <a:path w="155258" h="221932">
                  <a:moveTo>
                    <a:pt x="0" y="221932"/>
                  </a:moveTo>
                  <a:lnTo>
                    <a:pt x="155258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359342" y="3885248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0"/>
                  </a:moveTo>
                  <a:lnTo>
                    <a:pt x="78105" y="104775"/>
                  </a:lnTo>
                  <a:lnTo>
                    <a:pt x="0" y="50483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1082992" y="3565208"/>
              <a:ext cx="3857625" cy="9525"/>
            </a:xfrm>
            <a:custGeom>
              <a:avLst/>
              <a:gdLst/>
              <a:ahLst/>
              <a:cxnLst/>
              <a:rect l="l" t="t" r="r" b="b"/>
              <a:pathLst>
                <a:path w="3857625" h="9525">
                  <a:moveTo>
                    <a:pt x="0" y="0"/>
                  </a:moveTo>
                  <a:lnTo>
                    <a:pt x="385762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6" name="Ellipse 26"/>
            <p:cNvSpPr/>
            <p:nvPr/>
          </p:nvSpPr>
          <p:spPr>
            <a:xfrm>
              <a:off x="1063942" y="2572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654742" y="2572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063942" y="29937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654742" y="29937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646872" y="22488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873568" y="2572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873568" y="2572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100262" y="22488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873568" y="2572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229802" y="2572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229802" y="25727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2456498" y="22488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63942" y="41929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654742" y="41929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63942" y="46139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654742" y="46139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646872" y="3868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873568" y="41929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873568" y="41929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100262" y="3868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873568" y="41929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229802" y="41929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229802" y="419290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2456498" y="38681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063942" y="35604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950142" y="35604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63942" y="2012632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空气中的肥皂膜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32866" y="2304098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1.00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019387" y="2725102"/>
              <a:ext cx="575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n₂ = 1.33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032866" y="312991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n₃ = 1.00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569845" y="2391251"/>
              <a:ext cx="7874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上表面：有 λ/2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294572" y="308657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下表面：无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63942" y="3340418"/>
              <a:ext cx="11057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只有一面有：加 λ/2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3942" y="3631882"/>
              <a:ext cx="10113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玻璃上的 MgF₂ 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032866" y="3923348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1.00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19387" y="4344352"/>
              <a:ext cx="575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n₂ = 1.38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032866" y="4749165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n₃ = 1.52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69845" y="4009549"/>
              <a:ext cx="7874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上表面：有 λ/2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294572" y="4705826"/>
              <a:ext cx="7874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下表面：有 λ/2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3942" y="4959667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两面都有：抵消，不加</a:t>
              </a:r>
            </a:p>
          </p:txBody>
        </p:sp>
      </p:grpSp>
      <p:grpSp>
        <p:nvGrpSpPr>
          <p:cNvPr id="101" name="c2-table-1"/>
          <p:cNvGrpSpPr/>
          <p:nvPr/>
        </p:nvGrpSpPr>
        <p:grpSpPr>
          <a:xfrm>
            <a:off x="5815965" y="1524000"/>
            <a:ext cx="5842635" cy="1906905"/>
            <a:chOff x="5815965" y="1524000"/>
            <a:chExt cx="5842635" cy="1906905"/>
          </a:xfrm>
        </p:grpSpPr>
        <p:sp>
          <p:nvSpPr>
            <p:cNvPr id="67" name="Rectangle 67"/>
            <p:cNvSpPr/>
            <p:nvPr/>
          </p:nvSpPr>
          <p:spPr>
            <a:xfrm>
              <a:off x="5815965" y="1524000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7449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折射率排列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93736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上表面反射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9676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下表面反射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66167" y="1641157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附加 λ/2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910644" y="2023110"/>
              <a:ext cx="841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&lt; n₂ &gt; n₃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46086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48166" y="2023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10266045" y="1914525"/>
              <a:ext cx="138303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351198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815965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815965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910644" y="2404110"/>
              <a:ext cx="841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&gt; n₂ &lt; n₃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546086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48166" y="2404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0266045" y="2296478"/>
              <a:ext cx="138303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351198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15965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910644" y="2785110"/>
              <a:ext cx="841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&lt; n₂ &lt; n₃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546086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948166" y="2785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0266045" y="2677478"/>
              <a:ext cx="13830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0351198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815965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5815965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910644" y="3167062"/>
              <a:ext cx="841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&gt; n₂ &gt; n₃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546086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948166" y="316706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10266045" y="3059430"/>
              <a:ext cx="13830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10351198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不加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815965" y="1524000"/>
              <a:ext cx="584263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44664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8848725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10251758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6" name="c2-card-2"/>
          <p:cNvGrpSpPr/>
          <p:nvPr/>
        </p:nvGrpSpPr>
        <p:grpSpPr>
          <a:xfrm>
            <a:off x="5815965" y="3595688"/>
            <a:ext cx="5842635" cy="1143952"/>
            <a:chOff x="5815965" y="3595688"/>
            <a:chExt cx="5842635" cy="1143952"/>
          </a:xfrm>
        </p:grpSpPr>
        <p:sp>
          <p:nvSpPr>
            <p:cNvPr id="102" name="Rectangle 102"/>
            <p:cNvSpPr/>
            <p:nvPr/>
          </p:nvSpPr>
          <p:spPr>
            <a:xfrm>
              <a:off x="5815965" y="3595688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5996940" y="377666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081509" y="38095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判断规则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990463" y="4117181"/>
              <a:ext cx="50441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两个反射面中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恰好一个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有半波损失，光程差才加 λ/2；两个都有或都没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有，互相抵消，不加。</a:t>
              </a:r>
            </a:p>
          </p:txBody>
        </p:sp>
      </p:grpSp>
      <p:grpSp>
        <p:nvGrpSpPr>
          <p:cNvPr id="113" name="c2-callout-3"/>
          <p:cNvGrpSpPr/>
          <p:nvPr/>
        </p:nvGrpSpPr>
        <p:grpSpPr>
          <a:xfrm>
            <a:off x="5815965" y="4904422"/>
            <a:ext cx="5842635" cy="702945"/>
            <a:chOff x="5815965" y="4904422"/>
            <a:chExt cx="5842635" cy="702945"/>
          </a:xfrm>
        </p:grpSpPr>
        <p:sp>
          <p:nvSpPr>
            <p:cNvPr id="107" name="Rectangle 107"/>
            <p:cNvSpPr/>
            <p:nvPr/>
          </p:nvSpPr>
          <p:spPr>
            <a:xfrm>
              <a:off x="5815965" y="4904422"/>
              <a:ext cx="5842635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6020753" y="5155883"/>
              <a:ext cx="200026" cy="200025"/>
              <a:chOff x="6020753" y="5155883"/>
              <a:chExt cx="200026" cy="200025"/>
            </a:xfrm>
          </p:grpSpPr>
          <p:sp>
            <p:nvSpPr>
              <p:cNvPr id="108" name="Freeform 108"/>
              <p:cNvSpPr/>
              <p:nvPr/>
            </p:nvSpPr>
            <p:spPr>
              <a:xfrm>
                <a:off x="6020753" y="51558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6060491" y="52003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6095207" y="53114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6323838" y="504967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折射率夹在中间（单调递增或递减）不加；膜的折射率最大或最小时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要加。</a:t>
              </a:r>
            </a:p>
          </p:txBody>
        </p:sp>
      </p:grpSp>
      <p:grpSp>
        <p:nvGrpSpPr>
          <p:cNvPr id="12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4" name="Rectangle 11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1041273" y="6039326"/>
              <a:ext cx="97055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原课件把前两行归为「反射光考虑半波损失」，后两行归为「不考虑半波损失」，说的是两束反射光之间有没有额外的 λ/2 差。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透射光的干涉与反射光互补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g_trans"/>
          <p:cNvGrpSpPr/>
          <p:nvPr/>
        </p:nvGrpSpPr>
        <p:grpSpPr>
          <a:xfrm>
            <a:off x="719138" y="2072640"/>
            <a:ext cx="4676774" cy="2687479"/>
            <a:chOff x="719138" y="2072640"/>
            <a:chExt cx="4676774" cy="2687479"/>
          </a:xfrm>
        </p:grpSpPr>
        <p:sp>
          <p:nvSpPr>
            <p:cNvPr id="7" name="Freeform 7"/>
            <p:cNvSpPr/>
            <p:nvPr/>
          </p:nvSpPr>
          <p:spPr>
            <a:xfrm>
              <a:off x="738188" y="2987040"/>
              <a:ext cx="4543425" cy="9525"/>
            </a:xfrm>
            <a:custGeom>
              <a:avLst/>
              <a:gdLst/>
              <a:ahLst/>
              <a:cxnLst/>
              <a:rect l="l" t="t" r="r" b="b"/>
              <a:pathLst>
                <a:path w="4543425" h="9525">
                  <a:moveTo>
                    <a:pt x="0" y="0"/>
                  </a:moveTo>
                  <a:lnTo>
                    <a:pt x="45434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38188" y="3653790"/>
              <a:ext cx="4543425" cy="9525"/>
            </a:xfrm>
            <a:custGeom>
              <a:avLst/>
              <a:gdLst/>
              <a:ahLst/>
              <a:cxnLst/>
              <a:rect l="l" t="t" r="r" b="b"/>
              <a:pathLst>
                <a:path w="4543425" h="9525">
                  <a:moveTo>
                    <a:pt x="0" y="0"/>
                  </a:moveTo>
                  <a:lnTo>
                    <a:pt x="45434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28738" y="2231708"/>
              <a:ext cx="562928" cy="671512"/>
            </a:xfrm>
            <a:custGeom>
              <a:avLst/>
              <a:gdLst/>
              <a:ahLst/>
              <a:cxnLst/>
              <a:rect l="l" t="t" r="r" b="b"/>
              <a:pathLst>
                <a:path w="562928" h="671512">
                  <a:moveTo>
                    <a:pt x="0" y="0"/>
                  </a:moveTo>
                  <a:lnTo>
                    <a:pt x="562928" y="671512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55470" y="2872740"/>
              <a:ext cx="98107" cy="103822"/>
            </a:xfrm>
            <a:custGeom>
              <a:avLst/>
              <a:gdLst/>
              <a:ahLst/>
              <a:cxnLst/>
              <a:rect l="l" t="t" r="r" b="b"/>
              <a:pathLst>
                <a:path w="98107" h="103822">
                  <a:moveTo>
                    <a:pt x="98107" y="103822"/>
                  </a:moveTo>
                  <a:lnTo>
                    <a:pt x="0" y="60960"/>
                  </a:lnTo>
                  <a:lnTo>
                    <a:pt x="73342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69770" y="2987040"/>
              <a:ext cx="1089660" cy="666750"/>
            </a:xfrm>
            <a:custGeom>
              <a:avLst/>
              <a:gdLst/>
              <a:ahLst/>
              <a:cxnLst/>
              <a:rect l="l" t="t" r="r" b="b"/>
              <a:pathLst>
                <a:path w="1089660" h="666750">
                  <a:moveTo>
                    <a:pt x="0" y="12382"/>
                  </a:moveTo>
                  <a:lnTo>
                    <a:pt x="360045" y="666750"/>
                  </a:lnTo>
                  <a:lnTo>
                    <a:pt x="728662" y="0"/>
                  </a:lnTo>
                  <a:lnTo>
                    <a:pt x="1089660" y="654367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339340" y="3665220"/>
              <a:ext cx="756285" cy="900112"/>
            </a:xfrm>
            <a:custGeom>
              <a:avLst/>
              <a:gdLst/>
              <a:ahLst/>
              <a:cxnLst/>
              <a:rect l="l" t="t" r="r" b="b"/>
              <a:pathLst>
                <a:path w="756285" h="900112">
                  <a:moveTo>
                    <a:pt x="0" y="0"/>
                  </a:moveTo>
                  <a:lnTo>
                    <a:pt x="756285" y="900112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59430" y="4534852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97155" y="103822"/>
                  </a:moveTo>
                  <a:lnTo>
                    <a:pt x="0" y="61912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075622" y="3665220"/>
              <a:ext cx="562928" cy="670560"/>
            </a:xfrm>
            <a:custGeom>
              <a:avLst/>
              <a:gdLst/>
              <a:ahLst/>
              <a:cxnLst/>
              <a:rect l="l" t="t" r="r" b="b"/>
              <a:pathLst>
                <a:path w="562928" h="670560">
                  <a:moveTo>
                    <a:pt x="0" y="0"/>
                  </a:moveTo>
                  <a:lnTo>
                    <a:pt x="562928" y="67056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602355" y="4305300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97155" y="103822"/>
                  </a:moveTo>
                  <a:lnTo>
                    <a:pt x="0" y="6096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645092" y="3663315"/>
              <a:ext cx="410528" cy="343852"/>
            </a:xfrm>
            <a:custGeom>
              <a:avLst/>
              <a:gdLst/>
              <a:ahLst/>
              <a:cxnLst/>
              <a:rect l="l" t="t" r="r" b="b"/>
              <a:pathLst>
                <a:path w="410528" h="343852">
                  <a:moveTo>
                    <a:pt x="410528" y="0"/>
                  </a:moveTo>
                  <a:lnTo>
                    <a:pt x="0" y="34385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1104900" y="3096578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057275" y="35442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057275" y="30013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719138" y="2982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291138" y="2982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19138" y="3649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291138" y="3649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314450" y="22164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957388" y="2982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957388" y="2982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061335" y="3649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325052" y="3649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161348" y="46453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061335" y="3649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704272" y="44148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061335" y="3649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629852" y="40119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100138" y="29822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100138" y="36490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758035" y="281987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44750" y="371617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03867" y="278272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166782" y="35247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30500" y="400192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50209" y="4540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93134" y="4310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41689" y="2072640"/>
              <a:ext cx="28542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B、C 两处都是由光密射向光疏反射，都没有半波损失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9758" y="32442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22113" y="27055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22113" y="32485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22113" y="38104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formula50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3886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δ'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BC</m:t>
                              </m:r>
                            </m:e>
                          </m:ba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bar>
                            <m:barPr>
                              <m:pos m:val="top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CE</m:t>
                              </m:r>
                            </m:e>
                          </m:ba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bar>
                        <m:barPr>
                          <m:pos m:val="top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BF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2e</m:t>
                      </m:r>
                      <m:rad>
                        <m:radPr>
                          <m:degHide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Sup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func>
                            <m:funcPr/>
                            <m:fNam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func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55" name="c2-card-2"/>
          <p:cNvGrpSpPr/>
          <p:nvPr/>
        </p:nvGrpSpPr>
        <p:grpSpPr>
          <a:xfrm>
            <a:off x="5815965" y="2103120"/>
            <a:ext cx="5842635" cy="1602105"/>
            <a:chOff x="5815965" y="2103120"/>
            <a:chExt cx="5842635" cy="1602105"/>
          </a:xfrm>
        </p:grpSpPr>
        <p:sp>
          <p:nvSpPr>
            <p:cNvPr id="50" name="Rectangle 50"/>
            <p:cNvSpPr/>
            <p:nvPr/>
          </p:nvSpPr>
          <p:spPr>
            <a:xfrm>
              <a:off x="5815965" y="2103120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5490" y="223647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63615" y="2312670"/>
              <a:ext cx="24231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96078" y="2348389"/>
              <a:ext cx="23582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透射光为什么不加 λ/2（n₂ &gt; n₁）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55995" y="2689860"/>
              <a:ext cx="5130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透射光 ④ 在 B、C 两处各反射一次，都是由光密射向光疏，都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没有半波损失；光 ③ 直接透过。所以透射光的光程差就是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δ′，比反射光少了 λ/2。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5815965" y="3895725"/>
            <a:ext cx="5842635" cy="1316355"/>
            <a:chOff x="5815965" y="3895725"/>
            <a:chExt cx="5842635" cy="1316355"/>
          </a:xfrm>
        </p:grpSpPr>
        <p:sp>
          <p:nvSpPr>
            <p:cNvPr id="56" name="Rectangle 56"/>
            <p:cNvSpPr/>
            <p:nvPr/>
          </p:nvSpPr>
          <p:spPr>
            <a:xfrm>
              <a:off x="5815965" y="3895725"/>
              <a:ext cx="5842635" cy="1316355"/>
            </a:xfrm>
            <a:prstGeom prst="roundRect">
              <a:avLst>
                <a:gd name="adj" fmla="val 101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25515" y="410527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02921" y="41409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垂直入射时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7895" y="4482465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2n₂e = kλ 透射光明，= (2k+1)λ/2 透射光暗。反射光加强的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地方透射光正好减弱，反之亦然，符合能量守恒。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1" name="Rectangle 6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反射与透射两套条件互补，只记反射光的加强、减弱条件就够了，透射光的结论反过来说。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增透膜：让两束反射光相消，透射光就加强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1" name="g_coat"/>
          <p:cNvGrpSpPr/>
          <p:nvPr/>
        </p:nvGrpSpPr>
        <p:grpSpPr>
          <a:xfrm>
            <a:off x="794385" y="1581150"/>
            <a:ext cx="4888230" cy="1834134"/>
            <a:chOff x="794385" y="1581150"/>
            <a:chExt cx="4888230" cy="1834134"/>
          </a:xfrm>
        </p:grpSpPr>
        <p:sp>
          <p:nvSpPr>
            <p:cNvPr id="7" name="Freeform 7"/>
            <p:cNvSpPr/>
            <p:nvPr/>
          </p:nvSpPr>
          <p:spPr>
            <a:xfrm>
              <a:off x="813435" y="2540318"/>
              <a:ext cx="4850130" cy="9525"/>
            </a:xfrm>
            <a:custGeom>
              <a:avLst/>
              <a:gdLst/>
              <a:ahLst/>
              <a:cxnLst/>
              <a:rect l="l" t="t" r="r" b="b"/>
              <a:pathLst>
                <a:path w="4850130" h="9525">
                  <a:moveTo>
                    <a:pt x="0" y="0"/>
                  </a:moveTo>
                  <a:lnTo>
                    <a:pt x="485013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13435" y="2909888"/>
              <a:ext cx="4850130" cy="9525"/>
            </a:xfrm>
            <a:custGeom>
              <a:avLst/>
              <a:gdLst/>
              <a:ahLst/>
              <a:cxnLst/>
              <a:rect l="l" t="t" r="r" b="b"/>
              <a:pathLst>
                <a:path w="4850130" h="9525">
                  <a:moveTo>
                    <a:pt x="0" y="0"/>
                  </a:moveTo>
                  <a:lnTo>
                    <a:pt x="4850130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00112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22045" y="2976562"/>
              <a:ext cx="111443" cy="143828"/>
            </a:xfrm>
            <a:custGeom>
              <a:avLst/>
              <a:gdLst/>
              <a:ahLst/>
              <a:cxnLst/>
              <a:rect l="l" t="t" r="r" b="b"/>
              <a:pathLst>
                <a:path w="111443" h="143828">
                  <a:moveTo>
                    <a:pt x="0" y="0"/>
                  </a:moveTo>
                  <a:lnTo>
                    <a:pt x="111443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43978" y="2976562"/>
              <a:ext cx="111443" cy="143828"/>
            </a:xfrm>
            <a:custGeom>
              <a:avLst/>
              <a:gdLst/>
              <a:ahLst/>
              <a:cxnLst/>
              <a:rect l="l" t="t" r="r" b="b"/>
              <a:pathLst>
                <a:path w="111443" h="143828">
                  <a:moveTo>
                    <a:pt x="0" y="0"/>
                  </a:moveTo>
                  <a:lnTo>
                    <a:pt x="111443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65910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787842" y="2976562"/>
              <a:ext cx="111443" cy="143828"/>
            </a:xfrm>
            <a:custGeom>
              <a:avLst/>
              <a:gdLst/>
              <a:ahLst/>
              <a:cxnLst/>
              <a:rect l="l" t="t" r="r" b="b"/>
              <a:pathLst>
                <a:path w="111443" h="143828">
                  <a:moveTo>
                    <a:pt x="0" y="0"/>
                  </a:moveTo>
                  <a:lnTo>
                    <a:pt x="111443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09775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230755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52688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674620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96552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117532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339465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61398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783330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04310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226242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448175" y="2976562"/>
              <a:ext cx="112395" cy="143828"/>
            </a:xfrm>
            <a:custGeom>
              <a:avLst/>
              <a:gdLst/>
              <a:ahLst/>
              <a:cxnLst/>
              <a:rect l="l" t="t" r="r" b="b"/>
              <a:pathLst>
                <a:path w="112395" h="143828">
                  <a:moveTo>
                    <a:pt x="0" y="0"/>
                  </a:moveTo>
                  <a:lnTo>
                    <a:pt x="112395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670108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892040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113972" y="2976562"/>
              <a:ext cx="111443" cy="143828"/>
            </a:xfrm>
            <a:custGeom>
              <a:avLst/>
              <a:gdLst/>
              <a:ahLst/>
              <a:cxnLst/>
              <a:rect l="l" t="t" r="r" b="b"/>
              <a:pathLst>
                <a:path w="111443" h="143828">
                  <a:moveTo>
                    <a:pt x="0" y="0"/>
                  </a:moveTo>
                  <a:lnTo>
                    <a:pt x="111443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335905" y="2976562"/>
              <a:ext cx="111442" cy="143828"/>
            </a:xfrm>
            <a:custGeom>
              <a:avLst/>
              <a:gdLst/>
              <a:ahLst/>
              <a:cxnLst/>
              <a:rect l="l" t="t" r="r" b="b"/>
              <a:pathLst>
                <a:path w="111442" h="143828">
                  <a:moveTo>
                    <a:pt x="0" y="0"/>
                  </a:moveTo>
                  <a:lnTo>
                    <a:pt x="111442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556885" y="2976562"/>
              <a:ext cx="111443" cy="143828"/>
            </a:xfrm>
            <a:custGeom>
              <a:avLst/>
              <a:gdLst/>
              <a:ahLst/>
              <a:cxnLst/>
              <a:rect l="l" t="t" r="r" b="b"/>
              <a:pathLst>
                <a:path w="111443" h="143828">
                  <a:moveTo>
                    <a:pt x="0" y="0"/>
                  </a:moveTo>
                  <a:lnTo>
                    <a:pt x="111443" y="143828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030730" y="1792605"/>
              <a:ext cx="376238" cy="652462"/>
            </a:xfrm>
            <a:custGeom>
              <a:avLst/>
              <a:gdLst/>
              <a:ahLst/>
              <a:cxnLst/>
              <a:rect l="l" t="t" r="r" b="b"/>
              <a:pathLst>
                <a:path w="376238" h="652462">
                  <a:moveTo>
                    <a:pt x="0" y="0"/>
                  </a:moveTo>
                  <a:lnTo>
                    <a:pt x="376238" y="652462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366010" y="2421255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88582" y="106680"/>
                  </a:moveTo>
                  <a:lnTo>
                    <a:pt x="0" y="47625"/>
                  </a:lnTo>
                  <a:lnTo>
                    <a:pt x="82868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468880" y="1875472"/>
              <a:ext cx="378142" cy="652462"/>
            </a:xfrm>
            <a:custGeom>
              <a:avLst/>
              <a:gdLst/>
              <a:ahLst/>
              <a:cxnLst/>
              <a:rect l="l" t="t" r="r" b="b"/>
              <a:pathLst>
                <a:path w="378142" h="652462">
                  <a:moveTo>
                    <a:pt x="0" y="652462"/>
                  </a:moveTo>
                  <a:lnTo>
                    <a:pt x="378142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2805112" y="1792605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0"/>
                  </a:moveTo>
                  <a:lnTo>
                    <a:pt x="82867" y="106680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2466975" y="2553652"/>
              <a:ext cx="278130" cy="356235"/>
            </a:xfrm>
            <a:custGeom>
              <a:avLst/>
              <a:gdLst/>
              <a:ahLst/>
              <a:cxnLst/>
              <a:rect l="l" t="t" r="r" b="b"/>
              <a:pathLst>
                <a:path w="278130" h="356235">
                  <a:moveTo>
                    <a:pt x="0" y="0"/>
                  </a:moveTo>
                  <a:lnTo>
                    <a:pt x="139065" y="356235"/>
                  </a:lnTo>
                  <a:lnTo>
                    <a:pt x="27813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2757488" y="1875472"/>
              <a:ext cx="376238" cy="652462"/>
            </a:xfrm>
            <a:custGeom>
              <a:avLst/>
              <a:gdLst/>
              <a:ahLst/>
              <a:cxnLst/>
              <a:rect l="l" t="t" r="r" b="b"/>
              <a:pathLst>
                <a:path w="376238" h="652462">
                  <a:moveTo>
                    <a:pt x="0" y="652462"/>
                  </a:moveTo>
                  <a:lnTo>
                    <a:pt x="376238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3092768" y="1792605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0"/>
                  </a:moveTo>
                  <a:lnTo>
                    <a:pt x="82867" y="106680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94385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673090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94385" y="29051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673090" y="29051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8677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016318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108710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238250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330642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460182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52575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681162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77450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903095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99548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125028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217420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346960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439352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567940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660332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2789872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882265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3011805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310419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3233738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3326130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455670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3548062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3677602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769042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899535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3990975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4120515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421290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4342448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4434840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4564380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4656772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4786312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878705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5007292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510063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229225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5321618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5451158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5543550" y="29603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673090" y="31270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2018348" y="17754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2457450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457450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2896552" y="17754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457450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745105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2745105" y="25355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3184208" y="17754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799921" y="1581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271408" y="167354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012454" y="2101215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1.00 空气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3943900" y="2655570"/>
              <a:ext cx="1101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n₂ = 1.38 MgF₂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012454" y="3209925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n₃ = 1.55 玻璃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79170" y="2351723"/>
              <a:ext cx="863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上表面：有 λ/2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79170" y="3201352"/>
              <a:ext cx="863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下表面：有 λ/2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formula57"/>
              <p:cNvSpPr txBox="1">
                <a:spLocks noGrp="1"/>
              </p:cNvSpPr>
              <p:nvPr/>
            </p:nvSpPr>
            <p:spPr>
              <a:xfrm>
                <a:off x="533400" y="3834765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formula58"/>
              <p:cNvSpPr txBox="1">
                <a:spLocks noGrp="1"/>
              </p:cNvSpPr>
              <p:nvPr/>
            </p:nvSpPr>
            <p:spPr>
              <a:xfrm>
                <a:off x="533400" y="4482465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2k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06" name="c2-image-1"/>
          <p:cNvGrpSpPr/>
          <p:nvPr/>
        </p:nvGrpSpPr>
        <p:grpSpPr>
          <a:xfrm>
            <a:off x="7537132" y="1524000"/>
            <a:ext cx="2833688" cy="2439829"/>
            <a:chOff x="7537132" y="1524000"/>
            <a:chExt cx="2833688" cy="2439829"/>
          </a:xfrm>
        </p:grpSpPr>
        <p:pic>
          <p:nvPicPr>
            <p:cNvPr id="104" name="Image 104"/>
            <p:cNvPicPr>
              <a:picLocks noChangeAspect="1"/>
            </p:cNvPicPr>
            <p:nvPr/>
          </p:nvPicPr>
          <p:blipFill>
            <a:blip r:embed="rId2"/>
            <a:srcRect l="5550" t="0" r="5551" b="0"/>
            <a:stretch>
              <a:fillRect/>
            </a:stretch>
          </p:blipFill>
          <p:spPr>
            <a:xfrm>
              <a:off x="7537132" y="1524000"/>
              <a:ext cx="2833688" cy="2125028"/>
            </a:xfrm>
            <a:prstGeom prst="roundRect">
              <a:avLst>
                <a:gd name="adj" fmla="val 6275"/>
              </a:avLst>
            </a:prstGeom>
          </p:spPr>
        </p:pic>
        <p:sp>
          <p:nvSpPr>
            <p:cNvPr id="105" name="TextBox 105"/>
            <p:cNvSpPr txBox="1"/>
            <p:nvPr/>
          </p:nvSpPr>
          <p:spPr>
            <a:xfrm>
              <a:off x="7582281" y="3743801"/>
              <a:ext cx="2742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镀了 MgF₂ 增透膜的镜头，反光泛蓝紫色</a:t>
              </a:r>
            </a:p>
          </p:txBody>
        </p:sp>
      </p:grpSp>
      <p:grpSp>
        <p:nvGrpSpPr>
          <p:cNvPr id="112" name="c2-card-2"/>
          <p:cNvGrpSpPr/>
          <p:nvPr/>
        </p:nvGrpSpPr>
        <p:grpSpPr>
          <a:xfrm>
            <a:off x="6248400" y="4124325"/>
            <a:ext cx="5410200" cy="1545908"/>
            <a:chOff x="6248400" y="4124325"/>
            <a:chExt cx="5410200" cy="1545908"/>
          </a:xfrm>
        </p:grpSpPr>
        <p:sp>
          <p:nvSpPr>
            <p:cNvPr id="107" name="Rectangle 107"/>
            <p:cNvSpPr/>
            <p:nvPr/>
          </p:nvSpPr>
          <p:spPr>
            <a:xfrm>
              <a:off x="6248400" y="412432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257925" y="425767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490335" y="432816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550990" y="436387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镜头为什么是蓝紫色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483096" y="4701064"/>
              <a:ext cx="467626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膜厚按人眼最敏感的 550 nm 设计，这个波长反射相消。按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两束反射光等幅估算，400 nm 的反射还剩最大值的 31%，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700 nm 剩 11%，所以反光以蓝紫为主。</a:t>
              </a:r>
            </a:p>
          </p:txBody>
        </p:sp>
      </p:grpSp>
      <p:grpSp>
        <p:nvGrpSpPr>
          <p:cNvPr id="11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13" name="Rectangle 11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7" name="Group 117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8" name="TextBox 118"/>
            <p:cNvSpPr txBox="1"/>
            <p:nvPr/>
          </p:nvSpPr>
          <p:spPr>
            <a:xfrm>
              <a:off x="1040511" y="6004084"/>
              <a:ext cx="10012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原课件用透射加强列式 2n₂e + λ/2 = kλ，得 e = (2k − 1)λ/(4n₂)，与反射相消的结果完全相同，只是 k 的编号差 1。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增反膜：膜的折射率比基底大，反射光加强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1" name="g_coat2"/>
          <p:cNvGrpSpPr/>
          <p:nvPr/>
        </p:nvGrpSpPr>
        <p:grpSpPr>
          <a:xfrm>
            <a:off x="719138" y="1587818"/>
            <a:ext cx="5038725" cy="1884616"/>
            <a:chOff x="719138" y="1587818"/>
            <a:chExt cx="5038725" cy="1884616"/>
          </a:xfrm>
        </p:grpSpPr>
        <p:sp>
          <p:nvSpPr>
            <p:cNvPr id="7" name="Freeform 7"/>
            <p:cNvSpPr/>
            <p:nvPr/>
          </p:nvSpPr>
          <p:spPr>
            <a:xfrm>
              <a:off x="738188" y="2571750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38188" y="2952750"/>
              <a:ext cx="5000625" cy="9525"/>
            </a:xfrm>
            <a:custGeom>
              <a:avLst/>
              <a:gdLst/>
              <a:ahLst/>
              <a:cxnLst/>
              <a:rect l="l" t="t" r="r" b="b"/>
              <a:pathLst>
                <a:path w="5000625" h="9525">
                  <a:moveTo>
                    <a:pt x="0" y="0"/>
                  </a:moveTo>
                  <a:lnTo>
                    <a:pt x="5000625" y="0"/>
                  </a:lnTo>
                </a:path>
              </a:pathLst>
            </a:custGeom>
            <a:noFill/>
            <a:ln w="1905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277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563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849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135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7421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707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1993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279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6565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851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1137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3423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709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7995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281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2567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4853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7139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9425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51711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3997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628322" y="3021330"/>
              <a:ext cx="116205" cy="148590"/>
            </a:xfrm>
            <a:custGeom>
              <a:avLst/>
              <a:gdLst/>
              <a:ahLst/>
              <a:cxnLst/>
              <a:rect l="l" t="t" r="r" b="b"/>
              <a:pathLst>
                <a:path w="116205" h="148590">
                  <a:moveTo>
                    <a:pt x="0" y="0"/>
                  </a:moveTo>
                  <a:lnTo>
                    <a:pt x="116205" y="148590"/>
                  </a:lnTo>
                </a:path>
              </a:pathLst>
            </a:custGeom>
            <a:noFill/>
            <a:ln w="9525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993582" y="1800225"/>
              <a:ext cx="389572" cy="676275"/>
            </a:xfrm>
            <a:custGeom>
              <a:avLst/>
              <a:gdLst/>
              <a:ahLst/>
              <a:cxnLst/>
              <a:rect l="l" t="t" r="r" b="b"/>
              <a:pathLst>
                <a:path w="389572" h="676275">
                  <a:moveTo>
                    <a:pt x="0" y="0"/>
                  </a:moveTo>
                  <a:lnTo>
                    <a:pt x="389572" y="676275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342198" y="2452688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88582" y="106680"/>
                  </a:moveTo>
                  <a:lnTo>
                    <a:pt x="0" y="47625"/>
                  </a:lnTo>
                  <a:lnTo>
                    <a:pt x="82867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2445068" y="1883092"/>
              <a:ext cx="390525" cy="676275"/>
            </a:xfrm>
            <a:custGeom>
              <a:avLst/>
              <a:gdLst/>
              <a:ahLst/>
              <a:cxnLst/>
              <a:rect l="l" t="t" r="r" b="b"/>
              <a:pathLst>
                <a:path w="390525" h="676275">
                  <a:moveTo>
                    <a:pt x="0" y="676275"/>
                  </a:moveTo>
                  <a:lnTo>
                    <a:pt x="390525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2794635" y="1800225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0"/>
                  </a:moveTo>
                  <a:lnTo>
                    <a:pt x="82868" y="106680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2441258" y="2586038"/>
              <a:ext cx="160020" cy="366712"/>
            </a:xfrm>
            <a:custGeom>
              <a:avLst/>
              <a:gdLst/>
              <a:ahLst/>
              <a:cxnLst/>
              <a:rect l="l" t="t" r="r" b="b"/>
              <a:pathLst>
                <a:path w="160020" h="366712">
                  <a:moveTo>
                    <a:pt x="0" y="0"/>
                  </a:moveTo>
                  <a:lnTo>
                    <a:pt x="80010" y="366712"/>
                  </a:lnTo>
                  <a:lnTo>
                    <a:pt x="16002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2611755" y="1883092"/>
              <a:ext cx="390525" cy="676275"/>
            </a:xfrm>
            <a:custGeom>
              <a:avLst/>
              <a:gdLst/>
              <a:ahLst/>
              <a:cxnLst/>
              <a:rect l="l" t="t" r="r" b="b"/>
              <a:pathLst>
                <a:path w="390525" h="676275">
                  <a:moveTo>
                    <a:pt x="0" y="676275"/>
                  </a:moveTo>
                  <a:lnTo>
                    <a:pt x="390525" y="0"/>
                  </a:lnTo>
                </a:path>
              </a:pathLst>
            </a:custGeom>
            <a:noFill/>
            <a:ln w="20955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960370" y="1800225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0"/>
                  </a:moveTo>
                  <a:lnTo>
                    <a:pt x="82867" y="106680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19138" y="2566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748338" y="2566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71913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5748338" y="2947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143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477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0429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1763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2715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4049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5001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6335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7287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8621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9573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20907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21859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23193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24145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5479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6431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27765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28717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30051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31003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32337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33289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34623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35575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36909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7861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9195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40147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41481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42433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43767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44719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46053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47005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48339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9291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50625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51577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2911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53863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55197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5614988" y="3005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748338" y="31765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981200" y="17830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2433638" y="2566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2433638" y="2566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2886075" y="17830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2433638" y="2566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2599372" y="2566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2599372" y="256698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3051810" y="17830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787538" y="1587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3143773" y="16830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4051506" y="2124075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1.00 空气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4040185" y="2695575"/>
              <a:ext cx="987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n₂ = 2.35 ZnS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051506" y="3267075"/>
              <a:ext cx="964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n₃ = 1.55 玻璃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09638" y="2381250"/>
              <a:ext cx="86338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上表面：有 λ/2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09638" y="325755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下表面：无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formula61"/>
              <p:cNvSpPr txBox="1">
                <a:spLocks noGrp="1"/>
              </p:cNvSpPr>
              <p:nvPr/>
            </p:nvSpPr>
            <p:spPr>
              <a:xfrm>
                <a:off x="533400" y="3905250"/>
                <a:ext cx="5410200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: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kλ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2k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04" name="c1-text-3"/>
          <p:cNvGrpSpPr/>
          <p:nvPr/>
        </p:nvGrpSpPr>
        <p:grpSpPr>
          <a:xfrm>
            <a:off x="526923" y="4554379"/>
            <a:ext cx="4946650" cy="500824"/>
            <a:chOff x="526923" y="4554379"/>
            <a:chExt cx="4946650" cy="500824"/>
          </a:xfrm>
        </p:grpSpPr>
        <p:sp>
          <p:nvSpPr>
            <p:cNvPr id="103" name="TextBox 103"/>
            <p:cNvSpPr txBox="1"/>
            <p:nvPr/>
          </p:nvSpPr>
          <p:spPr>
            <a:xfrm>
              <a:off x="526923" y="4554379"/>
              <a:ext cx="49466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1 时最薄，e = λ/(4n₂)。ZnS 对 550 nm：e = 550/(4 × 2.35) 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58.5 nm。</a:t>
              </a:r>
            </a:p>
          </p:txBody>
        </p:sp>
      </p:grpSp>
      <p:grpSp>
        <p:nvGrpSpPr>
          <p:cNvPr id="109" name="c2-card-1"/>
          <p:cNvGrpSpPr/>
          <p:nvPr/>
        </p:nvGrpSpPr>
        <p:grpSpPr>
          <a:xfrm>
            <a:off x="6248400" y="1524000"/>
            <a:ext cx="5410200" cy="1887855"/>
            <a:chOff x="6248400" y="1524000"/>
            <a:chExt cx="5410200" cy="1887855"/>
          </a:xfrm>
        </p:grpSpPr>
        <p:sp>
          <p:nvSpPr>
            <p:cNvPr id="105" name="Rectangle 105"/>
            <p:cNvSpPr/>
            <p:nvPr/>
          </p:nvSpPr>
          <p:spPr>
            <a:xfrm>
              <a:off x="6248400" y="1524000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457950" y="1733550"/>
              <a:ext cx="29117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476251" y="1769269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增透与增反的最薄膜都是「四分之一波长」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450330" y="2110740"/>
              <a:ext cx="4777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两种膜最薄时光学厚度都是 n₂e = λ/4，来回一趟 λ/2。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区别只在于膜的折射率比基底小（再加一次半波损失，反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射相消）还是比基底大（没有这次半波损失，反射加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强）。</a:t>
              </a:r>
            </a:p>
          </p:txBody>
        </p:sp>
      </p:grpSp>
      <p:grpSp>
        <p:nvGrpSpPr>
          <p:cNvPr id="115" name="c2-card-2"/>
          <p:cNvGrpSpPr/>
          <p:nvPr/>
        </p:nvGrpSpPr>
        <p:grpSpPr>
          <a:xfrm>
            <a:off x="6248400" y="3602355"/>
            <a:ext cx="5410200" cy="1887855"/>
            <a:chOff x="6248400" y="3602355"/>
            <a:chExt cx="5410200" cy="1887855"/>
          </a:xfrm>
        </p:grpSpPr>
        <p:sp>
          <p:nvSpPr>
            <p:cNvPr id="110" name="Rectangle 110"/>
            <p:cNvSpPr/>
            <p:nvPr/>
          </p:nvSpPr>
          <p:spPr>
            <a:xfrm>
              <a:off x="6248400" y="3602355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257925" y="373570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6496050" y="38119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582308" y="38476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多层膜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6488430" y="4189095"/>
              <a:ext cx="47682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原课件图里 ZnS 上方还有一层 n = 1.38 的 MgF₂。实用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的高反射膜是高、低折射率材料交替镀成的多层膜，每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层光学厚度都是 λ/4，层数越多反射率越高，激光器的反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射镜就是这样做的。</a:t>
              </a:r>
            </a:p>
          </p:txBody>
        </p:sp>
      </p:grpSp>
      <p:grpSp>
        <p:nvGrpSpPr>
          <p:cNvPr id="12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16" name="Rectangle 11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0" name="Group 120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8" name="Freeform 118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9" name="Freeform 119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1" name="TextBox 121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增反膜同样可以用透射减弱来列式。反射与透射互补，只记反射光的加强、减弱条件即可。</a:t>
              </a:r>
            </a:p>
          </p:txBody>
        </p:sp>
      </p:grpSp>
      <p:grpSp>
        <p:nvGrpSpPr>
          <p:cNvPr id="1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3" name="TextBox 12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9857" cy="909257"/>
            <a:chOff x="520446" y="342900"/>
            <a:chExt cx="57698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98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例7.4　空气中的肥皂膜呈现什么颜色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594485"/>
            <a:chOff x="533400" y="1524000"/>
            <a:chExt cx="4869180" cy="15944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709" y="1763554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1803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空气中水平放置的肥皂膜，厚 e = 0.32 μm，折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射率 n₂ = 1.33，白光垂直照射。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692241"/>
              <a:ext cx="29392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从正面看，肥皂膜呈什么颜色？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304222"/>
            <a:ext cx="4869180" cy="1720215"/>
            <a:chOff x="533400" y="3304222"/>
            <a:chExt cx="4869180" cy="1720215"/>
          </a:xfrm>
        </p:grpSpPr>
        <p:sp>
          <p:nvSpPr>
            <p:cNvPr id="14" name="Rectangle 14"/>
            <p:cNvSpPr/>
            <p:nvPr/>
          </p:nvSpPr>
          <p:spPr>
            <a:xfrm>
              <a:off x="533400" y="3304222"/>
              <a:ext cx="486918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0231" y="34356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7884" y="3435668"/>
              <a:ext cx="13267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 = 4n₂e/(2k−1)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58640" y="34356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范围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8746" y="38652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17892" y="3865245"/>
              <a:ext cx="626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1702 nm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55326" y="38652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红外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5956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164330"/>
              <a:ext cx="486918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8746" y="429577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17892" y="4295775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567 nm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59505" y="4173855"/>
              <a:ext cx="173355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55326" y="42957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可见（黄绿）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5900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8746" y="47263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17892" y="4726305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340 nm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5326" y="47263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紫外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04222"/>
              <a:ext cx="486918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307782" y="330422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645218" y="3304222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steps-1"/>
          <p:cNvGrpSpPr/>
          <p:nvPr/>
        </p:nvGrpSpPr>
        <p:grpSpPr>
          <a:xfrm>
            <a:off x="5707380" y="1533525"/>
            <a:ext cx="5576316" cy="2632139"/>
            <a:chOff x="5707380" y="1533525"/>
            <a:chExt cx="5576316" cy="2632139"/>
          </a:xfrm>
        </p:grpSpPr>
        <p:sp>
          <p:nvSpPr>
            <p:cNvPr id="35" name="Rectangle 35"/>
            <p:cNvSpPr/>
            <p:nvPr/>
          </p:nvSpPr>
          <p:spPr>
            <a:xfrm>
              <a:off x="5840730" y="1676400"/>
              <a:ext cx="19050" cy="20831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5707380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01004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707380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801004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707380" y="361664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01004" y="3690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1924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判半波损失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20384" y="1846898"/>
              <a:ext cx="4769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 1 &lt; 膜 1.33 &gt; 空气 1，只有上表面反射有半波损失，要加 λ/2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19241" y="218741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反射加强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0384" y="2467927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2n₂e + λ/2 = kλ，k = 1, 2, 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19241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解出波长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120384" y="3088957"/>
              <a:ext cx="51633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2n₂e/(k − 1/2) = 4n₂e/(2k − 1)，4n₂e = 4 × 1.33 × 320 nm = 1702.4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119241" y="3650456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逐个试 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20384" y="3930968"/>
              <a:ext cx="3113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k = 2 的 567 nm 落在 400～760 nm 内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5707380" y="4341495"/>
            <a:ext cx="5951220" cy="1002982"/>
            <a:chOff x="5707380" y="4341495"/>
            <a:chExt cx="5951220" cy="1002982"/>
          </a:xfrm>
        </p:grpSpPr>
        <p:sp>
          <p:nvSpPr>
            <p:cNvPr id="53" name="Rectangle 53"/>
            <p:cNvSpPr/>
            <p:nvPr/>
          </p:nvSpPr>
          <p:spPr>
            <a:xfrm>
              <a:off x="5707380" y="4341495"/>
              <a:ext cx="5951220" cy="1002982"/>
            </a:xfrm>
            <a:prstGeom prst="roundRect">
              <a:avLst>
                <a:gd name="adj" fmla="val 1329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11215" y="454533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006325" y="458104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03976" y="4918234"/>
              <a:ext cx="4382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反射光中 567 nm 加强，肥皂膜呈绿色（偏黄绿）。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8" name="Rectangle 5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5753576"/>
              <a:ext cx="992416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原课件把三个波长写成 1700、567、340 nm，是 1702.4、567.5、340.5 nm 的约数。从背面看透射光时正好缺 567 nm，颜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色偏紫红。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63379" cy="909257"/>
            <a:chOff x="520446" y="342900"/>
            <a:chExt cx="50633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薄膜干涉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633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例7.5　MgF₂ 增透膜的最小厚度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651635"/>
            <a:chOff x="533400" y="1524000"/>
            <a:chExt cx="486918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424" y="1769269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照相机镜头 n₃ = 1.52，表面镀 MgF₂ 薄膜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n₂ = 1.38，要使 λ = 550 nm 的光反射最小。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2259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MgF₂ 膜的最小厚度。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366135"/>
            <a:ext cx="4869180" cy="1905952"/>
            <a:chOff x="533400" y="3366135"/>
            <a:chExt cx="4869180" cy="1905952"/>
          </a:xfrm>
        </p:grpSpPr>
        <p:sp>
          <p:nvSpPr>
            <p:cNvPr id="14" name="Rectangle 14"/>
            <p:cNvSpPr/>
            <p:nvPr/>
          </p:nvSpPr>
          <p:spPr>
            <a:xfrm>
              <a:off x="533400" y="3366135"/>
              <a:ext cx="4869180" cy="1905952"/>
            </a:xfrm>
            <a:prstGeom prst="roundRect">
              <a:avLst>
                <a:gd name="adj" fmla="val 69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99485"/>
              <a:ext cx="47625" cy="1639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756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6114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01574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952875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光学厚度 n₂e = 1.38 × 99.6 nm = 137.5 nm =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6367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57390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次小厚度取 k = 1：3λ/(4n₂) = 299 nm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707380" y="1533525"/>
            <a:ext cx="5939612" cy="2529173"/>
            <a:chOff x="5707380" y="1533525"/>
            <a:chExt cx="5939612" cy="2529173"/>
          </a:xfrm>
        </p:grpSpPr>
        <p:sp>
          <p:nvSpPr>
            <p:cNvPr id="23" name="Rectangle 23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8860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判半波损失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003" y="1861661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n₁ = 1 &lt; n₂ = 1.38 &lt; n₃ = 1.52，上下两次反射都有半波损失，互相抵消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886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2512219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2n₂e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1886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反射相消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3162776"/>
              <a:ext cx="2830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2n₂e = (2k + 1)λ/2，k = 0, 1, 2, 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18860" y="35204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3813334"/>
              <a:ext cx="48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0：e = λ/(4n₂) = 5.5×10⁻⁷/(4 × 1.38) m ≈ 9.96×10⁻⁸ m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707380" y="4241482"/>
            <a:ext cx="5951220" cy="1030605"/>
            <a:chOff x="5707380" y="4241482"/>
            <a:chExt cx="5951220" cy="1030605"/>
          </a:xfrm>
        </p:grpSpPr>
        <p:sp>
          <p:nvSpPr>
            <p:cNvPr id="41" name="Rectangle 41"/>
            <p:cNvSpPr/>
            <p:nvPr/>
          </p:nvSpPr>
          <p:spPr>
            <a:xfrm>
              <a:off x="5707380" y="4241482"/>
              <a:ext cx="5951220" cy="1030605"/>
            </a:xfrm>
            <a:prstGeom prst="roundRect">
              <a:avLst>
                <a:gd name="adj" fmla="val 129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16930" y="445103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12040" y="44867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09310" y="4828222"/>
              <a:ext cx="3761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最小厚度 e ≈ 1.00×10⁻⁷ m，约 100 nm。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89708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误加 λ/2 会得到 e = λ/(2n₂) ≈ 199 nm，这个厚度恰好让 550 nm 反射加强，增透膜变成了增反膜。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23648" cy="3675697"/>
            <a:chOff x="667512" y="1835468"/>
            <a:chExt cx="6323648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劈尖干涉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13742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7.3.2，厚度随位置线性变化，条纹是平行于棱边的等间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距直线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劈尖与等厚干涉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明暗条件与棱边暗纹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厚度差 λ/(2n) 与间距 l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三道例题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劈尖干涉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劈尖：夹角很小的两个平面之间的薄膜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304" y="1544002"/>
            <a:ext cx="5186172" cy="470916"/>
            <a:chOff x="527304" y="1544002"/>
            <a:chExt cx="5186172" cy="470916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544002"/>
              <a:ext cx="518617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 θ 画大了很多。实际 θ 约 10⁻⁴～10⁻⁵ rad，入射光、两束反射光几乎重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合。</a:t>
              </a:r>
            </a:p>
          </p:txBody>
        </p:sp>
      </p:grpSp>
      <p:grpSp>
        <p:nvGrpSpPr>
          <p:cNvPr id="48" name="g_wedge"/>
          <p:cNvGrpSpPr/>
          <p:nvPr/>
        </p:nvGrpSpPr>
        <p:grpSpPr>
          <a:xfrm>
            <a:off x="847052" y="2733675"/>
            <a:ext cx="4853661" cy="2996089"/>
            <a:chOff x="847052" y="2733675"/>
            <a:chExt cx="4853661" cy="2996089"/>
          </a:xfrm>
        </p:grpSpPr>
        <p:sp>
          <p:nvSpPr>
            <p:cNvPr id="9" name="Freeform 9"/>
            <p:cNvSpPr/>
            <p:nvPr/>
          </p:nvSpPr>
          <p:spPr>
            <a:xfrm>
              <a:off x="998220" y="5362575"/>
              <a:ext cx="4683442" cy="9525"/>
            </a:xfrm>
            <a:custGeom>
              <a:avLst/>
              <a:gdLst/>
              <a:ahLst/>
              <a:cxnLst/>
              <a:rect l="l" t="t" r="r" b="b"/>
              <a:pathLst>
                <a:path w="4683442" h="9525">
                  <a:moveTo>
                    <a:pt x="0" y="0"/>
                  </a:moveTo>
                  <a:lnTo>
                    <a:pt x="4683442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98220" y="4213860"/>
              <a:ext cx="4592002" cy="1144905"/>
            </a:xfrm>
            <a:custGeom>
              <a:avLst/>
              <a:gdLst/>
              <a:ahLst/>
              <a:cxnLst/>
              <a:rect l="l" t="t" r="r" b="b"/>
              <a:pathLst>
                <a:path w="4592002" h="1144905">
                  <a:moveTo>
                    <a:pt x="0" y="1144905"/>
                  </a:moveTo>
                  <a:lnTo>
                    <a:pt x="4592002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51935" y="2752725"/>
              <a:ext cx="9525" cy="2500312"/>
            </a:xfrm>
            <a:custGeom>
              <a:avLst/>
              <a:gdLst/>
              <a:ahLst/>
              <a:cxnLst/>
              <a:rect l="l" t="t" r="r" b="b"/>
              <a:pathLst>
                <a:path w="9525" h="2500312">
                  <a:moveTo>
                    <a:pt x="0" y="0"/>
                  </a:moveTo>
                  <a:lnTo>
                    <a:pt x="0" y="2500312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004310" y="52530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125278" y="2922270"/>
              <a:ext cx="9525" cy="1643062"/>
            </a:xfrm>
            <a:custGeom>
              <a:avLst/>
              <a:gdLst/>
              <a:ahLst/>
              <a:cxnLst/>
              <a:rect l="l" t="t" r="r" b="b"/>
              <a:pathLst>
                <a:path w="9525" h="1643062">
                  <a:moveTo>
                    <a:pt x="0" y="1643062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F4B9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077652" y="28270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199572" y="2922270"/>
              <a:ext cx="9525" cy="2426018"/>
            </a:xfrm>
            <a:custGeom>
              <a:avLst/>
              <a:gdLst/>
              <a:ahLst/>
              <a:cxnLst/>
              <a:rect l="l" t="t" r="r" b="b"/>
              <a:pathLst>
                <a:path w="9525" h="2426018">
                  <a:moveTo>
                    <a:pt x="0" y="242601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51948" y="28270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956810" y="4481512"/>
              <a:ext cx="9525" cy="771525"/>
            </a:xfrm>
            <a:custGeom>
              <a:avLst/>
              <a:gdLst/>
              <a:ahLst/>
              <a:cxnLst/>
              <a:rect l="l" t="t" r="r" b="b"/>
              <a:pathLst>
                <a:path w="9525" h="771525">
                  <a:moveTo>
                    <a:pt x="0" y="77152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909185" y="43862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909185" y="52530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1615440" y="5219700"/>
              <a:ext cx="15240" cy="128588"/>
            </a:xfrm>
            <a:custGeom>
              <a:avLst/>
              <a:gdLst/>
              <a:ahLst/>
              <a:cxnLst/>
              <a:rect l="l" t="t" r="r" b="b"/>
              <a:pathLst>
                <a:path w="15240" h="128588">
                  <a:moveTo>
                    <a:pt x="15240" y="128588"/>
                  </a:moveTo>
                  <a:lnTo>
                    <a:pt x="15240" y="126682"/>
                  </a:lnTo>
                  <a:lnTo>
                    <a:pt x="14288" y="111443"/>
                  </a:lnTo>
                  <a:lnTo>
                    <a:pt x="13335" y="95250"/>
                  </a:lnTo>
                  <a:lnTo>
                    <a:pt x="12383" y="80010"/>
                  </a:lnTo>
                  <a:lnTo>
                    <a:pt x="10477" y="63818"/>
                  </a:lnTo>
                  <a:lnTo>
                    <a:pt x="8573" y="48578"/>
                  </a:lnTo>
                  <a:lnTo>
                    <a:pt x="5715" y="32385"/>
                  </a:lnTo>
                  <a:lnTo>
                    <a:pt x="2858" y="17145"/>
                  </a:lnTo>
                  <a:lnTo>
                    <a:pt x="0" y="190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79170" y="5357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691188" y="5357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79170" y="5357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598795" y="42062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047172" y="27336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047172" y="5357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120515" y="45748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120515" y="28079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194810" y="5357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194810" y="28079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087178" y="4541520"/>
              <a:ext cx="76200" cy="76200"/>
            </a:xfrm>
            <a:prstGeom prst="ellipse">
              <a:avLst/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952048" y="5357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952048" y="43672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625918" y="535781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606868" y="520160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73144" y="2793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95343" y="2922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68152" y="2922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25925" y="437530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52658" y="4787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30019" y="52144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7052" y="55011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棱边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74924" y="5140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69425" y="40867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31388" y="550973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n′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10512" y="2803684"/>
              <a:ext cx="87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b：上表面反射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810512" y="3025616"/>
              <a:ext cx="87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c：下表面反射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248400" y="1524000"/>
            <a:ext cx="5410200" cy="1545908"/>
            <a:chOff x="6248400" y="1524000"/>
            <a:chExt cx="5410200" cy="1545908"/>
          </a:xfrm>
        </p:grpSpPr>
        <p:sp>
          <p:nvSpPr>
            <p:cNvPr id="49" name="Rectangle 49"/>
            <p:cNvSpPr/>
            <p:nvPr/>
          </p:nvSpPr>
          <p:spPr>
            <a:xfrm>
              <a:off x="6248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90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80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劈尖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3096" y="21007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两个平面夹角很小（θ 约 10⁻⁴～10⁻⁵ rad）时，它们之间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的薄膜叫劈尖。两块平玻璃一端接触、另一端垫一根细丝或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一张纸，中间的空气层就是空气劈尖。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248400" y="3255645"/>
            <a:ext cx="5410200" cy="1545908"/>
            <a:chOff x="6248400" y="3255645"/>
            <a:chExt cx="5410200" cy="1545908"/>
          </a:xfrm>
        </p:grpSpPr>
        <p:sp>
          <p:nvSpPr>
            <p:cNvPr id="55" name="Rectangle 55"/>
            <p:cNvSpPr/>
            <p:nvPr/>
          </p:nvSpPr>
          <p:spPr>
            <a:xfrm>
              <a:off x="6248400" y="325564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338899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0335" y="345948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7742" y="349519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干涉的形成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83096" y="3832384"/>
              <a:ext cx="4730369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单色平行光垂直入射，膜上表面反射的 b 和下表面反射的 c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来自同一束入射光，在膜面附近（如 A 点）相遇干涉，形成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明纹或暗纹。</a:t>
              </a:r>
            </a:p>
          </p:txBody>
        </p:sp>
      </p:grpSp>
      <p:grpSp>
        <p:nvGrpSpPr>
          <p:cNvPr id="65" name="c2-card-3"/>
          <p:cNvGrpSpPr/>
          <p:nvPr/>
        </p:nvGrpSpPr>
        <p:grpSpPr>
          <a:xfrm>
            <a:off x="6248400" y="4987290"/>
            <a:ext cx="5410200" cy="1274445"/>
            <a:chOff x="6248400" y="4987290"/>
            <a:chExt cx="5410200" cy="1274445"/>
          </a:xfrm>
        </p:grpSpPr>
        <p:sp>
          <p:nvSpPr>
            <p:cNvPr id="61" name="Rectangle 61"/>
            <p:cNvSpPr/>
            <p:nvPr/>
          </p:nvSpPr>
          <p:spPr>
            <a:xfrm>
              <a:off x="6248400" y="498729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52235" y="5191125"/>
              <a:ext cx="276606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74842" y="5226844"/>
              <a:ext cx="27208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等厚干涉（equal thickness fringes）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44996" y="556402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厚度相同处光程差相同，对应同一条条纹，所以条纹是一组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平行于棱边、明暗相间的直条纹。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劈尖干涉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劈尖的明暗条件：空气劈尖的棱边是暗纹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63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8420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kλ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,⋯</m:t>
                              </m:r>
                            </m:e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f>
                                <m:fPr>
                                  <m:type m:val="bar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num>
                                <m:den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,⋯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923" y="2576989"/>
            <a:ext cx="4613727" cy="249364"/>
            <a:chOff x="526923" y="2576989"/>
            <a:chExt cx="4613727" cy="249364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2576989"/>
              <a:ext cx="4613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上行为明纹，下行为暗纹。空气劈尖 n₂ = 1：δ = 2e + λ/2。</a:t>
              </a:r>
            </a:p>
          </p:txBody>
        </p:sp>
      </p:grpSp>
      <p:grpSp>
        <p:nvGrpSpPr>
          <p:cNvPr id="34" name="c1-table-3"/>
          <p:cNvGrpSpPr/>
          <p:nvPr/>
        </p:nvGrpSpPr>
        <p:grpSpPr>
          <a:xfrm>
            <a:off x="533400" y="2967038"/>
            <a:ext cx="5410200" cy="2244090"/>
            <a:chOff x="533400" y="2967038"/>
            <a:chExt cx="5410200" cy="2244090"/>
          </a:xfrm>
        </p:grpSpPr>
        <p:sp>
          <p:nvSpPr>
            <p:cNvPr id="10" name="Rectangle 10"/>
            <p:cNvSpPr/>
            <p:nvPr/>
          </p:nvSpPr>
          <p:spPr>
            <a:xfrm>
              <a:off x="533400" y="2967038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93826" y="31018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从棱边数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52141" y="31018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暗纹厚度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45711" y="31018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明纹厚度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3551396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64283" y="3551396"/>
              <a:ext cx="796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0（棱边）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57853" y="355139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λ/(4n₂)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8595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386429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1223" y="4000024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64283" y="400002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λ/(2n₂)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57853" y="400002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3λ/(4n₂)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43081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44865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64283" y="444865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λ/n₂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57853" y="444865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5λ/(4n₂)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7577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76250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1223" y="4897279"/>
              <a:ext cx="601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m 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64283" y="4897279"/>
              <a:ext cx="1184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(m−1)λ/(2n₂)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57853" y="489727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(2m−1)λ/(4n₂)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967038"/>
              <a:ext cx="541020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151698" y="2967038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045268" y="2967038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1887855"/>
            <a:chOff x="6248400" y="1524000"/>
            <a:chExt cx="5410200" cy="188785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88430" y="2110740"/>
              <a:ext cx="46729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30 页空气劈尖的明、暗条件都标 k = 0, 1,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…。明纹 2e + λ/2 = kλ 在 k = 0 时 e = −λ/4 &lt; 0，不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明纹应从 k = 1 起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；暗纹从 k = 0 起，k = 0 就是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棱边。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3602355"/>
            <a:ext cx="5410200" cy="1608772"/>
            <a:chOff x="6248400" y="3602355"/>
            <a:chExt cx="5410200" cy="1608772"/>
          </a:xfrm>
        </p:grpSpPr>
        <p:sp>
          <p:nvSpPr>
            <p:cNvPr id="41" name="Rectangle 41"/>
            <p:cNvSpPr/>
            <p:nvPr/>
          </p:nvSpPr>
          <p:spPr>
            <a:xfrm>
              <a:off x="6248400" y="3602355"/>
              <a:ext cx="5410200" cy="1608772"/>
            </a:xfrm>
            <a:prstGeom prst="roundRect">
              <a:avLst>
                <a:gd name="adj" fmla="val 828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57950" y="381190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22555" y="384762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棱边为什么是暗纹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50330" y="4189095"/>
              <a:ext cx="4711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棱边 e = 0，两束反射光的光程差只剩半波损失带来的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λ/2，所以是暗纹。实验上棱边确实是暗的，这又一次证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明了半波损失。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100006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数条纹前先定第一条对应的 k。暗纹从棱边算起是 k = 0，明纹第一条是 k = 1，「第 m 条」与 k 差几要写清楚。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61374" cy="909257"/>
            <a:chOff x="520446" y="342900"/>
            <a:chExt cx="74613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劈尖干涉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613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相邻条纹对应厚度差 λ/(2n)，间距 l = λ/(2nθ)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2" name="g_wedgefr"/>
          <p:cNvGrpSpPr/>
          <p:nvPr/>
        </p:nvGrpSpPr>
        <p:grpSpPr>
          <a:xfrm>
            <a:off x="886778" y="1826419"/>
            <a:ext cx="4874371" cy="3457099"/>
            <a:chOff x="886778" y="1826419"/>
            <a:chExt cx="4874371" cy="3457099"/>
          </a:xfrm>
        </p:grpSpPr>
        <p:sp>
          <p:nvSpPr>
            <p:cNvPr id="7" name="Freeform 7"/>
            <p:cNvSpPr/>
            <p:nvPr/>
          </p:nvSpPr>
          <p:spPr>
            <a:xfrm>
              <a:off x="905828" y="4931092"/>
              <a:ext cx="4683442" cy="9525"/>
            </a:xfrm>
            <a:custGeom>
              <a:avLst/>
              <a:gdLst/>
              <a:ahLst/>
              <a:cxnLst/>
              <a:rect l="l" t="t" r="r" b="b"/>
              <a:pathLst>
                <a:path w="4683442" h="9525">
                  <a:moveTo>
                    <a:pt x="0" y="0"/>
                  </a:moveTo>
                  <a:lnTo>
                    <a:pt x="4683442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04875" y="3365182"/>
              <a:ext cx="4685348" cy="1561148"/>
            </a:xfrm>
            <a:custGeom>
              <a:avLst/>
              <a:gdLst/>
              <a:ahLst/>
              <a:cxnLst/>
              <a:rect l="l" t="t" r="r" b="b"/>
              <a:pathLst>
                <a:path w="4685348" h="1561148">
                  <a:moveTo>
                    <a:pt x="0" y="1561148"/>
                  </a:moveTo>
                  <a:lnTo>
                    <a:pt x="4685348" y="0"/>
                  </a:lnTo>
                </a:path>
              </a:pathLst>
            </a:custGeom>
            <a:noFill/>
            <a:ln w="22860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603558" y="3374708"/>
              <a:ext cx="9525" cy="1542098"/>
            </a:xfrm>
            <a:custGeom>
              <a:avLst/>
              <a:gdLst/>
              <a:ahLst/>
              <a:cxnLst/>
              <a:rect l="l" t="t" r="r" b="b"/>
              <a:pathLst>
                <a:path w="9525" h="1542098">
                  <a:moveTo>
                    <a:pt x="0" y="1542098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91540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83970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D9770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91540" y="2681288"/>
              <a:ext cx="9525" cy="2235518"/>
            </a:xfrm>
            <a:custGeom>
              <a:avLst/>
              <a:gdLst/>
              <a:ahLst/>
              <a:cxnLst/>
              <a:rect l="l" t="t" r="r" b="b"/>
              <a:pathLst>
                <a:path w="9525" h="2235518">
                  <a:moveTo>
                    <a:pt x="0" y="0"/>
                  </a:moveTo>
                  <a:lnTo>
                    <a:pt x="0" y="223551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1677352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069782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D97706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77352" y="2681288"/>
              <a:ext cx="9525" cy="1973580"/>
            </a:xfrm>
            <a:custGeom>
              <a:avLst/>
              <a:gdLst/>
              <a:ahLst/>
              <a:cxnLst/>
              <a:rect l="l" t="t" r="r" b="b"/>
              <a:pathLst>
                <a:path w="9525" h="1973580">
                  <a:moveTo>
                    <a:pt x="0" y="0"/>
                  </a:moveTo>
                  <a:lnTo>
                    <a:pt x="0" y="197358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2462212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54642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D9770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62212" y="2681288"/>
              <a:ext cx="9525" cy="1711642"/>
            </a:xfrm>
            <a:custGeom>
              <a:avLst/>
              <a:gdLst/>
              <a:ahLst/>
              <a:cxnLst/>
              <a:rect l="l" t="t" r="r" b="b"/>
              <a:pathLst>
                <a:path w="9525" h="1711642">
                  <a:moveTo>
                    <a:pt x="0" y="0"/>
                  </a:moveTo>
                  <a:lnTo>
                    <a:pt x="0" y="1711642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3248025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640455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D9770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248025" y="2681288"/>
              <a:ext cx="9525" cy="1450658"/>
            </a:xfrm>
            <a:custGeom>
              <a:avLst/>
              <a:gdLst/>
              <a:ahLst/>
              <a:cxnLst/>
              <a:rect l="l" t="t" r="r" b="b"/>
              <a:pathLst>
                <a:path w="9525" h="1450658">
                  <a:moveTo>
                    <a:pt x="0" y="0"/>
                  </a:moveTo>
                  <a:lnTo>
                    <a:pt x="0" y="145065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4032885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425315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D97706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032885" y="2681288"/>
              <a:ext cx="9525" cy="1188720"/>
            </a:xfrm>
            <a:custGeom>
              <a:avLst/>
              <a:gdLst/>
              <a:ahLst/>
              <a:cxnLst/>
              <a:rect l="l" t="t" r="r" b="b"/>
              <a:pathLst>
                <a:path w="9525" h="1188720">
                  <a:moveTo>
                    <a:pt x="0" y="0"/>
                  </a:moveTo>
                  <a:lnTo>
                    <a:pt x="0" y="118872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5" name="Freeform 25"/>
            <p:cNvSpPr/>
            <p:nvPr/>
          </p:nvSpPr>
          <p:spPr>
            <a:xfrm>
              <a:off x="4818698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211128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D9770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818698" y="2681288"/>
              <a:ext cx="9525" cy="926783"/>
            </a:xfrm>
            <a:custGeom>
              <a:avLst/>
              <a:gdLst/>
              <a:ahLst/>
              <a:cxnLst/>
              <a:rect l="l" t="t" r="r" b="b"/>
              <a:pathLst>
                <a:path w="9525" h="926783">
                  <a:moveTo>
                    <a:pt x="0" y="0"/>
                  </a:moveTo>
                  <a:lnTo>
                    <a:pt x="0" y="926783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5603558" y="2071688"/>
              <a:ext cx="9525" cy="525780"/>
            </a:xfrm>
            <a:custGeom>
              <a:avLst/>
              <a:gdLst/>
              <a:ahLst/>
              <a:cxnLst/>
              <a:rect l="l" t="t" r="r" b="b"/>
              <a:pathLst>
                <a:path w="9525" h="525780">
                  <a:moveTo>
                    <a:pt x="0" y="0"/>
                  </a:moveTo>
                  <a:lnTo>
                    <a:pt x="0" y="525780"/>
                  </a:lnTo>
                </a:path>
              </a:pathLst>
            </a:custGeom>
            <a:noFill/>
            <a:ln w="11430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603558" y="2681288"/>
              <a:ext cx="9525" cy="664845"/>
            </a:xfrm>
            <a:custGeom>
              <a:avLst/>
              <a:gdLst/>
              <a:ahLst/>
              <a:cxnLst/>
              <a:rect l="l" t="t" r="r" b="b"/>
              <a:pathLst>
                <a:path w="9525" h="664845">
                  <a:moveTo>
                    <a:pt x="0" y="0"/>
                  </a:moveTo>
                  <a:lnTo>
                    <a:pt x="0" y="66484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3357562" y="2833688"/>
              <a:ext cx="565785" cy="9525"/>
            </a:xfrm>
            <a:custGeom>
              <a:avLst/>
              <a:gdLst/>
              <a:ahLst/>
              <a:cxnLst/>
              <a:rect l="l" t="t" r="r" b="b"/>
              <a:pathLst>
                <a:path w="565785" h="9525">
                  <a:moveTo>
                    <a:pt x="0" y="0"/>
                  </a:moveTo>
                  <a:lnTo>
                    <a:pt x="565785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923348" y="2786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262312" y="27860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032885" y="3898582"/>
              <a:ext cx="9525" cy="1018223"/>
            </a:xfrm>
            <a:custGeom>
              <a:avLst/>
              <a:gdLst/>
              <a:ahLst/>
              <a:cxnLst/>
              <a:rect l="l" t="t" r="r" b="b"/>
              <a:pathLst>
                <a:path w="9525" h="1018223">
                  <a:moveTo>
                    <a:pt x="0" y="1018223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818698" y="3636645"/>
              <a:ext cx="9525" cy="1280160"/>
            </a:xfrm>
            <a:custGeom>
              <a:avLst/>
              <a:gdLst/>
              <a:ahLst/>
              <a:cxnLst/>
              <a:rect l="l" t="t" r="r" b="b"/>
              <a:pathLst>
                <a:path w="9525" h="1280160">
                  <a:moveTo>
                    <a:pt x="0" y="128016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B4231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047172" y="3884295"/>
              <a:ext cx="1034415" cy="9525"/>
            </a:xfrm>
            <a:custGeom>
              <a:avLst/>
              <a:gdLst/>
              <a:ahLst/>
              <a:cxnLst/>
              <a:rect l="l" t="t" r="r" b="b"/>
              <a:pathLst>
                <a:path w="1034415" h="9525">
                  <a:moveTo>
                    <a:pt x="0" y="0"/>
                  </a:moveTo>
                  <a:lnTo>
                    <a:pt x="103441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5039678" y="3731895"/>
              <a:ext cx="9525" cy="42862"/>
            </a:xfrm>
            <a:custGeom>
              <a:avLst/>
              <a:gdLst/>
              <a:ahLst/>
              <a:cxnLst/>
              <a:rect l="l" t="t" r="r" b="b"/>
              <a:pathLst>
                <a:path w="9525" h="42862">
                  <a:moveTo>
                    <a:pt x="0" y="4286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4992052" y="36366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4992052" y="37747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1597342" y="4711065"/>
              <a:ext cx="33338" cy="205740"/>
            </a:xfrm>
            <a:custGeom>
              <a:avLst/>
              <a:gdLst/>
              <a:ahLst/>
              <a:cxnLst/>
              <a:rect l="l" t="t" r="r" b="b"/>
              <a:pathLst>
                <a:path w="33338" h="205740">
                  <a:moveTo>
                    <a:pt x="33338" y="205740"/>
                  </a:moveTo>
                  <a:lnTo>
                    <a:pt x="33338" y="196215"/>
                  </a:lnTo>
                  <a:lnTo>
                    <a:pt x="32385" y="172403"/>
                  </a:lnTo>
                  <a:lnTo>
                    <a:pt x="29528" y="148590"/>
                  </a:lnTo>
                  <a:lnTo>
                    <a:pt x="27623" y="124777"/>
                  </a:lnTo>
                  <a:lnTo>
                    <a:pt x="23812" y="101917"/>
                  </a:lnTo>
                  <a:lnTo>
                    <a:pt x="20003" y="78105"/>
                  </a:lnTo>
                  <a:lnTo>
                    <a:pt x="15240" y="55245"/>
                  </a:lnTo>
                  <a:lnTo>
                    <a:pt x="9525" y="31432"/>
                  </a:lnTo>
                  <a:lnTo>
                    <a:pt x="2858" y="952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01078" y="5235892"/>
              <a:ext cx="4492942" cy="9525"/>
            </a:xfrm>
            <a:custGeom>
              <a:avLst/>
              <a:gdLst/>
              <a:ahLst/>
              <a:cxnLst/>
              <a:rect l="l" t="t" r="r" b="b"/>
              <a:pathLst>
                <a:path w="4492942" h="9525">
                  <a:moveTo>
                    <a:pt x="0" y="0"/>
                  </a:moveTo>
                  <a:lnTo>
                    <a:pt x="449294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494020" y="51882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05828" y="51882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86778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598795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86778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598795" y="33556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598795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5598795" y="33556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86778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886778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279208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1279208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86778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886778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672590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672590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065020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2065020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672590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672590" y="46643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2457450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2457450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2849880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2849880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2457450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2457450" y="440245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3243262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3243262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3635692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3635692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3243262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3243262" y="41414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4028122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4028122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4420552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4420552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4028122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4028122" y="38795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4813935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4813935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5206365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5206365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4813935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4813935" y="36175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5598795" y="20526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5598795" y="26069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5598795" y="26622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5598795" y="33556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3243262" y="28289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Ellipse 90"/>
            <p:cNvSpPr/>
            <p:nvPr/>
          </p:nvSpPr>
          <p:spPr>
            <a:xfrm>
              <a:off x="4028122" y="28289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4028122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2" name="Ellipse 92"/>
            <p:cNvSpPr/>
            <p:nvPr/>
          </p:nvSpPr>
          <p:spPr>
            <a:xfrm>
              <a:off x="4028122" y="38795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3" name="Ellipse 93"/>
            <p:cNvSpPr/>
            <p:nvPr/>
          </p:nvSpPr>
          <p:spPr>
            <a:xfrm>
              <a:off x="4813935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Ellipse 94"/>
            <p:cNvSpPr/>
            <p:nvPr/>
          </p:nvSpPr>
          <p:spPr>
            <a:xfrm>
              <a:off x="4813935" y="36175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4028122" y="38795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6" name="Ellipse 96"/>
            <p:cNvSpPr/>
            <p:nvPr/>
          </p:nvSpPr>
          <p:spPr>
            <a:xfrm>
              <a:off x="5091112" y="38795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5034915" y="387953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Ellipse 98"/>
            <p:cNvSpPr/>
            <p:nvPr/>
          </p:nvSpPr>
          <p:spPr>
            <a:xfrm>
              <a:off x="5034915" y="36175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1625918" y="49263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1587818" y="46929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886778" y="52311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5598795" y="523113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2319579" y="182641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俯视：暗纹（黑）与明纹（橙）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3608916" y="2643188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3817333" y="467677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eₖ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852986" y="46767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eₖ₊₁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5136141" y="3683318"/>
              <a:ext cx="178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Δe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730019" y="47639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2412961" y="47277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3199566" y="503682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5668851" y="40767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formula70"/>
              <p:cNvSpPr txBox="1">
                <a:spLocks noGrp="1"/>
              </p:cNvSpPr>
              <p:nvPr/>
            </p:nvSpPr>
            <p:spPr>
              <a:xfrm>
                <a:off x="6248400" y="1524000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formula71"/>
              <p:cNvSpPr txBox="1">
                <a:spLocks noGrp="1"/>
              </p:cNvSpPr>
              <p:nvPr/>
            </p:nvSpPr>
            <p:spPr>
              <a:xfrm>
                <a:off x="6248400" y="2224088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num>
                        <m:den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θ</m:t>
                              </m:r>
                            </m:e>
                          </m:func>
                        </m:den>
                      </m:f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2nθ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formula72"/>
              <p:cNvSpPr txBox="1">
                <a:spLocks noGrp="1"/>
              </p:cNvSpPr>
              <p:nvPr/>
            </p:nvSpPr>
            <p:spPr>
              <a:xfrm>
                <a:off x="6248400" y="2923222"/>
                <a:ext cx="5410200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θ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⇒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Dλ</m:t>
                          </m:r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2nd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20" name="c2-bullets-4"/>
          <p:cNvGrpSpPr/>
          <p:nvPr/>
        </p:nvGrpSpPr>
        <p:grpSpPr>
          <a:xfrm>
            <a:off x="6256020" y="3646646"/>
            <a:ext cx="4720687" cy="608267"/>
            <a:chOff x="6256020" y="3646646"/>
            <a:chExt cx="4720687" cy="608267"/>
          </a:xfrm>
        </p:grpSpPr>
        <p:sp>
          <p:nvSpPr>
            <p:cNvPr id="116" name="Ellipse 116"/>
            <p:cNvSpPr/>
            <p:nvPr/>
          </p:nvSpPr>
          <p:spPr>
            <a:xfrm>
              <a:off x="6256020" y="370713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412611" y="3646646"/>
              <a:ext cx="43538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θ 越小，条纹越稀；θ 增大，条纹向棱边收拢、变密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6256020" y="403574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412611" y="3976211"/>
              <a:ext cx="45640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劈尖里充入液体（n 变大），间距缩小为空气时的 1/n</a:t>
              </a:r>
            </a:p>
          </p:txBody>
        </p:sp>
      </p:grpSp>
      <p:grpSp>
        <p:nvGrpSpPr>
          <p:cNvPr id="126" name="c2-card-5"/>
          <p:cNvGrpSpPr/>
          <p:nvPr/>
        </p:nvGrpSpPr>
        <p:grpSpPr>
          <a:xfrm>
            <a:off x="6248400" y="4384358"/>
            <a:ext cx="5410200" cy="1274445"/>
            <a:chOff x="6248400" y="4384358"/>
            <a:chExt cx="5410200" cy="1274445"/>
          </a:xfrm>
        </p:grpSpPr>
        <p:sp>
          <p:nvSpPr>
            <p:cNvPr id="121" name="Rectangle 121"/>
            <p:cNvSpPr/>
            <p:nvPr/>
          </p:nvSpPr>
          <p:spPr>
            <a:xfrm>
              <a:off x="6248400" y="4384358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6257925" y="451770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490335" y="45881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580543" y="46239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6483096" y="4961096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空气劈尖 θ = 1.5×10⁻⁴ rad，λ = 600 nm：l = λ/(2θ)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 mm；充水（n = 1.33）后 l = 1.5 mm。</a:t>
              </a:r>
            </a:p>
          </p:txBody>
        </p:sp>
      </p:grpSp>
      <p:grpSp>
        <p:nvGrpSpPr>
          <p:cNvPr id="13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27" name="Rectangle 12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30" name="Group 130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9" name="Freeform 129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31" name="TextBox 131"/>
            <p:cNvSpPr txBox="1"/>
            <p:nvPr/>
          </p:nvSpPr>
          <p:spPr>
            <a:xfrm>
              <a:off x="1040511" y="6004084"/>
              <a:ext cx="88747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每移过一条条纹，膜厚变化 λ/(2n)。数出从棱边到细丝一共有几个间隔，乘以 λ/(2n) 就是细丝直径 d。</a:t>
              </a:r>
            </a:p>
          </p:txBody>
        </p:sp>
      </p:grpSp>
      <p:grpSp>
        <p:nvGrpSpPr>
          <p:cNvPr id="1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3" name="TextBox 13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劈尖干涉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劈尖的用途：测细丝直径、检验平面的平整度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12645"/>
            <a:chOff x="533400" y="1524000"/>
            <a:chExt cx="5410200" cy="21126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12645"/>
            </a:xfrm>
            <a:prstGeom prst="roundRect">
              <a:avLst>
                <a:gd name="adj" fmla="val 63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459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3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测细丝直径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细丝夹在两块平玻璃一端，离棱边 D。测出条纹间距 l，空气劈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尖 l = Dλ/(2d)，于是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77"/>
                <p:cNvSpPr txBox="1">
                  <a:spLocks noGrp="1"/>
                </p:cNvSpPr>
                <p:nvPr/>
              </p:nvSpPr>
              <p:spPr>
                <a:xfrm>
                  <a:off x="763905" y="2610802"/>
                  <a:ext cx="498729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Dλ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2l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3233738"/>
              <a:ext cx="47731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也可以直接数条纹：从棱边到细丝共 N 个间隔，d = Nλ/2。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11905"/>
            <a:ext cx="5410200" cy="1520190"/>
            <a:chOff x="533400" y="3811905"/>
            <a:chExt cx="5410200" cy="1520190"/>
          </a:xfrm>
        </p:grpSpPr>
        <p:sp>
          <p:nvSpPr>
            <p:cNvPr id="15" name="Rectangle 15"/>
            <p:cNvSpPr/>
            <p:nvPr/>
          </p:nvSpPr>
          <p:spPr>
            <a:xfrm>
              <a:off x="533400" y="3811905"/>
              <a:ext cx="5410200" cy="1520190"/>
            </a:xfrm>
            <a:prstGeom prst="roundRect">
              <a:avLst>
                <a:gd name="adj" fmla="val 87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45255"/>
              <a:ext cx="47625" cy="12534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00431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7341" y="40386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测波长、测微小角度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361498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同一个公式 l = λ/(2nθ)，已知 θ 可求 λ（例7.6），已知 λ 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θ。</a:t>
              </a:r>
            </a:p>
          </p:txBody>
        </p:sp>
      </p:grpSp>
      <p:grpSp>
        <p:nvGrpSpPr>
          <p:cNvPr id="47" name="g_flat"/>
          <p:cNvGrpSpPr/>
          <p:nvPr/>
        </p:nvGrpSpPr>
        <p:grpSpPr>
          <a:xfrm>
            <a:off x="6713030" y="1692592"/>
            <a:ext cx="3874960" cy="1957388"/>
            <a:chOff x="6713030" y="1692592"/>
            <a:chExt cx="3874960" cy="1957388"/>
          </a:xfrm>
        </p:grpSpPr>
        <p:sp>
          <p:nvSpPr>
            <p:cNvPr id="21" name="Freeform 21"/>
            <p:cNvSpPr/>
            <p:nvPr/>
          </p:nvSpPr>
          <p:spPr>
            <a:xfrm>
              <a:off x="6838950" y="1711642"/>
              <a:ext cx="9525" cy="1618298"/>
            </a:xfrm>
            <a:custGeom>
              <a:avLst/>
              <a:gdLst/>
              <a:ahLst/>
              <a:cxnLst/>
              <a:rect l="l" t="t" r="r" b="b"/>
              <a:pathLst>
                <a:path w="9525" h="1618298">
                  <a:moveTo>
                    <a:pt x="0" y="0"/>
                  </a:moveTo>
                  <a:lnTo>
                    <a:pt x="0" y="1618298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446645" y="1711642"/>
              <a:ext cx="16193" cy="1618298"/>
            </a:xfrm>
            <a:custGeom>
              <a:avLst/>
              <a:gdLst/>
              <a:ahLst/>
              <a:cxnLst/>
              <a:rect l="l" t="t" r="r" b="b"/>
              <a:pathLst>
                <a:path w="16193" h="1618298">
                  <a:moveTo>
                    <a:pt x="16193" y="0"/>
                  </a:moveTo>
                  <a:lnTo>
                    <a:pt x="16193" y="13335"/>
                  </a:lnTo>
                  <a:lnTo>
                    <a:pt x="16193" y="41910"/>
                  </a:lnTo>
                  <a:lnTo>
                    <a:pt x="16193" y="69533"/>
                  </a:lnTo>
                  <a:lnTo>
                    <a:pt x="16193" y="97155"/>
                  </a:lnTo>
                  <a:lnTo>
                    <a:pt x="16193" y="125730"/>
                  </a:lnTo>
                  <a:lnTo>
                    <a:pt x="16193" y="153353"/>
                  </a:lnTo>
                  <a:lnTo>
                    <a:pt x="16193" y="180975"/>
                  </a:lnTo>
                  <a:lnTo>
                    <a:pt x="16193" y="209550"/>
                  </a:lnTo>
                  <a:lnTo>
                    <a:pt x="16193" y="237173"/>
                  </a:lnTo>
                  <a:lnTo>
                    <a:pt x="15240" y="264795"/>
                  </a:lnTo>
                  <a:lnTo>
                    <a:pt x="15240" y="292418"/>
                  </a:lnTo>
                  <a:lnTo>
                    <a:pt x="14288" y="320993"/>
                  </a:lnTo>
                  <a:lnTo>
                    <a:pt x="14288" y="348615"/>
                  </a:lnTo>
                  <a:lnTo>
                    <a:pt x="14288" y="376238"/>
                  </a:lnTo>
                  <a:lnTo>
                    <a:pt x="13335" y="404812"/>
                  </a:lnTo>
                  <a:lnTo>
                    <a:pt x="13335" y="432435"/>
                  </a:lnTo>
                  <a:lnTo>
                    <a:pt x="12383" y="460058"/>
                  </a:lnTo>
                  <a:lnTo>
                    <a:pt x="10478" y="488633"/>
                  </a:lnTo>
                  <a:lnTo>
                    <a:pt x="9525" y="516255"/>
                  </a:lnTo>
                  <a:lnTo>
                    <a:pt x="8573" y="543878"/>
                  </a:lnTo>
                  <a:lnTo>
                    <a:pt x="7620" y="571500"/>
                  </a:lnTo>
                  <a:lnTo>
                    <a:pt x="6668" y="600075"/>
                  </a:lnTo>
                  <a:lnTo>
                    <a:pt x="4762" y="627698"/>
                  </a:lnTo>
                  <a:lnTo>
                    <a:pt x="3810" y="655320"/>
                  </a:lnTo>
                  <a:lnTo>
                    <a:pt x="2858" y="683895"/>
                  </a:lnTo>
                  <a:lnTo>
                    <a:pt x="1905" y="711518"/>
                  </a:lnTo>
                  <a:lnTo>
                    <a:pt x="953" y="739140"/>
                  </a:lnTo>
                  <a:lnTo>
                    <a:pt x="953" y="767715"/>
                  </a:lnTo>
                  <a:lnTo>
                    <a:pt x="0" y="795338"/>
                  </a:lnTo>
                  <a:lnTo>
                    <a:pt x="0" y="822960"/>
                  </a:lnTo>
                  <a:lnTo>
                    <a:pt x="953" y="850583"/>
                  </a:lnTo>
                  <a:lnTo>
                    <a:pt x="953" y="879158"/>
                  </a:lnTo>
                  <a:lnTo>
                    <a:pt x="1905" y="906780"/>
                  </a:lnTo>
                  <a:lnTo>
                    <a:pt x="2858" y="934403"/>
                  </a:lnTo>
                  <a:lnTo>
                    <a:pt x="3810" y="962978"/>
                  </a:lnTo>
                  <a:lnTo>
                    <a:pt x="4762" y="990600"/>
                  </a:lnTo>
                  <a:lnTo>
                    <a:pt x="6668" y="1018223"/>
                  </a:lnTo>
                  <a:lnTo>
                    <a:pt x="7620" y="1046798"/>
                  </a:lnTo>
                  <a:lnTo>
                    <a:pt x="8573" y="1074420"/>
                  </a:lnTo>
                  <a:lnTo>
                    <a:pt x="9525" y="1102042"/>
                  </a:lnTo>
                  <a:lnTo>
                    <a:pt x="10478" y="1129665"/>
                  </a:lnTo>
                  <a:lnTo>
                    <a:pt x="12383" y="1158240"/>
                  </a:lnTo>
                  <a:lnTo>
                    <a:pt x="13335" y="1185862"/>
                  </a:lnTo>
                  <a:lnTo>
                    <a:pt x="13335" y="1213485"/>
                  </a:lnTo>
                  <a:lnTo>
                    <a:pt x="14288" y="1242060"/>
                  </a:lnTo>
                  <a:lnTo>
                    <a:pt x="14288" y="1269682"/>
                  </a:lnTo>
                  <a:lnTo>
                    <a:pt x="14288" y="1297305"/>
                  </a:lnTo>
                  <a:lnTo>
                    <a:pt x="15240" y="1325880"/>
                  </a:lnTo>
                  <a:lnTo>
                    <a:pt x="15240" y="1353503"/>
                  </a:lnTo>
                  <a:lnTo>
                    <a:pt x="16193" y="1381125"/>
                  </a:lnTo>
                  <a:lnTo>
                    <a:pt x="16193" y="1408748"/>
                  </a:lnTo>
                  <a:lnTo>
                    <a:pt x="16193" y="1437323"/>
                  </a:lnTo>
                  <a:lnTo>
                    <a:pt x="16193" y="1464945"/>
                  </a:lnTo>
                  <a:lnTo>
                    <a:pt x="16193" y="1492568"/>
                  </a:lnTo>
                  <a:lnTo>
                    <a:pt x="16193" y="1521142"/>
                  </a:lnTo>
                  <a:lnTo>
                    <a:pt x="16193" y="1548765"/>
                  </a:lnTo>
                  <a:lnTo>
                    <a:pt x="16193" y="1576388"/>
                  </a:lnTo>
                  <a:lnTo>
                    <a:pt x="16193" y="1604962"/>
                  </a:lnTo>
                  <a:lnTo>
                    <a:pt x="16193" y="1618298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989570" y="1711642"/>
              <a:ext cx="97155" cy="1618298"/>
            </a:xfrm>
            <a:custGeom>
              <a:avLst/>
              <a:gdLst/>
              <a:ahLst/>
              <a:cxnLst/>
              <a:rect l="l" t="t" r="r" b="b"/>
              <a:pathLst>
                <a:path w="97155" h="1618298">
                  <a:moveTo>
                    <a:pt x="97155" y="0"/>
                  </a:moveTo>
                  <a:lnTo>
                    <a:pt x="97155" y="13335"/>
                  </a:lnTo>
                  <a:lnTo>
                    <a:pt x="97155" y="41910"/>
                  </a:lnTo>
                  <a:lnTo>
                    <a:pt x="97155" y="69533"/>
                  </a:lnTo>
                  <a:lnTo>
                    <a:pt x="96203" y="97155"/>
                  </a:lnTo>
                  <a:lnTo>
                    <a:pt x="96203" y="125730"/>
                  </a:lnTo>
                  <a:lnTo>
                    <a:pt x="96203" y="153353"/>
                  </a:lnTo>
                  <a:lnTo>
                    <a:pt x="96203" y="180975"/>
                  </a:lnTo>
                  <a:lnTo>
                    <a:pt x="95250" y="209550"/>
                  </a:lnTo>
                  <a:lnTo>
                    <a:pt x="95250" y="237173"/>
                  </a:lnTo>
                  <a:lnTo>
                    <a:pt x="94298" y="264795"/>
                  </a:lnTo>
                  <a:lnTo>
                    <a:pt x="93345" y="292418"/>
                  </a:lnTo>
                  <a:lnTo>
                    <a:pt x="90488" y="320993"/>
                  </a:lnTo>
                  <a:lnTo>
                    <a:pt x="88583" y="348615"/>
                  </a:lnTo>
                  <a:lnTo>
                    <a:pt x="85725" y="376238"/>
                  </a:lnTo>
                  <a:lnTo>
                    <a:pt x="82868" y="404812"/>
                  </a:lnTo>
                  <a:lnTo>
                    <a:pt x="78105" y="432435"/>
                  </a:lnTo>
                  <a:lnTo>
                    <a:pt x="73343" y="460058"/>
                  </a:lnTo>
                  <a:lnTo>
                    <a:pt x="67628" y="488633"/>
                  </a:lnTo>
                  <a:lnTo>
                    <a:pt x="60960" y="516255"/>
                  </a:lnTo>
                  <a:lnTo>
                    <a:pt x="54293" y="543878"/>
                  </a:lnTo>
                  <a:lnTo>
                    <a:pt x="46673" y="571500"/>
                  </a:lnTo>
                  <a:lnTo>
                    <a:pt x="39053" y="600075"/>
                  </a:lnTo>
                  <a:lnTo>
                    <a:pt x="30480" y="627698"/>
                  </a:lnTo>
                  <a:lnTo>
                    <a:pt x="22860" y="655320"/>
                  </a:lnTo>
                  <a:lnTo>
                    <a:pt x="16193" y="683895"/>
                  </a:lnTo>
                  <a:lnTo>
                    <a:pt x="10478" y="711518"/>
                  </a:lnTo>
                  <a:lnTo>
                    <a:pt x="5715" y="739140"/>
                  </a:lnTo>
                  <a:lnTo>
                    <a:pt x="1905" y="767715"/>
                  </a:lnTo>
                  <a:lnTo>
                    <a:pt x="0" y="795338"/>
                  </a:lnTo>
                  <a:lnTo>
                    <a:pt x="0" y="822960"/>
                  </a:lnTo>
                  <a:lnTo>
                    <a:pt x="1905" y="850583"/>
                  </a:lnTo>
                  <a:lnTo>
                    <a:pt x="5715" y="879158"/>
                  </a:lnTo>
                  <a:lnTo>
                    <a:pt x="10478" y="906780"/>
                  </a:lnTo>
                  <a:lnTo>
                    <a:pt x="16193" y="934403"/>
                  </a:lnTo>
                  <a:lnTo>
                    <a:pt x="22860" y="962978"/>
                  </a:lnTo>
                  <a:lnTo>
                    <a:pt x="30480" y="990600"/>
                  </a:lnTo>
                  <a:lnTo>
                    <a:pt x="39053" y="1018223"/>
                  </a:lnTo>
                  <a:lnTo>
                    <a:pt x="46673" y="1046798"/>
                  </a:lnTo>
                  <a:lnTo>
                    <a:pt x="54293" y="1074420"/>
                  </a:lnTo>
                  <a:lnTo>
                    <a:pt x="60960" y="1102042"/>
                  </a:lnTo>
                  <a:lnTo>
                    <a:pt x="67628" y="1129665"/>
                  </a:lnTo>
                  <a:lnTo>
                    <a:pt x="73343" y="1158240"/>
                  </a:lnTo>
                  <a:lnTo>
                    <a:pt x="78105" y="1185862"/>
                  </a:lnTo>
                  <a:lnTo>
                    <a:pt x="82868" y="1213485"/>
                  </a:lnTo>
                  <a:lnTo>
                    <a:pt x="85725" y="1242060"/>
                  </a:lnTo>
                  <a:lnTo>
                    <a:pt x="88583" y="1269682"/>
                  </a:lnTo>
                  <a:lnTo>
                    <a:pt x="90488" y="1297305"/>
                  </a:lnTo>
                  <a:lnTo>
                    <a:pt x="93345" y="1325880"/>
                  </a:lnTo>
                  <a:lnTo>
                    <a:pt x="94298" y="1353503"/>
                  </a:lnTo>
                  <a:lnTo>
                    <a:pt x="95250" y="1381125"/>
                  </a:lnTo>
                  <a:lnTo>
                    <a:pt x="95250" y="1408748"/>
                  </a:lnTo>
                  <a:lnTo>
                    <a:pt x="96203" y="1437323"/>
                  </a:lnTo>
                  <a:lnTo>
                    <a:pt x="96203" y="1464945"/>
                  </a:lnTo>
                  <a:lnTo>
                    <a:pt x="96203" y="1492568"/>
                  </a:lnTo>
                  <a:lnTo>
                    <a:pt x="96203" y="1521142"/>
                  </a:lnTo>
                  <a:lnTo>
                    <a:pt x="97155" y="1548765"/>
                  </a:lnTo>
                  <a:lnTo>
                    <a:pt x="97155" y="1576388"/>
                  </a:lnTo>
                  <a:lnTo>
                    <a:pt x="97155" y="1604962"/>
                  </a:lnTo>
                  <a:lnTo>
                    <a:pt x="97155" y="1618298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460105" y="1711642"/>
              <a:ext cx="250507" cy="1618298"/>
            </a:xfrm>
            <a:custGeom>
              <a:avLst/>
              <a:gdLst/>
              <a:ahLst/>
              <a:cxnLst/>
              <a:rect l="l" t="t" r="r" b="b"/>
              <a:pathLst>
                <a:path w="250507" h="1618298">
                  <a:moveTo>
                    <a:pt x="250507" y="0"/>
                  </a:moveTo>
                  <a:lnTo>
                    <a:pt x="250507" y="13335"/>
                  </a:lnTo>
                  <a:lnTo>
                    <a:pt x="250507" y="41910"/>
                  </a:lnTo>
                  <a:lnTo>
                    <a:pt x="250507" y="69533"/>
                  </a:lnTo>
                  <a:lnTo>
                    <a:pt x="249555" y="97155"/>
                  </a:lnTo>
                  <a:lnTo>
                    <a:pt x="249555" y="125730"/>
                  </a:lnTo>
                  <a:lnTo>
                    <a:pt x="248602" y="153353"/>
                  </a:lnTo>
                  <a:lnTo>
                    <a:pt x="247650" y="180975"/>
                  </a:lnTo>
                  <a:lnTo>
                    <a:pt x="246697" y="209550"/>
                  </a:lnTo>
                  <a:lnTo>
                    <a:pt x="244792" y="237173"/>
                  </a:lnTo>
                  <a:lnTo>
                    <a:pt x="241935" y="264795"/>
                  </a:lnTo>
                  <a:lnTo>
                    <a:pt x="239077" y="292418"/>
                  </a:lnTo>
                  <a:lnTo>
                    <a:pt x="234315" y="320993"/>
                  </a:lnTo>
                  <a:lnTo>
                    <a:pt x="228600" y="348615"/>
                  </a:lnTo>
                  <a:lnTo>
                    <a:pt x="221932" y="376238"/>
                  </a:lnTo>
                  <a:lnTo>
                    <a:pt x="212407" y="404812"/>
                  </a:lnTo>
                  <a:lnTo>
                    <a:pt x="201930" y="432435"/>
                  </a:lnTo>
                  <a:lnTo>
                    <a:pt x="188595" y="460058"/>
                  </a:lnTo>
                  <a:lnTo>
                    <a:pt x="174307" y="488633"/>
                  </a:lnTo>
                  <a:lnTo>
                    <a:pt x="157162" y="516255"/>
                  </a:lnTo>
                  <a:lnTo>
                    <a:pt x="139065" y="543878"/>
                  </a:lnTo>
                  <a:lnTo>
                    <a:pt x="120015" y="571500"/>
                  </a:lnTo>
                  <a:lnTo>
                    <a:pt x="99060" y="600075"/>
                  </a:lnTo>
                  <a:lnTo>
                    <a:pt x="79057" y="627698"/>
                  </a:lnTo>
                  <a:lnTo>
                    <a:pt x="59055" y="655320"/>
                  </a:lnTo>
                  <a:lnTo>
                    <a:pt x="40957" y="683895"/>
                  </a:lnTo>
                  <a:lnTo>
                    <a:pt x="25717" y="711518"/>
                  </a:lnTo>
                  <a:lnTo>
                    <a:pt x="13335" y="739140"/>
                  </a:lnTo>
                  <a:lnTo>
                    <a:pt x="4762" y="767715"/>
                  </a:lnTo>
                  <a:lnTo>
                    <a:pt x="0" y="795338"/>
                  </a:lnTo>
                  <a:lnTo>
                    <a:pt x="0" y="822960"/>
                  </a:lnTo>
                  <a:lnTo>
                    <a:pt x="4762" y="850583"/>
                  </a:lnTo>
                  <a:lnTo>
                    <a:pt x="13335" y="879158"/>
                  </a:lnTo>
                  <a:lnTo>
                    <a:pt x="25717" y="906780"/>
                  </a:lnTo>
                  <a:lnTo>
                    <a:pt x="40957" y="934403"/>
                  </a:lnTo>
                  <a:lnTo>
                    <a:pt x="59055" y="962978"/>
                  </a:lnTo>
                  <a:lnTo>
                    <a:pt x="79057" y="990600"/>
                  </a:lnTo>
                  <a:lnTo>
                    <a:pt x="99060" y="1018223"/>
                  </a:lnTo>
                  <a:lnTo>
                    <a:pt x="120015" y="1046798"/>
                  </a:lnTo>
                  <a:lnTo>
                    <a:pt x="139065" y="1074420"/>
                  </a:lnTo>
                  <a:lnTo>
                    <a:pt x="157162" y="1102042"/>
                  </a:lnTo>
                  <a:lnTo>
                    <a:pt x="174307" y="1129665"/>
                  </a:lnTo>
                  <a:lnTo>
                    <a:pt x="188595" y="1158240"/>
                  </a:lnTo>
                  <a:lnTo>
                    <a:pt x="201930" y="1185862"/>
                  </a:lnTo>
                  <a:lnTo>
                    <a:pt x="212407" y="1213485"/>
                  </a:lnTo>
                  <a:lnTo>
                    <a:pt x="221932" y="1242060"/>
                  </a:lnTo>
                  <a:lnTo>
                    <a:pt x="228600" y="1269682"/>
                  </a:lnTo>
                  <a:lnTo>
                    <a:pt x="234315" y="1297305"/>
                  </a:lnTo>
                  <a:lnTo>
                    <a:pt x="239077" y="1325880"/>
                  </a:lnTo>
                  <a:lnTo>
                    <a:pt x="241935" y="1353503"/>
                  </a:lnTo>
                  <a:lnTo>
                    <a:pt x="244792" y="1381125"/>
                  </a:lnTo>
                  <a:lnTo>
                    <a:pt x="246697" y="1408748"/>
                  </a:lnTo>
                  <a:lnTo>
                    <a:pt x="247650" y="1437323"/>
                  </a:lnTo>
                  <a:lnTo>
                    <a:pt x="248602" y="1464945"/>
                  </a:lnTo>
                  <a:lnTo>
                    <a:pt x="249555" y="1492568"/>
                  </a:lnTo>
                  <a:lnTo>
                    <a:pt x="249555" y="1521142"/>
                  </a:lnTo>
                  <a:lnTo>
                    <a:pt x="250507" y="1548765"/>
                  </a:lnTo>
                  <a:lnTo>
                    <a:pt x="250507" y="1576388"/>
                  </a:lnTo>
                  <a:lnTo>
                    <a:pt x="250507" y="1604962"/>
                  </a:lnTo>
                  <a:lnTo>
                    <a:pt x="250507" y="1618298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059228" y="1711642"/>
              <a:ext cx="275272" cy="1618298"/>
            </a:xfrm>
            <a:custGeom>
              <a:avLst/>
              <a:gdLst/>
              <a:ahLst/>
              <a:cxnLst/>
              <a:rect l="l" t="t" r="r" b="b"/>
              <a:pathLst>
                <a:path w="275272" h="1618298">
                  <a:moveTo>
                    <a:pt x="275272" y="0"/>
                  </a:moveTo>
                  <a:lnTo>
                    <a:pt x="275272" y="13335"/>
                  </a:lnTo>
                  <a:lnTo>
                    <a:pt x="275272" y="41910"/>
                  </a:lnTo>
                  <a:lnTo>
                    <a:pt x="275272" y="69533"/>
                  </a:lnTo>
                  <a:lnTo>
                    <a:pt x="274320" y="97155"/>
                  </a:lnTo>
                  <a:lnTo>
                    <a:pt x="274320" y="125730"/>
                  </a:lnTo>
                  <a:lnTo>
                    <a:pt x="273367" y="153353"/>
                  </a:lnTo>
                  <a:lnTo>
                    <a:pt x="272415" y="180975"/>
                  </a:lnTo>
                  <a:lnTo>
                    <a:pt x="271462" y="209550"/>
                  </a:lnTo>
                  <a:lnTo>
                    <a:pt x="269557" y="237173"/>
                  </a:lnTo>
                  <a:lnTo>
                    <a:pt x="266700" y="264795"/>
                  </a:lnTo>
                  <a:lnTo>
                    <a:pt x="262890" y="292418"/>
                  </a:lnTo>
                  <a:lnTo>
                    <a:pt x="258128" y="320993"/>
                  </a:lnTo>
                  <a:lnTo>
                    <a:pt x="251460" y="348615"/>
                  </a:lnTo>
                  <a:lnTo>
                    <a:pt x="243840" y="376238"/>
                  </a:lnTo>
                  <a:lnTo>
                    <a:pt x="234315" y="404812"/>
                  </a:lnTo>
                  <a:lnTo>
                    <a:pt x="221932" y="432435"/>
                  </a:lnTo>
                  <a:lnTo>
                    <a:pt x="207645" y="460058"/>
                  </a:lnTo>
                  <a:lnTo>
                    <a:pt x="191453" y="488633"/>
                  </a:lnTo>
                  <a:lnTo>
                    <a:pt x="173355" y="516255"/>
                  </a:lnTo>
                  <a:lnTo>
                    <a:pt x="153353" y="543878"/>
                  </a:lnTo>
                  <a:lnTo>
                    <a:pt x="131445" y="571500"/>
                  </a:lnTo>
                  <a:lnTo>
                    <a:pt x="108585" y="600075"/>
                  </a:lnTo>
                  <a:lnTo>
                    <a:pt x="86678" y="627698"/>
                  </a:lnTo>
                  <a:lnTo>
                    <a:pt x="64770" y="655320"/>
                  </a:lnTo>
                  <a:lnTo>
                    <a:pt x="44767" y="683895"/>
                  </a:lnTo>
                  <a:lnTo>
                    <a:pt x="28575" y="711518"/>
                  </a:lnTo>
                  <a:lnTo>
                    <a:pt x="14288" y="739140"/>
                  </a:lnTo>
                  <a:lnTo>
                    <a:pt x="4762" y="767715"/>
                  </a:lnTo>
                  <a:lnTo>
                    <a:pt x="0" y="795338"/>
                  </a:lnTo>
                  <a:lnTo>
                    <a:pt x="0" y="822960"/>
                  </a:lnTo>
                  <a:lnTo>
                    <a:pt x="4762" y="850583"/>
                  </a:lnTo>
                  <a:lnTo>
                    <a:pt x="14288" y="879158"/>
                  </a:lnTo>
                  <a:lnTo>
                    <a:pt x="28575" y="906780"/>
                  </a:lnTo>
                  <a:lnTo>
                    <a:pt x="44767" y="934403"/>
                  </a:lnTo>
                  <a:lnTo>
                    <a:pt x="64770" y="962978"/>
                  </a:lnTo>
                  <a:lnTo>
                    <a:pt x="86678" y="990600"/>
                  </a:lnTo>
                  <a:lnTo>
                    <a:pt x="108585" y="1018223"/>
                  </a:lnTo>
                  <a:lnTo>
                    <a:pt x="131445" y="1046798"/>
                  </a:lnTo>
                  <a:lnTo>
                    <a:pt x="153353" y="1074420"/>
                  </a:lnTo>
                  <a:lnTo>
                    <a:pt x="173355" y="1102042"/>
                  </a:lnTo>
                  <a:lnTo>
                    <a:pt x="191453" y="1129665"/>
                  </a:lnTo>
                  <a:lnTo>
                    <a:pt x="207645" y="1158240"/>
                  </a:lnTo>
                  <a:lnTo>
                    <a:pt x="221932" y="1185862"/>
                  </a:lnTo>
                  <a:lnTo>
                    <a:pt x="234315" y="1213485"/>
                  </a:lnTo>
                  <a:lnTo>
                    <a:pt x="243840" y="1242060"/>
                  </a:lnTo>
                  <a:lnTo>
                    <a:pt x="251460" y="1269682"/>
                  </a:lnTo>
                  <a:lnTo>
                    <a:pt x="258128" y="1297305"/>
                  </a:lnTo>
                  <a:lnTo>
                    <a:pt x="262890" y="1325880"/>
                  </a:lnTo>
                  <a:lnTo>
                    <a:pt x="266700" y="1353503"/>
                  </a:lnTo>
                  <a:lnTo>
                    <a:pt x="269557" y="1381125"/>
                  </a:lnTo>
                  <a:lnTo>
                    <a:pt x="271462" y="1408748"/>
                  </a:lnTo>
                  <a:lnTo>
                    <a:pt x="272415" y="1437323"/>
                  </a:lnTo>
                  <a:lnTo>
                    <a:pt x="273367" y="1464945"/>
                  </a:lnTo>
                  <a:lnTo>
                    <a:pt x="274320" y="1492568"/>
                  </a:lnTo>
                  <a:lnTo>
                    <a:pt x="274320" y="1521142"/>
                  </a:lnTo>
                  <a:lnTo>
                    <a:pt x="275272" y="1548765"/>
                  </a:lnTo>
                  <a:lnTo>
                    <a:pt x="275272" y="1576388"/>
                  </a:lnTo>
                  <a:lnTo>
                    <a:pt x="275272" y="1604962"/>
                  </a:lnTo>
                  <a:lnTo>
                    <a:pt x="275272" y="1618298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830752" y="1711642"/>
              <a:ext cx="127635" cy="1618298"/>
            </a:xfrm>
            <a:custGeom>
              <a:avLst/>
              <a:gdLst/>
              <a:ahLst/>
              <a:cxnLst/>
              <a:rect l="l" t="t" r="r" b="b"/>
              <a:pathLst>
                <a:path w="127635" h="1618298">
                  <a:moveTo>
                    <a:pt x="127635" y="0"/>
                  </a:moveTo>
                  <a:lnTo>
                    <a:pt x="127635" y="13335"/>
                  </a:lnTo>
                  <a:lnTo>
                    <a:pt x="127635" y="41910"/>
                  </a:lnTo>
                  <a:lnTo>
                    <a:pt x="127635" y="69533"/>
                  </a:lnTo>
                  <a:lnTo>
                    <a:pt x="127635" y="97155"/>
                  </a:lnTo>
                  <a:lnTo>
                    <a:pt x="127635" y="125730"/>
                  </a:lnTo>
                  <a:lnTo>
                    <a:pt x="127635" y="153353"/>
                  </a:lnTo>
                  <a:lnTo>
                    <a:pt x="126683" y="180975"/>
                  </a:lnTo>
                  <a:lnTo>
                    <a:pt x="126683" y="209550"/>
                  </a:lnTo>
                  <a:lnTo>
                    <a:pt x="125730" y="237173"/>
                  </a:lnTo>
                  <a:lnTo>
                    <a:pt x="123825" y="264795"/>
                  </a:lnTo>
                  <a:lnTo>
                    <a:pt x="121920" y="292418"/>
                  </a:lnTo>
                  <a:lnTo>
                    <a:pt x="120015" y="320993"/>
                  </a:lnTo>
                  <a:lnTo>
                    <a:pt x="117158" y="348615"/>
                  </a:lnTo>
                  <a:lnTo>
                    <a:pt x="113348" y="376238"/>
                  </a:lnTo>
                  <a:lnTo>
                    <a:pt x="108585" y="404812"/>
                  </a:lnTo>
                  <a:lnTo>
                    <a:pt x="102870" y="432435"/>
                  </a:lnTo>
                  <a:lnTo>
                    <a:pt x="96203" y="460058"/>
                  </a:lnTo>
                  <a:lnTo>
                    <a:pt x="88583" y="488633"/>
                  </a:lnTo>
                  <a:lnTo>
                    <a:pt x="80010" y="516255"/>
                  </a:lnTo>
                  <a:lnTo>
                    <a:pt x="70485" y="543878"/>
                  </a:lnTo>
                  <a:lnTo>
                    <a:pt x="60960" y="571500"/>
                  </a:lnTo>
                  <a:lnTo>
                    <a:pt x="50483" y="600075"/>
                  </a:lnTo>
                  <a:lnTo>
                    <a:pt x="40005" y="627698"/>
                  </a:lnTo>
                  <a:lnTo>
                    <a:pt x="30480" y="655320"/>
                  </a:lnTo>
                  <a:lnTo>
                    <a:pt x="20955" y="683895"/>
                  </a:lnTo>
                  <a:lnTo>
                    <a:pt x="12383" y="711518"/>
                  </a:lnTo>
                  <a:lnTo>
                    <a:pt x="6668" y="739140"/>
                  </a:lnTo>
                  <a:lnTo>
                    <a:pt x="1905" y="767715"/>
                  </a:lnTo>
                  <a:lnTo>
                    <a:pt x="0" y="795338"/>
                  </a:lnTo>
                  <a:lnTo>
                    <a:pt x="0" y="822960"/>
                  </a:lnTo>
                  <a:lnTo>
                    <a:pt x="1905" y="850583"/>
                  </a:lnTo>
                  <a:lnTo>
                    <a:pt x="6668" y="879158"/>
                  </a:lnTo>
                  <a:lnTo>
                    <a:pt x="12383" y="906780"/>
                  </a:lnTo>
                  <a:lnTo>
                    <a:pt x="20955" y="934403"/>
                  </a:lnTo>
                  <a:lnTo>
                    <a:pt x="30480" y="962978"/>
                  </a:lnTo>
                  <a:lnTo>
                    <a:pt x="40005" y="990600"/>
                  </a:lnTo>
                  <a:lnTo>
                    <a:pt x="50483" y="1018223"/>
                  </a:lnTo>
                  <a:lnTo>
                    <a:pt x="60960" y="1046798"/>
                  </a:lnTo>
                  <a:lnTo>
                    <a:pt x="70485" y="1074420"/>
                  </a:lnTo>
                  <a:lnTo>
                    <a:pt x="80010" y="1102042"/>
                  </a:lnTo>
                  <a:lnTo>
                    <a:pt x="88583" y="1129665"/>
                  </a:lnTo>
                  <a:lnTo>
                    <a:pt x="96203" y="1158240"/>
                  </a:lnTo>
                  <a:lnTo>
                    <a:pt x="102870" y="1185862"/>
                  </a:lnTo>
                  <a:lnTo>
                    <a:pt x="108585" y="1213485"/>
                  </a:lnTo>
                  <a:lnTo>
                    <a:pt x="113348" y="1242060"/>
                  </a:lnTo>
                  <a:lnTo>
                    <a:pt x="117158" y="1269682"/>
                  </a:lnTo>
                  <a:lnTo>
                    <a:pt x="120015" y="1297305"/>
                  </a:lnTo>
                  <a:lnTo>
                    <a:pt x="121920" y="1325880"/>
                  </a:lnTo>
                  <a:lnTo>
                    <a:pt x="123825" y="1353503"/>
                  </a:lnTo>
                  <a:lnTo>
                    <a:pt x="125730" y="1381125"/>
                  </a:lnTo>
                  <a:lnTo>
                    <a:pt x="126683" y="1408748"/>
                  </a:lnTo>
                  <a:lnTo>
                    <a:pt x="126683" y="1437323"/>
                  </a:lnTo>
                  <a:lnTo>
                    <a:pt x="127635" y="1464945"/>
                  </a:lnTo>
                  <a:lnTo>
                    <a:pt x="127635" y="1492568"/>
                  </a:lnTo>
                  <a:lnTo>
                    <a:pt x="127635" y="1521142"/>
                  </a:lnTo>
                  <a:lnTo>
                    <a:pt x="127635" y="1548765"/>
                  </a:lnTo>
                  <a:lnTo>
                    <a:pt x="127635" y="1576388"/>
                  </a:lnTo>
                  <a:lnTo>
                    <a:pt x="127635" y="1604962"/>
                  </a:lnTo>
                  <a:lnTo>
                    <a:pt x="127635" y="1618298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557510" y="1711642"/>
              <a:ext cx="25717" cy="1618298"/>
            </a:xfrm>
            <a:custGeom>
              <a:avLst/>
              <a:gdLst/>
              <a:ahLst/>
              <a:cxnLst/>
              <a:rect l="l" t="t" r="r" b="b"/>
              <a:pathLst>
                <a:path w="25717" h="1618298">
                  <a:moveTo>
                    <a:pt x="25717" y="0"/>
                  </a:moveTo>
                  <a:lnTo>
                    <a:pt x="25717" y="13335"/>
                  </a:lnTo>
                  <a:lnTo>
                    <a:pt x="25717" y="41910"/>
                  </a:lnTo>
                  <a:lnTo>
                    <a:pt x="25717" y="69533"/>
                  </a:lnTo>
                  <a:lnTo>
                    <a:pt x="25717" y="97155"/>
                  </a:lnTo>
                  <a:lnTo>
                    <a:pt x="25717" y="125730"/>
                  </a:lnTo>
                  <a:lnTo>
                    <a:pt x="25717" y="153353"/>
                  </a:lnTo>
                  <a:lnTo>
                    <a:pt x="24765" y="180975"/>
                  </a:lnTo>
                  <a:lnTo>
                    <a:pt x="24765" y="209550"/>
                  </a:lnTo>
                  <a:lnTo>
                    <a:pt x="24765" y="237173"/>
                  </a:lnTo>
                  <a:lnTo>
                    <a:pt x="24765" y="264795"/>
                  </a:lnTo>
                  <a:lnTo>
                    <a:pt x="24765" y="292418"/>
                  </a:lnTo>
                  <a:lnTo>
                    <a:pt x="23812" y="320993"/>
                  </a:lnTo>
                  <a:lnTo>
                    <a:pt x="23812" y="348615"/>
                  </a:lnTo>
                  <a:lnTo>
                    <a:pt x="21907" y="376238"/>
                  </a:lnTo>
                  <a:lnTo>
                    <a:pt x="21907" y="404812"/>
                  </a:lnTo>
                  <a:lnTo>
                    <a:pt x="20955" y="432435"/>
                  </a:lnTo>
                  <a:lnTo>
                    <a:pt x="19050" y="460058"/>
                  </a:lnTo>
                  <a:lnTo>
                    <a:pt x="18097" y="488633"/>
                  </a:lnTo>
                  <a:lnTo>
                    <a:pt x="16192" y="516255"/>
                  </a:lnTo>
                  <a:lnTo>
                    <a:pt x="14288" y="543878"/>
                  </a:lnTo>
                  <a:lnTo>
                    <a:pt x="12382" y="571500"/>
                  </a:lnTo>
                  <a:lnTo>
                    <a:pt x="9525" y="600075"/>
                  </a:lnTo>
                  <a:lnTo>
                    <a:pt x="8572" y="627698"/>
                  </a:lnTo>
                  <a:lnTo>
                    <a:pt x="5715" y="655320"/>
                  </a:lnTo>
                  <a:lnTo>
                    <a:pt x="4762" y="683895"/>
                  </a:lnTo>
                  <a:lnTo>
                    <a:pt x="2857" y="711518"/>
                  </a:lnTo>
                  <a:lnTo>
                    <a:pt x="952" y="739140"/>
                  </a:lnTo>
                  <a:lnTo>
                    <a:pt x="952" y="767715"/>
                  </a:lnTo>
                  <a:lnTo>
                    <a:pt x="0" y="795338"/>
                  </a:lnTo>
                  <a:lnTo>
                    <a:pt x="0" y="822960"/>
                  </a:lnTo>
                  <a:lnTo>
                    <a:pt x="952" y="850583"/>
                  </a:lnTo>
                  <a:lnTo>
                    <a:pt x="952" y="879158"/>
                  </a:lnTo>
                  <a:lnTo>
                    <a:pt x="2857" y="906780"/>
                  </a:lnTo>
                  <a:lnTo>
                    <a:pt x="4762" y="934403"/>
                  </a:lnTo>
                  <a:lnTo>
                    <a:pt x="5715" y="962978"/>
                  </a:lnTo>
                  <a:lnTo>
                    <a:pt x="8572" y="990600"/>
                  </a:lnTo>
                  <a:lnTo>
                    <a:pt x="9525" y="1018223"/>
                  </a:lnTo>
                  <a:lnTo>
                    <a:pt x="12382" y="1046798"/>
                  </a:lnTo>
                  <a:lnTo>
                    <a:pt x="14288" y="1074420"/>
                  </a:lnTo>
                  <a:lnTo>
                    <a:pt x="16192" y="1102042"/>
                  </a:lnTo>
                  <a:lnTo>
                    <a:pt x="18097" y="1129665"/>
                  </a:lnTo>
                  <a:lnTo>
                    <a:pt x="19050" y="1158240"/>
                  </a:lnTo>
                  <a:lnTo>
                    <a:pt x="20955" y="1185862"/>
                  </a:lnTo>
                  <a:lnTo>
                    <a:pt x="21907" y="1213485"/>
                  </a:lnTo>
                  <a:lnTo>
                    <a:pt x="21907" y="1242060"/>
                  </a:lnTo>
                  <a:lnTo>
                    <a:pt x="23812" y="1269682"/>
                  </a:lnTo>
                  <a:lnTo>
                    <a:pt x="23812" y="1297305"/>
                  </a:lnTo>
                  <a:lnTo>
                    <a:pt x="24765" y="1325880"/>
                  </a:lnTo>
                  <a:lnTo>
                    <a:pt x="24765" y="1353503"/>
                  </a:lnTo>
                  <a:lnTo>
                    <a:pt x="24765" y="1381125"/>
                  </a:lnTo>
                  <a:lnTo>
                    <a:pt x="24765" y="1408748"/>
                  </a:lnTo>
                  <a:lnTo>
                    <a:pt x="24765" y="1437323"/>
                  </a:lnTo>
                  <a:lnTo>
                    <a:pt x="25717" y="1464945"/>
                  </a:lnTo>
                  <a:lnTo>
                    <a:pt x="25717" y="1492568"/>
                  </a:lnTo>
                  <a:lnTo>
                    <a:pt x="25717" y="1521142"/>
                  </a:lnTo>
                  <a:lnTo>
                    <a:pt x="25717" y="1548765"/>
                  </a:lnTo>
                  <a:lnTo>
                    <a:pt x="25717" y="1576388"/>
                  </a:lnTo>
                  <a:lnTo>
                    <a:pt x="25717" y="1604962"/>
                  </a:lnTo>
                  <a:lnTo>
                    <a:pt x="25717" y="1618298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572500" y="2173605"/>
              <a:ext cx="693420" cy="694373"/>
            </a:xfrm>
            <a:custGeom>
              <a:avLst/>
              <a:gdLst/>
              <a:ahLst/>
              <a:cxnLst/>
              <a:rect l="l" t="t" r="r" b="b"/>
              <a:pathLst>
                <a:path w="693420" h="694373">
                  <a:moveTo>
                    <a:pt x="692468" y="333375"/>
                  </a:moveTo>
                  <a:lnTo>
                    <a:pt x="689610" y="301942"/>
                  </a:lnTo>
                  <a:lnTo>
                    <a:pt x="681038" y="257175"/>
                  </a:lnTo>
                  <a:lnTo>
                    <a:pt x="666750" y="214312"/>
                  </a:lnTo>
                  <a:lnTo>
                    <a:pt x="646747" y="173355"/>
                  </a:lnTo>
                  <a:lnTo>
                    <a:pt x="621030" y="136208"/>
                  </a:lnTo>
                  <a:lnTo>
                    <a:pt x="591503" y="101918"/>
                  </a:lnTo>
                  <a:lnTo>
                    <a:pt x="557212" y="72390"/>
                  </a:lnTo>
                  <a:lnTo>
                    <a:pt x="519112" y="46673"/>
                  </a:lnTo>
                  <a:lnTo>
                    <a:pt x="479107" y="26670"/>
                  </a:lnTo>
                  <a:lnTo>
                    <a:pt x="436245" y="12383"/>
                  </a:lnTo>
                  <a:lnTo>
                    <a:pt x="391478" y="3810"/>
                  </a:lnTo>
                  <a:lnTo>
                    <a:pt x="346710" y="0"/>
                  </a:lnTo>
                  <a:lnTo>
                    <a:pt x="300990" y="3810"/>
                  </a:lnTo>
                  <a:lnTo>
                    <a:pt x="256222" y="12383"/>
                  </a:lnTo>
                  <a:lnTo>
                    <a:pt x="213360" y="26670"/>
                  </a:lnTo>
                  <a:lnTo>
                    <a:pt x="172403" y="46673"/>
                  </a:lnTo>
                  <a:lnTo>
                    <a:pt x="135255" y="72390"/>
                  </a:lnTo>
                  <a:lnTo>
                    <a:pt x="100965" y="101918"/>
                  </a:lnTo>
                  <a:lnTo>
                    <a:pt x="71438" y="136208"/>
                  </a:lnTo>
                  <a:lnTo>
                    <a:pt x="45720" y="173355"/>
                  </a:lnTo>
                  <a:lnTo>
                    <a:pt x="25718" y="214312"/>
                  </a:lnTo>
                  <a:lnTo>
                    <a:pt x="11430" y="257175"/>
                  </a:lnTo>
                  <a:lnTo>
                    <a:pt x="2857" y="301942"/>
                  </a:lnTo>
                  <a:lnTo>
                    <a:pt x="0" y="346710"/>
                  </a:lnTo>
                  <a:lnTo>
                    <a:pt x="2857" y="392430"/>
                  </a:lnTo>
                  <a:lnTo>
                    <a:pt x="11430" y="437198"/>
                  </a:lnTo>
                  <a:lnTo>
                    <a:pt x="25718" y="480060"/>
                  </a:lnTo>
                  <a:lnTo>
                    <a:pt x="45720" y="521017"/>
                  </a:lnTo>
                  <a:lnTo>
                    <a:pt x="71438" y="558165"/>
                  </a:lnTo>
                  <a:lnTo>
                    <a:pt x="100965" y="592455"/>
                  </a:lnTo>
                  <a:lnTo>
                    <a:pt x="135255" y="621983"/>
                  </a:lnTo>
                  <a:lnTo>
                    <a:pt x="172403" y="647700"/>
                  </a:lnTo>
                  <a:lnTo>
                    <a:pt x="213360" y="667703"/>
                  </a:lnTo>
                  <a:lnTo>
                    <a:pt x="256222" y="681990"/>
                  </a:lnTo>
                  <a:lnTo>
                    <a:pt x="300990" y="690562"/>
                  </a:lnTo>
                  <a:lnTo>
                    <a:pt x="346710" y="694373"/>
                  </a:lnTo>
                  <a:lnTo>
                    <a:pt x="391478" y="690562"/>
                  </a:lnTo>
                  <a:lnTo>
                    <a:pt x="436245" y="681990"/>
                  </a:lnTo>
                  <a:lnTo>
                    <a:pt x="479107" y="667703"/>
                  </a:lnTo>
                  <a:lnTo>
                    <a:pt x="519112" y="647700"/>
                  </a:lnTo>
                  <a:lnTo>
                    <a:pt x="557212" y="621983"/>
                  </a:lnTo>
                  <a:lnTo>
                    <a:pt x="591503" y="592455"/>
                  </a:lnTo>
                  <a:lnTo>
                    <a:pt x="621030" y="558165"/>
                  </a:lnTo>
                  <a:lnTo>
                    <a:pt x="646747" y="521017"/>
                  </a:lnTo>
                  <a:lnTo>
                    <a:pt x="666750" y="480060"/>
                  </a:lnTo>
                  <a:lnTo>
                    <a:pt x="681038" y="437198"/>
                  </a:lnTo>
                  <a:lnTo>
                    <a:pt x="689610" y="392430"/>
                  </a:lnTo>
                  <a:lnTo>
                    <a:pt x="693420" y="346710"/>
                  </a:lnTo>
                  <a:lnTo>
                    <a:pt x="689610" y="301942"/>
                  </a:lnTo>
                  <a:lnTo>
                    <a:pt x="683895" y="271462"/>
                  </a:lnTo>
                </a:path>
              </a:pathLst>
            </a:custGeom>
            <a:noFill/>
            <a:ln w="17145">
              <a:solidFill>
                <a:srgbClr val="B42318"/>
              </a:solidFill>
              <a:custDash>
                <a:ds d="333333" sp="222222"/>
              </a:custDash>
            </a:ln>
          </p:spPr>
        </p:sp>
        <p:sp>
          <p:nvSpPr>
            <p:cNvPr id="29" name="Ellipse 29"/>
            <p:cNvSpPr/>
            <p:nvPr/>
          </p:nvSpPr>
          <p:spPr>
            <a:xfrm>
              <a:off x="6834188" y="16925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834188" y="3339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458075" y="16925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458075" y="3339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081962" y="16925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81962" y="3339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8705850" y="16925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8705850" y="3339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329738" y="16925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329738" y="3339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953625" y="16925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9953625" y="3339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578465" y="169259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578465" y="33394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261158" y="251555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9248775" y="24260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3030" y="342138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棱边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90151" y="3473768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条纹弯向棱边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866198"/>
            <a:ext cx="5410200" cy="1466850"/>
            <a:chOff x="6248400" y="3866198"/>
            <a:chExt cx="5410200" cy="1466850"/>
          </a:xfrm>
        </p:grpSpPr>
        <p:sp>
          <p:nvSpPr>
            <p:cNvPr id="48" name="Rectangle 48"/>
            <p:cNvSpPr/>
            <p:nvPr/>
          </p:nvSpPr>
          <p:spPr>
            <a:xfrm>
              <a:off x="6248400" y="3866198"/>
              <a:ext cx="5410200" cy="1466850"/>
            </a:xfrm>
            <a:prstGeom prst="roundRect">
              <a:avLst>
                <a:gd name="adj" fmla="val 909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40805" y="405860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0244" y="409289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检验平整度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33947" y="4414838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标准平板压在待测工件上形成空气劈尖。表面平整时条纹是等间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距直线；某处条纹弯向棱边，说明那里空气层偏厚，工件表面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凹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陷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；弯离棱边则是凸起。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3" name="Rectangle 53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892" y="5779770"/>
              <a:ext cx="99578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条纹是等厚线：弯向棱边的那一段，本该出现在更远处的厚度提前出现了，所以该处空气层更厚。这个判断是本讲义补充的，原课件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未涉及。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69857" cy="909257"/>
            <a:chOff x="520446" y="342900"/>
            <a:chExt cx="57698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劈尖干涉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698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例7.6　由条纹间距求波长，再数条纹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671638"/>
            <a:chOff x="533400" y="1524000"/>
            <a:chExt cx="476059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劈尖折射率 n = 1.4，夹角 θ = 10⁻⁴ rad，单色光垂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直照射，相邻明纹间距 l = 0.25 cm。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4117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光在空气中的波长；② 劈尖长 L = 3.5 cm，共有多少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条明纹、多少条暗纹？</a:t>
              </a:r>
            </a:p>
          </p:txBody>
        </p:sp>
      </p:grpSp>
      <p:grpSp>
        <p:nvGrpSpPr>
          <p:cNvPr id="23" name="c1-steps-2"/>
          <p:cNvGrpSpPr/>
          <p:nvPr/>
        </p:nvGrpSpPr>
        <p:grpSpPr>
          <a:xfrm>
            <a:off x="533400" y="3369945"/>
            <a:ext cx="3993547" cy="1043559"/>
            <a:chOff x="533400" y="3369945"/>
            <a:chExt cx="3993547" cy="1043559"/>
          </a:xfrm>
        </p:grpSpPr>
        <p:sp>
          <p:nvSpPr>
            <p:cNvPr id="14" name="Rectangle 14"/>
            <p:cNvSpPr/>
            <p:nvPr/>
          </p:nvSpPr>
          <p:spPr>
            <a:xfrm>
              <a:off x="666750" y="3512820"/>
              <a:ext cx="19050" cy="55340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699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437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9233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9971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34009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间距公式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166" y="365569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λ/(2n sinθ) ≈ λ/(2nθ)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9543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7166" y="4208145"/>
              <a:ext cx="3579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2nθl = 2 × 1.4 × 10⁻⁴ × 0.25×10⁻² m = 7.0×10⁻⁷ m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575810"/>
            <a:ext cx="4760595" cy="995362"/>
            <a:chOff x="533400" y="4575810"/>
            <a:chExt cx="4760595" cy="995362"/>
          </a:xfrm>
        </p:grpSpPr>
        <p:sp>
          <p:nvSpPr>
            <p:cNvPr id="24" name="Rectangle 24"/>
            <p:cNvSpPr/>
            <p:nvPr/>
          </p:nvSpPr>
          <p:spPr>
            <a:xfrm>
              <a:off x="533400" y="4575810"/>
              <a:ext cx="4760595" cy="995362"/>
            </a:xfrm>
            <a:prstGeom prst="roundRect">
              <a:avLst>
                <a:gd name="adj" fmla="val 1339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4375" y="475678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0146" y="478964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7898" y="5096351"/>
              <a:ext cx="329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λ = 700 nm；② 暗纹 15 条，明纹 14 条。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5598795" y="1524000"/>
            <a:ext cx="6059805" cy="1143952"/>
            <a:chOff x="5598795" y="1524000"/>
            <a:chExt cx="6059805" cy="1143952"/>
          </a:xfrm>
        </p:grpSpPr>
        <p:sp>
          <p:nvSpPr>
            <p:cNvPr id="29" name="Rectangle 29"/>
            <p:cNvSpPr/>
            <p:nvPr/>
          </p:nvSpPr>
          <p:spPr>
            <a:xfrm>
              <a:off x="5598795" y="1524000"/>
              <a:ext cx="605980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08320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17870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95289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法一：数间距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11393" y="2045494"/>
              <a:ext cx="54343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L/l = 3.5/0.25 = 14，共 14 个条纹间距。棱边是暗纹，每过一个间距又是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一条暗纹，暗纹 14 + 1 = 15 条；每两条暗纹之间夹一条明纹，明纹 14 条。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5598795" y="2832735"/>
            <a:ext cx="6059805" cy="1671638"/>
            <a:chOff x="5598795" y="2832735"/>
            <a:chExt cx="6059805" cy="1671638"/>
          </a:xfrm>
        </p:grpSpPr>
        <p:sp>
          <p:nvSpPr>
            <p:cNvPr id="35" name="Rectangle 35"/>
            <p:cNvSpPr/>
            <p:nvPr/>
          </p:nvSpPr>
          <p:spPr>
            <a:xfrm>
              <a:off x="5598795" y="2832735"/>
              <a:ext cx="605980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08320" y="2966085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17870" y="301371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88139" y="304657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法二：看末端厚度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11393" y="3354229"/>
              <a:ext cx="51986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末端 d = Lθ = 3.5×10⁻⁶ m，2nd = 9.8×10⁻⁶ m = 14λ，δ = 14λ + λ/2，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末端恰好是 k = 14 的暗纹。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11393" y="3881914"/>
              <a:ext cx="5279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 2ne = kλ，k = 0, 1, …, 14，共 15 条；明纹 2ne = (k − 1/2)λ，k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…, 14，共 14 条。</a:t>
              </a:r>
            </a:p>
          </p:txBody>
        </p:sp>
      </p:grpSp>
      <p:grpSp>
        <p:nvGrpSpPr>
          <p:cNvPr id="47" name="c2-card-3"/>
          <p:cNvGrpSpPr/>
          <p:nvPr/>
        </p:nvGrpSpPr>
        <p:grpSpPr>
          <a:xfrm>
            <a:off x="5598795" y="4670108"/>
            <a:ext cx="6059805" cy="901065"/>
            <a:chOff x="5598795" y="4670108"/>
            <a:chExt cx="6059805" cy="901065"/>
          </a:xfrm>
        </p:grpSpPr>
        <p:sp>
          <p:nvSpPr>
            <p:cNvPr id="42" name="Rectangle 42"/>
            <p:cNvSpPr/>
            <p:nvPr/>
          </p:nvSpPr>
          <p:spPr>
            <a:xfrm>
              <a:off x="5598795" y="4670108"/>
              <a:ext cx="6059805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5608320" y="4803458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7870" y="485108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0542" y="488394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11393" y="519064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两种方法结果一致。末端恰为暗纹，所以不存在「半条」明纹的问题。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68879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L/l 不是整数时，末端落在两条条纹之间。这时用法二按末端厚度判断 k 的最大值更稳妥。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38167" cy="909257"/>
            <a:chOff x="520446" y="342900"/>
            <a:chExt cx="65381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劈尖干涉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381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例7.7　Si 片上的 SiO₂ 劈尖：棱边是明纹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840230"/>
            <a:chOff x="533400" y="1524000"/>
            <a:chExt cx="5193982" cy="18402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84023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3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868" y="1756410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56806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SiO₂ 折射率 n₂ = 1.46，Si 折射率 n₃ = 3.42。λ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546.1 nm 的绿光垂直照射，SiO₂ 劈尖上出现 7 条暗纹，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条在斜坡的起点 M 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943701"/>
              <a:ext cx="41532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SiO₂ 膜厚 e；② 棱边 N 处是明纹还是暗纹？</a:t>
              </a:r>
            </a:p>
          </p:txBody>
        </p:sp>
      </p:grpSp>
      <p:grpSp>
        <p:nvGrpSpPr>
          <p:cNvPr id="59" name="g_ex77"/>
          <p:cNvGrpSpPr/>
          <p:nvPr/>
        </p:nvGrpSpPr>
        <p:grpSpPr>
          <a:xfrm>
            <a:off x="1034533" y="3718560"/>
            <a:ext cx="4135637" cy="1616393"/>
            <a:chOff x="1034533" y="3718560"/>
            <a:chExt cx="4135637" cy="1616393"/>
          </a:xfrm>
        </p:grpSpPr>
        <p:sp>
          <p:nvSpPr>
            <p:cNvPr id="14" name="Freeform 14"/>
            <p:cNvSpPr/>
            <p:nvPr/>
          </p:nvSpPr>
          <p:spPr>
            <a:xfrm>
              <a:off x="1047750" y="5066348"/>
              <a:ext cx="4117657" cy="268605"/>
            </a:xfrm>
            <a:custGeom>
              <a:avLst/>
              <a:gdLst/>
              <a:ahLst/>
              <a:cxnLst/>
              <a:rect l="l" t="t" r="r" b="b"/>
              <a:pathLst>
                <a:path w="4117657" h="268605">
                  <a:moveTo>
                    <a:pt x="14288" y="0"/>
                  </a:moveTo>
                  <a:lnTo>
                    <a:pt x="4117657" y="0"/>
                  </a:lnTo>
                  <a:lnTo>
                    <a:pt x="4117657" y="268605"/>
                  </a:lnTo>
                  <a:lnTo>
                    <a:pt x="0" y="268605"/>
                  </a:lnTo>
                  <a:lnTo>
                    <a:pt x="0" y="0"/>
                  </a:lnTo>
                  <a:lnTo>
                    <a:pt x="4103370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40155" y="4260532"/>
              <a:ext cx="3822382" cy="802005"/>
            </a:xfrm>
            <a:custGeom>
              <a:avLst/>
              <a:gdLst/>
              <a:ahLst/>
              <a:cxnLst/>
              <a:rect l="l" t="t" r="r" b="b"/>
              <a:pathLst>
                <a:path w="3822382" h="802005">
                  <a:moveTo>
                    <a:pt x="0" y="802005"/>
                  </a:moveTo>
                  <a:lnTo>
                    <a:pt x="2851785" y="0"/>
                  </a:lnTo>
                  <a:lnTo>
                    <a:pt x="382238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040630" y="4274820"/>
              <a:ext cx="89535" cy="778192"/>
            </a:xfrm>
            <a:custGeom>
              <a:avLst/>
              <a:gdLst/>
              <a:ahLst/>
              <a:cxnLst/>
              <a:rect l="l" t="t" r="r" b="b"/>
              <a:pathLst>
                <a:path w="89535" h="778192">
                  <a:moveTo>
                    <a:pt x="40005" y="0"/>
                  </a:moveTo>
                  <a:lnTo>
                    <a:pt x="89535" y="164783"/>
                  </a:lnTo>
                  <a:lnTo>
                    <a:pt x="0" y="388620"/>
                  </a:lnTo>
                  <a:lnTo>
                    <a:pt x="89535" y="612458"/>
                  </a:lnTo>
                  <a:lnTo>
                    <a:pt x="40005" y="77819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385888" y="5013960"/>
              <a:ext cx="50483" cy="42862"/>
            </a:xfrm>
            <a:custGeom>
              <a:avLst/>
              <a:gdLst/>
              <a:ahLst/>
              <a:cxnLst/>
              <a:rect l="l" t="t" r="r" b="b"/>
              <a:pathLst>
                <a:path w="50483" h="42862">
                  <a:moveTo>
                    <a:pt x="50483" y="0"/>
                  </a:moveTo>
                  <a:lnTo>
                    <a:pt x="0" y="4286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21180" y="4893945"/>
              <a:ext cx="60960" cy="159068"/>
            </a:xfrm>
            <a:custGeom>
              <a:avLst/>
              <a:gdLst/>
              <a:ahLst/>
              <a:cxnLst/>
              <a:rect l="l" t="t" r="r" b="b"/>
              <a:pathLst>
                <a:path w="60960" h="159068">
                  <a:moveTo>
                    <a:pt x="60960" y="0"/>
                  </a:moveTo>
                  <a:lnTo>
                    <a:pt x="0" y="159068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260282" y="4770120"/>
              <a:ext cx="64770" cy="282892"/>
            </a:xfrm>
            <a:custGeom>
              <a:avLst/>
              <a:gdLst/>
              <a:ahLst/>
              <a:cxnLst/>
              <a:rect l="l" t="t" r="r" b="b"/>
              <a:pathLst>
                <a:path w="64770" h="282892">
                  <a:moveTo>
                    <a:pt x="64770" y="0"/>
                  </a:moveTo>
                  <a:lnTo>
                    <a:pt x="0" y="282892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00338" y="4646295"/>
              <a:ext cx="66675" cy="405765"/>
            </a:xfrm>
            <a:custGeom>
              <a:avLst/>
              <a:gdLst/>
              <a:ahLst/>
              <a:cxnLst/>
              <a:rect l="l" t="t" r="r" b="b"/>
              <a:pathLst>
                <a:path w="66675" h="405765">
                  <a:moveTo>
                    <a:pt x="66675" y="0"/>
                  </a:moveTo>
                  <a:lnTo>
                    <a:pt x="0" y="405765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139440" y="4522470"/>
              <a:ext cx="68580" cy="529590"/>
            </a:xfrm>
            <a:custGeom>
              <a:avLst/>
              <a:gdLst/>
              <a:ahLst/>
              <a:cxnLst/>
              <a:rect l="l" t="t" r="r" b="b"/>
              <a:pathLst>
                <a:path w="68580" h="529590">
                  <a:moveTo>
                    <a:pt x="68580" y="0"/>
                  </a:moveTo>
                  <a:lnTo>
                    <a:pt x="0" y="52959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580448" y="4398645"/>
              <a:ext cx="68580" cy="653415"/>
            </a:xfrm>
            <a:custGeom>
              <a:avLst/>
              <a:gdLst/>
              <a:ahLst/>
              <a:cxnLst/>
              <a:rect l="l" t="t" r="r" b="b"/>
              <a:pathLst>
                <a:path w="68580" h="653415">
                  <a:moveTo>
                    <a:pt x="68580" y="0"/>
                  </a:moveTo>
                  <a:lnTo>
                    <a:pt x="0" y="653415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021455" y="4274820"/>
              <a:ext cx="68580" cy="777240"/>
            </a:xfrm>
            <a:custGeom>
              <a:avLst/>
              <a:gdLst/>
              <a:ahLst/>
              <a:cxnLst/>
              <a:rect l="l" t="t" r="r" b="b"/>
              <a:pathLst>
                <a:path w="68580" h="777240">
                  <a:moveTo>
                    <a:pt x="68580" y="0"/>
                  </a:moveTo>
                  <a:lnTo>
                    <a:pt x="0" y="777240"/>
                  </a:lnTo>
                </a:path>
              </a:pathLst>
            </a:custGeom>
            <a:noFill/>
            <a:ln w="28575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145280" y="3737610"/>
              <a:ext cx="9525" cy="378143"/>
            </a:xfrm>
            <a:custGeom>
              <a:avLst/>
              <a:gdLst/>
              <a:ahLst/>
              <a:cxnLst/>
              <a:rect l="l" t="t" r="r" b="b"/>
              <a:pathLst>
                <a:path w="9525" h="378143">
                  <a:moveTo>
                    <a:pt x="0" y="0"/>
                  </a:moveTo>
                  <a:lnTo>
                    <a:pt x="0" y="378143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097655" y="41157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4808220" y="4370070"/>
              <a:ext cx="9525" cy="586740"/>
            </a:xfrm>
            <a:custGeom>
              <a:avLst/>
              <a:gdLst/>
              <a:ahLst/>
              <a:cxnLst/>
              <a:rect l="l" t="t" r="r" b="b"/>
              <a:pathLst>
                <a:path w="9525" h="586740">
                  <a:moveTo>
                    <a:pt x="0" y="0"/>
                  </a:moveTo>
                  <a:lnTo>
                    <a:pt x="0" y="5867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760595" y="49568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760595" y="42748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42988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160645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221105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072062" y="4255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072062" y="4255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072062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442085" y="49996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370648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883092" y="487584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811655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323148" y="47520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251710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764155" y="46281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692718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205162" y="45034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133725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646170" y="437959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574732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4087178" y="4255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014788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140518" y="3718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140518" y="422052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4803458" y="42557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803458" y="506158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040611" y="5137309"/>
              <a:ext cx="1309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216174" y="482298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SiO₂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4533" y="48901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027799" y="3815715"/>
              <a:ext cx="1282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883746" y="45896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585105" y="3753802"/>
              <a:ext cx="1253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7 条暗纹，第 7 条在 M</a:t>
              </a:r>
            </a:p>
          </p:txBody>
        </p:sp>
      </p:grpSp>
      <p:grpSp>
        <p:nvGrpSpPr>
          <p:cNvPr id="77" name="c2-steps-1"/>
          <p:cNvGrpSpPr/>
          <p:nvPr/>
        </p:nvGrpSpPr>
        <p:grpSpPr>
          <a:xfrm>
            <a:off x="6032182" y="1533525"/>
            <a:ext cx="5179223" cy="2398776"/>
            <a:chOff x="6032182" y="1533525"/>
            <a:chExt cx="5179223" cy="2398776"/>
          </a:xfrm>
        </p:grpSpPr>
        <p:sp>
          <p:nvSpPr>
            <p:cNvPr id="60" name="Rectangle 60"/>
            <p:cNvSpPr/>
            <p:nvPr/>
          </p:nvSpPr>
          <p:spPr>
            <a:xfrm>
              <a:off x="6165532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032182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125806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032182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25806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032182" y="33842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25806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44044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判半波损失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45186" y="1846898"/>
              <a:ext cx="4766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 1 &lt; SiO₂ 1.46 &lt; Si 3.42，两次反射都有半波损失，δ = 2n₂e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444044" y="218360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暗纹条件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5186" y="2464118"/>
              <a:ext cx="3937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2n₂e = (2k + 1)λ/2，第 1 条暗纹 k = 0，第 7 条 k = 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44044" y="279987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求厚度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45186" y="3080385"/>
              <a:ext cx="40346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13λ/(4n₂) = 13 × 546.1 nm/(4 × 1.46) ≈ 1216 nm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444044" y="341709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棱边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45186" y="3697605"/>
              <a:ext cx="1901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处 e = 0，δ = 0，是明纹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6032182" y="4103370"/>
            <a:ext cx="5626418" cy="1500188"/>
            <a:chOff x="6032182" y="4103370"/>
            <a:chExt cx="5626418" cy="1500188"/>
          </a:xfrm>
        </p:grpSpPr>
        <p:sp>
          <p:nvSpPr>
            <p:cNvPr id="78" name="Rectangle 78"/>
            <p:cNvSpPr/>
            <p:nvPr/>
          </p:nvSpPr>
          <p:spPr>
            <a:xfrm>
              <a:off x="6032182" y="4103370"/>
              <a:ext cx="5626418" cy="1500188"/>
            </a:xfrm>
            <a:prstGeom prst="roundRect">
              <a:avLst>
                <a:gd name="adj" fmla="val 888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230302" y="430149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25743" y="43357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223064" y="4662011"/>
              <a:ext cx="31392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e ≈ 1.22×10⁻⁶ m；② N 处是明纹。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24206" y="4975860"/>
              <a:ext cx="4728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检验：第 1 条暗纹厚 λ/(4n₂) = 93.5 nm，再加 6 个间隔 6λ/(2n₂) =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1122 nm，合计 1216 nm。</a:t>
              </a:r>
            </a:p>
          </p:txBody>
        </p:sp>
      </p:grpSp>
      <p:grpSp>
        <p:nvGrpSpPr>
          <p:cNvPr id="90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84" name="Rectangle 84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0511" y="6011704"/>
              <a:ext cx="95629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空气劈尖棱边是暗纹，这里是明纹，区别在于两个反射面的半波损失抵消了。判断棱边明暗，先看要不要加 λ/2。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6419" cy="909257"/>
            <a:chOff x="520446" y="342900"/>
            <a:chExt cx="6456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劈尖干涉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6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例7.8　玻璃上的油滴：数暗环求最大厚度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193982" cy="1428750"/>
            <a:chOff x="533400" y="1524000"/>
            <a:chExt cx="5193982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620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例7.8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4914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平面玻璃板上滴一滴油，λ = 576 nm 的单色光垂直照射，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反射光条纹如图。油 n₂ = 1.60，玻璃 n₃ = 1.50。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油滴边缘是明纹还是暗纹；② 油膜最大厚度 h。</a:t>
              </a:r>
            </a:p>
          </p:txBody>
        </p:sp>
      </p:grpSp>
      <p:grpSp>
        <p:nvGrpSpPr>
          <p:cNvPr id="66" name="g_oil"/>
          <p:cNvGrpSpPr/>
          <p:nvPr/>
        </p:nvGrpSpPr>
        <p:grpSpPr>
          <a:xfrm>
            <a:off x="1565910" y="3209925"/>
            <a:ext cx="3091999" cy="2320290"/>
            <a:chOff x="1565910" y="3209925"/>
            <a:chExt cx="3091999" cy="2320290"/>
          </a:xfrm>
        </p:grpSpPr>
        <p:sp>
          <p:nvSpPr>
            <p:cNvPr id="14" name="Freeform 14"/>
            <p:cNvSpPr/>
            <p:nvPr/>
          </p:nvSpPr>
          <p:spPr>
            <a:xfrm>
              <a:off x="1570672" y="4008120"/>
              <a:ext cx="3076575" cy="210502"/>
            </a:xfrm>
            <a:custGeom>
              <a:avLst/>
              <a:gdLst/>
              <a:ahLst/>
              <a:cxnLst/>
              <a:rect l="l" t="t" r="r" b="b"/>
              <a:pathLst>
                <a:path w="3076575" h="210502">
                  <a:moveTo>
                    <a:pt x="14288" y="0"/>
                  </a:moveTo>
                  <a:lnTo>
                    <a:pt x="3076575" y="0"/>
                  </a:lnTo>
                  <a:lnTo>
                    <a:pt x="3076575" y="210502"/>
                  </a:lnTo>
                  <a:lnTo>
                    <a:pt x="0" y="210502"/>
                  </a:lnTo>
                  <a:lnTo>
                    <a:pt x="0" y="0"/>
                  </a:lnTo>
                  <a:lnTo>
                    <a:pt x="3062288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96428" y="3669030"/>
              <a:ext cx="2425065" cy="324803"/>
            </a:xfrm>
            <a:custGeom>
              <a:avLst/>
              <a:gdLst/>
              <a:ahLst/>
              <a:cxnLst/>
              <a:rect l="l" t="t" r="r" b="b"/>
              <a:pathLst>
                <a:path w="2425065" h="324803">
                  <a:moveTo>
                    <a:pt x="2425065" y="324803"/>
                  </a:moveTo>
                  <a:lnTo>
                    <a:pt x="2423160" y="312420"/>
                  </a:lnTo>
                  <a:lnTo>
                    <a:pt x="2411730" y="285750"/>
                  </a:lnTo>
                  <a:lnTo>
                    <a:pt x="2392680" y="260033"/>
                  </a:lnTo>
                  <a:lnTo>
                    <a:pt x="2367915" y="234315"/>
                  </a:lnTo>
                  <a:lnTo>
                    <a:pt x="2334578" y="209550"/>
                  </a:lnTo>
                  <a:lnTo>
                    <a:pt x="2294572" y="184785"/>
                  </a:lnTo>
                  <a:lnTo>
                    <a:pt x="2247900" y="161925"/>
                  </a:lnTo>
                  <a:lnTo>
                    <a:pt x="2194560" y="140017"/>
                  </a:lnTo>
                  <a:lnTo>
                    <a:pt x="2136458" y="118110"/>
                  </a:lnTo>
                  <a:lnTo>
                    <a:pt x="2070735" y="99060"/>
                  </a:lnTo>
                  <a:lnTo>
                    <a:pt x="2001202" y="80962"/>
                  </a:lnTo>
                  <a:lnTo>
                    <a:pt x="1925955" y="64770"/>
                  </a:lnTo>
                  <a:lnTo>
                    <a:pt x="1846898" y="49530"/>
                  </a:lnTo>
                  <a:lnTo>
                    <a:pt x="1764030" y="36195"/>
                  </a:lnTo>
                  <a:lnTo>
                    <a:pt x="1677352" y="25717"/>
                  </a:lnTo>
                  <a:lnTo>
                    <a:pt x="1587818" y="16192"/>
                  </a:lnTo>
                  <a:lnTo>
                    <a:pt x="1496378" y="8573"/>
                  </a:lnTo>
                  <a:lnTo>
                    <a:pt x="1403032" y="3810"/>
                  </a:lnTo>
                  <a:lnTo>
                    <a:pt x="1307782" y="953"/>
                  </a:lnTo>
                  <a:lnTo>
                    <a:pt x="1212532" y="0"/>
                  </a:lnTo>
                  <a:lnTo>
                    <a:pt x="1117282" y="953"/>
                  </a:lnTo>
                  <a:lnTo>
                    <a:pt x="1022032" y="3810"/>
                  </a:lnTo>
                  <a:lnTo>
                    <a:pt x="928688" y="8573"/>
                  </a:lnTo>
                  <a:lnTo>
                    <a:pt x="837248" y="16192"/>
                  </a:lnTo>
                  <a:lnTo>
                    <a:pt x="747713" y="25717"/>
                  </a:lnTo>
                  <a:lnTo>
                    <a:pt x="661035" y="36195"/>
                  </a:lnTo>
                  <a:lnTo>
                    <a:pt x="578168" y="49530"/>
                  </a:lnTo>
                  <a:lnTo>
                    <a:pt x="499110" y="64770"/>
                  </a:lnTo>
                  <a:lnTo>
                    <a:pt x="423862" y="80962"/>
                  </a:lnTo>
                  <a:lnTo>
                    <a:pt x="354330" y="99060"/>
                  </a:lnTo>
                  <a:lnTo>
                    <a:pt x="289560" y="118110"/>
                  </a:lnTo>
                  <a:lnTo>
                    <a:pt x="229552" y="140017"/>
                  </a:lnTo>
                  <a:lnTo>
                    <a:pt x="177165" y="161925"/>
                  </a:lnTo>
                  <a:lnTo>
                    <a:pt x="130493" y="184785"/>
                  </a:lnTo>
                  <a:lnTo>
                    <a:pt x="90488" y="209550"/>
                  </a:lnTo>
                  <a:lnTo>
                    <a:pt x="57150" y="234315"/>
                  </a:lnTo>
                  <a:lnTo>
                    <a:pt x="31433" y="260033"/>
                  </a:lnTo>
                  <a:lnTo>
                    <a:pt x="12383" y="285750"/>
                  </a:lnTo>
                  <a:lnTo>
                    <a:pt x="1905" y="312420"/>
                  </a:lnTo>
                  <a:lnTo>
                    <a:pt x="0" y="324803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85322" y="3778568"/>
              <a:ext cx="9525" cy="120015"/>
            </a:xfrm>
            <a:custGeom>
              <a:avLst/>
              <a:gdLst/>
              <a:ahLst/>
              <a:cxnLst/>
              <a:rect l="l" t="t" r="r" b="b"/>
              <a:pathLst>
                <a:path w="9525" h="120015">
                  <a:moveTo>
                    <a:pt x="0" y="1200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437698" y="3683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4437698" y="38985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123248" y="3669030"/>
              <a:ext cx="1396365" cy="9525"/>
            </a:xfrm>
            <a:custGeom>
              <a:avLst/>
              <a:gdLst/>
              <a:ahLst/>
              <a:cxnLst/>
              <a:rect l="l" t="t" r="r" b="b"/>
              <a:pathLst>
                <a:path w="1396365" h="9525">
                  <a:moveTo>
                    <a:pt x="0" y="0"/>
                  </a:moveTo>
                  <a:lnTo>
                    <a:pt x="139636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623185" y="3228975"/>
              <a:ext cx="9525" cy="280988"/>
            </a:xfrm>
            <a:custGeom>
              <a:avLst/>
              <a:gdLst/>
              <a:ahLst/>
              <a:cxnLst/>
              <a:rect l="l" t="t" r="r" b="b"/>
              <a:pathLst>
                <a:path w="9525" h="280988">
                  <a:moveTo>
                    <a:pt x="0" y="0"/>
                  </a:moveTo>
                  <a:lnTo>
                    <a:pt x="0" y="280988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575560" y="35099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542222" y="4396740"/>
              <a:ext cx="1133475" cy="1133475"/>
            </a:xfrm>
            <a:custGeom>
              <a:avLst/>
              <a:gdLst/>
              <a:ahLst/>
              <a:cxnLst/>
              <a:rect l="l" t="t" r="r" b="b"/>
              <a:pathLst>
                <a:path w="1133475" h="1133475">
                  <a:moveTo>
                    <a:pt x="1132523" y="552450"/>
                  </a:moveTo>
                  <a:lnTo>
                    <a:pt x="1131570" y="518160"/>
                  </a:lnTo>
                  <a:lnTo>
                    <a:pt x="1124903" y="468630"/>
                  </a:lnTo>
                  <a:lnTo>
                    <a:pt x="1114425" y="420052"/>
                  </a:lnTo>
                  <a:lnTo>
                    <a:pt x="1099185" y="373380"/>
                  </a:lnTo>
                  <a:lnTo>
                    <a:pt x="1080135" y="327660"/>
                  </a:lnTo>
                  <a:lnTo>
                    <a:pt x="1057275" y="283845"/>
                  </a:lnTo>
                  <a:lnTo>
                    <a:pt x="1031558" y="241935"/>
                  </a:lnTo>
                  <a:lnTo>
                    <a:pt x="1001078" y="202882"/>
                  </a:lnTo>
                  <a:lnTo>
                    <a:pt x="966788" y="166688"/>
                  </a:lnTo>
                  <a:lnTo>
                    <a:pt x="930593" y="133350"/>
                  </a:lnTo>
                  <a:lnTo>
                    <a:pt x="891540" y="102870"/>
                  </a:lnTo>
                  <a:lnTo>
                    <a:pt x="849630" y="76200"/>
                  </a:lnTo>
                  <a:lnTo>
                    <a:pt x="805815" y="53340"/>
                  </a:lnTo>
                  <a:lnTo>
                    <a:pt x="760095" y="34290"/>
                  </a:lnTo>
                  <a:lnTo>
                    <a:pt x="713423" y="20002"/>
                  </a:lnTo>
                  <a:lnTo>
                    <a:pt x="664845" y="8572"/>
                  </a:lnTo>
                  <a:lnTo>
                    <a:pt x="616268" y="2857"/>
                  </a:lnTo>
                  <a:lnTo>
                    <a:pt x="566738" y="0"/>
                  </a:lnTo>
                  <a:lnTo>
                    <a:pt x="517208" y="2857"/>
                  </a:lnTo>
                  <a:lnTo>
                    <a:pt x="467678" y="8572"/>
                  </a:lnTo>
                  <a:lnTo>
                    <a:pt x="420053" y="20002"/>
                  </a:lnTo>
                  <a:lnTo>
                    <a:pt x="373380" y="34290"/>
                  </a:lnTo>
                  <a:lnTo>
                    <a:pt x="327660" y="53340"/>
                  </a:lnTo>
                  <a:lnTo>
                    <a:pt x="282893" y="76200"/>
                  </a:lnTo>
                  <a:lnTo>
                    <a:pt x="241935" y="102870"/>
                  </a:lnTo>
                  <a:lnTo>
                    <a:pt x="201930" y="133350"/>
                  </a:lnTo>
                  <a:lnTo>
                    <a:pt x="165735" y="166688"/>
                  </a:lnTo>
                  <a:lnTo>
                    <a:pt x="132398" y="202882"/>
                  </a:lnTo>
                  <a:lnTo>
                    <a:pt x="102870" y="241935"/>
                  </a:lnTo>
                  <a:lnTo>
                    <a:pt x="76200" y="283845"/>
                  </a:lnTo>
                  <a:lnTo>
                    <a:pt x="53340" y="327660"/>
                  </a:lnTo>
                  <a:lnTo>
                    <a:pt x="34290" y="373380"/>
                  </a:lnTo>
                  <a:lnTo>
                    <a:pt x="19050" y="420052"/>
                  </a:lnTo>
                  <a:lnTo>
                    <a:pt x="8573" y="468630"/>
                  </a:lnTo>
                  <a:lnTo>
                    <a:pt x="1905" y="518160"/>
                  </a:lnTo>
                  <a:lnTo>
                    <a:pt x="0" y="566738"/>
                  </a:lnTo>
                  <a:lnTo>
                    <a:pt x="1905" y="616267"/>
                  </a:lnTo>
                  <a:lnTo>
                    <a:pt x="8573" y="665797"/>
                  </a:lnTo>
                  <a:lnTo>
                    <a:pt x="19050" y="713422"/>
                  </a:lnTo>
                  <a:lnTo>
                    <a:pt x="34290" y="761047"/>
                  </a:lnTo>
                  <a:lnTo>
                    <a:pt x="53340" y="806767"/>
                  </a:lnTo>
                  <a:lnTo>
                    <a:pt x="76200" y="850582"/>
                  </a:lnTo>
                  <a:lnTo>
                    <a:pt x="102870" y="892492"/>
                  </a:lnTo>
                  <a:lnTo>
                    <a:pt x="132398" y="931545"/>
                  </a:lnTo>
                  <a:lnTo>
                    <a:pt x="165735" y="967740"/>
                  </a:lnTo>
                  <a:lnTo>
                    <a:pt x="201930" y="1001078"/>
                  </a:lnTo>
                  <a:lnTo>
                    <a:pt x="241935" y="1031557"/>
                  </a:lnTo>
                  <a:lnTo>
                    <a:pt x="282893" y="1058228"/>
                  </a:lnTo>
                  <a:lnTo>
                    <a:pt x="327660" y="1081088"/>
                  </a:lnTo>
                  <a:lnTo>
                    <a:pt x="373380" y="1100138"/>
                  </a:lnTo>
                  <a:lnTo>
                    <a:pt x="420053" y="1114425"/>
                  </a:lnTo>
                  <a:lnTo>
                    <a:pt x="467678" y="1124903"/>
                  </a:lnTo>
                  <a:lnTo>
                    <a:pt x="517208" y="1131570"/>
                  </a:lnTo>
                  <a:lnTo>
                    <a:pt x="566738" y="1133475"/>
                  </a:lnTo>
                  <a:lnTo>
                    <a:pt x="616268" y="1131570"/>
                  </a:lnTo>
                  <a:lnTo>
                    <a:pt x="664845" y="1124903"/>
                  </a:lnTo>
                  <a:lnTo>
                    <a:pt x="713423" y="1114425"/>
                  </a:lnTo>
                  <a:lnTo>
                    <a:pt x="760095" y="1100138"/>
                  </a:lnTo>
                  <a:lnTo>
                    <a:pt x="805815" y="1081088"/>
                  </a:lnTo>
                  <a:lnTo>
                    <a:pt x="849630" y="1058228"/>
                  </a:lnTo>
                  <a:lnTo>
                    <a:pt x="891540" y="1031557"/>
                  </a:lnTo>
                  <a:lnTo>
                    <a:pt x="930593" y="1001078"/>
                  </a:lnTo>
                  <a:lnTo>
                    <a:pt x="966788" y="967740"/>
                  </a:lnTo>
                  <a:lnTo>
                    <a:pt x="1001078" y="931545"/>
                  </a:lnTo>
                  <a:lnTo>
                    <a:pt x="1031558" y="892492"/>
                  </a:lnTo>
                  <a:lnTo>
                    <a:pt x="1057275" y="850582"/>
                  </a:lnTo>
                  <a:lnTo>
                    <a:pt x="1080135" y="806767"/>
                  </a:lnTo>
                  <a:lnTo>
                    <a:pt x="1099185" y="761047"/>
                  </a:lnTo>
                  <a:lnTo>
                    <a:pt x="1114425" y="713422"/>
                  </a:lnTo>
                  <a:lnTo>
                    <a:pt x="1124903" y="665797"/>
                  </a:lnTo>
                  <a:lnTo>
                    <a:pt x="1131570" y="616267"/>
                  </a:lnTo>
                  <a:lnTo>
                    <a:pt x="1133475" y="566738"/>
                  </a:lnTo>
                  <a:lnTo>
                    <a:pt x="1131570" y="518160"/>
                  </a:lnTo>
                  <a:lnTo>
                    <a:pt x="1126808" y="482917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578418" y="4433888"/>
              <a:ext cx="1061085" cy="1060132"/>
            </a:xfrm>
            <a:custGeom>
              <a:avLst/>
              <a:gdLst/>
              <a:ahLst/>
              <a:cxnLst/>
              <a:rect l="l" t="t" r="r" b="b"/>
              <a:pathLst>
                <a:path w="1061085" h="1060132">
                  <a:moveTo>
                    <a:pt x="1060132" y="515303"/>
                  </a:moveTo>
                  <a:lnTo>
                    <a:pt x="1059180" y="483870"/>
                  </a:lnTo>
                  <a:lnTo>
                    <a:pt x="1052512" y="438150"/>
                  </a:lnTo>
                  <a:lnTo>
                    <a:pt x="1042988" y="392430"/>
                  </a:lnTo>
                  <a:lnTo>
                    <a:pt x="1028700" y="348615"/>
                  </a:lnTo>
                  <a:lnTo>
                    <a:pt x="1010603" y="305753"/>
                  </a:lnTo>
                  <a:lnTo>
                    <a:pt x="989648" y="264795"/>
                  </a:lnTo>
                  <a:lnTo>
                    <a:pt x="964883" y="225742"/>
                  </a:lnTo>
                  <a:lnTo>
                    <a:pt x="936308" y="189547"/>
                  </a:lnTo>
                  <a:lnTo>
                    <a:pt x="905828" y="155258"/>
                  </a:lnTo>
                  <a:lnTo>
                    <a:pt x="871538" y="123825"/>
                  </a:lnTo>
                  <a:lnTo>
                    <a:pt x="834390" y="96203"/>
                  </a:lnTo>
                  <a:lnTo>
                    <a:pt x="795338" y="71438"/>
                  </a:lnTo>
                  <a:lnTo>
                    <a:pt x="754380" y="49530"/>
                  </a:lnTo>
                  <a:lnTo>
                    <a:pt x="711517" y="31433"/>
                  </a:lnTo>
                  <a:lnTo>
                    <a:pt x="667703" y="18097"/>
                  </a:lnTo>
                  <a:lnTo>
                    <a:pt x="622935" y="7620"/>
                  </a:lnTo>
                  <a:lnTo>
                    <a:pt x="577215" y="1905"/>
                  </a:lnTo>
                  <a:lnTo>
                    <a:pt x="530542" y="0"/>
                  </a:lnTo>
                  <a:lnTo>
                    <a:pt x="484823" y="1905"/>
                  </a:lnTo>
                  <a:lnTo>
                    <a:pt x="439103" y="7620"/>
                  </a:lnTo>
                  <a:lnTo>
                    <a:pt x="393383" y="18097"/>
                  </a:lnTo>
                  <a:lnTo>
                    <a:pt x="349567" y="31433"/>
                  </a:lnTo>
                  <a:lnTo>
                    <a:pt x="305753" y="49530"/>
                  </a:lnTo>
                  <a:lnTo>
                    <a:pt x="265748" y="71438"/>
                  </a:lnTo>
                  <a:lnTo>
                    <a:pt x="226695" y="96203"/>
                  </a:lnTo>
                  <a:lnTo>
                    <a:pt x="189548" y="123825"/>
                  </a:lnTo>
                  <a:lnTo>
                    <a:pt x="155258" y="155258"/>
                  </a:lnTo>
                  <a:lnTo>
                    <a:pt x="124778" y="189547"/>
                  </a:lnTo>
                  <a:lnTo>
                    <a:pt x="96203" y="225742"/>
                  </a:lnTo>
                  <a:lnTo>
                    <a:pt x="71438" y="264795"/>
                  </a:lnTo>
                  <a:lnTo>
                    <a:pt x="50483" y="305753"/>
                  </a:lnTo>
                  <a:lnTo>
                    <a:pt x="32385" y="348615"/>
                  </a:lnTo>
                  <a:lnTo>
                    <a:pt x="18098" y="392430"/>
                  </a:lnTo>
                  <a:lnTo>
                    <a:pt x="8573" y="438150"/>
                  </a:lnTo>
                  <a:lnTo>
                    <a:pt x="1905" y="483870"/>
                  </a:lnTo>
                  <a:lnTo>
                    <a:pt x="0" y="529590"/>
                  </a:lnTo>
                  <a:lnTo>
                    <a:pt x="1905" y="576262"/>
                  </a:lnTo>
                  <a:lnTo>
                    <a:pt x="8573" y="621982"/>
                  </a:lnTo>
                  <a:lnTo>
                    <a:pt x="18098" y="667703"/>
                  </a:lnTo>
                  <a:lnTo>
                    <a:pt x="32385" y="711518"/>
                  </a:lnTo>
                  <a:lnTo>
                    <a:pt x="50483" y="754380"/>
                  </a:lnTo>
                  <a:lnTo>
                    <a:pt x="71438" y="795338"/>
                  </a:lnTo>
                  <a:lnTo>
                    <a:pt x="96203" y="834390"/>
                  </a:lnTo>
                  <a:lnTo>
                    <a:pt x="124778" y="870585"/>
                  </a:lnTo>
                  <a:lnTo>
                    <a:pt x="155258" y="904875"/>
                  </a:lnTo>
                  <a:lnTo>
                    <a:pt x="189548" y="936307"/>
                  </a:lnTo>
                  <a:lnTo>
                    <a:pt x="226695" y="963930"/>
                  </a:lnTo>
                  <a:lnTo>
                    <a:pt x="265748" y="988695"/>
                  </a:lnTo>
                  <a:lnTo>
                    <a:pt x="305753" y="1010603"/>
                  </a:lnTo>
                  <a:lnTo>
                    <a:pt x="349567" y="1027747"/>
                  </a:lnTo>
                  <a:lnTo>
                    <a:pt x="393383" y="1042035"/>
                  </a:lnTo>
                  <a:lnTo>
                    <a:pt x="439103" y="1052512"/>
                  </a:lnTo>
                  <a:lnTo>
                    <a:pt x="484823" y="1058228"/>
                  </a:lnTo>
                  <a:lnTo>
                    <a:pt x="530542" y="1060132"/>
                  </a:lnTo>
                  <a:lnTo>
                    <a:pt x="577215" y="1058228"/>
                  </a:lnTo>
                  <a:lnTo>
                    <a:pt x="622935" y="1052512"/>
                  </a:lnTo>
                  <a:lnTo>
                    <a:pt x="667703" y="1042035"/>
                  </a:lnTo>
                  <a:lnTo>
                    <a:pt x="711517" y="1027747"/>
                  </a:lnTo>
                  <a:lnTo>
                    <a:pt x="754380" y="1010603"/>
                  </a:lnTo>
                  <a:lnTo>
                    <a:pt x="795338" y="988695"/>
                  </a:lnTo>
                  <a:lnTo>
                    <a:pt x="834390" y="963930"/>
                  </a:lnTo>
                  <a:lnTo>
                    <a:pt x="871538" y="936307"/>
                  </a:lnTo>
                  <a:lnTo>
                    <a:pt x="905828" y="904875"/>
                  </a:lnTo>
                  <a:lnTo>
                    <a:pt x="936308" y="870585"/>
                  </a:lnTo>
                  <a:lnTo>
                    <a:pt x="964883" y="834390"/>
                  </a:lnTo>
                  <a:lnTo>
                    <a:pt x="989648" y="795338"/>
                  </a:lnTo>
                  <a:lnTo>
                    <a:pt x="1010603" y="754380"/>
                  </a:lnTo>
                  <a:lnTo>
                    <a:pt x="1028700" y="711518"/>
                  </a:lnTo>
                  <a:lnTo>
                    <a:pt x="1042988" y="667703"/>
                  </a:lnTo>
                  <a:lnTo>
                    <a:pt x="1052512" y="621982"/>
                  </a:lnTo>
                  <a:lnTo>
                    <a:pt x="1059180" y="576262"/>
                  </a:lnTo>
                  <a:lnTo>
                    <a:pt x="1061085" y="529590"/>
                  </a:lnTo>
                  <a:lnTo>
                    <a:pt x="1059180" y="483870"/>
                  </a:lnTo>
                  <a:lnTo>
                    <a:pt x="1054418" y="452438"/>
                  </a:lnTo>
                </a:path>
              </a:pathLst>
            </a:custGeom>
            <a:noFill/>
            <a:ln w="38100">
              <a:solidFill>
                <a:srgbClr val="14A38B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618422" y="4472940"/>
              <a:ext cx="981075" cy="982028"/>
            </a:xfrm>
            <a:custGeom>
              <a:avLst/>
              <a:gdLst/>
              <a:ahLst/>
              <a:cxnLst/>
              <a:rect l="l" t="t" r="r" b="b"/>
              <a:pathLst>
                <a:path w="981075" h="982028">
                  <a:moveTo>
                    <a:pt x="981075" y="476250"/>
                  </a:moveTo>
                  <a:lnTo>
                    <a:pt x="979170" y="447675"/>
                  </a:lnTo>
                  <a:lnTo>
                    <a:pt x="973455" y="405765"/>
                  </a:lnTo>
                  <a:lnTo>
                    <a:pt x="964883" y="363855"/>
                  </a:lnTo>
                  <a:lnTo>
                    <a:pt x="951548" y="322897"/>
                  </a:lnTo>
                  <a:lnTo>
                    <a:pt x="935355" y="283845"/>
                  </a:lnTo>
                  <a:lnTo>
                    <a:pt x="915353" y="245745"/>
                  </a:lnTo>
                  <a:lnTo>
                    <a:pt x="892493" y="209550"/>
                  </a:lnTo>
                  <a:lnTo>
                    <a:pt x="866775" y="175260"/>
                  </a:lnTo>
                  <a:lnTo>
                    <a:pt x="837248" y="143827"/>
                  </a:lnTo>
                  <a:lnTo>
                    <a:pt x="805815" y="115252"/>
                  </a:lnTo>
                  <a:lnTo>
                    <a:pt x="772478" y="88582"/>
                  </a:lnTo>
                  <a:lnTo>
                    <a:pt x="735330" y="65722"/>
                  </a:lnTo>
                  <a:lnTo>
                    <a:pt x="698183" y="46672"/>
                  </a:lnTo>
                  <a:lnTo>
                    <a:pt x="658178" y="29527"/>
                  </a:lnTo>
                  <a:lnTo>
                    <a:pt x="617220" y="17145"/>
                  </a:lnTo>
                  <a:lnTo>
                    <a:pt x="575310" y="7620"/>
                  </a:lnTo>
                  <a:lnTo>
                    <a:pt x="533400" y="1905"/>
                  </a:lnTo>
                  <a:lnTo>
                    <a:pt x="490538" y="0"/>
                  </a:lnTo>
                  <a:lnTo>
                    <a:pt x="447675" y="1905"/>
                  </a:lnTo>
                  <a:lnTo>
                    <a:pt x="405765" y="7620"/>
                  </a:lnTo>
                  <a:lnTo>
                    <a:pt x="362903" y="17145"/>
                  </a:lnTo>
                  <a:lnTo>
                    <a:pt x="322898" y="29527"/>
                  </a:lnTo>
                  <a:lnTo>
                    <a:pt x="282893" y="46672"/>
                  </a:lnTo>
                  <a:lnTo>
                    <a:pt x="244793" y="65722"/>
                  </a:lnTo>
                  <a:lnTo>
                    <a:pt x="209550" y="88582"/>
                  </a:lnTo>
                  <a:lnTo>
                    <a:pt x="175260" y="115252"/>
                  </a:lnTo>
                  <a:lnTo>
                    <a:pt x="143828" y="143827"/>
                  </a:lnTo>
                  <a:lnTo>
                    <a:pt x="114300" y="175260"/>
                  </a:lnTo>
                  <a:lnTo>
                    <a:pt x="88583" y="209550"/>
                  </a:lnTo>
                  <a:lnTo>
                    <a:pt x="64770" y="245745"/>
                  </a:lnTo>
                  <a:lnTo>
                    <a:pt x="45720" y="283845"/>
                  </a:lnTo>
                  <a:lnTo>
                    <a:pt x="29528" y="322897"/>
                  </a:lnTo>
                  <a:lnTo>
                    <a:pt x="16193" y="363855"/>
                  </a:lnTo>
                  <a:lnTo>
                    <a:pt x="6668" y="405765"/>
                  </a:lnTo>
                  <a:lnTo>
                    <a:pt x="953" y="447675"/>
                  </a:lnTo>
                  <a:lnTo>
                    <a:pt x="0" y="490538"/>
                  </a:lnTo>
                  <a:lnTo>
                    <a:pt x="953" y="533400"/>
                  </a:lnTo>
                  <a:lnTo>
                    <a:pt x="6668" y="576262"/>
                  </a:lnTo>
                  <a:lnTo>
                    <a:pt x="16193" y="618172"/>
                  </a:lnTo>
                  <a:lnTo>
                    <a:pt x="29528" y="659130"/>
                  </a:lnTo>
                  <a:lnTo>
                    <a:pt x="45720" y="698182"/>
                  </a:lnTo>
                  <a:lnTo>
                    <a:pt x="64770" y="736282"/>
                  </a:lnTo>
                  <a:lnTo>
                    <a:pt x="88583" y="772478"/>
                  </a:lnTo>
                  <a:lnTo>
                    <a:pt x="114300" y="806767"/>
                  </a:lnTo>
                  <a:lnTo>
                    <a:pt x="143828" y="838200"/>
                  </a:lnTo>
                  <a:lnTo>
                    <a:pt x="175260" y="866775"/>
                  </a:lnTo>
                  <a:lnTo>
                    <a:pt x="209550" y="893445"/>
                  </a:lnTo>
                  <a:lnTo>
                    <a:pt x="244793" y="916305"/>
                  </a:lnTo>
                  <a:lnTo>
                    <a:pt x="282893" y="935355"/>
                  </a:lnTo>
                  <a:lnTo>
                    <a:pt x="322898" y="951547"/>
                  </a:lnTo>
                  <a:lnTo>
                    <a:pt x="362903" y="964882"/>
                  </a:lnTo>
                  <a:lnTo>
                    <a:pt x="405765" y="974407"/>
                  </a:lnTo>
                  <a:lnTo>
                    <a:pt x="447675" y="980122"/>
                  </a:lnTo>
                  <a:lnTo>
                    <a:pt x="490538" y="982028"/>
                  </a:lnTo>
                  <a:lnTo>
                    <a:pt x="533400" y="980122"/>
                  </a:lnTo>
                  <a:lnTo>
                    <a:pt x="575310" y="974407"/>
                  </a:lnTo>
                  <a:lnTo>
                    <a:pt x="617220" y="964882"/>
                  </a:lnTo>
                  <a:lnTo>
                    <a:pt x="658178" y="951547"/>
                  </a:lnTo>
                  <a:lnTo>
                    <a:pt x="698183" y="935355"/>
                  </a:lnTo>
                  <a:lnTo>
                    <a:pt x="735330" y="916305"/>
                  </a:lnTo>
                  <a:lnTo>
                    <a:pt x="772478" y="893445"/>
                  </a:lnTo>
                  <a:lnTo>
                    <a:pt x="805815" y="866775"/>
                  </a:lnTo>
                  <a:lnTo>
                    <a:pt x="837248" y="838200"/>
                  </a:lnTo>
                  <a:lnTo>
                    <a:pt x="866775" y="806767"/>
                  </a:lnTo>
                  <a:lnTo>
                    <a:pt x="892493" y="772478"/>
                  </a:lnTo>
                  <a:lnTo>
                    <a:pt x="915353" y="736282"/>
                  </a:lnTo>
                  <a:lnTo>
                    <a:pt x="935355" y="698182"/>
                  </a:lnTo>
                  <a:lnTo>
                    <a:pt x="951548" y="659130"/>
                  </a:lnTo>
                  <a:lnTo>
                    <a:pt x="964883" y="618172"/>
                  </a:lnTo>
                  <a:lnTo>
                    <a:pt x="973455" y="576262"/>
                  </a:lnTo>
                  <a:lnTo>
                    <a:pt x="979170" y="533400"/>
                  </a:lnTo>
                  <a:lnTo>
                    <a:pt x="981075" y="490538"/>
                  </a:lnTo>
                  <a:lnTo>
                    <a:pt x="979170" y="447675"/>
                  </a:lnTo>
                  <a:lnTo>
                    <a:pt x="975360" y="420053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2660332" y="4515802"/>
              <a:ext cx="896302" cy="896303"/>
            </a:xfrm>
            <a:custGeom>
              <a:avLst/>
              <a:gdLst/>
              <a:ahLst/>
              <a:cxnLst/>
              <a:rect l="l" t="t" r="r" b="b"/>
              <a:pathLst>
                <a:path w="896302" h="896303">
                  <a:moveTo>
                    <a:pt x="895350" y="433388"/>
                  </a:moveTo>
                  <a:lnTo>
                    <a:pt x="894397" y="408622"/>
                  </a:lnTo>
                  <a:lnTo>
                    <a:pt x="889635" y="370522"/>
                  </a:lnTo>
                  <a:lnTo>
                    <a:pt x="881062" y="332422"/>
                  </a:lnTo>
                  <a:lnTo>
                    <a:pt x="869633" y="294322"/>
                  </a:lnTo>
                  <a:lnTo>
                    <a:pt x="854392" y="258127"/>
                  </a:lnTo>
                  <a:lnTo>
                    <a:pt x="836295" y="223838"/>
                  </a:lnTo>
                  <a:lnTo>
                    <a:pt x="815340" y="191452"/>
                  </a:lnTo>
                  <a:lnTo>
                    <a:pt x="791527" y="160020"/>
                  </a:lnTo>
                  <a:lnTo>
                    <a:pt x="765810" y="131445"/>
                  </a:lnTo>
                  <a:lnTo>
                    <a:pt x="736283" y="104775"/>
                  </a:lnTo>
                  <a:lnTo>
                    <a:pt x="705802" y="80962"/>
                  </a:lnTo>
                  <a:lnTo>
                    <a:pt x="672465" y="60007"/>
                  </a:lnTo>
                  <a:lnTo>
                    <a:pt x="638175" y="41910"/>
                  </a:lnTo>
                  <a:lnTo>
                    <a:pt x="601980" y="26670"/>
                  </a:lnTo>
                  <a:lnTo>
                    <a:pt x="564833" y="15240"/>
                  </a:lnTo>
                  <a:lnTo>
                    <a:pt x="526733" y="6667"/>
                  </a:lnTo>
                  <a:lnTo>
                    <a:pt x="487680" y="1905"/>
                  </a:lnTo>
                  <a:lnTo>
                    <a:pt x="448627" y="0"/>
                  </a:lnTo>
                  <a:lnTo>
                    <a:pt x="409575" y="1905"/>
                  </a:lnTo>
                  <a:lnTo>
                    <a:pt x="370522" y="6667"/>
                  </a:lnTo>
                  <a:lnTo>
                    <a:pt x="332422" y="15240"/>
                  </a:lnTo>
                  <a:lnTo>
                    <a:pt x="295275" y="26670"/>
                  </a:lnTo>
                  <a:lnTo>
                    <a:pt x="259080" y="41910"/>
                  </a:lnTo>
                  <a:lnTo>
                    <a:pt x="224790" y="60007"/>
                  </a:lnTo>
                  <a:lnTo>
                    <a:pt x="191452" y="80962"/>
                  </a:lnTo>
                  <a:lnTo>
                    <a:pt x="160020" y="104775"/>
                  </a:lnTo>
                  <a:lnTo>
                    <a:pt x="131445" y="131445"/>
                  </a:lnTo>
                  <a:lnTo>
                    <a:pt x="105727" y="160020"/>
                  </a:lnTo>
                  <a:lnTo>
                    <a:pt x="81915" y="191452"/>
                  </a:lnTo>
                  <a:lnTo>
                    <a:pt x="60960" y="223838"/>
                  </a:lnTo>
                  <a:lnTo>
                    <a:pt x="42862" y="258127"/>
                  </a:lnTo>
                  <a:lnTo>
                    <a:pt x="27622" y="294322"/>
                  </a:lnTo>
                  <a:lnTo>
                    <a:pt x="16192" y="332422"/>
                  </a:lnTo>
                  <a:lnTo>
                    <a:pt x="7620" y="370522"/>
                  </a:lnTo>
                  <a:lnTo>
                    <a:pt x="2858" y="408622"/>
                  </a:lnTo>
                  <a:lnTo>
                    <a:pt x="0" y="447675"/>
                  </a:lnTo>
                  <a:lnTo>
                    <a:pt x="2858" y="486728"/>
                  </a:lnTo>
                  <a:lnTo>
                    <a:pt x="7620" y="525780"/>
                  </a:lnTo>
                  <a:lnTo>
                    <a:pt x="16192" y="563880"/>
                  </a:lnTo>
                  <a:lnTo>
                    <a:pt x="27622" y="601028"/>
                  </a:lnTo>
                  <a:lnTo>
                    <a:pt x="42862" y="637222"/>
                  </a:lnTo>
                  <a:lnTo>
                    <a:pt x="60960" y="671512"/>
                  </a:lnTo>
                  <a:lnTo>
                    <a:pt x="81915" y="704850"/>
                  </a:lnTo>
                  <a:lnTo>
                    <a:pt x="105727" y="736282"/>
                  </a:lnTo>
                  <a:lnTo>
                    <a:pt x="131445" y="764857"/>
                  </a:lnTo>
                  <a:lnTo>
                    <a:pt x="160020" y="791528"/>
                  </a:lnTo>
                  <a:lnTo>
                    <a:pt x="191452" y="815340"/>
                  </a:lnTo>
                  <a:lnTo>
                    <a:pt x="224790" y="836295"/>
                  </a:lnTo>
                  <a:lnTo>
                    <a:pt x="259080" y="854392"/>
                  </a:lnTo>
                  <a:lnTo>
                    <a:pt x="295275" y="868680"/>
                  </a:lnTo>
                  <a:lnTo>
                    <a:pt x="332422" y="881062"/>
                  </a:lnTo>
                  <a:lnTo>
                    <a:pt x="370522" y="889635"/>
                  </a:lnTo>
                  <a:lnTo>
                    <a:pt x="409575" y="894397"/>
                  </a:lnTo>
                  <a:lnTo>
                    <a:pt x="448627" y="896303"/>
                  </a:lnTo>
                  <a:lnTo>
                    <a:pt x="487680" y="894397"/>
                  </a:lnTo>
                  <a:lnTo>
                    <a:pt x="526733" y="889635"/>
                  </a:lnTo>
                  <a:lnTo>
                    <a:pt x="564833" y="881062"/>
                  </a:lnTo>
                  <a:lnTo>
                    <a:pt x="601980" y="868680"/>
                  </a:lnTo>
                  <a:lnTo>
                    <a:pt x="638175" y="854392"/>
                  </a:lnTo>
                  <a:lnTo>
                    <a:pt x="672465" y="836295"/>
                  </a:lnTo>
                  <a:lnTo>
                    <a:pt x="705802" y="815340"/>
                  </a:lnTo>
                  <a:lnTo>
                    <a:pt x="736283" y="791528"/>
                  </a:lnTo>
                  <a:lnTo>
                    <a:pt x="765810" y="764857"/>
                  </a:lnTo>
                  <a:lnTo>
                    <a:pt x="791527" y="736282"/>
                  </a:lnTo>
                  <a:lnTo>
                    <a:pt x="815340" y="704850"/>
                  </a:lnTo>
                  <a:lnTo>
                    <a:pt x="836295" y="671512"/>
                  </a:lnTo>
                  <a:lnTo>
                    <a:pt x="854392" y="637222"/>
                  </a:lnTo>
                  <a:lnTo>
                    <a:pt x="869633" y="601028"/>
                  </a:lnTo>
                  <a:lnTo>
                    <a:pt x="881062" y="563880"/>
                  </a:lnTo>
                  <a:lnTo>
                    <a:pt x="889635" y="525780"/>
                  </a:lnTo>
                  <a:lnTo>
                    <a:pt x="894397" y="486728"/>
                  </a:lnTo>
                  <a:lnTo>
                    <a:pt x="896302" y="447675"/>
                  </a:lnTo>
                  <a:lnTo>
                    <a:pt x="894397" y="408622"/>
                  </a:lnTo>
                  <a:lnTo>
                    <a:pt x="891540" y="384810"/>
                  </a:lnTo>
                </a:path>
              </a:pathLst>
            </a:custGeom>
            <a:noFill/>
            <a:ln w="38100">
              <a:solidFill>
                <a:srgbClr val="14A38B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707958" y="4563428"/>
              <a:ext cx="801052" cy="801053"/>
            </a:xfrm>
            <a:custGeom>
              <a:avLst/>
              <a:gdLst/>
              <a:ahLst/>
              <a:cxnLst/>
              <a:rect l="l" t="t" r="r" b="b"/>
              <a:pathLst>
                <a:path w="801052" h="801053">
                  <a:moveTo>
                    <a:pt x="801052" y="385762"/>
                  </a:moveTo>
                  <a:lnTo>
                    <a:pt x="800100" y="365760"/>
                  </a:lnTo>
                  <a:lnTo>
                    <a:pt x="795338" y="330517"/>
                  </a:lnTo>
                  <a:lnTo>
                    <a:pt x="787717" y="297180"/>
                  </a:lnTo>
                  <a:lnTo>
                    <a:pt x="777240" y="263842"/>
                  </a:lnTo>
                  <a:lnTo>
                    <a:pt x="763905" y="231457"/>
                  </a:lnTo>
                  <a:lnTo>
                    <a:pt x="747712" y="200025"/>
                  </a:lnTo>
                  <a:lnTo>
                    <a:pt x="729615" y="170497"/>
                  </a:lnTo>
                  <a:lnTo>
                    <a:pt x="707708" y="142875"/>
                  </a:lnTo>
                  <a:lnTo>
                    <a:pt x="683895" y="117157"/>
                  </a:lnTo>
                  <a:lnTo>
                    <a:pt x="659130" y="93345"/>
                  </a:lnTo>
                  <a:lnTo>
                    <a:pt x="630555" y="72390"/>
                  </a:lnTo>
                  <a:lnTo>
                    <a:pt x="601980" y="53340"/>
                  </a:lnTo>
                  <a:lnTo>
                    <a:pt x="570547" y="37147"/>
                  </a:lnTo>
                  <a:lnTo>
                    <a:pt x="538162" y="23812"/>
                  </a:lnTo>
                  <a:lnTo>
                    <a:pt x="504825" y="13335"/>
                  </a:lnTo>
                  <a:lnTo>
                    <a:pt x="470535" y="5715"/>
                  </a:lnTo>
                  <a:lnTo>
                    <a:pt x="436245" y="952"/>
                  </a:lnTo>
                  <a:lnTo>
                    <a:pt x="401002" y="0"/>
                  </a:lnTo>
                  <a:lnTo>
                    <a:pt x="366712" y="952"/>
                  </a:lnTo>
                  <a:lnTo>
                    <a:pt x="331470" y="5715"/>
                  </a:lnTo>
                  <a:lnTo>
                    <a:pt x="297180" y="13335"/>
                  </a:lnTo>
                  <a:lnTo>
                    <a:pt x="263842" y="23812"/>
                  </a:lnTo>
                  <a:lnTo>
                    <a:pt x="231458" y="37147"/>
                  </a:lnTo>
                  <a:lnTo>
                    <a:pt x="200977" y="53340"/>
                  </a:lnTo>
                  <a:lnTo>
                    <a:pt x="170497" y="72390"/>
                  </a:lnTo>
                  <a:lnTo>
                    <a:pt x="143827" y="93345"/>
                  </a:lnTo>
                  <a:lnTo>
                    <a:pt x="117158" y="117157"/>
                  </a:lnTo>
                  <a:lnTo>
                    <a:pt x="94297" y="142875"/>
                  </a:lnTo>
                  <a:lnTo>
                    <a:pt x="72390" y="170497"/>
                  </a:lnTo>
                  <a:lnTo>
                    <a:pt x="54292" y="200025"/>
                  </a:lnTo>
                  <a:lnTo>
                    <a:pt x="38100" y="231457"/>
                  </a:lnTo>
                  <a:lnTo>
                    <a:pt x="24765" y="263842"/>
                  </a:lnTo>
                  <a:lnTo>
                    <a:pt x="14288" y="297180"/>
                  </a:lnTo>
                  <a:lnTo>
                    <a:pt x="6667" y="330517"/>
                  </a:lnTo>
                  <a:lnTo>
                    <a:pt x="1905" y="365760"/>
                  </a:lnTo>
                  <a:lnTo>
                    <a:pt x="0" y="400050"/>
                  </a:lnTo>
                  <a:lnTo>
                    <a:pt x="1905" y="435292"/>
                  </a:lnTo>
                  <a:lnTo>
                    <a:pt x="6667" y="469582"/>
                  </a:lnTo>
                  <a:lnTo>
                    <a:pt x="14288" y="503872"/>
                  </a:lnTo>
                  <a:lnTo>
                    <a:pt x="24765" y="537210"/>
                  </a:lnTo>
                  <a:lnTo>
                    <a:pt x="38100" y="569595"/>
                  </a:lnTo>
                  <a:lnTo>
                    <a:pt x="54292" y="601028"/>
                  </a:lnTo>
                  <a:lnTo>
                    <a:pt x="72390" y="630555"/>
                  </a:lnTo>
                  <a:lnTo>
                    <a:pt x="94297" y="658178"/>
                  </a:lnTo>
                  <a:lnTo>
                    <a:pt x="117158" y="683895"/>
                  </a:lnTo>
                  <a:lnTo>
                    <a:pt x="143827" y="707707"/>
                  </a:lnTo>
                  <a:lnTo>
                    <a:pt x="170497" y="728662"/>
                  </a:lnTo>
                  <a:lnTo>
                    <a:pt x="200977" y="747712"/>
                  </a:lnTo>
                  <a:lnTo>
                    <a:pt x="231458" y="763905"/>
                  </a:lnTo>
                  <a:lnTo>
                    <a:pt x="263842" y="777240"/>
                  </a:lnTo>
                  <a:lnTo>
                    <a:pt x="297180" y="787717"/>
                  </a:lnTo>
                  <a:lnTo>
                    <a:pt x="331470" y="795338"/>
                  </a:lnTo>
                  <a:lnTo>
                    <a:pt x="366712" y="799147"/>
                  </a:lnTo>
                  <a:lnTo>
                    <a:pt x="401002" y="801053"/>
                  </a:lnTo>
                  <a:lnTo>
                    <a:pt x="436245" y="799147"/>
                  </a:lnTo>
                  <a:lnTo>
                    <a:pt x="470535" y="795338"/>
                  </a:lnTo>
                  <a:lnTo>
                    <a:pt x="504825" y="787717"/>
                  </a:lnTo>
                  <a:lnTo>
                    <a:pt x="538162" y="777240"/>
                  </a:lnTo>
                  <a:lnTo>
                    <a:pt x="570547" y="763905"/>
                  </a:lnTo>
                  <a:lnTo>
                    <a:pt x="601980" y="747712"/>
                  </a:lnTo>
                  <a:lnTo>
                    <a:pt x="630555" y="728662"/>
                  </a:lnTo>
                  <a:lnTo>
                    <a:pt x="659130" y="707707"/>
                  </a:lnTo>
                  <a:lnTo>
                    <a:pt x="683895" y="683895"/>
                  </a:lnTo>
                  <a:lnTo>
                    <a:pt x="707708" y="658178"/>
                  </a:lnTo>
                  <a:lnTo>
                    <a:pt x="729615" y="630555"/>
                  </a:lnTo>
                  <a:lnTo>
                    <a:pt x="747712" y="601028"/>
                  </a:lnTo>
                  <a:lnTo>
                    <a:pt x="763905" y="569595"/>
                  </a:lnTo>
                  <a:lnTo>
                    <a:pt x="777240" y="537210"/>
                  </a:lnTo>
                  <a:lnTo>
                    <a:pt x="787717" y="503872"/>
                  </a:lnTo>
                  <a:lnTo>
                    <a:pt x="795338" y="469582"/>
                  </a:lnTo>
                  <a:lnTo>
                    <a:pt x="800100" y="435292"/>
                  </a:lnTo>
                  <a:lnTo>
                    <a:pt x="801052" y="400050"/>
                  </a:lnTo>
                  <a:lnTo>
                    <a:pt x="800100" y="365760"/>
                  </a:lnTo>
                  <a:lnTo>
                    <a:pt x="797242" y="344805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762250" y="4616768"/>
              <a:ext cx="693420" cy="694373"/>
            </a:xfrm>
            <a:custGeom>
              <a:avLst/>
              <a:gdLst/>
              <a:ahLst/>
              <a:cxnLst/>
              <a:rect l="l" t="t" r="r" b="b"/>
              <a:pathLst>
                <a:path w="693420" h="694373">
                  <a:moveTo>
                    <a:pt x="693420" y="332423"/>
                  </a:moveTo>
                  <a:lnTo>
                    <a:pt x="692467" y="317183"/>
                  </a:lnTo>
                  <a:lnTo>
                    <a:pt x="688658" y="286702"/>
                  </a:lnTo>
                  <a:lnTo>
                    <a:pt x="681990" y="257175"/>
                  </a:lnTo>
                  <a:lnTo>
                    <a:pt x="672465" y="228600"/>
                  </a:lnTo>
                  <a:lnTo>
                    <a:pt x="661035" y="200025"/>
                  </a:lnTo>
                  <a:lnTo>
                    <a:pt x="647700" y="173355"/>
                  </a:lnTo>
                  <a:lnTo>
                    <a:pt x="630555" y="147638"/>
                  </a:lnTo>
                  <a:lnTo>
                    <a:pt x="612458" y="123825"/>
                  </a:lnTo>
                  <a:lnTo>
                    <a:pt x="591503" y="101917"/>
                  </a:lnTo>
                  <a:lnTo>
                    <a:pt x="569595" y="80962"/>
                  </a:lnTo>
                  <a:lnTo>
                    <a:pt x="545783" y="62865"/>
                  </a:lnTo>
                  <a:lnTo>
                    <a:pt x="520065" y="46673"/>
                  </a:lnTo>
                  <a:lnTo>
                    <a:pt x="493395" y="32385"/>
                  </a:lnTo>
                  <a:lnTo>
                    <a:pt x="464820" y="20955"/>
                  </a:lnTo>
                  <a:lnTo>
                    <a:pt x="436245" y="11430"/>
                  </a:lnTo>
                  <a:lnTo>
                    <a:pt x="406717" y="5715"/>
                  </a:lnTo>
                  <a:lnTo>
                    <a:pt x="377190" y="953"/>
                  </a:lnTo>
                  <a:lnTo>
                    <a:pt x="346710" y="0"/>
                  </a:lnTo>
                  <a:lnTo>
                    <a:pt x="316230" y="953"/>
                  </a:lnTo>
                  <a:lnTo>
                    <a:pt x="286703" y="5715"/>
                  </a:lnTo>
                  <a:lnTo>
                    <a:pt x="257175" y="11430"/>
                  </a:lnTo>
                  <a:lnTo>
                    <a:pt x="227647" y="20955"/>
                  </a:lnTo>
                  <a:lnTo>
                    <a:pt x="200025" y="32385"/>
                  </a:lnTo>
                  <a:lnTo>
                    <a:pt x="173355" y="46673"/>
                  </a:lnTo>
                  <a:lnTo>
                    <a:pt x="147638" y="62865"/>
                  </a:lnTo>
                  <a:lnTo>
                    <a:pt x="123825" y="80962"/>
                  </a:lnTo>
                  <a:lnTo>
                    <a:pt x="100965" y="101917"/>
                  </a:lnTo>
                  <a:lnTo>
                    <a:pt x="80962" y="123825"/>
                  </a:lnTo>
                  <a:lnTo>
                    <a:pt x="62865" y="147638"/>
                  </a:lnTo>
                  <a:lnTo>
                    <a:pt x="45720" y="173355"/>
                  </a:lnTo>
                  <a:lnTo>
                    <a:pt x="32385" y="200025"/>
                  </a:lnTo>
                  <a:lnTo>
                    <a:pt x="20955" y="228600"/>
                  </a:lnTo>
                  <a:lnTo>
                    <a:pt x="11430" y="257175"/>
                  </a:lnTo>
                  <a:lnTo>
                    <a:pt x="4762" y="286702"/>
                  </a:lnTo>
                  <a:lnTo>
                    <a:pt x="953" y="317183"/>
                  </a:lnTo>
                  <a:lnTo>
                    <a:pt x="0" y="346710"/>
                  </a:lnTo>
                  <a:lnTo>
                    <a:pt x="953" y="377190"/>
                  </a:lnTo>
                  <a:lnTo>
                    <a:pt x="4762" y="407670"/>
                  </a:lnTo>
                  <a:lnTo>
                    <a:pt x="11430" y="437198"/>
                  </a:lnTo>
                  <a:lnTo>
                    <a:pt x="20955" y="465773"/>
                  </a:lnTo>
                  <a:lnTo>
                    <a:pt x="32385" y="493395"/>
                  </a:lnTo>
                  <a:lnTo>
                    <a:pt x="45720" y="521017"/>
                  </a:lnTo>
                  <a:lnTo>
                    <a:pt x="62865" y="545783"/>
                  </a:lnTo>
                  <a:lnTo>
                    <a:pt x="80962" y="570548"/>
                  </a:lnTo>
                  <a:lnTo>
                    <a:pt x="100965" y="592455"/>
                  </a:lnTo>
                  <a:lnTo>
                    <a:pt x="123825" y="612458"/>
                  </a:lnTo>
                  <a:lnTo>
                    <a:pt x="147638" y="631508"/>
                  </a:lnTo>
                  <a:lnTo>
                    <a:pt x="173355" y="647700"/>
                  </a:lnTo>
                  <a:lnTo>
                    <a:pt x="200025" y="661988"/>
                  </a:lnTo>
                  <a:lnTo>
                    <a:pt x="227647" y="673417"/>
                  </a:lnTo>
                  <a:lnTo>
                    <a:pt x="257175" y="681990"/>
                  </a:lnTo>
                  <a:lnTo>
                    <a:pt x="286703" y="688658"/>
                  </a:lnTo>
                  <a:lnTo>
                    <a:pt x="316230" y="692467"/>
                  </a:lnTo>
                  <a:lnTo>
                    <a:pt x="346710" y="694373"/>
                  </a:lnTo>
                  <a:lnTo>
                    <a:pt x="377190" y="692467"/>
                  </a:lnTo>
                  <a:lnTo>
                    <a:pt x="406717" y="688658"/>
                  </a:lnTo>
                  <a:lnTo>
                    <a:pt x="436245" y="681990"/>
                  </a:lnTo>
                  <a:lnTo>
                    <a:pt x="464820" y="673417"/>
                  </a:lnTo>
                  <a:lnTo>
                    <a:pt x="493395" y="661988"/>
                  </a:lnTo>
                  <a:lnTo>
                    <a:pt x="520065" y="647700"/>
                  </a:lnTo>
                  <a:lnTo>
                    <a:pt x="545783" y="631508"/>
                  </a:lnTo>
                  <a:lnTo>
                    <a:pt x="569595" y="612458"/>
                  </a:lnTo>
                  <a:lnTo>
                    <a:pt x="591503" y="592455"/>
                  </a:lnTo>
                  <a:lnTo>
                    <a:pt x="612458" y="570548"/>
                  </a:lnTo>
                  <a:lnTo>
                    <a:pt x="630555" y="545783"/>
                  </a:lnTo>
                  <a:lnTo>
                    <a:pt x="647700" y="521017"/>
                  </a:lnTo>
                  <a:lnTo>
                    <a:pt x="661035" y="493395"/>
                  </a:lnTo>
                  <a:lnTo>
                    <a:pt x="672465" y="465773"/>
                  </a:lnTo>
                  <a:lnTo>
                    <a:pt x="681990" y="437198"/>
                  </a:lnTo>
                  <a:lnTo>
                    <a:pt x="688658" y="407670"/>
                  </a:lnTo>
                  <a:lnTo>
                    <a:pt x="692467" y="377190"/>
                  </a:lnTo>
                  <a:lnTo>
                    <a:pt x="693420" y="346710"/>
                  </a:lnTo>
                  <a:lnTo>
                    <a:pt x="692467" y="317183"/>
                  </a:lnTo>
                  <a:lnTo>
                    <a:pt x="690562" y="300990"/>
                  </a:lnTo>
                </a:path>
              </a:pathLst>
            </a:custGeom>
            <a:noFill/>
            <a:ln w="38100">
              <a:solidFill>
                <a:srgbClr val="14A38B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2825115" y="4680585"/>
              <a:ext cx="566738" cy="566738"/>
            </a:xfrm>
            <a:custGeom>
              <a:avLst/>
              <a:gdLst/>
              <a:ahLst/>
              <a:cxnLst/>
              <a:rect l="l" t="t" r="r" b="b"/>
              <a:pathLst>
                <a:path w="566738" h="566738">
                  <a:moveTo>
                    <a:pt x="566738" y="268605"/>
                  </a:moveTo>
                  <a:lnTo>
                    <a:pt x="565785" y="258128"/>
                  </a:lnTo>
                  <a:lnTo>
                    <a:pt x="562927" y="234315"/>
                  </a:lnTo>
                  <a:lnTo>
                    <a:pt x="557212" y="210503"/>
                  </a:lnTo>
                  <a:lnTo>
                    <a:pt x="550545" y="186690"/>
                  </a:lnTo>
                  <a:lnTo>
                    <a:pt x="540067" y="163830"/>
                  </a:lnTo>
                  <a:lnTo>
                    <a:pt x="528638" y="141923"/>
                  </a:lnTo>
                  <a:lnTo>
                    <a:pt x="516255" y="120968"/>
                  </a:lnTo>
                  <a:lnTo>
                    <a:pt x="501015" y="100965"/>
                  </a:lnTo>
                  <a:lnTo>
                    <a:pt x="484822" y="82868"/>
                  </a:lnTo>
                  <a:lnTo>
                    <a:pt x="465772" y="66675"/>
                  </a:lnTo>
                  <a:lnTo>
                    <a:pt x="446722" y="51435"/>
                  </a:lnTo>
                  <a:lnTo>
                    <a:pt x="425767" y="38100"/>
                  </a:lnTo>
                  <a:lnTo>
                    <a:pt x="402907" y="26670"/>
                  </a:lnTo>
                  <a:lnTo>
                    <a:pt x="380047" y="17145"/>
                  </a:lnTo>
                  <a:lnTo>
                    <a:pt x="357188" y="9525"/>
                  </a:lnTo>
                  <a:lnTo>
                    <a:pt x="333375" y="3810"/>
                  </a:lnTo>
                  <a:lnTo>
                    <a:pt x="308610" y="953"/>
                  </a:lnTo>
                  <a:lnTo>
                    <a:pt x="283845" y="0"/>
                  </a:lnTo>
                  <a:lnTo>
                    <a:pt x="259080" y="953"/>
                  </a:lnTo>
                  <a:lnTo>
                    <a:pt x="234315" y="3810"/>
                  </a:lnTo>
                  <a:lnTo>
                    <a:pt x="210502" y="9525"/>
                  </a:lnTo>
                  <a:lnTo>
                    <a:pt x="186690" y="17145"/>
                  </a:lnTo>
                  <a:lnTo>
                    <a:pt x="163830" y="26670"/>
                  </a:lnTo>
                  <a:lnTo>
                    <a:pt x="141922" y="38100"/>
                  </a:lnTo>
                  <a:lnTo>
                    <a:pt x="120967" y="51435"/>
                  </a:lnTo>
                  <a:lnTo>
                    <a:pt x="101917" y="66675"/>
                  </a:lnTo>
                  <a:lnTo>
                    <a:pt x="83820" y="82868"/>
                  </a:lnTo>
                  <a:lnTo>
                    <a:pt x="66675" y="100965"/>
                  </a:lnTo>
                  <a:lnTo>
                    <a:pt x="51435" y="120968"/>
                  </a:lnTo>
                  <a:lnTo>
                    <a:pt x="38100" y="141923"/>
                  </a:lnTo>
                  <a:lnTo>
                    <a:pt x="26670" y="163830"/>
                  </a:lnTo>
                  <a:lnTo>
                    <a:pt x="17145" y="186690"/>
                  </a:lnTo>
                  <a:lnTo>
                    <a:pt x="10477" y="210503"/>
                  </a:lnTo>
                  <a:lnTo>
                    <a:pt x="4762" y="234315"/>
                  </a:lnTo>
                  <a:lnTo>
                    <a:pt x="952" y="258128"/>
                  </a:lnTo>
                  <a:lnTo>
                    <a:pt x="0" y="282893"/>
                  </a:lnTo>
                  <a:lnTo>
                    <a:pt x="952" y="307658"/>
                  </a:lnTo>
                  <a:lnTo>
                    <a:pt x="4762" y="332422"/>
                  </a:lnTo>
                  <a:lnTo>
                    <a:pt x="10477" y="356235"/>
                  </a:lnTo>
                  <a:lnTo>
                    <a:pt x="17145" y="380047"/>
                  </a:lnTo>
                  <a:lnTo>
                    <a:pt x="26670" y="402908"/>
                  </a:lnTo>
                  <a:lnTo>
                    <a:pt x="38100" y="424815"/>
                  </a:lnTo>
                  <a:lnTo>
                    <a:pt x="51435" y="445770"/>
                  </a:lnTo>
                  <a:lnTo>
                    <a:pt x="66675" y="465772"/>
                  </a:lnTo>
                  <a:lnTo>
                    <a:pt x="83820" y="483870"/>
                  </a:lnTo>
                  <a:lnTo>
                    <a:pt x="101917" y="500062"/>
                  </a:lnTo>
                  <a:lnTo>
                    <a:pt x="120967" y="515303"/>
                  </a:lnTo>
                  <a:lnTo>
                    <a:pt x="141922" y="528638"/>
                  </a:lnTo>
                  <a:lnTo>
                    <a:pt x="163830" y="540068"/>
                  </a:lnTo>
                  <a:lnTo>
                    <a:pt x="186690" y="549593"/>
                  </a:lnTo>
                  <a:lnTo>
                    <a:pt x="210502" y="557212"/>
                  </a:lnTo>
                  <a:lnTo>
                    <a:pt x="234315" y="561975"/>
                  </a:lnTo>
                  <a:lnTo>
                    <a:pt x="259080" y="565785"/>
                  </a:lnTo>
                  <a:lnTo>
                    <a:pt x="283845" y="566738"/>
                  </a:lnTo>
                  <a:lnTo>
                    <a:pt x="308610" y="565785"/>
                  </a:lnTo>
                  <a:lnTo>
                    <a:pt x="333375" y="561975"/>
                  </a:lnTo>
                  <a:lnTo>
                    <a:pt x="357188" y="557212"/>
                  </a:lnTo>
                  <a:lnTo>
                    <a:pt x="380047" y="549593"/>
                  </a:lnTo>
                  <a:lnTo>
                    <a:pt x="402907" y="540068"/>
                  </a:lnTo>
                  <a:lnTo>
                    <a:pt x="425767" y="528638"/>
                  </a:lnTo>
                  <a:lnTo>
                    <a:pt x="446722" y="515303"/>
                  </a:lnTo>
                  <a:lnTo>
                    <a:pt x="465772" y="500062"/>
                  </a:lnTo>
                  <a:lnTo>
                    <a:pt x="484822" y="483870"/>
                  </a:lnTo>
                  <a:lnTo>
                    <a:pt x="501015" y="465772"/>
                  </a:lnTo>
                  <a:lnTo>
                    <a:pt x="516255" y="445770"/>
                  </a:lnTo>
                  <a:lnTo>
                    <a:pt x="528638" y="424815"/>
                  </a:lnTo>
                  <a:lnTo>
                    <a:pt x="540067" y="402908"/>
                  </a:lnTo>
                  <a:lnTo>
                    <a:pt x="550545" y="380047"/>
                  </a:lnTo>
                  <a:lnTo>
                    <a:pt x="557212" y="356235"/>
                  </a:lnTo>
                  <a:lnTo>
                    <a:pt x="562927" y="332422"/>
                  </a:lnTo>
                  <a:lnTo>
                    <a:pt x="565785" y="307658"/>
                  </a:lnTo>
                  <a:lnTo>
                    <a:pt x="566738" y="282893"/>
                  </a:lnTo>
                  <a:lnTo>
                    <a:pt x="565785" y="258128"/>
                  </a:lnTo>
                  <a:lnTo>
                    <a:pt x="564832" y="248603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908935" y="4763452"/>
              <a:ext cx="401003" cy="401003"/>
            </a:xfrm>
            <a:custGeom>
              <a:avLst/>
              <a:gdLst/>
              <a:ahLst/>
              <a:cxnLst/>
              <a:rect l="l" t="t" r="r" b="b"/>
              <a:pathLst>
                <a:path w="401003" h="401003">
                  <a:moveTo>
                    <a:pt x="400050" y="185738"/>
                  </a:moveTo>
                  <a:lnTo>
                    <a:pt x="399098" y="182880"/>
                  </a:lnTo>
                  <a:lnTo>
                    <a:pt x="397193" y="165735"/>
                  </a:lnTo>
                  <a:lnTo>
                    <a:pt x="393383" y="148590"/>
                  </a:lnTo>
                  <a:lnTo>
                    <a:pt x="387668" y="132397"/>
                  </a:lnTo>
                  <a:lnTo>
                    <a:pt x="381000" y="115253"/>
                  </a:lnTo>
                  <a:lnTo>
                    <a:pt x="373380" y="100012"/>
                  </a:lnTo>
                  <a:lnTo>
                    <a:pt x="363855" y="85725"/>
                  </a:lnTo>
                  <a:lnTo>
                    <a:pt x="353378" y="71438"/>
                  </a:lnTo>
                  <a:lnTo>
                    <a:pt x="341948" y="59055"/>
                  </a:lnTo>
                  <a:lnTo>
                    <a:pt x="328612" y="46672"/>
                  </a:lnTo>
                  <a:lnTo>
                    <a:pt x="315278" y="36195"/>
                  </a:lnTo>
                  <a:lnTo>
                    <a:pt x="300038" y="26670"/>
                  </a:lnTo>
                  <a:lnTo>
                    <a:pt x="284798" y="19050"/>
                  </a:lnTo>
                  <a:lnTo>
                    <a:pt x="268605" y="12382"/>
                  </a:lnTo>
                  <a:lnTo>
                    <a:pt x="252412" y="6667"/>
                  </a:lnTo>
                  <a:lnTo>
                    <a:pt x="235268" y="2857"/>
                  </a:lnTo>
                  <a:lnTo>
                    <a:pt x="217170" y="952"/>
                  </a:lnTo>
                  <a:lnTo>
                    <a:pt x="200025" y="0"/>
                  </a:lnTo>
                  <a:lnTo>
                    <a:pt x="182880" y="952"/>
                  </a:lnTo>
                  <a:lnTo>
                    <a:pt x="165735" y="2857"/>
                  </a:lnTo>
                  <a:lnTo>
                    <a:pt x="148590" y="6667"/>
                  </a:lnTo>
                  <a:lnTo>
                    <a:pt x="131445" y="12382"/>
                  </a:lnTo>
                  <a:lnTo>
                    <a:pt x="115253" y="19050"/>
                  </a:lnTo>
                  <a:lnTo>
                    <a:pt x="100012" y="26670"/>
                  </a:lnTo>
                  <a:lnTo>
                    <a:pt x="85725" y="36195"/>
                  </a:lnTo>
                  <a:lnTo>
                    <a:pt x="71438" y="46672"/>
                  </a:lnTo>
                  <a:lnTo>
                    <a:pt x="58103" y="59055"/>
                  </a:lnTo>
                  <a:lnTo>
                    <a:pt x="46673" y="71438"/>
                  </a:lnTo>
                  <a:lnTo>
                    <a:pt x="36195" y="85725"/>
                  </a:lnTo>
                  <a:lnTo>
                    <a:pt x="26670" y="100012"/>
                  </a:lnTo>
                  <a:lnTo>
                    <a:pt x="18098" y="115253"/>
                  </a:lnTo>
                  <a:lnTo>
                    <a:pt x="11430" y="132397"/>
                  </a:lnTo>
                  <a:lnTo>
                    <a:pt x="6668" y="148590"/>
                  </a:lnTo>
                  <a:lnTo>
                    <a:pt x="2858" y="165735"/>
                  </a:lnTo>
                  <a:lnTo>
                    <a:pt x="953" y="182880"/>
                  </a:lnTo>
                  <a:lnTo>
                    <a:pt x="0" y="200025"/>
                  </a:lnTo>
                  <a:lnTo>
                    <a:pt x="953" y="218122"/>
                  </a:lnTo>
                  <a:lnTo>
                    <a:pt x="2858" y="235267"/>
                  </a:lnTo>
                  <a:lnTo>
                    <a:pt x="6668" y="252412"/>
                  </a:lnTo>
                  <a:lnTo>
                    <a:pt x="11430" y="268605"/>
                  </a:lnTo>
                  <a:lnTo>
                    <a:pt x="18098" y="284797"/>
                  </a:lnTo>
                  <a:lnTo>
                    <a:pt x="26670" y="300990"/>
                  </a:lnTo>
                  <a:lnTo>
                    <a:pt x="36195" y="315278"/>
                  </a:lnTo>
                  <a:lnTo>
                    <a:pt x="46673" y="329565"/>
                  </a:lnTo>
                  <a:lnTo>
                    <a:pt x="58103" y="341947"/>
                  </a:lnTo>
                  <a:lnTo>
                    <a:pt x="71438" y="353378"/>
                  </a:lnTo>
                  <a:lnTo>
                    <a:pt x="85725" y="364807"/>
                  </a:lnTo>
                  <a:lnTo>
                    <a:pt x="100012" y="374332"/>
                  </a:lnTo>
                  <a:lnTo>
                    <a:pt x="115253" y="381953"/>
                  </a:lnTo>
                  <a:lnTo>
                    <a:pt x="131445" y="388620"/>
                  </a:lnTo>
                  <a:lnTo>
                    <a:pt x="148590" y="394335"/>
                  </a:lnTo>
                  <a:lnTo>
                    <a:pt x="165735" y="398145"/>
                  </a:lnTo>
                  <a:lnTo>
                    <a:pt x="182880" y="400050"/>
                  </a:lnTo>
                  <a:lnTo>
                    <a:pt x="200025" y="401003"/>
                  </a:lnTo>
                  <a:lnTo>
                    <a:pt x="217170" y="400050"/>
                  </a:lnTo>
                  <a:lnTo>
                    <a:pt x="235268" y="398145"/>
                  </a:lnTo>
                  <a:lnTo>
                    <a:pt x="252412" y="394335"/>
                  </a:lnTo>
                  <a:lnTo>
                    <a:pt x="268605" y="388620"/>
                  </a:lnTo>
                  <a:lnTo>
                    <a:pt x="284798" y="381953"/>
                  </a:lnTo>
                  <a:lnTo>
                    <a:pt x="300038" y="374332"/>
                  </a:lnTo>
                  <a:lnTo>
                    <a:pt x="315278" y="364807"/>
                  </a:lnTo>
                  <a:lnTo>
                    <a:pt x="328612" y="353378"/>
                  </a:lnTo>
                  <a:lnTo>
                    <a:pt x="341948" y="341947"/>
                  </a:lnTo>
                  <a:lnTo>
                    <a:pt x="353378" y="329565"/>
                  </a:lnTo>
                  <a:lnTo>
                    <a:pt x="363855" y="315278"/>
                  </a:lnTo>
                  <a:lnTo>
                    <a:pt x="373380" y="300990"/>
                  </a:lnTo>
                  <a:lnTo>
                    <a:pt x="381000" y="284797"/>
                  </a:lnTo>
                  <a:lnTo>
                    <a:pt x="387668" y="268605"/>
                  </a:lnTo>
                  <a:lnTo>
                    <a:pt x="393383" y="252412"/>
                  </a:lnTo>
                  <a:lnTo>
                    <a:pt x="397193" y="235267"/>
                  </a:lnTo>
                  <a:lnTo>
                    <a:pt x="399098" y="218122"/>
                  </a:lnTo>
                  <a:lnTo>
                    <a:pt x="401003" y="200025"/>
                  </a:lnTo>
                  <a:lnTo>
                    <a:pt x="399098" y="182880"/>
                  </a:lnTo>
                  <a:lnTo>
                    <a:pt x="399098" y="180022"/>
                  </a:lnTo>
                </a:path>
              </a:pathLst>
            </a:custGeom>
            <a:noFill/>
            <a:ln w="38100">
              <a:solidFill>
                <a:srgbClr val="14A38B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076575" y="4931092"/>
              <a:ext cx="65722" cy="64770"/>
            </a:xfrm>
            <a:custGeom>
              <a:avLst/>
              <a:gdLst/>
              <a:ahLst/>
              <a:cxnLst/>
              <a:rect l="l" t="t" r="r" b="b"/>
              <a:pathLst>
                <a:path w="65722" h="64770">
                  <a:moveTo>
                    <a:pt x="62865" y="19050"/>
                  </a:moveTo>
                  <a:lnTo>
                    <a:pt x="63817" y="23812"/>
                  </a:lnTo>
                  <a:lnTo>
                    <a:pt x="60008" y="16192"/>
                  </a:lnTo>
                  <a:lnTo>
                    <a:pt x="55245" y="9525"/>
                  </a:lnTo>
                  <a:lnTo>
                    <a:pt x="48578" y="4762"/>
                  </a:lnTo>
                  <a:lnTo>
                    <a:pt x="40958" y="1905"/>
                  </a:lnTo>
                  <a:lnTo>
                    <a:pt x="32385" y="0"/>
                  </a:lnTo>
                  <a:lnTo>
                    <a:pt x="23812" y="1905"/>
                  </a:lnTo>
                  <a:lnTo>
                    <a:pt x="16192" y="4762"/>
                  </a:lnTo>
                  <a:lnTo>
                    <a:pt x="9525" y="9525"/>
                  </a:lnTo>
                  <a:lnTo>
                    <a:pt x="4762" y="16192"/>
                  </a:lnTo>
                  <a:lnTo>
                    <a:pt x="953" y="23812"/>
                  </a:lnTo>
                  <a:lnTo>
                    <a:pt x="0" y="32385"/>
                  </a:lnTo>
                  <a:lnTo>
                    <a:pt x="953" y="40957"/>
                  </a:lnTo>
                  <a:lnTo>
                    <a:pt x="4762" y="48577"/>
                  </a:lnTo>
                  <a:lnTo>
                    <a:pt x="9525" y="55245"/>
                  </a:lnTo>
                  <a:lnTo>
                    <a:pt x="16192" y="60960"/>
                  </a:lnTo>
                  <a:lnTo>
                    <a:pt x="23812" y="63817"/>
                  </a:lnTo>
                  <a:lnTo>
                    <a:pt x="32385" y="64770"/>
                  </a:lnTo>
                  <a:lnTo>
                    <a:pt x="40958" y="63817"/>
                  </a:lnTo>
                  <a:lnTo>
                    <a:pt x="48578" y="60960"/>
                  </a:lnTo>
                  <a:lnTo>
                    <a:pt x="55245" y="55245"/>
                  </a:lnTo>
                  <a:lnTo>
                    <a:pt x="60008" y="48577"/>
                  </a:lnTo>
                  <a:lnTo>
                    <a:pt x="63817" y="40957"/>
                  </a:lnTo>
                  <a:lnTo>
                    <a:pt x="64770" y="32385"/>
                  </a:lnTo>
                  <a:lnTo>
                    <a:pt x="63817" y="23812"/>
                  </a:lnTo>
                  <a:lnTo>
                    <a:pt x="65722" y="29527"/>
                  </a:lnTo>
                </a:path>
              </a:pathLst>
            </a:custGeom>
            <a:noFill/>
            <a:ln w="85725">
              <a:solidFill>
                <a:srgbClr val="1F2937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565910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642485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318635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889760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480560" y="40033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480560" y="36642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104198" y="36642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529138" y="366426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618422" y="32099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618422" y="36147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670935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662362" y="48606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634740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626168" y="486727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594735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587115" y="487394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551872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545205" y="48815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504248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498532" y="488918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450908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446145" y="48987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387090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383280" y="49101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305175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3301365" y="492442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3136582" y="495871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3131820" y="49425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703187" y="4053364"/>
              <a:ext cx="75464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玻璃 n₃ = 1.50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773722" y="3819049"/>
              <a:ext cx="6704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油 n₂ = 1.60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71815" y="37695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915139" y="3254216"/>
              <a:ext cx="58326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l-GR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λ = 576 nm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51898" y="4661059"/>
              <a:ext cx="6994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0（边缘）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751898" y="4968716"/>
              <a:ext cx="6994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4（中心）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88363" y="490394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俯视反射光</a:t>
              </a:r>
            </a:p>
          </p:txBody>
        </p:sp>
      </p:grpSp>
      <p:grpSp>
        <p:nvGrpSpPr>
          <p:cNvPr id="88" name="c2-steps-1"/>
          <p:cNvGrpSpPr/>
          <p:nvPr/>
        </p:nvGrpSpPr>
        <p:grpSpPr>
          <a:xfrm>
            <a:off x="6032182" y="1533525"/>
            <a:ext cx="4926463" cy="2702814"/>
            <a:chOff x="6032182" y="1533525"/>
            <a:chExt cx="4926463" cy="2702814"/>
          </a:xfrm>
        </p:grpSpPr>
        <p:sp>
          <p:nvSpPr>
            <p:cNvPr id="67" name="Rectangle 67"/>
            <p:cNvSpPr/>
            <p:nvPr/>
          </p:nvSpPr>
          <p:spPr>
            <a:xfrm>
              <a:off x="6165532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032182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125806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032182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125806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032182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125806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032182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125806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44806" y="15644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判半波损失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45948" y="1818322"/>
              <a:ext cx="4512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 1 &lt; 油 1.60 &gt; 玻璃 1.50，只有上表面有半波损失，δ = 2n₂e + λ/2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44806" y="21169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边缘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445948" y="2371725"/>
              <a:ext cx="1508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0，δ = λ/2，是暗纹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44806" y="26703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暗纹厚度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45948" y="2925128"/>
              <a:ext cx="2668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2n₂e + λ/2 = (2k + 1)λ/2，e = kλ/(2n₂)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44806" y="32227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数暗纹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445948" y="3477578"/>
              <a:ext cx="29719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最外暗环 k = 0，中心暗点是第 5 条暗纹，k = 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444806" y="3776186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h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45948" y="4030980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4λ/(2n₂) = 4 × 576 nm/(2 × 1.60) = 720 nm</a:t>
              </a:r>
            </a:p>
          </p:txBody>
        </p:sp>
      </p:grpSp>
      <p:grpSp>
        <p:nvGrpSpPr>
          <p:cNvPr id="93" name="c2-card-2"/>
          <p:cNvGrpSpPr/>
          <p:nvPr/>
        </p:nvGrpSpPr>
        <p:grpSpPr>
          <a:xfrm>
            <a:off x="6032182" y="4397692"/>
            <a:ext cx="5626418" cy="1229678"/>
            <a:chOff x="6032182" y="4397692"/>
            <a:chExt cx="5626418" cy="1229678"/>
          </a:xfrm>
        </p:grpSpPr>
        <p:sp>
          <p:nvSpPr>
            <p:cNvPr id="89" name="Rectangle 89"/>
            <p:cNvSpPr/>
            <p:nvPr/>
          </p:nvSpPr>
          <p:spPr>
            <a:xfrm>
              <a:off x="6032182" y="4397692"/>
              <a:ext cx="5626418" cy="1229678"/>
            </a:xfrm>
            <a:prstGeom prst="roundRect">
              <a:avLst>
                <a:gd name="adj" fmla="val 1084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213158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08928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206680" y="4919186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边缘是暗纹；② h = 7.2×10⁻⁷ m。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4" name="Rectangle 9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1273" y="6039326"/>
              <a:ext cx="9481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变式：若油的折射率小于玻璃（如 n₂ = 1.40），两个面都有半波损失，边缘变成明纹，中心暗点对应 2n₂h = (2k + 1)λ/2。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86512" cy="3675697"/>
            <a:chOff x="667512" y="1835468"/>
            <a:chExt cx="6386512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牛顿环与迈克耳孙干涉仪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76606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 7.1.3 把牛顿环列为分振幅法的实例，未展开；两者都是常见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考点，这里补上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牛顿环的环半径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用牛顿环测曲率半径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迈克耳孙干涉仪的结构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条纹移动与动镜位移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62660" cy="909257"/>
            <a:chOff x="520446" y="342900"/>
            <a:chExt cx="5262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牛顿环与迈克耳孙干涉仪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62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牛顿环：环半径 r ∝ √k，内疏外密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g_newton"/>
          <p:cNvGrpSpPr/>
          <p:nvPr/>
        </p:nvGrpSpPr>
        <p:grpSpPr>
          <a:xfrm>
            <a:off x="909638" y="2127885"/>
            <a:ext cx="4676775" cy="2932747"/>
            <a:chOff x="909638" y="2127885"/>
            <a:chExt cx="4676775" cy="2932747"/>
          </a:xfrm>
        </p:grpSpPr>
        <p:sp>
          <p:nvSpPr>
            <p:cNvPr id="7" name="Freeform 7"/>
            <p:cNvSpPr/>
            <p:nvPr/>
          </p:nvSpPr>
          <p:spPr>
            <a:xfrm>
              <a:off x="914400" y="3422332"/>
              <a:ext cx="4667250" cy="228600"/>
            </a:xfrm>
            <a:custGeom>
              <a:avLst/>
              <a:gdLst/>
              <a:ahLst/>
              <a:cxnLst/>
              <a:rect l="l" t="t" r="r" b="b"/>
              <a:pathLst>
                <a:path w="4667250" h="228600">
                  <a:moveTo>
                    <a:pt x="14288" y="0"/>
                  </a:moveTo>
                  <a:lnTo>
                    <a:pt x="4667250" y="0"/>
                  </a:lnTo>
                  <a:lnTo>
                    <a:pt x="4667250" y="228600"/>
                  </a:lnTo>
                  <a:lnTo>
                    <a:pt x="0" y="228600"/>
                  </a:lnTo>
                  <a:lnTo>
                    <a:pt x="0" y="0"/>
                  </a:lnTo>
                  <a:lnTo>
                    <a:pt x="4652962" y="0"/>
                  </a:lnTo>
                </a:path>
              </a:pathLst>
            </a:custGeom>
            <a:noFill/>
            <a:ln w="1905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52525" y="2469832"/>
              <a:ext cx="4191000" cy="952500"/>
            </a:xfrm>
            <a:custGeom>
              <a:avLst/>
              <a:gdLst/>
              <a:ahLst/>
              <a:cxnLst/>
              <a:rect l="l" t="t" r="r" b="b"/>
              <a:pathLst>
                <a:path w="4191000" h="952500">
                  <a:moveTo>
                    <a:pt x="0" y="14288"/>
                  </a:moveTo>
                  <a:lnTo>
                    <a:pt x="0" y="615315"/>
                  </a:lnTo>
                  <a:lnTo>
                    <a:pt x="47625" y="630555"/>
                  </a:lnTo>
                  <a:lnTo>
                    <a:pt x="95250" y="645795"/>
                  </a:lnTo>
                  <a:lnTo>
                    <a:pt x="142875" y="660083"/>
                  </a:lnTo>
                  <a:lnTo>
                    <a:pt x="190500" y="674370"/>
                  </a:lnTo>
                  <a:lnTo>
                    <a:pt x="238125" y="688658"/>
                  </a:lnTo>
                  <a:lnTo>
                    <a:pt x="285750" y="702945"/>
                  </a:lnTo>
                  <a:lnTo>
                    <a:pt x="333375" y="716280"/>
                  </a:lnTo>
                  <a:lnTo>
                    <a:pt x="381000" y="728662"/>
                  </a:lnTo>
                  <a:lnTo>
                    <a:pt x="428625" y="741045"/>
                  </a:lnTo>
                  <a:lnTo>
                    <a:pt x="476250" y="753427"/>
                  </a:lnTo>
                  <a:lnTo>
                    <a:pt x="523875" y="764858"/>
                  </a:lnTo>
                  <a:lnTo>
                    <a:pt x="571500" y="776288"/>
                  </a:lnTo>
                  <a:lnTo>
                    <a:pt x="619125" y="787717"/>
                  </a:lnTo>
                  <a:lnTo>
                    <a:pt x="666750" y="798195"/>
                  </a:lnTo>
                  <a:lnTo>
                    <a:pt x="714375" y="808672"/>
                  </a:lnTo>
                  <a:lnTo>
                    <a:pt x="762000" y="818197"/>
                  </a:lnTo>
                  <a:lnTo>
                    <a:pt x="809625" y="827722"/>
                  </a:lnTo>
                  <a:lnTo>
                    <a:pt x="857250" y="837247"/>
                  </a:lnTo>
                  <a:lnTo>
                    <a:pt x="904875" y="845820"/>
                  </a:lnTo>
                  <a:lnTo>
                    <a:pt x="952500" y="854392"/>
                  </a:lnTo>
                  <a:lnTo>
                    <a:pt x="1000125" y="862012"/>
                  </a:lnTo>
                  <a:lnTo>
                    <a:pt x="1047750" y="869633"/>
                  </a:lnTo>
                  <a:lnTo>
                    <a:pt x="1095375" y="877252"/>
                  </a:lnTo>
                  <a:lnTo>
                    <a:pt x="1143000" y="884872"/>
                  </a:lnTo>
                  <a:lnTo>
                    <a:pt x="1190625" y="891540"/>
                  </a:lnTo>
                  <a:lnTo>
                    <a:pt x="1238250" y="897255"/>
                  </a:lnTo>
                  <a:lnTo>
                    <a:pt x="1285875" y="902970"/>
                  </a:lnTo>
                  <a:lnTo>
                    <a:pt x="1333500" y="908685"/>
                  </a:lnTo>
                  <a:lnTo>
                    <a:pt x="1381125" y="914400"/>
                  </a:lnTo>
                  <a:lnTo>
                    <a:pt x="1428750" y="919162"/>
                  </a:lnTo>
                  <a:lnTo>
                    <a:pt x="1476375" y="923925"/>
                  </a:lnTo>
                  <a:lnTo>
                    <a:pt x="1524000" y="928688"/>
                  </a:lnTo>
                  <a:lnTo>
                    <a:pt x="1571625" y="932497"/>
                  </a:lnTo>
                  <a:lnTo>
                    <a:pt x="1619250" y="935355"/>
                  </a:lnTo>
                  <a:lnTo>
                    <a:pt x="1666875" y="939165"/>
                  </a:lnTo>
                  <a:lnTo>
                    <a:pt x="1714500" y="942022"/>
                  </a:lnTo>
                  <a:lnTo>
                    <a:pt x="1762125" y="944880"/>
                  </a:lnTo>
                  <a:lnTo>
                    <a:pt x="1809750" y="946785"/>
                  </a:lnTo>
                  <a:lnTo>
                    <a:pt x="1857375" y="948690"/>
                  </a:lnTo>
                  <a:lnTo>
                    <a:pt x="1905000" y="949642"/>
                  </a:lnTo>
                  <a:lnTo>
                    <a:pt x="1952625" y="951547"/>
                  </a:lnTo>
                  <a:lnTo>
                    <a:pt x="2000250" y="952500"/>
                  </a:lnTo>
                  <a:lnTo>
                    <a:pt x="2047875" y="952500"/>
                  </a:lnTo>
                  <a:lnTo>
                    <a:pt x="2095500" y="952500"/>
                  </a:lnTo>
                  <a:lnTo>
                    <a:pt x="2143125" y="952500"/>
                  </a:lnTo>
                  <a:lnTo>
                    <a:pt x="2190750" y="952500"/>
                  </a:lnTo>
                  <a:lnTo>
                    <a:pt x="2238375" y="951547"/>
                  </a:lnTo>
                  <a:lnTo>
                    <a:pt x="2286000" y="949642"/>
                  </a:lnTo>
                  <a:lnTo>
                    <a:pt x="2333625" y="948690"/>
                  </a:lnTo>
                  <a:lnTo>
                    <a:pt x="2381250" y="946785"/>
                  </a:lnTo>
                  <a:lnTo>
                    <a:pt x="2428875" y="944880"/>
                  </a:lnTo>
                  <a:lnTo>
                    <a:pt x="2476500" y="942022"/>
                  </a:lnTo>
                  <a:lnTo>
                    <a:pt x="2524125" y="939165"/>
                  </a:lnTo>
                  <a:lnTo>
                    <a:pt x="2571750" y="935355"/>
                  </a:lnTo>
                  <a:lnTo>
                    <a:pt x="2619375" y="932497"/>
                  </a:lnTo>
                  <a:lnTo>
                    <a:pt x="2667000" y="928688"/>
                  </a:lnTo>
                  <a:lnTo>
                    <a:pt x="2714625" y="923925"/>
                  </a:lnTo>
                  <a:lnTo>
                    <a:pt x="2762250" y="919162"/>
                  </a:lnTo>
                  <a:lnTo>
                    <a:pt x="2809875" y="914400"/>
                  </a:lnTo>
                  <a:lnTo>
                    <a:pt x="2857500" y="908685"/>
                  </a:lnTo>
                  <a:lnTo>
                    <a:pt x="2905125" y="902970"/>
                  </a:lnTo>
                  <a:lnTo>
                    <a:pt x="2952750" y="897255"/>
                  </a:lnTo>
                  <a:lnTo>
                    <a:pt x="3000375" y="891540"/>
                  </a:lnTo>
                  <a:lnTo>
                    <a:pt x="3048000" y="884872"/>
                  </a:lnTo>
                  <a:lnTo>
                    <a:pt x="3095625" y="877252"/>
                  </a:lnTo>
                  <a:lnTo>
                    <a:pt x="3143250" y="869633"/>
                  </a:lnTo>
                  <a:lnTo>
                    <a:pt x="3190875" y="862012"/>
                  </a:lnTo>
                  <a:lnTo>
                    <a:pt x="3238500" y="854392"/>
                  </a:lnTo>
                  <a:lnTo>
                    <a:pt x="3286125" y="845820"/>
                  </a:lnTo>
                  <a:lnTo>
                    <a:pt x="3333750" y="837247"/>
                  </a:lnTo>
                  <a:lnTo>
                    <a:pt x="3381375" y="827722"/>
                  </a:lnTo>
                  <a:lnTo>
                    <a:pt x="3429000" y="818197"/>
                  </a:lnTo>
                  <a:lnTo>
                    <a:pt x="3476625" y="808672"/>
                  </a:lnTo>
                  <a:lnTo>
                    <a:pt x="3524250" y="798195"/>
                  </a:lnTo>
                  <a:lnTo>
                    <a:pt x="3571875" y="787717"/>
                  </a:lnTo>
                  <a:lnTo>
                    <a:pt x="3619500" y="776288"/>
                  </a:lnTo>
                  <a:lnTo>
                    <a:pt x="3667125" y="764858"/>
                  </a:lnTo>
                  <a:lnTo>
                    <a:pt x="3714750" y="753427"/>
                  </a:lnTo>
                  <a:lnTo>
                    <a:pt x="3762375" y="741045"/>
                  </a:lnTo>
                  <a:lnTo>
                    <a:pt x="3810000" y="728662"/>
                  </a:lnTo>
                  <a:lnTo>
                    <a:pt x="3857625" y="716280"/>
                  </a:lnTo>
                  <a:lnTo>
                    <a:pt x="3905250" y="702945"/>
                  </a:lnTo>
                  <a:lnTo>
                    <a:pt x="3952875" y="688658"/>
                  </a:lnTo>
                  <a:lnTo>
                    <a:pt x="4000500" y="674370"/>
                  </a:lnTo>
                  <a:lnTo>
                    <a:pt x="4048125" y="660083"/>
                  </a:lnTo>
                  <a:lnTo>
                    <a:pt x="4095750" y="645795"/>
                  </a:lnTo>
                  <a:lnTo>
                    <a:pt x="4143375" y="630555"/>
                  </a:lnTo>
                  <a:lnTo>
                    <a:pt x="4191000" y="615315"/>
                  </a:lnTo>
                  <a:lnTo>
                    <a:pt x="4191000" y="0"/>
                  </a:lnTo>
                  <a:lnTo>
                    <a:pt x="0" y="0"/>
                  </a:lnTo>
                  <a:lnTo>
                    <a:pt x="271462" y="0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48025" y="2293620"/>
              <a:ext cx="9525" cy="1114425"/>
            </a:xfrm>
            <a:custGeom>
              <a:avLst/>
              <a:gdLst/>
              <a:ahLst/>
              <a:cxnLst/>
              <a:rect l="l" t="t" r="r" b="b"/>
              <a:pathLst>
                <a:path w="9525" h="1114425">
                  <a:moveTo>
                    <a:pt x="0" y="0"/>
                  </a:moveTo>
                  <a:lnTo>
                    <a:pt x="0" y="1114425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357562" y="3785235"/>
              <a:ext cx="1400175" cy="9525"/>
            </a:xfrm>
            <a:custGeom>
              <a:avLst/>
              <a:gdLst/>
              <a:ahLst/>
              <a:cxnLst/>
              <a:rect l="l" t="t" r="r" b="b"/>
              <a:pathLst>
                <a:path w="1400175" h="9525">
                  <a:moveTo>
                    <a:pt x="0" y="0"/>
                  </a:moveTo>
                  <a:lnTo>
                    <a:pt x="14001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757738" y="3737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262312" y="3737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867275" y="3199448"/>
              <a:ext cx="9525" cy="608648"/>
            </a:xfrm>
            <a:custGeom>
              <a:avLst/>
              <a:gdLst/>
              <a:ahLst/>
              <a:cxnLst/>
              <a:rect l="l" t="t" r="r" b="b"/>
              <a:pathLst>
                <a:path w="9525" h="608648">
                  <a:moveTo>
                    <a:pt x="0" y="0"/>
                  </a:moveTo>
                  <a:lnTo>
                    <a:pt x="0" y="60864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210175" y="3312795"/>
              <a:ext cx="9525" cy="20002"/>
            </a:xfrm>
            <a:custGeom>
              <a:avLst/>
              <a:gdLst/>
              <a:ahLst/>
              <a:cxnLst/>
              <a:rect l="l" t="t" r="r" b="b"/>
              <a:pathLst>
                <a:path w="9525" h="20002">
                  <a:moveTo>
                    <a:pt x="0" y="0"/>
                  </a:moveTo>
                  <a:lnTo>
                    <a:pt x="0" y="20002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162550" y="32375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162550" y="33127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62275" y="4203382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0547" y="272415"/>
                  </a:moveTo>
                  <a:lnTo>
                    <a:pt x="570547" y="260985"/>
                  </a:lnTo>
                  <a:lnTo>
                    <a:pt x="567690" y="236220"/>
                  </a:lnTo>
                  <a:lnTo>
                    <a:pt x="561975" y="212408"/>
                  </a:lnTo>
                  <a:lnTo>
                    <a:pt x="554355" y="188595"/>
                  </a:lnTo>
                  <a:lnTo>
                    <a:pt x="544830" y="165735"/>
                  </a:lnTo>
                  <a:lnTo>
                    <a:pt x="533400" y="142875"/>
                  </a:lnTo>
                  <a:lnTo>
                    <a:pt x="520065" y="121920"/>
                  </a:lnTo>
                  <a:lnTo>
                    <a:pt x="504825" y="102870"/>
                  </a:lnTo>
                  <a:lnTo>
                    <a:pt x="487680" y="83820"/>
                  </a:lnTo>
                  <a:lnTo>
                    <a:pt x="469583" y="67627"/>
                  </a:lnTo>
                  <a:lnTo>
                    <a:pt x="449580" y="51435"/>
                  </a:lnTo>
                  <a:lnTo>
                    <a:pt x="428625" y="39052"/>
                  </a:lnTo>
                  <a:lnTo>
                    <a:pt x="406717" y="26670"/>
                  </a:lnTo>
                  <a:lnTo>
                    <a:pt x="382905" y="17145"/>
                  </a:lnTo>
                  <a:lnTo>
                    <a:pt x="359092" y="10477"/>
                  </a:lnTo>
                  <a:lnTo>
                    <a:pt x="335280" y="4762"/>
                  </a:lnTo>
                  <a:lnTo>
                    <a:pt x="310515" y="1905"/>
                  </a:lnTo>
                  <a:lnTo>
                    <a:pt x="285750" y="0"/>
                  </a:lnTo>
                  <a:lnTo>
                    <a:pt x="260985" y="1905"/>
                  </a:lnTo>
                  <a:lnTo>
                    <a:pt x="236220" y="4762"/>
                  </a:lnTo>
                  <a:lnTo>
                    <a:pt x="211455" y="10477"/>
                  </a:lnTo>
                  <a:lnTo>
                    <a:pt x="187642" y="17145"/>
                  </a:lnTo>
                  <a:lnTo>
                    <a:pt x="164783" y="26670"/>
                  </a:lnTo>
                  <a:lnTo>
                    <a:pt x="142875" y="39052"/>
                  </a:lnTo>
                  <a:lnTo>
                    <a:pt x="121920" y="51435"/>
                  </a:lnTo>
                  <a:lnTo>
                    <a:pt x="101917" y="67627"/>
                  </a:lnTo>
                  <a:lnTo>
                    <a:pt x="83820" y="83820"/>
                  </a:lnTo>
                  <a:lnTo>
                    <a:pt x="66675" y="102870"/>
                  </a:lnTo>
                  <a:lnTo>
                    <a:pt x="51435" y="121920"/>
                  </a:lnTo>
                  <a:lnTo>
                    <a:pt x="38100" y="142875"/>
                  </a:lnTo>
                  <a:lnTo>
                    <a:pt x="26670" y="165735"/>
                  </a:lnTo>
                  <a:lnTo>
                    <a:pt x="17145" y="188595"/>
                  </a:lnTo>
                  <a:lnTo>
                    <a:pt x="9525" y="212408"/>
                  </a:lnTo>
                  <a:lnTo>
                    <a:pt x="3810" y="236220"/>
                  </a:lnTo>
                  <a:lnTo>
                    <a:pt x="953" y="260985"/>
                  </a:lnTo>
                  <a:lnTo>
                    <a:pt x="0" y="286702"/>
                  </a:lnTo>
                  <a:lnTo>
                    <a:pt x="953" y="311467"/>
                  </a:lnTo>
                  <a:lnTo>
                    <a:pt x="3810" y="335280"/>
                  </a:lnTo>
                  <a:lnTo>
                    <a:pt x="9525" y="360045"/>
                  </a:lnTo>
                  <a:lnTo>
                    <a:pt x="17145" y="383858"/>
                  </a:lnTo>
                  <a:lnTo>
                    <a:pt x="26670" y="406717"/>
                  </a:lnTo>
                  <a:lnTo>
                    <a:pt x="38100" y="429577"/>
                  </a:lnTo>
                  <a:lnTo>
                    <a:pt x="51435" y="449580"/>
                  </a:lnTo>
                  <a:lnTo>
                    <a:pt x="66675" y="469583"/>
                  </a:lnTo>
                  <a:lnTo>
                    <a:pt x="83820" y="487680"/>
                  </a:lnTo>
                  <a:lnTo>
                    <a:pt x="101917" y="504825"/>
                  </a:lnTo>
                  <a:lnTo>
                    <a:pt x="121920" y="520065"/>
                  </a:lnTo>
                  <a:lnTo>
                    <a:pt x="142875" y="533400"/>
                  </a:lnTo>
                  <a:lnTo>
                    <a:pt x="164783" y="544830"/>
                  </a:lnTo>
                  <a:lnTo>
                    <a:pt x="187642" y="554355"/>
                  </a:lnTo>
                  <a:lnTo>
                    <a:pt x="211455" y="561975"/>
                  </a:lnTo>
                  <a:lnTo>
                    <a:pt x="236220" y="567690"/>
                  </a:lnTo>
                  <a:lnTo>
                    <a:pt x="260985" y="570547"/>
                  </a:lnTo>
                  <a:lnTo>
                    <a:pt x="285750" y="571500"/>
                  </a:lnTo>
                  <a:lnTo>
                    <a:pt x="310515" y="570547"/>
                  </a:lnTo>
                  <a:lnTo>
                    <a:pt x="335280" y="567690"/>
                  </a:lnTo>
                  <a:lnTo>
                    <a:pt x="359092" y="561975"/>
                  </a:lnTo>
                  <a:lnTo>
                    <a:pt x="382905" y="554355"/>
                  </a:lnTo>
                  <a:lnTo>
                    <a:pt x="406717" y="544830"/>
                  </a:lnTo>
                  <a:lnTo>
                    <a:pt x="428625" y="533400"/>
                  </a:lnTo>
                  <a:lnTo>
                    <a:pt x="449580" y="520065"/>
                  </a:lnTo>
                  <a:lnTo>
                    <a:pt x="469583" y="504825"/>
                  </a:lnTo>
                  <a:lnTo>
                    <a:pt x="487680" y="487680"/>
                  </a:lnTo>
                  <a:lnTo>
                    <a:pt x="504825" y="469583"/>
                  </a:lnTo>
                  <a:lnTo>
                    <a:pt x="520065" y="449580"/>
                  </a:lnTo>
                  <a:lnTo>
                    <a:pt x="533400" y="429577"/>
                  </a:lnTo>
                  <a:lnTo>
                    <a:pt x="544830" y="406717"/>
                  </a:lnTo>
                  <a:lnTo>
                    <a:pt x="554355" y="383858"/>
                  </a:lnTo>
                  <a:lnTo>
                    <a:pt x="561975" y="360045"/>
                  </a:lnTo>
                  <a:lnTo>
                    <a:pt x="567690" y="335280"/>
                  </a:lnTo>
                  <a:lnTo>
                    <a:pt x="570547" y="311467"/>
                  </a:lnTo>
                  <a:lnTo>
                    <a:pt x="571500" y="286702"/>
                  </a:lnTo>
                  <a:lnTo>
                    <a:pt x="570547" y="260985"/>
                  </a:lnTo>
                  <a:lnTo>
                    <a:pt x="569595" y="250508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046095" y="4287202"/>
              <a:ext cx="403860" cy="403860"/>
            </a:xfrm>
            <a:custGeom>
              <a:avLst/>
              <a:gdLst/>
              <a:ahLst/>
              <a:cxnLst/>
              <a:rect l="l" t="t" r="r" b="b"/>
              <a:pathLst>
                <a:path w="403860" h="403860">
                  <a:moveTo>
                    <a:pt x="403860" y="188595"/>
                  </a:moveTo>
                  <a:lnTo>
                    <a:pt x="403860" y="184785"/>
                  </a:lnTo>
                  <a:lnTo>
                    <a:pt x="401002" y="167640"/>
                  </a:lnTo>
                  <a:lnTo>
                    <a:pt x="397192" y="150495"/>
                  </a:lnTo>
                  <a:lnTo>
                    <a:pt x="392430" y="133350"/>
                  </a:lnTo>
                  <a:lnTo>
                    <a:pt x="384810" y="117157"/>
                  </a:lnTo>
                  <a:lnTo>
                    <a:pt x="377190" y="100965"/>
                  </a:lnTo>
                  <a:lnTo>
                    <a:pt x="367665" y="86677"/>
                  </a:lnTo>
                  <a:lnTo>
                    <a:pt x="357188" y="72390"/>
                  </a:lnTo>
                  <a:lnTo>
                    <a:pt x="344805" y="59055"/>
                  </a:lnTo>
                  <a:lnTo>
                    <a:pt x="332422" y="47625"/>
                  </a:lnTo>
                  <a:lnTo>
                    <a:pt x="318135" y="36195"/>
                  </a:lnTo>
                  <a:lnTo>
                    <a:pt x="302895" y="27622"/>
                  </a:lnTo>
                  <a:lnTo>
                    <a:pt x="286702" y="19050"/>
                  </a:lnTo>
                  <a:lnTo>
                    <a:pt x="270510" y="12382"/>
                  </a:lnTo>
                  <a:lnTo>
                    <a:pt x="254317" y="7620"/>
                  </a:lnTo>
                  <a:lnTo>
                    <a:pt x="237172" y="2857"/>
                  </a:lnTo>
                  <a:lnTo>
                    <a:pt x="219075" y="952"/>
                  </a:lnTo>
                  <a:lnTo>
                    <a:pt x="201930" y="0"/>
                  </a:lnTo>
                  <a:lnTo>
                    <a:pt x="183833" y="952"/>
                  </a:lnTo>
                  <a:lnTo>
                    <a:pt x="166688" y="2857"/>
                  </a:lnTo>
                  <a:lnTo>
                    <a:pt x="149542" y="7620"/>
                  </a:lnTo>
                  <a:lnTo>
                    <a:pt x="133350" y="12382"/>
                  </a:lnTo>
                  <a:lnTo>
                    <a:pt x="116205" y="19050"/>
                  </a:lnTo>
                  <a:lnTo>
                    <a:pt x="100965" y="27622"/>
                  </a:lnTo>
                  <a:lnTo>
                    <a:pt x="85725" y="36195"/>
                  </a:lnTo>
                  <a:lnTo>
                    <a:pt x="72390" y="47625"/>
                  </a:lnTo>
                  <a:lnTo>
                    <a:pt x="59055" y="59055"/>
                  </a:lnTo>
                  <a:lnTo>
                    <a:pt x="47625" y="72390"/>
                  </a:lnTo>
                  <a:lnTo>
                    <a:pt x="36195" y="86677"/>
                  </a:lnTo>
                  <a:lnTo>
                    <a:pt x="26670" y="100965"/>
                  </a:lnTo>
                  <a:lnTo>
                    <a:pt x="19050" y="117157"/>
                  </a:lnTo>
                  <a:lnTo>
                    <a:pt x="12383" y="133350"/>
                  </a:lnTo>
                  <a:lnTo>
                    <a:pt x="6667" y="150495"/>
                  </a:lnTo>
                  <a:lnTo>
                    <a:pt x="2858" y="167640"/>
                  </a:lnTo>
                  <a:lnTo>
                    <a:pt x="952" y="184785"/>
                  </a:lnTo>
                  <a:lnTo>
                    <a:pt x="0" y="202882"/>
                  </a:lnTo>
                  <a:lnTo>
                    <a:pt x="952" y="220027"/>
                  </a:lnTo>
                  <a:lnTo>
                    <a:pt x="2858" y="237172"/>
                  </a:lnTo>
                  <a:lnTo>
                    <a:pt x="6667" y="254317"/>
                  </a:lnTo>
                  <a:lnTo>
                    <a:pt x="12383" y="271462"/>
                  </a:lnTo>
                  <a:lnTo>
                    <a:pt x="19050" y="287655"/>
                  </a:lnTo>
                  <a:lnTo>
                    <a:pt x="26670" y="302895"/>
                  </a:lnTo>
                  <a:lnTo>
                    <a:pt x="36195" y="318135"/>
                  </a:lnTo>
                  <a:lnTo>
                    <a:pt x="47625" y="332422"/>
                  </a:lnTo>
                  <a:lnTo>
                    <a:pt x="59055" y="345757"/>
                  </a:lnTo>
                  <a:lnTo>
                    <a:pt x="72390" y="357188"/>
                  </a:lnTo>
                  <a:lnTo>
                    <a:pt x="85725" y="367665"/>
                  </a:lnTo>
                  <a:lnTo>
                    <a:pt x="100965" y="377190"/>
                  </a:lnTo>
                  <a:lnTo>
                    <a:pt x="116205" y="385762"/>
                  </a:lnTo>
                  <a:lnTo>
                    <a:pt x="133350" y="392430"/>
                  </a:lnTo>
                  <a:lnTo>
                    <a:pt x="149542" y="397192"/>
                  </a:lnTo>
                  <a:lnTo>
                    <a:pt x="166688" y="401002"/>
                  </a:lnTo>
                  <a:lnTo>
                    <a:pt x="183833" y="403860"/>
                  </a:lnTo>
                  <a:lnTo>
                    <a:pt x="201930" y="403860"/>
                  </a:lnTo>
                  <a:lnTo>
                    <a:pt x="219075" y="403860"/>
                  </a:lnTo>
                  <a:lnTo>
                    <a:pt x="237172" y="401002"/>
                  </a:lnTo>
                  <a:lnTo>
                    <a:pt x="254317" y="397192"/>
                  </a:lnTo>
                  <a:lnTo>
                    <a:pt x="270510" y="392430"/>
                  </a:lnTo>
                  <a:lnTo>
                    <a:pt x="286702" y="385762"/>
                  </a:lnTo>
                  <a:lnTo>
                    <a:pt x="302895" y="377190"/>
                  </a:lnTo>
                  <a:lnTo>
                    <a:pt x="318135" y="367665"/>
                  </a:lnTo>
                  <a:lnTo>
                    <a:pt x="332422" y="357188"/>
                  </a:lnTo>
                  <a:lnTo>
                    <a:pt x="344805" y="345757"/>
                  </a:lnTo>
                  <a:lnTo>
                    <a:pt x="357188" y="332422"/>
                  </a:lnTo>
                  <a:lnTo>
                    <a:pt x="367665" y="318135"/>
                  </a:lnTo>
                  <a:lnTo>
                    <a:pt x="377190" y="302895"/>
                  </a:lnTo>
                  <a:lnTo>
                    <a:pt x="384810" y="287655"/>
                  </a:lnTo>
                  <a:lnTo>
                    <a:pt x="392430" y="271462"/>
                  </a:lnTo>
                  <a:lnTo>
                    <a:pt x="397192" y="254317"/>
                  </a:lnTo>
                  <a:lnTo>
                    <a:pt x="401002" y="237172"/>
                  </a:lnTo>
                  <a:lnTo>
                    <a:pt x="403860" y="220027"/>
                  </a:lnTo>
                  <a:lnTo>
                    <a:pt x="403860" y="202882"/>
                  </a:lnTo>
                  <a:lnTo>
                    <a:pt x="403860" y="184785"/>
                  </a:lnTo>
                  <a:lnTo>
                    <a:pt x="402908" y="180975"/>
                  </a:lnTo>
                </a:path>
              </a:pathLst>
            </a:custGeom>
            <a:noFill/>
            <a:ln w="38100">
              <a:solidFill>
                <a:srgbClr val="D9770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844165" y="4085272"/>
              <a:ext cx="808672" cy="807720"/>
            </a:xfrm>
            <a:custGeom>
              <a:avLst/>
              <a:gdLst/>
              <a:ahLst/>
              <a:cxnLst/>
              <a:rect l="l" t="t" r="r" b="b"/>
              <a:pathLst>
                <a:path w="808672" h="807720">
                  <a:moveTo>
                    <a:pt x="807720" y="390525"/>
                  </a:moveTo>
                  <a:lnTo>
                    <a:pt x="806767" y="368618"/>
                  </a:lnTo>
                  <a:lnTo>
                    <a:pt x="802005" y="334328"/>
                  </a:lnTo>
                  <a:lnTo>
                    <a:pt x="794385" y="300038"/>
                  </a:lnTo>
                  <a:lnTo>
                    <a:pt x="783907" y="265748"/>
                  </a:lnTo>
                  <a:lnTo>
                    <a:pt x="770572" y="233362"/>
                  </a:lnTo>
                  <a:lnTo>
                    <a:pt x="753427" y="201930"/>
                  </a:lnTo>
                  <a:lnTo>
                    <a:pt x="734377" y="172403"/>
                  </a:lnTo>
                  <a:lnTo>
                    <a:pt x="713422" y="144780"/>
                  </a:lnTo>
                  <a:lnTo>
                    <a:pt x="689610" y="118110"/>
                  </a:lnTo>
                  <a:lnTo>
                    <a:pt x="663892" y="95250"/>
                  </a:lnTo>
                  <a:lnTo>
                    <a:pt x="635317" y="73343"/>
                  </a:lnTo>
                  <a:lnTo>
                    <a:pt x="605790" y="54293"/>
                  </a:lnTo>
                  <a:lnTo>
                    <a:pt x="574357" y="38100"/>
                  </a:lnTo>
                  <a:lnTo>
                    <a:pt x="541972" y="24765"/>
                  </a:lnTo>
                  <a:lnTo>
                    <a:pt x="508635" y="14288"/>
                  </a:lnTo>
                  <a:lnTo>
                    <a:pt x="473392" y="6668"/>
                  </a:lnTo>
                  <a:lnTo>
                    <a:pt x="439102" y="1905"/>
                  </a:lnTo>
                  <a:lnTo>
                    <a:pt x="403860" y="0"/>
                  </a:lnTo>
                  <a:lnTo>
                    <a:pt x="368617" y="1905"/>
                  </a:lnTo>
                  <a:lnTo>
                    <a:pt x="333375" y="6668"/>
                  </a:lnTo>
                  <a:lnTo>
                    <a:pt x="299085" y="14288"/>
                  </a:lnTo>
                  <a:lnTo>
                    <a:pt x="265747" y="24765"/>
                  </a:lnTo>
                  <a:lnTo>
                    <a:pt x="233362" y="38100"/>
                  </a:lnTo>
                  <a:lnTo>
                    <a:pt x="201930" y="54293"/>
                  </a:lnTo>
                  <a:lnTo>
                    <a:pt x="172402" y="73343"/>
                  </a:lnTo>
                  <a:lnTo>
                    <a:pt x="143827" y="95250"/>
                  </a:lnTo>
                  <a:lnTo>
                    <a:pt x="118110" y="118110"/>
                  </a:lnTo>
                  <a:lnTo>
                    <a:pt x="94297" y="144780"/>
                  </a:lnTo>
                  <a:lnTo>
                    <a:pt x="73342" y="172403"/>
                  </a:lnTo>
                  <a:lnTo>
                    <a:pt x="54292" y="201930"/>
                  </a:lnTo>
                  <a:lnTo>
                    <a:pt x="38100" y="233362"/>
                  </a:lnTo>
                  <a:lnTo>
                    <a:pt x="23812" y="265748"/>
                  </a:lnTo>
                  <a:lnTo>
                    <a:pt x="13335" y="300038"/>
                  </a:lnTo>
                  <a:lnTo>
                    <a:pt x="5715" y="334328"/>
                  </a:lnTo>
                  <a:lnTo>
                    <a:pt x="1905" y="368618"/>
                  </a:lnTo>
                  <a:lnTo>
                    <a:pt x="0" y="404812"/>
                  </a:lnTo>
                  <a:lnTo>
                    <a:pt x="1905" y="439103"/>
                  </a:lnTo>
                  <a:lnTo>
                    <a:pt x="5715" y="474345"/>
                  </a:lnTo>
                  <a:lnTo>
                    <a:pt x="13335" y="508635"/>
                  </a:lnTo>
                  <a:lnTo>
                    <a:pt x="23812" y="541973"/>
                  </a:lnTo>
                  <a:lnTo>
                    <a:pt x="38100" y="575310"/>
                  </a:lnTo>
                  <a:lnTo>
                    <a:pt x="54292" y="605790"/>
                  </a:lnTo>
                  <a:lnTo>
                    <a:pt x="73342" y="636270"/>
                  </a:lnTo>
                  <a:lnTo>
                    <a:pt x="94297" y="663893"/>
                  </a:lnTo>
                  <a:lnTo>
                    <a:pt x="118110" y="689610"/>
                  </a:lnTo>
                  <a:lnTo>
                    <a:pt x="143827" y="713423"/>
                  </a:lnTo>
                  <a:lnTo>
                    <a:pt x="172402" y="735330"/>
                  </a:lnTo>
                  <a:lnTo>
                    <a:pt x="201930" y="754380"/>
                  </a:lnTo>
                  <a:lnTo>
                    <a:pt x="233362" y="770573"/>
                  </a:lnTo>
                  <a:lnTo>
                    <a:pt x="265747" y="783908"/>
                  </a:lnTo>
                  <a:lnTo>
                    <a:pt x="299085" y="794385"/>
                  </a:lnTo>
                  <a:lnTo>
                    <a:pt x="333375" y="802005"/>
                  </a:lnTo>
                  <a:lnTo>
                    <a:pt x="368617" y="806768"/>
                  </a:lnTo>
                  <a:lnTo>
                    <a:pt x="403860" y="807720"/>
                  </a:lnTo>
                  <a:lnTo>
                    <a:pt x="439102" y="806768"/>
                  </a:lnTo>
                  <a:lnTo>
                    <a:pt x="473392" y="802005"/>
                  </a:lnTo>
                  <a:lnTo>
                    <a:pt x="508635" y="794385"/>
                  </a:lnTo>
                  <a:lnTo>
                    <a:pt x="541972" y="783908"/>
                  </a:lnTo>
                  <a:lnTo>
                    <a:pt x="574357" y="770573"/>
                  </a:lnTo>
                  <a:lnTo>
                    <a:pt x="605790" y="754380"/>
                  </a:lnTo>
                  <a:lnTo>
                    <a:pt x="635317" y="735330"/>
                  </a:lnTo>
                  <a:lnTo>
                    <a:pt x="663892" y="713423"/>
                  </a:lnTo>
                  <a:lnTo>
                    <a:pt x="689610" y="689610"/>
                  </a:lnTo>
                  <a:lnTo>
                    <a:pt x="713422" y="663893"/>
                  </a:lnTo>
                  <a:lnTo>
                    <a:pt x="734377" y="636270"/>
                  </a:lnTo>
                  <a:lnTo>
                    <a:pt x="753427" y="605790"/>
                  </a:lnTo>
                  <a:lnTo>
                    <a:pt x="770572" y="575310"/>
                  </a:lnTo>
                  <a:lnTo>
                    <a:pt x="783907" y="541973"/>
                  </a:lnTo>
                  <a:lnTo>
                    <a:pt x="794385" y="508635"/>
                  </a:lnTo>
                  <a:lnTo>
                    <a:pt x="802005" y="474345"/>
                  </a:lnTo>
                  <a:lnTo>
                    <a:pt x="806767" y="439103"/>
                  </a:lnTo>
                  <a:lnTo>
                    <a:pt x="808672" y="404812"/>
                  </a:lnTo>
                  <a:lnTo>
                    <a:pt x="806767" y="368618"/>
                  </a:lnTo>
                  <a:lnTo>
                    <a:pt x="803910" y="348615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898458" y="4139565"/>
              <a:ext cx="699135" cy="700088"/>
            </a:xfrm>
            <a:custGeom>
              <a:avLst/>
              <a:gdLst/>
              <a:ahLst/>
              <a:cxnLst/>
              <a:rect l="l" t="t" r="r" b="b"/>
              <a:pathLst>
                <a:path w="699135" h="700088">
                  <a:moveTo>
                    <a:pt x="699135" y="336232"/>
                  </a:moveTo>
                  <a:lnTo>
                    <a:pt x="698183" y="319088"/>
                  </a:lnTo>
                  <a:lnTo>
                    <a:pt x="694372" y="289560"/>
                  </a:lnTo>
                  <a:lnTo>
                    <a:pt x="687705" y="259080"/>
                  </a:lnTo>
                  <a:lnTo>
                    <a:pt x="678180" y="230505"/>
                  </a:lnTo>
                  <a:lnTo>
                    <a:pt x="666750" y="201930"/>
                  </a:lnTo>
                  <a:lnTo>
                    <a:pt x="652462" y="175260"/>
                  </a:lnTo>
                  <a:lnTo>
                    <a:pt x="636270" y="149542"/>
                  </a:lnTo>
                  <a:lnTo>
                    <a:pt x="617220" y="124777"/>
                  </a:lnTo>
                  <a:lnTo>
                    <a:pt x="597217" y="102870"/>
                  </a:lnTo>
                  <a:lnTo>
                    <a:pt x="574358" y="81915"/>
                  </a:lnTo>
                  <a:lnTo>
                    <a:pt x="550545" y="63817"/>
                  </a:lnTo>
                  <a:lnTo>
                    <a:pt x="524827" y="46672"/>
                  </a:lnTo>
                  <a:lnTo>
                    <a:pt x="497205" y="32385"/>
                  </a:lnTo>
                  <a:lnTo>
                    <a:pt x="469583" y="20955"/>
                  </a:lnTo>
                  <a:lnTo>
                    <a:pt x="440055" y="12382"/>
                  </a:lnTo>
                  <a:lnTo>
                    <a:pt x="410527" y="5715"/>
                  </a:lnTo>
                  <a:lnTo>
                    <a:pt x="380047" y="952"/>
                  </a:lnTo>
                  <a:lnTo>
                    <a:pt x="349567" y="0"/>
                  </a:lnTo>
                  <a:lnTo>
                    <a:pt x="319088" y="952"/>
                  </a:lnTo>
                  <a:lnTo>
                    <a:pt x="288608" y="5715"/>
                  </a:lnTo>
                  <a:lnTo>
                    <a:pt x="259080" y="12382"/>
                  </a:lnTo>
                  <a:lnTo>
                    <a:pt x="229552" y="20955"/>
                  </a:lnTo>
                  <a:lnTo>
                    <a:pt x="201930" y="32385"/>
                  </a:lnTo>
                  <a:lnTo>
                    <a:pt x="174308" y="46672"/>
                  </a:lnTo>
                  <a:lnTo>
                    <a:pt x="148590" y="63817"/>
                  </a:lnTo>
                  <a:lnTo>
                    <a:pt x="124777" y="81915"/>
                  </a:lnTo>
                  <a:lnTo>
                    <a:pt x="101917" y="102870"/>
                  </a:lnTo>
                  <a:lnTo>
                    <a:pt x="80962" y="124777"/>
                  </a:lnTo>
                  <a:lnTo>
                    <a:pt x="62865" y="149542"/>
                  </a:lnTo>
                  <a:lnTo>
                    <a:pt x="46672" y="175260"/>
                  </a:lnTo>
                  <a:lnTo>
                    <a:pt x="32385" y="201930"/>
                  </a:lnTo>
                  <a:lnTo>
                    <a:pt x="20955" y="230505"/>
                  </a:lnTo>
                  <a:lnTo>
                    <a:pt x="11430" y="259080"/>
                  </a:lnTo>
                  <a:lnTo>
                    <a:pt x="4762" y="289560"/>
                  </a:lnTo>
                  <a:lnTo>
                    <a:pt x="952" y="319088"/>
                  </a:lnTo>
                  <a:lnTo>
                    <a:pt x="0" y="350520"/>
                  </a:lnTo>
                  <a:lnTo>
                    <a:pt x="952" y="380047"/>
                  </a:lnTo>
                  <a:lnTo>
                    <a:pt x="4762" y="410527"/>
                  </a:lnTo>
                  <a:lnTo>
                    <a:pt x="11430" y="440055"/>
                  </a:lnTo>
                  <a:lnTo>
                    <a:pt x="20955" y="469582"/>
                  </a:lnTo>
                  <a:lnTo>
                    <a:pt x="32385" y="498157"/>
                  </a:lnTo>
                  <a:lnTo>
                    <a:pt x="46672" y="524827"/>
                  </a:lnTo>
                  <a:lnTo>
                    <a:pt x="62865" y="550545"/>
                  </a:lnTo>
                  <a:lnTo>
                    <a:pt x="80962" y="575310"/>
                  </a:lnTo>
                  <a:lnTo>
                    <a:pt x="101917" y="597217"/>
                  </a:lnTo>
                  <a:lnTo>
                    <a:pt x="124777" y="618172"/>
                  </a:lnTo>
                  <a:lnTo>
                    <a:pt x="148590" y="636270"/>
                  </a:lnTo>
                  <a:lnTo>
                    <a:pt x="174308" y="653415"/>
                  </a:lnTo>
                  <a:lnTo>
                    <a:pt x="201930" y="666750"/>
                  </a:lnTo>
                  <a:lnTo>
                    <a:pt x="229552" y="679132"/>
                  </a:lnTo>
                  <a:lnTo>
                    <a:pt x="259080" y="687705"/>
                  </a:lnTo>
                  <a:lnTo>
                    <a:pt x="288608" y="694372"/>
                  </a:lnTo>
                  <a:lnTo>
                    <a:pt x="319088" y="698182"/>
                  </a:lnTo>
                  <a:lnTo>
                    <a:pt x="349567" y="700088"/>
                  </a:lnTo>
                  <a:lnTo>
                    <a:pt x="380047" y="698182"/>
                  </a:lnTo>
                  <a:lnTo>
                    <a:pt x="410527" y="694372"/>
                  </a:lnTo>
                  <a:lnTo>
                    <a:pt x="440055" y="687705"/>
                  </a:lnTo>
                  <a:lnTo>
                    <a:pt x="469583" y="679132"/>
                  </a:lnTo>
                  <a:lnTo>
                    <a:pt x="497205" y="666750"/>
                  </a:lnTo>
                  <a:lnTo>
                    <a:pt x="524827" y="653415"/>
                  </a:lnTo>
                  <a:lnTo>
                    <a:pt x="550545" y="636270"/>
                  </a:lnTo>
                  <a:lnTo>
                    <a:pt x="574358" y="618172"/>
                  </a:lnTo>
                  <a:lnTo>
                    <a:pt x="597217" y="597217"/>
                  </a:lnTo>
                  <a:lnTo>
                    <a:pt x="617220" y="575310"/>
                  </a:lnTo>
                  <a:lnTo>
                    <a:pt x="636270" y="550545"/>
                  </a:lnTo>
                  <a:lnTo>
                    <a:pt x="652462" y="524827"/>
                  </a:lnTo>
                  <a:lnTo>
                    <a:pt x="666750" y="498157"/>
                  </a:lnTo>
                  <a:lnTo>
                    <a:pt x="678180" y="469582"/>
                  </a:lnTo>
                  <a:lnTo>
                    <a:pt x="687705" y="440055"/>
                  </a:lnTo>
                  <a:lnTo>
                    <a:pt x="694372" y="410527"/>
                  </a:lnTo>
                  <a:lnTo>
                    <a:pt x="698183" y="380047"/>
                  </a:lnTo>
                  <a:lnTo>
                    <a:pt x="699135" y="350520"/>
                  </a:lnTo>
                  <a:lnTo>
                    <a:pt x="698183" y="319088"/>
                  </a:lnTo>
                  <a:lnTo>
                    <a:pt x="696277" y="303847"/>
                  </a:lnTo>
                </a:path>
              </a:pathLst>
            </a:custGeom>
            <a:noFill/>
            <a:ln w="38100">
              <a:solidFill>
                <a:srgbClr val="D9770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753678" y="3994785"/>
              <a:ext cx="988695" cy="989647"/>
            </a:xfrm>
            <a:custGeom>
              <a:avLst/>
              <a:gdLst/>
              <a:ahLst/>
              <a:cxnLst/>
              <a:rect l="l" t="t" r="r" b="b"/>
              <a:pathLst>
                <a:path w="988695" h="989647">
                  <a:moveTo>
                    <a:pt x="988695" y="481012"/>
                  </a:moveTo>
                  <a:lnTo>
                    <a:pt x="987742" y="451485"/>
                  </a:lnTo>
                  <a:lnTo>
                    <a:pt x="982027" y="408623"/>
                  </a:lnTo>
                  <a:lnTo>
                    <a:pt x="972502" y="366712"/>
                  </a:lnTo>
                  <a:lnTo>
                    <a:pt x="959167" y="325755"/>
                  </a:lnTo>
                  <a:lnTo>
                    <a:pt x="942975" y="285750"/>
                  </a:lnTo>
                  <a:lnTo>
                    <a:pt x="922972" y="247650"/>
                  </a:lnTo>
                  <a:lnTo>
                    <a:pt x="900112" y="210503"/>
                  </a:lnTo>
                  <a:lnTo>
                    <a:pt x="873442" y="177165"/>
                  </a:lnTo>
                  <a:lnTo>
                    <a:pt x="843915" y="144780"/>
                  </a:lnTo>
                  <a:lnTo>
                    <a:pt x="812482" y="115253"/>
                  </a:lnTo>
                  <a:lnTo>
                    <a:pt x="778192" y="89535"/>
                  </a:lnTo>
                  <a:lnTo>
                    <a:pt x="741997" y="65723"/>
                  </a:lnTo>
                  <a:lnTo>
                    <a:pt x="702945" y="45720"/>
                  </a:lnTo>
                  <a:lnTo>
                    <a:pt x="662940" y="29528"/>
                  </a:lnTo>
                  <a:lnTo>
                    <a:pt x="621982" y="17145"/>
                  </a:lnTo>
                  <a:lnTo>
                    <a:pt x="580072" y="7620"/>
                  </a:lnTo>
                  <a:lnTo>
                    <a:pt x="537210" y="1905"/>
                  </a:lnTo>
                  <a:lnTo>
                    <a:pt x="494347" y="0"/>
                  </a:lnTo>
                  <a:lnTo>
                    <a:pt x="451485" y="1905"/>
                  </a:lnTo>
                  <a:lnTo>
                    <a:pt x="408622" y="7620"/>
                  </a:lnTo>
                  <a:lnTo>
                    <a:pt x="366712" y="17145"/>
                  </a:lnTo>
                  <a:lnTo>
                    <a:pt x="324802" y="29528"/>
                  </a:lnTo>
                  <a:lnTo>
                    <a:pt x="284797" y="45720"/>
                  </a:lnTo>
                  <a:lnTo>
                    <a:pt x="246697" y="65723"/>
                  </a:lnTo>
                  <a:lnTo>
                    <a:pt x="210502" y="89535"/>
                  </a:lnTo>
                  <a:lnTo>
                    <a:pt x="176212" y="115253"/>
                  </a:lnTo>
                  <a:lnTo>
                    <a:pt x="144780" y="144780"/>
                  </a:lnTo>
                  <a:lnTo>
                    <a:pt x="115252" y="177165"/>
                  </a:lnTo>
                  <a:lnTo>
                    <a:pt x="88582" y="210503"/>
                  </a:lnTo>
                  <a:lnTo>
                    <a:pt x="65722" y="247650"/>
                  </a:lnTo>
                  <a:lnTo>
                    <a:pt x="45720" y="285750"/>
                  </a:lnTo>
                  <a:lnTo>
                    <a:pt x="29527" y="325755"/>
                  </a:lnTo>
                  <a:lnTo>
                    <a:pt x="16192" y="366712"/>
                  </a:lnTo>
                  <a:lnTo>
                    <a:pt x="6667" y="408623"/>
                  </a:lnTo>
                  <a:lnTo>
                    <a:pt x="952" y="451485"/>
                  </a:lnTo>
                  <a:lnTo>
                    <a:pt x="0" y="495300"/>
                  </a:lnTo>
                  <a:lnTo>
                    <a:pt x="952" y="538162"/>
                  </a:lnTo>
                  <a:lnTo>
                    <a:pt x="6667" y="581025"/>
                  </a:lnTo>
                  <a:lnTo>
                    <a:pt x="16192" y="622935"/>
                  </a:lnTo>
                  <a:lnTo>
                    <a:pt x="29527" y="663893"/>
                  </a:lnTo>
                  <a:lnTo>
                    <a:pt x="45720" y="703898"/>
                  </a:lnTo>
                  <a:lnTo>
                    <a:pt x="65722" y="741998"/>
                  </a:lnTo>
                  <a:lnTo>
                    <a:pt x="88582" y="778193"/>
                  </a:lnTo>
                  <a:lnTo>
                    <a:pt x="115252" y="812483"/>
                  </a:lnTo>
                  <a:lnTo>
                    <a:pt x="144780" y="844868"/>
                  </a:lnTo>
                  <a:lnTo>
                    <a:pt x="176212" y="873443"/>
                  </a:lnTo>
                  <a:lnTo>
                    <a:pt x="210502" y="900112"/>
                  </a:lnTo>
                  <a:lnTo>
                    <a:pt x="246697" y="922972"/>
                  </a:lnTo>
                  <a:lnTo>
                    <a:pt x="284797" y="942975"/>
                  </a:lnTo>
                  <a:lnTo>
                    <a:pt x="324802" y="960120"/>
                  </a:lnTo>
                  <a:lnTo>
                    <a:pt x="366712" y="972503"/>
                  </a:lnTo>
                  <a:lnTo>
                    <a:pt x="408622" y="982028"/>
                  </a:lnTo>
                  <a:lnTo>
                    <a:pt x="451485" y="987743"/>
                  </a:lnTo>
                  <a:lnTo>
                    <a:pt x="494347" y="989647"/>
                  </a:lnTo>
                  <a:lnTo>
                    <a:pt x="537210" y="987743"/>
                  </a:lnTo>
                  <a:lnTo>
                    <a:pt x="580072" y="982028"/>
                  </a:lnTo>
                  <a:lnTo>
                    <a:pt x="621982" y="972503"/>
                  </a:lnTo>
                  <a:lnTo>
                    <a:pt x="662940" y="960120"/>
                  </a:lnTo>
                  <a:lnTo>
                    <a:pt x="702945" y="942975"/>
                  </a:lnTo>
                  <a:lnTo>
                    <a:pt x="741997" y="922972"/>
                  </a:lnTo>
                  <a:lnTo>
                    <a:pt x="778192" y="900112"/>
                  </a:lnTo>
                  <a:lnTo>
                    <a:pt x="812482" y="873443"/>
                  </a:lnTo>
                  <a:lnTo>
                    <a:pt x="843915" y="844868"/>
                  </a:lnTo>
                  <a:lnTo>
                    <a:pt x="873442" y="812483"/>
                  </a:lnTo>
                  <a:lnTo>
                    <a:pt x="900112" y="778193"/>
                  </a:lnTo>
                  <a:lnTo>
                    <a:pt x="922972" y="741998"/>
                  </a:lnTo>
                  <a:lnTo>
                    <a:pt x="942975" y="703898"/>
                  </a:lnTo>
                  <a:lnTo>
                    <a:pt x="959167" y="663893"/>
                  </a:lnTo>
                  <a:lnTo>
                    <a:pt x="972502" y="622935"/>
                  </a:lnTo>
                  <a:lnTo>
                    <a:pt x="982027" y="581025"/>
                  </a:lnTo>
                  <a:lnTo>
                    <a:pt x="987742" y="538162"/>
                  </a:lnTo>
                  <a:lnTo>
                    <a:pt x="988695" y="495300"/>
                  </a:lnTo>
                  <a:lnTo>
                    <a:pt x="987742" y="451485"/>
                  </a:lnTo>
                  <a:lnTo>
                    <a:pt x="983932" y="422910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795588" y="4037648"/>
              <a:ext cx="904875" cy="903922"/>
            </a:xfrm>
            <a:custGeom>
              <a:avLst/>
              <a:gdLst/>
              <a:ahLst/>
              <a:cxnLst/>
              <a:rect l="l" t="t" r="r" b="b"/>
              <a:pathLst>
                <a:path w="904875" h="903922">
                  <a:moveTo>
                    <a:pt x="903922" y="438150"/>
                  </a:moveTo>
                  <a:lnTo>
                    <a:pt x="902970" y="412433"/>
                  </a:lnTo>
                  <a:lnTo>
                    <a:pt x="897255" y="373380"/>
                  </a:lnTo>
                  <a:lnTo>
                    <a:pt x="888683" y="334328"/>
                  </a:lnTo>
                  <a:lnTo>
                    <a:pt x="877253" y="297180"/>
                  </a:lnTo>
                  <a:lnTo>
                    <a:pt x="862012" y="260985"/>
                  </a:lnTo>
                  <a:lnTo>
                    <a:pt x="843915" y="225743"/>
                  </a:lnTo>
                  <a:lnTo>
                    <a:pt x="822960" y="192405"/>
                  </a:lnTo>
                  <a:lnTo>
                    <a:pt x="798195" y="160973"/>
                  </a:lnTo>
                  <a:lnTo>
                    <a:pt x="771525" y="132398"/>
                  </a:lnTo>
                  <a:lnTo>
                    <a:pt x="742950" y="105728"/>
                  </a:lnTo>
                  <a:lnTo>
                    <a:pt x="711517" y="81915"/>
                  </a:lnTo>
                  <a:lnTo>
                    <a:pt x="678180" y="60008"/>
                  </a:lnTo>
                  <a:lnTo>
                    <a:pt x="643890" y="42862"/>
                  </a:lnTo>
                  <a:lnTo>
                    <a:pt x="606742" y="27623"/>
                  </a:lnTo>
                  <a:lnTo>
                    <a:pt x="569595" y="15240"/>
                  </a:lnTo>
                  <a:lnTo>
                    <a:pt x="531495" y="6668"/>
                  </a:lnTo>
                  <a:lnTo>
                    <a:pt x="491490" y="1905"/>
                  </a:lnTo>
                  <a:lnTo>
                    <a:pt x="452438" y="0"/>
                  </a:lnTo>
                  <a:lnTo>
                    <a:pt x="413385" y="1905"/>
                  </a:lnTo>
                  <a:lnTo>
                    <a:pt x="374333" y="6668"/>
                  </a:lnTo>
                  <a:lnTo>
                    <a:pt x="335280" y="15240"/>
                  </a:lnTo>
                  <a:lnTo>
                    <a:pt x="298133" y="27623"/>
                  </a:lnTo>
                  <a:lnTo>
                    <a:pt x="261938" y="42862"/>
                  </a:lnTo>
                  <a:lnTo>
                    <a:pt x="226695" y="60008"/>
                  </a:lnTo>
                  <a:lnTo>
                    <a:pt x="193358" y="81915"/>
                  </a:lnTo>
                  <a:lnTo>
                    <a:pt x="161925" y="105728"/>
                  </a:lnTo>
                  <a:lnTo>
                    <a:pt x="133350" y="132398"/>
                  </a:lnTo>
                  <a:lnTo>
                    <a:pt x="106680" y="160973"/>
                  </a:lnTo>
                  <a:lnTo>
                    <a:pt x="82867" y="192405"/>
                  </a:lnTo>
                  <a:lnTo>
                    <a:pt x="60960" y="225743"/>
                  </a:lnTo>
                  <a:lnTo>
                    <a:pt x="42862" y="260985"/>
                  </a:lnTo>
                  <a:lnTo>
                    <a:pt x="27622" y="297180"/>
                  </a:lnTo>
                  <a:lnTo>
                    <a:pt x="16192" y="334328"/>
                  </a:lnTo>
                  <a:lnTo>
                    <a:pt x="7620" y="373380"/>
                  </a:lnTo>
                  <a:lnTo>
                    <a:pt x="2858" y="412433"/>
                  </a:lnTo>
                  <a:lnTo>
                    <a:pt x="0" y="452438"/>
                  </a:lnTo>
                  <a:lnTo>
                    <a:pt x="2858" y="491490"/>
                  </a:lnTo>
                  <a:lnTo>
                    <a:pt x="7620" y="530543"/>
                  </a:lnTo>
                  <a:lnTo>
                    <a:pt x="16192" y="568643"/>
                  </a:lnTo>
                  <a:lnTo>
                    <a:pt x="27622" y="606743"/>
                  </a:lnTo>
                  <a:lnTo>
                    <a:pt x="42862" y="642938"/>
                  </a:lnTo>
                  <a:lnTo>
                    <a:pt x="60960" y="678180"/>
                  </a:lnTo>
                  <a:lnTo>
                    <a:pt x="82867" y="710565"/>
                  </a:lnTo>
                  <a:lnTo>
                    <a:pt x="106680" y="741998"/>
                  </a:lnTo>
                  <a:lnTo>
                    <a:pt x="133350" y="771525"/>
                  </a:lnTo>
                  <a:lnTo>
                    <a:pt x="161925" y="798195"/>
                  </a:lnTo>
                  <a:lnTo>
                    <a:pt x="193358" y="822008"/>
                  </a:lnTo>
                  <a:lnTo>
                    <a:pt x="226695" y="842962"/>
                  </a:lnTo>
                  <a:lnTo>
                    <a:pt x="261938" y="861060"/>
                  </a:lnTo>
                  <a:lnTo>
                    <a:pt x="298133" y="876300"/>
                  </a:lnTo>
                  <a:lnTo>
                    <a:pt x="335280" y="887730"/>
                  </a:lnTo>
                  <a:lnTo>
                    <a:pt x="374333" y="896303"/>
                  </a:lnTo>
                  <a:lnTo>
                    <a:pt x="413385" y="902018"/>
                  </a:lnTo>
                  <a:lnTo>
                    <a:pt x="452438" y="903922"/>
                  </a:lnTo>
                  <a:lnTo>
                    <a:pt x="491490" y="902018"/>
                  </a:lnTo>
                  <a:lnTo>
                    <a:pt x="531495" y="896303"/>
                  </a:lnTo>
                  <a:lnTo>
                    <a:pt x="569595" y="887730"/>
                  </a:lnTo>
                  <a:lnTo>
                    <a:pt x="606742" y="876300"/>
                  </a:lnTo>
                  <a:lnTo>
                    <a:pt x="643890" y="861060"/>
                  </a:lnTo>
                  <a:lnTo>
                    <a:pt x="678180" y="842962"/>
                  </a:lnTo>
                  <a:lnTo>
                    <a:pt x="711517" y="822008"/>
                  </a:lnTo>
                  <a:lnTo>
                    <a:pt x="742950" y="798195"/>
                  </a:lnTo>
                  <a:lnTo>
                    <a:pt x="771525" y="771525"/>
                  </a:lnTo>
                  <a:lnTo>
                    <a:pt x="798195" y="741998"/>
                  </a:lnTo>
                  <a:lnTo>
                    <a:pt x="822960" y="710565"/>
                  </a:lnTo>
                  <a:lnTo>
                    <a:pt x="843915" y="678180"/>
                  </a:lnTo>
                  <a:lnTo>
                    <a:pt x="862012" y="642938"/>
                  </a:lnTo>
                  <a:lnTo>
                    <a:pt x="877253" y="606743"/>
                  </a:lnTo>
                  <a:lnTo>
                    <a:pt x="888683" y="568643"/>
                  </a:lnTo>
                  <a:lnTo>
                    <a:pt x="897255" y="530543"/>
                  </a:lnTo>
                  <a:lnTo>
                    <a:pt x="902970" y="491490"/>
                  </a:lnTo>
                  <a:lnTo>
                    <a:pt x="904875" y="452438"/>
                  </a:lnTo>
                  <a:lnTo>
                    <a:pt x="902970" y="412433"/>
                  </a:lnTo>
                  <a:lnTo>
                    <a:pt x="899160" y="387668"/>
                  </a:lnTo>
                </a:path>
              </a:pathLst>
            </a:custGeom>
            <a:noFill/>
            <a:ln w="38100">
              <a:solidFill>
                <a:srgbClr val="D9770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676525" y="3917632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1142047" y="558165"/>
                  </a:moveTo>
                  <a:lnTo>
                    <a:pt x="1141095" y="521970"/>
                  </a:lnTo>
                  <a:lnTo>
                    <a:pt x="1134428" y="472440"/>
                  </a:lnTo>
                  <a:lnTo>
                    <a:pt x="1123950" y="423862"/>
                  </a:lnTo>
                  <a:lnTo>
                    <a:pt x="1108710" y="376238"/>
                  </a:lnTo>
                  <a:lnTo>
                    <a:pt x="1089660" y="330517"/>
                  </a:lnTo>
                  <a:lnTo>
                    <a:pt x="1065847" y="285750"/>
                  </a:lnTo>
                  <a:lnTo>
                    <a:pt x="1040130" y="243840"/>
                  </a:lnTo>
                  <a:lnTo>
                    <a:pt x="1009650" y="204788"/>
                  </a:lnTo>
                  <a:lnTo>
                    <a:pt x="976312" y="167640"/>
                  </a:lnTo>
                  <a:lnTo>
                    <a:pt x="939165" y="134302"/>
                  </a:lnTo>
                  <a:lnTo>
                    <a:pt x="899160" y="103822"/>
                  </a:lnTo>
                  <a:lnTo>
                    <a:pt x="857250" y="77152"/>
                  </a:lnTo>
                  <a:lnTo>
                    <a:pt x="813435" y="54292"/>
                  </a:lnTo>
                  <a:lnTo>
                    <a:pt x="766762" y="34290"/>
                  </a:lnTo>
                  <a:lnTo>
                    <a:pt x="719138" y="20002"/>
                  </a:lnTo>
                  <a:lnTo>
                    <a:pt x="670560" y="8572"/>
                  </a:lnTo>
                  <a:lnTo>
                    <a:pt x="621030" y="1905"/>
                  </a:lnTo>
                  <a:lnTo>
                    <a:pt x="571500" y="0"/>
                  </a:lnTo>
                  <a:lnTo>
                    <a:pt x="521970" y="1905"/>
                  </a:lnTo>
                  <a:lnTo>
                    <a:pt x="472440" y="8572"/>
                  </a:lnTo>
                  <a:lnTo>
                    <a:pt x="423862" y="20002"/>
                  </a:lnTo>
                  <a:lnTo>
                    <a:pt x="376238" y="34290"/>
                  </a:lnTo>
                  <a:lnTo>
                    <a:pt x="329565" y="54292"/>
                  </a:lnTo>
                  <a:lnTo>
                    <a:pt x="285750" y="77152"/>
                  </a:lnTo>
                  <a:lnTo>
                    <a:pt x="243840" y="103822"/>
                  </a:lnTo>
                  <a:lnTo>
                    <a:pt x="204788" y="134302"/>
                  </a:lnTo>
                  <a:lnTo>
                    <a:pt x="167640" y="167640"/>
                  </a:lnTo>
                  <a:lnTo>
                    <a:pt x="133350" y="204788"/>
                  </a:lnTo>
                  <a:lnTo>
                    <a:pt x="102870" y="243840"/>
                  </a:lnTo>
                  <a:lnTo>
                    <a:pt x="77153" y="285750"/>
                  </a:lnTo>
                  <a:lnTo>
                    <a:pt x="53340" y="330517"/>
                  </a:lnTo>
                  <a:lnTo>
                    <a:pt x="34290" y="376238"/>
                  </a:lnTo>
                  <a:lnTo>
                    <a:pt x="19050" y="423862"/>
                  </a:lnTo>
                  <a:lnTo>
                    <a:pt x="8572" y="472440"/>
                  </a:lnTo>
                  <a:lnTo>
                    <a:pt x="1905" y="521970"/>
                  </a:lnTo>
                  <a:lnTo>
                    <a:pt x="0" y="572452"/>
                  </a:lnTo>
                  <a:lnTo>
                    <a:pt x="1905" y="621983"/>
                  </a:lnTo>
                  <a:lnTo>
                    <a:pt x="8572" y="671512"/>
                  </a:lnTo>
                  <a:lnTo>
                    <a:pt x="19050" y="720090"/>
                  </a:lnTo>
                  <a:lnTo>
                    <a:pt x="34290" y="766762"/>
                  </a:lnTo>
                  <a:lnTo>
                    <a:pt x="53340" y="813435"/>
                  </a:lnTo>
                  <a:lnTo>
                    <a:pt x="77153" y="857250"/>
                  </a:lnTo>
                  <a:lnTo>
                    <a:pt x="102870" y="899160"/>
                  </a:lnTo>
                  <a:lnTo>
                    <a:pt x="133350" y="939165"/>
                  </a:lnTo>
                  <a:lnTo>
                    <a:pt x="167640" y="975360"/>
                  </a:lnTo>
                  <a:lnTo>
                    <a:pt x="204788" y="1009650"/>
                  </a:lnTo>
                  <a:lnTo>
                    <a:pt x="243840" y="1040130"/>
                  </a:lnTo>
                  <a:lnTo>
                    <a:pt x="285750" y="1066800"/>
                  </a:lnTo>
                  <a:lnTo>
                    <a:pt x="329565" y="1089660"/>
                  </a:lnTo>
                  <a:lnTo>
                    <a:pt x="376238" y="1108710"/>
                  </a:lnTo>
                  <a:lnTo>
                    <a:pt x="423862" y="1123950"/>
                  </a:lnTo>
                  <a:lnTo>
                    <a:pt x="472440" y="1134427"/>
                  </a:lnTo>
                  <a:lnTo>
                    <a:pt x="521970" y="1141095"/>
                  </a:lnTo>
                  <a:lnTo>
                    <a:pt x="571500" y="1143000"/>
                  </a:lnTo>
                  <a:lnTo>
                    <a:pt x="621030" y="1141095"/>
                  </a:lnTo>
                  <a:lnTo>
                    <a:pt x="670560" y="1134427"/>
                  </a:lnTo>
                  <a:lnTo>
                    <a:pt x="719138" y="1123950"/>
                  </a:lnTo>
                  <a:lnTo>
                    <a:pt x="766762" y="1108710"/>
                  </a:lnTo>
                  <a:lnTo>
                    <a:pt x="813435" y="1089660"/>
                  </a:lnTo>
                  <a:lnTo>
                    <a:pt x="857250" y="1066800"/>
                  </a:lnTo>
                  <a:lnTo>
                    <a:pt x="899160" y="1040130"/>
                  </a:lnTo>
                  <a:lnTo>
                    <a:pt x="939165" y="1009650"/>
                  </a:lnTo>
                  <a:lnTo>
                    <a:pt x="976312" y="975360"/>
                  </a:lnTo>
                  <a:lnTo>
                    <a:pt x="1009650" y="939165"/>
                  </a:lnTo>
                  <a:lnTo>
                    <a:pt x="1040130" y="899160"/>
                  </a:lnTo>
                  <a:lnTo>
                    <a:pt x="1065847" y="857250"/>
                  </a:lnTo>
                  <a:lnTo>
                    <a:pt x="1089660" y="813435"/>
                  </a:lnTo>
                  <a:lnTo>
                    <a:pt x="1108710" y="766762"/>
                  </a:lnTo>
                  <a:lnTo>
                    <a:pt x="1123950" y="720090"/>
                  </a:lnTo>
                  <a:lnTo>
                    <a:pt x="1134428" y="671512"/>
                  </a:lnTo>
                  <a:lnTo>
                    <a:pt x="1141095" y="621983"/>
                  </a:lnTo>
                  <a:lnTo>
                    <a:pt x="1143000" y="572452"/>
                  </a:lnTo>
                  <a:lnTo>
                    <a:pt x="1141095" y="521970"/>
                  </a:lnTo>
                  <a:lnTo>
                    <a:pt x="1136332" y="486727"/>
                  </a:lnTo>
                </a:path>
              </a:pathLst>
            </a:custGeom>
            <a:noFill/>
            <a:ln w="38100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712720" y="3954780"/>
              <a:ext cx="1069658" cy="1069658"/>
            </a:xfrm>
            <a:custGeom>
              <a:avLst/>
              <a:gdLst/>
              <a:ahLst/>
              <a:cxnLst/>
              <a:rect l="l" t="t" r="r" b="b"/>
              <a:pathLst>
                <a:path w="1069658" h="1069658">
                  <a:moveTo>
                    <a:pt x="1069658" y="521017"/>
                  </a:moveTo>
                  <a:lnTo>
                    <a:pt x="1067752" y="488633"/>
                  </a:lnTo>
                  <a:lnTo>
                    <a:pt x="1062038" y="441960"/>
                  </a:lnTo>
                  <a:lnTo>
                    <a:pt x="1051560" y="396240"/>
                  </a:lnTo>
                  <a:lnTo>
                    <a:pt x="1037272" y="351473"/>
                  </a:lnTo>
                  <a:lnTo>
                    <a:pt x="1020127" y="308610"/>
                  </a:lnTo>
                  <a:lnTo>
                    <a:pt x="998220" y="267653"/>
                  </a:lnTo>
                  <a:lnTo>
                    <a:pt x="973455" y="228600"/>
                  </a:lnTo>
                  <a:lnTo>
                    <a:pt x="944880" y="191453"/>
                  </a:lnTo>
                  <a:lnTo>
                    <a:pt x="913447" y="157162"/>
                  </a:lnTo>
                  <a:lnTo>
                    <a:pt x="879158" y="125730"/>
                  </a:lnTo>
                  <a:lnTo>
                    <a:pt x="842010" y="97155"/>
                  </a:lnTo>
                  <a:lnTo>
                    <a:pt x="802958" y="71438"/>
                  </a:lnTo>
                  <a:lnTo>
                    <a:pt x="761047" y="50483"/>
                  </a:lnTo>
                  <a:lnTo>
                    <a:pt x="718185" y="32385"/>
                  </a:lnTo>
                  <a:lnTo>
                    <a:pt x="673417" y="18098"/>
                  </a:lnTo>
                  <a:lnTo>
                    <a:pt x="627697" y="8573"/>
                  </a:lnTo>
                  <a:lnTo>
                    <a:pt x="581977" y="1905"/>
                  </a:lnTo>
                  <a:lnTo>
                    <a:pt x="535305" y="0"/>
                  </a:lnTo>
                  <a:lnTo>
                    <a:pt x="488633" y="1905"/>
                  </a:lnTo>
                  <a:lnTo>
                    <a:pt x="442912" y="8573"/>
                  </a:lnTo>
                  <a:lnTo>
                    <a:pt x="397192" y="18098"/>
                  </a:lnTo>
                  <a:lnTo>
                    <a:pt x="352425" y="32385"/>
                  </a:lnTo>
                  <a:lnTo>
                    <a:pt x="309562" y="50483"/>
                  </a:lnTo>
                  <a:lnTo>
                    <a:pt x="268605" y="71438"/>
                  </a:lnTo>
                  <a:lnTo>
                    <a:pt x="228600" y="97155"/>
                  </a:lnTo>
                  <a:lnTo>
                    <a:pt x="191452" y="125730"/>
                  </a:lnTo>
                  <a:lnTo>
                    <a:pt x="157162" y="157162"/>
                  </a:lnTo>
                  <a:lnTo>
                    <a:pt x="125730" y="191453"/>
                  </a:lnTo>
                  <a:lnTo>
                    <a:pt x="97155" y="228600"/>
                  </a:lnTo>
                  <a:lnTo>
                    <a:pt x="72390" y="267653"/>
                  </a:lnTo>
                  <a:lnTo>
                    <a:pt x="50483" y="308610"/>
                  </a:lnTo>
                  <a:lnTo>
                    <a:pt x="33338" y="351473"/>
                  </a:lnTo>
                  <a:lnTo>
                    <a:pt x="19050" y="396240"/>
                  </a:lnTo>
                  <a:lnTo>
                    <a:pt x="9525" y="441960"/>
                  </a:lnTo>
                  <a:lnTo>
                    <a:pt x="2858" y="488633"/>
                  </a:lnTo>
                  <a:lnTo>
                    <a:pt x="0" y="535305"/>
                  </a:lnTo>
                  <a:lnTo>
                    <a:pt x="2858" y="581025"/>
                  </a:lnTo>
                  <a:lnTo>
                    <a:pt x="9525" y="627698"/>
                  </a:lnTo>
                  <a:lnTo>
                    <a:pt x="19050" y="672465"/>
                  </a:lnTo>
                  <a:lnTo>
                    <a:pt x="33338" y="717233"/>
                  </a:lnTo>
                  <a:lnTo>
                    <a:pt x="50483" y="761048"/>
                  </a:lnTo>
                  <a:lnTo>
                    <a:pt x="72390" y="802005"/>
                  </a:lnTo>
                  <a:lnTo>
                    <a:pt x="97155" y="841058"/>
                  </a:lnTo>
                  <a:lnTo>
                    <a:pt x="125730" y="878205"/>
                  </a:lnTo>
                  <a:lnTo>
                    <a:pt x="157162" y="912495"/>
                  </a:lnTo>
                  <a:lnTo>
                    <a:pt x="191452" y="943927"/>
                  </a:lnTo>
                  <a:lnTo>
                    <a:pt x="228600" y="972502"/>
                  </a:lnTo>
                  <a:lnTo>
                    <a:pt x="268605" y="997267"/>
                  </a:lnTo>
                  <a:lnTo>
                    <a:pt x="309562" y="1019175"/>
                  </a:lnTo>
                  <a:lnTo>
                    <a:pt x="352425" y="1037273"/>
                  </a:lnTo>
                  <a:lnTo>
                    <a:pt x="397192" y="1050608"/>
                  </a:lnTo>
                  <a:lnTo>
                    <a:pt x="442912" y="1061085"/>
                  </a:lnTo>
                  <a:lnTo>
                    <a:pt x="488633" y="1067752"/>
                  </a:lnTo>
                  <a:lnTo>
                    <a:pt x="535305" y="1069658"/>
                  </a:lnTo>
                  <a:lnTo>
                    <a:pt x="581977" y="1067752"/>
                  </a:lnTo>
                  <a:lnTo>
                    <a:pt x="627697" y="1061085"/>
                  </a:lnTo>
                  <a:lnTo>
                    <a:pt x="673417" y="1050608"/>
                  </a:lnTo>
                  <a:lnTo>
                    <a:pt x="718185" y="1037273"/>
                  </a:lnTo>
                  <a:lnTo>
                    <a:pt x="761047" y="1019175"/>
                  </a:lnTo>
                  <a:lnTo>
                    <a:pt x="802958" y="997267"/>
                  </a:lnTo>
                  <a:lnTo>
                    <a:pt x="842010" y="972502"/>
                  </a:lnTo>
                  <a:lnTo>
                    <a:pt x="879158" y="943927"/>
                  </a:lnTo>
                  <a:lnTo>
                    <a:pt x="913447" y="912495"/>
                  </a:lnTo>
                  <a:lnTo>
                    <a:pt x="944880" y="878205"/>
                  </a:lnTo>
                  <a:lnTo>
                    <a:pt x="973455" y="841058"/>
                  </a:lnTo>
                  <a:lnTo>
                    <a:pt x="998220" y="802005"/>
                  </a:lnTo>
                  <a:lnTo>
                    <a:pt x="1020127" y="761048"/>
                  </a:lnTo>
                  <a:lnTo>
                    <a:pt x="1037272" y="717233"/>
                  </a:lnTo>
                  <a:lnTo>
                    <a:pt x="1051560" y="672465"/>
                  </a:lnTo>
                  <a:lnTo>
                    <a:pt x="1062038" y="627698"/>
                  </a:lnTo>
                  <a:lnTo>
                    <a:pt x="1067752" y="581025"/>
                  </a:lnTo>
                  <a:lnTo>
                    <a:pt x="1069658" y="535305"/>
                  </a:lnTo>
                  <a:lnTo>
                    <a:pt x="1067752" y="488633"/>
                  </a:lnTo>
                  <a:lnTo>
                    <a:pt x="1063942" y="456248"/>
                  </a:lnTo>
                </a:path>
              </a:pathLst>
            </a:custGeom>
            <a:noFill/>
            <a:ln w="38100">
              <a:solidFill>
                <a:srgbClr val="D97706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200400" y="444150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3345" y="34290"/>
                  </a:moveTo>
                  <a:lnTo>
                    <a:pt x="94297" y="35242"/>
                  </a:lnTo>
                  <a:lnTo>
                    <a:pt x="88583" y="23812"/>
                  </a:lnTo>
                  <a:lnTo>
                    <a:pt x="80962" y="14288"/>
                  </a:lnTo>
                  <a:lnTo>
                    <a:pt x="71438" y="6667"/>
                  </a:lnTo>
                  <a:lnTo>
                    <a:pt x="60008" y="1905"/>
                  </a:lnTo>
                  <a:lnTo>
                    <a:pt x="47625" y="0"/>
                  </a:lnTo>
                  <a:lnTo>
                    <a:pt x="35242" y="1905"/>
                  </a:lnTo>
                  <a:lnTo>
                    <a:pt x="23812" y="6667"/>
                  </a:lnTo>
                  <a:lnTo>
                    <a:pt x="13335" y="14288"/>
                  </a:lnTo>
                  <a:lnTo>
                    <a:pt x="5715" y="23812"/>
                  </a:lnTo>
                  <a:lnTo>
                    <a:pt x="1905" y="35242"/>
                  </a:lnTo>
                  <a:lnTo>
                    <a:pt x="0" y="48577"/>
                  </a:lnTo>
                  <a:lnTo>
                    <a:pt x="1905" y="60008"/>
                  </a:lnTo>
                  <a:lnTo>
                    <a:pt x="5715" y="71438"/>
                  </a:lnTo>
                  <a:lnTo>
                    <a:pt x="13335" y="81915"/>
                  </a:lnTo>
                  <a:lnTo>
                    <a:pt x="23812" y="89535"/>
                  </a:lnTo>
                  <a:lnTo>
                    <a:pt x="35242" y="94297"/>
                  </a:lnTo>
                  <a:lnTo>
                    <a:pt x="47625" y="95250"/>
                  </a:lnTo>
                  <a:lnTo>
                    <a:pt x="60008" y="94297"/>
                  </a:lnTo>
                  <a:lnTo>
                    <a:pt x="71438" y="89535"/>
                  </a:lnTo>
                  <a:lnTo>
                    <a:pt x="80962" y="81915"/>
                  </a:lnTo>
                  <a:lnTo>
                    <a:pt x="88583" y="71438"/>
                  </a:lnTo>
                  <a:lnTo>
                    <a:pt x="94297" y="60008"/>
                  </a:lnTo>
                  <a:lnTo>
                    <a:pt x="95250" y="48577"/>
                  </a:lnTo>
                  <a:lnTo>
                    <a:pt x="94297" y="35242"/>
                  </a:lnTo>
                  <a:lnTo>
                    <a:pt x="94297" y="37147"/>
                  </a:lnTo>
                </a:path>
              </a:pathLst>
            </a:custGeom>
            <a:noFill/>
            <a:ln w="95250">
              <a:solidFill>
                <a:srgbClr val="1F293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09638" y="34175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576888" y="34175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1147762" y="24650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433512" y="24650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243262" y="22745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243262" y="34175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243262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862512" y="378047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862512" y="31803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862512" y="381762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205412" y="34175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205412" y="321849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529012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525202" y="443484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3445192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442335" y="445008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648075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641408" y="441483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592830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588068" y="44243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737610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730942" y="439864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695700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688080" y="440626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3814762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806190" y="438531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777615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769995" y="43919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290888" y="44853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284220" y="44605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63072" y="347948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平板玻璃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979217" y="25988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平凸透镜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19462" y="2127885"/>
              <a:ext cx="153383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R（曲率中心在很远的上方）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08399" y="38466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94274" y="32513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69682" y="443293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反射光俯视：中心暗斑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005262" y="443293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内疏外密</a:t>
              </a:r>
            </a:p>
          </p:txBody>
        </p:sp>
      </p:grpSp>
      <p:grpSp>
        <p:nvGrpSpPr>
          <p:cNvPr id="81" name="c2-steps-1"/>
          <p:cNvGrpSpPr/>
          <p:nvPr/>
        </p:nvGrpSpPr>
        <p:grpSpPr>
          <a:xfrm>
            <a:off x="6248400" y="1533525"/>
            <a:ext cx="5006315" cy="2529173"/>
            <a:chOff x="6248400" y="1533525"/>
            <a:chExt cx="5006315" cy="2529173"/>
          </a:xfrm>
        </p:grpSpPr>
        <p:sp>
          <p:nvSpPr>
            <p:cNvPr id="64" name="Rectangle 64"/>
            <p:cNvSpPr/>
            <p:nvPr/>
          </p:nvSpPr>
          <p:spPr>
            <a:xfrm>
              <a:off x="6381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24840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342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5988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61023" y="1861661"/>
              <a:ext cx="44274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 = R² − (R − e)² = 2Re − e² ≈ 2Re，所以 e = r²/(2R)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659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661023" y="2512219"/>
              <a:ext cx="3952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透镜与平板间的空气膜，δ = 2e + λ/2 = r²/R + λ/2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59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61023" y="3162776"/>
              <a:ext cx="45936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r²/R = kλ，r = √(kRλ)，k = 0, 1, 2, …，k = 0 是中心暗斑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659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明环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61023" y="3813334"/>
              <a:ext cx="26107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√((k − 1/2)Rλ)，k = 1, 2, …</a:t>
              </a:r>
            </a:p>
          </p:txBody>
        </p:sp>
      </p:grpSp>
      <p:grpSp>
        <p:nvGrpSpPr>
          <p:cNvPr id="89" name="c2-card-2"/>
          <p:cNvGrpSpPr/>
          <p:nvPr/>
        </p:nvGrpSpPr>
        <p:grpSpPr>
          <a:xfrm>
            <a:off x="6248400" y="4241482"/>
            <a:ext cx="5410200" cy="1365885"/>
            <a:chOff x="6248400" y="4241482"/>
            <a:chExt cx="5410200" cy="1365885"/>
          </a:xfrm>
        </p:grpSpPr>
        <p:sp>
          <p:nvSpPr>
            <p:cNvPr id="82" name="Rectangle 82"/>
            <p:cNvSpPr/>
            <p:nvPr/>
          </p:nvSpPr>
          <p:spPr>
            <a:xfrm>
              <a:off x="6248400" y="4241482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457950" y="445103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40259" y="44867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两点结论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463665" y="489108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621780" y="4828222"/>
              <a:ext cx="33874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相邻暗环半径 √k 地增加，越往外越密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463665" y="522636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621780" y="5163502"/>
              <a:ext cx="4583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充入折射率 n 的液体：暗环 r = √(kRλ/n)，环缩小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90" name="Rectangle 9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130" y="5991225"/>
              <a:ext cx="9122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牛顿环也是等厚干涉。劈尖厚度随位置线性增加，条纹等间距；牛顿环厚度 e ∝ r²，条纹越往外越密。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牛顿环与迈克耳孙干涉仪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例（补充）用牛顿环测透镜的曲率半径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768792"/>
            <a:chOff x="533400" y="1524000"/>
            <a:chExt cx="4869180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9346" y="17506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456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用钠黄光 λ = 589.3 nm 观察牛顿环，测得第 k 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暗环半径 rₖ = 4.00 mm，第 k + 5 级暗环半径 6.00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2079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透镜曲率半径 R 与 k。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33400" y="3468052"/>
            <a:ext cx="4869180" cy="2434590"/>
            <a:chOff x="533400" y="3468052"/>
            <a:chExt cx="4869180" cy="2434590"/>
          </a:xfrm>
        </p:grpSpPr>
        <p:sp>
          <p:nvSpPr>
            <p:cNvPr id="14" name="Rectangle 14"/>
            <p:cNvSpPr/>
            <p:nvPr/>
          </p:nvSpPr>
          <p:spPr>
            <a:xfrm>
              <a:off x="533400" y="3468052"/>
              <a:ext cx="486918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5144" y="35923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21597" y="3592354"/>
              <a:ext cx="12259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rₖ = √(kRλ)/mm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95700" y="35923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与上一环的距离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3412" y="39981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5402" y="399811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4730" y="399811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27482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279582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4403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15402" y="440388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2.828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54730" y="440388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0.828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68058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48096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15402" y="480964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3.464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4730" y="480964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08635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5091112"/>
              <a:ext cx="486918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412" y="52154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15402" y="521541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54730" y="521541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0.536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49211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412" y="56211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15402" y="562117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54730" y="56211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468052"/>
              <a:ext cx="4869180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210628" y="3468052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3449955" y="3468052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c2-steps-1"/>
          <p:cNvGrpSpPr/>
          <p:nvPr/>
        </p:nvGrpSpPr>
        <p:grpSpPr>
          <a:xfrm>
            <a:off x="5707380" y="1533525"/>
            <a:ext cx="4155770" cy="2279809"/>
            <a:chOff x="5707380" y="1533525"/>
            <a:chExt cx="4155770" cy="2279809"/>
          </a:xfrm>
        </p:grpSpPr>
        <p:sp>
          <p:nvSpPr>
            <p:cNvPr id="43" name="Rectangle 43"/>
            <p:cNvSpPr/>
            <p:nvPr/>
          </p:nvSpPr>
          <p:spPr>
            <a:xfrm>
              <a:off x="584073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707380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80100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707380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80100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707380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80100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1962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列两个方程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120765" y="1833086"/>
              <a:ext cx="21194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rₖ² = kRλ，rₖ₊₅² = (k + 5)Rλ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119622" y="2152650"/>
              <a:ext cx="9028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相减消去 k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20765" y="2419826"/>
              <a:ext cx="1288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rₖ₊₅² − rₖ² = 5Rλ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119622" y="2739390"/>
              <a:ext cx="366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120765" y="3006566"/>
              <a:ext cx="3575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(36 − 16)×10⁻⁶/(5 × 589.3×10⁻⁹) m ≈ 6.79 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119622" y="3326130"/>
              <a:ext cx="3576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120765" y="3593306"/>
              <a:ext cx="37423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rₖ²/(Rλ) = 16×10⁻⁶/(6.79 × 589.3×10⁻⁹) = 4.0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707380" y="3982402"/>
            <a:ext cx="5951220" cy="952500"/>
            <a:chOff x="5707380" y="3982402"/>
            <a:chExt cx="5951220" cy="952500"/>
          </a:xfrm>
        </p:grpSpPr>
        <p:sp>
          <p:nvSpPr>
            <p:cNvPr id="61" name="Rectangle 61"/>
            <p:cNvSpPr/>
            <p:nvPr/>
          </p:nvSpPr>
          <p:spPr>
            <a:xfrm>
              <a:off x="5707380" y="3982402"/>
              <a:ext cx="5951220" cy="952500"/>
            </a:xfrm>
            <a:prstGeom prst="roundRect">
              <a:avLst>
                <a:gd name="adj" fmla="val 14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899785" y="417480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95226" y="4209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892927" y="4531995"/>
              <a:ext cx="37647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 ≈ 6.79 m，k = 4（第 4 级与第 9 级暗环）。</a:t>
              </a:r>
            </a:p>
          </p:txBody>
        </p:sp>
      </p:grpSp>
      <p:grpSp>
        <p:nvGrpSpPr>
          <p:cNvPr id="71" name="c2-card-3"/>
          <p:cNvGrpSpPr/>
          <p:nvPr/>
        </p:nvGrpSpPr>
        <p:grpSpPr>
          <a:xfrm>
            <a:off x="5707380" y="5110162"/>
            <a:ext cx="5951220" cy="1209675"/>
            <a:chOff x="5707380" y="5110162"/>
            <a:chExt cx="5951220" cy="1209675"/>
          </a:xfrm>
        </p:grpSpPr>
        <p:sp>
          <p:nvSpPr>
            <p:cNvPr id="66" name="Rectangle 66"/>
            <p:cNvSpPr/>
            <p:nvPr/>
          </p:nvSpPr>
          <p:spPr>
            <a:xfrm>
              <a:off x="5707380" y="5110162"/>
              <a:ext cx="595122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716905" y="524351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937885" y="5302568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05322" y="533685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为什么用两环之差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931027" y="5658802"/>
              <a:ext cx="52515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透镜与平板接触处常有灰尘或形变，中心不是理想的 e = 0，也不容易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认准第几级。用半径平方之差，这两种误差都消掉了。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51115" cy="909257"/>
            <a:chOff x="520446" y="342900"/>
            <a:chExt cx="7251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牛顿环与迈克耳孙干涉仪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51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迈克耳孙干涉仪：动镜移动 λ/2，条纹移过一条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g_michelson"/>
          <p:cNvGrpSpPr/>
          <p:nvPr/>
        </p:nvGrpSpPr>
        <p:grpSpPr>
          <a:xfrm>
            <a:off x="1140142" y="1983581"/>
            <a:ext cx="4329113" cy="3006090"/>
            <a:chOff x="1140142" y="1983581"/>
            <a:chExt cx="4329113" cy="3006090"/>
          </a:xfrm>
        </p:grpSpPr>
        <p:sp>
          <p:nvSpPr>
            <p:cNvPr id="7" name="Freeform 7"/>
            <p:cNvSpPr/>
            <p:nvPr/>
          </p:nvSpPr>
          <p:spPr>
            <a:xfrm>
              <a:off x="2691765" y="3409950"/>
              <a:ext cx="549592" cy="549592"/>
            </a:xfrm>
            <a:custGeom>
              <a:avLst/>
              <a:gdLst/>
              <a:ahLst/>
              <a:cxnLst/>
              <a:rect l="l" t="t" r="r" b="b"/>
              <a:pathLst>
                <a:path w="549592" h="549592">
                  <a:moveTo>
                    <a:pt x="0" y="549592"/>
                  </a:moveTo>
                  <a:lnTo>
                    <a:pt x="549592" y="0"/>
                  </a:lnTo>
                </a:path>
              </a:pathLst>
            </a:custGeom>
            <a:noFill/>
            <a:ln w="4762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13785" y="3409950"/>
              <a:ext cx="549593" cy="549592"/>
            </a:xfrm>
            <a:custGeom>
              <a:avLst/>
              <a:gdLst/>
              <a:ahLst/>
              <a:cxnLst/>
              <a:rect l="l" t="t" r="r" b="b"/>
              <a:pathLst>
                <a:path w="549593" h="549592">
                  <a:moveTo>
                    <a:pt x="0" y="549592"/>
                  </a:moveTo>
                  <a:lnTo>
                    <a:pt x="549593" y="0"/>
                  </a:lnTo>
                </a:path>
              </a:pathLst>
            </a:custGeom>
            <a:noFill/>
            <a:ln w="4762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313998" y="3280410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88255" y="422148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2667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993005" y="41738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5354955" y="41738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61272" y="2050732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4762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29212" y="3280410"/>
              <a:ext cx="9525" cy="809625"/>
            </a:xfrm>
            <a:custGeom>
              <a:avLst/>
              <a:gdLst/>
              <a:ahLst/>
              <a:cxnLst/>
              <a:rect l="l" t="t" r="r" b="b"/>
              <a:pathLst>
                <a:path w="9525" h="809625">
                  <a:moveTo>
                    <a:pt x="0" y="0"/>
                  </a:moveTo>
                  <a:lnTo>
                    <a:pt x="0" y="809625"/>
                  </a:lnTo>
                </a:path>
              </a:pathLst>
            </a:custGeom>
            <a:noFill/>
            <a:ln w="19050">
              <a:solidFill>
                <a:srgbClr val="5B6475"/>
              </a:solidFill>
              <a:custDash>
                <a:ds d="300000" sp="20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1287780" y="3685222"/>
              <a:ext cx="1535430" cy="9525"/>
            </a:xfrm>
            <a:custGeom>
              <a:avLst/>
              <a:gdLst/>
              <a:ahLst/>
              <a:cxnLst/>
              <a:rect l="l" t="t" r="r" b="b"/>
              <a:pathLst>
                <a:path w="1535430" h="9525">
                  <a:moveTo>
                    <a:pt x="0" y="0"/>
                  </a:moveTo>
                  <a:lnTo>
                    <a:pt x="1535430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23210" y="36375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014662" y="3634740"/>
              <a:ext cx="2155507" cy="9525"/>
            </a:xfrm>
            <a:custGeom>
              <a:avLst/>
              <a:gdLst/>
              <a:ahLst/>
              <a:cxnLst/>
              <a:rect l="l" t="t" r="r" b="b"/>
              <a:pathLst>
                <a:path w="2155507" h="9525">
                  <a:moveTo>
                    <a:pt x="0" y="0"/>
                  </a:moveTo>
                  <a:lnTo>
                    <a:pt x="2155507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70170" y="35871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109912" y="3734752"/>
              <a:ext cx="2155507" cy="9525"/>
            </a:xfrm>
            <a:custGeom>
              <a:avLst/>
              <a:gdLst/>
              <a:ahLst/>
              <a:cxnLst/>
              <a:rect l="l" t="t" r="r" b="b"/>
              <a:pathLst>
                <a:path w="2155507" h="9525">
                  <a:moveTo>
                    <a:pt x="2155507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014662" y="36871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916555" y="2193608"/>
              <a:ext cx="9525" cy="1443038"/>
            </a:xfrm>
            <a:custGeom>
              <a:avLst/>
              <a:gdLst/>
              <a:ahLst/>
              <a:cxnLst/>
              <a:rect l="l" t="t" r="r" b="b"/>
              <a:pathLst>
                <a:path w="9525" h="1443038">
                  <a:moveTo>
                    <a:pt x="0" y="1443038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868930" y="20983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016568" y="2098358"/>
              <a:ext cx="9525" cy="1443038"/>
            </a:xfrm>
            <a:custGeom>
              <a:avLst/>
              <a:gdLst/>
              <a:ahLst/>
              <a:cxnLst/>
              <a:rect l="l" t="t" r="r" b="b"/>
              <a:pathLst>
                <a:path w="9525" h="1443038">
                  <a:moveTo>
                    <a:pt x="0" y="0"/>
                  </a:moveTo>
                  <a:lnTo>
                    <a:pt x="0" y="1443038"/>
                  </a:lnTo>
                </a:path>
              </a:pathLst>
            </a:custGeom>
            <a:noFill/>
            <a:ln w="19050">
              <a:solidFill>
                <a:srgbClr val="F26B3A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968942" y="35413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966085" y="3766185"/>
              <a:ext cx="9525" cy="957262"/>
            </a:xfrm>
            <a:custGeom>
              <a:avLst/>
              <a:gdLst/>
              <a:ahLst/>
              <a:cxnLst/>
              <a:rect l="l" t="t" r="r" b="b"/>
              <a:pathLst>
                <a:path w="9525" h="957262">
                  <a:moveTo>
                    <a:pt x="0" y="0"/>
                  </a:moveTo>
                  <a:lnTo>
                    <a:pt x="0" y="957262"/>
                  </a:lnTo>
                </a:path>
              </a:pathLst>
            </a:custGeom>
            <a:noFill/>
            <a:ln w="22860">
              <a:solidFill>
                <a:srgbClr val="2F4B9A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18460" y="47234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140142" y="3618548"/>
              <a:ext cx="133350" cy="1333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676525" y="3965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3247072" y="33956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598545" y="396525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168140" y="339566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309235" y="32613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309235" y="4099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459730" y="42167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973955" y="421671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542222" y="20459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380422" y="20459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124450" y="32613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124450" y="40995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268730" y="36804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927985" y="368046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995612" y="36299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274945" y="362997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274945" y="37299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2995612" y="372999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911792" y="36461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2911792" y="20793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3011805" y="2079308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011805" y="3646170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961322" y="3747135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2961322" y="4828222"/>
              <a:ext cx="9525" cy="952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61614" y="34342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123421" y="4081939"/>
              <a:ext cx="5121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G₁ 分光板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32032" y="4081939"/>
              <a:ext cx="5121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G₂ 补偿板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47245" y="308181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51260" y="429720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可移动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36542" y="19835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849619" y="3087052"/>
              <a:ext cx="258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M₂′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79432" y="4827746"/>
              <a:ext cx="3344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观察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146092" y="344281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光束 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361918" y="274653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光束 2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464618" y="1524000"/>
            <a:ext cx="5193982" cy="1700212"/>
            <a:chOff x="6464618" y="1524000"/>
            <a:chExt cx="5193982" cy="1700212"/>
          </a:xfrm>
        </p:grpSpPr>
        <p:sp>
          <p:nvSpPr>
            <p:cNvPr id="63" name="Rectangle 63"/>
            <p:cNvSpPr/>
            <p:nvPr/>
          </p:nvSpPr>
          <p:spPr>
            <a:xfrm>
              <a:off x="6464618" y="1524000"/>
              <a:ext cx="5193982" cy="1700212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74142" y="1657350"/>
              <a:ext cx="47625" cy="14335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89408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70878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结构与光路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82549" y="2054542"/>
              <a:ext cx="456571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光源 S 的光被分光板 G₁（背面镀半透半反膜）分成两束，分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别射向互相垂直的 M₁、M₂，反射回来后在 E 处相遇干涉。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补偿板 G₂ 与 G₁ 同材料同厚度，使两束光穿过玻璃的次数相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同。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464618" y="3393758"/>
            <a:ext cx="5193982" cy="2032635"/>
            <a:chOff x="6464618" y="3393758"/>
            <a:chExt cx="5193982" cy="2032635"/>
          </a:xfrm>
        </p:grpSpPr>
        <p:sp>
          <p:nvSpPr>
            <p:cNvPr id="69" name="Rectangle 69"/>
            <p:cNvSpPr/>
            <p:nvPr/>
          </p:nvSpPr>
          <p:spPr>
            <a:xfrm>
              <a:off x="6464618" y="3393758"/>
              <a:ext cx="5193982" cy="2032635"/>
            </a:xfrm>
            <a:prstGeom prst="roundRect">
              <a:avLst>
                <a:gd name="adj" fmla="val 656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651308" y="358044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36829" y="36133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两个公式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644449" y="3925252"/>
              <a:ext cx="46085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M₂ 经 G₁ 成像为 M₂′，相当于 M₁ 与 M₂′ 之间的空气薄膜。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M₁ 移动 Δd，光程差变化 2Δd，每变一个 λ 移过一条条纹：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formula83"/>
                <p:cNvSpPr txBox="1">
                  <a:spLocks noGrp="1"/>
                </p:cNvSpPr>
                <p:nvPr/>
              </p:nvSpPr>
              <p:spPr>
                <a:xfrm>
                  <a:off x="6651308" y="4459605"/>
                  <a:ext cx="482060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Nλ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4" name="TextBox 74"/>
            <p:cNvSpPr txBox="1"/>
            <p:nvPr/>
          </p:nvSpPr>
          <p:spPr>
            <a:xfrm>
              <a:off x="6644449" y="502920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右式是在一臂插入厚 t、折射率 n 的薄片，光来回穿过两次。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6" name="Rectangle 7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892" y="6028373"/>
              <a:ext cx="8969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M₁ 与 M₂′ 严格平行时看到等倾圆环，稍有夹角时看到劈尖式的等厚直条纹。数条纹能测出比波长还小的位移。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牛顿环与迈克耳孙干涉仪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例（补充）迈克耳孙干涉仪测波长与膜厚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869180" cy="1937385"/>
            <a:chOff x="533400" y="1524000"/>
            <a:chExt cx="486918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168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动镜移动 0.322 mm，数得 1024 条条纹移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过；② 换用 λ = 589 nm 的光，在一臂插入 n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1.40 的薄膜，看到 7 条条纹移过。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28119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① 光的波长；② 薄膜厚度 t。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51885"/>
            <a:ext cx="4869180" cy="1651635"/>
            <a:chOff x="533400" y="3651885"/>
            <a:chExt cx="4869180" cy="1651635"/>
          </a:xfrm>
        </p:grpSpPr>
        <p:sp>
          <p:nvSpPr>
            <p:cNvPr id="14" name="Rectangle 14"/>
            <p:cNvSpPr/>
            <p:nvPr/>
          </p:nvSpPr>
          <p:spPr>
            <a:xfrm>
              <a:off x="533400" y="3651885"/>
              <a:ext cx="486918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785235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258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3014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23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628.9 nm 是红光，在可见光范围内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463677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4573905"/>
              <a:ext cx="3539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0.40 × 5.15 μm = 4.12 μm，等于 7 ×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0.589 μm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5707380" y="1533525"/>
            <a:ext cx="5043663" cy="2529173"/>
            <a:chOff x="5707380" y="1533525"/>
            <a:chExt cx="5043663" cy="2529173"/>
          </a:xfrm>
        </p:grpSpPr>
        <p:sp>
          <p:nvSpPr>
            <p:cNvPr id="23" name="Rectangle 23"/>
            <p:cNvSpPr/>
            <p:nvPr/>
          </p:nvSpPr>
          <p:spPr>
            <a:xfrm>
              <a:off x="584073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218408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283464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707380" y="34861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100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886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动镜移动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003" y="1861661"/>
              <a:ext cx="2652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光往返两次，光程差变化 2Δd = Nλ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886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2512219"/>
              <a:ext cx="4279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2Δd/N = 2 × 0.322×10⁻³/1024 m ≈ 6.289×10⁻⁷ 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18860" y="28689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插入薄膜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3162776"/>
              <a:ext cx="3820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光来回穿过薄膜两次，光程差增加 2(n − 1)t = Nλ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18860" y="352044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求厚度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3813334"/>
              <a:ext cx="4631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Nλ/[2(n − 1)] = 7 × 589×10⁻⁹/0.80 m ≈ 5.15×10⁻⁶ m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5707380" y="4241482"/>
            <a:ext cx="5951220" cy="1062038"/>
            <a:chOff x="5707380" y="4241482"/>
            <a:chExt cx="5951220" cy="1062038"/>
          </a:xfrm>
        </p:grpSpPr>
        <p:sp>
          <p:nvSpPr>
            <p:cNvPr id="41" name="Rectangle 41"/>
            <p:cNvSpPr/>
            <p:nvPr/>
          </p:nvSpPr>
          <p:spPr>
            <a:xfrm>
              <a:off x="5707380" y="4241482"/>
              <a:ext cx="5951220" cy="1062038"/>
            </a:xfrm>
            <a:prstGeom prst="roundRect">
              <a:avLst>
                <a:gd name="adj" fmla="val 1255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916930" y="4451032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12040" y="448675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09310" y="4828222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λ ≈ 628.9 nm；② t ≈ 5.15 μm。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6" name="Rectangle 4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130" y="5991225"/>
              <a:ext cx="9909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迈克耳孙干涉仪里光在每一臂都走一个来回，所以动镜位移和膜厚都要乘 2；忘了乘 2 是这类题最常见的错误。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 · 牛顿环与迈克耳孙干涉仪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干涉题的通用步骤与公式汇总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851535" y="1788795"/>
            <a:ext cx="3908108" cy="4309110"/>
            <a:chOff x="851535" y="1788795"/>
            <a:chExt cx="3908108" cy="4309110"/>
          </a:xfrm>
        </p:grpSpPr>
        <p:sp>
          <p:nvSpPr>
            <p:cNvPr id="7" name="Freeform 7"/>
            <p:cNvSpPr/>
            <p:nvPr/>
          </p:nvSpPr>
          <p:spPr>
            <a:xfrm>
              <a:off x="2806065" y="2226945"/>
              <a:ext cx="9525" cy="424815"/>
            </a:xfrm>
            <a:custGeom>
              <a:avLst/>
              <a:gdLst/>
              <a:ahLst/>
              <a:cxnLst/>
              <a:rect l="l" t="t" r="r" b="b"/>
              <a:pathLst>
                <a:path w="9525" h="424815">
                  <a:moveTo>
                    <a:pt x="0" y="0"/>
                  </a:moveTo>
                  <a:lnTo>
                    <a:pt x="0" y="424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53678" y="2651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06065" y="3194685"/>
              <a:ext cx="9525" cy="424815"/>
            </a:xfrm>
            <a:custGeom>
              <a:avLst/>
              <a:gdLst/>
              <a:ahLst/>
              <a:cxnLst/>
              <a:rect l="l" t="t" r="r" b="b"/>
              <a:pathLst>
                <a:path w="9525" h="424815">
                  <a:moveTo>
                    <a:pt x="0" y="0"/>
                  </a:moveTo>
                  <a:lnTo>
                    <a:pt x="0" y="4248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53678" y="3619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06065" y="4162425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0"/>
                  </a:move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53678" y="44919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06065" y="5225415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0"/>
                  </a:move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53678" y="55549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51535" y="1788795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1535" y="2756535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51535" y="3724275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E8EDF8"/>
            </a:solidFill>
            <a:ln w="19050">
              <a:solidFill>
                <a:srgbClr val="2F4B9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51535" y="4596765"/>
              <a:ext cx="390810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51535" y="5659755"/>
              <a:ext cx="3908108" cy="438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24177" y="191881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确定是哪两束光相干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48184" y="2886551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逐段写光程 nr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0334" y="38542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判断有无半波损失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53412" y="4712494"/>
              <a:ext cx="130530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 δ = kλ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 δ = (2k+1)λ/2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33986" y="5789771"/>
              <a:ext cx="1944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 k 的起点，求解并检验</a:t>
              </a:r>
            </a:p>
          </p:txBody>
        </p:sp>
      </p:grpSp>
      <p:grpSp>
        <p:nvGrpSpPr>
          <p:cNvPr id="59" name="c2-table-1"/>
          <p:cNvGrpSpPr/>
          <p:nvPr/>
        </p:nvGrpSpPr>
        <p:grpSpPr>
          <a:xfrm>
            <a:off x="5382578" y="1524000"/>
            <a:ext cx="6276022" cy="3141346"/>
            <a:chOff x="5382578" y="1524000"/>
            <a:chExt cx="6276022" cy="3141346"/>
          </a:xfrm>
        </p:grpSpPr>
        <p:sp>
          <p:nvSpPr>
            <p:cNvPr id="26" name="Rectangle 26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6861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装置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1409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光程差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015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常用结论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90401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0066" y="2108359"/>
              <a:ext cx="694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ax/D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53666" y="2108359"/>
              <a:ext cx="2261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kDλ/a（明），Δx = Dλ/a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82578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90401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缝后加片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20066" y="2556986"/>
              <a:ext cx="10812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 (n − 1)d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3666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零级明纹移向加片一侧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82578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490401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0066" y="3005614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2n₂e (+λ/2)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3666" y="3005614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增透、增反最薄 λ/(4n₂)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82578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90401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0066" y="3454241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2ne (+λ/2)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53666" y="3454241"/>
              <a:ext cx="20684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Δe = λ/(2n)，l = λ/(2nθ)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82578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90401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20066" y="3903821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2e + λ/2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753666" y="3903821"/>
              <a:ext cx="12837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暗环 r = √(kRλ)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82578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90401" y="435244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迈克耳孙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20066" y="4352449"/>
              <a:ext cx="305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2Δd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53666" y="4352449"/>
              <a:ext cx="8014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Δd = Nλ/2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1524000"/>
              <a:ext cx="627602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50748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64108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2"/>
          <p:cNvGrpSpPr/>
          <p:nvPr/>
        </p:nvGrpSpPr>
        <p:grpSpPr>
          <a:xfrm>
            <a:off x="5382578" y="4855845"/>
            <a:ext cx="6276022" cy="782955"/>
            <a:chOff x="5382578" y="4855845"/>
            <a:chExt cx="6276022" cy="782955"/>
          </a:xfrm>
        </p:grpSpPr>
        <p:sp>
          <p:nvSpPr>
            <p:cNvPr id="60" name="Rectangle 60"/>
            <p:cNvSpPr/>
            <p:nvPr/>
          </p:nvSpPr>
          <p:spPr>
            <a:xfrm>
              <a:off x="5382578" y="485584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5587365" y="5147312"/>
              <a:ext cx="200023" cy="200023"/>
              <a:chOff x="5587365" y="5147312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5587365" y="51473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5720715" y="52139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5889308" y="5004435"/>
              <a:ext cx="5206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薄膜类题目的 λ/2 只看两个反射面：恰有一个面由光疏射向光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密反射时才加。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自测题（上）光程与双缝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37410"/>
            <a:chOff x="533400" y="1524000"/>
            <a:chExt cx="3505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5077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500 nm 的光在 n = 1.5 的玻璃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中走 1.5 μm，光程是多少？相位改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963704"/>
              <a:ext cx="278269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 nr = 2.25 μm，相位改变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 × 2.25/0.5 = 9π。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3505200" cy="2137410"/>
            <a:chOff x="533400" y="3847148"/>
            <a:chExt cx="3505200" cy="2137410"/>
          </a:xfrm>
        </p:grpSpPr>
        <p:sp>
          <p:nvSpPr>
            <p:cNvPr id="13" name="Rectangle 13"/>
            <p:cNvSpPr/>
            <p:nvPr/>
          </p:nvSpPr>
          <p:spPr>
            <a:xfrm>
              <a:off x="533400" y="3847148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423886"/>
              <a:ext cx="296213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600 nm，一缝后盖 n = 1.5 的薄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片，零级明纹移到原第 5 级明纹处，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片厚多少？条纹往哪边移？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286851"/>
              <a:ext cx="29179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− 1)d = 5λ，d = 6.0 μm；条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纹向盖片的一侧移动。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865948"/>
            <a:chOff x="4343400" y="1524000"/>
            <a:chExt cx="3505200" cy="1865948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865948"/>
            </a:xfrm>
            <a:prstGeom prst="roundRect">
              <a:avLst>
                <a:gd name="adj" fmla="val 714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9274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两束相干光的光强分别为 I 和 4I，干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涉后最大、最小光强各是多少？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692241"/>
              <a:ext cx="25031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I + 4I ± 2√(I·4I)，最大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9I，最小 I。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575685"/>
            <a:ext cx="3505200" cy="2408872"/>
            <a:chOff x="4343400" y="3575685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575685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377952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381523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152424"/>
              <a:ext cx="27195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劳埃德镜实验中把屏移到与镜端接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触，接触处是明纹还是暗纹？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474392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暗纹。几何路程相等，但反射光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有半波损失，两束光相差 λ/2。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137410"/>
            <a:chOff x="8153400" y="1524000"/>
            <a:chExt cx="3505200" cy="213741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54780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双缝实验在空气中条纹间距 3.0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mm，整个装置浸入水中（n =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1.33）后间距是多少？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963704"/>
              <a:ext cx="28187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光程差变为 nax/D，Δx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Dλ/(na) = 3.0/1.33 ≈ 2.26 mm。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847148"/>
            <a:ext cx="3505200" cy="2137410"/>
            <a:chOff x="8153400" y="3847148"/>
            <a:chExt cx="3505200" cy="2137410"/>
          </a:xfrm>
        </p:grpSpPr>
        <p:sp>
          <p:nvSpPr>
            <p:cNvPr id="37" name="Rectangle 37"/>
            <p:cNvSpPr/>
            <p:nvPr/>
          </p:nvSpPr>
          <p:spPr>
            <a:xfrm>
              <a:off x="8153400" y="3847148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423886"/>
              <a:ext cx="27195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两盏同型号的钠光灯同时照亮一面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墙，为什么看不到干涉条纹？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015389"/>
              <a:ext cx="28999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两灯各原子发出的波列之间初相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没有固定关系，不满足相位差恒定这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一相干条件。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自测题（下）薄膜、劈尖与牛顿环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137410"/>
            <a:chOff x="533400" y="1524000"/>
            <a:chExt cx="3505200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5077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空气中的肥皂膜 n = 1.33，要让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600 nm 的反射光最强，膜最薄是多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29996" y="2963704"/>
              <a:ext cx="280974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要加 λ/2：2ne + λ/2 = λ，e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λ/(4n) ≈ 113 nm。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847148"/>
            <a:ext cx="3505200" cy="2408872"/>
            <a:chOff x="533400" y="3847148"/>
            <a:chExt cx="3505200" cy="2408872"/>
          </a:xfrm>
        </p:grpSpPr>
        <p:sp>
          <p:nvSpPr>
            <p:cNvPr id="13" name="Rectangle 13"/>
            <p:cNvSpPr/>
            <p:nvPr/>
          </p:nvSpPr>
          <p:spPr>
            <a:xfrm>
              <a:off x="53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996" y="4423886"/>
              <a:ext cx="288864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空气劈尖的条纹间距为 2.0 mm，充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 n = 1.25 的液体后变为多少？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996" y="5015389"/>
              <a:ext cx="28728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∝ 1/n，变为 1.6 mm，条纹向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棱边收拢。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2137410"/>
            <a:chOff x="4343400" y="1524000"/>
            <a:chExt cx="3505200" cy="2137410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4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3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9996" y="2100739"/>
              <a:ext cx="29075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n = 1.5 的玻璃上镀 n = 1.25 的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增透膜，对 500 nm 的最小膜厚是多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39996" y="2963704"/>
              <a:ext cx="29810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两面都有半波损失，2ne = λ/2，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λ/(4n) = 100 nm。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847148"/>
            <a:ext cx="3505200" cy="2408872"/>
            <a:chOff x="4343400" y="3847148"/>
            <a:chExt cx="3505200" cy="2408872"/>
          </a:xfrm>
        </p:grpSpPr>
        <p:sp>
          <p:nvSpPr>
            <p:cNvPr id="25" name="Rectangle 25"/>
            <p:cNvSpPr/>
            <p:nvPr/>
          </p:nvSpPr>
          <p:spPr>
            <a:xfrm>
              <a:off x="4343400" y="3847148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47235" y="4050982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34722" y="4086701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9996" y="4423886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牛顿环反射光中心为什么是暗斑？透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射光呢？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9996" y="5015389"/>
              <a:ext cx="293598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中心 e = 0，反射光 δ = λ/2，是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暗斑；透射光与反射光互补，中心是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亮斑。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408872"/>
            <a:chOff x="8153400" y="1524000"/>
            <a:chExt cx="3505200" cy="2408872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408872"/>
            </a:xfrm>
            <a:prstGeom prst="roundRect">
              <a:avLst>
                <a:gd name="adj" fmla="val 553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57235" y="17278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4722" y="17635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49996" y="2100739"/>
              <a:ext cx="29156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两块玻璃长 5 cm，一端夹 0.03 mm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的纸片，λ = 600 nm 垂直照射，条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纹间距多少？共几条明纹？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49996" y="2963704"/>
              <a:ext cx="289090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λL/(2d) = 0.5 mm；2d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λ/2 = kλ，k 最大 100，共 100 条明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4118610"/>
            <a:ext cx="3505200" cy="2137410"/>
            <a:chOff x="8153400" y="4118610"/>
            <a:chExt cx="3505200" cy="2137410"/>
          </a:xfrm>
        </p:grpSpPr>
        <p:sp>
          <p:nvSpPr>
            <p:cNvPr id="37" name="Rectangle 37"/>
            <p:cNvSpPr/>
            <p:nvPr/>
          </p:nvSpPr>
          <p:spPr>
            <a:xfrm>
              <a:off x="8153400" y="4118610"/>
              <a:ext cx="3505200" cy="2137410"/>
            </a:xfrm>
            <a:prstGeom prst="roundRect">
              <a:avLst>
                <a:gd name="adj" fmla="val 62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57235" y="432244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44722" y="435816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9996" y="4695349"/>
              <a:ext cx="29075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迈克耳孙干涉仪用 600 nm 的光，数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200 条条纹移过，动镜移动了多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49996" y="5558314"/>
              <a:ext cx="262940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Δd = Nλ/2 = 200 × 300 nm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 μm。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第7章 光的干涉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5249589" cy="2549080"/>
            <a:chOff x="533400" y="1534478"/>
            <a:chExt cx="5249589" cy="2549080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相干条件：频率相同、振动方向相同、相位差恒定；I =</a:t>
              </a:r>
              <a:br/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4I₀cos²(Δφ/2)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021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21415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2114550"/>
              <a:ext cx="4968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光程 L = nr，Δφ = 2πδ/λ；明纹 δ = kλ，暗纹 δ = (2k+1)λ/2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1363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4520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426018"/>
              <a:ext cx="48314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杨氏双缝 δ = ax/D，x = kDλ/a，Δx = Dλ/a；加片后零级明纹移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向加片一侧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98227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0206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993708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薄膜 δ = 2e√(n₂² − n₁² sin² i) (+λ/2)；反射与透射互补；增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透、增反最薄 λ/(4n₂)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5499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35893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3562350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劈尖 Δe = λ/(2n)，l = λ/(2nθ)；牛顿环暗环 r = √(kRλ)；迈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克耳孙 Δd = Nλ/2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05288"/>
            <a:ext cx="5410200" cy="1424940"/>
            <a:chOff x="533400" y="4205288"/>
            <a:chExt cx="5410200" cy="1424940"/>
          </a:xfrm>
        </p:grpSpPr>
        <p:sp>
          <p:nvSpPr>
            <p:cNvPr id="23" name="Rectangle 23"/>
            <p:cNvSpPr/>
            <p:nvPr/>
          </p:nvSpPr>
          <p:spPr>
            <a:xfrm>
              <a:off x="533400" y="4205288"/>
              <a:ext cx="5410200" cy="1424940"/>
            </a:xfrm>
            <a:prstGeom prst="roundRect">
              <a:avLst>
                <a:gd name="adj" fmla="val 802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817745"/>
              <a:ext cx="200026" cy="200025"/>
              <a:chOff x="738188" y="4817745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8177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8621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9733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4574858"/>
              <a:ext cx="447141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λ/2 只在两个反射面中恰有一个由光疏射向光密反射时才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加。空气劈尖、空气中的肥皂膜要加，玻璃上的 MgF₂ 膜不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加。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524000"/>
            <a:ext cx="5410200" cy="2071688"/>
            <a:chOff x="6248400" y="1524000"/>
            <a:chExt cx="5410200" cy="2071688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8905" y="171640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38341" y="175069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87478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3497" y="2072640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空气劈尖明纹应从 k = 1 起，原课件第 30 页明暗纹都写 k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2, …（讲义第 34 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87478" y="268890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43497" y="2632710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例7.4 的 1700、567、340 nm 是约数，准确值 1702.4、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567.5、340.5 nm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87478" y="324897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43497" y="3192780"/>
              <a:ext cx="4675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例7.3、练习原课件未给出移动方向和厚度的数值，已补全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770948"/>
            <a:ext cx="5410200" cy="1860232"/>
            <a:chOff x="6248400" y="3770948"/>
            <a:chExt cx="5410200" cy="1860232"/>
          </a:xfrm>
        </p:grpSpPr>
        <p:sp>
          <p:nvSpPr>
            <p:cNvPr id="41" name="Rectangle 41"/>
            <p:cNvSpPr/>
            <p:nvPr/>
          </p:nvSpPr>
          <p:spPr>
            <a:xfrm>
              <a:off x="6248400" y="3770948"/>
              <a:ext cx="5410200" cy="1860232"/>
            </a:xfrm>
            <a:prstGeom prst="roundRect">
              <a:avLst>
                <a:gd name="adj" fmla="val 716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40805" y="3963352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12242" y="3997643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49378" y="43757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05397" y="431958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普通光源不相干的原因、光强曲线与非相干对比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49378" y="46786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05397" y="4622482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白光双缝从第二级起重叠、镜头泛蓝紫色的定量解释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49378" y="498062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05397" y="492442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多层增反膜、劈尖检验平整度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49378" y="528351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05397" y="5227320"/>
              <a:ext cx="4629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牛顿环与迈克耳孙干涉仪的公式和两道例题，12 道自测题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3" name="Rectangle 5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3610"/>
              <a:ext cx="10000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所有干涉题都归结为一句：写对两束光的光程差（几何路程、介质、半波损失三样都算上），再令它等于 kλ 或 (2k+1)λ/2。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第7章 光的干涉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7">
  <a:themeElements>
    <a:clrScheme name="phys_ch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2026-09-23T11:22:36Z</dcterms:created>
  <dcterms:modified xsi:type="dcterms:W3CDTF">2026-09-23T11:22:36Z</dcterms:modified>
  <cp:category/>
  <cp:contentStatus/>
</cp:coreProperties>
</file>