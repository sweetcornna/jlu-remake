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c242bd3991aa30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5569f0c1972419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cf0209388e6754c.png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2693670" cy="3437763"/>
            <a:chOff x="666750" y="1619250"/>
            <a:chExt cx="269367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第二章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机械振动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从弹簧振子到振动的合成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简谐振动的判据与方程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五个特征量与相位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能量分配与旋转矢量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同向合成、拍、垂直合成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08793" cy="205359"/>
            <a:chOff x="680466" y="6192202"/>
            <a:chExt cx="420879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0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自学复习版｜据吉林大学《基础物理学》第2章课件整理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什么是简谐振动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弹簧振子、动力学判据、微分方程与运动方程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描述振动的特征量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振幅、周期与频率、相位与初相、相位差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振动的能量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动能与势能的分配、变化频率、平均值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旋转矢量法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把相位问题变成匀速转动的转角问题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简谐振动的合成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同向同频、频率相近的拍、方向垂直的合成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八道自测题，本章对原课件的更正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由受力或加速度判断一个运动是不是简谐振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动，并写出它的 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由初位移和初速度求出振幅和初相，用速度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的正负定出象限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E = kA²/2 在位移、速度、能量之间互相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用旋转矢量读出初相，并求两个状态之间的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最短时间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求两个同方向同频率振动的合振幅与初相，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判断加强还是减弱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613063" cy="2997517"/>
            <a:chOff x="667512" y="1835468"/>
            <a:chExt cx="561306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简谐振动的判据与方程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03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2.1.1，先把“什么样的运动算简谐振动”讲死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振动、机械振动、简谐振动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由胡克定律到微分方程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运动方程与速度加速度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简谐振动的判据与方程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振动指任何物理量在定值附近的反复变化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557141" cy="264033"/>
            <a:chOff x="526542" y="1545907"/>
            <a:chExt cx="45571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先分清三个层次的概念，本章只研究其中最简单的一种。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626418" cy="1528762"/>
            <a:chOff x="533400" y="1928812"/>
            <a:chExt cx="5626418" cy="15287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7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三个概念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51555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45935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振动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：任何一个物理量在某一定值附近作反复变化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81559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75939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机械振动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：物体在一定位置附近做来回往复的运动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1165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06038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简谐振动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：位移按余弦（或正弦）规律变化的机械振动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3627120"/>
            <a:ext cx="5626418" cy="2000250"/>
            <a:chOff x="533400" y="3627120"/>
            <a:chExt cx="5626418" cy="2000250"/>
          </a:xfrm>
        </p:grpSpPr>
        <p:sp>
          <p:nvSpPr>
            <p:cNvPr id="20" name="Rectangle 20"/>
            <p:cNvSpPr/>
            <p:nvPr/>
          </p:nvSpPr>
          <p:spPr>
            <a:xfrm>
              <a:off x="533400" y="3627120"/>
              <a:ext cx="562641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20826" y="37485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13660" y="37485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在振动的物理量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82477" y="37485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定值（平衡值）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0555" y="41486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钟摆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18385" y="41486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摆角与位置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9142" y="41486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竖直悬挂位置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4224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42722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5486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弹簧振子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18385" y="4548664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物体的位移 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9142" y="4548664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弹簧原长处 x = 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225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555" y="49487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18385" y="49487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膜片的位移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9142" y="49487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未发声时的位置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222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522732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5348764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 振荡回路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18385" y="53487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电容上的电荷量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9142" y="53487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零值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627120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216468" y="362712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67225" y="362712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1"/>
          <p:cNvGrpSpPr/>
          <p:nvPr/>
        </p:nvGrpSpPr>
        <p:grpSpPr>
          <a:xfrm>
            <a:off x="6464618" y="1928812"/>
            <a:ext cx="5193982" cy="1228725"/>
            <a:chOff x="6464618" y="1928812"/>
            <a:chExt cx="5193982" cy="1228725"/>
          </a:xfrm>
        </p:grpSpPr>
        <p:sp>
          <p:nvSpPr>
            <p:cNvPr id="45" name="Rectangle 45"/>
            <p:cNvSpPr/>
            <p:nvPr/>
          </p:nvSpPr>
          <p:spPr>
            <a:xfrm>
              <a:off x="6464618" y="1928812"/>
              <a:ext cx="5193982" cy="1228725"/>
            </a:xfrm>
            <a:prstGeom prst="roundRect">
              <a:avLst>
                <a:gd name="adj" fmla="val 1085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51308" y="211550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17525" y="214836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振动的两个共同特点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51308" y="244697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6986" y="24863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32104" y="245935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有一个平衡位置（平衡值），运动总在它附近进行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51308" y="274796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06986" y="27863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32104" y="275939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具有重复性，经过一段固定时间又回到同样的状态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464618" y="3327082"/>
            <a:ext cx="5193982" cy="1443038"/>
            <a:chOff x="6464618" y="3327082"/>
            <a:chExt cx="5193982" cy="1443038"/>
          </a:xfrm>
        </p:grpSpPr>
        <p:sp>
          <p:nvSpPr>
            <p:cNvPr id="55" name="Rectangle 55"/>
            <p:cNvSpPr/>
            <p:nvPr/>
          </p:nvSpPr>
          <p:spPr>
            <a:xfrm>
              <a:off x="6464618" y="3327082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346043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89408" y="351377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55625" y="354663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为什么先学简谐振动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82549" y="3858577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任何复杂的周期振动都可以分解成一系列简谐振动之和（傅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里叶分解）。把简谐振动算清楚，复杂振动就是若干个它的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叠加，这也是本章后半段讲合成的原因。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464618" y="4939665"/>
            <a:ext cx="5193982" cy="729615"/>
            <a:chOff x="6464618" y="4939665"/>
            <a:chExt cx="5193982" cy="729615"/>
          </a:xfrm>
        </p:grpSpPr>
        <p:sp>
          <p:nvSpPr>
            <p:cNvPr id="61" name="Rectangle 61"/>
            <p:cNvSpPr/>
            <p:nvPr/>
          </p:nvSpPr>
          <p:spPr>
            <a:xfrm>
              <a:off x="6464618" y="493966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69405" y="5204460"/>
              <a:ext cx="200026" cy="200025"/>
              <a:chOff x="6669405" y="5204460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69405" y="52044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09144" y="52489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43859" y="53600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2110" y="508635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下一章的机械波就是振动在介质中的传播，波函数里的每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一个质元做的正是这里的简谐振动。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8" name="Rectangle 6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8373"/>
              <a:ext cx="8591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判断“是不是振动”看有没有平衡位置和重复性；判断“是不是简谐振动”要看位移是否严格按余弦规律变化。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简谐振动的判据与方程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弹簧振子：回复力正比于位移，方向指向平衡位置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graph-1"/>
          <p:cNvGrpSpPr/>
          <p:nvPr/>
        </p:nvGrpSpPr>
        <p:grpSpPr>
          <a:xfrm>
            <a:off x="794385" y="1642586"/>
            <a:ext cx="5030337" cy="1640681"/>
            <a:chOff x="794385" y="1642586"/>
            <a:chExt cx="5030337" cy="1640681"/>
          </a:xfrm>
        </p:grpSpPr>
        <p:sp>
          <p:nvSpPr>
            <p:cNvPr id="7" name="Freeform 7"/>
            <p:cNvSpPr/>
            <p:nvPr/>
          </p:nvSpPr>
          <p:spPr>
            <a:xfrm>
              <a:off x="803910" y="1993582"/>
              <a:ext cx="9525" cy="862965"/>
            </a:xfrm>
            <a:custGeom>
              <a:avLst/>
              <a:gdLst/>
              <a:ahLst/>
              <a:cxnLst/>
              <a:rect l="l" t="t" r="r" b="b"/>
              <a:pathLst>
                <a:path w="9525" h="862965">
                  <a:moveTo>
                    <a:pt x="0" y="0"/>
                  </a:moveTo>
                  <a:lnTo>
                    <a:pt x="0" y="86296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21055" y="2217420"/>
              <a:ext cx="3265170" cy="277177"/>
            </a:xfrm>
            <a:custGeom>
              <a:avLst/>
              <a:gdLst/>
              <a:ahLst/>
              <a:cxnLst/>
              <a:rect l="l" t="t" r="r" b="b"/>
              <a:pathLst>
                <a:path w="3265170" h="277177">
                  <a:moveTo>
                    <a:pt x="0" y="129540"/>
                  </a:moveTo>
                  <a:lnTo>
                    <a:pt x="253365" y="0"/>
                  </a:lnTo>
                  <a:lnTo>
                    <a:pt x="469582" y="277177"/>
                  </a:lnTo>
                  <a:lnTo>
                    <a:pt x="685800" y="0"/>
                  </a:lnTo>
                  <a:lnTo>
                    <a:pt x="902970" y="277177"/>
                  </a:lnTo>
                  <a:lnTo>
                    <a:pt x="1119187" y="0"/>
                  </a:lnTo>
                  <a:lnTo>
                    <a:pt x="1335405" y="277177"/>
                  </a:lnTo>
                  <a:lnTo>
                    <a:pt x="1551622" y="0"/>
                  </a:lnTo>
                  <a:lnTo>
                    <a:pt x="1767840" y="277177"/>
                  </a:lnTo>
                  <a:lnTo>
                    <a:pt x="1985010" y="0"/>
                  </a:lnTo>
                  <a:lnTo>
                    <a:pt x="2201228" y="277177"/>
                  </a:lnTo>
                  <a:lnTo>
                    <a:pt x="2417445" y="0"/>
                  </a:lnTo>
                  <a:lnTo>
                    <a:pt x="2633662" y="277177"/>
                  </a:lnTo>
                  <a:lnTo>
                    <a:pt x="2849880" y="0"/>
                  </a:lnTo>
                  <a:lnTo>
                    <a:pt x="3265170" y="876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69758" y="3083242"/>
              <a:ext cx="3744277" cy="9525"/>
            </a:xfrm>
            <a:custGeom>
              <a:avLst/>
              <a:gdLst/>
              <a:ahLst/>
              <a:cxnLst/>
              <a:rect l="l" t="t" r="r" b="b"/>
              <a:pathLst>
                <a:path w="3744277" h="9525">
                  <a:moveTo>
                    <a:pt x="0" y="0"/>
                  </a:moveTo>
                  <a:lnTo>
                    <a:pt x="374427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614035" y="30356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44215" y="2771775"/>
              <a:ext cx="1057275" cy="9525"/>
            </a:xfrm>
            <a:custGeom>
              <a:avLst/>
              <a:gdLst/>
              <a:ahLst/>
              <a:cxnLst/>
              <a:rect l="l" t="t" r="r" b="b"/>
              <a:pathLst>
                <a:path w="1057275" h="9525">
                  <a:moveTo>
                    <a:pt x="10572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48965" y="27241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320540" y="2526030"/>
              <a:ext cx="9525" cy="519112"/>
            </a:xfrm>
            <a:custGeom>
              <a:avLst/>
              <a:gdLst/>
              <a:ahLst/>
              <a:cxnLst/>
              <a:rect l="l" t="t" r="r" b="b"/>
              <a:pathLst>
                <a:path w="9525" h="519112">
                  <a:moveTo>
                    <a:pt x="0" y="0"/>
                  </a:moveTo>
                  <a:lnTo>
                    <a:pt x="0" y="51911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869758" y="3083242"/>
              <a:ext cx="2317432" cy="9525"/>
            </a:xfrm>
            <a:custGeom>
              <a:avLst/>
              <a:gdLst/>
              <a:ahLst/>
              <a:cxnLst/>
              <a:rect l="l" t="t" r="r" b="b"/>
              <a:pathLst>
                <a:path w="2317432" h="9525">
                  <a:moveTo>
                    <a:pt x="0" y="0"/>
                  </a:moveTo>
                  <a:lnTo>
                    <a:pt x="231743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87190" y="30356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94385" y="19650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94385" y="28660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94385" y="23460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86225" y="2185988"/>
              <a:ext cx="469582" cy="340042"/>
            </a:xfrm>
            <a:prstGeom prst="roundRect">
              <a:avLst>
                <a:gd name="adj" fmla="val 28011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311015" y="27622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120390" y="27622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803082" y="305466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291965" y="305466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63641" y="2295049"/>
              <a:ext cx="113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38628" y="30227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658552" y="26927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88390" y="2721769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09900" y="30051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41456" y="3034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6964" y="3107055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10318" y="1642586"/>
              <a:ext cx="1538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物体在 x &gt; 0 处时回复力指向左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13"/>
              <p:cNvSpPr txBox="1">
                <a:spLocks noGrp="1"/>
              </p:cNvSpPr>
              <p:nvPr/>
            </p:nvSpPr>
            <p:spPr>
              <a:xfrm>
                <a:off x="533400" y="3421380"/>
                <a:ext cx="5410200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kx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1" name="c1-card-3"/>
          <p:cNvGrpSpPr/>
          <p:nvPr/>
        </p:nvGrpSpPr>
        <p:grpSpPr>
          <a:xfrm>
            <a:off x="533400" y="4023360"/>
            <a:ext cx="5410200" cy="1600200"/>
            <a:chOff x="533400" y="4023360"/>
            <a:chExt cx="5410200" cy="1600200"/>
          </a:xfrm>
        </p:grpSpPr>
        <p:sp>
          <p:nvSpPr>
            <p:cNvPr id="34" name="Rectangle 34"/>
            <p:cNvSpPr/>
            <p:nvPr/>
          </p:nvSpPr>
          <p:spPr>
            <a:xfrm>
              <a:off x="533400" y="4023360"/>
              <a:ext cx="5410200" cy="1600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156710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2475" y="42043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5147" y="42371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18450" y="42438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算一个具体的弹簧振子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5998" y="4561046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20 N/m 的弹簧挂 0.5 kg 的物体，ω = √(20/0.5) = 6.32 rad</a:t>
              </a:r>
            </a:p>
            <a:p>
              <a:pPr algn="l" marL="138176" indent="-138176">
                <a:lnSpc>
                  <a:spcPts val="1912"/>
                </a:lnSpc>
                <a:buClr>
                  <a:srgbClr val="1F2937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s⁻¹，T = 2π/ω ≈ 0.99 s。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7141" y="5084445"/>
              <a:ext cx="473125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换成 2 kg 的物体，ω 降到 3.16 rad·s⁻¹，周期变成 1.99 s。质量越大，振动越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慢。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843088"/>
            <a:chOff x="6248400" y="1524000"/>
            <a:chExt cx="5410200" cy="1843088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1657350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7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48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动力学判据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06830" y="17445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加速度与位移成正比且反向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0998" y="2061686"/>
              <a:ext cx="47353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在弹性限度内弹性力满足胡克定律 F = −kx，代入牛顿第二定律就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a = −(k/m)x。只要一个运动的加速度与位移成正比、方向相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反，它就是简谐振动。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2141" y="2827973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是弹簧的劲度系数，单位 N/m；负号表示力和位移反向，力总把物体拉回平衡位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置，所以叫回复力。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14"/>
              <p:cNvSpPr txBox="1">
                <a:spLocks noGrp="1"/>
              </p:cNvSpPr>
              <p:nvPr/>
            </p:nvSpPr>
            <p:spPr>
              <a:xfrm>
                <a:off x="6248400" y="3531870"/>
                <a:ext cx="5410200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9" name="c2-card-3"/>
          <p:cNvGrpSpPr/>
          <p:nvPr/>
        </p:nvGrpSpPr>
        <p:grpSpPr>
          <a:xfrm>
            <a:off x="6248400" y="4133850"/>
            <a:ext cx="5410200" cy="1489710"/>
            <a:chOff x="6248400" y="4133850"/>
            <a:chExt cx="5410200" cy="1489710"/>
          </a:xfrm>
        </p:grpSpPr>
        <p:sp>
          <p:nvSpPr>
            <p:cNvPr id="51" name="Rectangle 51"/>
            <p:cNvSpPr/>
            <p:nvPr/>
          </p:nvSpPr>
          <p:spPr>
            <a:xfrm>
              <a:off x="6248400" y="4133850"/>
              <a:ext cx="5410200" cy="1489710"/>
            </a:xfrm>
            <a:prstGeom prst="roundRect">
              <a:avLst>
                <a:gd name="adj" fmla="val 8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4267200"/>
              <a:ext cx="47625" cy="12230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7475" y="431482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6096" y="434768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77000" y="47072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2448" y="4654391"/>
              <a:ext cx="46377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x 要从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平衡位置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量起，不是从弹簧原长处量起（竖直悬挂时两者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 mg/k）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77000" y="523494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2448" y="5182076"/>
              <a:ext cx="3691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只由 k 和 m 决定，与振幅、与怎么起振都无关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97701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F = −kx 时 k 不一定是弹簧的劲度系数。单摆小角度摆动时回复力矩正比于摆角，同样得到 a = −ω²θ 的形式，其中 ω² = g/l。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简谐振动的判据与方程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微分方程的解就是简谐振动的运动方程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1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2"/>
              <p:cNvSpPr txBox="1">
                <a:spLocks noGrp="1"/>
              </p:cNvSpPr>
              <p:nvPr/>
            </p:nvSpPr>
            <p:spPr>
              <a:xfrm>
                <a:off x="533400" y="2244090"/>
                <a:ext cx="497776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3"/>
          <p:cNvGrpSpPr/>
          <p:nvPr/>
        </p:nvGrpSpPr>
        <p:grpSpPr>
          <a:xfrm>
            <a:off x="533400" y="2824162"/>
            <a:ext cx="4977765" cy="3524250"/>
            <a:chOff x="533400" y="2824162"/>
            <a:chExt cx="4977765" cy="3524250"/>
          </a:xfrm>
        </p:grpSpPr>
        <p:sp>
          <p:nvSpPr>
            <p:cNvPr id="9" name="Rectangle 9"/>
            <p:cNvSpPr/>
            <p:nvPr/>
          </p:nvSpPr>
          <p:spPr>
            <a:xfrm>
              <a:off x="533400" y="2824162"/>
              <a:ext cx="4977765" cy="3524250"/>
            </a:xfrm>
            <a:prstGeom prst="roundRect">
              <a:avLst>
                <a:gd name="adj" fmla="val 37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957512"/>
              <a:ext cx="47625" cy="3257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302228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9058" y="305657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代回去验证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3383756"/>
              <a:ext cx="410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x = A cos(ωt+φ) 求两次导得 −ω²A cos(ωt+φ)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−ω²x，代入方程左边正好为零，所以它确实是解。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524" y="3969068"/>
              <a:ext cx="4325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写成正弦 x = A sin(ωt+φ′) 也是解，两者只差 φ′ = φ + π/2。本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讲义一律用余弦形式，做题时看到正弦先化成余弦再比较相位。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5815965" y="1524000"/>
            <a:ext cx="5842635" cy="1797368"/>
            <a:chOff x="5815965" y="1524000"/>
            <a:chExt cx="5842635" cy="1797368"/>
          </a:xfrm>
        </p:grpSpPr>
        <p:sp>
          <p:nvSpPr>
            <p:cNvPr id="16" name="Rectangle 16"/>
            <p:cNvSpPr/>
            <p:nvPr/>
          </p:nvSpPr>
          <p:spPr>
            <a:xfrm>
              <a:off x="5815965" y="1524000"/>
              <a:ext cx="5842635" cy="1797368"/>
            </a:xfrm>
            <a:prstGeom prst="roundRect">
              <a:avLst>
                <a:gd name="adj" fmla="val 741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14085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73521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三个常数各由什么决定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21705" y="21431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8296" y="2082641"/>
              <a:ext cx="39863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ω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由系统本身决定（k 与 m），与初始条件无关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021705" y="246030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78296" y="2400776"/>
              <a:ext cx="41507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l-GR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φ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由初始条件（t = 0 时的位移和速度）决定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7989" y="2714625"/>
              <a:ext cx="5102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二阶微分方程的通解本来就含两个待定常数，正好由 x₀ 和 v₀ 两个初始条件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定死。</a:t>
              </a:r>
            </a:p>
          </p:txBody>
        </p:sp>
      </p:grpSp>
      <p:grpSp>
        <p:nvGrpSpPr>
          <p:cNvPr id="44" name="c2-table-2"/>
          <p:cNvGrpSpPr/>
          <p:nvPr/>
        </p:nvGrpSpPr>
        <p:grpSpPr>
          <a:xfrm>
            <a:off x="5815965" y="3501390"/>
            <a:ext cx="5842635" cy="1910715"/>
            <a:chOff x="5815965" y="3501390"/>
            <a:chExt cx="5842635" cy="1910715"/>
          </a:xfrm>
        </p:grpSpPr>
        <p:sp>
          <p:nvSpPr>
            <p:cNvPr id="25" name="Rectangle 25"/>
            <p:cNvSpPr/>
            <p:nvPr/>
          </p:nvSpPr>
          <p:spPr>
            <a:xfrm>
              <a:off x="5815965" y="3501390"/>
              <a:ext cx="5842635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90310" y="362997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21193" y="362997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80345" y="362997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18454" y="40538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运动学特征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3376" y="4053840"/>
              <a:ext cx="1232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 cos(ωt+φ)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40812" y="405384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位移按余弦规律随时间变化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43453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15965" y="435006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18454" y="44786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动力学特征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3376" y="447865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−ω²x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40812" y="447865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加速度与位移成正比且反向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47701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8454" y="50101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微分方程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3376" y="5010150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x″ + ω²x = 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40812" y="490347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三种说法完全等价，看到任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一条都可判定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3501390"/>
              <a:ext cx="5842635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96125" y="350139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433560" y="350139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llout-3"/>
          <p:cNvGrpSpPr/>
          <p:nvPr/>
        </p:nvGrpSpPr>
        <p:grpSpPr>
          <a:xfrm>
            <a:off x="5815965" y="5593080"/>
            <a:ext cx="5842635" cy="756285"/>
            <a:chOff x="5815965" y="5593080"/>
            <a:chExt cx="5842635" cy="756285"/>
          </a:xfrm>
        </p:grpSpPr>
        <p:sp>
          <p:nvSpPr>
            <p:cNvPr id="45" name="Rectangle 45"/>
            <p:cNvSpPr/>
            <p:nvPr/>
          </p:nvSpPr>
          <p:spPr>
            <a:xfrm>
              <a:off x="5815965" y="5593080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20753" y="5871210"/>
              <a:ext cx="200026" cy="200025"/>
              <a:chOff x="6020753" y="5871210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020753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060491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095207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323076" y="5740241"/>
              <a:ext cx="49016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考试里“证明某运动是简谐振动”的标准做法是列牛顿方程或力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矩方程，化成 x″ + ω²x = 0 的形式，再由 ω 写出周期。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简谐振动的判据与方程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位移、速度、加速度：相位依次超前 π/2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691794" y="1804988"/>
            <a:ext cx="4977915" cy="4276724"/>
            <a:chOff x="691794" y="1804988"/>
            <a:chExt cx="4977915" cy="4276724"/>
          </a:xfrm>
        </p:grpSpPr>
        <p:sp>
          <p:nvSpPr>
            <p:cNvPr id="7" name="Freeform 7"/>
            <p:cNvSpPr/>
            <p:nvPr/>
          </p:nvSpPr>
          <p:spPr>
            <a:xfrm>
              <a:off x="1071562" y="234696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453062" y="22993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71562" y="39433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53062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1562" y="553974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453062" y="54921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279208" y="1814512"/>
              <a:ext cx="4221480" cy="1063942"/>
            </a:xfrm>
            <a:custGeom>
              <a:avLst/>
              <a:gdLst/>
              <a:ahLst/>
              <a:cxnLst/>
              <a:rect l="l" t="t" r="r" b="b"/>
              <a:pathLst>
                <a:path w="4221480" h="1063942">
                  <a:moveTo>
                    <a:pt x="0" y="2858"/>
                  </a:moveTo>
                  <a:lnTo>
                    <a:pt x="100965" y="19050"/>
                  </a:lnTo>
                  <a:lnTo>
                    <a:pt x="220027" y="72390"/>
                  </a:lnTo>
                  <a:lnTo>
                    <a:pt x="334327" y="154305"/>
                  </a:lnTo>
                  <a:lnTo>
                    <a:pt x="454342" y="265748"/>
                  </a:lnTo>
                  <a:lnTo>
                    <a:pt x="573405" y="396240"/>
                  </a:lnTo>
                  <a:lnTo>
                    <a:pt x="692467" y="532448"/>
                  </a:lnTo>
                  <a:lnTo>
                    <a:pt x="806767" y="667703"/>
                  </a:lnTo>
                  <a:lnTo>
                    <a:pt x="926782" y="798195"/>
                  </a:lnTo>
                  <a:lnTo>
                    <a:pt x="1045845" y="909638"/>
                  </a:lnTo>
                  <a:lnTo>
                    <a:pt x="1165860" y="991553"/>
                  </a:lnTo>
                  <a:lnTo>
                    <a:pt x="1284922" y="1044892"/>
                  </a:lnTo>
                  <a:lnTo>
                    <a:pt x="1399222" y="1063942"/>
                  </a:lnTo>
                  <a:lnTo>
                    <a:pt x="1518285" y="1044892"/>
                  </a:lnTo>
                  <a:lnTo>
                    <a:pt x="1638300" y="991553"/>
                  </a:lnTo>
                  <a:lnTo>
                    <a:pt x="1757362" y="909638"/>
                  </a:lnTo>
                  <a:lnTo>
                    <a:pt x="1871662" y="798195"/>
                  </a:lnTo>
                  <a:lnTo>
                    <a:pt x="1991677" y="667703"/>
                  </a:lnTo>
                  <a:lnTo>
                    <a:pt x="2110740" y="532448"/>
                  </a:lnTo>
                  <a:lnTo>
                    <a:pt x="2229802" y="396240"/>
                  </a:lnTo>
                  <a:lnTo>
                    <a:pt x="2349818" y="265748"/>
                  </a:lnTo>
                  <a:lnTo>
                    <a:pt x="2464118" y="154305"/>
                  </a:lnTo>
                  <a:lnTo>
                    <a:pt x="2583180" y="72390"/>
                  </a:lnTo>
                  <a:lnTo>
                    <a:pt x="2703195" y="19050"/>
                  </a:lnTo>
                  <a:lnTo>
                    <a:pt x="2822258" y="0"/>
                  </a:lnTo>
                  <a:lnTo>
                    <a:pt x="2936558" y="19050"/>
                  </a:lnTo>
                  <a:lnTo>
                    <a:pt x="3055620" y="72390"/>
                  </a:lnTo>
                  <a:lnTo>
                    <a:pt x="3175635" y="154305"/>
                  </a:lnTo>
                  <a:lnTo>
                    <a:pt x="3294698" y="265748"/>
                  </a:lnTo>
                  <a:lnTo>
                    <a:pt x="3414712" y="396240"/>
                  </a:lnTo>
                  <a:lnTo>
                    <a:pt x="3529012" y="532448"/>
                  </a:lnTo>
                  <a:lnTo>
                    <a:pt x="3648075" y="667703"/>
                  </a:lnTo>
                  <a:lnTo>
                    <a:pt x="3767137" y="798195"/>
                  </a:lnTo>
                  <a:lnTo>
                    <a:pt x="3887152" y="909638"/>
                  </a:lnTo>
                  <a:lnTo>
                    <a:pt x="4001452" y="991553"/>
                  </a:lnTo>
                  <a:lnTo>
                    <a:pt x="4120515" y="1044892"/>
                  </a:lnTo>
                  <a:lnTo>
                    <a:pt x="4221480" y="106108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73492" y="3410902"/>
              <a:ext cx="4232910" cy="1064895"/>
            </a:xfrm>
            <a:custGeom>
              <a:avLst/>
              <a:gdLst/>
              <a:ahLst/>
              <a:cxnLst/>
              <a:rect l="l" t="t" r="r" b="b"/>
              <a:pathLst>
                <a:path w="4232910" h="1064895">
                  <a:moveTo>
                    <a:pt x="0" y="546735"/>
                  </a:moveTo>
                  <a:lnTo>
                    <a:pt x="106680" y="667702"/>
                  </a:lnTo>
                  <a:lnTo>
                    <a:pt x="225743" y="798195"/>
                  </a:lnTo>
                  <a:lnTo>
                    <a:pt x="340043" y="909638"/>
                  </a:lnTo>
                  <a:lnTo>
                    <a:pt x="460058" y="992505"/>
                  </a:lnTo>
                  <a:lnTo>
                    <a:pt x="579120" y="1044892"/>
                  </a:lnTo>
                  <a:lnTo>
                    <a:pt x="698183" y="1064895"/>
                  </a:lnTo>
                  <a:lnTo>
                    <a:pt x="812483" y="1044892"/>
                  </a:lnTo>
                  <a:lnTo>
                    <a:pt x="932498" y="992505"/>
                  </a:lnTo>
                  <a:lnTo>
                    <a:pt x="1051560" y="909638"/>
                  </a:lnTo>
                  <a:lnTo>
                    <a:pt x="1171575" y="798195"/>
                  </a:lnTo>
                  <a:lnTo>
                    <a:pt x="1290638" y="667702"/>
                  </a:lnTo>
                  <a:lnTo>
                    <a:pt x="1404938" y="532447"/>
                  </a:lnTo>
                  <a:lnTo>
                    <a:pt x="1524000" y="397192"/>
                  </a:lnTo>
                  <a:lnTo>
                    <a:pt x="1644015" y="266700"/>
                  </a:lnTo>
                  <a:lnTo>
                    <a:pt x="1763078" y="155257"/>
                  </a:lnTo>
                  <a:lnTo>
                    <a:pt x="1877378" y="72390"/>
                  </a:lnTo>
                  <a:lnTo>
                    <a:pt x="1997392" y="20002"/>
                  </a:lnTo>
                  <a:lnTo>
                    <a:pt x="2116455" y="0"/>
                  </a:lnTo>
                  <a:lnTo>
                    <a:pt x="2235518" y="20002"/>
                  </a:lnTo>
                  <a:lnTo>
                    <a:pt x="2355532" y="72390"/>
                  </a:lnTo>
                  <a:lnTo>
                    <a:pt x="2469832" y="155257"/>
                  </a:lnTo>
                  <a:lnTo>
                    <a:pt x="2588895" y="266700"/>
                  </a:lnTo>
                  <a:lnTo>
                    <a:pt x="2708910" y="397192"/>
                  </a:lnTo>
                  <a:lnTo>
                    <a:pt x="2827973" y="532447"/>
                  </a:lnTo>
                  <a:lnTo>
                    <a:pt x="2942273" y="667702"/>
                  </a:lnTo>
                  <a:lnTo>
                    <a:pt x="3061335" y="798195"/>
                  </a:lnTo>
                  <a:lnTo>
                    <a:pt x="3181350" y="909638"/>
                  </a:lnTo>
                  <a:lnTo>
                    <a:pt x="3300412" y="992505"/>
                  </a:lnTo>
                  <a:lnTo>
                    <a:pt x="3420428" y="1044892"/>
                  </a:lnTo>
                  <a:lnTo>
                    <a:pt x="3534728" y="1064895"/>
                  </a:lnTo>
                  <a:lnTo>
                    <a:pt x="3653790" y="1044892"/>
                  </a:lnTo>
                  <a:lnTo>
                    <a:pt x="3772852" y="992505"/>
                  </a:lnTo>
                  <a:lnTo>
                    <a:pt x="3892868" y="909638"/>
                  </a:lnTo>
                  <a:lnTo>
                    <a:pt x="4007168" y="798195"/>
                  </a:lnTo>
                  <a:lnTo>
                    <a:pt x="4126230" y="667702"/>
                  </a:lnTo>
                  <a:lnTo>
                    <a:pt x="4232910" y="54673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79208" y="5008245"/>
              <a:ext cx="4221480" cy="1063943"/>
            </a:xfrm>
            <a:custGeom>
              <a:avLst/>
              <a:gdLst/>
              <a:ahLst/>
              <a:cxnLst/>
              <a:rect l="l" t="t" r="r" b="b"/>
              <a:pathLst>
                <a:path w="4221480" h="1063943">
                  <a:moveTo>
                    <a:pt x="0" y="1061085"/>
                  </a:moveTo>
                  <a:lnTo>
                    <a:pt x="100965" y="1044893"/>
                  </a:lnTo>
                  <a:lnTo>
                    <a:pt x="220027" y="991553"/>
                  </a:lnTo>
                  <a:lnTo>
                    <a:pt x="334327" y="909638"/>
                  </a:lnTo>
                  <a:lnTo>
                    <a:pt x="454342" y="798195"/>
                  </a:lnTo>
                  <a:lnTo>
                    <a:pt x="573405" y="667703"/>
                  </a:lnTo>
                  <a:lnTo>
                    <a:pt x="692467" y="531495"/>
                  </a:lnTo>
                  <a:lnTo>
                    <a:pt x="806767" y="396240"/>
                  </a:lnTo>
                  <a:lnTo>
                    <a:pt x="926782" y="265748"/>
                  </a:lnTo>
                  <a:lnTo>
                    <a:pt x="1045845" y="154305"/>
                  </a:lnTo>
                  <a:lnTo>
                    <a:pt x="1165860" y="72390"/>
                  </a:lnTo>
                  <a:lnTo>
                    <a:pt x="1284922" y="19050"/>
                  </a:lnTo>
                  <a:lnTo>
                    <a:pt x="1399222" y="0"/>
                  </a:lnTo>
                  <a:lnTo>
                    <a:pt x="1518285" y="19050"/>
                  </a:lnTo>
                  <a:lnTo>
                    <a:pt x="1638300" y="72390"/>
                  </a:lnTo>
                  <a:lnTo>
                    <a:pt x="1757362" y="154305"/>
                  </a:lnTo>
                  <a:lnTo>
                    <a:pt x="1871662" y="265748"/>
                  </a:lnTo>
                  <a:lnTo>
                    <a:pt x="1991677" y="396240"/>
                  </a:lnTo>
                  <a:lnTo>
                    <a:pt x="2110740" y="531495"/>
                  </a:lnTo>
                  <a:lnTo>
                    <a:pt x="2229802" y="667703"/>
                  </a:lnTo>
                  <a:lnTo>
                    <a:pt x="2349818" y="798195"/>
                  </a:lnTo>
                  <a:lnTo>
                    <a:pt x="2464118" y="909638"/>
                  </a:lnTo>
                  <a:lnTo>
                    <a:pt x="2583180" y="991553"/>
                  </a:lnTo>
                  <a:lnTo>
                    <a:pt x="2703195" y="1044893"/>
                  </a:lnTo>
                  <a:lnTo>
                    <a:pt x="2822258" y="1063943"/>
                  </a:lnTo>
                  <a:lnTo>
                    <a:pt x="2936558" y="1044893"/>
                  </a:lnTo>
                  <a:lnTo>
                    <a:pt x="3055620" y="991553"/>
                  </a:lnTo>
                  <a:lnTo>
                    <a:pt x="3175635" y="909638"/>
                  </a:lnTo>
                  <a:lnTo>
                    <a:pt x="3294698" y="798195"/>
                  </a:lnTo>
                  <a:lnTo>
                    <a:pt x="3414712" y="667703"/>
                  </a:lnTo>
                  <a:lnTo>
                    <a:pt x="3529012" y="531495"/>
                  </a:lnTo>
                  <a:lnTo>
                    <a:pt x="3648075" y="396240"/>
                  </a:lnTo>
                  <a:lnTo>
                    <a:pt x="3767137" y="265748"/>
                  </a:lnTo>
                  <a:lnTo>
                    <a:pt x="3887152" y="154305"/>
                  </a:lnTo>
                  <a:lnTo>
                    <a:pt x="4001452" y="72390"/>
                  </a:lnTo>
                  <a:lnTo>
                    <a:pt x="4120515" y="19050"/>
                  </a:lnTo>
                  <a:lnTo>
                    <a:pt x="4221480" y="2858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42988" y="23374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42988" y="39338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42988" y="55302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250632" y="18049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10212" y="28689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250632" y="39338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10212" y="39338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250632" y="6062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10212" y="49987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77411" y="22812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77411" y="38776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77411" y="5474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1794" y="2225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179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1794" y="54182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31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32"/>
              <p:cNvSpPr txBox="1">
                <a:spLocks noGrp="1"/>
              </p:cNvSpPr>
              <p:nvPr/>
            </p:nvSpPr>
            <p:spPr>
              <a:xfrm>
                <a:off x="6032182" y="2059305"/>
                <a:ext cx="5626418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dv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64" name="c2-table-3"/>
          <p:cNvGrpSpPr/>
          <p:nvPr/>
        </p:nvGrpSpPr>
        <p:grpSpPr>
          <a:xfrm>
            <a:off x="6032182" y="2594610"/>
            <a:ext cx="5626418" cy="1823085"/>
            <a:chOff x="6032182" y="2594610"/>
            <a:chExt cx="5626418" cy="1823085"/>
          </a:xfrm>
        </p:grpSpPr>
        <p:sp>
          <p:nvSpPr>
            <p:cNvPr id="34" name="Rectangle 34"/>
            <p:cNvSpPr/>
            <p:nvPr/>
          </p:nvSpPr>
          <p:spPr>
            <a:xfrm>
              <a:off x="6032182" y="2594610"/>
              <a:ext cx="562641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4463" y="271891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26338" y="27189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振幅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62087" y="271891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相位相对位移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03346" y="27189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位移最大时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10012" y="271891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过平衡位置时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01793" y="312467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 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33303" y="312467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72947" y="31246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92663" y="312467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20872" y="31246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34013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32182" y="340614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01793" y="353044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 v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91840" y="3530441"/>
              <a:ext cx="181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6631" y="3530441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超前 π/2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38820" y="35304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60786" y="35304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大小最大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3807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06490" y="3936206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加速度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49203" y="4036219"/>
              <a:ext cx="267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ω²A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954328" y="3821430"/>
              <a:ext cx="1331595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98008" y="4036219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超前 π（反相）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78734" y="40362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大小最大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20872" y="40362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32182" y="2594610"/>
              <a:ext cx="5626418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15138" y="259461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940040" y="259461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290685" y="259461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471785" y="259461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rd-4"/>
          <p:cNvGrpSpPr/>
          <p:nvPr/>
        </p:nvGrpSpPr>
        <p:grpSpPr>
          <a:xfrm>
            <a:off x="6032182" y="4592002"/>
            <a:ext cx="5626418" cy="1466850"/>
            <a:chOff x="6032182" y="4592002"/>
            <a:chExt cx="5626418" cy="1466850"/>
          </a:xfrm>
        </p:grpSpPr>
        <p:sp>
          <p:nvSpPr>
            <p:cNvPr id="65" name="Rectangle 65"/>
            <p:cNvSpPr/>
            <p:nvPr/>
          </p:nvSpPr>
          <p:spPr>
            <a:xfrm>
              <a:off x="6032182" y="4592002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24588" y="478440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00026" y="481869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记住这组对应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17730" y="5141595"/>
              <a:ext cx="50029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端点处速度为零、加速度最大且指向平衡位置；平衡位置处速度最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大、加速度为零。选择题里问“速度和加速度都最大”的位置，答案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永远是 </a:t>
              </a:r>
              <a:r>
                <a:rPr lang="zh-CN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不存在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简谐振动的判据与方程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竖直悬挂的弹簧振子仍是简谐振动，只是平衡位置下移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830193" cy="264033"/>
            <a:chOff x="526542" y="1545907"/>
            <a:chExt cx="383019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这一页是原课件没有、作业里却反复考的情形。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5432293" cy="2149411"/>
            <a:chOff x="533400" y="1938338"/>
            <a:chExt cx="5432293" cy="214941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先定平衡位置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4682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静止悬挂时弹簧伸长 x₀，由 mg = kx₀ 得 x₀ = mg/k，这一点就是新的原点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从平衡位置量位移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5018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物体在平衡位置下方 x 处，弹簧总伸长为 x₀ + x，合力 F = mg − k(x₀+x) = −kx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4682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重力被弹簧的静伸长抵消掉了，方程仍是 a = −(k/m)x，运动仍是简谐振动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顺手得到一个常用式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4590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√(k/m) = √(g/x₀)，量一下静伸长就能算出角频率，不必知道 k 和 m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249102"/>
            <a:ext cx="5626418" cy="1143952"/>
            <a:chOff x="533400" y="4249102"/>
            <a:chExt cx="5626418" cy="1143952"/>
          </a:xfrm>
        </p:grpSpPr>
        <p:sp>
          <p:nvSpPr>
            <p:cNvPr id="27" name="Rectangle 27"/>
            <p:cNvSpPr/>
            <p:nvPr/>
          </p:nvSpPr>
          <p:spPr>
            <a:xfrm>
              <a:off x="533400" y="424910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8245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43007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044" y="44629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数值检验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770596"/>
              <a:ext cx="4914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静伸长 x₀ = 9.8 cm 时，ω = √(9.8/0.098) = 10 rad/s，T = 2π/10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0.628 s。换成 k 与 m 算也是同一结果，因为 k/m = g/x₀。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928812"/>
            <a:ext cx="5193982" cy="1717358"/>
            <a:chOff x="6464618" y="1928812"/>
            <a:chExt cx="5193982" cy="1717358"/>
          </a:xfrm>
        </p:grpSpPr>
        <p:sp>
          <p:nvSpPr>
            <p:cNvPr id="33" name="Rectangle 33"/>
            <p:cNvSpPr/>
            <p:nvPr/>
          </p:nvSpPr>
          <p:spPr>
            <a:xfrm>
              <a:off x="6464618" y="1928812"/>
              <a:ext cx="5193982" cy="1717358"/>
            </a:xfrm>
            <a:prstGeom prst="roundRect">
              <a:avLst>
                <a:gd name="adj" fmla="val 776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45592" y="210978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9913" y="2142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三条等价的判据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45592" y="243840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97499" y="24740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16293" y="2449354"/>
              <a:ext cx="2774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受力（或合力矩）满足 F = −kx 形式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45592" y="272319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97499" y="27588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16293" y="2735104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加速度满足 a = −ω²x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45592" y="300894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97499" y="30436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16293" y="3019901"/>
              <a:ext cx="205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位移满足 x = A cos(ωt+φ)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40259" y="3301365"/>
              <a:ext cx="3424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三条中证出任意一条即可，考试中最省事的是第 1 条。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3810952"/>
            <a:ext cx="5193982" cy="1583055"/>
            <a:chOff x="6464618" y="3810952"/>
            <a:chExt cx="5193982" cy="1583055"/>
          </a:xfrm>
        </p:grpSpPr>
        <p:sp>
          <p:nvSpPr>
            <p:cNvPr id="47" name="Rectangle 47"/>
            <p:cNvSpPr/>
            <p:nvPr/>
          </p:nvSpPr>
          <p:spPr>
            <a:xfrm>
              <a:off x="6464618" y="3810952"/>
              <a:ext cx="5193982" cy="1583055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3944302"/>
              <a:ext cx="47625" cy="13163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83692" y="399192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46812" y="402478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判断时最常见的三个坑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93218" y="43843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48666" y="433149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位移没有从平衡位置量起，导致方程里多出一个常数项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93218" y="46691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48666" y="461724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回复力里漏掉某个力，比如竖直方向漏掉重力先抵消这一步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93218" y="495395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48666" y="490204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角度较大的单摆，sin θ 不能近似成 θ，此时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简谐振动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8" name="Rectangle 5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7171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只要能把运动方程化成 x″ + ω²x = 0，周期就是 T = 2π/ω，剩下的 A 和 φ 全部交给初始条件。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46605" cy="3351847"/>
            <a:chOff x="667512" y="1835468"/>
            <a:chExt cx="514660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描述简谐振动的特征量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366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2.1.2，五个量一次说清楚，重点在相位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振幅与三个振幅的关系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周期、频率、角频率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相位与初相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相位差与时间差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描述简谐振动的特征量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振幅、周期、频率：后两个只由系统决定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625918"/>
            <a:chOff x="533400" y="1524000"/>
            <a:chExt cx="5410200" cy="16259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5918"/>
            </a:xfrm>
            <a:prstGeom prst="roundRect">
              <a:avLst>
                <a:gd name="adj" fmla="val 82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921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振幅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30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振动物体离开平衡位置的最大距离，记作 A，恒为正。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3822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330291"/>
              <a:ext cx="3346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位移振幅 A，速度振幅 ωA，加速度振幅 ω²A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141" y="2611755"/>
              <a:ext cx="471792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三者只差 ω 的幂次，知道其中任意一个和 ω 就能推出另外两个，作业里经常这样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出题。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39"/>
              <p:cNvSpPr txBox="1">
                <a:spLocks noGrp="1"/>
              </p:cNvSpPr>
              <p:nvPr/>
            </p:nvSpPr>
            <p:spPr>
              <a:xfrm>
                <a:off x="533400" y="3314700"/>
                <a:ext cx="5410200" cy="334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2π</m:t>
                      </m:r>
                      <m:rad>
                        <m:radPr>
                          <m:degHide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ν</m:t>
                      </m:r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3"/>
          <p:cNvGrpSpPr/>
          <p:nvPr/>
        </p:nvGrpSpPr>
        <p:grpSpPr>
          <a:xfrm>
            <a:off x="533400" y="3813810"/>
            <a:ext cx="5410200" cy="1853565"/>
            <a:chOff x="533400" y="3813810"/>
            <a:chExt cx="5410200" cy="1853565"/>
          </a:xfrm>
        </p:grpSpPr>
        <p:sp>
          <p:nvSpPr>
            <p:cNvPr id="17" name="Rectangle 17"/>
            <p:cNvSpPr/>
            <p:nvPr/>
          </p:nvSpPr>
          <p:spPr>
            <a:xfrm>
              <a:off x="533400" y="3813810"/>
              <a:ext cx="5410200" cy="1853565"/>
            </a:xfrm>
            <a:prstGeom prst="roundRect">
              <a:avLst>
                <a:gd name="adj" fmla="val 71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947160"/>
              <a:ext cx="47625" cy="15868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399478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693" y="402764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周期公式是怎么来的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4334351"/>
              <a:ext cx="46702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 A cos(ωt+φ) = A cos[ω(t+T)+φ]，余弦的周期是 2π，所以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ωT = 2π，直接得到 T = 2π/ω。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524000"/>
            <a:ext cx="5410200" cy="1525905"/>
            <a:chOff x="6248400" y="1524000"/>
            <a:chExt cx="5410200" cy="152590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29628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38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92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73693" y="1641157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ω 的关系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3079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04149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4172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60901" y="2023110"/>
              <a:ext cx="572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2π/ω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3079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0634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17956" y="2404110"/>
              <a:ext cx="7359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Hz（赫兹）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66102" y="2404110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 = ω/2π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3079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角频率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0634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08500" y="278511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rad·s⁻¹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04973" y="278511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2πν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58112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73252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30778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2"/>
          <p:cNvGrpSpPr/>
          <p:nvPr/>
        </p:nvGrpSpPr>
        <p:grpSpPr>
          <a:xfrm>
            <a:off x="6248400" y="3214688"/>
            <a:ext cx="5410200" cy="1143952"/>
            <a:chOff x="6248400" y="3214688"/>
            <a:chExt cx="5410200" cy="1143952"/>
          </a:xfrm>
        </p:grpSpPr>
        <p:sp>
          <p:nvSpPr>
            <p:cNvPr id="48" name="Rectangle 48"/>
            <p:cNvSpPr/>
            <p:nvPr/>
          </p:nvSpPr>
          <p:spPr>
            <a:xfrm>
              <a:off x="6248400" y="3214688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29375" y="339566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95593" y="34285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固有周期与固有频率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2898" y="3735229"/>
              <a:ext cx="4710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和 ν 只与系统自身的性质（k 与 m）有关，与振幅和初始条件都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无关，所以又叫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固有周期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固有频率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8" name="c2-card-3"/>
          <p:cNvGrpSpPr/>
          <p:nvPr/>
        </p:nvGrpSpPr>
        <p:grpSpPr>
          <a:xfrm>
            <a:off x="6248400" y="4523422"/>
            <a:ext cx="5410200" cy="1143952"/>
            <a:chOff x="6248400" y="4523422"/>
            <a:chExt cx="5410200" cy="1143952"/>
          </a:xfrm>
        </p:grpSpPr>
        <p:sp>
          <p:nvSpPr>
            <p:cNvPr id="53" name="Rectangle 53"/>
            <p:cNvSpPr/>
            <p:nvPr/>
          </p:nvSpPr>
          <p:spPr>
            <a:xfrm>
              <a:off x="6248400" y="4523422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65677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7475" y="470439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40843" y="473725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最容易混的一步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0998" y="5043964"/>
              <a:ext cx="48247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 与 ω 差一个 2π。题目给“每秒振动 5 次”是 ν = 5 Hz，代公式前要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ω = 10π rad/s，把 5 直接当 ω 会错 2π 倍。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88354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每秒完成全振动的次数是频率；转过的相位角是角频率。一个数的是“次”，一个数的是“弧度”，单位不同不能混用。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3917" cy="909257"/>
            <a:chOff x="520446" y="342900"/>
            <a:chExt cx="67439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描述简谐振动的特征量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39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相位确定运动状态，初相由 x₀ 和 v₀ 一起定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1675448"/>
            <a:chOff x="533400" y="1524000"/>
            <a:chExt cx="4977765" cy="16754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相位与初相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4102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ωt + φ 叫做相位，单位是 rad。它一确定，位移和速度的方向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就都确定了，所以说相位确定了振动物体的运动状态。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7317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φ 是 t = 0 时的相位，叫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初相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，决定初始时刻的状态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141" y="2854643"/>
              <a:ext cx="39260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相位每增加 2π 状态重复一次，这正是振动周期性的数学表达。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52"/>
              <p:cNvSpPr txBox="1">
                <a:spLocks noGrp="1"/>
              </p:cNvSpPr>
              <p:nvPr/>
            </p:nvSpPr>
            <p:spPr>
              <a:xfrm>
                <a:off x="533400" y="3364230"/>
                <a:ext cx="497776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53"/>
              <p:cNvSpPr txBox="1">
                <a:spLocks noGrp="1"/>
              </p:cNvSpPr>
              <p:nvPr/>
            </p:nvSpPr>
            <p:spPr>
              <a:xfrm>
                <a:off x="533400" y="3833812"/>
                <a:ext cx="497776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3" name="c2-card-1"/>
          <p:cNvGrpSpPr/>
          <p:nvPr/>
        </p:nvGrpSpPr>
        <p:grpSpPr>
          <a:xfrm>
            <a:off x="5815965" y="1524000"/>
            <a:ext cx="5842635" cy="1143952"/>
            <a:chOff x="5815965" y="1524000"/>
            <a:chExt cx="5842635" cy="1143952"/>
          </a:xfrm>
        </p:grpSpPr>
        <p:sp>
          <p:nvSpPr>
            <p:cNvPr id="18" name="Rectangle 18"/>
            <p:cNvSpPr/>
            <p:nvPr/>
          </p:nvSpPr>
          <p:spPr>
            <a:xfrm>
              <a:off x="5815965" y="152400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825490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35040" y="1704975"/>
              <a:ext cx="161067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92527" y="1737836"/>
              <a:ext cx="14947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只用 tan φ 会漏掉一个解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8563" y="2045494"/>
              <a:ext cx="5084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tan φ 有两个相差 π 的解，要用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速度的正负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定象限：v₀ &lt; 0 对应 sin 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0，v₀ &gt; 0 对应 sin φ &lt; 0。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5815965" y="2832735"/>
            <a:ext cx="5842635" cy="1906905"/>
            <a:chOff x="5815965" y="2832735"/>
            <a:chExt cx="5842635" cy="1906905"/>
          </a:xfrm>
        </p:grpSpPr>
        <p:sp>
          <p:nvSpPr>
            <p:cNvPr id="24" name="Rectangle 24"/>
            <p:cNvSpPr/>
            <p:nvPr/>
          </p:nvSpPr>
          <p:spPr>
            <a:xfrm>
              <a:off x="5815965" y="2832735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90964" y="2949893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的符号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84422" y="2949893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v₀ 的符号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78748" y="2949893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 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32655" y="2949893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 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14029" y="2949893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 所在象限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66068" y="33318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61469" y="3331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5399" y="3331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60754" y="3331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28317" y="3331845"/>
              <a:ext cx="1473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第四象限（−π/2 到 0）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35909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359568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66068" y="37128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61469" y="3712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5399" y="3712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60754" y="3712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681210" y="3605212"/>
              <a:ext cx="196786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67189" y="3712845"/>
              <a:ext cx="1395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第一象限（0 到 π/2）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9719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66068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61469" y="4094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5399" y="4094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0754" y="4094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67189" y="4094798"/>
              <a:ext cx="1395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第二象限（π/2 到 π）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43538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5965" y="435864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66068" y="4475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61469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25399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60754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89446" y="4475798"/>
              <a:ext cx="155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第三象限（−π 到 −π/2）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2832735"/>
              <a:ext cx="584263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03708" y="283273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97165" y="283273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732520" y="283273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666922" y="283273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3"/>
          <p:cNvGrpSpPr/>
          <p:nvPr/>
        </p:nvGrpSpPr>
        <p:grpSpPr>
          <a:xfrm>
            <a:off x="5815965" y="4904422"/>
            <a:ext cx="5842635" cy="702945"/>
            <a:chOff x="5815965" y="4904422"/>
            <a:chExt cx="5842635" cy="702945"/>
          </a:xfrm>
        </p:grpSpPr>
        <p:sp>
          <p:nvSpPr>
            <p:cNvPr id="62" name="Rectangle 62"/>
            <p:cNvSpPr/>
            <p:nvPr/>
          </p:nvSpPr>
          <p:spPr>
            <a:xfrm>
              <a:off x="5815965" y="4904422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020753" y="5155883"/>
              <a:ext cx="200026" cy="200025"/>
              <a:chOff x="6020753" y="5155883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020753" y="51558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60491" y="52003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095207" y="53114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323838" y="504967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初相一般取在 −π 到 π 之间。把 4π/3 写成 −2π/3 是同一个相位，对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答案时先化到同一区间再比较。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9082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由初始条件求方程的固定套路：先由系统求 ω，再由 A = √(x₀²+v₀²/ω²) 求振幅，最后用 x₀ 定 cos φ、用 v₀ 定象限。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7991" cy="909257"/>
            <a:chOff x="520446" y="342900"/>
            <a:chExt cx="58779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描述简谐振动的特征量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79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例2.1 由初位移和初速度求振幅与初相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428750"/>
            <a:chOff x="533400" y="1524000"/>
            <a:chExt cx="476059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036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物体沿 x 轴做简谐振动，x = A cos(ωt+φ)，ω = 10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rad·s⁻¹；t = 0 时 x₀ = 1 m，v₀ = −10√3 m·s⁻¹。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16266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振幅 A 和初相 φ。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17532"/>
            <a:ext cx="4760595" cy="1957388"/>
            <a:chOff x="533400" y="3117532"/>
            <a:chExt cx="4760595" cy="1957388"/>
          </a:xfrm>
        </p:grpSpPr>
        <p:sp>
          <p:nvSpPr>
            <p:cNvPr id="14" name="Rectangle 14"/>
            <p:cNvSpPr/>
            <p:nvPr/>
          </p:nvSpPr>
          <p:spPr>
            <a:xfrm>
              <a:off x="533400" y="3117532"/>
              <a:ext cx="4760595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50882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2985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3313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6918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639026"/>
              <a:ext cx="4053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量纲：√(m² + (m·s⁻¹)²/(s⁻¹)²) = m，与位移一致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397668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3923824"/>
              <a:ext cx="384937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代回去 x₀ = 2cos(π/3) = 1 m，v₀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−2×10×sin(π/3) = −10√3 m·s⁻¹，两个初始条件都对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7472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4694396"/>
              <a:ext cx="405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|x₀| = 1 m 小于 A = 2 m，位移不可能超过振幅，合理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598795" y="1533525"/>
            <a:ext cx="5006454" cy="2149412"/>
            <a:chOff x="5598795" y="1533525"/>
            <a:chExt cx="5006454" cy="2149412"/>
          </a:xfrm>
        </p:grpSpPr>
        <p:sp>
          <p:nvSpPr>
            <p:cNvPr id="25" name="Rectangle 25"/>
            <p:cNvSpPr/>
            <p:nvPr/>
          </p:nvSpPr>
          <p:spPr>
            <a:xfrm>
              <a:off x="573214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41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求振幅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561" y="1818322"/>
              <a:ext cx="3348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√(x₀² + v₀²/ω²) = √(1² + 300/100) = √4 = 2 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418" y="2116931"/>
              <a:ext cx="691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tan 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2561" y="2371725"/>
              <a:ext cx="4180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tan φ = −v₀/(ω x₀) = 10√3/(10×1) = √3，得 φ = π/3 或 φ = 4π/3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418" y="26703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用速度定象限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561" y="2925128"/>
              <a:ext cx="4592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 = −ωA sin φ &lt; 0，要求 sin φ &gt; 0；π/3 处 sin φ &gt; 0，4π/3 处 sin φ &lt; 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418" y="32227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2561" y="347757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舍去 4π/3，得 φ = π/3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5598795" y="3844290"/>
            <a:ext cx="6059805" cy="1230630"/>
            <a:chOff x="5598795" y="3844290"/>
            <a:chExt cx="6059805" cy="1230630"/>
          </a:xfrm>
        </p:grpSpPr>
        <p:sp>
          <p:nvSpPr>
            <p:cNvPr id="43" name="Rectangle 43"/>
            <p:cNvSpPr/>
            <p:nvPr/>
          </p:nvSpPr>
          <p:spPr>
            <a:xfrm>
              <a:off x="5598795" y="3844290"/>
              <a:ext cx="6059805" cy="1230630"/>
            </a:xfrm>
            <a:prstGeom prst="roundRect">
              <a:avLst>
                <a:gd name="adj" fmla="val 1083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79770" y="402526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76493" y="40581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73293" y="4365784"/>
              <a:ext cx="5036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振幅 A = 2 m，初相 φ = π/3，振动方程 x = 2cos(10t + π/3) m。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48" name="Rectangle 48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5805011"/>
              <a:ext cx="9823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v₀ 改成 +10√3 m·s⁻¹，同样 tan φ = −√3，两个候选解变成 −π/3 与 2π/3，这次要求 sin φ &lt; 0，取 φ = −π/3。可见速度的符号才是定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象限的那一步。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描述简谐振动的特征量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同频率时，相位差就等于初相之差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graph-1"/>
          <p:cNvGrpSpPr/>
          <p:nvPr/>
        </p:nvGrpSpPr>
        <p:grpSpPr>
          <a:xfrm>
            <a:off x="861060" y="1661636"/>
            <a:ext cx="5285607" cy="2175986"/>
            <a:chOff x="861060" y="1661636"/>
            <a:chExt cx="5285607" cy="2175986"/>
          </a:xfrm>
        </p:grpSpPr>
        <p:sp>
          <p:nvSpPr>
            <p:cNvPr id="7" name="Freeform 7"/>
            <p:cNvSpPr/>
            <p:nvPr/>
          </p:nvSpPr>
          <p:spPr>
            <a:xfrm>
              <a:off x="889635" y="2738438"/>
              <a:ext cx="5046345" cy="9525"/>
            </a:xfrm>
            <a:custGeom>
              <a:avLst/>
              <a:gdLst/>
              <a:ahLst/>
              <a:cxnLst/>
              <a:rect l="l" t="t" r="r" b="b"/>
              <a:pathLst>
                <a:path w="5046345" h="9525">
                  <a:moveTo>
                    <a:pt x="0" y="0"/>
                  </a:moveTo>
                  <a:lnTo>
                    <a:pt x="50463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935980" y="2690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02030" y="2009775"/>
              <a:ext cx="4917758" cy="1452562"/>
            </a:xfrm>
            <a:custGeom>
              <a:avLst/>
              <a:gdLst/>
              <a:ahLst/>
              <a:cxnLst/>
              <a:rect l="l" t="t" r="r" b="b"/>
              <a:pathLst>
                <a:path w="4917758" h="1452562">
                  <a:moveTo>
                    <a:pt x="0" y="2858"/>
                  </a:moveTo>
                  <a:lnTo>
                    <a:pt x="105727" y="21908"/>
                  </a:lnTo>
                  <a:lnTo>
                    <a:pt x="228600" y="89535"/>
                  </a:lnTo>
                  <a:lnTo>
                    <a:pt x="352425" y="197167"/>
                  </a:lnTo>
                  <a:lnTo>
                    <a:pt x="476250" y="337185"/>
                  </a:lnTo>
                  <a:lnTo>
                    <a:pt x="600075" y="502920"/>
                  </a:lnTo>
                  <a:lnTo>
                    <a:pt x="723900" y="682942"/>
                  </a:lnTo>
                  <a:lnTo>
                    <a:pt x="847725" y="864870"/>
                  </a:lnTo>
                  <a:lnTo>
                    <a:pt x="971550" y="1039178"/>
                  </a:lnTo>
                  <a:lnTo>
                    <a:pt x="1095375" y="1192530"/>
                  </a:lnTo>
                  <a:lnTo>
                    <a:pt x="1219200" y="1319212"/>
                  </a:lnTo>
                  <a:lnTo>
                    <a:pt x="1343025" y="1405890"/>
                  </a:lnTo>
                  <a:lnTo>
                    <a:pt x="1466850" y="1452562"/>
                  </a:lnTo>
                  <a:lnTo>
                    <a:pt x="1590675" y="1452562"/>
                  </a:lnTo>
                  <a:lnTo>
                    <a:pt x="1714500" y="1405890"/>
                  </a:lnTo>
                  <a:lnTo>
                    <a:pt x="1838325" y="1319212"/>
                  </a:lnTo>
                  <a:lnTo>
                    <a:pt x="1962150" y="1192530"/>
                  </a:lnTo>
                  <a:lnTo>
                    <a:pt x="2085975" y="1039178"/>
                  </a:lnTo>
                  <a:lnTo>
                    <a:pt x="2209800" y="864870"/>
                  </a:lnTo>
                  <a:lnTo>
                    <a:pt x="2333625" y="682942"/>
                  </a:lnTo>
                  <a:lnTo>
                    <a:pt x="2457450" y="502920"/>
                  </a:lnTo>
                  <a:lnTo>
                    <a:pt x="2581275" y="337185"/>
                  </a:lnTo>
                  <a:lnTo>
                    <a:pt x="2705100" y="197167"/>
                  </a:lnTo>
                  <a:lnTo>
                    <a:pt x="2828925" y="89535"/>
                  </a:lnTo>
                  <a:lnTo>
                    <a:pt x="2952750" y="21908"/>
                  </a:lnTo>
                  <a:lnTo>
                    <a:pt x="3076575" y="0"/>
                  </a:lnTo>
                  <a:lnTo>
                    <a:pt x="3199448" y="21908"/>
                  </a:lnTo>
                  <a:lnTo>
                    <a:pt x="3323273" y="89535"/>
                  </a:lnTo>
                  <a:lnTo>
                    <a:pt x="3447098" y="197167"/>
                  </a:lnTo>
                  <a:lnTo>
                    <a:pt x="3570923" y="337185"/>
                  </a:lnTo>
                  <a:lnTo>
                    <a:pt x="3694748" y="502920"/>
                  </a:lnTo>
                  <a:lnTo>
                    <a:pt x="3818573" y="682942"/>
                  </a:lnTo>
                  <a:lnTo>
                    <a:pt x="3942398" y="864870"/>
                  </a:lnTo>
                  <a:lnTo>
                    <a:pt x="4066223" y="1039178"/>
                  </a:lnTo>
                  <a:lnTo>
                    <a:pt x="4190048" y="1192530"/>
                  </a:lnTo>
                  <a:lnTo>
                    <a:pt x="4313872" y="1319212"/>
                  </a:lnTo>
                  <a:lnTo>
                    <a:pt x="4437698" y="1405890"/>
                  </a:lnTo>
                  <a:lnTo>
                    <a:pt x="4561522" y="1452562"/>
                  </a:lnTo>
                  <a:lnTo>
                    <a:pt x="4685348" y="1452562"/>
                  </a:lnTo>
                  <a:lnTo>
                    <a:pt x="4809172" y="1405890"/>
                  </a:lnTo>
                  <a:lnTo>
                    <a:pt x="4917758" y="132969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94410" y="2012632"/>
              <a:ext cx="4929188" cy="1451610"/>
            </a:xfrm>
            <a:custGeom>
              <a:avLst/>
              <a:gdLst/>
              <a:ahLst/>
              <a:cxnLst/>
              <a:rect l="l" t="t" r="r" b="b"/>
              <a:pathLst>
                <a:path w="4929188" h="1451610">
                  <a:moveTo>
                    <a:pt x="0" y="741997"/>
                  </a:moveTo>
                  <a:lnTo>
                    <a:pt x="113347" y="907733"/>
                  </a:lnTo>
                  <a:lnTo>
                    <a:pt x="236220" y="1078230"/>
                  </a:lnTo>
                  <a:lnTo>
                    <a:pt x="360045" y="1223962"/>
                  </a:lnTo>
                  <a:lnTo>
                    <a:pt x="483870" y="1340168"/>
                  </a:lnTo>
                  <a:lnTo>
                    <a:pt x="607695" y="1418272"/>
                  </a:lnTo>
                  <a:lnTo>
                    <a:pt x="731520" y="1451610"/>
                  </a:lnTo>
                  <a:lnTo>
                    <a:pt x="855345" y="1442085"/>
                  </a:lnTo>
                  <a:lnTo>
                    <a:pt x="979170" y="1383982"/>
                  </a:lnTo>
                  <a:lnTo>
                    <a:pt x="1102995" y="1286827"/>
                  </a:lnTo>
                  <a:lnTo>
                    <a:pt x="1226820" y="1153477"/>
                  </a:lnTo>
                  <a:lnTo>
                    <a:pt x="1350645" y="993458"/>
                  </a:lnTo>
                  <a:lnTo>
                    <a:pt x="1474470" y="818197"/>
                  </a:lnTo>
                  <a:lnTo>
                    <a:pt x="1598295" y="633412"/>
                  </a:lnTo>
                  <a:lnTo>
                    <a:pt x="1722120" y="458152"/>
                  </a:lnTo>
                  <a:lnTo>
                    <a:pt x="1845945" y="298132"/>
                  </a:lnTo>
                  <a:lnTo>
                    <a:pt x="1969770" y="164782"/>
                  </a:lnTo>
                  <a:lnTo>
                    <a:pt x="2093595" y="67627"/>
                  </a:lnTo>
                  <a:lnTo>
                    <a:pt x="2217420" y="9525"/>
                  </a:lnTo>
                  <a:lnTo>
                    <a:pt x="2341245" y="0"/>
                  </a:lnTo>
                  <a:lnTo>
                    <a:pt x="2465070" y="33338"/>
                  </a:lnTo>
                  <a:lnTo>
                    <a:pt x="2588895" y="111442"/>
                  </a:lnTo>
                  <a:lnTo>
                    <a:pt x="2712720" y="227647"/>
                  </a:lnTo>
                  <a:lnTo>
                    <a:pt x="2836545" y="373380"/>
                  </a:lnTo>
                  <a:lnTo>
                    <a:pt x="2960370" y="543877"/>
                  </a:lnTo>
                  <a:lnTo>
                    <a:pt x="3084195" y="725805"/>
                  </a:lnTo>
                  <a:lnTo>
                    <a:pt x="3207068" y="907733"/>
                  </a:lnTo>
                  <a:lnTo>
                    <a:pt x="3330893" y="1078230"/>
                  </a:lnTo>
                  <a:lnTo>
                    <a:pt x="3454718" y="1223962"/>
                  </a:lnTo>
                  <a:lnTo>
                    <a:pt x="3578543" y="1340168"/>
                  </a:lnTo>
                  <a:lnTo>
                    <a:pt x="3702368" y="1418272"/>
                  </a:lnTo>
                  <a:lnTo>
                    <a:pt x="3826193" y="1451610"/>
                  </a:lnTo>
                  <a:lnTo>
                    <a:pt x="3950018" y="1442085"/>
                  </a:lnTo>
                  <a:lnTo>
                    <a:pt x="4073843" y="1383982"/>
                  </a:lnTo>
                  <a:lnTo>
                    <a:pt x="4197668" y="1286827"/>
                  </a:lnTo>
                  <a:lnTo>
                    <a:pt x="4321492" y="1153477"/>
                  </a:lnTo>
                  <a:lnTo>
                    <a:pt x="4445318" y="993458"/>
                  </a:lnTo>
                  <a:lnTo>
                    <a:pt x="4569142" y="818197"/>
                  </a:lnTo>
                  <a:lnTo>
                    <a:pt x="4692968" y="633412"/>
                  </a:lnTo>
                  <a:lnTo>
                    <a:pt x="4816792" y="458152"/>
                  </a:lnTo>
                  <a:lnTo>
                    <a:pt x="4929188" y="31337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1060" y="27289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74408" y="20002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925502" y="33194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74408" y="27289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925502" y="23012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60573" y="26779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7581" y="16616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92595" y="3661410"/>
              <a:ext cx="6577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x₂ 超前 π/2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60"/>
              <p:cNvSpPr txBox="1">
                <a:spLocks noGrp="1"/>
              </p:cNvSpPr>
              <p:nvPr/>
            </p:nvSpPr>
            <p:spPr>
              <a:xfrm>
                <a:off x="533400" y="4117658"/>
                <a:ext cx="5626418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ωt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ωt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3"/>
          <p:cNvGrpSpPr/>
          <p:nvPr/>
        </p:nvGrpSpPr>
        <p:grpSpPr>
          <a:xfrm>
            <a:off x="533400" y="4549140"/>
            <a:ext cx="5626418" cy="1497330"/>
            <a:chOff x="533400" y="4549140"/>
            <a:chExt cx="5626418" cy="1497330"/>
          </a:xfrm>
        </p:grpSpPr>
        <p:sp>
          <p:nvSpPr>
            <p:cNvPr id="21" name="Rectangle 21"/>
            <p:cNvSpPr/>
            <p:nvPr/>
          </p:nvSpPr>
          <p:spPr>
            <a:xfrm>
              <a:off x="533400" y="4549140"/>
              <a:ext cx="5626418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682490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7301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147" y="47629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5070634"/>
              <a:ext cx="5036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3cos(4t) cm 与 x₂ = 2cos(4t + π/2) cm，Δφ = π/2 &gt; 0，x₂ 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超前四分之一周期。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7141" y="5594033"/>
              <a:ext cx="4463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遇到正弦形式先化成余弦再比相位，−2sin(4t) 就是 2cos(4t + π/2)。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524000"/>
            <a:ext cx="5193982" cy="1584008"/>
            <a:chOff x="6464618" y="1524000"/>
            <a:chExt cx="5193982" cy="1584008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1584008"/>
            </a:xfrm>
            <a:prstGeom prst="roundRect">
              <a:avLst>
                <a:gd name="adj" fmla="val 8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1657350"/>
              <a:ext cx="47625" cy="13173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3692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2313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相位差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77216" y="2045494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两个简谐振动的相位之差 Δφ = φ₂ − φ₁。频率相同时 ωt 相消，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相位差不随时间变化，就等于两者的初相之差。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78359" y="2568893"/>
              <a:ext cx="45579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频率不同的两个振动，相位差随时间变化，“谁超前”没有固定答案，拍现象就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是这么来的。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464618" y="3272790"/>
            <a:ext cx="5193982" cy="1906905"/>
            <a:chOff x="6464618" y="3272790"/>
            <a:chExt cx="5193982" cy="1906905"/>
          </a:xfrm>
        </p:grpSpPr>
        <p:sp>
          <p:nvSpPr>
            <p:cNvPr id="35" name="Rectangle 35"/>
            <p:cNvSpPr/>
            <p:nvPr/>
          </p:nvSpPr>
          <p:spPr>
            <a:xfrm>
              <a:off x="6464618" y="3272790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54488" y="3389948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41168" y="338994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两个振动的关系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59296" y="3770948"/>
              <a:ext cx="8057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0（或 2kπ）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17586" y="377094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同相，同时到达正最大、同时过平衡位置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40300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403479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9296" y="4152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17586" y="41529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反相，一个在正最大时另一个在负最大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44119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4533900"/>
              <a:ext cx="4380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&gt; 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17586" y="4533900"/>
              <a:ext cx="215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超前 x₁，x₂ 先到达同样的状态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47929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479774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9296" y="4914900"/>
              <a:ext cx="4380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&lt; 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17586" y="4914900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落后 x₁，即 x₁ 超前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272790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18145" y="327279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3"/>
          <p:cNvGrpSpPr/>
          <p:nvPr/>
        </p:nvGrpSpPr>
        <p:grpSpPr>
          <a:xfrm>
            <a:off x="6464618" y="5344478"/>
            <a:ext cx="5193982" cy="702945"/>
            <a:chOff x="6464618" y="5344478"/>
            <a:chExt cx="5193982" cy="702945"/>
          </a:xfrm>
        </p:grpSpPr>
        <p:sp>
          <p:nvSpPr>
            <p:cNvPr id="54" name="Rectangle 54"/>
            <p:cNvSpPr/>
            <p:nvPr/>
          </p:nvSpPr>
          <p:spPr>
            <a:xfrm>
              <a:off x="6464618" y="5344478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57347" y="5591293"/>
              <a:ext cx="224134" cy="192560"/>
              <a:chOff x="6657347" y="5591293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769418" y="56616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57347" y="55912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69418" y="5739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2491" y="5488781"/>
              <a:ext cx="4296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说超前还是落后时把 Δφ 限制在 −π 到 π 之间。超前 3π/2 与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落后 π/2 是同一回事，不加限制就会两种说法都对。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描述简谐振动的特征量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用相位差换算两个振动到达同一状态的时间差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185029" cy="1790319"/>
            <a:chOff x="533400" y="1533525"/>
            <a:chExt cx="5185029" cy="179031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023" y="1564481"/>
              <a:ext cx="1762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写出“状态相同”的条件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166" y="1818322"/>
              <a:ext cx="4300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两振动在 t₁ 与 t₂ 到达同一状态，即相位相等：ωt₂ + φ₂ = ωt₁ + φ₁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解出时间差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2371725"/>
              <a:ext cx="3043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ω(t₂ − t₁) = φ₁ − φ₂，即 Δt = t₂ − t₁ = −Δφ/ω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读出含义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925128"/>
              <a:ext cx="477126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&gt; 0（x₂ 超前）时 Δt &lt; 0，x₂ 确实先到达；相位上超前多少，时间上就提前多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485198"/>
            <a:ext cx="5410200" cy="1826895"/>
            <a:chOff x="533400" y="3485198"/>
            <a:chExt cx="5410200" cy="1826895"/>
          </a:xfrm>
        </p:grpSpPr>
        <p:sp>
          <p:nvSpPr>
            <p:cNvPr id="21" name="Rectangle 21"/>
            <p:cNvSpPr/>
            <p:nvPr/>
          </p:nvSpPr>
          <p:spPr>
            <a:xfrm>
              <a:off x="533400" y="3485198"/>
              <a:ext cx="5410200" cy="1826895"/>
            </a:xfrm>
            <a:prstGeom prst="roundRect">
              <a:avLst>
                <a:gd name="adj" fmla="val 72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618548"/>
              <a:ext cx="47625" cy="15601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36661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147" y="36990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4005739"/>
              <a:ext cx="47759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原课件在同一页先写出 Δt = −(φ₂−φ₁)/ω，末行又用箭头给出 Δφ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ωΔt，两式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差一个负号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。按上面的推导，比较两个振动到达同一状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态的时刻时应取 </a:t>
              </a:r>
              <a:r>
                <a:rPr lang="el-GR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Δt = −Δφ/ω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，只比较大小时写成 |Δt| = |Δφ|/ω。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7141" y="4772978"/>
              <a:ext cx="479126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Δφ = ωΔt 在另一种场合是对的：同一个振动经过 Δt 后自身相位增加 ωΔt。两种用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法不要混。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2169795"/>
            <a:chOff x="6248400" y="1524000"/>
            <a:chExt cx="5410200" cy="216979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169795"/>
            </a:xfrm>
            <a:prstGeom prst="roundRect">
              <a:avLst>
                <a:gd name="adj" fmla="val 61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9030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3451" y="17445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谁先到达正最大位移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0998" y="2061686"/>
              <a:ext cx="4630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ω = π rad·s⁻¹，x₁ 的初相 φ₁ = 0，x₂ 的初相 φ₂ = π/2。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7000" y="23983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2448" y="2346484"/>
              <a:ext cx="1754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π/2 &gt; 0，x₂ 超前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7000" y="26841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2448" y="2631281"/>
              <a:ext cx="4605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Δt = −Δφ/ω = −(π/2)/π = −0.5 s，即 x₂ 比 x₁ 早 0.5 s 到达正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2141" y="3155632"/>
              <a:ext cx="479126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核对：x₁ 在 t = 0 时就在正最大，x₂ 在 t = −0.5 s 时相位为 0，也在正最大，确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实早半秒。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3858578"/>
            <a:ext cx="5410200" cy="1452562"/>
            <a:chOff x="6248400" y="3858578"/>
            <a:chExt cx="5410200" cy="1452562"/>
          </a:xfrm>
        </p:grpSpPr>
        <p:sp>
          <p:nvSpPr>
            <p:cNvPr id="40" name="Rectangle 40"/>
            <p:cNvSpPr/>
            <p:nvPr/>
          </p:nvSpPr>
          <p:spPr>
            <a:xfrm>
              <a:off x="6248400" y="3858578"/>
              <a:ext cx="5410200" cy="1452562"/>
            </a:xfrm>
            <a:prstGeom prst="roundRect">
              <a:avLst>
                <a:gd name="adj" fmla="val 918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29375" y="4039552"/>
              <a:ext cx="195167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241" y="407241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同一个振动内部也常用这个换算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2898" y="4380071"/>
              <a:ext cx="47434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同一个振动从一个状态走到另一个状态，相位改变 Δφ 所需时间为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Δt = Δφ/ω = (Δφ/2π)T。后面用旋转矢量求“最短时间”，用的就是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这一条。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8663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做题时先判断“是两个振动比先后”还是“一个振动走多久”，前者带负号，后者不带，这是本页唯一容易错的地方。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46605" cy="2997517"/>
            <a:chOff x="667512" y="1835468"/>
            <a:chExt cx="514660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简谐振动的能量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366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2.1.3，动能与势能此消彼长，总量守恒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动能、势能与总能量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能量的变化频率是振动频率的两倍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一个周期内的平均值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总能量正比于振幅的平方，与时间无关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79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80"/>
              <p:cNvSpPr txBox="1">
                <a:spLocks noGrp="1"/>
              </p:cNvSpPr>
              <p:nvPr/>
            </p:nvSpPr>
            <p:spPr>
              <a:xfrm>
                <a:off x="533400" y="2048828"/>
                <a:ext cx="5842635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3"/>
          <p:cNvGrpSpPr/>
          <p:nvPr/>
        </p:nvGrpSpPr>
        <p:grpSpPr>
          <a:xfrm>
            <a:off x="533400" y="2573655"/>
            <a:ext cx="5842635" cy="1537335"/>
            <a:chOff x="533400" y="2573655"/>
            <a:chExt cx="5842635" cy="1537335"/>
          </a:xfrm>
        </p:grpSpPr>
        <p:sp>
          <p:nvSpPr>
            <p:cNvPr id="9" name="Rectangle 9"/>
            <p:cNvSpPr/>
            <p:nvPr/>
          </p:nvSpPr>
          <p:spPr>
            <a:xfrm>
              <a:off x="533400" y="2573655"/>
              <a:ext cx="5842635" cy="1537335"/>
            </a:xfrm>
            <a:prstGeom prst="roundRect">
              <a:avLst>
                <a:gd name="adj" fmla="val 86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707005"/>
              <a:ext cx="47625" cy="12706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75463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5843" y="278749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相加就得到守恒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3095149"/>
              <a:ext cx="4419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ω² = k/m 代入动能，系数 mω²A²/2 变成 kA²/2，于是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81"/>
                <p:cNvSpPr txBox="1">
                  <a:spLocks noGrp="1"/>
                </p:cNvSpPr>
                <p:nvPr/>
              </p:nvSpPr>
              <p:spPr>
                <a:xfrm>
                  <a:off x="752475" y="3358515"/>
                  <a:ext cx="5442585" cy="308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sSup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ωt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unc>
                              <m:funcPr/>
                              <m:fNam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ωt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9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9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sSup>
                          <m:e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9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47141" y="376523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弹性力是保守力，系统不受外力和阻力，机械能自然守恒。</a:t>
              </a:r>
            </a:p>
          </p:txBody>
        </p:sp>
      </p:grpSp>
      <p:grpSp>
        <p:nvGrpSpPr>
          <p:cNvPr id="26" name="c1-card-4"/>
          <p:cNvGrpSpPr/>
          <p:nvPr/>
        </p:nvGrpSpPr>
        <p:grpSpPr>
          <a:xfrm>
            <a:off x="533400" y="4275772"/>
            <a:ext cx="5842635" cy="1471612"/>
            <a:chOff x="533400" y="4275772"/>
            <a:chExt cx="5842635" cy="1471612"/>
          </a:xfrm>
        </p:grpSpPr>
        <p:sp>
          <p:nvSpPr>
            <p:cNvPr id="17" name="Rectangle 17"/>
            <p:cNvSpPr/>
            <p:nvPr/>
          </p:nvSpPr>
          <p:spPr>
            <a:xfrm>
              <a:off x="533400" y="4275772"/>
              <a:ext cx="5842635" cy="1471612"/>
            </a:xfrm>
            <a:prstGeom prst="roundRect">
              <a:avLst>
                <a:gd name="adj" fmla="val 90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4375" y="445674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1794" y="448960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三个常用变形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484917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9348" y="4796314"/>
              <a:ext cx="54101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kA²/2 = mω²A²/2，可以从 A 求 E，也可以从 E 反求 A = √(2E/k)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3900" y="513397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9348" y="5081111"/>
              <a:ext cx="5252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Ep/E = (x/A)²，Ek/E = 1 − (x/A)²，只与位置有关，与 k、m 无关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3900" y="541877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9348" y="5366861"/>
              <a:ext cx="42197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过平衡位置时 Ek = E，得最大速率 vm = ωA = A√(k/m)</a:t>
              </a:r>
            </a:p>
          </p:txBody>
        </p:sp>
      </p:grpSp>
      <p:grpSp>
        <p:nvGrpSpPr>
          <p:cNvPr id="49" name="c2-graph-1"/>
          <p:cNvGrpSpPr/>
          <p:nvPr/>
        </p:nvGrpSpPr>
        <p:grpSpPr>
          <a:xfrm>
            <a:off x="6970395" y="1552575"/>
            <a:ext cx="4578410" cy="2049779"/>
            <a:chOff x="6970395" y="1552575"/>
            <a:chExt cx="4578410" cy="2049779"/>
          </a:xfrm>
        </p:grpSpPr>
        <p:sp>
          <p:nvSpPr>
            <p:cNvPr id="27" name="Freeform 27"/>
            <p:cNvSpPr/>
            <p:nvPr/>
          </p:nvSpPr>
          <p:spPr>
            <a:xfrm>
              <a:off x="6998970" y="3334702"/>
              <a:ext cx="4345305" cy="9525"/>
            </a:xfrm>
            <a:custGeom>
              <a:avLst/>
              <a:gdLst/>
              <a:ahLst/>
              <a:cxnLst/>
              <a:rect l="l" t="t" r="r" b="b"/>
              <a:pathLst>
                <a:path w="4345305" h="9525">
                  <a:moveTo>
                    <a:pt x="0" y="0"/>
                  </a:moveTo>
                  <a:lnTo>
                    <a:pt x="434530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1344275" y="32870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169718" y="1794510"/>
              <a:ext cx="9525" cy="1646872"/>
            </a:xfrm>
            <a:custGeom>
              <a:avLst/>
              <a:gdLst/>
              <a:ahLst/>
              <a:cxnLst/>
              <a:rect l="l" t="t" r="r" b="b"/>
              <a:pathLst>
                <a:path w="9525" h="1646872">
                  <a:moveTo>
                    <a:pt x="0" y="164687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22092" y="1699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198042" y="1818322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89470" y="1834515"/>
              <a:ext cx="3960495" cy="1500188"/>
            </a:xfrm>
            <a:custGeom>
              <a:avLst/>
              <a:gdLst/>
              <a:ahLst/>
              <a:cxnLst/>
              <a:rect l="l" t="t" r="r" b="b"/>
              <a:pathLst>
                <a:path w="3960495" h="1500188">
                  <a:moveTo>
                    <a:pt x="0" y="0"/>
                  </a:moveTo>
                  <a:lnTo>
                    <a:pt x="134303" y="192405"/>
                  </a:lnTo>
                  <a:lnTo>
                    <a:pt x="273368" y="386715"/>
                  </a:lnTo>
                  <a:lnTo>
                    <a:pt x="417195" y="564833"/>
                  </a:lnTo>
                  <a:lnTo>
                    <a:pt x="557212" y="727710"/>
                  </a:lnTo>
                  <a:lnTo>
                    <a:pt x="701040" y="872490"/>
                  </a:lnTo>
                  <a:lnTo>
                    <a:pt x="841058" y="1004888"/>
                  </a:lnTo>
                  <a:lnTo>
                    <a:pt x="984885" y="1121093"/>
                  </a:lnTo>
                  <a:lnTo>
                    <a:pt x="1129665" y="1222057"/>
                  </a:lnTo>
                  <a:lnTo>
                    <a:pt x="1268730" y="1305878"/>
                  </a:lnTo>
                  <a:lnTo>
                    <a:pt x="1412558" y="1375410"/>
                  </a:lnTo>
                  <a:lnTo>
                    <a:pt x="1552575" y="1430655"/>
                  </a:lnTo>
                  <a:lnTo>
                    <a:pt x="1696403" y="1467802"/>
                  </a:lnTo>
                  <a:lnTo>
                    <a:pt x="1836420" y="1491615"/>
                  </a:lnTo>
                  <a:lnTo>
                    <a:pt x="1980248" y="1500188"/>
                  </a:lnTo>
                  <a:lnTo>
                    <a:pt x="2125028" y="1491615"/>
                  </a:lnTo>
                  <a:lnTo>
                    <a:pt x="2264093" y="1467802"/>
                  </a:lnTo>
                  <a:lnTo>
                    <a:pt x="2408873" y="1430655"/>
                  </a:lnTo>
                  <a:lnTo>
                    <a:pt x="2547938" y="1375410"/>
                  </a:lnTo>
                  <a:lnTo>
                    <a:pt x="2691765" y="1305878"/>
                  </a:lnTo>
                  <a:lnTo>
                    <a:pt x="2831782" y="1222057"/>
                  </a:lnTo>
                  <a:lnTo>
                    <a:pt x="2975610" y="1121093"/>
                  </a:lnTo>
                  <a:lnTo>
                    <a:pt x="3120390" y="1004888"/>
                  </a:lnTo>
                  <a:lnTo>
                    <a:pt x="3259455" y="872490"/>
                  </a:lnTo>
                  <a:lnTo>
                    <a:pt x="3404235" y="727710"/>
                  </a:lnTo>
                  <a:lnTo>
                    <a:pt x="3543300" y="564833"/>
                  </a:lnTo>
                  <a:lnTo>
                    <a:pt x="3688080" y="386715"/>
                  </a:lnTo>
                  <a:lnTo>
                    <a:pt x="3827145" y="192405"/>
                  </a:lnTo>
                  <a:lnTo>
                    <a:pt x="396049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89470" y="1818322"/>
              <a:ext cx="3960495" cy="1500187"/>
            </a:xfrm>
            <a:custGeom>
              <a:avLst/>
              <a:gdLst/>
              <a:ahLst/>
              <a:cxnLst/>
              <a:rect l="l" t="t" r="r" b="b"/>
              <a:pathLst>
                <a:path w="3960495" h="1500187">
                  <a:moveTo>
                    <a:pt x="0" y="1500187"/>
                  </a:moveTo>
                  <a:lnTo>
                    <a:pt x="134303" y="1307782"/>
                  </a:lnTo>
                  <a:lnTo>
                    <a:pt x="273368" y="1113472"/>
                  </a:lnTo>
                  <a:lnTo>
                    <a:pt x="417195" y="935355"/>
                  </a:lnTo>
                  <a:lnTo>
                    <a:pt x="557212" y="772478"/>
                  </a:lnTo>
                  <a:lnTo>
                    <a:pt x="701040" y="627698"/>
                  </a:lnTo>
                  <a:lnTo>
                    <a:pt x="841058" y="495300"/>
                  </a:lnTo>
                  <a:lnTo>
                    <a:pt x="984885" y="379095"/>
                  </a:lnTo>
                  <a:lnTo>
                    <a:pt x="1129665" y="278130"/>
                  </a:lnTo>
                  <a:lnTo>
                    <a:pt x="1268730" y="194310"/>
                  </a:lnTo>
                  <a:lnTo>
                    <a:pt x="1412558" y="124777"/>
                  </a:lnTo>
                  <a:lnTo>
                    <a:pt x="1552575" y="69532"/>
                  </a:lnTo>
                  <a:lnTo>
                    <a:pt x="1696403" y="32385"/>
                  </a:lnTo>
                  <a:lnTo>
                    <a:pt x="1836420" y="8573"/>
                  </a:lnTo>
                  <a:lnTo>
                    <a:pt x="1980248" y="0"/>
                  </a:lnTo>
                  <a:lnTo>
                    <a:pt x="2125028" y="8573"/>
                  </a:lnTo>
                  <a:lnTo>
                    <a:pt x="2264093" y="32385"/>
                  </a:lnTo>
                  <a:lnTo>
                    <a:pt x="2408873" y="69532"/>
                  </a:lnTo>
                  <a:lnTo>
                    <a:pt x="2547938" y="124777"/>
                  </a:lnTo>
                  <a:lnTo>
                    <a:pt x="2691765" y="194310"/>
                  </a:lnTo>
                  <a:lnTo>
                    <a:pt x="2831782" y="278130"/>
                  </a:lnTo>
                  <a:lnTo>
                    <a:pt x="2975610" y="379095"/>
                  </a:lnTo>
                  <a:lnTo>
                    <a:pt x="3120390" y="495300"/>
                  </a:lnTo>
                  <a:lnTo>
                    <a:pt x="3259455" y="627698"/>
                  </a:lnTo>
                  <a:lnTo>
                    <a:pt x="3404235" y="772478"/>
                  </a:lnTo>
                  <a:lnTo>
                    <a:pt x="3543300" y="935355"/>
                  </a:lnTo>
                  <a:lnTo>
                    <a:pt x="3688080" y="1113472"/>
                  </a:lnTo>
                  <a:lnTo>
                    <a:pt x="3827145" y="1307782"/>
                  </a:lnTo>
                  <a:lnTo>
                    <a:pt x="3960495" y="150018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6970395" y="33251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160192" y="34509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169468" y="18087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150918" y="18087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169468" y="18087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150918" y="18087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169468" y="33251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150918" y="33251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469311" y="32785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27990" y="155257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64794" y="167116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93828" y="2050256"/>
              <a:ext cx="166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420" y="1881664"/>
              <a:ext cx="166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54291" y="3426142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20476" y="3426142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680835" y="3793808"/>
            <a:ext cx="4977765" cy="702945"/>
            <a:chOff x="6680835" y="3793808"/>
            <a:chExt cx="4977765" cy="702945"/>
          </a:xfrm>
        </p:grpSpPr>
        <p:sp>
          <p:nvSpPr>
            <p:cNvPr id="50" name="Rectangle 50"/>
            <p:cNvSpPr/>
            <p:nvPr/>
          </p:nvSpPr>
          <p:spPr>
            <a:xfrm>
              <a:off x="6680835" y="3793808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885623" y="4045268"/>
              <a:ext cx="200026" cy="200025"/>
              <a:chOff x="6885623" y="404526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885623" y="40452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25361" y="40897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60077" y="42008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188708" y="3939064"/>
              <a:ext cx="3906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势能曲线是开口向上的抛物线，动能曲线是它关于 E/2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的镜像，两条曲线之和处处等于水平线 E。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能量变化的频率是振动频率的两倍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684433" cy="2149412"/>
            <a:chOff x="533400" y="1533525"/>
            <a:chExt cx="4684433" cy="214941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1818322"/>
              <a:ext cx="2929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cos²α = (1+cos2α)/2，sin²α = (1−cos2α)/2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1169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代进能量表达式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371725"/>
              <a:ext cx="380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Ep = E[1 + cos(2ωt+2φ)]/2，Ek = E[1 − cos(2ωt+2φ)]/2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读出频率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925128"/>
              <a:ext cx="39558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两者都以 2ω 随时间变化，周期是 T/2，频率是振动频率的 2 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22278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读出相位关系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477578"/>
              <a:ext cx="4270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两式中的 cos 项一正一负，作为同一个 2ω 的简谐量，Ek 与 Ep 反相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844290"/>
            <a:ext cx="5193982" cy="1629728"/>
            <a:chOff x="533400" y="3844290"/>
            <a:chExt cx="5193982" cy="1629728"/>
          </a:xfrm>
        </p:grpSpPr>
        <p:sp>
          <p:nvSpPr>
            <p:cNvPr id="25" name="Rectangle 25"/>
            <p:cNvSpPr/>
            <p:nvPr/>
          </p:nvSpPr>
          <p:spPr>
            <a:xfrm>
              <a:off x="533400" y="3844290"/>
              <a:ext cx="5193982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977640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5147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5998" y="4365784"/>
              <a:ext cx="45727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原课件写“动能、势能均为时间的函数，其相位差为 π/2”。两者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在时间上确实错开 T/4，但 T/4 是能量周期 T/2 的一半，按能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量自身的角频率 2ω 计算，相位差是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π（反相）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 π/2。原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课件同一页的曲线图画的也是一上一下的反相关系。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032182" y="1524000"/>
            <a:ext cx="5626418" cy="1716405"/>
            <a:chOff x="6032182" y="1524000"/>
            <a:chExt cx="5626418" cy="1716405"/>
          </a:xfrm>
        </p:grpSpPr>
        <p:sp>
          <p:nvSpPr>
            <p:cNvPr id="31" name="Rectangle 31"/>
            <p:cNvSpPr/>
            <p:nvPr/>
          </p:nvSpPr>
          <p:spPr>
            <a:xfrm>
              <a:off x="6032182" y="1524000"/>
              <a:ext cx="5626418" cy="1716405"/>
            </a:xfrm>
            <a:prstGeom prst="roundRect">
              <a:avLst>
                <a:gd name="adj" fmla="val 776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13158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79375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一个周期内的平均值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06680" y="204549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cos² 与 sin² 在一个周期内的平均值都是 1/2，所以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94"/>
                <p:cNvSpPr txBox="1">
                  <a:spLocks noGrp="1"/>
                </p:cNvSpPr>
                <p:nvPr/>
              </p:nvSpPr>
              <p:spPr>
                <a:xfrm>
                  <a:off x="6213158" y="2308860"/>
                  <a:ext cx="5264468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b>
                              <m:e>
                                <m:r>
                                  <a:rPr lang="zh-CN" sz="8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8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e>
                        </m:bar>
                        <m:r>
                          <m:rPr>
                            <m:sty m:val="p"/>
                          </m:rPr>
                          <a:rPr lang="zh-CN" sz="8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den>
                        </m:f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8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8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8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sSup>
                              <m:e>
                                <m:r>
                                  <a:rPr lang="zh-CN" sz="8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8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/>
                              <m:fNam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8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zh-CN" sz="8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8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8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ωt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8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8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8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a:rPr lang="zh-CN" sz="8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sSup>
                          <m:e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8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95"/>
                <p:cNvSpPr txBox="1">
                  <a:spLocks noGrp="1"/>
                </p:cNvSpPr>
                <p:nvPr/>
              </p:nvSpPr>
              <p:spPr>
                <a:xfrm>
                  <a:off x="6213158" y="2683192"/>
                  <a:ext cx="5264468" cy="3600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ba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b>
                              <m:e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e>
                        </m:bar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sSup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3" name="c2-card-2"/>
          <p:cNvGrpSpPr/>
          <p:nvPr/>
        </p:nvGrpSpPr>
        <p:grpSpPr>
          <a:xfrm>
            <a:off x="6032182" y="3405188"/>
            <a:ext cx="5626418" cy="1143952"/>
            <a:chOff x="6032182" y="3405188"/>
            <a:chExt cx="5626418" cy="1143952"/>
          </a:xfrm>
        </p:grpSpPr>
        <p:sp>
          <p:nvSpPr>
            <p:cNvPr id="38" name="Rectangle 38"/>
            <p:cNvSpPr/>
            <p:nvPr/>
          </p:nvSpPr>
          <p:spPr>
            <a:xfrm>
              <a:off x="6032182" y="3405188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41708" y="353853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1258" y="358616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17475" y="36190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平均值为什么是一半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44780" y="3926681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cos²α + sin²α = 1 取平均得 ⟨cos²⟩ + ⟨sin²⟩ = 1；又因为两者波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形只差平移，平均值必然相等，所以各为 1/2。不必真的去算积分。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032182" y="4713922"/>
            <a:ext cx="5626418" cy="760095"/>
            <a:chOff x="6032182" y="4713922"/>
            <a:chExt cx="5626418" cy="760095"/>
          </a:xfrm>
        </p:grpSpPr>
        <p:sp>
          <p:nvSpPr>
            <p:cNvPr id="44" name="Rectangle 44"/>
            <p:cNvSpPr/>
            <p:nvPr/>
          </p:nvSpPr>
          <p:spPr>
            <a:xfrm>
              <a:off x="6032182" y="4713922"/>
              <a:ext cx="5626418" cy="760095"/>
            </a:xfrm>
            <a:prstGeom prst="roundRect">
              <a:avLst>
                <a:gd name="adj" fmla="val 1503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24912" y="4991218"/>
              <a:ext cx="224134" cy="192560"/>
              <a:chOff x="6224912" y="4991218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336983" y="50615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224912" y="49912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336983" y="51393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540056" y="4887754"/>
              <a:ext cx="4629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平均动能等于平均势能，是对时间取平均的结果。某一时刻的 Ek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与 Ep 一般并不相等，只有在 x = ±A/√2 处才相等。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85769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下一章机械波里，波的能量密度也按 2ω 变化，而且动能与势能是同相的，正好与这里相反，两处结论不要记混。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例2.4 位移为振幅一半时，动能和势能各占多少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68792"/>
            <a:chOff x="533400" y="1524000"/>
            <a:chExt cx="4760595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弹簧振子做简谐振动，振幅为 A，总能量 E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kA²/2。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39656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（1）x = ±A/2 时动能和势能各占总能量的多少；</a:t>
              </a:r>
            </a:p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（2）在什么位置动能和势能各占总能量的一半。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68052"/>
            <a:ext cx="4760595" cy="1254442"/>
            <a:chOff x="533400" y="3468052"/>
            <a:chExt cx="4760595" cy="1254442"/>
          </a:xfrm>
        </p:grpSpPr>
        <p:sp>
          <p:nvSpPr>
            <p:cNvPr id="14" name="Rectangle 14"/>
            <p:cNvSpPr/>
            <p:nvPr/>
          </p:nvSpPr>
          <p:spPr>
            <a:xfrm>
              <a:off x="533400" y="3468052"/>
              <a:ext cx="4760595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01402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6604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6947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40738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4017645"/>
              <a:ext cx="4253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两问都满足 Ek + Ep = E，即 1/4 + 3/4 与 1/2 + 1/2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37578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319588"/>
              <a:ext cx="3069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±0.707A 落在 ±A 之内，位置合理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4897755"/>
            <a:ext cx="4760595" cy="729615"/>
            <a:chOff x="533400" y="4897755"/>
            <a:chExt cx="4760595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489775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162550"/>
              <a:ext cx="200026" cy="200025"/>
              <a:chOff x="738188" y="5162550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1625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2070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3181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044440"/>
              <a:ext cx="37770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记住比例式 Ep/E = (x/A)²，这类题一步算完，不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必代 k。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5598795" y="1533525"/>
            <a:ext cx="4274185" cy="2279809"/>
            <a:chOff x="5598795" y="1533525"/>
            <a:chExt cx="4274185" cy="2279809"/>
          </a:xfrm>
        </p:grpSpPr>
        <p:sp>
          <p:nvSpPr>
            <p:cNvPr id="30" name="Rectangle 30"/>
            <p:cNvSpPr/>
            <p:nvPr/>
          </p:nvSpPr>
          <p:spPr>
            <a:xfrm>
              <a:off x="5732145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1037" y="156495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写出势能占比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2180" y="1833086"/>
              <a:ext cx="3611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Ep = kx²/2，E = kA²/2，两式相除得 Ep/E = (x/A)²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1037" y="2152650"/>
              <a:ext cx="12013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x = ±A/2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2180" y="2419826"/>
              <a:ext cx="2613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Ep/E = (1/2)² = 1/4，即 Ep = kA²/8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1037" y="27393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求动能占比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2180" y="3006566"/>
              <a:ext cx="2984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 = E − Ep = (1 − 1/4)E = 3E/4 = 3kA²/8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1037" y="33261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第二问反解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180" y="3593306"/>
              <a:ext cx="3860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(x/A)² = 1/2，得 x = ±A/√2 = ±(√2/2)A ≈ ±0.707A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5598795" y="3982402"/>
            <a:ext cx="6059805" cy="1644968"/>
            <a:chOff x="5598795" y="3982402"/>
            <a:chExt cx="6059805" cy="1644968"/>
          </a:xfrm>
        </p:grpSpPr>
        <p:sp>
          <p:nvSpPr>
            <p:cNvPr id="48" name="Rectangle 48"/>
            <p:cNvSpPr/>
            <p:nvPr/>
          </p:nvSpPr>
          <p:spPr>
            <a:xfrm>
              <a:off x="5598795" y="3982402"/>
              <a:ext cx="6059805" cy="1644968"/>
            </a:xfrm>
            <a:prstGeom prst="roundRect">
              <a:avLst>
                <a:gd name="adj" fmla="val 810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791200" y="417480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86641" y="4209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84342" y="4531995"/>
              <a:ext cx="3788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（1）x = ±A/2 时，势能占 1/4，动能占 3/4。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84342" y="4833937"/>
              <a:ext cx="4091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（2）在 x = ±(√2/2)A 处，动能与势能各占一半。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7657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同一套算法换个数字就是常见的填空题：位移为振幅的 1/4 时，Ep/E = 1/16，动能占 15/16。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8728" cy="2997517"/>
            <a:chOff x="667512" y="1835468"/>
            <a:chExt cx="53687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旋转矢量法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588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2.1.4，把相位问题变成看得见的转角问题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旋转矢量与简谐振动的对应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六种常见初始状态的初相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用转角求最短时间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旋转矢量法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匀速转动矢量在 x 轴上的投影就是简谐振动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1173480" y="1545431"/>
            <a:ext cx="3839712" cy="1900715"/>
            <a:chOff x="1173480" y="1545431"/>
            <a:chExt cx="3839712" cy="1900715"/>
          </a:xfrm>
        </p:grpSpPr>
        <p:sp>
          <p:nvSpPr>
            <p:cNvPr id="7" name="Freeform 7"/>
            <p:cNvSpPr/>
            <p:nvPr/>
          </p:nvSpPr>
          <p:spPr>
            <a:xfrm>
              <a:off x="2047875" y="1774508"/>
              <a:ext cx="1946910" cy="1671638"/>
            </a:xfrm>
            <a:custGeom>
              <a:avLst/>
              <a:gdLst/>
              <a:ahLst/>
              <a:cxnLst/>
              <a:rect l="l" t="t" r="r" b="b"/>
              <a:pathLst>
                <a:path w="1946910" h="1671638">
                  <a:moveTo>
                    <a:pt x="1946910" y="816292"/>
                  </a:moveTo>
                  <a:lnTo>
                    <a:pt x="1943100" y="726758"/>
                  </a:lnTo>
                  <a:lnTo>
                    <a:pt x="1915478" y="618172"/>
                  </a:lnTo>
                  <a:lnTo>
                    <a:pt x="1877378" y="516255"/>
                  </a:lnTo>
                  <a:lnTo>
                    <a:pt x="1818322" y="418147"/>
                  </a:lnTo>
                  <a:lnTo>
                    <a:pt x="1747838" y="325755"/>
                  </a:lnTo>
                  <a:lnTo>
                    <a:pt x="1666875" y="244792"/>
                  </a:lnTo>
                  <a:lnTo>
                    <a:pt x="1569720" y="173355"/>
                  </a:lnTo>
                  <a:lnTo>
                    <a:pt x="1461135" y="113347"/>
                  </a:lnTo>
                  <a:lnTo>
                    <a:pt x="1347788" y="62865"/>
                  </a:lnTo>
                  <a:lnTo>
                    <a:pt x="1228725" y="29527"/>
                  </a:lnTo>
                  <a:lnTo>
                    <a:pt x="1103947" y="6667"/>
                  </a:lnTo>
                  <a:lnTo>
                    <a:pt x="974408" y="0"/>
                  </a:lnTo>
                  <a:lnTo>
                    <a:pt x="843915" y="6667"/>
                  </a:lnTo>
                  <a:lnTo>
                    <a:pt x="720090" y="29527"/>
                  </a:lnTo>
                  <a:lnTo>
                    <a:pt x="601028" y="62865"/>
                  </a:lnTo>
                  <a:lnTo>
                    <a:pt x="487680" y="113347"/>
                  </a:lnTo>
                  <a:lnTo>
                    <a:pt x="379095" y="173355"/>
                  </a:lnTo>
                  <a:lnTo>
                    <a:pt x="281940" y="244792"/>
                  </a:lnTo>
                  <a:lnTo>
                    <a:pt x="200977" y="325755"/>
                  </a:lnTo>
                  <a:lnTo>
                    <a:pt x="130492" y="418147"/>
                  </a:lnTo>
                  <a:lnTo>
                    <a:pt x="70485" y="516255"/>
                  </a:lnTo>
                  <a:lnTo>
                    <a:pt x="32385" y="618172"/>
                  </a:lnTo>
                  <a:lnTo>
                    <a:pt x="5715" y="726758"/>
                  </a:lnTo>
                  <a:lnTo>
                    <a:pt x="0" y="835342"/>
                  </a:lnTo>
                  <a:lnTo>
                    <a:pt x="5715" y="943927"/>
                  </a:lnTo>
                  <a:lnTo>
                    <a:pt x="32385" y="1052512"/>
                  </a:lnTo>
                  <a:lnTo>
                    <a:pt x="70485" y="1155382"/>
                  </a:lnTo>
                  <a:lnTo>
                    <a:pt x="130492" y="1253490"/>
                  </a:lnTo>
                  <a:lnTo>
                    <a:pt x="200977" y="1344930"/>
                  </a:lnTo>
                  <a:lnTo>
                    <a:pt x="281940" y="1426845"/>
                  </a:lnTo>
                  <a:lnTo>
                    <a:pt x="379095" y="1498282"/>
                  </a:lnTo>
                  <a:lnTo>
                    <a:pt x="487680" y="1558290"/>
                  </a:lnTo>
                  <a:lnTo>
                    <a:pt x="601028" y="1608772"/>
                  </a:lnTo>
                  <a:lnTo>
                    <a:pt x="720090" y="1642110"/>
                  </a:lnTo>
                  <a:lnTo>
                    <a:pt x="843915" y="1664970"/>
                  </a:lnTo>
                  <a:lnTo>
                    <a:pt x="974408" y="1671638"/>
                  </a:lnTo>
                  <a:lnTo>
                    <a:pt x="1103947" y="1664970"/>
                  </a:lnTo>
                  <a:lnTo>
                    <a:pt x="1228725" y="1642110"/>
                  </a:lnTo>
                  <a:lnTo>
                    <a:pt x="1347788" y="1608772"/>
                  </a:lnTo>
                  <a:lnTo>
                    <a:pt x="1461135" y="1558290"/>
                  </a:lnTo>
                  <a:lnTo>
                    <a:pt x="1569720" y="1498282"/>
                  </a:lnTo>
                  <a:lnTo>
                    <a:pt x="1666875" y="1426845"/>
                  </a:lnTo>
                  <a:lnTo>
                    <a:pt x="1747838" y="1344930"/>
                  </a:lnTo>
                  <a:lnTo>
                    <a:pt x="1818322" y="1253490"/>
                  </a:lnTo>
                  <a:lnTo>
                    <a:pt x="1877378" y="1155382"/>
                  </a:lnTo>
                  <a:lnTo>
                    <a:pt x="1915478" y="1052512"/>
                  </a:lnTo>
                  <a:lnTo>
                    <a:pt x="1943100" y="943927"/>
                  </a:lnTo>
                  <a:lnTo>
                    <a:pt x="1946910" y="85439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1202055" y="2609850"/>
              <a:ext cx="3600450" cy="9525"/>
            </a:xfrm>
            <a:custGeom>
              <a:avLst/>
              <a:gdLst/>
              <a:ahLst/>
              <a:cxnLst/>
              <a:rect l="l" t="t" r="r" b="b"/>
              <a:pathLst>
                <a:path w="3600450" h="9525">
                  <a:moveTo>
                    <a:pt x="0" y="0"/>
                  </a:moveTo>
                  <a:lnTo>
                    <a:pt x="36004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802505" y="2562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048000" y="2065020"/>
              <a:ext cx="471488" cy="517208"/>
            </a:xfrm>
            <a:custGeom>
              <a:avLst/>
              <a:gdLst/>
              <a:ahLst/>
              <a:cxnLst/>
              <a:rect l="l" t="t" r="r" b="b"/>
              <a:pathLst>
                <a:path w="471488" h="517208">
                  <a:moveTo>
                    <a:pt x="0" y="517208"/>
                  </a:moveTo>
                  <a:lnTo>
                    <a:pt x="47148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84245" y="1994535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0"/>
                  </a:moveTo>
                  <a:lnTo>
                    <a:pt x="70485" y="101917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622358" y="2009775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3986212" y="26003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86212" y="26003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73480" y="26003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993708" y="258127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574732" y="190500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584258" y="257175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27098" y="25493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48978" y="220980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78815" y="223885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06636" y="2680335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72701" y="2366962"/>
              <a:ext cx="3487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ωt + 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07158" y="2938939"/>
              <a:ext cx="10267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投影点 P 做简谐振动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57299" y="154543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矢量以 ω 匀速逆时针转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08"/>
              <p:cNvSpPr txBox="1">
                <a:spLocks noGrp="1"/>
              </p:cNvSpPr>
              <p:nvPr/>
            </p:nvSpPr>
            <p:spPr>
              <a:xfrm>
                <a:off x="533400" y="3777615"/>
                <a:ext cx="54102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0" name="c1-image-3"/>
          <p:cNvGrpSpPr/>
          <p:nvPr/>
        </p:nvGrpSpPr>
        <p:grpSpPr>
          <a:xfrm>
            <a:off x="1650416" y="4266248"/>
            <a:ext cx="3176168" cy="1497043"/>
            <a:chOff x="1650416" y="4266248"/>
            <a:chExt cx="3176168" cy="1497043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5" y="4266248"/>
              <a:ext cx="1619250" cy="1214438"/>
            </a:xfrm>
            <a:prstGeom prst="roundRect">
              <a:avLst>
                <a:gd name="adj" fmla="val 10980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1650416" y="5572601"/>
              <a:ext cx="317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转盘上立柱的影子在屏上来回移动，就是一维简谐振动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386840"/>
            <a:chOff x="6248400" y="1524000"/>
            <a:chExt cx="5410200" cy="138684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74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20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旋转矢量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0998" y="2045494"/>
              <a:ext cx="47759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画一个长度为 A 的矢量，让它以角速度 ω 绕原点逆时针匀速转动，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0 时与 x 轴成 φ 角。t 时刻它与 x 轴的夹角为 ωt + φ，在 x 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上的投影就是 x = A cos(ωt+φ)。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6248400" y="3075622"/>
            <a:ext cx="5410200" cy="2287905"/>
            <a:chOff x="6248400" y="3075622"/>
            <a:chExt cx="5410200" cy="2287905"/>
          </a:xfrm>
        </p:grpSpPr>
        <p:sp>
          <p:nvSpPr>
            <p:cNvPr id="37" name="Rectangle 37"/>
            <p:cNvSpPr/>
            <p:nvPr/>
          </p:nvSpPr>
          <p:spPr>
            <a:xfrm>
              <a:off x="6248400" y="3075622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12914" y="31927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简谐振动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8014" y="31927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旋转矢量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3079" y="357473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 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48178" y="357473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矢量长度（圆半径）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8338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83857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3079" y="395573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初相 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48178" y="395573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初始角坐标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42148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3079" y="4337685"/>
              <a:ext cx="753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 ωt + 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48178" y="433768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任意时刻的角坐标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5967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460152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4718685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角频率 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48178" y="471868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角速度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9777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3079" y="5099685"/>
              <a:ext cx="709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振动周期 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48178" y="509968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转一圈的时间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075622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948738" y="307562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3"/>
          <p:cNvGrpSpPr/>
          <p:nvPr/>
        </p:nvGrpSpPr>
        <p:grpSpPr>
          <a:xfrm>
            <a:off x="6248400" y="5529262"/>
            <a:ext cx="5410200" cy="702945"/>
            <a:chOff x="6248400" y="5529262"/>
            <a:chExt cx="5410200" cy="702945"/>
          </a:xfrm>
        </p:grpSpPr>
        <p:sp>
          <p:nvSpPr>
            <p:cNvPr id="59" name="Rectangle 59"/>
            <p:cNvSpPr/>
            <p:nvPr/>
          </p:nvSpPr>
          <p:spPr>
            <a:xfrm>
              <a:off x="6248400" y="552926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779770"/>
              <a:ext cx="200026" cy="200025"/>
              <a:chOff x="6453188" y="5779770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7797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8242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59353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6273" y="5673566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旋转矢量只是一个作图工具，物体本身仍在 x 轴上来回运动，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并没有真的在转圈。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旋转矢量法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六种常见初始状态对应的初相，记成图更快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矢量画在哪个方向，就对应哪个初相。做题时先画矢量，再读角度。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28812"/>
            <a:ext cx="4977765" cy="2669858"/>
            <a:chOff x="533400" y="1928812"/>
            <a:chExt cx="4977765" cy="26698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1035" y="2045970"/>
              <a:ext cx="954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= 0 时的状态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3145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矢量指向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53702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初相 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在正最大位移处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44532" y="242697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1925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13937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过平衡位置向 +x 运动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44532" y="2808923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−y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26242" y="2701290"/>
              <a:ext cx="127539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02645" y="2808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−π/2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68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18992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在负最大位移处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44532" y="3189923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1925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449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453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571875"/>
              <a:ext cx="13937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过平衡位置向 −x 运动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44532" y="3571875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41516" y="3571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830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3952875"/>
              <a:ext cx="1385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A/2 且向 −x 运动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31452" y="3952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第一象限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41516" y="39528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216718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4333875"/>
              <a:ext cx="1385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A/2 且向 +x 运动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31452" y="4333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第四象限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02645" y="4333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−π/3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28812"/>
              <a:ext cx="497776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81844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21195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rd-2"/>
          <p:cNvGrpSpPr/>
          <p:nvPr/>
        </p:nvGrpSpPr>
        <p:grpSpPr>
          <a:xfrm>
            <a:off x="533400" y="4763452"/>
            <a:ext cx="4977765" cy="1553528"/>
            <a:chOff x="533400" y="4763452"/>
            <a:chExt cx="4977765" cy="1553528"/>
          </a:xfrm>
        </p:grpSpPr>
        <p:sp>
          <p:nvSpPr>
            <p:cNvPr id="44" name="Rectangle 44"/>
            <p:cNvSpPr/>
            <p:nvPr/>
          </p:nvSpPr>
          <p:spPr>
            <a:xfrm>
              <a:off x="533400" y="4763452"/>
              <a:ext cx="4977765" cy="1553528"/>
            </a:xfrm>
            <a:prstGeom prst="roundRect">
              <a:avLst>
                <a:gd name="adj" fmla="val 8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896802"/>
              <a:ext cx="47625" cy="12868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2475" y="4944428"/>
              <a:ext cx="204978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7137" y="4977289"/>
              <a:ext cx="19604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为什么向 +x 运动时矢量指向下方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5998" y="5283994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矢量逆时针转，指向下半平面时它的端点正往右上方走，投影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点向 +x 移动。所以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v₀ &gt; 0 对应矢量在下半平面（sin φ &lt;</a:t>
              </a:r>
              <a:br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0）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 v₀ = −ωA sin φ 完全一致。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5815965" y="1928812"/>
            <a:ext cx="5842635" cy="1714500"/>
            <a:chOff x="5815965" y="1928812"/>
            <a:chExt cx="5842635" cy="1714500"/>
          </a:xfrm>
        </p:grpSpPr>
        <p:sp>
          <p:nvSpPr>
            <p:cNvPr id="50" name="Rectangle 50"/>
            <p:cNvSpPr/>
            <p:nvPr/>
          </p:nvSpPr>
          <p:spPr>
            <a:xfrm>
              <a:off x="5815965" y="1928812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96940" y="210978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63158" y="21426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旋转矢量的三种用法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996940" y="243840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48847" y="24740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66688" y="244935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读初相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：按 t = 0 时的位置和速度方向画出矢量，量出它与 x 轴的夹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996940" y="296608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48847" y="30017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66688" y="2977991"/>
              <a:ext cx="5235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求时间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：两个状态之间转过的角 Δφ 对应时间 Δt = Δφ/ω = (Δφ/2π)T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996940" y="325183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48847" y="32865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66688" y="326278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比超前落后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：两个矢量同速转动，夹角不变，谁在前面谁超前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5815965" y="3807142"/>
            <a:ext cx="5842635" cy="1642110"/>
            <a:chOff x="5815965" y="3807142"/>
            <a:chExt cx="5842635" cy="1642110"/>
          </a:xfrm>
        </p:grpSpPr>
        <p:sp>
          <p:nvSpPr>
            <p:cNvPr id="63" name="Rectangle 63"/>
            <p:cNvSpPr/>
            <p:nvPr/>
          </p:nvSpPr>
          <p:spPr>
            <a:xfrm>
              <a:off x="5815965" y="3807142"/>
              <a:ext cx="5842635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25490" y="3940492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35040" y="39881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26759" y="40209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01016" y="4028599"/>
              <a:ext cx="248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x = A/2 到 x = A 最少要多久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28563" y="4344829"/>
              <a:ext cx="50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A/2 且向 +x 运动时矢量在 −π/3 处，转到 0 处即到达 x = A。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044565" y="46824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00013" y="4629626"/>
              <a:ext cx="3437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转过 Δφ = π/3，Δt = (π/3)/(2π) × T = T/6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29706" y="4911090"/>
              <a:ext cx="499129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若出发时向 −x 运动（矢量在 +π/3），要先转到 π 再转回来，时间长得多。同样的位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移，方向不同答案不同。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5815965" y="5614035"/>
            <a:ext cx="5842635" cy="702945"/>
            <a:chOff x="5815965" y="5614035"/>
            <a:chExt cx="5842635" cy="702945"/>
          </a:xfrm>
        </p:grpSpPr>
        <p:sp>
          <p:nvSpPr>
            <p:cNvPr id="73" name="Rectangle 73"/>
            <p:cNvSpPr/>
            <p:nvPr/>
          </p:nvSpPr>
          <p:spPr>
            <a:xfrm>
              <a:off x="5815965" y="5614035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020753" y="5865495"/>
              <a:ext cx="200026" cy="200025"/>
              <a:chOff x="6020753" y="5865495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020753" y="58654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060491" y="59099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095207" y="60210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323838" y="5759291"/>
              <a:ext cx="491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画矢量时只需标出 x 轴和圆，不必画准角度，能看出在哪个象限就够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旋转矢量法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例2.2 用旋转矢量求初相与最短时间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840230"/>
            <a:chOff x="533400" y="1524000"/>
            <a:chExt cx="4760595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868" y="1756410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0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质点在 x 轴上做简谐振动，振幅 A，周期 T；t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 时位移 x₀ = A/2，且向 x 轴正方向运动。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672239"/>
              <a:ext cx="37655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（1）初相 φ；（2）质点从 x = 0 运动到 x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A/2 处最少需要多少时间。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544252"/>
            <a:ext cx="4760595" cy="1840230"/>
            <a:chOff x="533400" y="3544252"/>
            <a:chExt cx="4760595" cy="1840230"/>
          </a:xfrm>
        </p:grpSpPr>
        <p:sp>
          <p:nvSpPr>
            <p:cNvPr id="14" name="Rectangle 14"/>
            <p:cNvSpPr/>
            <p:nvPr/>
          </p:nvSpPr>
          <p:spPr>
            <a:xfrm>
              <a:off x="533400" y="3544252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77602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37423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060" y="37766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16337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102894"/>
              <a:ext cx="35761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代回去：x₀ = A cos(−π/3) = A/2，v₀ = −ωA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sin(−π/3) &gt; 0，两个条件都满足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475297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4692491"/>
              <a:ext cx="39368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从平衡位置到 A/2 用时 T/12，小于走完四分之一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周期的 T/4，合理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598795" y="1533525"/>
            <a:ext cx="5911825" cy="2398776"/>
            <a:chOff x="5598795" y="1533525"/>
            <a:chExt cx="5911825" cy="2398776"/>
          </a:xfrm>
        </p:grpSpPr>
        <p:sp>
          <p:nvSpPr>
            <p:cNvPr id="23" name="Rectangle 23"/>
            <p:cNvSpPr/>
            <p:nvPr/>
          </p:nvSpPr>
          <p:spPr>
            <a:xfrm>
              <a:off x="5732145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33842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656" y="15663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由位移定候选角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799" y="1846898"/>
              <a:ext cx="3223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φ = x₀/A = 1/2，得 φ = π/3 或 φ = −π/3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656" y="218360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由速度定象限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799" y="2464118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 &gt; 0 要求 sin φ &lt; 0，矢量在下半平面，取 φ = −π/3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0656" y="27998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找起止相位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1799" y="3080385"/>
              <a:ext cx="5498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 且下一步要走向 A/2，对应矢量在 −π/2 处；x = A/2 处矢量在 −π/3 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0656" y="341709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算转角与时间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1799" y="3697605"/>
              <a:ext cx="5133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−π/3 − (−π/2) = π/6，Δt = (Δφ/2π)T = (π/6)/(2π) × T = T/12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598795" y="4103370"/>
            <a:ext cx="6059805" cy="1281112"/>
            <a:chOff x="5598795" y="4103370"/>
            <a:chExt cx="6059805" cy="1281112"/>
          </a:xfrm>
        </p:grpSpPr>
        <p:sp>
          <p:nvSpPr>
            <p:cNvPr id="41" name="Rectangle 41"/>
            <p:cNvSpPr/>
            <p:nvPr/>
          </p:nvSpPr>
          <p:spPr>
            <a:xfrm>
              <a:off x="5598795" y="4103370"/>
              <a:ext cx="6059805" cy="1281112"/>
            </a:xfrm>
            <a:prstGeom prst="roundRect">
              <a:avLst>
                <a:gd name="adj" fmla="val 1040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96915" y="430149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92356" y="43357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89676" y="4662011"/>
              <a:ext cx="3824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（1）φ = −π/3；（2）最短时间 Δt = T/12。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6" name="Rectangle 4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5753576"/>
              <a:ext cx="98249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问“最少需要多少时间”就是要求矢量沿逆时针转过最小的那个角。若从 x = 0 向 −x 方向出发（矢量在 +π/2 处），转到 A/2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处要转 5π/3，时间是 5T/6。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48148" cy="909257"/>
            <a:chOff x="520446" y="342900"/>
            <a:chExt cx="4848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旋转矢量法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48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例2.3 由振动曲线写出振动方程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graph-1"/>
          <p:cNvGrpSpPr/>
          <p:nvPr/>
        </p:nvGrpSpPr>
        <p:grpSpPr>
          <a:xfrm>
            <a:off x="816969" y="1585436"/>
            <a:ext cx="4962621" cy="1891188"/>
            <a:chOff x="816969" y="1585436"/>
            <a:chExt cx="4962621" cy="1891188"/>
          </a:xfrm>
        </p:grpSpPr>
        <p:sp>
          <p:nvSpPr>
            <p:cNvPr id="7" name="Freeform 7"/>
            <p:cNvSpPr/>
            <p:nvPr/>
          </p:nvSpPr>
          <p:spPr>
            <a:xfrm>
              <a:off x="984885" y="2542222"/>
              <a:ext cx="4360545" cy="9525"/>
            </a:xfrm>
            <a:custGeom>
              <a:avLst/>
              <a:gdLst/>
              <a:ahLst/>
              <a:cxnLst/>
              <a:rect l="l" t="t" r="r" b="b"/>
              <a:pathLst>
                <a:path w="4360545" h="9525">
                  <a:moveTo>
                    <a:pt x="0" y="0"/>
                  </a:moveTo>
                  <a:lnTo>
                    <a:pt x="43605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345430" y="24945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74420" y="1840230"/>
              <a:ext cx="9525" cy="1538288"/>
            </a:xfrm>
            <a:custGeom>
              <a:avLst/>
              <a:gdLst/>
              <a:ahLst/>
              <a:cxnLst/>
              <a:rect l="l" t="t" r="r" b="b"/>
              <a:pathLst>
                <a:path w="9525" h="1538288">
                  <a:moveTo>
                    <a:pt x="0" y="15382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26795" y="17449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86802" y="1849755"/>
              <a:ext cx="4087178" cy="1384935"/>
            </a:xfrm>
            <a:custGeom>
              <a:avLst/>
              <a:gdLst/>
              <a:ahLst/>
              <a:cxnLst/>
              <a:rect l="l" t="t" r="r" b="b"/>
              <a:pathLst>
                <a:path w="4087178" h="1384935">
                  <a:moveTo>
                    <a:pt x="0" y="360998"/>
                  </a:moveTo>
                  <a:lnTo>
                    <a:pt x="84773" y="456248"/>
                  </a:lnTo>
                  <a:lnTo>
                    <a:pt x="181927" y="572453"/>
                  </a:lnTo>
                  <a:lnTo>
                    <a:pt x="280035" y="692467"/>
                  </a:lnTo>
                  <a:lnTo>
                    <a:pt x="377190" y="812483"/>
                  </a:lnTo>
                  <a:lnTo>
                    <a:pt x="474345" y="928688"/>
                  </a:lnTo>
                  <a:lnTo>
                    <a:pt x="577215" y="1039178"/>
                  </a:lnTo>
                  <a:lnTo>
                    <a:pt x="674370" y="1139190"/>
                  </a:lnTo>
                  <a:lnTo>
                    <a:pt x="772478" y="1222058"/>
                  </a:lnTo>
                  <a:lnTo>
                    <a:pt x="869633" y="1291590"/>
                  </a:lnTo>
                  <a:lnTo>
                    <a:pt x="966788" y="1342073"/>
                  </a:lnTo>
                  <a:lnTo>
                    <a:pt x="1063943" y="1375410"/>
                  </a:lnTo>
                  <a:lnTo>
                    <a:pt x="1162050" y="1384935"/>
                  </a:lnTo>
                  <a:lnTo>
                    <a:pt x="1259205" y="1375410"/>
                  </a:lnTo>
                  <a:lnTo>
                    <a:pt x="1356360" y="1342073"/>
                  </a:lnTo>
                  <a:lnTo>
                    <a:pt x="1453515" y="1291590"/>
                  </a:lnTo>
                  <a:lnTo>
                    <a:pt x="1556385" y="1222058"/>
                  </a:lnTo>
                  <a:lnTo>
                    <a:pt x="1653540" y="1139190"/>
                  </a:lnTo>
                  <a:lnTo>
                    <a:pt x="1751648" y="1039178"/>
                  </a:lnTo>
                  <a:lnTo>
                    <a:pt x="1848802" y="928688"/>
                  </a:lnTo>
                  <a:lnTo>
                    <a:pt x="1945957" y="812483"/>
                  </a:lnTo>
                  <a:lnTo>
                    <a:pt x="2043113" y="692467"/>
                  </a:lnTo>
                  <a:lnTo>
                    <a:pt x="2141220" y="572453"/>
                  </a:lnTo>
                  <a:lnTo>
                    <a:pt x="2238375" y="456248"/>
                  </a:lnTo>
                  <a:lnTo>
                    <a:pt x="2335530" y="346710"/>
                  </a:lnTo>
                  <a:lnTo>
                    <a:pt x="2432685" y="246698"/>
                  </a:lnTo>
                  <a:lnTo>
                    <a:pt x="2530793" y="162878"/>
                  </a:lnTo>
                  <a:lnTo>
                    <a:pt x="2633662" y="94298"/>
                  </a:lnTo>
                  <a:lnTo>
                    <a:pt x="2730818" y="42862"/>
                  </a:lnTo>
                  <a:lnTo>
                    <a:pt x="2827972" y="10478"/>
                  </a:lnTo>
                  <a:lnTo>
                    <a:pt x="2925128" y="0"/>
                  </a:lnTo>
                  <a:lnTo>
                    <a:pt x="3022282" y="10478"/>
                  </a:lnTo>
                  <a:lnTo>
                    <a:pt x="3120390" y="42862"/>
                  </a:lnTo>
                  <a:lnTo>
                    <a:pt x="3217545" y="94298"/>
                  </a:lnTo>
                  <a:lnTo>
                    <a:pt x="3314700" y="162878"/>
                  </a:lnTo>
                  <a:lnTo>
                    <a:pt x="3411855" y="246698"/>
                  </a:lnTo>
                  <a:lnTo>
                    <a:pt x="3509962" y="346710"/>
                  </a:lnTo>
                  <a:lnTo>
                    <a:pt x="3612832" y="456248"/>
                  </a:lnTo>
                  <a:lnTo>
                    <a:pt x="3709988" y="572453"/>
                  </a:lnTo>
                  <a:lnTo>
                    <a:pt x="3807142" y="692467"/>
                  </a:lnTo>
                  <a:lnTo>
                    <a:pt x="3904298" y="812483"/>
                  </a:lnTo>
                  <a:lnTo>
                    <a:pt x="4002405" y="928688"/>
                  </a:lnTo>
                  <a:lnTo>
                    <a:pt x="4087178" y="102489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56310" y="25326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64895" y="33880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64895" y="21869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176838" y="28794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58005" y="2481739"/>
              <a:ext cx="321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/ 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1681" y="1585436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/ cm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6969" y="174450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6969" y="20912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59192" y="257984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78645" y="330041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= 0 时 x = 1 cm 且正在减小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735705"/>
            <a:ext cx="5410200" cy="1946910"/>
            <a:chOff x="533400" y="3735705"/>
            <a:chExt cx="5410200" cy="1946910"/>
          </a:xfrm>
        </p:grpSpPr>
        <p:sp>
          <p:nvSpPr>
            <p:cNvPr id="23" name="Rectangle 23"/>
            <p:cNvSpPr/>
            <p:nvPr/>
          </p:nvSpPr>
          <p:spPr>
            <a:xfrm>
              <a:off x="533400" y="3735705"/>
              <a:ext cx="5410200" cy="194691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869055"/>
              <a:ext cx="47625" cy="16802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3928110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2153" y="3962400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4285298"/>
              <a:ext cx="4566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质点做简谐振动，振动曲线如图（单位 cm 与 s）。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047" y="4587240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质点的振动方程。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6248400" y="1533525"/>
            <a:ext cx="5189855" cy="1900714"/>
            <a:chOff x="6248400" y="1533525"/>
            <a:chExt cx="5189855" cy="1900714"/>
          </a:xfrm>
        </p:grpSpPr>
        <p:sp>
          <p:nvSpPr>
            <p:cNvPr id="30" name="Rectangle 30"/>
            <p:cNvSpPr/>
            <p:nvPr/>
          </p:nvSpPr>
          <p:spPr>
            <a:xfrm>
              <a:off x="6381750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8400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2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642" y="156495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读振幅与初相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785" y="1833086"/>
              <a:ext cx="4776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曲线最大值 2 cm 给 A = 2 cm；t = 0 时 x = A/2 且曲线下降说明 v₀ &lt; 0，矢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量在第一象限，φ₀ = π/3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642" y="23593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读第二个时刻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785" y="2627471"/>
              <a:ext cx="4067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 s 时又有 x = A/2，但曲线上升（v &gt; 0），相位是 5π/3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642" y="29460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求角频率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785" y="3214211"/>
              <a:ext cx="4444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5π/3 − π/3 = 4π/3，ω = Δφ/Δt = (4π/3)/2 = 2π/3 rad·s⁻¹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3602355"/>
            <a:ext cx="5410200" cy="952500"/>
            <a:chOff x="6248400" y="3602355"/>
            <a:chExt cx="5410200" cy="952500"/>
          </a:xfrm>
        </p:grpSpPr>
        <p:sp>
          <p:nvSpPr>
            <p:cNvPr id="44" name="Rectangle 44"/>
            <p:cNvSpPr/>
            <p:nvPr/>
          </p:nvSpPr>
          <p:spPr>
            <a:xfrm>
              <a:off x="6248400" y="3602355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40805" y="379476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36246" y="38290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33947" y="4151948"/>
              <a:ext cx="4192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2cos(2πt/3 + π/3) cm，周期 T = 2π/ω = 3 s。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248400" y="4730115"/>
            <a:ext cx="5410200" cy="952500"/>
            <a:chOff x="6248400" y="4730115"/>
            <a:chExt cx="5410200" cy="952500"/>
          </a:xfrm>
        </p:grpSpPr>
        <p:sp>
          <p:nvSpPr>
            <p:cNvPr id="49" name="Rectangle 49"/>
            <p:cNvSpPr/>
            <p:nvPr/>
          </p:nvSpPr>
          <p:spPr>
            <a:xfrm>
              <a:off x="6248400" y="4730115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863465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8905" y="49225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0345" y="4956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87478" y="5335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43497" y="5279708"/>
              <a:ext cx="4184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 t = 1 s 得相位 π、x = −2 cm，与图上最低点一致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91688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看图求初相时必须同时读位移和曲线的升降。只看“x = A/2”会得到 ±π/3 两个答案，升降方向才能定下取哪一个。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396" cy="909257"/>
            <a:chOff x="520446" y="342900"/>
            <a:chExt cx="7594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旋转矢量法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例2.5 由最大位移、最大回复力和最大速度求方程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744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弹簧振子沿 x 轴做简谐振动，xm = 0.3 m，最大回复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 Fm = 1.2 N，最大速度 vm = 1.2π m·s⁻¹；t = 0 时 x₀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(√3/2)A，方向沿 x 轴正向。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816066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（1）振动能量；（2）振动方程。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60420"/>
            <a:ext cx="4760595" cy="1428750"/>
            <a:chOff x="533400" y="3360420"/>
            <a:chExt cx="4760595" cy="1428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36042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9377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413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5742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93477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881914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k 与 ω 反推质量 m = k/ω² ≈ 0.025 kg，正值且量级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合理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446246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4409599"/>
              <a:ext cx="37201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E = mω²A²/2 复算得 0.18 J，与 kA²/2 一致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4954905"/>
            <a:ext cx="4760595" cy="702945"/>
            <a:chOff x="533400" y="4954905"/>
            <a:chExt cx="4760595" cy="702945"/>
          </a:xfrm>
        </p:grpSpPr>
        <p:sp>
          <p:nvSpPr>
            <p:cNvPr id="23" name="Rectangle 23"/>
            <p:cNvSpPr/>
            <p:nvPr/>
          </p:nvSpPr>
          <p:spPr>
            <a:xfrm>
              <a:off x="533400" y="4954905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202673"/>
              <a:ext cx="224134" cy="192560"/>
              <a:chOff x="726129" y="5202673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2730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2026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350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5099209"/>
              <a:ext cx="3784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题目没给初速度方向，φ = ±π/6 都满足。原课件按配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图取 −π/6。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5598795" y="1533525"/>
            <a:ext cx="4493476" cy="2702814"/>
            <a:chOff x="5598795" y="1533525"/>
            <a:chExt cx="4493476" cy="2702814"/>
          </a:xfrm>
        </p:grpSpPr>
        <p:sp>
          <p:nvSpPr>
            <p:cNvPr id="30" name="Rectangle 30"/>
            <p:cNvSpPr/>
            <p:nvPr/>
          </p:nvSpPr>
          <p:spPr>
            <a:xfrm>
              <a:off x="5732145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598795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419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1418" y="15644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由最大位移得振幅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2561" y="1818322"/>
              <a:ext cx="992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 = A = 0.3 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1418" y="21169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由最大回复力得劲度系数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2561" y="2371725"/>
              <a:ext cx="2550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Fm = kA，k = Fm/A = 1.2/0.3 = 4 N/m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1418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求能量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561" y="2925128"/>
              <a:ext cx="2103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kA²/2 = 4×0.3²/2 = 0.18 J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1418" y="32227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由最大速度得角频率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2561" y="3477578"/>
              <a:ext cx="3694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 = ωA，ω = vm/A = 1.2π/0.3 = 4π rad·s⁻¹，T = 0.5 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11418" y="37761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定初相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12561" y="4030980"/>
              <a:ext cx="4079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φ = x₀/A = √3/2，φ = ±π/6；取向 +x 运动的一支，φ = −π/6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598795" y="4397692"/>
            <a:ext cx="6059805" cy="1259205"/>
            <a:chOff x="5598795" y="4397692"/>
            <a:chExt cx="6059805" cy="1259205"/>
          </a:xfrm>
        </p:grpSpPr>
        <p:sp>
          <p:nvSpPr>
            <p:cNvPr id="52" name="Rectangle 52"/>
            <p:cNvSpPr/>
            <p:nvPr/>
          </p:nvSpPr>
          <p:spPr>
            <a:xfrm>
              <a:off x="5598795" y="4397692"/>
              <a:ext cx="6059805" cy="1259205"/>
            </a:xfrm>
            <a:prstGeom prst="roundRect">
              <a:avLst>
                <a:gd name="adj" fmla="val 1059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79770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76493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73293" y="4919186"/>
              <a:ext cx="47060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振动能量 E = 0.18 J；振动方程 x = 0.3cos(4πt − π/6) m。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8722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这道题给的三个“最大值”分别对应三个不同的公式：xm 给 A，Fm 给 k，vm 给 ω。看到最大值先想它属于哪一个。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旋转矢量法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例2.6 由初始动能和势能求振动方程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257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m = 2.5 kg，k = 250 N/m；t = 0 时振子在平衡位置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右方且向 x 轴负方向运动，此时 Ek = 0.2 J，Ep = 0.6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816066"/>
              <a:ext cx="37952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（1）t = 0 时的位移和速度；（2）振动方程。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360420"/>
            <a:ext cx="4760595" cy="2200275"/>
            <a:chOff x="533400" y="3360420"/>
            <a:chExt cx="4760595" cy="2200275"/>
          </a:xfrm>
        </p:grpSpPr>
        <p:sp>
          <p:nvSpPr>
            <p:cNvPr id="14" name="Rectangle 14"/>
            <p:cNvSpPr/>
            <p:nvPr/>
          </p:nvSpPr>
          <p:spPr>
            <a:xfrm>
              <a:off x="533400" y="3360420"/>
              <a:ext cx="4760595" cy="220027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93770"/>
              <a:ext cx="47625" cy="1933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413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5742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93477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881914"/>
              <a:ext cx="3207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x₀/A = 0.0693/0.08 = 0.866 = √3/2，正是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cos(π/6)，与初相自洽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446246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4409599"/>
              <a:ext cx="3377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代回能量：kx₀²/2 = 250×0.0048/2 = 0.6 J，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mv₀²/2 = 2.5×0.16/2 = 0.2 J，两者都对上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99014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4937284"/>
              <a:ext cx="3865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v₀ = −ωA sin(π/6) = −10×0.08×0.5 = −0.4 m·s⁻¹，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负号与“向 x 负方向”一致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5598795" y="1533525"/>
            <a:ext cx="5687125" cy="2702814"/>
            <a:chOff x="5598795" y="1533525"/>
            <a:chExt cx="5687125" cy="2702814"/>
          </a:xfrm>
        </p:grpSpPr>
        <p:sp>
          <p:nvSpPr>
            <p:cNvPr id="25" name="Rectangle 25"/>
            <p:cNvSpPr/>
            <p:nvPr/>
          </p:nvSpPr>
          <p:spPr>
            <a:xfrm>
              <a:off x="5732145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598795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2419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418" y="15644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由动能求初速度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2561" y="1818322"/>
              <a:ext cx="52733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 = mv₀²/2，v₀ = −√(2Ek/m) = −√(0.4/2.5) = −0.4 m·s⁻¹（向负方向取负号）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418" y="21169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由势能求初位移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561" y="2371725"/>
              <a:ext cx="4687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Ep = kx₀²/2，x₀ = √(2Ep/k) = √(1.2/250) ≈ 0.069 m（在右方取正号）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418" y="2670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由总能量求振幅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2561" y="2925128"/>
              <a:ext cx="3841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Ek + Ep = 0.8 J，A = √(2E/k) = √(1.6/250) = 0.08 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1418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求角频率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2561" y="3477578"/>
              <a:ext cx="2590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√(k/m) = √(250/2.5) = 10 rad·s⁻¹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1418" y="37761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定初相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2561" y="4030980"/>
              <a:ext cx="436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φ = x₀/A = √3/2 给 φ = ±π/6；v₀ &lt; 0 要求 sin φ &gt; 0，取 φ = π/6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5598795" y="4397692"/>
            <a:ext cx="6059805" cy="1163002"/>
            <a:chOff x="5598795" y="4397692"/>
            <a:chExt cx="6059805" cy="1163002"/>
          </a:xfrm>
        </p:grpSpPr>
        <p:sp>
          <p:nvSpPr>
            <p:cNvPr id="47" name="Rectangle 47"/>
            <p:cNvSpPr/>
            <p:nvPr/>
          </p:nvSpPr>
          <p:spPr>
            <a:xfrm>
              <a:off x="5598795" y="4397692"/>
              <a:ext cx="6059805" cy="1163002"/>
            </a:xfrm>
            <a:prstGeom prst="roundRect">
              <a:avLst>
                <a:gd name="adj" fmla="val 1146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79770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76493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73293" y="4919186"/>
              <a:ext cx="5206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（1）x₀ ≈ 0.069 m，v₀ = −0.4 m·s⁻¹；（2）x = 0.08cos(10t + π/6)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2" name="Rectangle 5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8452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能量类的题目都可以走这条线：Ep 给位置，Ek 给速度，E 给振幅，k 与 m 给角频率，最后用速度符号定象限。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46516" cy="2997517"/>
            <a:chOff x="667512" y="1835468"/>
            <a:chExt cx="534651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简谐振动的合成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366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2.2，一个质点同时参与两个振动时怎么算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同方向同频率：仍是简谐振动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频率相近：拍现象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方向垂直：椭圆轨迹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同方向同频率合成，结果仍是同频率的简谐振动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1102042" y="1596390"/>
            <a:ext cx="4308831" cy="2436209"/>
            <a:chOff x="1102042" y="1596390"/>
            <a:chExt cx="4308831" cy="2436209"/>
          </a:xfrm>
        </p:grpSpPr>
        <p:sp>
          <p:nvSpPr>
            <p:cNvPr id="7" name="Freeform 7"/>
            <p:cNvSpPr/>
            <p:nvPr/>
          </p:nvSpPr>
          <p:spPr>
            <a:xfrm>
              <a:off x="1168718" y="3745230"/>
              <a:ext cx="4020502" cy="9525"/>
            </a:xfrm>
            <a:custGeom>
              <a:avLst/>
              <a:gdLst/>
              <a:ahLst/>
              <a:cxnLst/>
              <a:rect l="l" t="t" r="r" b="b"/>
              <a:pathLst>
                <a:path w="4020502" h="9525">
                  <a:moveTo>
                    <a:pt x="0" y="0"/>
                  </a:moveTo>
                  <a:lnTo>
                    <a:pt x="402050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189220" y="36976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67765" y="3218498"/>
              <a:ext cx="2321242" cy="518160"/>
            </a:xfrm>
            <a:custGeom>
              <a:avLst/>
              <a:gdLst/>
              <a:ahLst/>
              <a:cxnLst/>
              <a:rect l="l" t="t" r="r" b="b"/>
              <a:pathLst>
                <a:path w="2321242" h="518160">
                  <a:moveTo>
                    <a:pt x="0" y="518160"/>
                  </a:moveTo>
                  <a:lnTo>
                    <a:pt x="232124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78530" y="3172778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5717"/>
                  </a:moveTo>
                  <a:lnTo>
                    <a:pt x="20955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3478" y="2286000"/>
              <a:ext cx="1090612" cy="1428750"/>
            </a:xfrm>
            <a:custGeom>
              <a:avLst/>
              <a:gdLst/>
              <a:ahLst/>
              <a:cxnLst/>
              <a:rect l="l" t="t" r="r" b="b"/>
              <a:pathLst>
                <a:path w="1090612" h="1428750">
                  <a:moveTo>
                    <a:pt x="0" y="1428750"/>
                  </a:moveTo>
                  <a:lnTo>
                    <a:pt x="1090612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06942" y="2210752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0"/>
                  </a:moveTo>
                  <a:lnTo>
                    <a:pt x="75248" y="104775"/>
                  </a:lnTo>
                  <a:lnTo>
                    <a:pt x="0" y="46673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63955" y="1691640"/>
              <a:ext cx="3534728" cy="2034540"/>
            </a:xfrm>
            <a:custGeom>
              <a:avLst/>
              <a:gdLst/>
              <a:ahLst/>
              <a:cxnLst/>
              <a:rect l="l" t="t" r="r" b="b"/>
              <a:pathLst>
                <a:path w="3534728" h="2034540">
                  <a:moveTo>
                    <a:pt x="0" y="2034540"/>
                  </a:moveTo>
                  <a:lnTo>
                    <a:pt x="353472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74870" y="1644015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0"/>
                  </a:moveTo>
                  <a:lnTo>
                    <a:pt x="47625" y="88583"/>
                  </a:lnTo>
                  <a:lnTo>
                    <a:pt x="0" y="666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642360" y="1655445"/>
              <a:ext cx="1148715" cy="1503997"/>
            </a:xfrm>
            <a:custGeom>
              <a:avLst/>
              <a:gdLst/>
              <a:ahLst/>
              <a:cxnLst/>
              <a:rect l="l" t="t" r="r" b="b"/>
              <a:pathLst>
                <a:path w="1148715" h="1503997">
                  <a:moveTo>
                    <a:pt x="0" y="1503997"/>
                  </a:moveTo>
                  <a:lnTo>
                    <a:pt x="114871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362200" y="1633538"/>
              <a:ext cx="2414588" cy="538162"/>
            </a:xfrm>
            <a:custGeom>
              <a:avLst/>
              <a:gdLst/>
              <a:ahLst/>
              <a:cxnLst/>
              <a:rect l="l" t="t" r="r" b="b"/>
              <a:pathLst>
                <a:path w="2414588" h="538162">
                  <a:moveTo>
                    <a:pt x="0" y="538162"/>
                  </a:moveTo>
                  <a:lnTo>
                    <a:pt x="241458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Ellipse 17"/>
            <p:cNvSpPr/>
            <p:nvPr/>
          </p:nvSpPr>
          <p:spPr>
            <a:xfrm>
              <a:off x="1102042" y="371665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590925" y="316134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296478" y="21516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785360" y="15963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12371" y="36752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73618" y="3381375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99411" y="341376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626870" y="287750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52664" y="2908935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903220" y="259937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2786" y="263175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90509" y="3841909"/>
              <a:ext cx="34598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两个矢量以同样的 ω 转动，夹角不变，平行四边形整体旋转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4238625"/>
            <a:ext cx="4977765" cy="1059180"/>
            <a:chOff x="533400" y="4238625"/>
            <a:chExt cx="4977765" cy="1059180"/>
          </a:xfrm>
        </p:grpSpPr>
        <p:sp>
          <p:nvSpPr>
            <p:cNvPr id="30" name="Rectangle 30"/>
            <p:cNvSpPr/>
            <p:nvPr/>
          </p:nvSpPr>
          <p:spPr>
            <a:xfrm>
              <a:off x="533400" y="4238625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4668203"/>
              <a:ext cx="200026" cy="200025"/>
              <a:chOff x="738188" y="4668203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46682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47126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48237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4387215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因为夹角 φ₂ − φ₁ 不变，合矢量的长度也不变，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所以合振动的振幅是常数，合成结果仍然是简谐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振动。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113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114"/>
              <p:cNvSpPr txBox="1">
                <a:spLocks noGrp="1"/>
              </p:cNvSpPr>
              <p:nvPr/>
            </p:nvSpPr>
            <p:spPr>
              <a:xfrm>
                <a:off x="5815965" y="1981200"/>
                <a:ext cx="5842635" cy="388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ra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115"/>
              <p:cNvSpPr txBox="1">
                <a:spLocks noGrp="1"/>
              </p:cNvSpPr>
              <p:nvPr/>
            </p:nvSpPr>
            <p:spPr>
              <a:xfrm>
                <a:off x="5815965" y="2560320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8" name="c2-card-4"/>
          <p:cNvGrpSpPr/>
          <p:nvPr/>
        </p:nvGrpSpPr>
        <p:grpSpPr>
          <a:xfrm>
            <a:off x="5815965" y="3162300"/>
            <a:ext cx="5842635" cy="2135505"/>
            <a:chOff x="5815965" y="3162300"/>
            <a:chExt cx="5842635" cy="2135505"/>
          </a:xfrm>
        </p:grpSpPr>
        <p:sp>
          <p:nvSpPr>
            <p:cNvPr id="40" name="Rectangle 40"/>
            <p:cNvSpPr/>
            <p:nvPr/>
          </p:nvSpPr>
          <p:spPr>
            <a:xfrm>
              <a:off x="5815965" y="3162300"/>
              <a:ext cx="5842635" cy="2135505"/>
            </a:xfrm>
            <a:prstGeom prst="roundRect">
              <a:avLst>
                <a:gd name="adj" fmla="val 624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25515" y="33718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94070" y="34075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两个公式的来历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31230" y="38119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89345" y="3749040"/>
              <a:ext cx="4387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振幅公式就是三角形的余弦定理，夹角取 φ₂ − φ₁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31230" y="41471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89345" y="4084320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初相公式就是把两个矢量的 y 分量之和除以 x 分量之和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9038" y="4416266"/>
              <a:ext cx="4992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 φ 时必须按分子分母的正负定象限，只按 arctan 取值会差 π。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合成之所以简单，是因为两个分振动的频率相同。频率不同时夹角随时间变化，合矢量的长度也跟着变，下面的拍就是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这种情况。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相位差决定合振幅是加强还是减弱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5842635" cy="2258378"/>
            <a:chOff x="533400" y="1524000"/>
            <a:chExt cx="5842635" cy="22583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481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7619" y="1651635"/>
              <a:ext cx="833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 Δφ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47925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32501" y="1651635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合振幅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51200" y="1651635"/>
              <a:ext cx="9313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A₁ = A₂ 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5845" y="2216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79729" y="22164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2kπ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48038" y="1978342"/>
              <a:ext cx="1500188" cy="66579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32168" y="2096452"/>
              <a:ext cx="93097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A₂（最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1615" y="22164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2A₁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648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653665"/>
              <a:ext cx="584263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45845" y="29013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79818" y="2901315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(2k+1)π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48038" y="2663190"/>
              <a:ext cx="1500188" cy="66579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80733" y="2781300"/>
              <a:ext cx="103384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|A₁ − A₂|（最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60057" y="290131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327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5845" y="34661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57056" y="34661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45586" y="34661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介于两者之间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46561" y="34661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由公式算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842635" cy="22583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30718" y="152400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33750" y="152400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52035" y="152400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57638"/>
            <a:ext cx="5842635" cy="1466850"/>
            <a:chOff x="533400" y="3957638"/>
            <a:chExt cx="5842635" cy="1466850"/>
          </a:xfrm>
        </p:grpSpPr>
        <p:sp>
          <p:nvSpPr>
            <p:cNvPr id="34" name="Rectangle 34"/>
            <p:cNvSpPr/>
            <p:nvPr/>
          </p:nvSpPr>
          <p:spPr>
            <a:xfrm>
              <a:off x="533400" y="3957638"/>
              <a:ext cx="584263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09098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150042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7341" y="418433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为什么是这两个极值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4506278"/>
              <a:ext cx="509720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振幅公式里只有 cos(φ₂−φ₁) 是变的，它的取值范围是 −1 到 1。取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 时根号内是 (A₁+A₂)²，取 −1 时是 (A₁−A₂)²，其余情况都落在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中间。</a:t>
              </a:r>
            </a:p>
          </p:txBody>
        </p:sp>
      </p:grpSp>
      <p:grpSp>
        <p:nvGrpSpPr>
          <p:cNvPr id="46" name="c1-callout-3"/>
          <p:cNvGrpSpPr/>
          <p:nvPr/>
        </p:nvGrpSpPr>
        <p:grpSpPr>
          <a:xfrm>
            <a:off x="533400" y="5599748"/>
            <a:ext cx="5842635" cy="729615"/>
            <a:chOff x="533400" y="5599748"/>
            <a:chExt cx="5842635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559974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860851"/>
              <a:ext cx="224134" cy="192560"/>
              <a:chOff x="726129" y="5860851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9312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8608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090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745480"/>
              <a:ext cx="48571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反相时合振幅取 |A₁ − A₂|，要加绝对值；合振动的初相与振幅较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大的那个分振动相同。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680835" y="1524000"/>
            <a:ext cx="4977765" cy="1557338"/>
            <a:chOff x="6680835" y="1524000"/>
            <a:chExt cx="4977765" cy="1557338"/>
          </a:xfrm>
        </p:grpSpPr>
        <p:sp>
          <p:nvSpPr>
            <p:cNvPr id="47" name="Rectangle 47"/>
            <p:cNvSpPr/>
            <p:nvPr/>
          </p:nvSpPr>
          <p:spPr>
            <a:xfrm>
              <a:off x="6680835" y="1524000"/>
              <a:ext cx="4977765" cy="1557338"/>
            </a:xfrm>
            <a:prstGeom prst="roundRect">
              <a:avLst>
                <a:gd name="adj" fmla="val 85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73240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56679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解题顺序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73240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28918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54037" y="2072640"/>
              <a:ext cx="4263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先算相位差 Δφ = φ₂ − φ₁，看是不是 2kπ 或 (2k+1)π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73240" y="23631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28918" y="2401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5403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是特例就直接写答案，不必代公式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73240" y="266604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28918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54037" y="267843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不是特例再代余弦定理和正切公式，或者画矢量图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680835" y="3256598"/>
            <a:ext cx="4977765" cy="2025968"/>
            <a:chOff x="6680835" y="3256598"/>
            <a:chExt cx="4977765" cy="2025968"/>
          </a:xfrm>
        </p:grpSpPr>
        <p:sp>
          <p:nvSpPr>
            <p:cNvPr id="60" name="Rectangle 60"/>
            <p:cNvSpPr/>
            <p:nvPr/>
          </p:nvSpPr>
          <p:spPr>
            <a:xfrm>
              <a:off x="6680835" y="3256598"/>
              <a:ext cx="4977765" cy="2025968"/>
            </a:xfrm>
            <a:prstGeom prst="roundRect">
              <a:avLst>
                <a:gd name="adj" fmla="val 6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90360" y="3389948"/>
              <a:ext cx="47625" cy="17592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11340" y="3449002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66776" y="348329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一眼看出答案的两种情形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919912" y="38614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75932" y="3805238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4cos(2t + π/6)、x₂ = 3cos(2t + 7π/6)：Δφ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π，反相，A = 4 − 3 = 1 cm，初相取振幅大的那个，φ =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π/6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919912" y="46786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75932" y="4622482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两个振幅相等、相位差 π 的振动叠加，质点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保持静止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这是干涉相消的一维版本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680835" y="5457825"/>
            <a:ext cx="4977765" cy="870585"/>
            <a:chOff x="6680835" y="5457825"/>
            <a:chExt cx="4977765" cy="870585"/>
          </a:xfrm>
        </p:grpSpPr>
        <p:sp>
          <p:nvSpPr>
            <p:cNvPr id="69" name="Rectangle 69"/>
            <p:cNvSpPr/>
            <p:nvPr/>
          </p:nvSpPr>
          <p:spPr>
            <a:xfrm>
              <a:off x="6680835" y="5457825"/>
              <a:ext cx="4977765" cy="870585"/>
            </a:xfrm>
            <a:prstGeom prst="roundRect">
              <a:avLst>
                <a:gd name="adj" fmla="val 131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885623" y="5793105"/>
              <a:ext cx="200026" cy="200025"/>
              <a:chOff x="6885623" y="5793105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885623" y="57931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925361" y="58375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960077" y="59486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7188327" y="5674995"/>
              <a:ext cx="39827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章讲波的干涉时，加强与减弱的条件就是这里的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同相与反相，只不过相位差由波程差 δ 换算而来。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例2.7 反相叠加：直接用相位差判断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749742"/>
            <a:chOff x="533400" y="1524000"/>
            <a:chExt cx="4977765" cy="17497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49742"/>
            </a:xfrm>
            <a:prstGeom prst="roundRect">
              <a:avLst>
                <a:gd name="adj" fmla="val 76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30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709" y="1763554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861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一物体同时参与同一直线上的两个简谐振动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8"/>
                <p:cNvSpPr txBox="1">
                  <a:spLocks noGrp="1"/>
                </p:cNvSpPr>
                <p:nvPr/>
              </p:nvSpPr>
              <p:spPr>
                <a:xfrm>
                  <a:off x="775335" y="2397442"/>
                  <a:ext cx="4531995" cy="3343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0.10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4πt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9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0.05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9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4πt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9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zh-CN" sz="9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2847499"/>
              <a:ext cx="31399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合振动的表达式（长度单位 m）。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459480"/>
            <a:ext cx="4977765" cy="2877502"/>
            <a:chOff x="533400" y="3459480"/>
            <a:chExt cx="4977765" cy="2877502"/>
          </a:xfrm>
        </p:grpSpPr>
        <p:sp>
          <p:nvSpPr>
            <p:cNvPr id="15" name="Rectangle 15"/>
            <p:cNvSpPr/>
            <p:nvPr/>
          </p:nvSpPr>
          <p:spPr>
            <a:xfrm>
              <a:off x="533400" y="3459480"/>
              <a:ext cx="4977765" cy="2877502"/>
            </a:xfrm>
            <a:prstGeom prst="roundRect">
              <a:avLst>
                <a:gd name="adj" fmla="val 46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92830"/>
              <a:ext cx="47625" cy="26108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6633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43" y="36990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409670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4036219"/>
              <a:ext cx="38106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代公式复核：√(0.10² + 0.05²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2×0.10×0.05×cos π) = √0.0025 = 0.05 m，一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4959667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4899184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t = 0：x₁ = 0，x₂ = 0，合位移为 0；答案给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0.05cos(−π/2) = 0，对上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55511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5490686"/>
              <a:ext cx="36573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4πt = π/2：x₁ = 0.10，x₂ = −0.05，和为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0.05；答案给 0.05cos(0) = 0.05，对上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815965" y="1533525"/>
            <a:ext cx="4203649" cy="2411159"/>
            <a:chOff x="5815965" y="1533525"/>
            <a:chExt cx="4203649" cy="2411159"/>
          </a:xfrm>
        </p:grpSpPr>
        <p:sp>
          <p:nvSpPr>
            <p:cNvPr id="26" name="Rectangle 26"/>
            <p:cNvSpPr/>
            <p:nvPr/>
          </p:nvSpPr>
          <p:spPr>
            <a:xfrm>
              <a:off x="5949315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1596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0958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81596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82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算相位差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969" y="1846898"/>
              <a:ext cx="3776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(4πt + π/2) − (4πt − π/2) = π，两个振动反相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7826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求合振幅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969" y="2467927"/>
              <a:ext cx="3469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反相时 A = |A₁ − A₂| = |0.10 − 0.05| = 0.05 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826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定初相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969" y="3088957"/>
              <a:ext cx="3790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&gt; A₂，合振动与振幅大的 x₁ 同相，φ = φ₁ = −π/2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7826" y="34294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写出结果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969" y="3709988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0.05cos(4πt − π/2) m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5815965" y="4120515"/>
            <a:ext cx="5842635" cy="1274445"/>
            <a:chOff x="5815965" y="4120515"/>
            <a:chExt cx="5842635" cy="1274445"/>
          </a:xfrm>
        </p:grpSpPr>
        <p:sp>
          <p:nvSpPr>
            <p:cNvPr id="44" name="Rectangle 44"/>
            <p:cNvSpPr/>
            <p:nvPr/>
          </p:nvSpPr>
          <p:spPr>
            <a:xfrm>
              <a:off x="5815965" y="4120515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19800" y="43243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13958" y="43600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2561" y="4697254"/>
              <a:ext cx="51361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0.05cos(4πt − π/2) m，振幅 0.05 m，周期 T = 2π/(4π) =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 s。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815965" y="5580698"/>
            <a:ext cx="5842635" cy="756285"/>
            <a:chOff x="5815965" y="5580698"/>
            <a:chExt cx="5842635" cy="756285"/>
          </a:xfrm>
        </p:grpSpPr>
        <p:sp>
          <p:nvSpPr>
            <p:cNvPr id="49" name="Rectangle 49"/>
            <p:cNvSpPr/>
            <p:nvPr/>
          </p:nvSpPr>
          <p:spPr>
            <a:xfrm>
              <a:off x="5815965" y="5580698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5858828"/>
              <a:ext cx="200026" cy="200025"/>
              <a:chOff x="6020753" y="585882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020753" y="58588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060491" y="59032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095207" y="60144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3076" y="5727859"/>
              <a:ext cx="49107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这类题不必代余弦定理，看出相位差是 π 就能直接写答案，代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公式只用来复核。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32273" cy="909257"/>
            <a:chOff x="520446" y="342900"/>
            <a:chExt cx="70322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322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例2.8 相位差为 π/2 时，合成就是直角三角形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524000"/>
            <a:chOff x="533400" y="1524000"/>
            <a:chExt cx="4977765" cy="15240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两个同方向简谐振动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25"/>
                <p:cNvSpPr txBox="1">
                  <a:spLocks noGrp="1"/>
                </p:cNvSpPr>
                <p:nvPr/>
              </p:nvSpPr>
              <p:spPr>
                <a:xfrm>
                  <a:off x="752475" y="2308860"/>
                  <a:ext cx="4577715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7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7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7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7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7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3π</m:t>
                                    </m:r>
                                  </m:num>
                                  <m:den>
                                    <m:r>
                                      <a:rPr lang="zh-CN" sz="7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7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7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7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7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7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7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7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zh-CN" sz="7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5998" y="2668429"/>
              <a:ext cx="2657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合振动表达式（长度单位 m）。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212782"/>
            <a:ext cx="4977765" cy="2482215"/>
            <a:chOff x="533400" y="3212782"/>
            <a:chExt cx="4977765" cy="2482215"/>
          </a:xfrm>
        </p:grpSpPr>
        <p:sp>
          <p:nvSpPr>
            <p:cNvPr id="15" name="Rectangle 15"/>
            <p:cNvSpPr/>
            <p:nvPr/>
          </p:nvSpPr>
          <p:spPr>
            <a:xfrm>
              <a:off x="533400" y="3212782"/>
              <a:ext cx="4977765" cy="2482215"/>
            </a:xfrm>
            <a:prstGeom prst="roundRect">
              <a:avLst>
                <a:gd name="adj" fmla="val 5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46132"/>
              <a:ext cx="47625" cy="22155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3937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4266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3734276"/>
              <a:ext cx="402574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原课件中间一步写成 A = √(A₁²+A₂²) = 2√3 m，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漏掉了</a:t>
              </a:r>
              <a:br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×10⁻²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2√3×10⁻² m ≈ 0.0346 m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。该页最后给出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的答案是带 10⁻² 的，只是中间这一行掉了量级。</a:t>
              </a:r>
            </a:p>
          </p:txBody>
        </p:sp>
      </p:grpSp>
      <p:grpSp>
        <p:nvGrpSpPr>
          <p:cNvPr id="34" name="c2-steps-1"/>
          <p:cNvGrpSpPr/>
          <p:nvPr/>
        </p:nvGrpSpPr>
        <p:grpSpPr>
          <a:xfrm>
            <a:off x="5815965" y="1533525"/>
            <a:ext cx="5385054" cy="1790319"/>
            <a:chOff x="5815965" y="1533525"/>
            <a:chExt cx="5385054" cy="1790319"/>
          </a:xfrm>
        </p:grpSpPr>
        <p:sp>
          <p:nvSpPr>
            <p:cNvPr id="21" name="Rectangle 21"/>
            <p:cNvSpPr/>
            <p:nvPr/>
          </p:nvSpPr>
          <p:spPr>
            <a:xfrm>
              <a:off x="594931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8588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算相位差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29731" y="1818322"/>
              <a:ext cx="2798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π/4 − 3π/4 = −π/2，两个矢量互相垂直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8588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求合振幅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731" y="2371725"/>
              <a:ext cx="3926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垂直时 A = √(A₁² + A₂²) = √(3 + 9) × 10⁻² = 2√3 × 10⁻² 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8588" y="2670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由直角三角形定初相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9731" y="2925128"/>
              <a:ext cx="497128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合矢量与 A₂ 的夹角满足 tan θ = A₁/A₂ = √3/3，θ = π/6；合矢量偏向 A₁ 一侧，φ =</a:t>
              </a:r>
              <a:br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π/4 + π/6 = 5π/12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5815965" y="3485198"/>
            <a:ext cx="5842635" cy="1143952"/>
            <a:chOff x="5815965" y="3485198"/>
            <a:chExt cx="5842635" cy="1143952"/>
          </a:xfrm>
        </p:grpSpPr>
        <p:sp>
          <p:nvSpPr>
            <p:cNvPr id="35" name="Rectangle 35"/>
            <p:cNvSpPr/>
            <p:nvPr/>
          </p:nvSpPr>
          <p:spPr>
            <a:xfrm>
              <a:off x="5815965" y="3485198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25490" y="361854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35040" y="366617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08408" y="369903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用通用公式复核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28563" y="4005739"/>
              <a:ext cx="497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tan φ = (3+√3)/(3−√3) = 2 + √3 = tan75°，而 5π/12 正是 75°，两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种算法一致。</a:t>
              </a:r>
            </a:p>
          </p:txBody>
        </p:sp>
      </p:grpSp>
      <p:grpSp>
        <p:nvGrpSpPr>
          <p:cNvPr id="45" name="c2-card-3"/>
          <p:cNvGrpSpPr/>
          <p:nvPr/>
        </p:nvGrpSpPr>
        <p:grpSpPr>
          <a:xfrm>
            <a:off x="5815965" y="4793932"/>
            <a:ext cx="5842635" cy="901065"/>
            <a:chOff x="5815965" y="4793932"/>
            <a:chExt cx="5842635" cy="901065"/>
          </a:xfrm>
        </p:grpSpPr>
        <p:sp>
          <p:nvSpPr>
            <p:cNvPr id="41" name="Rectangle 41"/>
            <p:cNvSpPr/>
            <p:nvPr/>
          </p:nvSpPr>
          <p:spPr>
            <a:xfrm>
              <a:off x="5815965" y="4793932"/>
              <a:ext cx="5842635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96940" y="497490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92711" y="500776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90463" y="5315426"/>
              <a:ext cx="3002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2√3 × 10⁻² cos(10t + 5π/12) m。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8249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相位差是 ±π/2 时，振幅用勾股定理、初相用直角三角形的锐角，比代通用公式快，也不容易在象限上出错。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频率相近时合振幅忽强忽弱，这就是拍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32"/>
              <p:cNvSpPr txBox="1">
                <a:spLocks noGrp="1"/>
              </p:cNvSpPr>
              <p:nvPr/>
            </p:nvSpPr>
            <p:spPr>
              <a:xfrm>
                <a:off x="533400" y="1524000"/>
                <a:ext cx="6059805" cy="282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8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2A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func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  <m:f>
                            <m:fPr>
                              <m:type m:val="bar"/>
                              <m:ctrl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8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e>
                                      <m:r>
                                        <a:rPr lang="zh-CN" sz="8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ν</m:t>
                                      </m:r>
                                    </m:e>
                                    <m:sub>
                                      <m:r>
                                        <a:rPr lang="zh-CN" sz="8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zh-CN" sz="8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ν</m:t>
                                      </m:r>
                                    </m:e>
                                    <m:sub>
                                      <m:r>
                                        <a:rPr lang="zh-CN" sz="8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sz="8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8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2" name="c1-graph-2"/>
          <p:cNvGrpSpPr/>
          <p:nvPr/>
        </p:nvGrpSpPr>
        <p:grpSpPr>
          <a:xfrm>
            <a:off x="765810" y="2351722"/>
            <a:ext cx="5806182" cy="2767489"/>
            <a:chOff x="765810" y="2351722"/>
            <a:chExt cx="5806182" cy="2767489"/>
          </a:xfrm>
        </p:grpSpPr>
        <p:sp>
          <p:nvSpPr>
            <p:cNvPr id="8" name="Freeform 8"/>
            <p:cNvSpPr/>
            <p:nvPr/>
          </p:nvSpPr>
          <p:spPr>
            <a:xfrm>
              <a:off x="794385" y="3556635"/>
              <a:ext cx="5573078" cy="9525"/>
            </a:xfrm>
            <a:custGeom>
              <a:avLst/>
              <a:gdLst/>
              <a:ahLst/>
              <a:cxnLst/>
              <a:rect l="l" t="t" r="r" b="b"/>
              <a:pathLst>
                <a:path w="5573078" h="9525">
                  <a:moveTo>
                    <a:pt x="0" y="0"/>
                  </a:moveTo>
                  <a:lnTo>
                    <a:pt x="557307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367462" y="35090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52488" y="2351722"/>
              <a:ext cx="5421630" cy="2393632"/>
            </a:xfrm>
            <a:custGeom>
              <a:avLst/>
              <a:gdLst/>
              <a:ahLst/>
              <a:cxnLst/>
              <a:rect l="l" t="t" r="r" b="b"/>
              <a:pathLst>
                <a:path w="5421630" h="2393632">
                  <a:moveTo>
                    <a:pt x="0" y="1194435"/>
                  </a:moveTo>
                  <a:lnTo>
                    <a:pt x="8573" y="1188720"/>
                  </a:lnTo>
                  <a:lnTo>
                    <a:pt x="32385" y="1176337"/>
                  </a:lnTo>
                  <a:lnTo>
                    <a:pt x="50482" y="1169670"/>
                  </a:lnTo>
                  <a:lnTo>
                    <a:pt x="75248" y="1173480"/>
                  </a:lnTo>
                  <a:lnTo>
                    <a:pt x="99060" y="1185862"/>
                  </a:lnTo>
                  <a:lnTo>
                    <a:pt x="117157" y="1204912"/>
                  </a:lnTo>
                  <a:lnTo>
                    <a:pt x="140970" y="1233487"/>
                  </a:lnTo>
                  <a:lnTo>
                    <a:pt x="165735" y="1267778"/>
                  </a:lnTo>
                  <a:lnTo>
                    <a:pt x="189548" y="1305878"/>
                  </a:lnTo>
                  <a:lnTo>
                    <a:pt x="214312" y="1341120"/>
                  </a:lnTo>
                  <a:lnTo>
                    <a:pt x="232410" y="1372552"/>
                  </a:lnTo>
                  <a:lnTo>
                    <a:pt x="256223" y="1391602"/>
                  </a:lnTo>
                  <a:lnTo>
                    <a:pt x="280988" y="1401128"/>
                  </a:lnTo>
                  <a:lnTo>
                    <a:pt x="299085" y="1395412"/>
                  </a:lnTo>
                  <a:lnTo>
                    <a:pt x="322898" y="1369695"/>
                  </a:lnTo>
                  <a:lnTo>
                    <a:pt x="347662" y="1331595"/>
                  </a:lnTo>
                  <a:lnTo>
                    <a:pt x="371475" y="1274445"/>
                  </a:lnTo>
                  <a:lnTo>
                    <a:pt x="396240" y="1204912"/>
                  </a:lnTo>
                  <a:lnTo>
                    <a:pt x="414338" y="1128712"/>
                  </a:lnTo>
                  <a:lnTo>
                    <a:pt x="438150" y="1049655"/>
                  </a:lnTo>
                  <a:lnTo>
                    <a:pt x="462915" y="973455"/>
                  </a:lnTo>
                  <a:lnTo>
                    <a:pt x="481012" y="909637"/>
                  </a:lnTo>
                  <a:lnTo>
                    <a:pt x="504825" y="859155"/>
                  </a:lnTo>
                  <a:lnTo>
                    <a:pt x="529590" y="834390"/>
                  </a:lnTo>
                  <a:lnTo>
                    <a:pt x="553402" y="830580"/>
                  </a:lnTo>
                  <a:lnTo>
                    <a:pt x="578167" y="856298"/>
                  </a:lnTo>
                  <a:lnTo>
                    <a:pt x="596265" y="909637"/>
                  </a:lnTo>
                  <a:lnTo>
                    <a:pt x="620078" y="989648"/>
                  </a:lnTo>
                  <a:lnTo>
                    <a:pt x="643890" y="1090612"/>
                  </a:lnTo>
                  <a:lnTo>
                    <a:pt x="662940" y="1204912"/>
                  </a:lnTo>
                  <a:lnTo>
                    <a:pt x="686752" y="1328737"/>
                  </a:lnTo>
                  <a:lnTo>
                    <a:pt x="710565" y="1448752"/>
                  </a:lnTo>
                  <a:lnTo>
                    <a:pt x="735330" y="1560195"/>
                  </a:lnTo>
                  <a:lnTo>
                    <a:pt x="759142" y="1654493"/>
                  </a:lnTo>
                  <a:lnTo>
                    <a:pt x="777240" y="1718310"/>
                  </a:lnTo>
                  <a:lnTo>
                    <a:pt x="802005" y="1753552"/>
                  </a:lnTo>
                  <a:lnTo>
                    <a:pt x="825817" y="1746885"/>
                  </a:lnTo>
                  <a:lnTo>
                    <a:pt x="843915" y="1702118"/>
                  </a:lnTo>
                  <a:lnTo>
                    <a:pt x="868680" y="1620202"/>
                  </a:lnTo>
                  <a:lnTo>
                    <a:pt x="892492" y="1505902"/>
                  </a:lnTo>
                  <a:lnTo>
                    <a:pt x="917258" y="1363028"/>
                  </a:lnTo>
                  <a:lnTo>
                    <a:pt x="941070" y="1204912"/>
                  </a:lnTo>
                  <a:lnTo>
                    <a:pt x="959167" y="1040130"/>
                  </a:lnTo>
                  <a:lnTo>
                    <a:pt x="983933" y="878205"/>
                  </a:lnTo>
                  <a:lnTo>
                    <a:pt x="1007745" y="732472"/>
                  </a:lnTo>
                  <a:lnTo>
                    <a:pt x="1025842" y="615315"/>
                  </a:lnTo>
                  <a:lnTo>
                    <a:pt x="1050608" y="532448"/>
                  </a:lnTo>
                  <a:lnTo>
                    <a:pt x="1074420" y="498157"/>
                  </a:lnTo>
                  <a:lnTo>
                    <a:pt x="1099185" y="507682"/>
                  </a:lnTo>
                  <a:lnTo>
                    <a:pt x="1122998" y="570548"/>
                  </a:lnTo>
                  <a:lnTo>
                    <a:pt x="1141095" y="678180"/>
                  </a:lnTo>
                  <a:lnTo>
                    <a:pt x="1165860" y="824865"/>
                  </a:lnTo>
                  <a:lnTo>
                    <a:pt x="1189672" y="1004887"/>
                  </a:lnTo>
                  <a:lnTo>
                    <a:pt x="1207770" y="1204912"/>
                  </a:lnTo>
                  <a:lnTo>
                    <a:pt x="1232535" y="1410652"/>
                  </a:lnTo>
                  <a:lnTo>
                    <a:pt x="1256348" y="1606868"/>
                  </a:lnTo>
                  <a:lnTo>
                    <a:pt x="1280160" y="1782128"/>
                  </a:lnTo>
                  <a:lnTo>
                    <a:pt x="1304925" y="1924050"/>
                  </a:lnTo>
                  <a:lnTo>
                    <a:pt x="1323022" y="2016443"/>
                  </a:lnTo>
                  <a:lnTo>
                    <a:pt x="1346835" y="2057400"/>
                  </a:lnTo>
                  <a:lnTo>
                    <a:pt x="1371600" y="2038350"/>
                  </a:lnTo>
                  <a:lnTo>
                    <a:pt x="1395412" y="1962150"/>
                  </a:lnTo>
                  <a:lnTo>
                    <a:pt x="1413510" y="1828800"/>
                  </a:lnTo>
                  <a:lnTo>
                    <a:pt x="1438275" y="1651635"/>
                  </a:lnTo>
                  <a:lnTo>
                    <a:pt x="1462088" y="1439228"/>
                  </a:lnTo>
                  <a:lnTo>
                    <a:pt x="1486852" y="1204912"/>
                  </a:lnTo>
                  <a:lnTo>
                    <a:pt x="1504950" y="963930"/>
                  </a:lnTo>
                  <a:lnTo>
                    <a:pt x="1528762" y="735330"/>
                  </a:lnTo>
                  <a:lnTo>
                    <a:pt x="1553528" y="536257"/>
                  </a:lnTo>
                  <a:lnTo>
                    <a:pt x="1571625" y="377190"/>
                  </a:lnTo>
                  <a:lnTo>
                    <a:pt x="1595438" y="273368"/>
                  </a:lnTo>
                  <a:lnTo>
                    <a:pt x="1620203" y="231457"/>
                  </a:lnTo>
                  <a:lnTo>
                    <a:pt x="1644015" y="254318"/>
                  </a:lnTo>
                  <a:lnTo>
                    <a:pt x="1668780" y="345757"/>
                  </a:lnTo>
                  <a:lnTo>
                    <a:pt x="1686878" y="498157"/>
                  </a:lnTo>
                  <a:lnTo>
                    <a:pt x="1710690" y="701040"/>
                  </a:lnTo>
                  <a:lnTo>
                    <a:pt x="1735455" y="942022"/>
                  </a:lnTo>
                  <a:lnTo>
                    <a:pt x="1753553" y="1204912"/>
                  </a:lnTo>
                  <a:lnTo>
                    <a:pt x="1777365" y="1474470"/>
                  </a:lnTo>
                  <a:lnTo>
                    <a:pt x="1802130" y="1727835"/>
                  </a:lnTo>
                  <a:lnTo>
                    <a:pt x="1825942" y="1946910"/>
                  </a:lnTo>
                  <a:lnTo>
                    <a:pt x="1849755" y="2121218"/>
                  </a:lnTo>
                  <a:lnTo>
                    <a:pt x="1868805" y="2234565"/>
                  </a:lnTo>
                  <a:lnTo>
                    <a:pt x="1892618" y="2279332"/>
                  </a:lnTo>
                  <a:lnTo>
                    <a:pt x="1916430" y="2247900"/>
                  </a:lnTo>
                  <a:lnTo>
                    <a:pt x="1935480" y="2145982"/>
                  </a:lnTo>
                  <a:lnTo>
                    <a:pt x="1959292" y="1978343"/>
                  </a:lnTo>
                  <a:lnTo>
                    <a:pt x="1983105" y="1756410"/>
                  </a:lnTo>
                  <a:lnTo>
                    <a:pt x="2007870" y="1489710"/>
                  </a:lnTo>
                  <a:lnTo>
                    <a:pt x="2031682" y="1204912"/>
                  </a:lnTo>
                  <a:lnTo>
                    <a:pt x="2049780" y="916305"/>
                  </a:lnTo>
                  <a:lnTo>
                    <a:pt x="2074545" y="643890"/>
                  </a:lnTo>
                  <a:lnTo>
                    <a:pt x="2098358" y="405765"/>
                  </a:lnTo>
                  <a:lnTo>
                    <a:pt x="2116455" y="221932"/>
                  </a:lnTo>
                  <a:lnTo>
                    <a:pt x="2141220" y="101918"/>
                  </a:lnTo>
                  <a:lnTo>
                    <a:pt x="2165032" y="60960"/>
                  </a:lnTo>
                  <a:lnTo>
                    <a:pt x="2189798" y="92393"/>
                  </a:lnTo>
                  <a:lnTo>
                    <a:pt x="2213610" y="202882"/>
                  </a:lnTo>
                  <a:lnTo>
                    <a:pt x="2231708" y="383857"/>
                  </a:lnTo>
                  <a:lnTo>
                    <a:pt x="2256472" y="621982"/>
                  </a:lnTo>
                  <a:lnTo>
                    <a:pt x="2280285" y="903922"/>
                  </a:lnTo>
                  <a:lnTo>
                    <a:pt x="2298382" y="1204912"/>
                  </a:lnTo>
                  <a:lnTo>
                    <a:pt x="2323148" y="1508760"/>
                  </a:lnTo>
                  <a:lnTo>
                    <a:pt x="2346960" y="1794510"/>
                  </a:lnTo>
                  <a:lnTo>
                    <a:pt x="2371725" y="2041207"/>
                  </a:lnTo>
                  <a:lnTo>
                    <a:pt x="2395538" y="2231708"/>
                  </a:lnTo>
                  <a:lnTo>
                    <a:pt x="2413635" y="2352675"/>
                  </a:lnTo>
                  <a:lnTo>
                    <a:pt x="2438400" y="2393632"/>
                  </a:lnTo>
                  <a:lnTo>
                    <a:pt x="2462212" y="2355532"/>
                  </a:lnTo>
                  <a:lnTo>
                    <a:pt x="2480310" y="2238375"/>
                  </a:lnTo>
                  <a:lnTo>
                    <a:pt x="2505075" y="2050732"/>
                  </a:lnTo>
                  <a:lnTo>
                    <a:pt x="2528888" y="1804035"/>
                  </a:lnTo>
                  <a:lnTo>
                    <a:pt x="2552700" y="1515428"/>
                  </a:lnTo>
                  <a:lnTo>
                    <a:pt x="2577465" y="1204912"/>
                  </a:lnTo>
                  <a:lnTo>
                    <a:pt x="2595562" y="894398"/>
                  </a:lnTo>
                  <a:lnTo>
                    <a:pt x="2619375" y="602932"/>
                  </a:lnTo>
                  <a:lnTo>
                    <a:pt x="2644140" y="355282"/>
                  </a:lnTo>
                  <a:lnTo>
                    <a:pt x="2662238" y="161925"/>
                  </a:lnTo>
                  <a:lnTo>
                    <a:pt x="2686050" y="41910"/>
                  </a:lnTo>
                  <a:lnTo>
                    <a:pt x="2710815" y="0"/>
                  </a:lnTo>
                  <a:lnTo>
                    <a:pt x="2734628" y="41910"/>
                  </a:lnTo>
                  <a:lnTo>
                    <a:pt x="2759392" y="161925"/>
                  </a:lnTo>
                  <a:lnTo>
                    <a:pt x="2777490" y="355282"/>
                  </a:lnTo>
                  <a:lnTo>
                    <a:pt x="2801302" y="602932"/>
                  </a:lnTo>
                  <a:lnTo>
                    <a:pt x="2826068" y="894398"/>
                  </a:lnTo>
                  <a:lnTo>
                    <a:pt x="2844165" y="1204912"/>
                  </a:lnTo>
                  <a:lnTo>
                    <a:pt x="2867978" y="1515428"/>
                  </a:lnTo>
                  <a:lnTo>
                    <a:pt x="2892742" y="1804035"/>
                  </a:lnTo>
                  <a:lnTo>
                    <a:pt x="2916555" y="2050732"/>
                  </a:lnTo>
                  <a:lnTo>
                    <a:pt x="2941320" y="2238375"/>
                  </a:lnTo>
                  <a:lnTo>
                    <a:pt x="2959418" y="2355532"/>
                  </a:lnTo>
                  <a:lnTo>
                    <a:pt x="2983230" y="2393632"/>
                  </a:lnTo>
                  <a:lnTo>
                    <a:pt x="3007995" y="2352675"/>
                  </a:lnTo>
                  <a:lnTo>
                    <a:pt x="3026092" y="2231708"/>
                  </a:lnTo>
                  <a:lnTo>
                    <a:pt x="3049905" y="2041207"/>
                  </a:lnTo>
                  <a:lnTo>
                    <a:pt x="3073718" y="1794510"/>
                  </a:lnTo>
                  <a:lnTo>
                    <a:pt x="3098482" y="1508760"/>
                  </a:lnTo>
                  <a:lnTo>
                    <a:pt x="3116580" y="1204912"/>
                  </a:lnTo>
                  <a:lnTo>
                    <a:pt x="3140392" y="903922"/>
                  </a:lnTo>
                  <a:lnTo>
                    <a:pt x="3165158" y="621982"/>
                  </a:lnTo>
                  <a:lnTo>
                    <a:pt x="3188970" y="383857"/>
                  </a:lnTo>
                  <a:lnTo>
                    <a:pt x="3207068" y="202882"/>
                  </a:lnTo>
                  <a:lnTo>
                    <a:pt x="3231832" y="92393"/>
                  </a:lnTo>
                  <a:lnTo>
                    <a:pt x="3255645" y="60960"/>
                  </a:lnTo>
                  <a:lnTo>
                    <a:pt x="3280410" y="101918"/>
                  </a:lnTo>
                  <a:lnTo>
                    <a:pt x="3298508" y="221932"/>
                  </a:lnTo>
                  <a:lnTo>
                    <a:pt x="3322320" y="405765"/>
                  </a:lnTo>
                  <a:lnTo>
                    <a:pt x="3347085" y="643890"/>
                  </a:lnTo>
                  <a:lnTo>
                    <a:pt x="3370898" y="916305"/>
                  </a:lnTo>
                  <a:lnTo>
                    <a:pt x="3388995" y="1204912"/>
                  </a:lnTo>
                  <a:lnTo>
                    <a:pt x="3413760" y="1489710"/>
                  </a:lnTo>
                  <a:lnTo>
                    <a:pt x="3437572" y="1756410"/>
                  </a:lnTo>
                  <a:lnTo>
                    <a:pt x="3462338" y="1978343"/>
                  </a:lnTo>
                  <a:lnTo>
                    <a:pt x="3486150" y="2145982"/>
                  </a:lnTo>
                  <a:lnTo>
                    <a:pt x="3504248" y="2247900"/>
                  </a:lnTo>
                  <a:lnTo>
                    <a:pt x="3529012" y="2279332"/>
                  </a:lnTo>
                  <a:lnTo>
                    <a:pt x="3552825" y="2234565"/>
                  </a:lnTo>
                  <a:lnTo>
                    <a:pt x="3570922" y="2121218"/>
                  </a:lnTo>
                  <a:lnTo>
                    <a:pt x="3595688" y="1946910"/>
                  </a:lnTo>
                  <a:lnTo>
                    <a:pt x="3619500" y="1727835"/>
                  </a:lnTo>
                  <a:lnTo>
                    <a:pt x="3643312" y="1474470"/>
                  </a:lnTo>
                  <a:lnTo>
                    <a:pt x="3668078" y="1204912"/>
                  </a:lnTo>
                  <a:lnTo>
                    <a:pt x="3686175" y="942022"/>
                  </a:lnTo>
                  <a:lnTo>
                    <a:pt x="3709988" y="701040"/>
                  </a:lnTo>
                  <a:lnTo>
                    <a:pt x="3734752" y="498157"/>
                  </a:lnTo>
                  <a:lnTo>
                    <a:pt x="3752850" y="345757"/>
                  </a:lnTo>
                  <a:lnTo>
                    <a:pt x="3776662" y="254318"/>
                  </a:lnTo>
                  <a:lnTo>
                    <a:pt x="3801428" y="231457"/>
                  </a:lnTo>
                  <a:lnTo>
                    <a:pt x="3825240" y="273368"/>
                  </a:lnTo>
                  <a:lnTo>
                    <a:pt x="3850005" y="377190"/>
                  </a:lnTo>
                  <a:lnTo>
                    <a:pt x="3868102" y="536257"/>
                  </a:lnTo>
                  <a:lnTo>
                    <a:pt x="3891915" y="735330"/>
                  </a:lnTo>
                  <a:lnTo>
                    <a:pt x="3916680" y="963930"/>
                  </a:lnTo>
                  <a:lnTo>
                    <a:pt x="3934778" y="1204912"/>
                  </a:lnTo>
                  <a:lnTo>
                    <a:pt x="3958590" y="1439228"/>
                  </a:lnTo>
                  <a:lnTo>
                    <a:pt x="3983355" y="1651635"/>
                  </a:lnTo>
                  <a:lnTo>
                    <a:pt x="4007168" y="1828800"/>
                  </a:lnTo>
                  <a:lnTo>
                    <a:pt x="4031932" y="1962150"/>
                  </a:lnTo>
                  <a:lnTo>
                    <a:pt x="4050030" y="2038350"/>
                  </a:lnTo>
                  <a:lnTo>
                    <a:pt x="4073843" y="2057400"/>
                  </a:lnTo>
                  <a:lnTo>
                    <a:pt x="4098607" y="2016443"/>
                  </a:lnTo>
                  <a:lnTo>
                    <a:pt x="4116705" y="1924050"/>
                  </a:lnTo>
                  <a:lnTo>
                    <a:pt x="4140518" y="1782128"/>
                  </a:lnTo>
                  <a:lnTo>
                    <a:pt x="4165282" y="1606868"/>
                  </a:lnTo>
                  <a:lnTo>
                    <a:pt x="4189095" y="1410652"/>
                  </a:lnTo>
                  <a:lnTo>
                    <a:pt x="4212908" y="1204912"/>
                  </a:lnTo>
                  <a:lnTo>
                    <a:pt x="4231958" y="1004887"/>
                  </a:lnTo>
                  <a:lnTo>
                    <a:pt x="4255770" y="824865"/>
                  </a:lnTo>
                  <a:lnTo>
                    <a:pt x="4279582" y="678180"/>
                  </a:lnTo>
                  <a:lnTo>
                    <a:pt x="4298632" y="570548"/>
                  </a:lnTo>
                  <a:lnTo>
                    <a:pt x="4322445" y="507682"/>
                  </a:lnTo>
                  <a:lnTo>
                    <a:pt x="4346258" y="498157"/>
                  </a:lnTo>
                  <a:lnTo>
                    <a:pt x="4371022" y="532448"/>
                  </a:lnTo>
                  <a:lnTo>
                    <a:pt x="4394835" y="615315"/>
                  </a:lnTo>
                  <a:lnTo>
                    <a:pt x="4412932" y="732472"/>
                  </a:lnTo>
                  <a:lnTo>
                    <a:pt x="4437698" y="878205"/>
                  </a:lnTo>
                  <a:lnTo>
                    <a:pt x="4461510" y="1040130"/>
                  </a:lnTo>
                  <a:lnTo>
                    <a:pt x="4479608" y="1204912"/>
                  </a:lnTo>
                  <a:lnTo>
                    <a:pt x="4504372" y="1363028"/>
                  </a:lnTo>
                  <a:lnTo>
                    <a:pt x="4528185" y="1505902"/>
                  </a:lnTo>
                  <a:lnTo>
                    <a:pt x="4552950" y="1620202"/>
                  </a:lnTo>
                  <a:lnTo>
                    <a:pt x="4576762" y="1702118"/>
                  </a:lnTo>
                  <a:lnTo>
                    <a:pt x="4594860" y="1746885"/>
                  </a:lnTo>
                  <a:lnTo>
                    <a:pt x="4619625" y="1753552"/>
                  </a:lnTo>
                  <a:lnTo>
                    <a:pt x="4643438" y="1718310"/>
                  </a:lnTo>
                  <a:lnTo>
                    <a:pt x="4661535" y="1654493"/>
                  </a:lnTo>
                  <a:lnTo>
                    <a:pt x="4686300" y="1560195"/>
                  </a:lnTo>
                  <a:lnTo>
                    <a:pt x="4710112" y="1448752"/>
                  </a:lnTo>
                  <a:lnTo>
                    <a:pt x="4734878" y="1328737"/>
                  </a:lnTo>
                  <a:lnTo>
                    <a:pt x="4758690" y="1204912"/>
                  </a:lnTo>
                  <a:lnTo>
                    <a:pt x="4776788" y="1090612"/>
                  </a:lnTo>
                  <a:lnTo>
                    <a:pt x="4801552" y="989648"/>
                  </a:lnTo>
                  <a:lnTo>
                    <a:pt x="4825365" y="909637"/>
                  </a:lnTo>
                  <a:lnTo>
                    <a:pt x="4843462" y="856298"/>
                  </a:lnTo>
                  <a:lnTo>
                    <a:pt x="4868228" y="830580"/>
                  </a:lnTo>
                  <a:lnTo>
                    <a:pt x="4892040" y="834390"/>
                  </a:lnTo>
                  <a:lnTo>
                    <a:pt x="4915852" y="859155"/>
                  </a:lnTo>
                  <a:lnTo>
                    <a:pt x="4940618" y="909637"/>
                  </a:lnTo>
                  <a:lnTo>
                    <a:pt x="4958715" y="973455"/>
                  </a:lnTo>
                  <a:lnTo>
                    <a:pt x="4982528" y="1049655"/>
                  </a:lnTo>
                  <a:lnTo>
                    <a:pt x="5007292" y="1128712"/>
                  </a:lnTo>
                  <a:lnTo>
                    <a:pt x="5025390" y="1204912"/>
                  </a:lnTo>
                  <a:lnTo>
                    <a:pt x="5049202" y="1274445"/>
                  </a:lnTo>
                  <a:lnTo>
                    <a:pt x="5073968" y="1331595"/>
                  </a:lnTo>
                  <a:lnTo>
                    <a:pt x="5097780" y="1369695"/>
                  </a:lnTo>
                  <a:lnTo>
                    <a:pt x="5122545" y="1395412"/>
                  </a:lnTo>
                  <a:lnTo>
                    <a:pt x="5140642" y="1401128"/>
                  </a:lnTo>
                  <a:lnTo>
                    <a:pt x="5164455" y="1391602"/>
                  </a:lnTo>
                  <a:lnTo>
                    <a:pt x="5189220" y="1372552"/>
                  </a:lnTo>
                  <a:lnTo>
                    <a:pt x="5207318" y="1341120"/>
                  </a:lnTo>
                  <a:lnTo>
                    <a:pt x="5231130" y="1305878"/>
                  </a:lnTo>
                  <a:lnTo>
                    <a:pt x="5255895" y="1267778"/>
                  </a:lnTo>
                  <a:lnTo>
                    <a:pt x="5279708" y="1233487"/>
                  </a:lnTo>
                  <a:lnTo>
                    <a:pt x="5304472" y="1204912"/>
                  </a:lnTo>
                  <a:lnTo>
                    <a:pt x="5322570" y="1185862"/>
                  </a:lnTo>
                  <a:lnTo>
                    <a:pt x="5346382" y="1173480"/>
                  </a:lnTo>
                  <a:lnTo>
                    <a:pt x="5371148" y="1169670"/>
                  </a:lnTo>
                  <a:lnTo>
                    <a:pt x="5389245" y="1176337"/>
                  </a:lnTo>
                  <a:lnTo>
                    <a:pt x="5413058" y="1188720"/>
                  </a:lnTo>
                  <a:lnTo>
                    <a:pt x="5421630" y="119443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51535" y="2351722"/>
              <a:ext cx="5422583" cy="1193482"/>
            </a:xfrm>
            <a:custGeom>
              <a:avLst/>
              <a:gdLst/>
              <a:ahLst/>
              <a:cxnLst/>
              <a:rect l="l" t="t" r="r" b="b"/>
              <a:pathLst>
                <a:path w="5422583" h="1193482">
                  <a:moveTo>
                    <a:pt x="0" y="1193482"/>
                  </a:moveTo>
                  <a:lnTo>
                    <a:pt x="166688" y="1078230"/>
                  </a:lnTo>
                  <a:lnTo>
                    <a:pt x="348615" y="954405"/>
                  </a:lnTo>
                  <a:lnTo>
                    <a:pt x="530542" y="834390"/>
                  </a:lnTo>
                  <a:lnTo>
                    <a:pt x="711517" y="713422"/>
                  </a:lnTo>
                  <a:lnTo>
                    <a:pt x="893445" y="602932"/>
                  </a:lnTo>
                  <a:lnTo>
                    <a:pt x="1075372" y="498157"/>
                  </a:lnTo>
                  <a:lnTo>
                    <a:pt x="1257300" y="400050"/>
                  </a:lnTo>
                  <a:lnTo>
                    <a:pt x="1439228" y="310515"/>
                  </a:lnTo>
                  <a:lnTo>
                    <a:pt x="1621155" y="231457"/>
                  </a:lnTo>
                  <a:lnTo>
                    <a:pt x="1803082" y="161925"/>
                  </a:lnTo>
                  <a:lnTo>
                    <a:pt x="1984057" y="104775"/>
                  </a:lnTo>
                  <a:lnTo>
                    <a:pt x="2165985" y="60960"/>
                  </a:lnTo>
                  <a:lnTo>
                    <a:pt x="2347912" y="25717"/>
                  </a:lnTo>
                  <a:lnTo>
                    <a:pt x="2529840" y="6667"/>
                  </a:lnTo>
                  <a:lnTo>
                    <a:pt x="2711768" y="0"/>
                  </a:lnTo>
                  <a:lnTo>
                    <a:pt x="2893695" y="6667"/>
                  </a:lnTo>
                  <a:lnTo>
                    <a:pt x="3074670" y="25717"/>
                  </a:lnTo>
                  <a:lnTo>
                    <a:pt x="3256598" y="60960"/>
                  </a:lnTo>
                  <a:lnTo>
                    <a:pt x="3438525" y="104775"/>
                  </a:lnTo>
                  <a:lnTo>
                    <a:pt x="3620452" y="161925"/>
                  </a:lnTo>
                  <a:lnTo>
                    <a:pt x="3802380" y="231457"/>
                  </a:lnTo>
                  <a:lnTo>
                    <a:pt x="3984307" y="310515"/>
                  </a:lnTo>
                  <a:lnTo>
                    <a:pt x="4166235" y="400050"/>
                  </a:lnTo>
                  <a:lnTo>
                    <a:pt x="4347210" y="498157"/>
                  </a:lnTo>
                  <a:lnTo>
                    <a:pt x="4529138" y="602932"/>
                  </a:lnTo>
                  <a:lnTo>
                    <a:pt x="4711065" y="713422"/>
                  </a:lnTo>
                  <a:lnTo>
                    <a:pt x="4892992" y="834390"/>
                  </a:lnTo>
                  <a:lnTo>
                    <a:pt x="5074920" y="954405"/>
                  </a:lnTo>
                  <a:lnTo>
                    <a:pt x="5256848" y="1078230"/>
                  </a:lnTo>
                  <a:lnTo>
                    <a:pt x="5422583" y="1193482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851535" y="3567112"/>
              <a:ext cx="5422583" cy="1193482"/>
            </a:xfrm>
            <a:custGeom>
              <a:avLst/>
              <a:gdLst/>
              <a:ahLst/>
              <a:cxnLst/>
              <a:rect l="l" t="t" r="r" b="b"/>
              <a:pathLst>
                <a:path w="5422583" h="1193482">
                  <a:moveTo>
                    <a:pt x="0" y="0"/>
                  </a:moveTo>
                  <a:lnTo>
                    <a:pt x="166688" y="116205"/>
                  </a:lnTo>
                  <a:lnTo>
                    <a:pt x="348615" y="240030"/>
                  </a:lnTo>
                  <a:lnTo>
                    <a:pt x="530542" y="360045"/>
                  </a:lnTo>
                  <a:lnTo>
                    <a:pt x="711517" y="481012"/>
                  </a:lnTo>
                  <a:lnTo>
                    <a:pt x="893445" y="591503"/>
                  </a:lnTo>
                  <a:lnTo>
                    <a:pt x="1075372" y="696278"/>
                  </a:lnTo>
                  <a:lnTo>
                    <a:pt x="1257300" y="794385"/>
                  </a:lnTo>
                  <a:lnTo>
                    <a:pt x="1439228" y="882967"/>
                  </a:lnTo>
                  <a:lnTo>
                    <a:pt x="1621155" y="962025"/>
                  </a:lnTo>
                  <a:lnTo>
                    <a:pt x="1803082" y="1032510"/>
                  </a:lnTo>
                  <a:lnTo>
                    <a:pt x="1984057" y="1089660"/>
                  </a:lnTo>
                  <a:lnTo>
                    <a:pt x="2165985" y="1133475"/>
                  </a:lnTo>
                  <a:lnTo>
                    <a:pt x="2347912" y="1168718"/>
                  </a:lnTo>
                  <a:lnTo>
                    <a:pt x="2529840" y="1187768"/>
                  </a:lnTo>
                  <a:lnTo>
                    <a:pt x="2711768" y="1193482"/>
                  </a:lnTo>
                  <a:lnTo>
                    <a:pt x="2893695" y="1187768"/>
                  </a:lnTo>
                  <a:lnTo>
                    <a:pt x="3074670" y="1168718"/>
                  </a:lnTo>
                  <a:lnTo>
                    <a:pt x="3256598" y="1133475"/>
                  </a:lnTo>
                  <a:lnTo>
                    <a:pt x="3438525" y="1089660"/>
                  </a:lnTo>
                  <a:lnTo>
                    <a:pt x="3620452" y="1032510"/>
                  </a:lnTo>
                  <a:lnTo>
                    <a:pt x="3802380" y="962025"/>
                  </a:lnTo>
                  <a:lnTo>
                    <a:pt x="3984307" y="882967"/>
                  </a:lnTo>
                  <a:lnTo>
                    <a:pt x="4166235" y="794385"/>
                  </a:lnTo>
                  <a:lnTo>
                    <a:pt x="4347210" y="696278"/>
                  </a:lnTo>
                  <a:lnTo>
                    <a:pt x="4529138" y="591503"/>
                  </a:lnTo>
                  <a:lnTo>
                    <a:pt x="4711065" y="481012"/>
                  </a:lnTo>
                  <a:lnTo>
                    <a:pt x="4892992" y="360045"/>
                  </a:lnTo>
                  <a:lnTo>
                    <a:pt x="5074920" y="240030"/>
                  </a:lnTo>
                  <a:lnTo>
                    <a:pt x="5256848" y="116205"/>
                  </a:lnTo>
                  <a:lnTo>
                    <a:pt x="5422583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765810" y="35471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26770" y="35471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280785" y="35471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26770" y="35471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280785" y="35471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26770" y="35471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280785" y="35471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2498" y="35004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57624" y="4957286"/>
              <a:ext cx="22113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虚线是包络，合振幅在 0 与 2A 之间缓慢起伏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898005" y="1524000"/>
            <a:ext cx="4760595" cy="1584008"/>
            <a:chOff x="6898005" y="1524000"/>
            <a:chExt cx="4760595" cy="1584008"/>
          </a:xfrm>
        </p:grpSpPr>
        <p:sp>
          <p:nvSpPr>
            <p:cNvPr id="23" name="Rectangle 23"/>
            <p:cNvSpPr/>
            <p:nvPr/>
          </p:nvSpPr>
          <p:spPr>
            <a:xfrm>
              <a:off x="6898005" y="1524000"/>
              <a:ext cx="4760595" cy="1584008"/>
            </a:xfrm>
            <a:prstGeom prst="roundRect">
              <a:avLst>
                <a:gd name="adj" fmla="val 8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1657350"/>
              <a:ext cx="47625" cy="13173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17080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12851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0603" y="2045494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两个频率都很大、但相差很小的同方向振动叠加，合振动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的振幅忽强忽弱，这种现象叫拍。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11746" y="2568893"/>
              <a:ext cx="419785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合振动已经 </a:t>
              </a:r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简谐振动，只是当 ν₁、ν₂ 相差甚微时，可以近似看成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振幅缓慢变化的“准简谐振动”。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898005" y="3272790"/>
            <a:ext cx="4760595" cy="1428750"/>
            <a:chOff x="6898005" y="3272790"/>
            <a:chExt cx="4760595" cy="1428750"/>
          </a:xfrm>
        </p:grpSpPr>
        <p:sp>
          <p:nvSpPr>
            <p:cNvPr id="30" name="Rectangle 30"/>
            <p:cNvSpPr/>
            <p:nvPr/>
          </p:nvSpPr>
          <p:spPr>
            <a:xfrm>
              <a:off x="6898005" y="327279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78980" y="345376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45198" y="348662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把乘积式读成两部分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088505" y="38461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43953" y="3793331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方括号里的因子随 t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变化缓慢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，充当随时间变化的振幅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088505" y="413099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43953" y="4078129"/>
              <a:ext cx="34510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后一个余弦随 t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变化较快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，频率是两者的平均值</a:t>
              </a:r>
              <a:br/>
              <a:r>
                <a:rPr lang="el-GR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(ν₁+ν₂)/2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6898005" y="4866322"/>
            <a:ext cx="4760595" cy="702945"/>
            <a:chOff x="6898005" y="4866322"/>
            <a:chExt cx="4760595" cy="702945"/>
          </a:xfrm>
        </p:grpSpPr>
        <p:sp>
          <p:nvSpPr>
            <p:cNvPr id="38" name="Rectangle 38"/>
            <p:cNvSpPr/>
            <p:nvPr/>
          </p:nvSpPr>
          <p:spPr>
            <a:xfrm>
              <a:off x="6898005" y="4866322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102793" y="5117783"/>
              <a:ext cx="200026" cy="200025"/>
              <a:chOff x="7102793" y="5117783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102793" y="51177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42531" y="51622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177247" y="52733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405878" y="5011579"/>
              <a:ext cx="2987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推导只用了和差化积公式 cos α + cos β =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2cos[(α−β)/2]·cos[(α+β)/2]。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8016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图中取了两个频率相差 10% 的振动，差得越小包络起伏越慢。实际听到拍时两个频率往往只差千分之几。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拍频等于两个分振动频率之差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726882"/>
            <a:chOff x="533400" y="1524000"/>
            <a:chExt cx="5626418" cy="17268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26882"/>
            </a:xfrm>
            <a:prstGeom prst="roundRect">
              <a:avLst>
                <a:gd name="adj" fmla="val 77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6018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拍频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合振幅在单位时间内加强和减弱的次数叫拍频，记作 ν。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45"/>
                <p:cNvSpPr txBox="1">
                  <a:spLocks noGrp="1"/>
                </p:cNvSpPr>
                <p:nvPr/>
              </p:nvSpPr>
              <p:spPr>
                <a:xfrm>
                  <a:off x="752475" y="2308860"/>
                  <a:ext cx="5226368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ν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ν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ν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7141" y="2711768"/>
              <a:ext cx="495128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振幅因子的频率是 |ν₁−ν₂|/2，但振幅取它的 </a:t>
              </a:r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绝对值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，绝对值把周期缩短一半，所以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拍频是差值本身。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415665"/>
            <a:ext cx="5626418" cy="1487805"/>
            <a:chOff x="533400" y="3415665"/>
            <a:chExt cx="5626418" cy="1487805"/>
          </a:xfrm>
        </p:grpSpPr>
        <p:sp>
          <p:nvSpPr>
            <p:cNvPr id="15" name="Rectangle 15"/>
            <p:cNvSpPr/>
            <p:nvPr/>
          </p:nvSpPr>
          <p:spPr>
            <a:xfrm>
              <a:off x="533400" y="3415665"/>
              <a:ext cx="5626418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49015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5966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6295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8450" y="36361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两支音叉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3952399"/>
              <a:ext cx="4129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标准音叉 440 Hz，另一支夹了小夹子后变成 436 Hz。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2900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237196"/>
              <a:ext cx="47558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拍频 ν = 4 Hz，每秒 4 次强弱起伏，相邻两次最响相隔 0.25 s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45748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4522946"/>
              <a:ext cx="1812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音调是平均频率 438 Hz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067300"/>
            <a:ext cx="5626418" cy="467678"/>
            <a:chOff x="533400" y="5067300"/>
            <a:chExt cx="5626418" cy="467678"/>
          </a:xfrm>
        </p:grpSpPr>
        <p:sp>
          <p:nvSpPr>
            <p:cNvPr id="26" name="Rectangle 26"/>
            <p:cNvSpPr/>
            <p:nvPr/>
          </p:nvSpPr>
          <p:spPr>
            <a:xfrm>
              <a:off x="533400" y="5067300"/>
              <a:ext cx="5626418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26129" y="5197911"/>
              <a:ext cx="224134" cy="192560"/>
              <a:chOff x="726129" y="5197911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38200" y="52682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6129" y="51979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3460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5212556"/>
              <a:ext cx="4979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436 Hz 与 444 Hz 都给出 4 Hz 的拍，听不出对方偏高还是偏低。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7342073" y="1524000"/>
            <a:ext cx="3440024" cy="2144744"/>
            <a:chOff x="7342073" y="1524000"/>
            <a:chExt cx="3440024" cy="2144744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0" t="6" r="0" b="7"/>
            <a:stretch>
              <a:fillRect/>
            </a:stretch>
          </p:blipFill>
          <p:spPr>
            <a:xfrm>
              <a:off x="7820025" y="1524000"/>
              <a:ext cx="2483168" cy="1862138"/>
            </a:xfrm>
            <a:prstGeom prst="roundRect">
              <a:avLst>
                <a:gd name="adj" fmla="val 7161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342073" y="3478054"/>
              <a:ext cx="3440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给一支音叉加质量块使频率略微改变，同时敲响就能听到拍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464618" y="3814762"/>
            <a:ext cx="5193982" cy="1721168"/>
            <a:chOff x="6464618" y="3814762"/>
            <a:chExt cx="5193982" cy="1721168"/>
          </a:xfrm>
        </p:grpSpPr>
        <p:sp>
          <p:nvSpPr>
            <p:cNvPr id="36" name="Rectangle 36"/>
            <p:cNvSpPr/>
            <p:nvPr/>
          </p:nvSpPr>
          <p:spPr>
            <a:xfrm>
              <a:off x="6464618" y="3814762"/>
              <a:ext cx="5193982" cy="1721168"/>
            </a:xfrm>
            <a:prstGeom prst="roundRect">
              <a:avLst>
                <a:gd name="adj" fmla="val 774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45592" y="399573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27063" y="40285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拍用在哪里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55118" y="438816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10566" y="433530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乐器调音：与标准音叉同时发声，调到听不出强弱起伏就是调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准了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55118" y="491585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10566" y="486394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测未知频率：与已知频率比较，读出拍频即可算出差值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55118" y="520065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10566" y="514873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多普勒测速、激光外差探测都用同一个原理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9145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拍现象要求两个频率都很大而差值很小。若两个频率差得多，强弱起伏太快，耳朵和仪器都分辨不出来，也就谈不上拍。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方向垂直、频率相同：轨迹一般是椭圆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53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54"/>
              <p:cNvSpPr txBox="1">
                <a:spLocks noGrp="1"/>
              </p:cNvSpPr>
              <p:nvPr/>
            </p:nvSpPr>
            <p:spPr>
              <a:xfrm>
                <a:off x="533400" y="1989772"/>
                <a:ext cx="5410200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2xy</m:t>
                          </m:r>
                        </m:num>
                        <m:den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2529840"/>
            <a:ext cx="5410200" cy="3086100"/>
            <a:chOff x="533400" y="2529840"/>
            <a:chExt cx="5410200" cy="3086100"/>
          </a:xfrm>
        </p:grpSpPr>
        <p:sp>
          <p:nvSpPr>
            <p:cNvPr id="9" name="Rectangle 9"/>
            <p:cNvSpPr/>
            <p:nvPr/>
          </p:nvSpPr>
          <p:spPr>
            <a:xfrm>
              <a:off x="533400" y="2529840"/>
              <a:ext cx="5410200" cy="3086100"/>
            </a:xfrm>
            <a:prstGeom prst="roundRect">
              <a:avLst>
                <a:gd name="adj" fmla="val 4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663190"/>
              <a:ext cx="47625" cy="2819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72796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057" y="27622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消去时间就得到轨迹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3089434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把两式展开成 cos ωt 与 sin ωt 的线性组合，解出这两个量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再用 cos² + sin² = 1，就消去了 t，剩下的就是上面这个二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次曲线方程。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248400" y="1524000"/>
            <a:ext cx="5410200" cy="2114550"/>
            <a:chOff x="6248400" y="1524000"/>
            <a:chExt cx="5410200" cy="2114550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2114550"/>
            </a:xfrm>
            <a:prstGeom prst="roundRect">
              <a:avLst>
                <a:gd name="adj" fmla="val 630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46520" y="1722120"/>
              <a:ext cx="187737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89690" y="1756410"/>
              <a:ext cx="17919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三件事由 Δφ = φ₂ − φ₁ 决定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454140" y="21431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0731" y="2082641"/>
              <a:ext cx="3512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轨迹的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形状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（直线、正椭圆还是斜椭圆）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454140" y="246030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10731" y="2400776"/>
              <a:ext cx="27480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椭圆的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方位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（长轴朝哪边倾斜）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54140" y="277844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0731" y="2717959"/>
              <a:ext cx="3895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质点沿轨迹的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旋转方向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（顺时针还是逆时针）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0424" y="3032760"/>
              <a:ext cx="48280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两个振幅只决定质点活动范围：x 方向 2A₁，y 方向 2A₂，轨迹总在这个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矩形内部。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248400" y="3819525"/>
            <a:ext cx="5410200" cy="1797368"/>
            <a:chOff x="6248400" y="3819525"/>
            <a:chExt cx="5410200" cy="1797368"/>
          </a:xfrm>
        </p:grpSpPr>
        <p:sp>
          <p:nvSpPr>
            <p:cNvPr id="26" name="Rectangle 26"/>
            <p:cNvSpPr/>
            <p:nvPr/>
          </p:nvSpPr>
          <p:spPr>
            <a:xfrm>
              <a:off x="6248400" y="3819525"/>
              <a:ext cx="5410200" cy="1797368"/>
            </a:xfrm>
            <a:prstGeom prst="roundRect">
              <a:avLst>
                <a:gd name="adj" fmla="val 7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3952875"/>
              <a:ext cx="47625" cy="15306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84620" y="4017645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36055" y="405193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旋向的判据（原课件未给）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2240" y="443769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48831" y="4378166"/>
              <a:ext cx="24021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 &lt; Δφ &lt; π 时质点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顺时针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转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2240" y="475583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8831" y="4695349"/>
              <a:ext cx="3679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π &lt; Δφ &lt; 2π（即 −π &lt; Δφ &lt; 0）时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逆时针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8524" y="5010150"/>
              <a:ext cx="47746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验证办法：取 t = 0 得起点 (A₁, A₂cos Δφ)，再取一个很小的 t 看走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向哪一边。Δφ = π/2 时起点在 (A₁, 0)，随后 y 变负，确实是顺时针。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6" name="Rectangle 3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6011704"/>
              <a:ext cx="9954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两个方向的频率成简单整数比时轨迹是李萨如图形，示波器上用它比较两个信号的频率；本章只要求频率相同这一种。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 · 简谐振动的合成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三种典型相位差下的轨迹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1491615" y="1740218"/>
            <a:ext cx="9208770" cy="1586864"/>
            <a:chOff x="1491615" y="1740218"/>
            <a:chExt cx="9208770" cy="1586864"/>
          </a:xfrm>
        </p:grpSpPr>
        <p:sp>
          <p:nvSpPr>
            <p:cNvPr id="7" name="Freeform 7"/>
            <p:cNvSpPr/>
            <p:nvPr/>
          </p:nvSpPr>
          <p:spPr>
            <a:xfrm>
              <a:off x="1520190" y="2412682"/>
              <a:ext cx="1936432" cy="9525"/>
            </a:xfrm>
            <a:custGeom>
              <a:avLst/>
              <a:gdLst/>
              <a:ahLst/>
              <a:cxnLst/>
              <a:rect l="l" t="t" r="r" b="b"/>
              <a:pathLst>
                <a:path w="1936432" h="9525">
                  <a:moveTo>
                    <a:pt x="0" y="0"/>
                  </a:moveTo>
                  <a:lnTo>
                    <a:pt x="193643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56622" y="2365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535555" y="1864042"/>
              <a:ext cx="9525" cy="1192530"/>
            </a:xfrm>
            <a:custGeom>
              <a:avLst/>
              <a:gdLst/>
              <a:ahLst/>
              <a:cxnLst/>
              <a:rect l="l" t="t" r="r" b="b"/>
              <a:pathLst>
                <a:path w="9525" h="1192530">
                  <a:moveTo>
                    <a:pt x="0" y="11925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87930" y="17687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080635" y="2412682"/>
              <a:ext cx="1935480" cy="9525"/>
            </a:xfrm>
            <a:custGeom>
              <a:avLst/>
              <a:gdLst/>
              <a:ahLst/>
              <a:cxnLst/>
              <a:rect l="l" t="t" r="r" b="b"/>
              <a:pathLst>
                <a:path w="1935480" h="9525">
                  <a:moveTo>
                    <a:pt x="0" y="0"/>
                  </a:moveTo>
                  <a:lnTo>
                    <a:pt x="193548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016115" y="2365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1864042"/>
              <a:ext cx="9525" cy="1192530"/>
            </a:xfrm>
            <a:custGeom>
              <a:avLst/>
              <a:gdLst/>
              <a:ahLst/>
              <a:cxnLst/>
              <a:rect l="l" t="t" r="r" b="b"/>
              <a:pathLst>
                <a:path w="9525" h="1192530">
                  <a:moveTo>
                    <a:pt x="0" y="11925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48375" y="17687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640128" y="2412682"/>
              <a:ext cx="1936433" cy="9525"/>
            </a:xfrm>
            <a:custGeom>
              <a:avLst/>
              <a:gdLst/>
              <a:ahLst/>
              <a:cxnLst/>
              <a:rect l="l" t="t" r="r" b="b"/>
              <a:pathLst>
                <a:path w="1936433" h="9525">
                  <a:moveTo>
                    <a:pt x="0" y="0"/>
                  </a:moveTo>
                  <a:lnTo>
                    <a:pt x="193643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576560" y="23650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656445" y="1864042"/>
              <a:ext cx="9525" cy="1192530"/>
            </a:xfrm>
            <a:custGeom>
              <a:avLst/>
              <a:gdLst/>
              <a:ahLst/>
              <a:cxnLst/>
              <a:rect l="l" t="t" r="r" b="b"/>
              <a:pathLst>
                <a:path w="9525" h="1192530">
                  <a:moveTo>
                    <a:pt x="0" y="11925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608820" y="17687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79270" y="1932622"/>
              <a:ext cx="1513522" cy="964882"/>
            </a:xfrm>
            <a:custGeom>
              <a:avLst/>
              <a:gdLst/>
              <a:ahLst/>
              <a:cxnLst/>
              <a:rect l="l" t="t" r="r" b="b"/>
              <a:pathLst>
                <a:path w="1513522" h="964882">
                  <a:moveTo>
                    <a:pt x="1513522" y="13335"/>
                  </a:moveTo>
                  <a:lnTo>
                    <a:pt x="1513522" y="0"/>
                  </a:lnTo>
                  <a:lnTo>
                    <a:pt x="1480185" y="18098"/>
                  </a:lnTo>
                  <a:lnTo>
                    <a:pt x="1435418" y="47625"/>
                  </a:lnTo>
                  <a:lnTo>
                    <a:pt x="1368742" y="86677"/>
                  </a:lnTo>
                  <a:lnTo>
                    <a:pt x="1290638" y="137160"/>
                  </a:lnTo>
                  <a:lnTo>
                    <a:pt x="1202055" y="193357"/>
                  </a:lnTo>
                  <a:lnTo>
                    <a:pt x="1101090" y="259080"/>
                  </a:lnTo>
                  <a:lnTo>
                    <a:pt x="990600" y="330517"/>
                  </a:lnTo>
                  <a:lnTo>
                    <a:pt x="879158" y="403860"/>
                  </a:lnTo>
                  <a:lnTo>
                    <a:pt x="756285" y="480060"/>
                  </a:lnTo>
                  <a:lnTo>
                    <a:pt x="634365" y="556260"/>
                  </a:lnTo>
                  <a:lnTo>
                    <a:pt x="522922" y="628650"/>
                  </a:lnTo>
                  <a:lnTo>
                    <a:pt x="411480" y="700087"/>
                  </a:lnTo>
                  <a:lnTo>
                    <a:pt x="311467" y="765810"/>
                  </a:lnTo>
                  <a:lnTo>
                    <a:pt x="222885" y="822960"/>
                  </a:lnTo>
                  <a:lnTo>
                    <a:pt x="144780" y="872490"/>
                  </a:lnTo>
                  <a:lnTo>
                    <a:pt x="78105" y="911543"/>
                  </a:lnTo>
                  <a:lnTo>
                    <a:pt x="33338" y="942022"/>
                  </a:lnTo>
                  <a:lnTo>
                    <a:pt x="0" y="959168"/>
                  </a:lnTo>
                  <a:lnTo>
                    <a:pt x="0" y="964882"/>
                  </a:lnTo>
                  <a:lnTo>
                    <a:pt x="0" y="959168"/>
                  </a:lnTo>
                  <a:lnTo>
                    <a:pt x="33338" y="942022"/>
                  </a:lnTo>
                  <a:lnTo>
                    <a:pt x="78105" y="911543"/>
                  </a:lnTo>
                  <a:lnTo>
                    <a:pt x="144780" y="872490"/>
                  </a:lnTo>
                  <a:lnTo>
                    <a:pt x="222885" y="822960"/>
                  </a:lnTo>
                  <a:lnTo>
                    <a:pt x="311467" y="765810"/>
                  </a:lnTo>
                  <a:lnTo>
                    <a:pt x="411480" y="700087"/>
                  </a:lnTo>
                  <a:lnTo>
                    <a:pt x="522922" y="628650"/>
                  </a:lnTo>
                  <a:lnTo>
                    <a:pt x="634365" y="556260"/>
                  </a:lnTo>
                  <a:lnTo>
                    <a:pt x="756285" y="480060"/>
                  </a:lnTo>
                  <a:lnTo>
                    <a:pt x="879158" y="403860"/>
                  </a:lnTo>
                  <a:lnTo>
                    <a:pt x="990600" y="330517"/>
                  </a:lnTo>
                  <a:lnTo>
                    <a:pt x="1101090" y="259080"/>
                  </a:lnTo>
                  <a:lnTo>
                    <a:pt x="1202055" y="193357"/>
                  </a:lnTo>
                  <a:lnTo>
                    <a:pt x="1290638" y="137160"/>
                  </a:lnTo>
                  <a:lnTo>
                    <a:pt x="1368742" y="86677"/>
                  </a:lnTo>
                  <a:lnTo>
                    <a:pt x="1435418" y="47625"/>
                  </a:lnTo>
                  <a:lnTo>
                    <a:pt x="1480185" y="18098"/>
                  </a:lnTo>
                  <a:lnTo>
                    <a:pt x="1513522" y="0"/>
                  </a:lnTo>
                  <a:lnTo>
                    <a:pt x="1513522" y="1333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39715" y="1926908"/>
              <a:ext cx="1512570" cy="970597"/>
            </a:xfrm>
            <a:custGeom>
              <a:avLst/>
              <a:gdLst/>
              <a:ahLst/>
              <a:cxnLst/>
              <a:rect l="l" t="t" r="r" b="b"/>
              <a:pathLst>
                <a:path w="1512570" h="970597">
                  <a:moveTo>
                    <a:pt x="1512570" y="161925"/>
                  </a:moveTo>
                  <a:lnTo>
                    <a:pt x="1512570" y="199072"/>
                  </a:lnTo>
                  <a:lnTo>
                    <a:pt x="1479232" y="264795"/>
                  </a:lnTo>
                  <a:lnTo>
                    <a:pt x="1434465" y="336232"/>
                  </a:lnTo>
                  <a:lnTo>
                    <a:pt x="1367790" y="409575"/>
                  </a:lnTo>
                  <a:lnTo>
                    <a:pt x="1290638" y="485775"/>
                  </a:lnTo>
                  <a:lnTo>
                    <a:pt x="1201103" y="561975"/>
                  </a:lnTo>
                  <a:lnTo>
                    <a:pt x="1101090" y="634365"/>
                  </a:lnTo>
                  <a:lnTo>
                    <a:pt x="989647" y="705802"/>
                  </a:lnTo>
                  <a:lnTo>
                    <a:pt x="878205" y="771525"/>
                  </a:lnTo>
                  <a:lnTo>
                    <a:pt x="756285" y="828675"/>
                  </a:lnTo>
                  <a:lnTo>
                    <a:pt x="634365" y="878205"/>
                  </a:lnTo>
                  <a:lnTo>
                    <a:pt x="522922" y="917258"/>
                  </a:lnTo>
                  <a:lnTo>
                    <a:pt x="411480" y="947738"/>
                  </a:lnTo>
                  <a:lnTo>
                    <a:pt x="311467" y="964883"/>
                  </a:lnTo>
                  <a:lnTo>
                    <a:pt x="221932" y="970597"/>
                  </a:lnTo>
                  <a:lnTo>
                    <a:pt x="144780" y="964883"/>
                  </a:lnTo>
                  <a:lnTo>
                    <a:pt x="78105" y="947738"/>
                  </a:lnTo>
                  <a:lnTo>
                    <a:pt x="33338" y="917258"/>
                  </a:lnTo>
                  <a:lnTo>
                    <a:pt x="0" y="878205"/>
                  </a:lnTo>
                  <a:lnTo>
                    <a:pt x="0" y="828675"/>
                  </a:lnTo>
                  <a:lnTo>
                    <a:pt x="0" y="771525"/>
                  </a:lnTo>
                  <a:lnTo>
                    <a:pt x="33338" y="705802"/>
                  </a:lnTo>
                  <a:lnTo>
                    <a:pt x="78105" y="634365"/>
                  </a:lnTo>
                  <a:lnTo>
                    <a:pt x="144780" y="561975"/>
                  </a:lnTo>
                  <a:lnTo>
                    <a:pt x="221932" y="485775"/>
                  </a:lnTo>
                  <a:lnTo>
                    <a:pt x="311467" y="409575"/>
                  </a:lnTo>
                  <a:lnTo>
                    <a:pt x="411480" y="336232"/>
                  </a:lnTo>
                  <a:lnTo>
                    <a:pt x="522922" y="264795"/>
                  </a:lnTo>
                  <a:lnTo>
                    <a:pt x="634365" y="199072"/>
                  </a:lnTo>
                  <a:lnTo>
                    <a:pt x="756285" y="142875"/>
                  </a:lnTo>
                  <a:lnTo>
                    <a:pt x="878205" y="92392"/>
                  </a:lnTo>
                  <a:lnTo>
                    <a:pt x="989647" y="53340"/>
                  </a:lnTo>
                  <a:lnTo>
                    <a:pt x="1101090" y="23812"/>
                  </a:lnTo>
                  <a:lnTo>
                    <a:pt x="1201103" y="5715"/>
                  </a:lnTo>
                  <a:lnTo>
                    <a:pt x="1290638" y="0"/>
                  </a:lnTo>
                  <a:lnTo>
                    <a:pt x="1367790" y="5715"/>
                  </a:lnTo>
                  <a:lnTo>
                    <a:pt x="1434465" y="23812"/>
                  </a:lnTo>
                  <a:lnTo>
                    <a:pt x="1479232" y="53340"/>
                  </a:lnTo>
                  <a:lnTo>
                    <a:pt x="1512570" y="92392"/>
                  </a:lnTo>
                  <a:lnTo>
                    <a:pt x="1512570" y="12382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899208" y="1926908"/>
              <a:ext cx="1513523" cy="970597"/>
            </a:xfrm>
            <a:custGeom>
              <a:avLst/>
              <a:gdLst/>
              <a:ahLst/>
              <a:cxnLst/>
              <a:rect l="l" t="t" r="r" b="b"/>
              <a:pathLst>
                <a:path w="1513523" h="970597">
                  <a:moveTo>
                    <a:pt x="1513523" y="504825"/>
                  </a:moveTo>
                  <a:lnTo>
                    <a:pt x="1513523" y="561975"/>
                  </a:lnTo>
                  <a:lnTo>
                    <a:pt x="1480185" y="634365"/>
                  </a:lnTo>
                  <a:lnTo>
                    <a:pt x="1435418" y="705802"/>
                  </a:lnTo>
                  <a:lnTo>
                    <a:pt x="1368743" y="771525"/>
                  </a:lnTo>
                  <a:lnTo>
                    <a:pt x="1290638" y="828675"/>
                  </a:lnTo>
                  <a:lnTo>
                    <a:pt x="1202055" y="878205"/>
                  </a:lnTo>
                  <a:lnTo>
                    <a:pt x="1102043" y="917258"/>
                  </a:lnTo>
                  <a:lnTo>
                    <a:pt x="990600" y="947738"/>
                  </a:lnTo>
                  <a:lnTo>
                    <a:pt x="879157" y="964883"/>
                  </a:lnTo>
                  <a:lnTo>
                    <a:pt x="757238" y="970597"/>
                  </a:lnTo>
                  <a:lnTo>
                    <a:pt x="634365" y="964883"/>
                  </a:lnTo>
                  <a:lnTo>
                    <a:pt x="522923" y="947738"/>
                  </a:lnTo>
                  <a:lnTo>
                    <a:pt x="412433" y="917258"/>
                  </a:lnTo>
                  <a:lnTo>
                    <a:pt x="311468" y="878205"/>
                  </a:lnTo>
                  <a:lnTo>
                    <a:pt x="222885" y="828675"/>
                  </a:lnTo>
                  <a:lnTo>
                    <a:pt x="144780" y="771525"/>
                  </a:lnTo>
                  <a:lnTo>
                    <a:pt x="78105" y="705802"/>
                  </a:lnTo>
                  <a:lnTo>
                    <a:pt x="33338" y="634365"/>
                  </a:lnTo>
                  <a:lnTo>
                    <a:pt x="0" y="561975"/>
                  </a:lnTo>
                  <a:lnTo>
                    <a:pt x="0" y="485775"/>
                  </a:lnTo>
                  <a:lnTo>
                    <a:pt x="0" y="409575"/>
                  </a:lnTo>
                  <a:lnTo>
                    <a:pt x="33338" y="336232"/>
                  </a:lnTo>
                  <a:lnTo>
                    <a:pt x="78105" y="264795"/>
                  </a:lnTo>
                  <a:lnTo>
                    <a:pt x="144780" y="199072"/>
                  </a:lnTo>
                  <a:lnTo>
                    <a:pt x="222885" y="142875"/>
                  </a:lnTo>
                  <a:lnTo>
                    <a:pt x="311468" y="92392"/>
                  </a:lnTo>
                  <a:lnTo>
                    <a:pt x="412433" y="53340"/>
                  </a:lnTo>
                  <a:lnTo>
                    <a:pt x="522923" y="23812"/>
                  </a:lnTo>
                  <a:lnTo>
                    <a:pt x="634365" y="5715"/>
                  </a:lnTo>
                  <a:lnTo>
                    <a:pt x="757238" y="0"/>
                  </a:lnTo>
                  <a:lnTo>
                    <a:pt x="879157" y="5715"/>
                  </a:lnTo>
                  <a:lnTo>
                    <a:pt x="990600" y="23812"/>
                  </a:lnTo>
                  <a:lnTo>
                    <a:pt x="1102043" y="53340"/>
                  </a:lnTo>
                  <a:lnTo>
                    <a:pt x="1202055" y="92392"/>
                  </a:lnTo>
                  <a:lnTo>
                    <a:pt x="1290638" y="142875"/>
                  </a:lnTo>
                  <a:lnTo>
                    <a:pt x="1368743" y="199072"/>
                  </a:lnTo>
                  <a:lnTo>
                    <a:pt x="1435418" y="264795"/>
                  </a:lnTo>
                  <a:lnTo>
                    <a:pt x="1480185" y="336232"/>
                  </a:lnTo>
                  <a:lnTo>
                    <a:pt x="1513523" y="409575"/>
                  </a:lnTo>
                  <a:lnTo>
                    <a:pt x="1513523" y="46672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491615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561398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526030" y="30660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526030" y="17402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052060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120890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086475" y="30660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086475" y="17402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611552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681335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646920" y="30660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646920" y="17402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283268" y="19173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283268" y="19173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842760" y="2060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842760" y="2060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403205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403205" y="24031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75955" y="3150870"/>
              <a:ext cx="15191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Δφ = 0，直线 y = (A₂/A₁)x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05311" y="3150870"/>
              <a:ext cx="1581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Δφ = π/4，斜椭圆（顺时针）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65756" y="3150870"/>
              <a:ext cx="1581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Δφ = π/2，正椭圆（顺时针）</a:t>
              </a:r>
            </a:p>
          </p:txBody>
        </p:sp>
      </p:grpSp>
      <p:grpSp>
        <p:nvGrpSpPr>
          <p:cNvPr id="68" name="c1-table-2"/>
          <p:cNvGrpSpPr/>
          <p:nvPr/>
        </p:nvGrpSpPr>
        <p:grpSpPr>
          <a:xfrm>
            <a:off x="533400" y="3475672"/>
            <a:ext cx="11125200" cy="1823085"/>
            <a:chOff x="533400" y="3475672"/>
            <a:chExt cx="11125200" cy="1823085"/>
          </a:xfrm>
        </p:grpSpPr>
        <p:sp>
          <p:nvSpPr>
            <p:cNvPr id="44" name="Rectangle 44"/>
            <p:cNvSpPr/>
            <p:nvPr/>
          </p:nvSpPr>
          <p:spPr>
            <a:xfrm>
              <a:off x="533400" y="3475672"/>
              <a:ext cx="11125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00088" y="3599974"/>
              <a:ext cx="691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 Δφ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19956" y="35999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轨迹方程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12699" y="35999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轨迹形状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44773" y="35999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3412" y="4105751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kπ（k 整数）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58452" y="4105751"/>
              <a:ext cx="1383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(−1)ᵏ(A₂/A₁)x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96012" y="41057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43938" y="4005739"/>
              <a:ext cx="26926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为偶数时在一、三象限，奇数时在二、四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象限，沿直线做简谐振动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4824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4487228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3412" y="4611529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(2k±1)π/2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858452" y="4611529"/>
              <a:ext cx="1476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x²/A₁² + y²/A₂² =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96012" y="46115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正椭圆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43938" y="4611529"/>
              <a:ext cx="2854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长短轴就在坐标轴上；A₁ = A₂ 时退化成圆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8882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3412" y="50172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858452" y="50172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一般二次方程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96012" y="50172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斜椭圆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43938" y="5017294"/>
              <a:ext cx="2084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长轴倾斜，倾角随 Δφ 连续变化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3475672"/>
              <a:ext cx="1112520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753678" y="3475672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91238" y="3475672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539162" y="3475672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9" name="Rectangle 6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5779770"/>
              <a:ext cx="97777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记两个端点就够了：Δφ 是 π 的整数倍给直线，是 π/2 的奇数倍给正椭圆，中间一律是斜椭圆。旋向只看 Δφ 落在 0 到 π 还是 π 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2π。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自测题（上）方程、特征量与能量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690724" cy="278702"/>
            <a:chOff x="526161" y="1547336"/>
            <a:chExt cx="269072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遮住答案先自己做，算完再对。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3505200" cy="1768792"/>
            <a:chOff x="533400" y="1941195"/>
            <a:chExt cx="3505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弹簧振子过平衡位置向 x 正方向运动时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开始计时，初相是多少？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28769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0 给 cos φ = 0；v₀ &gt; 0 要求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 φ &lt; 0，故 φ = −π/2。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3505200" cy="1768792"/>
            <a:chOff x="533400" y="3886200"/>
            <a:chExt cx="3505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293651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质点由平衡位置运动到离平衡位置 A/2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处，所需最短时间是多少？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27311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矢量从 −π/2 转到 −π/3，转过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π/6，Δt = (π/6)/(2π)·T = T/12。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41195"/>
            <a:ext cx="3505200" cy="1768792"/>
            <a:chOff x="4343400" y="1941195"/>
            <a:chExt cx="3505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4343400" y="1941195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2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8947" y="2490788"/>
              <a:ext cx="289536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 cos(ωt + π/4)，求 t = T/4 时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的加速度。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8947" y="3049905"/>
              <a:ext cx="26711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相位为 π/2 + π/4 = 3π/4，a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−ω²A cos(3π/4) = (√2/2)ω²A。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886200"/>
            <a:ext cx="3505200" cy="1768792"/>
            <a:chOff x="4343400" y="3886200"/>
            <a:chExt cx="3505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4343400" y="38862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2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8947" y="4434840"/>
              <a:ext cx="2881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弹簧竖直悬挂物体后伸长 9.8 cm，振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动周期是多少？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8947" y="4994910"/>
              <a:ext cx="28169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√(g/x₀) = 10 rad·s⁻¹，T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2π/10 ≈ 0.63 s，与质量无关。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41195"/>
            <a:ext cx="3505200" cy="3713798"/>
            <a:chOff x="8153400" y="1941195"/>
            <a:chExt cx="3505200" cy="3713798"/>
          </a:xfrm>
        </p:grpSpPr>
        <p:sp>
          <p:nvSpPr>
            <p:cNvPr id="33" name="Rectangle 33"/>
            <p:cNvSpPr/>
            <p:nvPr/>
          </p:nvSpPr>
          <p:spPr>
            <a:xfrm>
              <a:off x="8153400" y="1941195"/>
              <a:ext cx="3505200" cy="3713798"/>
            </a:xfrm>
            <a:prstGeom prst="roundRect">
              <a:avLst>
                <a:gd name="adj" fmla="val 380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3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8947" y="2490788"/>
              <a:ext cx="299051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位移大小等于振幅的 1/4 时，动能占总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能量的多少？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947" y="3049905"/>
              <a:ext cx="25854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Ep/E = (x/A)² = 1/16，所以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Ek/E = 1 − 1/16 = 15/16。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9" name="Rectangle 3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6023610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前两题练相位的代入，中间两题练能量与旋转矢量，最后一题练竖直弹簧振子的平衡位置。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自测题（下）旋转矢量与振动合成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14525"/>
            <a:chOff x="533400" y="1524000"/>
            <a:chExt cx="3505200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96057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4cos(2t + π/6) cm 与 x₂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3cos(2t + 7π/6) cm 合成，求合振动。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28821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π，反相，A = |4 − 3| = 1 cm；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初相取振幅大的那个，x = cos(2t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π/6) cm。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03308"/>
            <a:ext cx="3505200" cy="1914525"/>
            <a:chOff x="533400" y="3603308"/>
            <a:chExt cx="3505200" cy="1914525"/>
          </a:xfrm>
        </p:grpSpPr>
        <p:sp>
          <p:nvSpPr>
            <p:cNvPr id="13" name="Rectangle 13"/>
            <p:cNvSpPr/>
            <p:nvPr/>
          </p:nvSpPr>
          <p:spPr>
            <a:xfrm>
              <a:off x="533400" y="36033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124801"/>
              <a:ext cx="296423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两个等幅、方向垂直、同频率的振动，Δφ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π/2，轨迹和旋向如何？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652486"/>
              <a:ext cx="2930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轨迹是半径 A 的圆；0 &lt; Δφ &lt; π 对应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顺时针，起点 (A, 0) 之后 y 变负。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57412"/>
            <a:chOff x="4343400" y="1524000"/>
            <a:chExt cx="3505200" cy="215741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746807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√3cos(2t + π/6) cm 与 x₂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3cos(2t + 2π/3) cm，求合振幅和初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816066"/>
              <a:ext cx="28821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π/2，A = √(3+9) = 2√3 cm；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分量 √3cos30° + 3cos120° = 0，故 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π/2。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6195"/>
            <a:ext cx="3505200" cy="1671638"/>
            <a:chOff x="4343400" y="3846195"/>
            <a:chExt cx="3505200" cy="1671638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6195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367689"/>
              <a:ext cx="29727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两支音叉同时发声，每秒听到 4 次强弱起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伏。一支是 440 Hz，另一支是多少？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4895374"/>
              <a:ext cx="2890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拍频 |ν₁ − ν₂| = 4 Hz，另一支是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436 Hz 或 444 Hz，单凭拍频区分不了。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3994785"/>
            <a:chOff x="8153400" y="1524000"/>
            <a:chExt cx="3505200" cy="39947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3994785"/>
            </a:xfrm>
            <a:prstGeom prst="roundRect">
              <a:avLst>
                <a:gd name="adj" fmla="val 380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9727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平台以每秒 5 周的频率竖直做简谐振动，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振幅多大时物体会脱离平台？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29634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临界条件 ω²A = g；ω = 2πν = 10π，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9.8/(10π)² ≈ 0.0099 m，约 1 cm。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7" name="Rectangle 3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6039326"/>
              <a:ext cx="78532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合成题先算相位差，是 0、π 或 ±π/2 就直接写答案；只有落在一般值时才需要代余弦定理和正切公式。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振动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452110" cy="2404396"/>
            <a:chOff x="533400" y="1533525"/>
            <a:chExt cx="5452110" cy="2404396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简谐振动的三条等价判据：F = −kx、a = −ω²x、x = A cos(ωt+φ)；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由系统决定，A 与 φ 由初始条件决定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6978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080736"/>
              <a:ext cx="47353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由初始条件求方程：A = √(x₀²+v₀²/ω²)，cos φ 定候选角，v₀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正负定象限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060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616994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 E = kA²/2 守恒，Ep/E = (x/A)²；动能与势能按 2ω 变化，一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个周期内平均值各为 E/2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31769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315325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旋转矢量把相位化成转角，用来读初相、求最短时间、比较超前落后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3471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445669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同向同频合成仍是简谐振动，A = √(A₁²+A₂²+2A₁A₂cos Δφ)；频率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相近得到拍，方向垂直得到椭圆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052888"/>
            <a:ext cx="5410200" cy="1348740"/>
            <a:chOff x="533400" y="4052888"/>
            <a:chExt cx="5410200" cy="1348740"/>
          </a:xfrm>
        </p:grpSpPr>
        <p:sp>
          <p:nvSpPr>
            <p:cNvPr id="23" name="Rectangle 23"/>
            <p:cNvSpPr/>
            <p:nvPr/>
          </p:nvSpPr>
          <p:spPr>
            <a:xfrm>
              <a:off x="533400" y="4052888"/>
              <a:ext cx="5410200" cy="1348740"/>
            </a:xfrm>
            <a:prstGeom prst="roundRect">
              <a:avLst>
                <a:gd name="adj" fmla="val 847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627245"/>
              <a:ext cx="200026" cy="200025"/>
              <a:chOff x="738188" y="462724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6272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6716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7828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4521041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三个自检习惯：把 A 与 φ 代回初始条件核对；看位移是否落在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±A 之内；合振幅是否落在 |A₁−A₂| 与 A₁+A₂ 之间。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957388"/>
            <a:chOff x="6248400" y="1524000"/>
            <a:chExt cx="5410200" cy="1957388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64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2448" y="2045494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动能与势能应为反相（相位差 π），原课件写作 π/2（原第 15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7000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2448" y="2573179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两振动到达同一状态的时刻差应取 Δt = −Δφ/ω，原课件末行少一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个负号（原第 12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77000" y="315372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2448" y="3100864"/>
              <a:ext cx="4277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合振幅中间一步写成 2√3 m，漏掉 ×10⁻²（原第 30 页）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646170"/>
            <a:ext cx="5410200" cy="1756410"/>
            <a:chOff x="6248400" y="3646170"/>
            <a:chExt cx="5410200" cy="1756410"/>
          </a:xfrm>
        </p:grpSpPr>
        <p:sp>
          <p:nvSpPr>
            <p:cNvPr id="41" name="Rectangle 41"/>
            <p:cNvSpPr/>
            <p:nvPr/>
          </p:nvSpPr>
          <p:spPr>
            <a:xfrm>
              <a:off x="6248400" y="3646170"/>
              <a:ext cx="5410200" cy="1756410"/>
            </a:xfrm>
            <a:prstGeom prst="roundRect">
              <a:avLst>
                <a:gd name="adj" fmla="val 75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29375" y="382714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2743" y="386000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38900" y="421957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94348" y="4166711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竖直弹簧振子的平衡位置与 ω = √(g/x₀)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38900" y="450437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4348" y="445150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初相速查表与定象限的规则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38900" y="478917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94348" y="4737259"/>
              <a:ext cx="24054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动能等于势能的位置 x = ±A/√2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38900" y="507396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94348" y="502205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垂直合成的旋向判据与拍频的数值例子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3" name="Rectangle 53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5805011"/>
              <a:ext cx="10026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下一章机械波里，波函数 y = A cos[ω(t − x/u) + φ] 中的每一个质元做的就是本章的简谐振动，求波函数的第一步永远是先写出某一点的振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动方程。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第2章 机械振动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2">
  <a:themeElements>
    <a:clrScheme name="phys_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2026-09-19T13:58:57Z</dcterms:created>
  <dcterms:modified xsi:type="dcterms:W3CDTF">2026-09-19T13:58:57Z</dcterms:modified>
  <cp:category/>
  <cp:contentStatus/>
</cp:coreProperties>
</file>