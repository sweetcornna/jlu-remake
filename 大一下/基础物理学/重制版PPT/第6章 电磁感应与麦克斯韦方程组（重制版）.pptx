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e3492aeb4bb59f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1a4b38b9f62c3de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2c13d403cbb306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6096000" cy="3386328"/>
            <a:chOff x="666750" y="1619250"/>
            <a:chExt cx="6096000" cy="338632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第六章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5062"/>
              <a:ext cx="609600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电磁感应与麦克斯韦方程组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09562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156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从法拉第定律到位移电流，再到电磁波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2525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87000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法拉第定律与楞次定律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1576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6052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动生与感生电动势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0627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510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自感与磁场能量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79679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4154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位移电流与电磁波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自学复习版｜据吉林大学《基础物理学》第6章课件整理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718745" cy="4735831"/>
            <a:chOff x="523113" y="1520666"/>
            <a:chExt cx="6718745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电磁感应的基本规律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法拉第定律、感应电量、楞次定律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3117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洛伦兹力充当非静电力，例6.1、例6.2 与练习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感生电场与感生电动势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涡旋电场的性质，例6.3～例6.5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涡流与趋肤效应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大块导体内部的感应电流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自感与磁场能量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116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的计算、½LI²、磁场能量密度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23000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 麦克斯韦方程组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全电流定律与四个方程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2591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波动方程、E 与 H 的关系、坡印廷矢量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546658" y="1524000"/>
            <a:ext cx="4111942" cy="4688205"/>
            <a:chOff x="7546658" y="1524000"/>
            <a:chExt cx="4111942" cy="4688205"/>
          </a:xfrm>
        </p:grpSpPr>
        <p:sp>
          <p:nvSpPr>
            <p:cNvPr id="35" name="Rectangle 35"/>
            <p:cNvSpPr/>
            <p:nvPr/>
          </p:nvSpPr>
          <p:spPr>
            <a:xfrm>
              <a:off x="7546658" y="1524000"/>
              <a:ext cx="4111942" cy="4688205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56182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7716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6060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85735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41754" y="2072640"/>
              <a:ext cx="33741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会用 ε = −dΦ/dt 和楞次定律定出电动势的大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小与方向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85735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41754" y="2632710"/>
              <a:ext cx="31512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会用 ∫(v×B)·dl 求平动、转动导线的动生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电动势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85735" y="324897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41754" y="3192780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会用涡旋电场的环路式求圆柱形区域内外的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85735" y="380809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41754" y="375189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会算螺线管、同轴电缆的自感和磁场能量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85735" y="411099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41754" y="4054792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能由 E 的表达式写出 H，并求能流密度与强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02270" cy="3351847"/>
            <a:chOff x="667512" y="1835468"/>
            <a:chExt cx="490227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电磁感应的基本规律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6.1，本章的计算都从这两条定律出发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法拉第电磁感应定律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用负号判定电动势方向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感应电量与磁通计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楞次定律与能量守恒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电磁感应的基本规律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法拉第定律：电动势等于磁通量变化率的负值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341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法拉第电磁感应定律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通过回路所围面积的磁通量发生变化时，回路中产生感应电动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势，大小与磁通量对时间的变化率成正比，方向由负号给出。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9"/>
              <p:cNvSpPr txBox="1">
                <a:spLocks noGrp="1"/>
              </p:cNvSpPr>
              <p:nvPr/>
            </p:nvSpPr>
            <p:spPr>
              <a:xfrm>
                <a:off x="533400" y="2908935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3"/>
          <p:cNvGrpSpPr/>
          <p:nvPr/>
        </p:nvGrpSpPr>
        <p:grpSpPr>
          <a:xfrm>
            <a:off x="533400" y="3597592"/>
            <a:ext cx="5410200" cy="1759268"/>
            <a:chOff x="533400" y="3597592"/>
            <a:chExt cx="5410200" cy="1759268"/>
          </a:xfrm>
        </p:grpSpPr>
        <p:sp>
          <p:nvSpPr>
            <p:cNvPr id="14" name="Rectangle 14"/>
            <p:cNvSpPr/>
            <p:nvPr/>
          </p:nvSpPr>
          <p:spPr>
            <a:xfrm>
              <a:off x="533400" y="3597592"/>
              <a:ext cx="5410200" cy="1759268"/>
            </a:xfrm>
            <a:prstGeom prst="roundRect">
              <a:avLst>
                <a:gd name="adj" fmla="val 758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5805" y="3789998"/>
              <a:ext cx="72866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5651" y="3824288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匝线圈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147185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每匝的磁通都是 Φ₁ 时，定义磁链 Ψ = NΦ₁，各匝电动势串联相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0"/>
                <p:cNvSpPr txBox="1">
                  <a:spLocks noGrp="1"/>
                </p:cNvSpPr>
                <p:nvPr/>
              </p:nvSpPr>
              <p:spPr>
                <a:xfrm>
                  <a:off x="725805" y="4684395"/>
                  <a:ext cx="502539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Ψ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7" name="c2-graph-1"/>
          <p:cNvGrpSpPr/>
          <p:nvPr/>
        </p:nvGrpSpPr>
        <p:grpSpPr>
          <a:xfrm>
            <a:off x="6789420" y="1620679"/>
            <a:ext cx="4355942" cy="1660683"/>
            <a:chOff x="6789420" y="1620679"/>
            <a:chExt cx="4355942" cy="1660683"/>
          </a:xfrm>
        </p:grpSpPr>
        <p:sp>
          <p:nvSpPr>
            <p:cNvPr id="20" name="Freeform 20"/>
            <p:cNvSpPr/>
            <p:nvPr/>
          </p:nvSpPr>
          <p:spPr>
            <a:xfrm>
              <a:off x="6789420" y="2415540"/>
              <a:ext cx="2596515" cy="546735"/>
            </a:xfrm>
            <a:custGeom>
              <a:avLst/>
              <a:gdLst/>
              <a:ahLst/>
              <a:cxnLst/>
              <a:rect l="l" t="t" r="r" b="b"/>
              <a:pathLst>
                <a:path w="2596515" h="546735">
                  <a:moveTo>
                    <a:pt x="2590800" y="255270"/>
                  </a:moveTo>
                  <a:lnTo>
                    <a:pt x="2586038" y="242888"/>
                  </a:lnTo>
                  <a:lnTo>
                    <a:pt x="2564130" y="213360"/>
                  </a:lnTo>
                  <a:lnTo>
                    <a:pt x="2526983" y="181927"/>
                  </a:lnTo>
                  <a:lnTo>
                    <a:pt x="2466975" y="155257"/>
                  </a:lnTo>
                  <a:lnTo>
                    <a:pt x="2396490" y="127635"/>
                  </a:lnTo>
                  <a:lnTo>
                    <a:pt x="2315528" y="101918"/>
                  </a:lnTo>
                  <a:lnTo>
                    <a:pt x="2218373" y="80010"/>
                  </a:lnTo>
                  <a:lnTo>
                    <a:pt x="2109788" y="60007"/>
                  </a:lnTo>
                  <a:lnTo>
                    <a:pt x="1990725" y="41910"/>
                  </a:lnTo>
                  <a:lnTo>
                    <a:pt x="1861185" y="27623"/>
                  </a:lnTo>
                  <a:lnTo>
                    <a:pt x="1725930" y="15240"/>
                  </a:lnTo>
                  <a:lnTo>
                    <a:pt x="1584960" y="7620"/>
                  </a:lnTo>
                  <a:lnTo>
                    <a:pt x="1444943" y="1905"/>
                  </a:lnTo>
                  <a:lnTo>
                    <a:pt x="1298258" y="0"/>
                  </a:lnTo>
                  <a:lnTo>
                    <a:pt x="1152525" y="1905"/>
                  </a:lnTo>
                  <a:lnTo>
                    <a:pt x="1011555" y="7620"/>
                  </a:lnTo>
                  <a:lnTo>
                    <a:pt x="870585" y="15240"/>
                  </a:lnTo>
                  <a:lnTo>
                    <a:pt x="735330" y="27623"/>
                  </a:lnTo>
                  <a:lnTo>
                    <a:pt x="605790" y="41910"/>
                  </a:lnTo>
                  <a:lnTo>
                    <a:pt x="486728" y="60007"/>
                  </a:lnTo>
                  <a:lnTo>
                    <a:pt x="379095" y="80010"/>
                  </a:lnTo>
                  <a:lnTo>
                    <a:pt x="280988" y="101918"/>
                  </a:lnTo>
                  <a:lnTo>
                    <a:pt x="200025" y="127635"/>
                  </a:lnTo>
                  <a:lnTo>
                    <a:pt x="129540" y="155257"/>
                  </a:lnTo>
                  <a:lnTo>
                    <a:pt x="70485" y="181927"/>
                  </a:lnTo>
                  <a:lnTo>
                    <a:pt x="32385" y="213360"/>
                  </a:lnTo>
                  <a:lnTo>
                    <a:pt x="10478" y="242888"/>
                  </a:lnTo>
                  <a:lnTo>
                    <a:pt x="0" y="273368"/>
                  </a:lnTo>
                  <a:lnTo>
                    <a:pt x="10478" y="304800"/>
                  </a:lnTo>
                  <a:lnTo>
                    <a:pt x="32385" y="333375"/>
                  </a:lnTo>
                  <a:lnTo>
                    <a:pt x="70485" y="364807"/>
                  </a:lnTo>
                  <a:lnTo>
                    <a:pt x="129540" y="391477"/>
                  </a:lnTo>
                  <a:lnTo>
                    <a:pt x="200025" y="419100"/>
                  </a:lnTo>
                  <a:lnTo>
                    <a:pt x="280988" y="444818"/>
                  </a:lnTo>
                  <a:lnTo>
                    <a:pt x="379095" y="466725"/>
                  </a:lnTo>
                  <a:lnTo>
                    <a:pt x="486728" y="486727"/>
                  </a:lnTo>
                  <a:lnTo>
                    <a:pt x="605790" y="504825"/>
                  </a:lnTo>
                  <a:lnTo>
                    <a:pt x="735330" y="519113"/>
                  </a:lnTo>
                  <a:lnTo>
                    <a:pt x="870585" y="531495"/>
                  </a:lnTo>
                  <a:lnTo>
                    <a:pt x="1011555" y="539115"/>
                  </a:lnTo>
                  <a:lnTo>
                    <a:pt x="1152525" y="544830"/>
                  </a:lnTo>
                  <a:lnTo>
                    <a:pt x="1298258" y="546735"/>
                  </a:lnTo>
                  <a:lnTo>
                    <a:pt x="1444943" y="544830"/>
                  </a:lnTo>
                  <a:lnTo>
                    <a:pt x="1584960" y="539115"/>
                  </a:lnTo>
                  <a:lnTo>
                    <a:pt x="1725930" y="531495"/>
                  </a:lnTo>
                  <a:lnTo>
                    <a:pt x="1861185" y="519113"/>
                  </a:lnTo>
                  <a:lnTo>
                    <a:pt x="1990725" y="504825"/>
                  </a:lnTo>
                  <a:lnTo>
                    <a:pt x="2109788" y="486727"/>
                  </a:lnTo>
                  <a:lnTo>
                    <a:pt x="2218373" y="466725"/>
                  </a:lnTo>
                  <a:lnTo>
                    <a:pt x="2315528" y="444818"/>
                  </a:lnTo>
                  <a:lnTo>
                    <a:pt x="2396490" y="419100"/>
                  </a:lnTo>
                  <a:lnTo>
                    <a:pt x="2466975" y="391477"/>
                  </a:lnTo>
                  <a:lnTo>
                    <a:pt x="2526983" y="364807"/>
                  </a:lnTo>
                  <a:lnTo>
                    <a:pt x="2564130" y="333375"/>
                  </a:lnTo>
                  <a:lnTo>
                    <a:pt x="2586038" y="304800"/>
                  </a:lnTo>
                  <a:lnTo>
                    <a:pt x="2596515" y="273368"/>
                  </a:lnTo>
                  <a:lnTo>
                    <a:pt x="2586038" y="242888"/>
                  </a:lnTo>
                  <a:lnTo>
                    <a:pt x="2575560" y="22860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87678" y="1820228"/>
              <a:ext cx="9525" cy="849630"/>
            </a:xfrm>
            <a:custGeom>
              <a:avLst/>
              <a:gdLst/>
              <a:ahLst/>
              <a:cxnLst/>
              <a:rect l="l" t="t" r="r" b="b"/>
              <a:pathLst>
                <a:path w="9525" h="849630">
                  <a:moveTo>
                    <a:pt x="0" y="84963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40052" y="17249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114222" y="1929765"/>
              <a:ext cx="9525" cy="1323022"/>
            </a:xfrm>
            <a:custGeom>
              <a:avLst/>
              <a:gdLst/>
              <a:ahLst/>
              <a:cxnLst/>
              <a:rect l="l" t="t" r="r" b="b"/>
              <a:pathLst>
                <a:path w="9525" h="1323022">
                  <a:moveTo>
                    <a:pt x="0" y="132302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066598" y="1834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062085" y="1929765"/>
              <a:ext cx="9525" cy="1323022"/>
            </a:xfrm>
            <a:custGeom>
              <a:avLst/>
              <a:gdLst/>
              <a:ahLst/>
              <a:cxnLst/>
              <a:rect l="l" t="t" r="r" b="b"/>
              <a:pathLst>
                <a:path w="9525" h="1323022">
                  <a:moveTo>
                    <a:pt x="0" y="132302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014460" y="18345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728585" y="2950845"/>
              <a:ext cx="623888" cy="9525"/>
            </a:xfrm>
            <a:custGeom>
              <a:avLst/>
              <a:gdLst/>
              <a:ahLst/>
              <a:cxnLst/>
              <a:rect l="l" t="t" r="r" b="b"/>
              <a:pathLst>
                <a:path w="623888" h="9525">
                  <a:moveTo>
                    <a:pt x="0" y="0"/>
                  </a:moveTo>
                  <a:lnTo>
                    <a:pt x="623888" y="0"/>
                  </a:lnTo>
                </a:path>
              </a:pathLst>
            </a:custGeom>
            <a:noFill/>
            <a:ln w="26670">
              <a:solidFill>
                <a:srgbClr val="243B7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352472" y="2903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376410" y="26793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344025" y="26193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078152" y="26793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78152" y="16964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104698" y="32623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104698" y="1805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052560" y="32623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052560" y="1805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700010" y="29413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457248" y="29413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54644" y="16206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34220" y="176641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9626" y="3057049"/>
              <a:ext cx="6561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 的正方向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88823" y="261175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05784" y="2037874"/>
              <a:ext cx="1073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与 L 成右手关系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05784" y="2365534"/>
              <a:ext cx="14395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Φm = ∫B·dS 按 n 计正负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05784" y="2693194"/>
              <a:ext cx="1258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&gt; 0：沿 L 的正方向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05784" y="2983706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&lt; 0：逆着正方向</a:t>
              </a:r>
            </a:p>
          </p:txBody>
        </p:sp>
      </p:grpSp>
      <p:grpSp>
        <p:nvGrpSpPr>
          <p:cNvPr id="61" name="c2-steps-2"/>
          <p:cNvGrpSpPr/>
          <p:nvPr/>
        </p:nvGrpSpPr>
        <p:grpSpPr>
          <a:xfrm>
            <a:off x="6248400" y="3529012"/>
            <a:ext cx="3035488" cy="1693070"/>
            <a:chOff x="6248400" y="3529012"/>
            <a:chExt cx="3035488" cy="1693070"/>
          </a:xfrm>
        </p:grpSpPr>
        <p:sp>
          <p:nvSpPr>
            <p:cNvPr id="48" name="Rectangle 48"/>
            <p:cNvSpPr/>
            <p:nvPr/>
          </p:nvSpPr>
          <p:spPr>
            <a:xfrm>
              <a:off x="6381750" y="3671888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248400" y="3529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2024" y="3602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48400" y="411575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2024" y="4189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47024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2024" y="47763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0642" y="3560445"/>
              <a:ext cx="1638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先选回路的正方向 L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785" y="3828574"/>
              <a:ext cx="1875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法线 n 与 L 成右手螺旋关系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642" y="4147185"/>
              <a:ext cx="1514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n 算 Φm 的正负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1785" y="4415314"/>
              <a:ext cx="2226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与 n 的夹角小于 90° 时 Φm &gt; 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0642" y="4734878"/>
              <a:ext cx="1713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dΦm/dt 再加负号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1785" y="5002054"/>
              <a:ext cx="2622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&gt; 0 沿 L 的正方向，ε &lt; 0 逆着正方向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电动势只由磁通量的变化率决定，与回路的材料和电阻无关；回路不闭合时照样有电动势，只是没有电流。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电磁感应的基本规律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感应电量只取决于磁通量的变化量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5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card-2"/>
          <p:cNvGrpSpPr/>
          <p:nvPr/>
        </p:nvGrpSpPr>
        <p:grpSpPr>
          <a:xfrm>
            <a:off x="533400" y="2179320"/>
            <a:ext cx="5193982" cy="1209675"/>
            <a:chOff x="533400" y="2179320"/>
            <a:chExt cx="5193982" cy="1209675"/>
          </a:xfrm>
        </p:grpSpPr>
        <p:sp>
          <p:nvSpPr>
            <p:cNvPr id="8" name="Rectangle 8"/>
            <p:cNvSpPr/>
            <p:nvPr/>
          </p:nvSpPr>
          <p:spPr>
            <a:xfrm>
              <a:off x="533400" y="217932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5805" y="23717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245" y="2406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72796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通过回路任一截面的感应电量只由磁通量的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和回路电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阻决定，与磁通变化得快还是慢无关。N 匝线圈再乘以 N。</a:t>
              </a:r>
            </a:p>
          </p:txBody>
        </p:sp>
      </p:grpSp>
      <p:grpSp>
        <p:nvGrpSpPr>
          <p:cNvPr id="18" name="c1-card-3"/>
          <p:cNvGrpSpPr/>
          <p:nvPr/>
        </p:nvGrpSpPr>
        <p:grpSpPr>
          <a:xfrm>
            <a:off x="533400" y="3563302"/>
            <a:ext cx="5193982" cy="2138362"/>
            <a:chOff x="533400" y="3563302"/>
            <a:chExt cx="5193982" cy="2138362"/>
          </a:xfrm>
        </p:grpSpPr>
        <p:sp>
          <p:nvSpPr>
            <p:cNvPr id="13" name="Rectangle 13"/>
            <p:cNvSpPr/>
            <p:nvPr/>
          </p:nvSpPr>
          <p:spPr>
            <a:xfrm>
              <a:off x="533400" y="3563302"/>
              <a:ext cx="5193982" cy="2138362"/>
            </a:xfrm>
            <a:prstGeom prst="roundRect">
              <a:avLst>
                <a:gd name="adj" fmla="val 62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696652"/>
              <a:ext cx="47625" cy="18716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75570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343" y="37899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磁通计原理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4112895"/>
              <a:ext cx="45828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测出 R 和 q，就能反推 Φ₁ − Φ₂。把探测线圈从磁场中迅速抽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出（Φ₂ = 0），冲击电流计读出通过的电量 q，便得到原来的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 Φ₁ = qR。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032182" y="1524000"/>
            <a:ext cx="5626418" cy="1511618"/>
            <a:chOff x="6032182" y="1524000"/>
            <a:chExt cx="5626418" cy="1511618"/>
          </a:xfrm>
        </p:grpSpPr>
        <p:sp>
          <p:nvSpPr>
            <p:cNvPr id="19" name="Rectangle 19"/>
            <p:cNvSpPr/>
            <p:nvPr/>
          </p:nvSpPr>
          <p:spPr>
            <a:xfrm>
              <a:off x="6032182" y="1524000"/>
              <a:ext cx="5626418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41708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62688" y="1716405"/>
              <a:ext cx="15287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101" y="1750695"/>
              <a:ext cx="1408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小例（作业计算题 6）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55830" y="2072640"/>
              <a:ext cx="492575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a = 0.10 m 的圆形回路，R = 1.0×10⁻³ Ω，B 与回路法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线成 60°，B = (3t² + 8t + 5)×10⁻⁴ T。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55830" y="2632710"/>
              <a:ext cx="2976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最初 2 s 内通过回路截面的电量。</a:t>
              </a:r>
            </a:p>
          </p:txBody>
        </p:sp>
      </p:grpSp>
      <p:grpSp>
        <p:nvGrpSpPr>
          <p:cNvPr id="43" name="c2-steps-2"/>
          <p:cNvGrpSpPr/>
          <p:nvPr/>
        </p:nvGrpSpPr>
        <p:grpSpPr>
          <a:xfrm>
            <a:off x="6032182" y="3220402"/>
            <a:ext cx="5218303" cy="2488406"/>
            <a:chOff x="6032182" y="3220402"/>
            <a:chExt cx="5218303" cy="2488406"/>
          </a:xfrm>
        </p:grpSpPr>
        <p:sp>
          <p:nvSpPr>
            <p:cNvPr id="26" name="Rectangle 26"/>
            <p:cNvSpPr/>
            <p:nvPr/>
          </p:nvSpPr>
          <p:spPr>
            <a:xfrm>
              <a:off x="6165532" y="3363278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032182" y="32204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32942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2182" y="38071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3880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43948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4468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2182" y="49815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5806" y="5055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424" y="32527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写磁通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5567" y="3519964"/>
              <a:ext cx="1761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Φm = BS cos 60° = ½πa²B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424" y="3839527"/>
              <a:ext cx="1154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B 的变化量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567" y="4106704"/>
              <a:ext cx="3897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B(0) = 5×10⁻⁴ T，B(2) = 33×10⁻⁴ T，ΔB = 28×10⁻⁴ 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424" y="4426268"/>
              <a:ext cx="1212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q = ΔΦ/R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5567" y="4693444"/>
              <a:ext cx="3222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½π × 0.01 × 28×10⁻⁴ / 10⁻³ ≈ 4.4×10⁻² 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4424" y="5013008"/>
              <a:ext cx="1810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顺带求 t = 2 s 的电流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5567" y="5281136"/>
              <a:ext cx="48049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dB/dt = (6t + 8)×10⁻⁴ = 20×10⁻⁴ T/s，|ε| = ½πa²·dB/dt ≈ 3.1×10⁻⁵ V，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≈ 3.1×10⁻² A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8947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求电量只用首末两个时刻的磁通，中间 B 怎样变化都不影响 q；求某一时刻的电流则必须用那一时刻的 dΦ/dt。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电磁感应的基本规律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楞次定律：感应电流的磁场总是反抗引起它的变化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46848"/>
            <a:chOff x="533400" y="1524000"/>
            <a:chExt cx="5410200" cy="14468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6848"/>
            </a:xfrm>
            <a:prstGeom prst="roundRect">
              <a:avLst>
                <a:gd name="adj" fmla="val 9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801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楞次定律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闭合回路中感应电流的方向，总是使它自己产生的磁场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反抗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碍）引起感应电流的磁通量变化。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608421"/>
              <a:ext cx="3399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链条：dΦm → 感应电流 Iᵢ → 它的磁场 Bᵢ 反抗 dΦm</a:t>
              </a:r>
            </a:p>
          </p:txBody>
        </p:sp>
      </p:grpSp>
      <p:grpSp>
        <p:nvGrpSpPr>
          <p:cNvPr id="38" name="c1-graph-2"/>
          <p:cNvGrpSpPr/>
          <p:nvPr/>
        </p:nvGrpSpPr>
        <p:grpSpPr>
          <a:xfrm>
            <a:off x="956310" y="3225165"/>
            <a:ext cx="4503458" cy="2077402"/>
            <a:chOff x="956310" y="3225165"/>
            <a:chExt cx="4503458" cy="2077402"/>
          </a:xfrm>
        </p:grpSpPr>
        <p:sp>
          <p:nvSpPr>
            <p:cNvPr id="14" name="Freeform 14"/>
            <p:cNvSpPr/>
            <p:nvPr/>
          </p:nvSpPr>
          <p:spPr>
            <a:xfrm>
              <a:off x="1588770" y="3457575"/>
              <a:ext cx="486727" cy="1629728"/>
            </a:xfrm>
            <a:custGeom>
              <a:avLst/>
              <a:gdLst/>
              <a:ahLst/>
              <a:cxnLst/>
              <a:rect l="l" t="t" r="r" b="b"/>
              <a:pathLst>
                <a:path w="486727" h="1629728">
                  <a:moveTo>
                    <a:pt x="486727" y="796290"/>
                  </a:moveTo>
                  <a:lnTo>
                    <a:pt x="486727" y="724853"/>
                  </a:lnTo>
                  <a:lnTo>
                    <a:pt x="481012" y="634365"/>
                  </a:lnTo>
                  <a:lnTo>
                    <a:pt x="470535" y="545783"/>
                  </a:lnTo>
                  <a:lnTo>
                    <a:pt x="464820" y="461962"/>
                  </a:lnTo>
                  <a:lnTo>
                    <a:pt x="448627" y="380047"/>
                  </a:lnTo>
                  <a:lnTo>
                    <a:pt x="432435" y="307658"/>
                  </a:lnTo>
                  <a:lnTo>
                    <a:pt x="416242" y="238125"/>
                  </a:lnTo>
                  <a:lnTo>
                    <a:pt x="394335" y="179070"/>
                  </a:lnTo>
                  <a:lnTo>
                    <a:pt x="373380" y="124778"/>
                  </a:lnTo>
                  <a:lnTo>
                    <a:pt x="351472" y="81915"/>
                  </a:lnTo>
                  <a:lnTo>
                    <a:pt x="323850" y="45720"/>
                  </a:lnTo>
                  <a:lnTo>
                    <a:pt x="297180" y="20955"/>
                  </a:lnTo>
                  <a:lnTo>
                    <a:pt x="270510" y="4762"/>
                  </a:lnTo>
                  <a:lnTo>
                    <a:pt x="242888" y="0"/>
                  </a:lnTo>
                  <a:lnTo>
                    <a:pt x="216217" y="4762"/>
                  </a:lnTo>
                  <a:lnTo>
                    <a:pt x="188595" y="20955"/>
                  </a:lnTo>
                  <a:lnTo>
                    <a:pt x="161925" y="45720"/>
                  </a:lnTo>
                  <a:lnTo>
                    <a:pt x="135255" y="81915"/>
                  </a:lnTo>
                  <a:lnTo>
                    <a:pt x="113347" y="124778"/>
                  </a:lnTo>
                  <a:lnTo>
                    <a:pt x="91440" y="179070"/>
                  </a:lnTo>
                  <a:lnTo>
                    <a:pt x="69532" y="238125"/>
                  </a:lnTo>
                  <a:lnTo>
                    <a:pt x="53340" y="307658"/>
                  </a:lnTo>
                  <a:lnTo>
                    <a:pt x="37147" y="380047"/>
                  </a:lnTo>
                  <a:lnTo>
                    <a:pt x="20955" y="461962"/>
                  </a:lnTo>
                  <a:lnTo>
                    <a:pt x="16192" y="545783"/>
                  </a:lnTo>
                  <a:lnTo>
                    <a:pt x="4762" y="634365"/>
                  </a:lnTo>
                  <a:lnTo>
                    <a:pt x="0" y="724853"/>
                  </a:lnTo>
                  <a:lnTo>
                    <a:pt x="0" y="815340"/>
                  </a:lnTo>
                  <a:lnTo>
                    <a:pt x="0" y="905828"/>
                  </a:lnTo>
                  <a:lnTo>
                    <a:pt x="4762" y="996315"/>
                  </a:lnTo>
                  <a:lnTo>
                    <a:pt x="16192" y="1083945"/>
                  </a:lnTo>
                  <a:lnTo>
                    <a:pt x="20955" y="1167765"/>
                  </a:lnTo>
                  <a:lnTo>
                    <a:pt x="37147" y="1249680"/>
                  </a:lnTo>
                  <a:lnTo>
                    <a:pt x="53340" y="1322070"/>
                  </a:lnTo>
                  <a:lnTo>
                    <a:pt x="69532" y="1391603"/>
                  </a:lnTo>
                  <a:lnTo>
                    <a:pt x="91440" y="1450657"/>
                  </a:lnTo>
                  <a:lnTo>
                    <a:pt x="113347" y="1504950"/>
                  </a:lnTo>
                  <a:lnTo>
                    <a:pt x="135255" y="1547812"/>
                  </a:lnTo>
                  <a:lnTo>
                    <a:pt x="161925" y="1584007"/>
                  </a:lnTo>
                  <a:lnTo>
                    <a:pt x="188595" y="1609725"/>
                  </a:lnTo>
                  <a:lnTo>
                    <a:pt x="216217" y="1624965"/>
                  </a:lnTo>
                  <a:lnTo>
                    <a:pt x="242888" y="1629728"/>
                  </a:lnTo>
                  <a:lnTo>
                    <a:pt x="270510" y="1624965"/>
                  </a:lnTo>
                  <a:lnTo>
                    <a:pt x="297180" y="1609725"/>
                  </a:lnTo>
                  <a:lnTo>
                    <a:pt x="323850" y="1584007"/>
                  </a:lnTo>
                  <a:lnTo>
                    <a:pt x="351472" y="1547812"/>
                  </a:lnTo>
                  <a:lnTo>
                    <a:pt x="373380" y="1504950"/>
                  </a:lnTo>
                  <a:lnTo>
                    <a:pt x="394335" y="1450657"/>
                  </a:lnTo>
                  <a:lnTo>
                    <a:pt x="416242" y="1391603"/>
                  </a:lnTo>
                  <a:lnTo>
                    <a:pt x="432435" y="1322070"/>
                  </a:lnTo>
                  <a:lnTo>
                    <a:pt x="448627" y="1249680"/>
                  </a:lnTo>
                  <a:lnTo>
                    <a:pt x="464820" y="1167765"/>
                  </a:lnTo>
                  <a:lnTo>
                    <a:pt x="470535" y="1083945"/>
                  </a:lnTo>
                  <a:lnTo>
                    <a:pt x="481012" y="996315"/>
                  </a:lnTo>
                  <a:lnTo>
                    <a:pt x="486727" y="905828"/>
                  </a:lnTo>
                  <a:lnTo>
                    <a:pt x="486727" y="815340"/>
                  </a:lnTo>
                  <a:lnTo>
                    <a:pt x="486727" y="724853"/>
                  </a:lnTo>
                  <a:lnTo>
                    <a:pt x="481965" y="652462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731895" y="3593782"/>
              <a:ext cx="840105" cy="9525"/>
            </a:xfrm>
            <a:custGeom>
              <a:avLst/>
              <a:gdLst/>
              <a:ahLst/>
              <a:cxnLst/>
              <a:rect l="l" t="t" r="r" b="b"/>
              <a:pathLst>
                <a:path w="840105" h="9525">
                  <a:moveTo>
                    <a:pt x="840105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243B7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36645" y="35461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50708" y="4272915"/>
              <a:ext cx="841058" cy="9525"/>
            </a:xfrm>
            <a:custGeom>
              <a:avLst/>
              <a:gdLst/>
              <a:ahLst/>
              <a:cxnLst/>
              <a:rect l="l" t="t" r="r" b="b"/>
              <a:pathLst>
                <a:path w="841058" h="9525">
                  <a:moveTo>
                    <a:pt x="0" y="0"/>
                  </a:moveTo>
                  <a:lnTo>
                    <a:pt x="841058" y="0"/>
                  </a:lnTo>
                </a:path>
              </a:pathLst>
            </a:custGeom>
            <a:noFill/>
            <a:ln w="28575">
              <a:solidFill>
                <a:srgbClr val="14A38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91765" y="4225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80135" y="5223510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22479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  <a:custDash>
                <a:ds d="300000" sp="20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984885" y="5175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69945" y="4088130"/>
              <a:ext cx="603885" cy="368618"/>
            </a:xfrm>
            <a:prstGeom prst="roundRect">
              <a:avLst>
                <a:gd name="adj" fmla="val 25840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50982" y="4088130"/>
              <a:ext cx="603885" cy="368618"/>
            </a:xfrm>
            <a:prstGeom prst="roundRect">
              <a:avLst>
                <a:gd name="adj" fmla="val 25840"/>
              </a:avLst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065972" y="4263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060258" y="40824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581525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608070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822132" y="4263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796540" y="42633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337560" y="52139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56310" y="52139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29208" y="421671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1198" y="421671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61275" y="33294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95809" y="400859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Bᵢ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04248" y="5126355"/>
              <a:ext cx="1247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磁铁的 B 向左、在增大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63352" y="4628198"/>
              <a:ext cx="11964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感应电流的场 Bᵢ 向右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21105" y="322516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从磁铁一侧看：逆时针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248400" y="1524000"/>
            <a:ext cx="5410200" cy="2000250"/>
            <a:chOff x="6248400" y="1524000"/>
            <a:chExt cx="5410200" cy="2000250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71552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磁铁的动作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010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原磁通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01270" y="1645444"/>
              <a:ext cx="68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Bᵢ 与原 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2582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45555" y="204549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极靠近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56208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8301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03180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相斥（来拒）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5555" y="244554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极远离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56208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8301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03180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相吸（去留）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5555" y="284559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极靠近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56208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8301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03180" y="28455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相斥（来拒）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5555" y="324564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极远离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56208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8301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同向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03180" y="32456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相吸（去留）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5429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78109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10126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rd-2"/>
          <p:cNvGrpSpPr/>
          <p:nvPr/>
        </p:nvGrpSpPr>
        <p:grpSpPr>
          <a:xfrm>
            <a:off x="6248400" y="3693795"/>
            <a:ext cx="5410200" cy="2000250"/>
            <a:chOff x="6248400" y="3693795"/>
            <a:chExt cx="5410200" cy="2000250"/>
          </a:xfrm>
        </p:grpSpPr>
        <p:sp>
          <p:nvSpPr>
            <p:cNvPr id="70" name="Rectangle 70"/>
            <p:cNvSpPr/>
            <p:nvPr/>
          </p:nvSpPr>
          <p:spPr>
            <a:xfrm>
              <a:off x="6248400" y="3693795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257925" y="3827145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73190" y="388048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35356" y="39133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为什么一定是「反抗」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66332" y="422529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假如感应电流反而助长磁通的变化，磁铁一被推动就会越跑越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快，凭空得到动能，违反能量守恒。实际上推磁铁要克服斥力做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功，这部分功转化为感应电流的焦耳热。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66332" y="503967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所以楞次定律是能量守恒在电磁感应中的体现，法拉第定律里的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负号就是它的数学表达。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7" name="Rectangle 7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8373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反抗的是磁通量的变化，不是磁通量本身：磁通减小时，感应电流的磁场与原磁场同向，帮它维持。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57220" cy="3351847"/>
            <a:chOff x="667512" y="1835468"/>
            <a:chExt cx="625722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473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6.2.1，导体在磁场中运动，推动电荷的是洛伦兹力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两类感应电动势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动生电动势的微观机制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定义式与两种算法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例6.1、例6.2 与练习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感应电动势分两类：看是导体在动还是磁场在变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6750" y="1815465"/>
            <a:ext cx="5143500" cy="2453641"/>
            <a:chOff x="666750" y="1815465"/>
            <a:chExt cx="5143500" cy="2453641"/>
          </a:xfrm>
        </p:grpSpPr>
        <p:sp>
          <p:nvSpPr>
            <p:cNvPr id="7" name="Freeform 7"/>
            <p:cNvSpPr/>
            <p:nvPr/>
          </p:nvSpPr>
          <p:spPr>
            <a:xfrm>
              <a:off x="2203132" y="2015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65058" y="1963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007168" y="201549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1963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03132" y="299751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65058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007168" y="299751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69092" y="2945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03132" y="3979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5058" y="3927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07168" y="397954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69092" y="39271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181546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69832" y="181546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73868" y="181546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279844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69832" y="279844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73868" y="2798445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3690938"/>
              <a:ext cx="153638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69832" y="3780472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73868" y="3780472"/>
              <a:ext cx="1536382" cy="399098"/>
            </a:xfrm>
            <a:prstGeom prst="roundRect">
              <a:avLst>
                <a:gd name="adj" fmla="val 23866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8154" y="19369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磁场不变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31236" y="19369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导体运动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931" y="193690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8154" y="29189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导体不动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31236" y="29189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58931" y="291893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感生电动势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5222" y="3804761"/>
              <a:ext cx="5803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导体运动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磁场变化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31236" y="39009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两种都有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87314" y="3900964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ε动 + ε感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646295"/>
            <a:ext cx="5410200" cy="954405"/>
            <a:chOff x="533400" y="4646295"/>
            <a:chExt cx="5410200" cy="954405"/>
          </a:xfrm>
        </p:grpSpPr>
        <p:sp>
          <p:nvSpPr>
            <p:cNvPr id="38" name="Rectangle 38"/>
            <p:cNvSpPr/>
            <p:nvPr/>
          </p:nvSpPr>
          <p:spPr>
            <a:xfrm>
              <a:off x="533400" y="4646295"/>
              <a:ext cx="5410200" cy="954405"/>
            </a:xfrm>
            <a:prstGeom prst="roundRect">
              <a:avLst>
                <a:gd name="adj" fmla="val 1197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023485"/>
              <a:ext cx="200026" cy="200025"/>
              <a:chOff x="738188" y="502348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023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5067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5179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904423"/>
              <a:ext cx="44628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例6.5 的回路一边运动、导线电流一边变化，两种电动势同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时存在。</a:t>
              </a:r>
            </a:p>
          </p:txBody>
        </p:sp>
      </p:grpSp>
      <p:grpSp>
        <p:nvGrpSpPr>
          <p:cNvPr id="73" name="c2-table-1"/>
          <p:cNvGrpSpPr/>
          <p:nvPr/>
        </p:nvGrpSpPr>
        <p:grpSpPr>
          <a:xfrm>
            <a:off x="6248400" y="1524000"/>
            <a:ext cx="5410200" cy="2434590"/>
            <a:chOff x="6248400" y="1524000"/>
            <a:chExt cx="5410200" cy="2434590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872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079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动生电动势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20579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感生电动势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48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什么在变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39038" y="205406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导体位置（切割磁感线）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48825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磁场随时间变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8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非静电力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39038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48825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涡旋电场力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8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非静电场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39038" y="2865596"/>
              <a:ext cx="624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 = v×B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48825" y="2865596"/>
              <a:ext cx="1356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∂B/∂t 激发的 EK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8412" y="327136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39038" y="3271361"/>
              <a:ext cx="730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∫(v×B)·dl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48825" y="3271361"/>
              <a:ext cx="10347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−∫(∂B/∂t)·dS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48412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电动势在哪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39038" y="367712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运动的那段导体里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48825" y="36771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变化磁场周围的空间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43426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54405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2"/>
          <p:cNvGrpSpPr/>
          <p:nvPr/>
        </p:nvGrpSpPr>
        <p:grpSpPr>
          <a:xfrm>
            <a:off x="6248400" y="4133850"/>
            <a:ext cx="5410200" cy="1466850"/>
            <a:chOff x="6248400" y="4133850"/>
            <a:chExt cx="5410200" cy="1466850"/>
          </a:xfrm>
        </p:grpSpPr>
        <p:sp>
          <p:nvSpPr>
            <p:cNvPr id="74" name="Rectangle 74"/>
            <p:cNvSpPr/>
            <p:nvPr/>
          </p:nvSpPr>
          <p:spPr>
            <a:xfrm>
              <a:off x="6248400" y="413385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42672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8905" y="432625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38341" y="436054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两种说法算出同一个数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72047" y="4682490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l 的导线以 v 垂直切割匀强磁场 B，dt 内扫过面积 lv dt，回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路磁通增加 dΦ = Blv dt，由法拉第定律 ε = Blv，与下一页用洛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伦兹力得到的结果相同。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0" name="Rectangle 8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6023610"/>
              <a:ext cx="8574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两类电动势都满足 ε = −dΦm/dt；分开讨论是为了弄清非静电力是什么，以及电动势分布在回路的哪一段。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动生电动势的来源：导线中电子受的洛伦兹力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graph-1"/>
          <p:cNvGrpSpPr/>
          <p:nvPr/>
        </p:nvGrpSpPr>
        <p:grpSpPr>
          <a:xfrm>
            <a:off x="881739" y="1564005"/>
            <a:ext cx="4324626" cy="2429256"/>
            <a:chOff x="881739" y="1564005"/>
            <a:chExt cx="4324626" cy="2429256"/>
          </a:xfrm>
        </p:grpSpPr>
        <p:sp>
          <p:nvSpPr>
            <p:cNvPr id="7" name="Freeform 7"/>
            <p:cNvSpPr/>
            <p:nvPr/>
          </p:nvSpPr>
          <p:spPr>
            <a:xfrm>
              <a:off x="2967990" y="1833562"/>
              <a:ext cx="9525" cy="1798320"/>
            </a:xfrm>
            <a:custGeom>
              <a:avLst/>
              <a:gdLst/>
              <a:ahLst/>
              <a:cxnLst/>
              <a:rect l="l" t="t" r="r" b="b"/>
              <a:pathLst>
                <a:path w="9525" h="1798320">
                  <a:moveTo>
                    <a:pt x="0" y="0"/>
                  </a:moveTo>
                  <a:lnTo>
                    <a:pt x="0" y="1798320"/>
                  </a:lnTo>
                </a:path>
              </a:pathLst>
            </a:custGeom>
            <a:noFill/>
            <a:ln w="133350">
              <a:solidFill>
                <a:srgbClr val="D9770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7990" y="2896552"/>
              <a:ext cx="9525" cy="350520"/>
            </a:xfrm>
            <a:custGeom>
              <a:avLst/>
              <a:gdLst/>
              <a:ahLst/>
              <a:cxnLst/>
              <a:rect l="l" t="t" r="r" b="b"/>
              <a:pathLst>
                <a:path w="9525" h="350520">
                  <a:moveTo>
                    <a:pt x="0" y="0"/>
                  </a:moveTo>
                  <a:lnTo>
                    <a:pt x="0" y="35052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920365" y="32470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7990" y="2218372"/>
              <a:ext cx="9525" cy="350520"/>
            </a:xfrm>
            <a:custGeom>
              <a:avLst/>
              <a:gdLst/>
              <a:ahLst/>
              <a:cxnLst/>
              <a:rect l="l" t="t" r="r" b="b"/>
              <a:pathLst>
                <a:path w="9525" h="350520">
                  <a:moveTo>
                    <a:pt x="0" y="35052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14A38B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20365" y="21231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376612" y="2732722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243B7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119562" y="2685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158740" y="1928812"/>
              <a:ext cx="9525" cy="1607820"/>
            </a:xfrm>
            <a:custGeom>
              <a:avLst/>
              <a:gdLst/>
              <a:ahLst/>
              <a:cxnLst/>
              <a:rect l="l" t="t" r="r" b="b"/>
              <a:pathLst>
                <a:path w="9525" h="1607820">
                  <a:moveTo>
                    <a:pt x="0" y="0"/>
                  </a:moveTo>
                  <a:lnTo>
                    <a:pt x="0" y="16078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11115" y="35366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111115" y="18335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863215" y="2627948"/>
              <a:ext cx="209550" cy="2095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958465" y="18049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958465" y="36414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958465" y="2867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958465" y="3351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958465" y="25784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958465" y="20945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348038" y="27231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224338" y="27231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149215" y="18049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149215" y="36414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24943" y="26722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15248" y="1564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15248" y="37585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58763" y="184594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+ 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8763" y="348996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− 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73881" y="3103245"/>
              <a:ext cx="209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89143" y="2184082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Fe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92194" y="24417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4968" y="2611279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1739" y="17092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1739" y="21683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1739" y="26274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1739" y="308657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1739" y="35456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63729" y="17092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63729" y="21683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63729" y="26274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63729" y="308657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63729" y="35456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44767" y="17092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44767" y="21683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244767" y="262747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44767" y="308657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244767" y="35456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08747" y="17092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08747" y="21683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08747" y="308657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608747" y="35456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87892" y="170926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87892" y="21683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87892" y="308657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87892" y="354568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4212" y="3804285"/>
              <a:ext cx="8452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垂直纸面向里</a:t>
              </a:r>
            </a:p>
          </p:txBody>
        </p:sp>
      </p:grpSp>
      <p:grpSp>
        <p:nvGrpSpPr>
          <p:cNvPr id="66" name="c1-card-2"/>
          <p:cNvGrpSpPr/>
          <p:nvPr/>
        </p:nvGrpSpPr>
        <p:grpSpPr>
          <a:xfrm>
            <a:off x="533400" y="4121468"/>
            <a:ext cx="4869180" cy="1250632"/>
            <a:chOff x="533400" y="4121468"/>
            <a:chExt cx="4869180" cy="1250632"/>
          </a:xfrm>
        </p:grpSpPr>
        <p:sp>
          <p:nvSpPr>
            <p:cNvPr id="62" name="Rectangle 62"/>
            <p:cNvSpPr/>
            <p:nvPr/>
          </p:nvSpPr>
          <p:spPr>
            <a:xfrm>
              <a:off x="533400" y="4121468"/>
              <a:ext cx="4869180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1520" y="43195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2960" y="4353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4281" y="4680109"/>
              <a:ext cx="41803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→ b，即在导体内部由低电势指向高电势，b 端电势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高。运动的导线相当于一个电源。</a:t>
              </a:r>
            </a:p>
          </p:txBody>
        </p:sp>
      </p:grpSp>
      <p:grpSp>
        <p:nvGrpSpPr>
          <p:cNvPr id="84" name="c2-steps-1"/>
          <p:cNvGrpSpPr/>
          <p:nvPr/>
        </p:nvGrpSpPr>
        <p:grpSpPr>
          <a:xfrm>
            <a:off x="5707380" y="1533525"/>
            <a:ext cx="4809927" cy="2398776"/>
            <a:chOff x="5707380" y="1533525"/>
            <a:chExt cx="4809927" cy="2398776"/>
          </a:xfrm>
        </p:grpSpPr>
        <p:sp>
          <p:nvSpPr>
            <p:cNvPr id="67" name="Rectangle 67"/>
            <p:cNvSpPr/>
            <p:nvPr/>
          </p:nvSpPr>
          <p:spPr>
            <a:xfrm>
              <a:off x="584073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707380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0100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707380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0100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5707380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80100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119241" y="1566386"/>
              <a:ext cx="2156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洛伦兹力把电子推向 a 端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20384" y="1846898"/>
              <a:ext cx="4396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Fm = (−e)v×B，方向向下；a 端积累负电荷，b 端留下正电荷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119241" y="218360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积累的电荷产生静电场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120384" y="2464118"/>
              <a:ext cx="3116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由 b 指向 a，电子受 Fe = −eE，方向向上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119241" y="279987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两力平衡后不再积累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120384" y="3080385"/>
              <a:ext cx="3048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Fm + Fe = 0，a、b 之间维持稳定的电势差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119241" y="341709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洛伦兹力相当于非静电场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20384" y="3697605"/>
              <a:ext cx="1529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 = Fm/(−e) = v×B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formula19"/>
              <p:cNvSpPr txBox="1">
                <a:spLocks noGrp="1"/>
              </p:cNvSpPr>
              <p:nvPr/>
            </p:nvSpPr>
            <p:spPr>
              <a:xfrm>
                <a:off x="5707380" y="4103370"/>
                <a:ext cx="5951220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vB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Bvl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9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86" name="Rectangle 8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洛伦兹力总功为零：它沿导线的分力推动电荷做正功，垂直导线的分力阻碍导线运动做负功，两者相抵；外力推动导线做的功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最终转化为电能。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7287" cy="909257"/>
            <a:chOff x="520446" y="342900"/>
            <a:chExt cx="86472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72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定义式 ε = ∫(v×B)·dl：只有切割磁感线才有动生电动势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35505"/>
            <a:chOff x="533400" y="1524000"/>
            <a:chExt cx="5410200" cy="21355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35505"/>
            </a:xfrm>
            <a:prstGeom prst="roundRect">
              <a:avLst>
                <a:gd name="adj" fmla="val 62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88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动生电动势的定义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2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动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3430" y="273939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整段导线的电动势等于各线元电动势之和：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3"/>
                <p:cNvSpPr txBox="1">
                  <a:spLocks noGrp="1"/>
                </p:cNvSpPr>
                <p:nvPr/>
              </p:nvSpPr>
              <p:spPr>
                <a:xfrm>
                  <a:off x="781050" y="3049905"/>
                  <a:ext cx="4953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动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vB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</m:func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dl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kv-2"/>
          <p:cNvGrpSpPr/>
          <p:nvPr/>
        </p:nvGrpSpPr>
        <p:grpSpPr>
          <a:xfrm>
            <a:off x="525780" y="3874770"/>
            <a:ext cx="5417820" cy="1173480"/>
            <a:chOff x="525780" y="3874770"/>
            <a:chExt cx="5417820" cy="117348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38747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0622" y="3874770"/>
              <a:ext cx="1239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与 B 的夹角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1948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314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0622" y="4314825"/>
              <a:ext cx="1520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v×B 与 dl 的夹角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6348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47548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方向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0622" y="4754880"/>
              <a:ext cx="2237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v×B 在导线上的投影方向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2470786"/>
            <a:chOff x="6248400" y="1524000"/>
            <a:chExt cx="5410200" cy="2470786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897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99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58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6223" y="2108359"/>
              <a:ext cx="846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平行于 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550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77540" y="2108359"/>
              <a:ext cx="606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v×B = 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242125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6223" y="2670334"/>
              <a:ext cx="101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v、B、l 共面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95501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7540" y="2556986"/>
              <a:ext cx="19799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v×B 垂直于 dl（作业填空题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6223" y="3232309"/>
              <a:ext cx="136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v、B、l 两两垂直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95501" y="3232309"/>
              <a:ext cx="2587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Bvl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77540" y="32323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sinα = cosθ =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36809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只有一段导线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95501" y="3680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有电势差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77540" y="36809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开路，没有电流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8291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6495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6248400" y="4185285"/>
            <a:ext cx="5410200" cy="803910"/>
            <a:chOff x="6248400" y="4185285"/>
            <a:chExt cx="5410200" cy="803910"/>
          </a:xfrm>
        </p:grpSpPr>
        <p:sp>
          <p:nvSpPr>
            <p:cNvPr id="49" name="Rectangle 49"/>
            <p:cNvSpPr/>
            <p:nvPr/>
          </p:nvSpPr>
          <p:spPr>
            <a:xfrm>
              <a:off x="6248400" y="4185285"/>
              <a:ext cx="5410200" cy="803910"/>
            </a:xfrm>
            <a:prstGeom prst="roundRect">
              <a:avLst>
                <a:gd name="adj" fmla="val 1421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4487228"/>
              <a:ext cx="200026" cy="200025"/>
              <a:chOff x="6453188" y="44872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4487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92926" y="4531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27642" y="4642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4344352"/>
              <a:ext cx="4244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判断哪端电势高：正电荷沿 v×B 跑，v×B 在导线上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的投影指向哪一端，哪一端电势就高。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824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导线看上去在「切割」也可能没有电动势：要算 v×B 与 dl 的点乘，不能只看导线是否在动。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两种算法：闭合回路用法拉第定律，一段导线用定义式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410200" cy="2434590"/>
            <a:chOff x="533400" y="1524000"/>
            <a:chExt cx="5410200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34590"/>
            </a:xfrm>
            <a:prstGeom prst="roundRect">
              <a:avLst>
                <a:gd name="adj" fmla="val 54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678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48018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4289" y="1737836"/>
              <a:ext cx="1356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方法一 · 电磁感应定律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40483" y="17445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适合闭合回路整体平动或转动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2475" y="20497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382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223" y="2061686"/>
              <a:ext cx="27298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写出某时刻 t 的磁通 Φ(t) = ∫B·dS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6"/>
                <p:cNvSpPr txBox="1">
                  <a:spLocks noGrp="1"/>
                </p:cNvSpPr>
                <p:nvPr/>
              </p:nvSpPr>
              <p:spPr>
                <a:xfrm>
                  <a:off x="752475" y="2325052"/>
                  <a:ext cx="501015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dt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dt</m:t>
                                </m:r>
                              </m:den>
                            </m:f>
                            <m:nary>
                              <m:naryPr>
                                <m:chr m:val="∫"/>
                                <m:limLoc m:val="subSup"/>
                                <m:grow m:val="off"/>
                                <m:subHide m:val="off"/>
                                <m:supHide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sub>
                              <m:sup/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Ellipse 16"/>
            <p:cNvSpPr/>
            <p:nvPr/>
          </p:nvSpPr>
          <p:spPr>
            <a:xfrm>
              <a:off x="752475" y="284321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4382" y="28778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223" y="2854166"/>
              <a:ext cx="1564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|dΦ/dt| 得到大小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52475" y="312801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382" y="31636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223" y="3138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方向用楞次定律判断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7141" y="3420428"/>
              <a:ext cx="48112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只有一段导线时，可以补几段不动的导线凑成闭合回路，补上的部分没有动生电动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势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123372"/>
            <a:ext cx="5410200" cy="1433512"/>
            <a:chOff x="533400" y="4123372"/>
            <a:chExt cx="5410200" cy="1433512"/>
          </a:xfrm>
        </p:grpSpPr>
        <p:sp>
          <p:nvSpPr>
            <p:cNvPr id="24" name="Rectangle 24"/>
            <p:cNvSpPr/>
            <p:nvPr/>
          </p:nvSpPr>
          <p:spPr>
            <a:xfrm>
              <a:off x="533400" y="4123372"/>
              <a:ext cx="5410200" cy="1433512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256722"/>
              <a:ext cx="47625" cy="11668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2475" y="4304348"/>
              <a:ext cx="110680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5490" y="4337209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 · 用方法一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998" y="4644866"/>
              <a:ext cx="47190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kt 与回路法线成 60°，长 L 的滑杆从 x = 0 以 v 匀速滑动，x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vt：Φ = kt·Lvt·cos 60° = ½kLvt²，|ε| = dΦ/dt = kLvt。其中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动生、感生各占 ½kLvt。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2481262"/>
            <a:chOff x="6248400" y="1524000"/>
            <a:chExt cx="5410200" cy="248126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481262"/>
            </a:xfrm>
            <a:prstGeom prst="roundRect">
              <a:avLst>
                <a:gd name="adj" fmla="val 53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2145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1704975"/>
              <a:ext cx="110680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0490" y="1737836"/>
              <a:ext cx="96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方法二 · 定义法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2103" y="17445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适合一段不闭合的导体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0998" y="2061686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a) 匀强磁场、导体平动：各处 v×B 相同，ε = (v×B)·l，也就是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三者两两垂直的分量相乘 B⊥l⊥v⊥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0998" y="2589371"/>
              <a:ext cx="4678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b) 非均匀磁场，或导体在磁场中转动：各线元的 v 或 B 不同，逐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段积分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37"/>
                <p:cNvSpPr txBox="1">
                  <a:spLocks noGrp="1"/>
                </p:cNvSpPr>
                <p:nvPr/>
              </p:nvSpPr>
              <p:spPr>
                <a:xfrm>
                  <a:off x="6467475" y="3095625"/>
                  <a:ext cx="5010150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460998" y="3624739"/>
              <a:ext cx="2117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方向：沿 v×B 在 l 上的投影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4170045"/>
            <a:ext cx="5410200" cy="1386840"/>
            <a:chOff x="6248400" y="4170045"/>
            <a:chExt cx="5410200" cy="1386840"/>
          </a:xfrm>
        </p:grpSpPr>
        <p:sp>
          <p:nvSpPr>
            <p:cNvPr id="40" name="Rectangle 40"/>
            <p:cNvSpPr/>
            <p:nvPr/>
          </p:nvSpPr>
          <p:spPr>
            <a:xfrm>
              <a:off x="6248400" y="4170045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30339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67475" y="4351020"/>
              <a:ext cx="132873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4188" y="4383881"/>
              <a:ext cx="11962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 · 用 a) 直接算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0998" y="4690586"/>
              <a:ext cx="4767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0.5 m 的直导线在 B = 0.2 T 的匀强磁场中以 v = 3 m/s 平动，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v⊥B，导线与 v×B 成 60°：ε = vB·l cos 60° = 3 × 0.2 × 0.5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 = 0.15 V。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6" name="Rectangle 4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1273" y="6039326"/>
              <a:ext cx="94035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两种方法结果相同。例6.1 用定义法积分得 ½BωL²；用法拉第定律，导线扫过扇形面积 ½L²θ，dΦ/dt = ½BL²ω，结果一样。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8136" cy="909257"/>
            <a:chOff x="520446" y="342900"/>
            <a:chExt cx="78881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81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 绕一端转动的导线：ε = ½BωL²，方向 O →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 L 的导线 OA 在匀强磁场 B（垂直纸面向里）中，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绕 O 以角速度 ω 顺时针匀速转动。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2821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导线上动生电动势的大小和方向。</a:t>
              </a:r>
            </a:p>
          </p:txBody>
        </p:sp>
      </p:grpSp>
      <p:grpSp>
        <p:nvGrpSpPr>
          <p:cNvPr id="57" name="c1-graph-2"/>
          <p:cNvGrpSpPr/>
          <p:nvPr/>
        </p:nvGrpSpPr>
        <p:grpSpPr>
          <a:xfrm>
            <a:off x="876319" y="3303270"/>
            <a:ext cx="3981059" cy="2296477"/>
            <a:chOff x="876319" y="3303270"/>
            <a:chExt cx="3981059" cy="2296477"/>
          </a:xfrm>
        </p:grpSpPr>
        <p:sp>
          <p:nvSpPr>
            <p:cNvPr id="14" name="Freeform 14"/>
            <p:cNvSpPr/>
            <p:nvPr/>
          </p:nvSpPr>
          <p:spPr>
            <a:xfrm>
              <a:off x="1343025" y="3492818"/>
              <a:ext cx="1999297" cy="2002155"/>
            </a:xfrm>
            <a:custGeom>
              <a:avLst/>
              <a:gdLst/>
              <a:ahLst/>
              <a:cxnLst/>
              <a:rect l="l" t="t" r="r" b="b"/>
              <a:pathLst>
                <a:path w="1999297" h="2002155">
                  <a:moveTo>
                    <a:pt x="1998345" y="982028"/>
                  </a:moveTo>
                  <a:lnTo>
                    <a:pt x="1994535" y="903923"/>
                  </a:lnTo>
                  <a:lnTo>
                    <a:pt x="1980247" y="805815"/>
                  </a:lnTo>
                  <a:lnTo>
                    <a:pt x="1956435" y="711517"/>
                  </a:lnTo>
                  <a:lnTo>
                    <a:pt x="1923097" y="618173"/>
                  </a:lnTo>
                  <a:lnTo>
                    <a:pt x="1880235" y="528638"/>
                  </a:lnTo>
                  <a:lnTo>
                    <a:pt x="1832610" y="445770"/>
                  </a:lnTo>
                  <a:lnTo>
                    <a:pt x="1770697" y="365760"/>
                  </a:lnTo>
                  <a:lnTo>
                    <a:pt x="1704022" y="293370"/>
                  </a:lnTo>
                  <a:lnTo>
                    <a:pt x="1632585" y="228600"/>
                  </a:lnTo>
                  <a:lnTo>
                    <a:pt x="1556385" y="168592"/>
                  </a:lnTo>
                  <a:lnTo>
                    <a:pt x="1470660" y="118110"/>
                  </a:lnTo>
                  <a:lnTo>
                    <a:pt x="1380172" y="75248"/>
                  </a:lnTo>
                  <a:lnTo>
                    <a:pt x="1289685" y="42862"/>
                  </a:lnTo>
                  <a:lnTo>
                    <a:pt x="1194435" y="20003"/>
                  </a:lnTo>
                  <a:lnTo>
                    <a:pt x="1099185" y="5715"/>
                  </a:lnTo>
                  <a:lnTo>
                    <a:pt x="999172" y="0"/>
                  </a:lnTo>
                  <a:lnTo>
                    <a:pt x="899160" y="5715"/>
                  </a:lnTo>
                  <a:lnTo>
                    <a:pt x="803910" y="20003"/>
                  </a:lnTo>
                  <a:lnTo>
                    <a:pt x="708660" y="42862"/>
                  </a:lnTo>
                  <a:lnTo>
                    <a:pt x="619125" y="75248"/>
                  </a:lnTo>
                  <a:lnTo>
                    <a:pt x="528638" y="118110"/>
                  </a:lnTo>
                  <a:lnTo>
                    <a:pt x="442912" y="168592"/>
                  </a:lnTo>
                  <a:lnTo>
                    <a:pt x="366712" y="228600"/>
                  </a:lnTo>
                  <a:lnTo>
                    <a:pt x="295275" y="293370"/>
                  </a:lnTo>
                  <a:lnTo>
                    <a:pt x="228600" y="365760"/>
                  </a:lnTo>
                  <a:lnTo>
                    <a:pt x="166688" y="445770"/>
                  </a:lnTo>
                  <a:lnTo>
                    <a:pt x="119062" y="528638"/>
                  </a:lnTo>
                  <a:lnTo>
                    <a:pt x="76200" y="618173"/>
                  </a:lnTo>
                  <a:lnTo>
                    <a:pt x="42862" y="711517"/>
                  </a:lnTo>
                  <a:lnTo>
                    <a:pt x="19050" y="805815"/>
                  </a:lnTo>
                  <a:lnTo>
                    <a:pt x="4762" y="903923"/>
                  </a:lnTo>
                  <a:lnTo>
                    <a:pt x="0" y="1001078"/>
                  </a:lnTo>
                  <a:lnTo>
                    <a:pt x="4762" y="1099185"/>
                  </a:lnTo>
                  <a:lnTo>
                    <a:pt x="19050" y="1196340"/>
                  </a:lnTo>
                  <a:lnTo>
                    <a:pt x="42862" y="1291590"/>
                  </a:lnTo>
                  <a:lnTo>
                    <a:pt x="76200" y="1383982"/>
                  </a:lnTo>
                  <a:lnTo>
                    <a:pt x="119062" y="1474470"/>
                  </a:lnTo>
                  <a:lnTo>
                    <a:pt x="166688" y="1557338"/>
                  </a:lnTo>
                  <a:lnTo>
                    <a:pt x="228600" y="1637348"/>
                  </a:lnTo>
                  <a:lnTo>
                    <a:pt x="295275" y="1709738"/>
                  </a:lnTo>
                  <a:lnTo>
                    <a:pt x="366712" y="1774508"/>
                  </a:lnTo>
                  <a:lnTo>
                    <a:pt x="442912" y="1834515"/>
                  </a:lnTo>
                  <a:lnTo>
                    <a:pt x="528638" y="1884998"/>
                  </a:lnTo>
                  <a:lnTo>
                    <a:pt x="619125" y="1926908"/>
                  </a:lnTo>
                  <a:lnTo>
                    <a:pt x="708660" y="1960245"/>
                  </a:lnTo>
                  <a:lnTo>
                    <a:pt x="803910" y="1982152"/>
                  </a:lnTo>
                  <a:lnTo>
                    <a:pt x="899160" y="1997392"/>
                  </a:lnTo>
                  <a:lnTo>
                    <a:pt x="999172" y="2002155"/>
                  </a:lnTo>
                  <a:lnTo>
                    <a:pt x="1099185" y="1997392"/>
                  </a:lnTo>
                  <a:lnTo>
                    <a:pt x="1194435" y="1982152"/>
                  </a:lnTo>
                  <a:lnTo>
                    <a:pt x="1289685" y="1960245"/>
                  </a:lnTo>
                  <a:lnTo>
                    <a:pt x="1380172" y="1926908"/>
                  </a:lnTo>
                  <a:lnTo>
                    <a:pt x="1470660" y="1884998"/>
                  </a:lnTo>
                  <a:lnTo>
                    <a:pt x="1556385" y="1834515"/>
                  </a:lnTo>
                  <a:lnTo>
                    <a:pt x="1632585" y="1774508"/>
                  </a:lnTo>
                  <a:lnTo>
                    <a:pt x="1704022" y="1709738"/>
                  </a:lnTo>
                  <a:lnTo>
                    <a:pt x="1770697" y="1637348"/>
                  </a:lnTo>
                  <a:lnTo>
                    <a:pt x="1832610" y="1557338"/>
                  </a:lnTo>
                  <a:lnTo>
                    <a:pt x="1880235" y="1474470"/>
                  </a:lnTo>
                  <a:lnTo>
                    <a:pt x="1923097" y="1383982"/>
                  </a:lnTo>
                  <a:lnTo>
                    <a:pt x="1956435" y="1291590"/>
                  </a:lnTo>
                  <a:lnTo>
                    <a:pt x="1980247" y="1196340"/>
                  </a:lnTo>
                  <a:lnTo>
                    <a:pt x="1994535" y="1099185"/>
                  </a:lnTo>
                  <a:lnTo>
                    <a:pt x="1999297" y="1001078"/>
                  </a:lnTo>
                  <a:lnTo>
                    <a:pt x="1994535" y="903923"/>
                  </a:lnTo>
                  <a:lnTo>
                    <a:pt x="1983105" y="824865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354580" y="3743325"/>
              <a:ext cx="618173" cy="736283"/>
            </a:xfrm>
            <a:custGeom>
              <a:avLst/>
              <a:gdLst/>
              <a:ahLst/>
              <a:cxnLst/>
              <a:rect l="l" t="t" r="r" b="b"/>
              <a:pathLst>
                <a:path w="618173" h="736283">
                  <a:moveTo>
                    <a:pt x="0" y="736283"/>
                  </a:moveTo>
                  <a:lnTo>
                    <a:pt x="618173" y="0"/>
                  </a:lnTo>
                </a:path>
              </a:pathLst>
            </a:custGeom>
            <a:noFill/>
            <a:ln w="66675">
              <a:solidFill>
                <a:srgbClr val="14A38B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57488" y="4030980"/>
              <a:ext cx="230505" cy="194310"/>
            </a:xfrm>
            <a:custGeom>
              <a:avLst/>
              <a:gdLst/>
              <a:ahLst/>
              <a:cxnLst/>
              <a:rect l="l" t="t" r="r" b="b"/>
              <a:pathLst>
                <a:path w="230505" h="194310">
                  <a:moveTo>
                    <a:pt x="0" y="0"/>
                  </a:moveTo>
                  <a:lnTo>
                    <a:pt x="230505" y="194310"/>
                  </a:lnTo>
                </a:path>
              </a:pathLst>
            </a:custGeom>
            <a:noFill/>
            <a:ln w="24765">
              <a:solidFill>
                <a:srgbClr val="243B7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57512" y="4189095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239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648778" y="3343275"/>
              <a:ext cx="869632" cy="234315"/>
            </a:xfrm>
            <a:custGeom>
              <a:avLst/>
              <a:gdLst/>
              <a:ahLst/>
              <a:cxnLst/>
              <a:rect l="l" t="t" r="r" b="b"/>
              <a:pathLst>
                <a:path w="869632" h="234315">
                  <a:moveTo>
                    <a:pt x="0" y="234315"/>
                  </a:moveTo>
                  <a:lnTo>
                    <a:pt x="37148" y="207645"/>
                  </a:lnTo>
                  <a:lnTo>
                    <a:pt x="89535" y="172403"/>
                  </a:lnTo>
                  <a:lnTo>
                    <a:pt x="141923" y="140017"/>
                  </a:lnTo>
                  <a:lnTo>
                    <a:pt x="199073" y="112395"/>
                  </a:lnTo>
                  <a:lnTo>
                    <a:pt x="256223" y="87630"/>
                  </a:lnTo>
                  <a:lnTo>
                    <a:pt x="313373" y="64770"/>
                  </a:lnTo>
                  <a:lnTo>
                    <a:pt x="374333" y="44767"/>
                  </a:lnTo>
                  <a:lnTo>
                    <a:pt x="436245" y="29528"/>
                  </a:lnTo>
                  <a:lnTo>
                    <a:pt x="498158" y="17145"/>
                  </a:lnTo>
                  <a:lnTo>
                    <a:pt x="560070" y="7620"/>
                  </a:lnTo>
                  <a:lnTo>
                    <a:pt x="621983" y="1905"/>
                  </a:lnTo>
                  <a:lnTo>
                    <a:pt x="683895" y="0"/>
                  </a:lnTo>
                  <a:lnTo>
                    <a:pt x="745808" y="0"/>
                  </a:lnTo>
                  <a:lnTo>
                    <a:pt x="807720" y="4762"/>
                  </a:lnTo>
                  <a:lnTo>
                    <a:pt x="869632" y="15240"/>
                  </a:lnTo>
                  <a:lnTo>
                    <a:pt x="819150" y="6667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60308" y="3303270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101917" y="61912"/>
                  </a:moveTo>
                  <a:lnTo>
                    <a:pt x="0" y="93345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294572" y="4446270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685098" y="396144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332798" y="44843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313748" y="42891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332672" y="44843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5610" y="37185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732722" y="40090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066098" y="42891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624012" y="35785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570798" y="33585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11369" y="4606290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79551" y="358997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92672" y="3838099"/>
              <a:ext cx="1276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75450" y="43191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96876" y="33794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01744" y="40638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6319" y="33213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6319" y="387191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6319" y="442245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6319" y="497300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319" y="542353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43069" y="33213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43069" y="387191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43069" y="442245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43069" y="497300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43069" y="542353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66117" y="442245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66117" y="497300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66117" y="542353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32867" y="33213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32867" y="387191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32867" y="442245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32867" y="497300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32867" y="542353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52620" y="3521392"/>
              <a:ext cx="3606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向里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285869" y="402145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顺时针转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08516" y="4522470"/>
              <a:ext cx="6488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v×B 沿 O→A</a:t>
              </a:r>
            </a:p>
          </p:txBody>
        </p:sp>
      </p:grpSp>
      <p:grpSp>
        <p:nvGrpSpPr>
          <p:cNvPr id="67" name="c2-steps-1"/>
          <p:cNvGrpSpPr/>
          <p:nvPr/>
        </p:nvGrpSpPr>
        <p:grpSpPr>
          <a:xfrm>
            <a:off x="5598795" y="1533525"/>
            <a:ext cx="5646014" cy="1043559"/>
            <a:chOff x="5598795" y="1533525"/>
            <a:chExt cx="5646014" cy="1043559"/>
          </a:xfrm>
        </p:grpSpPr>
        <p:sp>
          <p:nvSpPr>
            <p:cNvPr id="58" name="Rectangle 58"/>
            <p:cNvSpPr/>
            <p:nvPr/>
          </p:nvSpPr>
          <p:spPr>
            <a:xfrm>
              <a:off x="5732145" y="1676400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418" y="1564481"/>
              <a:ext cx="95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取线元写 dε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561" y="1818322"/>
              <a:ext cx="5232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 O 为 l 处取 dl，v = ωl 垂直于导线；v×B 沿导线由 O 指向 A，dε = Bv dl = Bωl dl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418" y="2116931"/>
              <a:ext cx="900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0 积到 L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561" y="2371725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各线元的 dε 方向相同，直接相加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formula44"/>
              <p:cNvSpPr txBox="1">
                <a:spLocks noGrp="1"/>
              </p:cNvSpPr>
              <p:nvPr/>
            </p:nvSpPr>
            <p:spPr>
              <a:xfrm>
                <a:off x="5598795" y="2738438"/>
                <a:ext cx="6059805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Bωl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Bω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73" name="c2-card-3"/>
          <p:cNvGrpSpPr/>
          <p:nvPr/>
        </p:nvGrpSpPr>
        <p:grpSpPr>
          <a:xfrm>
            <a:off x="5598795" y="3409950"/>
            <a:ext cx="6059805" cy="901065"/>
            <a:chOff x="5598795" y="3409950"/>
            <a:chExt cx="6059805" cy="901065"/>
          </a:xfrm>
        </p:grpSpPr>
        <p:sp>
          <p:nvSpPr>
            <p:cNvPr id="69" name="Rectangle 69"/>
            <p:cNvSpPr/>
            <p:nvPr/>
          </p:nvSpPr>
          <p:spPr>
            <a:xfrm>
              <a:off x="5598795" y="3409950"/>
              <a:ext cx="605980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779770" y="35909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76493" y="36237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773293" y="3931444"/>
              <a:ext cx="3105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εᵢ = ½BωL²，方向 O → A，A 端电势高。</a:t>
              </a:r>
            </a:p>
          </p:txBody>
        </p:sp>
      </p:grpSp>
      <p:grpSp>
        <p:nvGrpSpPr>
          <p:cNvPr id="79" name="c2-card-4"/>
          <p:cNvGrpSpPr/>
          <p:nvPr/>
        </p:nvGrpSpPr>
        <p:grpSpPr>
          <a:xfrm>
            <a:off x="5598795" y="4475798"/>
            <a:ext cx="6059805" cy="1143952"/>
            <a:chOff x="5598795" y="4475798"/>
            <a:chExt cx="6059805" cy="1143952"/>
          </a:xfrm>
        </p:grpSpPr>
        <p:sp>
          <p:nvSpPr>
            <p:cNvPr id="74" name="Rectangle 74"/>
            <p:cNvSpPr/>
            <p:nvPr/>
          </p:nvSpPr>
          <p:spPr>
            <a:xfrm>
              <a:off x="5598795" y="4475798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608320" y="460914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817870" y="46567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910542" y="46896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811393" y="4997291"/>
              <a:ext cx="53693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法拉第定律：dt 内导线扫过扇形面积 ½L²ω dt，dΦ/dt = ½BωL²，一致。取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0.2 T、L = 0.5 m、ω = 100 rad/s，ε = 2.5 V。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0" name="Rectangle 8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6039326"/>
              <a:ext cx="10562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变式（作业选择题 7）：转轴改在 C 点、BC = L/3，从 C 向两端分别积分，UA − UB = ½Bω[(2L/3)² − (L/3)²] = BωL²/6，A 端电势高。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30873" cy="909257"/>
            <a:chOff x="520446" y="342900"/>
            <a:chExt cx="8530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30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例6.2 长直电流旁的斜导线：B 随位置变，换成 dr 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338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长直电流 I 旁有长 l 的直导线 ab，与电流共面，a 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距电流 d，导线与水平方向成 α 角，以速度 v 竖直向上平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导线上的动生电动势。</a:t>
              </a:r>
            </a:p>
          </p:txBody>
        </p:sp>
      </p:grpSp>
      <p:grpSp>
        <p:nvGrpSpPr>
          <p:cNvPr id="45" name="c1-graph-2"/>
          <p:cNvGrpSpPr/>
          <p:nvPr/>
        </p:nvGrpSpPr>
        <p:grpSpPr>
          <a:xfrm>
            <a:off x="723900" y="3431858"/>
            <a:ext cx="4436745" cy="1899284"/>
            <a:chOff x="723900" y="3431858"/>
            <a:chExt cx="4436745" cy="1899284"/>
          </a:xfrm>
        </p:grpSpPr>
        <p:sp>
          <p:nvSpPr>
            <p:cNvPr id="14" name="Freeform 14"/>
            <p:cNvSpPr/>
            <p:nvPr/>
          </p:nvSpPr>
          <p:spPr>
            <a:xfrm>
              <a:off x="1009650" y="3460432"/>
              <a:ext cx="9525" cy="1824037"/>
            </a:xfrm>
            <a:custGeom>
              <a:avLst/>
              <a:gdLst/>
              <a:ahLst/>
              <a:cxnLst/>
              <a:rect l="l" t="t" r="r" b="b"/>
              <a:pathLst>
                <a:path w="9525" h="1824037">
                  <a:moveTo>
                    <a:pt x="0" y="0"/>
                  </a:moveTo>
                  <a:lnTo>
                    <a:pt x="0" y="1824037"/>
                  </a:lnTo>
                </a:path>
              </a:pathLst>
            </a:custGeom>
            <a:noFill/>
            <a:ln w="5715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71525" y="4163378"/>
              <a:ext cx="9525" cy="473392"/>
            </a:xfrm>
            <a:custGeom>
              <a:avLst/>
              <a:gdLst/>
              <a:ahLst/>
              <a:cxnLst/>
              <a:rect l="l" t="t" r="r" b="b"/>
              <a:pathLst>
                <a:path w="9525" h="473392">
                  <a:moveTo>
                    <a:pt x="0" y="473392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23900" y="40681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454592" y="3603308"/>
              <a:ext cx="2213610" cy="1326832"/>
            </a:xfrm>
            <a:custGeom>
              <a:avLst/>
              <a:gdLst/>
              <a:ahLst/>
              <a:cxnLst/>
              <a:rect l="l" t="t" r="r" b="b"/>
              <a:pathLst>
                <a:path w="2213610" h="1326832">
                  <a:moveTo>
                    <a:pt x="0" y="1326832"/>
                  </a:moveTo>
                  <a:lnTo>
                    <a:pt x="2213610" y="0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56498" y="4939665"/>
              <a:ext cx="2675572" cy="9525"/>
            </a:xfrm>
            <a:custGeom>
              <a:avLst/>
              <a:gdLst/>
              <a:ahLst/>
              <a:cxnLst/>
              <a:rect l="l" t="t" r="r" b="b"/>
              <a:pathLst>
                <a:path w="2675572" h="9525">
                  <a:moveTo>
                    <a:pt x="0" y="0"/>
                  </a:moveTo>
                  <a:lnTo>
                    <a:pt x="267557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123950" y="5283518"/>
              <a:ext cx="1199198" cy="9525"/>
            </a:xfrm>
            <a:custGeom>
              <a:avLst/>
              <a:gdLst/>
              <a:ahLst/>
              <a:cxnLst/>
              <a:rect l="l" t="t" r="r" b="b"/>
              <a:pathLst>
                <a:path w="1199198" h="9525">
                  <a:moveTo>
                    <a:pt x="0" y="0"/>
                  </a:moveTo>
                  <a:lnTo>
                    <a:pt x="119919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23148" y="5235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8700" y="5235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675698" y="3807142"/>
              <a:ext cx="9525" cy="311467"/>
            </a:xfrm>
            <a:custGeom>
              <a:avLst/>
              <a:gdLst/>
              <a:ahLst/>
              <a:cxnLst/>
              <a:rect l="l" t="t" r="r" b="b"/>
              <a:pathLst>
                <a:path w="9525" h="311467">
                  <a:moveTo>
                    <a:pt x="0" y="311467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628072" y="3711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618548" y="414147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0125" y="34318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00125" y="52939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62000" y="46462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62000" y="40395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427922" y="49301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675822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427922" y="49301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141595" y="49301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00125" y="52739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427922" y="52739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666172" y="41281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666172" y="36833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8918" y="4218622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34173" y="49882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82073" y="34604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80978" y="50572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18275" y="47734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α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23150" y="36485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02618" y="4263390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03058" y="3506152"/>
              <a:ext cx="7181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 右侧 B 向里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5598795" y="1533525"/>
            <a:ext cx="5651754" cy="1790319"/>
            <a:chOff x="5598795" y="1533525"/>
            <a:chExt cx="5651754" cy="1790319"/>
          </a:xfrm>
        </p:grpSpPr>
        <p:sp>
          <p:nvSpPr>
            <p:cNvPr id="46" name="Rectangle 46"/>
            <p:cNvSpPr/>
            <p:nvPr/>
          </p:nvSpPr>
          <p:spPr>
            <a:xfrm>
              <a:off x="5732145" y="1676400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598795" y="2832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1418" y="156448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线元处的磁场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2561" y="1818322"/>
              <a:ext cx="4024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dl 到电流的距离为 r，B = μ₀I/(2πr)，I 右侧的 B 垂直纸面向里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1418" y="2116931"/>
              <a:ext cx="4385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dε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2561" y="2371725"/>
              <a:ext cx="523798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v×B 水平指向电流（向左），与由 a 指向 b 的 dl 夹角为 180° − α：dε 大小 Bv cosα dl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Bv dr，指向 a 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1418" y="28636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换元积分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2561" y="3118485"/>
              <a:ext cx="2328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 = cosα dl，r 从 d 积到 d + l cosα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formula51"/>
              <p:cNvSpPr txBox="1">
                <a:spLocks noGrp="1"/>
              </p:cNvSpPr>
              <p:nvPr/>
            </p:nvSpPr>
            <p:spPr>
              <a:xfrm>
                <a:off x="5598795" y="3485198"/>
                <a:ext cx="6059805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</m:func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Iv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2πr</m:t>
                              </m:r>
                            </m:den>
                          </m:f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dr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Iv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5" name="c2-card-3"/>
          <p:cNvGrpSpPr/>
          <p:nvPr/>
        </p:nvGrpSpPr>
        <p:grpSpPr>
          <a:xfrm>
            <a:off x="5598795" y="4103370"/>
            <a:ext cx="6059805" cy="1282065"/>
            <a:chOff x="5598795" y="4103370"/>
            <a:chExt cx="6059805" cy="1282065"/>
          </a:xfrm>
        </p:grpSpPr>
        <p:sp>
          <p:nvSpPr>
            <p:cNvPr id="61" name="Rectangle 61"/>
            <p:cNvSpPr/>
            <p:nvPr/>
          </p:nvSpPr>
          <p:spPr>
            <a:xfrm>
              <a:off x="5598795" y="4103370"/>
              <a:ext cx="6059805" cy="1282065"/>
            </a:xfrm>
            <a:prstGeom prst="roundRect">
              <a:avLst>
                <a:gd name="adj" fmla="val 1040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779770" y="428434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76493" y="43172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73293" y="4623911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大小如上式，方向 b → a，a 端电势高。起作用的只有导线的水平投影 l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cosα。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6" name="Rectangle 66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4863" y="59890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5805011"/>
              <a:ext cx="978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检验：取 I = 10 A、v = 2 m/s、d = 0.1 m、l = 0.2 m、α = 60°，公式得 2.77×10⁻⁶ V，沿导线直接数值积分 (v×B)·dl 也是 2.77×10⁻⁶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52079" cy="909257"/>
            <a:chOff x="520446" y="342900"/>
            <a:chExt cx="87520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动生电动势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52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与电流垂直的导线 AB 向上平动：电动势由 B 指向 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37385"/>
            <a:chOff x="533400" y="1524000"/>
            <a:chExt cx="4760595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长直电流 I 旁有长 l 的导线 AB，与电流垂直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且共面，A 端距电流 a，AB 以速度 v 平行于电流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向上运动。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ε动。</a:t>
              </a:r>
            </a:p>
          </p:txBody>
        </p:sp>
      </p:grpSp>
      <p:grpSp>
        <p:nvGrpSpPr>
          <p:cNvPr id="53" name="c1-graph-2"/>
          <p:cNvGrpSpPr/>
          <p:nvPr/>
        </p:nvGrpSpPr>
        <p:grpSpPr>
          <a:xfrm>
            <a:off x="676275" y="3712845"/>
            <a:ext cx="4341495" cy="1634490"/>
            <a:chOff x="676275" y="3712845"/>
            <a:chExt cx="4341495" cy="1634490"/>
          </a:xfrm>
        </p:grpSpPr>
        <p:sp>
          <p:nvSpPr>
            <p:cNvPr id="14" name="Freeform 14"/>
            <p:cNvSpPr/>
            <p:nvPr/>
          </p:nvSpPr>
          <p:spPr>
            <a:xfrm>
              <a:off x="914400" y="3741420"/>
              <a:ext cx="9525" cy="1577340"/>
            </a:xfrm>
            <a:custGeom>
              <a:avLst/>
              <a:gdLst/>
              <a:ahLst/>
              <a:cxnLst/>
              <a:rect l="l" t="t" r="r" b="b"/>
              <a:pathLst>
                <a:path w="9525" h="1577340">
                  <a:moveTo>
                    <a:pt x="0" y="0"/>
                  </a:moveTo>
                  <a:lnTo>
                    <a:pt x="0" y="1577340"/>
                  </a:lnTo>
                </a:path>
              </a:pathLst>
            </a:custGeom>
            <a:noFill/>
            <a:ln w="5715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23900" y="4047172"/>
              <a:ext cx="9525" cy="358140"/>
            </a:xfrm>
            <a:custGeom>
              <a:avLst/>
              <a:gdLst/>
              <a:ahLst/>
              <a:cxnLst/>
              <a:rect l="l" t="t" r="r" b="b"/>
              <a:pathLst>
                <a:path w="9525" h="358140">
                  <a:moveTo>
                    <a:pt x="0" y="35814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76275" y="39519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265998" y="4459605"/>
              <a:ext cx="2723198" cy="9525"/>
            </a:xfrm>
            <a:custGeom>
              <a:avLst/>
              <a:gdLst/>
              <a:ahLst/>
              <a:cxnLst/>
              <a:rect l="l" t="t" r="r" b="b"/>
              <a:pathLst>
                <a:path w="2723198" h="9525">
                  <a:moveTo>
                    <a:pt x="0" y="0"/>
                  </a:moveTo>
                  <a:lnTo>
                    <a:pt x="2723198" y="0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66198" y="3976688"/>
              <a:ext cx="9525" cy="393383"/>
            </a:xfrm>
            <a:custGeom>
              <a:avLst/>
              <a:gdLst/>
              <a:ahLst/>
              <a:cxnLst/>
              <a:rect l="l" t="t" r="r" b="b"/>
              <a:pathLst>
                <a:path w="9525" h="393383">
                  <a:moveTo>
                    <a:pt x="0" y="393383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818572" y="38814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028700" y="4705350"/>
              <a:ext cx="2151698" cy="9525"/>
            </a:xfrm>
            <a:custGeom>
              <a:avLst/>
              <a:gdLst/>
              <a:ahLst/>
              <a:cxnLst/>
              <a:rect l="l" t="t" r="r" b="b"/>
              <a:pathLst>
                <a:path w="2151698" h="9525">
                  <a:moveTo>
                    <a:pt x="0" y="0"/>
                  </a:moveTo>
                  <a:lnTo>
                    <a:pt x="215169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180398" y="4657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33450" y="4657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8700" y="4986338"/>
              <a:ext cx="1103948" cy="9525"/>
            </a:xfrm>
            <a:custGeom>
              <a:avLst/>
              <a:gdLst/>
              <a:ahLst/>
              <a:cxnLst/>
              <a:rect l="l" t="t" r="r" b="b"/>
              <a:pathLst>
                <a:path w="1103948" h="9525">
                  <a:moveTo>
                    <a:pt x="0" y="0"/>
                  </a:moveTo>
                  <a:lnTo>
                    <a:pt x="110394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132648" y="49387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33450" y="49387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361248" y="5233035"/>
              <a:ext cx="2532698" cy="9525"/>
            </a:xfrm>
            <a:custGeom>
              <a:avLst/>
              <a:gdLst/>
              <a:ahLst/>
              <a:cxnLst/>
              <a:rect l="l" t="t" r="r" b="b"/>
              <a:pathLst>
                <a:path w="2532698" h="9525">
                  <a:moveTo>
                    <a:pt x="0" y="0"/>
                  </a:moveTo>
                  <a:lnTo>
                    <a:pt x="253269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93945" y="51854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265998" y="51854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04875" y="37128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04875" y="5328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14375" y="44148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14375" y="39233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237422" y="44500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998720" y="44500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56672" y="43795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856672" y="3852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237548" y="4402455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04875" y="4695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285172" y="46958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04875" y="49768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237422" y="49768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37422" y="52235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998720" y="52235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64997" y="3970496"/>
              <a:ext cx="70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91565" y="4154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03577" y="415480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51581" y="38385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07733" y="417099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054821" y="4514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31899" y="4795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98611" y="5041106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22788" y="4803458"/>
              <a:ext cx="420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向里</a:t>
              </a:r>
            </a:p>
          </p:txBody>
        </p:sp>
      </p:grpSp>
      <p:grpSp>
        <p:nvGrpSpPr>
          <p:cNvPr id="63" name="c2-steps-1"/>
          <p:cNvGrpSpPr/>
          <p:nvPr/>
        </p:nvGrpSpPr>
        <p:grpSpPr>
          <a:xfrm>
            <a:off x="5598795" y="1533525"/>
            <a:ext cx="5343017" cy="1462373"/>
            <a:chOff x="5598795" y="1533525"/>
            <a:chExt cx="5343017" cy="1462373"/>
          </a:xfrm>
        </p:grpSpPr>
        <p:sp>
          <p:nvSpPr>
            <p:cNvPr id="54" name="Rectangle 54"/>
            <p:cNvSpPr/>
            <p:nvPr/>
          </p:nvSpPr>
          <p:spPr>
            <a:xfrm>
              <a:off x="5732145" y="167640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0275" y="1567815"/>
              <a:ext cx="1161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 轴写 dε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1418" y="1861661"/>
              <a:ext cx="4930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轴沿 AB 由 A 指向 B，dx 处 B = μ₀I/(2πx) 向里，v×B 沿 −x：dε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−μ₀Iv dx/(2πx)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0275" y="24536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1418" y="2746534"/>
              <a:ext cx="4570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从 a 积到 a + l；结果为负只说明电动势与所设 x 方向相反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formula53"/>
              <p:cNvSpPr txBox="1">
                <a:spLocks noGrp="1"/>
              </p:cNvSpPr>
              <p:nvPr/>
            </p:nvSpPr>
            <p:spPr>
              <a:xfrm>
                <a:off x="5598795" y="3174682"/>
                <a:ext cx="605980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Iv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2πx</m:t>
                              </m:r>
                            </m:den>
                          </m:f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Iv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69" name="c2-card-3"/>
          <p:cNvGrpSpPr/>
          <p:nvPr/>
        </p:nvGrpSpPr>
        <p:grpSpPr>
          <a:xfrm>
            <a:off x="5598795" y="3925252"/>
            <a:ext cx="6059805" cy="1316355"/>
            <a:chOff x="5598795" y="3925252"/>
            <a:chExt cx="6059805" cy="1316355"/>
          </a:xfrm>
        </p:grpSpPr>
        <p:sp>
          <p:nvSpPr>
            <p:cNvPr id="65" name="Rectangle 65"/>
            <p:cNvSpPr/>
            <p:nvPr/>
          </p:nvSpPr>
          <p:spPr>
            <a:xfrm>
              <a:off x="5598795" y="3925252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808345" y="413480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03455" y="41705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00725" y="4511992"/>
              <a:ext cx="5273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 (μ₀Iv/2π) ln[(a + l)/a]；负号表示电动势逆着 x 轴，由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指向 A，A 端电势高。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04863" y="5948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728335"/>
              <a:ext cx="9797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检验：例6.2 取 α = 0、d = a 就是本题，两式一致。取 I = 10 A、v = 2 m/s、a = 0.1 m、l = 0.2 m，ε ≈ 4.39×10⁻⁶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V，与数值积分相同。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701466" cy="3351847"/>
            <a:chOff x="667512" y="1835468"/>
            <a:chExt cx="670146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感生电场与感生电动势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915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6.2.2，导体不动、磁场变化时，推动电荷的是涡旋电场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麦克斯韦的涡旋电场假设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感生电动势的环路式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与静电场的比较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例6.3、例6.4、例6.5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变化的磁场在周围空间激发涡旋电场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466850"/>
            <a:chOff x="533400" y="1524000"/>
            <a:chExt cx="5951220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导体回路不动、磁场变化时，回路中也有感应电流。电荷原本不动，洛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伦兹力为零；静电场的环流为零，也不能推动电荷绕回路一周。那么推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动电荷的是什么力？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66110"/>
            <a:ext cx="5951220" cy="2374582"/>
            <a:chOff x="533400" y="3166110"/>
            <a:chExt cx="5951220" cy="2374582"/>
          </a:xfrm>
        </p:grpSpPr>
        <p:sp>
          <p:nvSpPr>
            <p:cNvPr id="13" name="Rectangle 13"/>
            <p:cNvSpPr/>
            <p:nvPr/>
          </p:nvSpPr>
          <p:spPr>
            <a:xfrm>
              <a:off x="533400" y="3166110"/>
              <a:ext cx="5951220" cy="2374582"/>
            </a:xfrm>
            <a:prstGeom prst="roundRect">
              <a:avLst>
                <a:gd name="adj" fmla="val 5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299460"/>
              <a:ext cx="47625" cy="21078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335851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5342" y="339280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麦克斯韦的假设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71475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变化的磁场在其周围空间激发一种涡旋状的电场，称为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涡旋电场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或感生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电场，记为 EK。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2478" y="43310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8497" y="427482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它的存在与有没有导体无关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463296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4576762"/>
              <a:ext cx="5131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空间有导体时，它对自由电子施加涡旋电场力 FK = (−e)EK，形成感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应电流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51930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5136833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这一假设已被实验证实，电子感应加速器就是靠它加速电子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7471410" y="1724978"/>
            <a:ext cx="4000462" cy="3351561"/>
            <a:chOff x="7471410" y="1724978"/>
            <a:chExt cx="4000462" cy="3351561"/>
          </a:xfrm>
        </p:grpSpPr>
        <p:sp>
          <p:nvSpPr>
            <p:cNvPr id="25" name="Freeform 25"/>
            <p:cNvSpPr/>
            <p:nvPr/>
          </p:nvSpPr>
          <p:spPr>
            <a:xfrm>
              <a:off x="8055292" y="1848802"/>
              <a:ext cx="9525" cy="3026093"/>
            </a:xfrm>
            <a:custGeom>
              <a:avLst/>
              <a:gdLst/>
              <a:ahLst/>
              <a:cxnLst/>
              <a:rect l="l" t="t" r="r" b="b"/>
              <a:pathLst>
                <a:path w="9525" h="3026093">
                  <a:moveTo>
                    <a:pt x="0" y="3026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007668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640128" y="1848802"/>
              <a:ext cx="9525" cy="3026093"/>
            </a:xfrm>
            <a:custGeom>
              <a:avLst/>
              <a:gdLst/>
              <a:ahLst/>
              <a:cxnLst/>
              <a:rect l="l" t="t" r="r" b="b"/>
              <a:pathLst>
                <a:path w="9525" h="3026093">
                  <a:moveTo>
                    <a:pt x="0" y="3026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92502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224010" y="1848802"/>
              <a:ext cx="9525" cy="3026093"/>
            </a:xfrm>
            <a:custGeom>
              <a:avLst/>
              <a:gdLst/>
              <a:ahLst/>
              <a:cxnLst/>
              <a:rect l="l" t="t" r="r" b="b"/>
              <a:pathLst>
                <a:path w="9525" h="3026093">
                  <a:moveTo>
                    <a:pt x="0" y="3026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76385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807892" y="1848802"/>
              <a:ext cx="9525" cy="3026093"/>
            </a:xfrm>
            <a:custGeom>
              <a:avLst/>
              <a:gdLst/>
              <a:ahLst/>
              <a:cxnLst/>
              <a:rect l="l" t="t" r="r" b="b"/>
              <a:pathLst>
                <a:path w="9525" h="3026093">
                  <a:moveTo>
                    <a:pt x="0" y="3026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760268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392728" y="1848802"/>
              <a:ext cx="9525" cy="3026093"/>
            </a:xfrm>
            <a:custGeom>
              <a:avLst/>
              <a:gdLst/>
              <a:ahLst/>
              <a:cxnLst/>
              <a:rect l="l" t="t" r="r" b="b"/>
              <a:pathLst>
                <a:path w="9525" h="3026093">
                  <a:moveTo>
                    <a:pt x="0" y="302609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345102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471410" y="3173730"/>
              <a:ext cx="3505200" cy="912495"/>
            </a:xfrm>
            <a:custGeom>
              <a:avLst/>
              <a:gdLst/>
              <a:ahLst/>
              <a:cxnLst/>
              <a:rect l="l" t="t" r="r" b="b"/>
              <a:pathLst>
                <a:path w="3505200" h="912495">
                  <a:moveTo>
                    <a:pt x="3502342" y="438150"/>
                  </a:moveTo>
                  <a:lnTo>
                    <a:pt x="3495675" y="403860"/>
                  </a:lnTo>
                  <a:lnTo>
                    <a:pt x="3461385" y="354330"/>
                  </a:lnTo>
                  <a:lnTo>
                    <a:pt x="3408045" y="305753"/>
                  </a:lnTo>
                  <a:lnTo>
                    <a:pt x="3329940" y="260033"/>
                  </a:lnTo>
                  <a:lnTo>
                    <a:pt x="3237548" y="214312"/>
                  </a:lnTo>
                  <a:lnTo>
                    <a:pt x="3120390" y="172403"/>
                  </a:lnTo>
                  <a:lnTo>
                    <a:pt x="2994660" y="133350"/>
                  </a:lnTo>
                  <a:lnTo>
                    <a:pt x="2843213" y="98108"/>
                  </a:lnTo>
                  <a:lnTo>
                    <a:pt x="2687955" y="70485"/>
                  </a:lnTo>
                  <a:lnTo>
                    <a:pt x="2511742" y="45720"/>
                  </a:lnTo>
                  <a:lnTo>
                    <a:pt x="2331720" y="24765"/>
                  </a:lnTo>
                  <a:lnTo>
                    <a:pt x="2142172" y="10478"/>
                  </a:lnTo>
                  <a:lnTo>
                    <a:pt x="1946910" y="3810"/>
                  </a:lnTo>
                  <a:lnTo>
                    <a:pt x="1752600" y="0"/>
                  </a:lnTo>
                  <a:lnTo>
                    <a:pt x="1558290" y="3810"/>
                  </a:lnTo>
                  <a:lnTo>
                    <a:pt x="1363028" y="10478"/>
                  </a:lnTo>
                  <a:lnTo>
                    <a:pt x="1173480" y="24765"/>
                  </a:lnTo>
                  <a:lnTo>
                    <a:pt x="993458" y="45720"/>
                  </a:lnTo>
                  <a:lnTo>
                    <a:pt x="817245" y="70485"/>
                  </a:lnTo>
                  <a:lnTo>
                    <a:pt x="661988" y="98108"/>
                  </a:lnTo>
                  <a:lnTo>
                    <a:pt x="510540" y="133350"/>
                  </a:lnTo>
                  <a:lnTo>
                    <a:pt x="384810" y="172403"/>
                  </a:lnTo>
                  <a:lnTo>
                    <a:pt x="267653" y="214312"/>
                  </a:lnTo>
                  <a:lnTo>
                    <a:pt x="175260" y="260033"/>
                  </a:lnTo>
                  <a:lnTo>
                    <a:pt x="97155" y="305753"/>
                  </a:lnTo>
                  <a:lnTo>
                    <a:pt x="43815" y="354330"/>
                  </a:lnTo>
                  <a:lnTo>
                    <a:pt x="9525" y="403860"/>
                  </a:lnTo>
                  <a:lnTo>
                    <a:pt x="0" y="456248"/>
                  </a:lnTo>
                  <a:lnTo>
                    <a:pt x="9525" y="509588"/>
                  </a:lnTo>
                  <a:lnTo>
                    <a:pt x="43815" y="558165"/>
                  </a:lnTo>
                  <a:lnTo>
                    <a:pt x="97155" y="607695"/>
                  </a:lnTo>
                  <a:lnTo>
                    <a:pt x="175260" y="653415"/>
                  </a:lnTo>
                  <a:lnTo>
                    <a:pt x="267653" y="699135"/>
                  </a:lnTo>
                  <a:lnTo>
                    <a:pt x="384810" y="741045"/>
                  </a:lnTo>
                  <a:lnTo>
                    <a:pt x="510540" y="779145"/>
                  </a:lnTo>
                  <a:lnTo>
                    <a:pt x="661988" y="814388"/>
                  </a:lnTo>
                  <a:lnTo>
                    <a:pt x="817245" y="842962"/>
                  </a:lnTo>
                  <a:lnTo>
                    <a:pt x="993458" y="867728"/>
                  </a:lnTo>
                  <a:lnTo>
                    <a:pt x="1173480" y="888683"/>
                  </a:lnTo>
                  <a:lnTo>
                    <a:pt x="1363028" y="902017"/>
                  </a:lnTo>
                  <a:lnTo>
                    <a:pt x="1558290" y="909638"/>
                  </a:lnTo>
                  <a:lnTo>
                    <a:pt x="1752600" y="912495"/>
                  </a:lnTo>
                  <a:lnTo>
                    <a:pt x="1946910" y="909638"/>
                  </a:lnTo>
                  <a:lnTo>
                    <a:pt x="2142172" y="902017"/>
                  </a:lnTo>
                  <a:lnTo>
                    <a:pt x="2331720" y="888683"/>
                  </a:lnTo>
                  <a:lnTo>
                    <a:pt x="2511742" y="867728"/>
                  </a:lnTo>
                  <a:lnTo>
                    <a:pt x="2687955" y="842962"/>
                  </a:lnTo>
                  <a:lnTo>
                    <a:pt x="2843213" y="814388"/>
                  </a:lnTo>
                  <a:lnTo>
                    <a:pt x="2994660" y="779145"/>
                  </a:lnTo>
                  <a:lnTo>
                    <a:pt x="3120390" y="741045"/>
                  </a:lnTo>
                  <a:lnTo>
                    <a:pt x="3237548" y="699135"/>
                  </a:lnTo>
                  <a:lnTo>
                    <a:pt x="3329940" y="653415"/>
                  </a:lnTo>
                  <a:lnTo>
                    <a:pt x="3408045" y="607695"/>
                  </a:lnTo>
                  <a:lnTo>
                    <a:pt x="3461385" y="558165"/>
                  </a:lnTo>
                  <a:lnTo>
                    <a:pt x="3495675" y="509588"/>
                  </a:lnTo>
                  <a:lnTo>
                    <a:pt x="3505200" y="456248"/>
                  </a:lnTo>
                  <a:lnTo>
                    <a:pt x="3495675" y="403860"/>
                  </a:lnTo>
                  <a:lnTo>
                    <a:pt x="3472815" y="370523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97315" y="4072890"/>
              <a:ext cx="548640" cy="9525"/>
            </a:xfrm>
            <a:custGeom>
              <a:avLst/>
              <a:gdLst/>
              <a:ahLst/>
              <a:cxnLst/>
              <a:rect l="l" t="t" r="r" b="b"/>
              <a:pathLst>
                <a:path w="548640" h="9525">
                  <a:moveTo>
                    <a:pt x="54864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902065" y="40252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045768" y="4884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045768" y="1724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630602" y="4884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8630602" y="1724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9214485" y="4884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214485" y="1724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798368" y="4884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798368" y="1724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383202" y="4884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383202" y="17249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967085" y="36204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923270" y="35185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555480" y="40633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873490" y="40633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706787" y="1823561"/>
              <a:ext cx="735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∂B/∂t &gt;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33430" y="24560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26294" y="431625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5383" y="4885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从上往下看：顺时针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66183" y="345519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导体环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涡旋电场的电场线是闭合曲线，像磁感线一样绕成圈，这是它和静电场最直观的区别。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1434" cy="909257"/>
            <a:chOff x="520446" y="342900"/>
            <a:chExt cx="70814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14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感生电动势：EK 的环流等于磁通变化率的负值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6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5780" y="2326005"/>
            <a:ext cx="5510174" cy="293370"/>
            <a:chOff x="525780" y="2326005"/>
            <a:chExt cx="5510174" cy="293370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326005"/>
              <a:ext cx="5510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回路不动时，对时间的导数只作用在 B 上，由 Φm = ∫B·dS 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57"/>
              <p:cNvSpPr txBox="1">
                <a:spLocks noGrp="1"/>
              </p:cNvSpPr>
              <p:nvPr/>
            </p:nvSpPr>
            <p:spPr>
              <a:xfrm>
                <a:off x="533400" y="2750820"/>
                <a:ext cx="562641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acc>
                                <m:accPr>
                                  <m:chr m:val="⃗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acc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4"/>
          <p:cNvGrpSpPr/>
          <p:nvPr/>
        </p:nvGrpSpPr>
        <p:grpSpPr>
          <a:xfrm>
            <a:off x="533400" y="3528060"/>
            <a:ext cx="5626418" cy="2061210"/>
            <a:chOff x="533400" y="3528060"/>
            <a:chExt cx="5626418" cy="2061210"/>
          </a:xfrm>
        </p:grpSpPr>
        <p:sp>
          <p:nvSpPr>
            <p:cNvPr id="11" name="Rectangle 11"/>
            <p:cNvSpPr/>
            <p:nvPr/>
          </p:nvSpPr>
          <p:spPr>
            <a:xfrm>
              <a:off x="533400" y="3528060"/>
              <a:ext cx="5626418" cy="2061210"/>
            </a:xfrm>
            <a:prstGeom prst="roundRect">
              <a:avLst>
                <a:gd name="adj" fmla="val 647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7376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158" y="37733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4114800"/>
              <a:ext cx="4853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变化磁场激发涡旋电场，EK 的大小与磁场变化的快慢成比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例。负号表示 EK 的方向与 ∂B/∂t 成</a:t>
              </a: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左手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螺旋关系：左手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拇指指向 ∂B/∂t，四指弯曲的方向就是 EK 的绕向。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2272665"/>
            <a:chOff x="6464618" y="1524000"/>
            <a:chExt cx="5193982" cy="2272665"/>
          </a:xfrm>
        </p:grpSpPr>
        <p:sp>
          <p:nvSpPr>
            <p:cNvPr id="16" name="Rectangle 16"/>
            <p:cNvSpPr/>
            <p:nvPr/>
          </p:nvSpPr>
          <p:spPr>
            <a:xfrm>
              <a:off x="6464618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4142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12268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85724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应明确的三点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12267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7411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3258" y="2110740"/>
              <a:ext cx="3910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∂B/∂t ≠ 0 就有 EK，与空间是真空还是介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质、有没有导体都无关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712267" y="27184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4117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13258" y="273177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∂B/∂t ≠ 0 的空间里有导体时，EK 推动导体中的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自由电子，形成感应电流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12267" y="333946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17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3258" y="335280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这一假设已由实验验证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987165"/>
            <a:ext cx="5193982" cy="1602105"/>
            <a:chOff x="6464618" y="3987165"/>
            <a:chExt cx="5193982" cy="1602105"/>
          </a:xfrm>
        </p:grpSpPr>
        <p:sp>
          <p:nvSpPr>
            <p:cNvPr id="30" name="Rectangle 30"/>
            <p:cNvSpPr/>
            <p:nvPr/>
          </p:nvSpPr>
          <p:spPr>
            <a:xfrm>
              <a:off x="6464618" y="398716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41205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41967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81775" y="42324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电子感应加速器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4573905"/>
              <a:ext cx="4472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环形真空室放在交变磁场中。变化磁场激发的环形 EK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沿轨道切向推动电子，使它一圈圈加速；轨道处的磁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场同时提供向心力，把电子约束在圆轨道上。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8999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 可以是空间中任意一条几何曲线，不必有导线；有导线时 EK 推动电流，没有导线时 EK 照样存在。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感生电场与静电场：都对电荷有力，性质却相反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11125200" cy="3112770"/>
            <a:chOff x="533400" y="1524000"/>
            <a:chExt cx="11125200" cy="31127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481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6456" y="16516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18326" y="1651635"/>
              <a:ext cx="73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静电场 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22090" y="1651635"/>
              <a:ext cx="1022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感生电场 EK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由什么产生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7309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静止电荷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07389" y="209645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08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13635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7309" y="2541270"/>
              <a:ext cx="1700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∮E·dl = 0，是保守场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07389" y="2541270"/>
              <a:ext cx="2946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∮EK·dl = −dΦm/dt ≠ 0，是非保守场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527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29860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7309" y="2986088"/>
              <a:ext cx="1861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∮D·dS = Σq，是有源场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7389" y="2986088"/>
              <a:ext cx="186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∮DK·dS = 0，是无源场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97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02318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270" y="34309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57309" y="343090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起于正电荷、止于负电荷，不闭合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7389" y="34309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闭合曲线，无头无尾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423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38747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能否引入电势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7309" y="387477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07389" y="387477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不能（环流不为零）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87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91952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431958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对电荷的作用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57309" y="4319588"/>
              <a:ext cx="54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qE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7389" y="4319588"/>
              <a:ext cx="648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qEK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11125200" cy="31127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753678" y="1524000"/>
              <a:ext cx="9525" cy="31127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03758" y="1524000"/>
              <a:ext cx="9525" cy="31127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llout-2"/>
          <p:cNvGrpSpPr/>
          <p:nvPr/>
        </p:nvGrpSpPr>
        <p:grpSpPr>
          <a:xfrm>
            <a:off x="533400" y="4811078"/>
            <a:ext cx="11125200" cy="890588"/>
            <a:chOff x="533400" y="4811078"/>
            <a:chExt cx="11125200" cy="890588"/>
          </a:xfrm>
        </p:grpSpPr>
        <p:sp>
          <p:nvSpPr>
            <p:cNvPr id="41" name="Rectangle 41"/>
            <p:cNvSpPr/>
            <p:nvPr/>
          </p:nvSpPr>
          <p:spPr>
            <a:xfrm>
              <a:off x="533400" y="4811078"/>
              <a:ext cx="11125200" cy="890588"/>
            </a:xfrm>
            <a:prstGeom prst="roundRect">
              <a:avLst>
                <a:gd name="adj" fmla="val 1283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156835"/>
              <a:ext cx="200026" cy="200025"/>
              <a:chOff x="738188" y="515683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162550"/>
              <a:ext cx="1035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作业选择题 6：由 ∮EK·dl = −dΦm/dt 能得出的是「感应电场中不能像静电场那样引入电势」；它并不说明 EK 在 L 上处处相等。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6932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一般情况下两种电场同时存在，总电场 E总 = E + EK；导体中的电流由两者共同推动。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例6.3 交变电流旁的矩形回路：只有感生电动势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257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无限长直电流 I = I₀ sin ωt 的右侧有一共面的矩形回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路，近边距电流 a，宽 b、高 l；a、b、l、I₀、ω 均为常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回路中的感应电动势。</a:t>
              </a:r>
            </a:p>
          </p:txBody>
        </p:sp>
      </p:grpSp>
      <p:grpSp>
        <p:nvGrpSpPr>
          <p:cNvPr id="63" name="c1-graph-2"/>
          <p:cNvGrpSpPr/>
          <p:nvPr/>
        </p:nvGrpSpPr>
        <p:grpSpPr>
          <a:xfrm>
            <a:off x="676275" y="3446145"/>
            <a:ext cx="4484370" cy="2192655"/>
            <a:chOff x="676275" y="3446145"/>
            <a:chExt cx="4484370" cy="2192655"/>
          </a:xfrm>
        </p:grpSpPr>
        <p:sp>
          <p:nvSpPr>
            <p:cNvPr id="14" name="Freeform 14"/>
            <p:cNvSpPr/>
            <p:nvPr/>
          </p:nvSpPr>
          <p:spPr>
            <a:xfrm>
              <a:off x="2170748" y="3786188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3338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18698" y="3805238"/>
              <a:ext cx="9525" cy="1426845"/>
            </a:xfrm>
            <a:custGeom>
              <a:avLst/>
              <a:gdLst/>
              <a:ahLst/>
              <a:cxnLst/>
              <a:rect l="l" t="t" r="r" b="b"/>
              <a:pathLst>
                <a:path w="9525" h="1426845">
                  <a:moveTo>
                    <a:pt x="0" y="0"/>
                  </a:moveTo>
                  <a:lnTo>
                    <a:pt x="0" y="1426845"/>
                  </a:lnTo>
                </a:path>
              </a:pathLst>
            </a:custGeom>
            <a:noFill/>
            <a:ln w="33338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170748" y="5251132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2628900" y="0"/>
                  </a:moveTo>
                  <a:lnTo>
                    <a:pt x="0" y="0"/>
                  </a:lnTo>
                </a:path>
              </a:pathLst>
            </a:custGeom>
            <a:noFill/>
            <a:ln w="33338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51698" y="3805238"/>
              <a:ext cx="9525" cy="1426845"/>
            </a:xfrm>
            <a:custGeom>
              <a:avLst/>
              <a:gdLst/>
              <a:ahLst/>
              <a:cxnLst/>
              <a:rect l="l" t="t" r="r" b="b"/>
              <a:pathLst>
                <a:path w="9525" h="1426845">
                  <a:moveTo>
                    <a:pt x="0" y="1426845"/>
                  </a:moveTo>
                  <a:lnTo>
                    <a:pt x="0" y="0"/>
                  </a:lnTo>
                </a:path>
              </a:pathLst>
            </a:custGeom>
            <a:noFill/>
            <a:ln w="33338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14400" y="3474720"/>
              <a:ext cx="9525" cy="2135505"/>
            </a:xfrm>
            <a:custGeom>
              <a:avLst/>
              <a:gdLst/>
              <a:ahLst/>
              <a:cxnLst/>
              <a:rect l="l" t="t" r="r" b="b"/>
              <a:pathLst>
                <a:path w="9525" h="2135505">
                  <a:moveTo>
                    <a:pt x="0" y="0"/>
                  </a:moveTo>
                  <a:lnTo>
                    <a:pt x="0" y="2135505"/>
                  </a:lnTo>
                </a:path>
              </a:pathLst>
            </a:custGeom>
            <a:noFill/>
            <a:ln w="5715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23900" y="3806190"/>
              <a:ext cx="9525" cy="481012"/>
            </a:xfrm>
            <a:custGeom>
              <a:avLst/>
              <a:gdLst/>
              <a:ahLst/>
              <a:cxnLst/>
              <a:rect l="l" t="t" r="r" b="b"/>
              <a:pathLst>
                <a:path w="9525" h="481012">
                  <a:moveTo>
                    <a:pt x="0" y="481012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76275" y="37109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33450" y="4542472"/>
              <a:ext cx="4103370" cy="9525"/>
            </a:xfrm>
            <a:custGeom>
              <a:avLst/>
              <a:gdLst/>
              <a:ahLst/>
              <a:cxnLst/>
              <a:rect l="l" t="t" r="r" b="b"/>
              <a:pathLst>
                <a:path w="4103370" h="9525">
                  <a:moveTo>
                    <a:pt x="0" y="0"/>
                  </a:moveTo>
                  <a:lnTo>
                    <a:pt x="41033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36820" y="44948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8700" y="5534025"/>
              <a:ext cx="1008698" cy="9525"/>
            </a:xfrm>
            <a:custGeom>
              <a:avLst/>
              <a:gdLst/>
              <a:ahLst/>
              <a:cxnLst/>
              <a:rect l="l" t="t" r="r" b="b"/>
              <a:pathLst>
                <a:path w="1008698" h="9525">
                  <a:moveTo>
                    <a:pt x="0" y="0"/>
                  </a:moveTo>
                  <a:lnTo>
                    <a:pt x="100869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037398" y="5486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33450" y="5486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265998" y="5534025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704398" y="5486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170748" y="5486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28700" y="3644265"/>
              <a:ext cx="2246948" cy="9525"/>
            </a:xfrm>
            <a:custGeom>
              <a:avLst/>
              <a:gdLst/>
              <a:ahLst/>
              <a:cxnLst/>
              <a:rect l="l" t="t" r="r" b="b"/>
              <a:pathLst>
                <a:path w="2246948" h="9525">
                  <a:moveTo>
                    <a:pt x="0" y="0"/>
                  </a:moveTo>
                  <a:lnTo>
                    <a:pt x="224694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275648" y="35966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33450" y="35966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342198" y="3947160"/>
              <a:ext cx="9525" cy="1142047"/>
            </a:xfrm>
            <a:custGeom>
              <a:avLst/>
              <a:gdLst/>
              <a:ahLst/>
              <a:cxnLst/>
              <a:rect l="l" t="t" r="r" b="b"/>
              <a:pathLst>
                <a:path w="9525" h="1142047">
                  <a:moveTo>
                    <a:pt x="0" y="0"/>
                  </a:moveTo>
                  <a:lnTo>
                    <a:pt x="0" y="1142047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294572" y="5089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294572" y="38519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142172" y="3776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809172" y="3776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809172" y="52416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142172" y="52416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142172" y="3776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04875" y="34461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04875" y="56197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14375" y="42967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14375" y="36823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04875" y="4532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141595" y="45329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96615" y="3903345"/>
              <a:ext cx="178118" cy="123063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04875" y="5524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142172" y="5524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142172" y="5524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809172" y="5524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04875" y="36347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380422" y="36347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332672" y="38233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332672" y="51939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71293" y="3814762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8756" y="4681538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73607" y="4295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90478" y="53821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42150" y="53821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108650" y="34913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689806" y="353901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06966" y="4201001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</p:grpSp>
      <p:grpSp>
        <p:nvGrpSpPr>
          <p:cNvPr id="77" name="c2-steps-1"/>
          <p:cNvGrpSpPr/>
          <p:nvPr/>
        </p:nvGrpSpPr>
        <p:grpSpPr>
          <a:xfrm>
            <a:off x="5598795" y="1533525"/>
            <a:ext cx="4074408" cy="1596962"/>
            <a:chOff x="5598795" y="1533525"/>
            <a:chExt cx="4074408" cy="1596962"/>
          </a:xfrm>
        </p:grpSpPr>
        <p:sp>
          <p:nvSpPr>
            <p:cNvPr id="64" name="Rectangle 64"/>
            <p:cNvSpPr/>
            <p:nvPr/>
          </p:nvSpPr>
          <p:spPr>
            <a:xfrm>
              <a:off x="573214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141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取面元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12561" y="1818322"/>
              <a:ext cx="3660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距电流 x 处取宽 dx 的窄条，dΦm = B·dS = μ₀Il dx/(2πx)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11418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积分求磁通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12561" y="2371725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从 a 积到 a + 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11418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对时间求导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12561" y="2925128"/>
              <a:ext cx="3113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回路不动，只有 I 在变，得到的全部是感生电动势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formula70"/>
              <p:cNvSpPr txBox="1">
                <a:spLocks noGrp="1"/>
              </p:cNvSpPr>
              <p:nvPr/>
            </p:nvSpPr>
            <p:spPr>
              <a:xfrm>
                <a:off x="5598795" y="3291840"/>
                <a:ext cx="605980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Il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2πx</m:t>
                              </m:r>
                            </m:den>
                          </m:f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formula71"/>
              <p:cNvSpPr txBox="1">
                <a:spLocks noGrp="1"/>
              </p:cNvSpPr>
              <p:nvPr/>
            </p:nvSpPr>
            <p:spPr>
              <a:xfrm>
                <a:off x="5598795" y="3883342"/>
                <a:ext cx="605980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lω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84" name="c2-card-4"/>
          <p:cNvGrpSpPr/>
          <p:nvPr/>
        </p:nvGrpSpPr>
        <p:grpSpPr>
          <a:xfrm>
            <a:off x="5598795" y="4459605"/>
            <a:ext cx="6059805" cy="1143952"/>
            <a:chOff x="5598795" y="4459605"/>
            <a:chExt cx="6059805" cy="1143952"/>
          </a:xfrm>
        </p:grpSpPr>
        <p:sp>
          <p:nvSpPr>
            <p:cNvPr id="80" name="Rectangle 80"/>
            <p:cNvSpPr/>
            <p:nvPr/>
          </p:nvSpPr>
          <p:spPr>
            <a:xfrm>
              <a:off x="5598795" y="4459605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79770" y="464058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76493" y="467344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773293" y="4980146"/>
              <a:ext cx="53936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如上式。取纸面向里为法线方向，回路正方向为顺时针：εᵢ &gt; 0 时电动势顺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时针，εᵢ &lt; 0 时逆时针。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5" name="Rectangle 8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04863" y="61061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1273" y="6039326"/>
              <a:ext cx="10235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检验：I₀ = 10 A、ω = 100π rad/s、a = 0.1 m、b = 0.2 m、l = 0.1 m 时幅值为 6.90×10⁻⁵ V；用 sympy 对 Φm 求导，与上式一致。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9449" cy="909257"/>
            <a:chOff x="520446" y="342900"/>
            <a:chExt cx="80194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94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例6.4（一）圆柱形区域内的变化磁场：EK 沿同心圆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511618"/>
            <a:chOff x="533400" y="1524000"/>
            <a:chExt cx="4760595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的圆柱形区域内有匀强磁场 B（垂直纸面向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里），B 随时间增大，dB/dt 为常量。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2030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区域内外 EK 的分布。</a:t>
              </a:r>
            </a:p>
          </p:txBody>
        </p:sp>
      </p:grpSp>
      <p:grpSp>
        <p:nvGrpSpPr>
          <p:cNvPr id="77" name="c1-graph-2"/>
          <p:cNvGrpSpPr/>
          <p:nvPr/>
        </p:nvGrpSpPr>
        <p:grpSpPr>
          <a:xfrm>
            <a:off x="1166812" y="3304222"/>
            <a:ext cx="3918234" cy="2153602"/>
            <a:chOff x="1166812" y="3304222"/>
            <a:chExt cx="3918234" cy="2153602"/>
          </a:xfrm>
        </p:grpSpPr>
        <p:sp>
          <p:nvSpPr>
            <p:cNvPr id="14" name="Freeform 14"/>
            <p:cNvSpPr/>
            <p:nvPr/>
          </p:nvSpPr>
          <p:spPr>
            <a:xfrm>
              <a:off x="1452562" y="3585210"/>
              <a:ext cx="1589722" cy="1591628"/>
            </a:xfrm>
            <a:custGeom>
              <a:avLst/>
              <a:gdLst/>
              <a:ahLst/>
              <a:cxnLst/>
              <a:rect l="l" t="t" r="r" b="b"/>
              <a:pathLst>
                <a:path w="1589722" h="1591628">
                  <a:moveTo>
                    <a:pt x="1589722" y="777240"/>
                  </a:moveTo>
                  <a:lnTo>
                    <a:pt x="1589722" y="719138"/>
                  </a:lnTo>
                  <a:lnTo>
                    <a:pt x="1575435" y="641985"/>
                  </a:lnTo>
                  <a:lnTo>
                    <a:pt x="1556385" y="563880"/>
                  </a:lnTo>
                  <a:lnTo>
                    <a:pt x="1532572" y="491490"/>
                  </a:lnTo>
                  <a:lnTo>
                    <a:pt x="1499235" y="421958"/>
                  </a:lnTo>
                  <a:lnTo>
                    <a:pt x="1456372" y="353378"/>
                  </a:lnTo>
                  <a:lnTo>
                    <a:pt x="1408747" y="290512"/>
                  </a:lnTo>
                  <a:lnTo>
                    <a:pt x="1356360" y="234315"/>
                  </a:lnTo>
                  <a:lnTo>
                    <a:pt x="1299210" y="180975"/>
                  </a:lnTo>
                  <a:lnTo>
                    <a:pt x="1237297" y="133350"/>
                  </a:lnTo>
                  <a:lnTo>
                    <a:pt x="1170622" y="94298"/>
                  </a:lnTo>
                  <a:lnTo>
                    <a:pt x="1099185" y="60960"/>
                  </a:lnTo>
                  <a:lnTo>
                    <a:pt x="1027747" y="35243"/>
                  </a:lnTo>
                  <a:lnTo>
                    <a:pt x="951548" y="17145"/>
                  </a:lnTo>
                  <a:lnTo>
                    <a:pt x="870585" y="4762"/>
                  </a:lnTo>
                  <a:lnTo>
                    <a:pt x="794385" y="0"/>
                  </a:lnTo>
                  <a:lnTo>
                    <a:pt x="718185" y="4762"/>
                  </a:lnTo>
                  <a:lnTo>
                    <a:pt x="637222" y="17145"/>
                  </a:lnTo>
                  <a:lnTo>
                    <a:pt x="561975" y="35243"/>
                  </a:lnTo>
                  <a:lnTo>
                    <a:pt x="490538" y="60960"/>
                  </a:lnTo>
                  <a:lnTo>
                    <a:pt x="419100" y="94298"/>
                  </a:lnTo>
                  <a:lnTo>
                    <a:pt x="352425" y="133350"/>
                  </a:lnTo>
                  <a:lnTo>
                    <a:pt x="290512" y="180975"/>
                  </a:lnTo>
                  <a:lnTo>
                    <a:pt x="233362" y="234315"/>
                  </a:lnTo>
                  <a:lnTo>
                    <a:pt x="180975" y="290512"/>
                  </a:lnTo>
                  <a:lnTo>
                    <a:pt x="133350" y="353378"/>
                  </a:lnTo>
                  <a:lnTo>
                    <a:pt x="90488" y="421958"/>
                  </a:lnTo>
                  <a:lnTo>
                    <a:pt x="57150" y="491490"/>
                  </a:lnTo>
                  <a:lnTo>
                    <a:pt x="33338" y="563880"/>
                  </a:lnTo>
                  <a:lnTo>
                    <a:pt x="14288" y="641985"/>
                  </a:lnTo>
                  <a:lnTo>
                    <a:pt x="0" y="719138"/>
                  </a:lnTo>
                  <a:lnTo>
                    <a:pt x="0" y="796290"/>
                  </a:lnTo>
                  <a:lnTo>
                    <a:pt x="0" y="873443"/>
                  </a:lnTo>
                  <a:lnTo>
                    <a:pt x="14288" y="950595"/>
                  </a:lnTo>
                  <a:lnTo>
                    <a:pt x="33338" y="1027748"/>
                  </a:lnTo>
                  <a:lnTo>
                    <a:pt x="57150" y="1100138"/>
                  </a:lnTo>
                  <a:lnTo>
                    <a:pt x="90488" y="1170623"/>
                  </a:lnTo>
                  <a:lnTo>
                    <a:pt x="133350" y="1238250"/>
                  </a:lnTo>
                  <a:lnTo>
                    <a:pt x="180975" y="1301115"/>
                  </a:lnTo>
                  <a:lnTo>
                    <a:pt x="233362" y="1357312"/>
                  </a:lnTo>
                  <a:lnTo>
                    <a:pt x="290512" y="1411605"/>
                  </a:lnTo>
                  <a:lnTo>
                    <a:pt x="352425" y="1458278"/>
                  </a:lnTo>
                  <a:lnTo>
                    <a:pt x="419100" y="1498283"/>
                  </a:lnTo>
                  <a:lnTo>
                    <a:pt x="490538" y="1530668"/>
                  </a:lnTo>
                  <a:lnTo>
                    <a:pt x="561975" y="1556385"/>
                  </a:lnTo>
                  <a:lnTo>
                    <a:pt x="637222" y="1575435"/>
                  </a:lnTo>
                  <a:lnTo>
                    <a:pt x="718185" y="1586865"/>
                  </a:lnTo>
                  <a:lnTo>
                    <a:pt x="794385" y="1591628"/>
                  </a:lnTo>
                  <a:lnTo>
                    <a:pt x="870585" y="1586865"/>
                  </a:lnTo>
                  <a:lnTo>
                    <a:pt x="951548" y="1575435"/>
                  </a:lnTo>
                  <a:lnTo>
                    <a:pt x="1027747" y="1556385"/>
                  </a:lnTo>
                  <a:lnTo>
                    <a:pt x="1099185" y="1530668"/>
                  </a:lnTo>
                  <a:lnTo>
                    <a:pt x="1170622" y="1498283"/>
                  </a:lnTo>
                  <a:lnTo>
                    <a:pt x="1237297" y="1458278"/>
                  </a:lnTo>
                  <a:lnTo>
                    <a:pt x="1299210" y="1411605"/>
                  </a:lnTo>
                  <a:lnTo>
                    <a:pt x="1356360" y="1357312"/>
                  </a:lnTo>
                  <a:lnTo>
                    <a:pt x="1408747" y="1301115"/>
                  </a:lnTo>
                  <a:lnTo>
                    <a:pt x="1456372" y="1238250"/>
                  </a:lnTo>
                  <a:lnTo>
                    <a:pt x="1499235" y="1170623"/>
                  </a:lnTo>
                  <a:lnTo>
                    <a:pt x="1532572" y="1100138"/>
                  </a:lnTo>
                  <a:lnTo>
                    <a:pt x="1556385" y="1027748"/>
                  </a:lnTo>
                  <a:lnTo>
                    <a:pt x="1575435" y="950595"/>
                  </a:lnTo>
                  <a:lnTo>
                    <a:pt x="1589722" y="873443"/>
                  </a:lnTo>
                  <a:lnTo>
                    <a:pt x="1589722" y="796290"/>
                  </a:lnTo>
                  <a:lnTo>
                    <a:pt x="1589722" y="719138"/>
                  </a:lnTo>
                  <a:lnTo>
                    <a:pt x="1579245" y="660083"/>
                  </a:lnTo>
                </a:path>
              </a:pathLst>
            </a:custGeom>
            <a:noFill/>
            <a:ln w="2857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47850" y="3983355"/>
              <a:ext cx="799147" cy="795338"/>
            </a:xfrm>
            <a:custGeom>
              <a:avLst/>
              <a:gdLst/>
              <a:ahLst/>
              <a:cxnLst/>
              <a:rect l="l" t="t" r="r" b="b"/>
              <a:pathLst>
                <a:path w="799147" h="795338">
                  <a:moveTo>
                    <a:pt x="797242" y="379095"/>
                  </a:moveTo>
                  <a:lnTo>
                    <a:pt x="794385" y="346710"/>
                  </a:lnTo>
                  <a:lnTo>
                    <a:pt x="784860" y="295275"/>
                  </a:lnTo>
                  <a:lnTo>
                    <a:pt x="765810" y="245745"/>
                  </a:lnTo>
                  <a:lnTo>
                    <a:pt x="746760" y="199073"/>
                  </a:lnTo>
                  <a:lnTo>
                    <a:pt x="713422" y="157162"/>
                  </a:lnTo>
                  <a:lnTo>
                    <a:pt x="680085" y="117158"/>
                  </a:lnTo>
                  <a:lnTo>
                    <a:pt x="641985" y="81915"/>
                  </a:lnTo>
                  <a:lnTo>
                    <a:pt x="599122" y="54292"/>
                  </a:lnTo>
                  <a:lnTo>
                    <a:pt x="551498" y="30480"/>
                  </a:lnTo>
                  <a:lnTo>
                    <a:pt x="503873" y="14288"/>
                  </a:lnTo>
                  <a:lnTo>
                    <a:pt x="451485" y="1905"/>
                  </a:lnTo>
                  <a:lnTo>
                    <a:pt x="399098" y="0"/>
                  </a:lnTo>
                  <a:lnTo>
                    <a:pt x="346710" y="1905"/>
                  </a:lnTo>
                  <a:lnTo>
                    <a:pt x="294323" y="14288"/>
                  </a:lnTo>
                  <a:lnTo>
                    <a:pt x="246698" y="30480"/>
                  </a:lnTo>
                  <a:lnTo>
                    <a:pt x="199073" y="54292"/>
                  </a:lnTo>
                  <a:lnTo>
                    <a:pt x="157162" y="81915"/>
                  </a:lnTo>
                  <a:lnTo>
                    <a:pt x="119062" y="117158"/>
                  </a:lnTo>
                  <a:lnTo>
                    <a:pt x="85725" y="157162"/>
                  </a:lnTo>
                  <a:lnTo>
                    <a:pt x="52388" y="199073"/>
                  </a:lnTo>
                  <a:lnTo>
                    <a:pt x="33338" y="245745"/>
                  </a:lnTo>
                  <a:lnTo>
                    <a:pt x="14288" y="295275"/>
                  </a:lnTo>
                  <a:lnTo>
                    <a:pt x="4762" y="346710"/>
                  </a:lnTo>
                  <a:lnTo>
                    <a:pt x="0" y="398145"/>
                  </a:lnTo>
                  <a:lnTo>
                    <a:pt x="4762" y="449580"/>
                  </a:lnTo>
                  <a:lnTo>
                    <a:pt x="14288" y="501015"/>
                  </a:lnTo>
                  <a:lnTo>
                    <a:pt x="33338" y="549592"/>
                  </a:lnTo>
                  <a:lnTo>
                    <a:pt x="52388" y="597217"/>
                  </a:lnTo>
                  <a:lnTo>
                    <a:pt x="85725" y="639128"/>
                  </a:lnTo>
                  <a:lnTo>
                    <a:pt x="119062" y="679133"/>
                  </a:lnTo>
                  <a:lnTo>
                    <a:pt x="157162" y="713423"/>
                  </a:lnTo>
                  <a:lnTo>
                    <a:pt x="199073" y="741998"/>
                  </a:lnTo>
                  <a:lnTo>
                    <a:pt x="246698" y="764858"/>
                  </a:lnTo>
                  <a:lnTo>
                    <a:pt x="294323" y="782003"/>
                  </a:lnTo>
                  <a:lnTo>
                    <a:pt x="346710" y="793433"/>
                  </a:lnTo>
                  <a:lnTo>
                    <a:pt x="399098" y="795338"/>
                  </a:lnTo>
                  <a:lnTo>
                    <a:pt x="451485" y="793433"/>
                  </a:lnTo>
                  <a:lnTo>
                    <a:pt x="503873" y="782003"/>
                  </a:lnTo>
                  <a:lnTo>
                    <a:pt x="551498" y="764858"/>
                  </a:lnTo>
                  <a:lnTo>
                    <a:pt x="599122" y="741998"/>
                  </a:lnTo>
                  <a:lnTo>
                    <a:pt x="641985" y="713423"/>
                  </a:lnTo>
                  <a:lnTo>
                    <a:pt x="680085" y="679133"/>
                  </a:lnTo>
                  <a:lnTo>
                    <a:pt x="713422" y="639128"/>
                  </a:lnTo>
                  <a:lnTo>
                    <a:pt x="746760" y="597217"/>
                  </a:lnTo>
                  <a:lnTo>
                    <a:pt x="765810" y="549592"/>
                  </a:lnTo>
                  <a:lnTo>
                    <a:pt x="784860" y="501015"/>
                  </a:lnTo>
                  <a:lnTo>
                    <a:pt x="794385" y="449580"/>
                  </a:lnTo>
                  <a:lnTo>
                    <a:pt x="799147" y="398145"/>
                  </a:lnTo>
                  <a:lnTo>
                    <a:pt x="794385" y="346710"/>
                  </a:lnTo>
                  <a:lnTo>
                    <a:pt x="788670" y="313373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166812" y="3304222"/>
              <a:ext cx="2161222" cy="2153602"/>
            </a:xfrm>
            <a:custGeom>
              <a:avLst/>
              <a:gdLst/>
              <a:ahLst/>
              <a:cxnLst/>
              <a:rect l="l" t="t" r="r" b="b"/>
              <a:pathLst>
                <a:path w="2161222" h="2153602">
                  <a:moveTo>
                    <a:pt x="2160270" y="1058228"/>
                  </a:moveTo>
                  <a:lnTo>
                    <a:pt x="2156460" y="982980"/>
                  </a:lnTo>
                  <a:lnTo>
                    <a:pt x="2142172" y="889635"/>
                  </a:lnTo>
                  <a:lnTo>
                    <a:pt x="2123122" y="798195"/>
                  </a:lnTo>
                  <a:lnTo>
                    <a:pt x="2094547" y="709612"/>
                  </a:lnTo>
                  <a:lnTo>
                    <a:pt x="2056447" y="622935"/>
                  </a:lnTo>
                  <a:lnTo>
                    <a:pt x="2013585" y="539115"/>
                  </a:lnTo>
                  <a:lnTo>
                    <a:pt x="1965960" y="459105"/>
                  </a:lnTo>
                  <a:lnTo>
                    <a:pt x="1908810" y="383858"/>
                  </a:lnTo>
                  <a:lnTo>
                    <a:pt x="1842135" y="316230"/>
                  </a:lnTo>
                  <a:lnTo>
                    <a:pt x="1775460" y="253365"/>
                  </a:lnTo>
                  <a:lnTo>
                    <a:pt x="1699260" y="194310"/>
                  </a:lnTo>
                  <a:lnTo>
                    <a:pt x="1618297" y="145733"/>
                  </a:lnTo>
                  <a:lnTo>
                    <a:pt x="1537335" y="100965"/>
                  </a:lnTo>
                  <a:lnTo>
                    <a:pt x="1446847" y="65723"/>
                  </a:lnTo>
                  <a:lnTo>
                    <a:pt x="1361122" y="38100"/>
                  </a:lnTo>
                  <a:lnTo>
                    <a:pt x="1265872" y="17145"/>
                  </a:lnTo>
                  <a:lnTo>
                    <a:pt x="1175385" y="4762"/>
                  </a:lnTo>
                  <a:lnTo>
                    <a:pt x="1080135" y="0"/>
                  </a:lnTo>
                  <a:lnTo>
                    <a:pt x="984885" y="4762"/>
                  </a:lnTo>
                  <a:lnTo>
                    <a:pt x="894398" y="17145"/>
                  </a:lnTo>
                  <a:lnTo>
                    <a:pt x="800100" y="38100"/>
                  </a:lnTo>
                  <a:lnTo>
                    <a:pt x="714375" y="65723"/>
                  </a:lnTo>
                  <a:lnTo>
                    <a:pt x="623888" y="100965"/>
                  </a:lnTo>
                  <a:lnTo>
                    <a:pt x="542925" y="145733"/>
                  </a:lnTo>
                  <a:lnTo>
                    <a:pt x="461962" y="194310"/>
                  </a:lnTo>
                  <a:lnTo>
                    <a:pt x="385762" y="253365"/>
                  </a:lnTo>
                  <a:lnTo>
                    <a:pt x="319088" y="316230"/>
                  </a:lnTo>
                  <a:lnTo>
                    <a:pt x="252412" y="383858"/>
                  </a:lnTo>
                  <a:lnTo>
                    <a:pt x="195262" y="459105"/>
                  </a:lnTo>
                  <a:lnTo>
                    <a:pt x="147638" y="539115"/>
                  </a:lnTo>
                  <a:lnTo>
                    <a:pt x="104775" y="622935"/>
                  </a:lnTo>
                  <a:lnTo>
                    <a:pt x="66675" y="709612"/>
                  </a:lnTo>
                  <a:lnTo>
                    <a:pt x="38100" y="798195"/>
                  </a:lnTo>
                  <a:lnTo>
                    <a:pt x="19050" y="889635"/>
                  </a:lnTo>
                  <a:lnTo>
                    <a:pt x="4762" y="982980"/>
                  </a:lnTo>
                  <a:lnTo>
                    <a:pt x="0" y="1077278"/>
                  </a:lnTo>
                  <a:lnTo>
                    <a:pt x="4762" y="1170623"/>
                  </a:lnTo>
                  <a:lnTo>
                    <a:pt x="19050" y="1263968"/>
                  </a:lnTo>
                  <a:lnTo>
                    <a:pt x="38100" y="1355408"/>
                  </a:lnTo>
                  <a:lnTo>
                    <a:pt x="66675" y="1443990"/>
                  </a:lnTo>
                  <a:lnTo>
                    <a:pt x="104775" y="1530668"/>
                  </a:lnTo>
                  <a:lnTo>
                    <a:pt x="147638" y="1615440"/>
                  </a:lnTo>
                  <a:lnTo>
                    <a:pt x="195262" y="1694497"/>
                  </a:lnTo>
                  <a:lnTo>
                    <a:pt x="252412" y="1769745"/>
                  </a:lnTo>
                  <a:lnTo>
                    <a:pt x="319088" y="1837372"/>
                  </a:lnTo>
                  <a:lnTo>
                    <a:pt x="385762" y="1901190"/>
                  </a:lnTo>
                  <a:lnTo>
                    <a:pt x="461962" y="1959293"/>
                  </a:lnTo>
                  <a:lnTo>
                    <a:pt x="542925" y="2008822"/>
                  </a:lnTo>
                  <a:lnTo>
                    <a:pt x="623888" y="2052638"/>
                  </a:lnTo>
                  <a:lnTo>
                    <a:pt x="714375" y="2087880"/>
                  </a:lnTo>
                  <a:lnTo>
                    <a:pt x="800100" y="2116455"/>
                  </a:lnTo>
                  <a:lnTo>
                    <a:pt x="894398" y="2137410"/>
                  </a:lnTo>
                  <a:lnTo>
                    <a:pt x="984885" y="2148840"/>
                  </a:lnTo>
                  <a:lnTo>
                    <a:pt x="1080135" y="2153602"/>
                  </a:lnTo>
                  <a:lnTo>
                    <a:pt x="1175385" y="2148840"/>
                  </a:lnTo>
                  <a:lnTo>
                    <a:pt x="1265872" y="2137410"/>
                  </a:lnTo>
                  <a:lnTo>
                    <a:pt x="1361122" y="2116455"/>
                  </a:lnTo>
                  <a:lnTo>
                    <a:pt x="1446847" y="2087880"/>
                  </a:lnTo>
                  <a:lnTo>
                    <a:pt x="1537335" y="2052638"/>
                  </a:lnTo>
                  <a:lnTo>
                    <a:pt x="1618297" y="2008822"/>
                  </a:lnTo>
                  <a:lnTo>
                    <a:pt x="1699260" y="1959293"/>
                  </a:lnTo>
                  <a:lnTo>
                    <a:pt x="1775460" y="1901190"/>
                  </a:lnTo>
                  <a:lnTo>
                    <a:pt x="1842135" y="1837372"/>
                  </a:lnTo>
                  <a:lnTo>
                    <a:pt x="1908810" y="1769745"/>
                  </a:lnTo>
                  <a:lnTo>
                    <a:pt x="1965960" y="1694497"/>
                  </a:lnTo>
                  <a:lnTo>
                    <a:pt x="2013585" y="1615440"/>
                  </a:lnTo>
                  <a:lnTo>
                    <a:pt x="2056447" y="1530668"/>
                  </a:lnTo>
                  <a:lnTo>
                    <a:pt x="2094547" y="1443990"/>
                  </a:lnTo>
                  <a:lnTo>
                    <a:pt x="2123122" y="1355408"/>
                  </a:lnTo>
                  <a:lnTo>
                    <a:pt x="2142172" y="1263968"/>
                  </a:lnTo>
                  <a:lnTo>
                    <a:pt x="2156460" y="1170623"/>
                  </a:lnTo>
                  <a:lnTo>
                    <a:pt x="2161222" y="1077278"/>
                  </a:lnTo>
                  <a:lnTo>
                    <a:pt x="2156460" y="982980"/>
                  </a:lnTo>
                  <a:lnTo>
                    <a:pt x="2145030" y="908685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646998" y="435292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599372" y="4257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218372" y="398335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15240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23122" y="39357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847850" y="4257675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800225" y="4410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123122" y="4778692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275522" y="47310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89898" y="3601402"/>
              <a:ext cx="105728" cy="106680"/>
            </a:xfrm>
            <a:custGeom>
              <a:avLst/>
              <a:gdLst/>
              <a:ahLst/>
              <a:cxnLst/>
              <a:rect l="l" t="t" r="r" b="b"/>
              <a:pathLst>
                <a:path w="105728" h="106680">
                  <a:moveTo>
                    <a:pt x="105728" y="10668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22270" y="353377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100965" y="33338"/>
                  </a:lnTo>
                  <a:lnTo>
                    <a:pt x="33338" y="10096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399222" y="5054918"/>
              <a:ext cx="105727" cy="106680"/>
            </a:xfrm>
            <a:custGeom>
              <a:avLst/>
              <a:gdLst/>
              <a:ahLst/>
              <a:cxnLst/>
              <a:rect l="l" t="t" r="r" b="b"/>
              <a:pathLst>
                <a:path w="105727" h="106680">
                  <a:moveTo>
                    <a:pt x="0" y="0"/>
                  </a:moveTo>
                  <a:lnTo>
                    <a:pt x="105727" y="10668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471612" y="5128260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6675"/>
                  </a:lnTo>
                  <a:lnTo>
                    <a:pt x="6762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724978" y="3942398"/>
              <a:ext cx="507683" cy="426720"/>
            </a:xfrm>
            <a:custGeom>
              <a:avLst/>
              <a:gdLst/>
              <a:ahLst/>
              <a:cxnLst/>
              <a:rect l="l" t="t" r="r" b="b"/>
              <a:pathLst>
                <a:path w="507683" h="426720">
                  <a:moveTo>
                    <a:pt x="507683" y="42672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43B7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652588" y="3880485"/>
              <a:ext cx="103823" cy="98108"/>
            </a:xfrm>
            <a:custGeom>
              <a:avLst/>
              <a:gdLst/>
              <a:ahLst/>
              <a:cxnLst/>
              <a:rect l="l" t="t" r="r" b="b"/>
              <a:pathLst>
                <a:path w="103823" h="98108">
                  <a:moveTo>
                    <a:pt x="0" y="0"/>
                  </a:moveTo>
                  <a:lnTo>
                    <a:pt x="103823" y="25718"/>
                  </a:lnTo>
                  <a:lnTo>
                    <a:pt x="41910" y="98108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208848" y="434340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32760" y="43719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18472" y="42176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637472" y="43719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623185" y="42691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318510" y="43719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299460" y="41843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637472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637472" y="42291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80298" y="39738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094548" y="39738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838325" y="42291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838325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094548" y="47691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380298" y="47691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099435" y="37118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899410" y="35109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376362" y="50320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576388" y="52330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237422" y="43719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628775" y="38595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799391" y="39423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48589" y="444007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9757" y="40824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09757" y="43310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09757" y="45786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09757" y="4827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62169" y="3834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962169" y="43310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62169" y="4827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208867" y="3834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208867" y="40824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208867" y="45786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08867" y="4827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456517" y="3834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456517" y="43310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456517" y="4827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08929" y="38347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708929" y="40824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708929" y="43310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708929" y="45786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708929" y="48272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956494" y="3479959"/>
              <a:ext cx="11195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向里，dB/dt &gt; 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956494" y="4041934"/>
              <a:ext cx="842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内虚线：r &lt; 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956494" y="4462939"/>
              <a:ext cx="842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外虚线：r &gt; R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956494" y="4931569"/>
              <a:ext cx="112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红箭头：EK 逆时针</a:t>
              </a:r>
            </a:p>
          </p:txBody>
        </p:sp>
      </p:grpSp>
      <p:grpSp>
        <p:nvGrpSpPr>
          <p:cNvPr id="91" name="c2-steps-1"/>
          <p:cNvGrpSpPr/>
          <p:nvPr/>
        </p:nvGrpSpPr>
        <p:grpSpPr>
          <a:xfrm>
            <a:off x="5598795" y="1533525"/>
            <a:ext cx="5581015" cy="1900714"/>
            <a:chOff x="5598795" y="1533525"/>
            <a:chExt cx="5581015" cy="1900714"/>
          </a:xfrm>
        </p:grpSpPr>
        <p:sp>
          <p:nvSpPr>
            <p:cNvPr id="78" name="Rectangle 78"/>
            <p:cNvSpPr/>
            <p:nvPr/>
          </p:nvSpPr>
          <p:spPr>
            <a:xfrm>
              <a:off x="573214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559879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69241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59879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69241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011037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看对称性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012180" y="1833086"/>
              <a:ext cx="5167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磁场柱对称，EK 线是以 o 为圆心的同心圆，同一圆周上 EK 大小相等；由楞次定律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（左手关系），EK 沿逆时针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11037" y="2359342"/>
              <a:ext cx="87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柱内 r &lt; R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012180" y="2627471"/>
              <a:ext cx="4794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取半径 r 的圆周 L，顺时针为正（法线向里）：EK·2πr = −d(Bπr²)/dt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011037" y="2946082"/>
              <a:ext cx="87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柱外 r &gt; R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12180" y="3214211"/>
              <a:ext cx="3641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磁场只在柱内，磁通只算到 R：EK·2πr = −πR²·dB/dt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formula76"/>
              <p:cNvSpPr txBox="1">
                <a:spLocks noGrp="1"/>
              </p:cNvSpPr>
              <p:nvPr/>
            </p:nvSpPr>
            <p:spPr>
              <a:xfrm>
                <a:off x="5598795" y="3602355"/>
                <a:ext cx="605980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dB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2r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dB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7" name="c2-card-3"/>
          <p:cNvGrpSpPr/>
          <p:nvPr/>
        </p:nvGrpSpPr>
        <p:grpSpPr>
          <a:xfrm>
            <a:off x="5598795" y="4214812"/>
            <a:ext cx="6059805" cy="1336358"/>
            <a:chOff x="5598795" y="4214812"/>
            <a:chExt cx="6059805" cy="1336358"/>
          </a:xfrm>
        </p:grpSpPr>
        <p:sp>
          <p:nvSpPr>
            <p:cNvPr id="93" name="Rectangle 93"/>
            <p:cNvSpPr/>
            <p:nvPr/>
          </p:nvSpPr>
          <p:spPr>
            <a:xfrm>
              <a:off x="5598795" y="4214812"/>
              <a:ext cx="6059805" cy="1336358"/>
            </a:xfrm>
            <a:prstGeom prst="roundRect">
              <a:avLst>
                <a:gd name="adj" fmla="val 997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791200" y="440721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886641" y="444150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784342" y="4764405"/>
              <a:ext cx="53801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负号表示 EK 与所取的顺时针方向相反，即逆时针。大小：柱内 (r/2)·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dB/dt，随 r 线性增大；柱外 R²/(2r)·dB/dt，按 1/r 减小。</a:t>
              </a:r>
            </a:p>
          </p:txBody>
        </p:sp>
      </p:grpSp>
      <p:grpSp>
        <p:nvGrpSpPr>
          <p:cNvPr id="10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8" name="Rectangle 9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0892" y="6023610"/>
              <a:ext cx="8083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对称性分析是这类题的关键：先说明 EK 沿同心圆且大小只与 r 有关，才能把 ∮EK·dl 写成 EK·2πr。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6419" cy="909257"/>
            <a:chOff x="520446" y="342900"/>
            <a:chExt cx="6456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6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例6.4（二）柱外没有磁场，却有涡旋电场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800976" y="1593056"/>
            <a:ext cx="4969453" cy="2031873"/>
            <a:chOff x="800976" y="1593056"/>
            <a:chExt cx="4969453" cy="2031873"/>
          </a:xfrm>
        </p:grpSpPr>
        <p:sp>
          <p:nvSpPr>
            <p:cNvPr id="7" name="Freeform 7"/>
            <p:cNvSpPr/>
            <p:nvPr/>
          </p:nvSpPr>
          <p:spPr>
            <a:xfrm>
              <a:off x="1039178" y="3344228"/>
              <a:ext cx="4520565" cy="9525"/>
            </a:xfrm>
            <a:custGeom>
              <a:avLst/>
              <a:gdLst/>
              <a:ahLst/>
              <a:cxnLst/>
              <a:rect l="l" t="t" r="r" b="b"/>
              <a:pathLst>
                <a:path w="4520565" h="9525">
                  <a:moveTo>
                    <a:pt x="0" y="0"/>
                  </a:moveTo>
                  <a:lnTo>
                    <a:pt x="45205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559742" y="32966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20128" y="1848802"/>
              <a:ext cx="9525" cy="1476375"/>
            </a:xfrm>
            <a:custGeom>
              <a:avLst/>
              <a:gdLst/>
              <a:ahLst/>
              <a:cxnLst/>
              <a:rect l="l" t="t" r="r" b="b"/>
              <a:pathLst>
                <a:path w="9525" h="1476375">
                  <a:moveTo>
                    <a:pt x="0" y="14763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72502" y="1753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32510" y="1971675"/>
              <a:ext cx="1138238" cy="1358265"/>
            </a:xfrm>
            <a:custGeom>
              <a:avLst/>
              <a:gdLst/>
              <a:ahLst/>
              <a:cxnLst/>
              <a:rect l="l" t="t" r="r" b="b"/>
              <a:pathLst>
                <a:path w="1138238" h="1358265">
                  <a:moveTo>
                    <a:pt x="0" y="1358265"/>
                  </a:moveTo>
                  <a:lnTo>
                    <a:pt x="47625" y="1303020"/>
                  </a:lnTo>
                  <a:lnTo>
                    <a:pt x="106680" y="1233488"/>
                  </a:lnTo>
                  <a:lnTo>
                    <a:pt x="160972" y="1164908"/>
                  </a:lnTo>
                  <a:lnTo>
                    <a:pt x="220027" y="1095375"/>
                  </a:lnTo>
                  <a:lnTo>
                    <a:pt x="280035" y="1025842"/>
                  </a:lnTo>
                  <a:lnTo>
                    <a:pt x="334327" y="956310"/>
                  </a:lnTo>
                  <a:lnTo>
                    <a:pt x="393382" y="886778"/>
                  </a:lnTo>
                  <a:lnTo>
                    <a:pt x="453390" y="818197"/>
                  </a:lnTo>
                  <a:lnTo>
                    <a:pt x="512445" y="748665"/>
                  </a:lnTo>
                  <a:lnTo>
                    <a:pt x="572452" y="679133"/>
                  </a:lnTo>
                  <a:lnTo>
                    <a:pt x="625792" y="609600"/>
                  </a:lnTo>
                  <a:lnTo>
                    <a:pt x="685800" y="540067"/>
                  </a:lnTo>
                  <a:lnTo>
                    <a:pt x="744855" y="471488"/>
                  </a:lnTo>
                  <a:lnTo>
                    <a:pt x="799148" y="401955"/>
                  </a:lnTo>
                  <a:lnTo>
                    <a:pt x="859155" y="332423"/>
                  </a:lnTo>
                  <a:lnTo>
                    <a:pt x="918210" y="262890"/>
                  </a:lnTo>
                  <a:lnTo>
                    <a:pt x="978217" y="193358"/>
                  </a:lnTo>
                  <a:lnTo>
                    <a:pt x="1037272" y="124777"/>
                  </a:lnTo>
                  <a:lnTo>
                    <a:pt x="1091565" y="55245"/>
                  </a:lnTo>
                  <a:lnTo>
                    <a:pt x="1138238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95512" y="1971675"/>
              <a:ext cx="3458528" cy="1023938"/>
            </a:xfrm>
            <a:custGeom>
              <a:avLst/>
              <a:gdLst/>
              <a:ahLst/>
              <a:cxnLst/>
              <a:rect l="l" t="t" r="r" b="b"/>
              <a:pathLst>
                <a:path w="3458528" h="1023938">
                  <a:moveTo>
                    <a:pt x="0" y="0"/>
                  </a:moveTo>
                  <a:lnTo>
                    <a:pt x="58102" y="67627"/>
                  </a:lnTo>
                  <a:lnTo>
                    <a:pt x="134302" y="140017"/>
                  </a:lnTo>
                  <a:lnTo>
                    <a:pt x="204788" y="204788"/>
                  </a:lnTo>
                  <a:lnTo>
                    <a:pt x="280035" y="262890"/>
                  </a:lnTo>
                  <a:lnTo>
                    <a:pt x="350520" y="315277"/>
                  </a:lnTo>
                  <a:lnTo>
                    <a:pt x="425767" y="364808"/>
                  </a:lnTo>
                  <a:lnTo>
                    <a:pt x="496253" y="408623"/>
                  </a:lnTo>
                  <a:lnTo>
                    <a:pt x="566738" y="447675"/>
                  </a:lnTo>
                  <a:lnTo>
                    <a:pt x="642938" y="483870"/>
                  </a:lnTo>
                  <a:lnTo>
                    <a:pt x="713422" y="519112"/>
                  </a:lnTo>
                  <a:lnTo>
                    <a:pt x="788670" y="551497"/>
                  </a:lnTo>
                  <a:lnTo>
                    <a:pt x="859155" y="579120"/>
                  </a:lnTo>
                  <a:lnTo>
                    <a:pt x="934403" y="607695"/>
                  </a:lnTo>
                  <a:lnTo>
                    <a:pt x="1004888" y="633412"/>
                  </a:lnTo>
                  <a:lnTo>
                    <a:pt x="1081088" y="657225"/>
                  </a:lnTo>
                  <a:lnTo>
                    <a:pt x="1151572" y="679133"/>
                  </a:lnTo>
                  <a:lnTo>
                    <a:pt x="1221105" y="701040"/>
                  </a:lnTo>
                  <a:lnTo>
                    <a:pt x="1297305" y="720090"/>
                  </a:lnTo>
                  <a:lnTo>
                    <a:pt x="1367790" y="737235"/>
                  </a:lnTo>
                  <a:lnTo>
                    <a:pt x="1443038" y="757238"/>
                  </a:lnTo>
                  <a:lnTo>
                    <a:pt x="1513522" y="772478"/>
                  </a:lnTo>
                  <a:lnTo>
                    <a:pt x="1589722" y="789622"/>
                  </a:lnTo>
                  <a:lnTo>
                    <a:pt x="1660208" y="802958"/>
                  </a:lnTo>
                  <a:lnTo>
                    <a:pt x="1735455" y="818197"/>
                  </a:lnTo>
                  <a:lnTo>
                    <a:pt x="1805940" y="830580"/>
                  </a:lnTo>
                  <a:lnTo>
                    <a:pt x="1876425" y="843915"/>
                  </a:lnTo>
                  <a:lnTo>
                    <a:pt x="1951672" y="857250"/>
                  </a:lnTo>
                  <a:lnTo>
                    <a:pt x="2022158" y="867728"/>
                  </a:lnTo>
                  <a:lnTo>
                    <a:pt x="2098358" y="878205"/>
                  </a:lnTo>
                  <a:lnTo>
                    <a:pt x="2167890" y="889635"/>
                  </a:lnTo>
                  <a:lnTo>
                    <a:pt x="2244090" y="900112"/>
                  </a:lnTo>
                  <a:lnTo>
                    <a:pt x="2314575" y="910590"/>
                  </a:lnTo>
                  <a:lnTo>
                    <a:pt x="2385060" y="920115"/>
                  </a:lnTo>
                  <a:lnTo>
                    <a:pt x="2460308" y="928688"/>
                  </a:lnTo>
                  <a:lnTo>
                    <a:pt x="2530792" y="937260"/>
                  </a:lnTo>
                  <a:lnTo>
                    <a:pt x="2606992" y="945833"/>
                  </a:lnTo>
                  <a:lnTo>
                    <a:pt x="2676525" y="954405"/>
                  </a:lnTo>
                  <a:lnTo>
                    <a:pt x="2752725" y="961072"/>
                  </a:lnTo>
                  <a:lnTo>
                    <a:pt x="2823210" y="969645"/>
                  </a:lnTo>
                  <a:lnTo>
                    <a:pt x="2893695" y="976312"/>
                  </a:lnTo>
                  <a:lnTo>
                    <a:pt x="2968943" y="982028"/>
                  </a:lnTo>
                  <a:lnTo>
                    <a:pt x="3039428" y="988695"/>
                  </a:lnTo>
                  <a:lnTo>
                    <a:pt x="3114675" y="995362"/>
                  </a:lnTo>
                  <a:lnTo>
                    <a:pt x="3185160" y="1002030"/>
                  </a:lnTo>
                  <a:lnTo>
                    <a:pt x="3261360" y="1008697"/>
                  </a:lnTo>
                  <a:lnTo>
                    <a:pt x="3331845" y="1015365"/>
                  </a:lnTo>
                  <a:lnTo>
                    <a:pt x="3407093" y="1019175"/>
                  </a:lnTo>
                  <a:lnTo>
                    <a:pt x="3458528" y="1023938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183130" y="1976438"/>
              <a:ext cx="9525" cy="1348740"/>
            </a:xfrm>
            <a:custGeom>
              <a:avLst/>
              <a:gdLst/>
              <a:ahLst/>
              <a:cxnLst/>
              <a:rect l="l" t="t" r="r" b="b"/>
              <a:pathLst>
                <a:path w="9525" h="1348740">
                  <a:moveTo>
                    <a:pt x="0" y="13487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039178" y="1957388"/>
              <a:ext cx="1124902" cy="9525"/>
            </a:xfrm>
            <a:custGeom>
              <a:avLst/>
              <a:gdLst/>
              <a:ahLst/>
              <a:cxnLst/>
              <a:rect l="l" t="t" r="r" b="b"/>
              <a:pathLst>
                <a:path w="1124902" h="9525">
                  <a:moveTo>
                    <a:pt x="0" y="0"/>
                  </a:moveTo>
                  <a:lnTo>
                    <a:pt x="11249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1010602" y="33347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10602" y="33347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173605" y="1947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173605" y="1947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663565" y="29879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173605" y="33347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173605" y="1947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10602" y="1947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173605" y="1947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84335" y="32837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674" y="159305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0976" y="3412331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39843" y="343423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5465" y="343423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28467" y="343423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9840" y="237077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EK ∝ 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55098" y="2472690"/>
              <a:ext cx="582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EK ∝ 1/r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38184" y="1787366"/>
              <a:ext cx="8261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(R/2)·dB/dt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3866198"/>
            <a:ext cx="5410200" cy="1716405"/>
            <a:chOff x="533400" y="3866198"/>
            <a:chExt cx="5410200" cy="1716405"/>
          </a:xfrm>
        </p:grpSpPr>
        <p:sp>
          <p:nvSpPr>
            <p:cNvPr id="34" name="Rectangle 34"/>
            <p:cNvSpPr/>
            <p:nvPr/>
          </p:nvSpPr>
          <p:spPr>
            <a:xfrm>
              <a:off x="533400" y="3866198"/>
              <a:ext cx="5410200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3999548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4058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5345" y="4092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414838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0.1 m、dB/dt = 0.1 T/s：EK(R/2) = 2.5×10⁻³ V/m，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EK(R) = 5.0×10⁻³ V/m，EK(2R) = 2.5×10⁻³ V/m。r = R 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两式相等，曲线连续。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1466850"/>
            <a:chOff x="6248400" y="1524000"/>
            <a:chExt cx="5410200" cy="1466850"/>
          </a:xfrm>
        </p:grpSpPr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40805" y="1716405"/>
              <a:ext cx="169640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8749" y="1750695"/>
              <a:ext cx="16195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柱外 B = 0，EK 却不为零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33947" y="2072640"/>
              <a:ext cx="47543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EK 的环流由回路所围面积内的磁通变化决定。柱外的圆周 L 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虽然没有磁场，它围住的面里仍有变化的磁通 πR²B，所以 L 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有涡旋电场。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166110"/>
            <a:ext cx="5410200" cy="1511618"/>
            <a:chOff x="6248400" y="3166110"/>
            <a:chExt cx="5410200" cy="1511618"/>
          </a:xfrm>
        </p:grpSpPr>
        <p:sp>
          <p:nvSpPr>
            <p:cNvPr id="45" name="Rectangle 45"/>
            <p:cNvSpPr/>
            <p:nvPr/>
          </p:nvSpPr>
          <p:spPr>
            <a:xfrm>
              <a:off x="6248400" y="3166110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329946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3358515"/>
              <a:ext cx="312896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90313" y="3392805"/>
              <a:ext cx="3105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应用：一段导线上的感生电动势（作业计算题 7）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87478" y="37709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43497" y="3714750"/>
              <a:ext cx="3599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沿半径方向的线段：EK 处处与它垂直，ε = 0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7478" y="40738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3497" y="401764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任一线段 cd：连 oc、od 凑成三角形，两条半径不贡献，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εcd 等于三角形 ocd 内（落在圆柱中那部分）磁通的变化率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4852988"/>
            <a:ext cx="5410200" cy="729615"/>
            <a:chOff x="6248400" y="4852988"/>
            <a:chExt cx="5410200" cy="729615"/>
          </a:xfrm>
        </p:grpSpPr>
        <p:sp>
          <p:nvSpPr>
            <p:cNvPr id="54" name="Rectangle 54"/>
            <p:cNvSpPr/>
            <p:nvPr/>
          </p:nvSpPr>
          <p:spPr>
            <a:xfrm>
              <a:off x="6248400" y="485298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117783"/>
              <a:ext cx="200026" cy="200025"/>
              <a:chOff x="6453188" y="5117783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453188" y="51177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92926" y="51622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27642" y="52733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892" y="4998720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补半径凑成闭合回路，是求一段导线上感生电动势的常用技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巧。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8350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EK 在 r = R 处最大，为 (R/2)·dB/dt；轴线上 EK = 0。别把「柱外 B = 0」误当成「柱外没有电场」。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2432" cy="909257"/>
            <a:chOff x="520446" y="342900"/>
            <a:chExt cx="8952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2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例6.5（一）回路在动、电流在变：对 Φm(x, t) 求全导数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000250"/>
            <a:chOff x="533400" y="1524000"/>
            <a:chExt cx="476059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263" y="1743551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1799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长直导线中 I = I₀ cos ωt，共面的矩形回路（宽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b、高 l）以速度 v 向右平动，起始时回路左边与导线重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合；v、b、l、I₀、ω 为常数。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869882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任意时刻回路的磁通；(2) 动生、感生电动势；</a:t>
              </a:r>
            </a:p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ωt = π/2 时电动势的方向。</a:t>
              </a:r>
            </a:p>
          </p:txBody>
        </p:sp>
      </p:grpSp>
      <p:grpSp>
        <p:nvGrpSpPr>
          <p:cNvPr id="59" name="c1-graph-2"/>
          <p:cNvGrpSpPr/>
          <p:nvPr/>
        </p:nvGrpSpPr>
        <p:grpSpPr>
          <a:xfrm>
            <a:off x="676275" y="3763328"/>
            <a:ext cx="4484370" cy="1831657"/>
            <a:chOff x="676275" y="3763328"/>
            <a:chExt cx="4484370" cy="1831657"/>
          </a:xfrm>
        </p:grpSpPr>
        <p:sp>
          <p:nvSpPr>
            <p:cNvPr id="14" name="Freeform 14"/>
            <p:cNvSpPr/>
            <p:nvPr/>
          </p:nvSpPr>
          <p:spPr>
            <a:xfrm>
              <a:off x="2456498" y="420624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33338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342448" y="4225290"/>
              <a:ext cx="9525" cy="1025842"/>
            </a:xfrm>
            <a:custGeom>
              <a:avLst/>
              <a:gdLst/>
              <a:ahLst/>
              <a:cxnLst/>
              <a:rect l="l" t="t" r="r" b="b"/>
              <a:pathLst>
                <a:path w="9525" h="1025842">
                  <a:moveTo>
                    <a:pt x="0" y="0"/>
                  </a:moveTo>
                  <a:lnTo>
                    <a:pt x="0" y="1025842"/>
                  </a:lnTo>
                </a:path>
              </a:pathLst>
            </a:custGeom>
            <a:noFill/>
            <a:ln w="33338">
              <a:solidFill>
                <a:srgbClr val="D9770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56498" y="5270182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1866900" y="0"/>
                  </a:moveTo>
                  <a:lnTo>
                    <a:pt x="0" y="0"/>
                  </a:lnTo>
                </a:path>
              </a:pathLst>
            </a:custGeom>
            <a:noFill/>
            <a:ln w="33338">
              <a:solidFill>
                <a:srgbClr val="D9770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437448" y="4225290"/>
              <a:ext cx="9525" cy="1025842"/>
            </a:xfrm>
            <a:custGeom>
              <a:avLst/>
              <a:gdLst/>
              <a:ahLst/>
              <a:cxnLst/>
              <a:rect l="l" t="t" r="r" b="b"/>
              <a:pathLst>
                <a:path w="9525" h="1025842">
                  <a:moveTo>
                    <a:pt x="0" y="1025842"/>
                  </a:moveTo>
                  <a:lnTo>
                    <a:pt x="0" y="0"/>
                  </a:lnTo>
                </a:path>
              </a:pathLst>
            </a:custGeom>
            <a:noFill/>
            <a:ln w="33338">
              <a:solidFill>
                <a:srgbClr val="D9770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14400" y="3791902"/>
              <a:ext cx="9525" cy="1774507"/>
            </a:xfrm>
            <a:custGeom>
              <a:avLst/>
              <a:gdLst/>
              <a:ahLst/>
              <a:cxnLst/>
              <a:rect l="l" t="t" r="r" b="b"/>
              <a:pathLst>
                <a:path w="9525" h="1774507">
                  <a:moveTo>
                    <a:pt x="0" y="0"/>
                  </a:moveTo>
                  <a:lnTo>
                    <a:pt x="0" y="1774507"/>
                  </a:lnTo>
                </a:path>
              </a:pathLst>
            </a:custGeom>
            <a:noFill/>
            <a:ln w="5715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23900" y="4084320"/>
              <a:ext cx="9525" cy="379095"/>
            </a:xfrm>
            <a:custGeom>
              <a:avLst/>
              <a:gdLst/>
              <a:ahLst/>
              <a:cxnLst/>
              <a:rect l="l" t="t" r="r" b="b"/>
              <a:pathLst>
                <a:path w="9525" h="379095">
                  <a:moveTo>
                    <a:pt x="0" y="379095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76275" y="39890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33450" y="4678680"/>
              <a:ext cx="4103370" cy="9525"/>
            </a:xfrm>
            <a:custGeom>
              <a:avLst/>
              <a:gdLst/>
              <a:ahLst/>
              <a:cxnLst/>
              <a:rect l="l" t="t" r="r" b="b"/>
              <a:pathLst>
                <a:path w="4103370" h="9525">
                  <a:moveTo>
                    <a:pt x="0" y="0"/>
                  </a:moveTo>
                  <a:lnTo>
                    <a:pt x="41033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036820" y="4631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8700" y="4088130"/>
              <a:ext cx="1294448" cy="9525"/>
            </a:xfrm>
            <a:custGeom>
              <a:avLst/>
              <a:gdLst/>
              <a:ahLst/>
              <a:cxnLst/>
              <a:rect l="l" t="t" r="r" b="b"/>
              <a:pathLst>
                <a:path w="1294448" h="9525">
                  <a:moveTo>
                    <a:pt x="0" y="0"/>
                  </a:moveTo>
                  <a:lnTo>
                    <a:pt x="129444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323148" y="4040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933450" y="40405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551748" y="5506402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228148" y="54587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456498" y="54587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4532948" y="4320540"/>
              <a:ext cx="9525" cy="835342"/>
            </a:xfrm>
            <a:custGeom>
              <a:avLst/>
              <a:gdLst/>
              <a:ahLst/>
              <a:cxnLst/>
              <a:rect l="l" t="t" r="r" b="b"/>
              <a:pathLst>
                <a:path w="9525" h="835342">
                  <a:moveTo>
                    <a:pt x="0" y="0"/>
                  </a:moveTo>
                  <a:lnTo>
                    <a:pt x="0" y="835342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485322" y="5155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485322" y="4225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218498" y="3930968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942398" y="38833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427922" y="4196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32922" y="4196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332922" y="52606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427922" y="52606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427922" y="4196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04875" y="37633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04875" y="55759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14375" y="4472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14375" y="39604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04875" y="4669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141595" y="4669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04875" y="4078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427922" y="4078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427922" y="54968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332922" y="54968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523422" y="4196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523422" y="52606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189922" y="3921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047172" y="3921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74094" y="4202906"/>
              <a:ext cx="61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73607" y="445531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633353" y="39438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46900" y="53620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745341" y="4377214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96298" y="37776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</p:grpSp>
      <p:grpSp>
        <p:nvGrpSpPr>
          <p:cNvPr id="69" name="c2-steps-1"/>
          <p:cNvGrpSpPr/>
          <p:nvPr/>
        </p:nvGrpSpPr>
        <p:grpSpPr>
          <a:xfrm>
            <a:off x="5598795" y="1533525"/>
            <a:ext cx="5787263" cy="1309212"/>
            <a:chOff x="5598795" y="1533525"/>
            <a:chExt cx="5787263" cy="1309212"/>
          </a:xfrm>
        </p:grpSpPr>
        <p:sp>
          <p:nvSpPr>
            <p:cNvPr id="60" name="Rectangle 60"/>
            <p:cNvSpPr/>
            <p:nvPr/>
          </p:nvSpPr>
          <p:spPr>
            <a:xfrm>
              <a:off x="5732145" y="1676400"/>
              <a:ext cx="19050" cy="7896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598795" y="23231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92419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03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求磁通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180" y="1833086"/>
              <a:ext cx="5373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借用例6.3 的积分，把 a 换成回路左边到导线的距离 x，sin 换成 cos；x = vt 随时间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1037" y="235553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t 求全导数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2180" y="2622709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ωt 和 x 都随时间变，dx/dt = v，d[ln((x + b)/x)]/dt = −bv/[x(x + b)]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formula87"/>
              <p:cNvSpPr txBox="1">
                <a:spLocks noGrp="1"/>
              </p:cNvSpPr>
              <p:nvPr/>
            </p:nvSpPr>
            <p:spPr>
              <a:xfrm>
                <a:off x="5598795" y="3007042"/>
                <a:ext cx="605980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formula88"/>
              <p:cNvSpPr txBox="1">
                <a:spLocks noGrp="1"/>
              </p:cNvSpPr>
              <p:nvPr/>
            </p:nvSpPr>
            <p:spPr>
              <a:xfrm>
                <a:off x="5598795" y="3639502"/>
                <a:ext cx="605980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</m:func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den>
                              </m:f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bv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</m:d>
                            </m:den>
                          </m:f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</m:func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76" name="c2-card-4"/>
          <p:cNvGrpSpPr/>
          <p:nvPr/>
        </p:nvGrpSpPr>
        <p:grpSpPr>
          <a:xfrm>
            <a:off x="5598795" y="4221480"/>
            <a:ext cx="6059805" cy="1443038"/>
            <a:chOff x="5598795" y="4221480"/>
            <a:chExt cx="6059805" cy="1443038"/>
          </a:xfrm>
        </p:grpSpPr>
        <p:sp>
          <p:nvSpPr>
            <p:cNvPr id="72" name="Rectangle 72"/>
            <p:cNvSpPr/>
            <p:nvPr/>
          </p:nvSpPr>
          <p:spPr>
            <a:xfrm>
              <a:off x="5598795" y="4221480"/>
              <a:ext cx="6059805" cy="1443038"/>
            </a:xfrm>
            <a:prstGeom prst="roundRect">
              <a:avLst>
                <a:gd name="adj" fmla="val 924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785485" y="4408170"/>
              <a:ext cx="80486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868133" y="4441031"/>
              <a:ext cx="6405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(1)(2)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778627" y="4752022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磁通如第一式，总电动势如第二式。方括号里第一项来自电流变化，是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感生电动势；第二项来自回路运动，是动生电动势，拆分与检验见下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7" name="Rectangle 7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892" y="6028373"/>
              <a:ext cx="758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回路运动而磁场又在变时，直接对 Φm(x(t), t) 求全导数，一次得到总电动势，不必分开算。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2981" cy="909257"/>
            <a:chOff x="520446" y="342900"/>
            <a:chExt cx="7142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感生电场与感生电动势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2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例6.5（二）拆成动生与感生两部分，再定方向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1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动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bv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d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92"/>
              <p:cNvSpPr txBox="1">
                <a:spLocks noGrp="1"/>
              </p:cNvSpPr>
              <p:nvPr/>
            </p:nvSpPr>
            <p:spPr>
              <a:xfrm>
                <a:off x="533400" y="2254568"/>
                <a:ext cx="541020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感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985135"/>
            <a:ext cx="5410200" cy="2207895"/>
            <a:chOff x="533400" y="2985135"/>
            <a:chExt cx="5410200" cy="2207895"/>
          </a:xfrm>
        </p:grpSpPr>
        <p:sp>
          <p:nvSpPr>
            <p:cNvPr id="9" name="Rectangle 9"/>
            <p:cNvSpPr/>
            <p:nvPr/>
          </p:nvSpPr>
          <p:spPr>
            <a:xfrm>
              <a:off x="533400" y="2985135"/>
              <a:ext cx="5410200" cy="2207895"/>
            </a:xfrm>
            <a:prstGeom prst="roundRect">
              <a:avLst>
                <a:gd name="adj" fmla="val 60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118485"/>
              <a:ext cx="47625" cy="19411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319468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7755" y="323040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检验：直接算动生部分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571875"/>
              <a:ext cx="4768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左、右两条竖边以 v 切割磁感线：ε左 = μ₀Ivl/(2πx)，ε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 = μ₀Ivl/[2π(x + b)]，两者在回路里方向相反，相减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 ε动。上下两条边的 v×B 与边垂直，不贡献。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248400" y="1533525"/>
            <a:ext cx="3602259" cy="1878615"/>
            <a:chOff x="6248400" y="1533525"/>
            <a:chExt cx="3602259" cy="1878615"/>
          </a:xfrm>
        </p:grpSpPr>
        <p:sp>
          <p:nvSpPr>
            <p:cNvPr id="15" name="Rectangle 15"/>
            <p:cNvSpPr/>
            <p:nvPr/>
          </p:nvSpPr>
          <p:spPr>
            <a:xfrm>
              <a:off x="6381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9880" y="1567815"/>
              <a:ext cx="1107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ωt = π/2 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023" y="186166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ωt = 0，ε动 = 0，只剩感生电动势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9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023" y="2512219"/>
              <a:ext cx="3189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ε感 = μ₀lI₀ω ln[(x + b)/x]/(2π) &gt;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5988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023" y="3162776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法线取纸面向里，ε &gt; 0 即顺时针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248400" y="3590925"/>
            <a:ext cx="5410200" cy="1602105"/>
            <a:chOff x="6248400" y="3590925"/>
            <a:chExt cx="5410200" cy="1602105"/>
          </a:xfrm>
        </p:grpSpPr>
        <p:sp>
          <p:nvSpPr>
            <p:cNvPr id="29" name="Rectangle 29"/>
            <p:cNvSpPr/>
            <p:nvPr/>
          </p:nvSpPr>
          <p:spPr>
            <a:xfrm>
              <a:off x="6248400" y="359092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57950" y="3800475"/>
              <a:ext cx="64293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4438" y="3836194"/>
              <a:ext cx="470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 (3)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0330" y="4177665"/>
              <a:ext cx="4777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顺时针方向。此时 I = 0 但正在减小，向里的磁通在减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少，感应电流要补充向里的磁场，用楞次定律判断同样是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顺时针。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4" name="Rectangle 3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4863" y="59489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28335"/>
              <a:ext cx="9835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数值检验：v = 1 m/s、ω = 100π rad/s、I₀ = 10 A、l = b = 0.1 m，ωt = π/2 时 x = 5 mm，直接求导与代公式都得 ε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1.91×10⁻⁴ V。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46605" cy="3351847"/>
            <a:chOff x="667512" y="1835468"/>
            <a:chExt cx="514660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涡流与趋肤效应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366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6.2.3，感应电流出现在大块导体的内部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涡流的产生与热效应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利用涡流与抑制涡流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趋肤效应的成因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电阻增大与表面淬火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涡流与趋肤效应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涡流：大块金属内部的涡旋状感应电流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274445"/>
            <a:chOff x="533400" y="1524000"/>
            <a:chExt cx="5951220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72688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4172" y="1763554"/>
              <a:ext cx="1630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涡流（Eddy Current）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放在变化磁场中的大块金属，或在不均匀磁场中运动的金属块，内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部会产生涡旋状的感应电流，称为涡电流，简称涡流。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2984182"/>
            <a:ext cx="5951220" cy="1274445"/>
            <a:chOff x="533400" y="2984182"/>
            <a:chExt cx="5951220" cy="1274445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951220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318801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0692" y="32237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涡流为什么强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3560921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大块金属电阻很小，不大的感应电动势就能驱动很大的电流，所以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涡流有很强的热效应和磁效应，有益也有害。</a:t>
              </a:r>
            </a:p>
          </p:txBody>
        </p:sp>
      </p:grpSp>
      <p:grpSp>
        <p:nvGrpSpPr>
          <p:cNvPr id="38" name="c1-compare-3"/>
          <p:cNvGrpSpPr/>
          <p:nvPr/>
        </p:nvGrpSpPr>
        <p:grpSpPr>
          <a:xfrm>
            <a:off x="533400" y="4444365"/>
            <a:ext cx="5951220" cy="1904048"/>
            <a:chOff x="533400" y="4444365"/>
            <a:chExt cx="5951220" cy="1904048"/>
          </a:xfrm>
        </p:grpSpPr>
        <p:sp>
          <p:nvSpPr>
            <p:cNvPr id="18" name="Rectangle 18"/>
            <p:cNvSpPr/>
            <p:nvPr/>
          </p:nvSpPr>
          <p:spPr>
            <a:xfrm>
              <a:off x="533400" y="4444365"/>
              <a:ext cx="2766060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577715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8096" y="46715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利用涡流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2955" y="507015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546" y="501062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感应炉熔炼金属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2955" y="539019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9546" y="533066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真空熔炼与提纯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2955" y="571023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9546" y="56507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电磁阻尼与电磁驱动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18560" y="4444365"/>
              <a:ext cx="2766060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28085" y="4577715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53256" y="46715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抑制涡流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968115" y="507015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24706" y="5010626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变压器、电机铁芯用硅钢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片叠成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968115" y="566166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124706" y="560212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片间绝缘切断涡流通路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968115" y="598170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124706" y="592216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减少发热、提高效率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347085" y="52339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417425" y="533114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6818948" y="1524000"/>
            <a:ext cx="4810125" cy="3922872"/>
            <a:chOff x="6818948" y="1524000"/>
            <a:chExt cx="4810125" cy="3922872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6" t="0" r="7" b="0"/>
            <a:stretch>
              <a:fillRect/>
            </a:stretch>
          </p:blipFill>
          <p:spPr>
            <a:xfrm>
              <a:off x="6818948" y="1524000"/>
              <a:ext cx="4810125" cy="3608070"/>
            </a:xfrm>
            <a:prstGeom prst="roundRect">
              <a:avLst>
                <a:gd name="adj" fmla="val 3695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7484389" y="522684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强磁铁在铜管里缓慢下落，同样大小的铝柱早已落地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789420" y="5606415"/>
            <a:ext cx="4869180" cy="756285"/>
            <a:chOff x="6789420" y="5606415"/>
            <a:chExt cx="4869180" cy="756285"/>
          </a:xfrm>
        </p:grpSpPr>
        <p:sp>
          <p:nvSpPr>
            <p:cNvPr id="42" name="Rectangle 42"/>
            <p:cNvSpPr/>
            <p:nvPr/>
          </p:nvSpPr>
          <p:spPr>
            <a:xfrm>
              <a:off x="6789420" y="5606415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994208" y="5884545"/>
              <a:ext cx="200026" cy="200025"/>
              <a:chOff x="6994208" y="588454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99420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03394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06866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296531" y="575357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铜不吸引磁铁。磁铁下落使管壁各处磁通变化，涡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流的磁场反抗这种变化，表现为向上的阻力。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涡流与趋肤效应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趋肤效应：交变电流挤向导体表面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68116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756" y="1743551"/>
              <a:ext cx="1578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趋肤效应（Skin Effect）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大块导体通有交变电流时，随着频率增加，电流密度在横截面上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不再均匀，电流向导体表面集中，轴线附近电流变小。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2879408"/>
            <a:ext cx="5410200" cy="1443038"/>
            <a:chOff x="533400" y="2879408"/>
            <a:chExt cx="5410200" cy="1443038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06609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7509" y="309895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成因还是涡流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410902"/>
              <a:ext cx="48486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交变电流 I 产生交变磁场 B，B 又在导体内激发涡流 i。在电流增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大的阶段，轴线附近 i 与 I 反向，表面附近 i 与 I 同向，叠加后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表面电流大于轴线电流。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4491990"/>
            <a:ext cx="5410200" cy="1185862"/>
            <a:chOff x="533400" y="4491990"/>
            <a:chExt cx="5410200" cy="1185862"/>
          </a:xfrm>
        </p:grpSpPr>
        <p:sp>
          <p:nvSpPr>
            <p:cNvPr id="18" name="Rectangle 18"/>
            <p:cNvSpPr/>
            <p:nvPr/>
          </p:nvSpPr>
          <p:spPr>
            <a:xfrm>
              <a:off x="533400" y="449199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62534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8190" y="46786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0862" y="47115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332" y="5023485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19 页小标题的英文写作 Eddy Current（涡流），趋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肤效应应为 Skin Effect。</a:t>
              </a:r>
            </a:p>
          </p:txBody>
        </p:sp>
      </p:grpSp>
      <p:grpSp>
        <p:nvGrpSpPr>
          <p:cNvPr id="25" name="c2-text-1"/>
          <p:cNvGrpSpPr/>
          <p:nvPr/>
        </p:nvGrpSpPr>
        <p:grpSpPr>
          <a:xfrm>
            <a:off x="6242685" y="1542574"/>
            <a:ext cx="5153406" cy="441008"/>
            <a:chOff x="6242685" y="1542574"/>
            <a:chExt cx="5153406" cy="441008"/>
          </a:xfrm>
        </p:grpSpPr>
        <p:sp>
          <p:nvSpPr>
            <p:cNvPr id="24" name="TextBox 24"/>
            <p:cNvSpPr txBox="1"/>
            <p:nvPr/>
          </p:nvSpPr>
          <p:spPr>
            <a:xfrm>
              <a:off x="6242685" y="1542574"/>
              <a:ext cx="515340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示意：导线同一横截面上电流密度 J 随位置 r 的分布（r 从一侧表面经轴线到另一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侧表面）。</a:t>
              </a:r>
            </a:p>
          </p:txBody>
        </p:sp>
      </p:grpSp>
      <p:grpSp>
        <p:nvGrpSpPr>
          <p:cNvPr id="53" name="c2-graph-2"/>
          <p:cNvGrpSpPr/>
          <p:nvPr/>
        </p:nvGrpSpPr>
        <p:grpSpPr>
          <a:xfrm>
            <a:off x="6563678" y="2269808"/>
            <a:ext cx="4918452" cy="3339464"/>
            <a:chOff x="6563678" y="2269808"/>
            <a:chExt cx="4918452" cy="3339464"/>
          </a:xfrm>
        </p:grpSpPr>
        <p:sp>
          <p:nvSpPr>
            <p:cNvPr id="26" name="Freeform 26"/>
            <p:cNvSpPr/>
            <p:nvPr/>
          </p:nvSpPr>
          <p:spPr>
            <a:xfrm>
              <a:off x="6592252" y="5206365"/>
              <a:ext cx="4685348" cy="9525"/>
            </a:xfrm>
            <a:custGeom>
              <a:avLst/>
              <a:gdLst/>
              <a:ahLst/>
              <a:cxnLst/>
              <a:rect l="l" t="t" r="r" b="b"/>
              <a:pathLst>
                <a:path w="4685348" h="9525">
                  <a:moveTo>
                    <a:pt x="0" y="0"/>
                  </a:moveTo>
                  <a:lnTo>
                    <a:pt x="468534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277600" y="5158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0" y="2512695"/>
              <a:ext cx="9525" cy="2674620"/>
            </a:xfrm>
            <a:custGeom>
              <a:avLst/>
              <a:gdLst/>
              <a:ahLst/>
              <a:cxnLst/>
              <a:rect l="l" t="t" r="r" b="b"/>
              <a:pathLst>
                <a:path w="9525" h="2674620">
                  <a:moveTo>
                    <a:pt x="0" y="267462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05875" y="2417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901815" y="2704148"/>
              <a:ext cx="4104322" cy="2476500"/>
            </a:xfrm>
            <a:custGeom>
              <a:avLst/>
              <a:gdLst/>
              <a:ahLst/>
              <a:cxnLst/>
              <a:rect l="l" t="t" r="r" b="b"/>
              <a:pathLst>
                <a:path w="4104322" h="2476500">
                  <a:moveTo>
                    <a:pt x="0" y="0"/>
                  </a:moveTo>
                  <a:lnTo>
                    <a:pt x="49530" y="251460"/>
                  </a:lnTo>
                  <a:lnTo>
                    <a:pt x="99060" y="493395"/>
                  </a:lnTo>
                  <a:lnTo>
                    <a:pt x="152400" y="708660"/>
                  </a:lnTo>
                  <a:lnTo>
                    <a:pt x="200978" y="903923"/>
                  </a:lnTo>
                  <a:lnTo>
                    <a:pt x="255270" y="1072515"/>
                  </a:lnTo>
                  <a:lnTo>
                    <a:pt x="303847" y="1227773"/>
                  </a:lnTo>
                  <a:lnTo>
                    <a:pt x="358140" y="1363980"/>
                  </a:lnTo>
                  <a:lnTo>
                    <a:pt x="406717" y="1486853"/>
                  </a:lnTo>
                  <a:lnTo>
                    <a:pt x="461010" y="1594485"/>
                  </a:lnTo>
                  <a:lnTo>
                    <a:pt x="509588" y="1691640"/>
                  </a:lnTo>
                  <a:lnTo>
                    <a:pt x="558165" y="1778318"/>
                  </a:lnTo>
                  <a:lnTo>
                    <a:pt x="612457" y="1857375"/>
                  </a:lnTo>
                  <a:lnTo>
                    <a:pt x="661035" y="1925955"/>
                  </a:lnTo>
                  <a:lnTo>
                    <a:pt x="715328" y="1986915"/>
                  </a:lnTo>
                  <a:lnTo>
                    <a:pt x="763905" y="2045018"/>
                  </a:lnTo>
                  <a:lnTo>
                    <a:pt x="818197" y="2091690"/>
                  </a:lnTo>
                  <a:lnTo>
                    <a:pt x="872490" y="2138362"/>
                  </a:lnTo>
                  <a:lnTo>
                    <a:pt x="921067" y="2174558"/>
                  </a:lnTo>
                  <a:lnTo>
                    <a:pt x="975360" y="2210752"/>
                  </a:lnTo>
                  <a:lnTo>
                    <a:pt x="1023938" y="2243138"/>
                  </a:lnTo>
                  <a:lnTo>
                    <a:pt x="1072515" y="2271712"/>
                  </a:lnTo>
                  <a:lnTo>
                    <a:pt x="1126807" y="2296478"/>
                  </a:lnTo>
                  <a:lnTo>
                    <a:pt x="1175385" y="2318385"/>
                  </a:lnTo>
                  <a:lnTo>
                    <a:pt x="1229678" y="2336483"/>
                  </a:lnTo>
                  <a:lnTo>
                    <a:pt x="1283017" y="2354580"/>
                  </a:lnTo>
                  <a:lnTo>
                    <a:pt x="1332547" y="2372678"/>
                  </a:lnTo>
                  <a:lnTo>
                    <a:pt x="1385888" y="2383155"/>
                  </a:lnTo>
                  <a:lnTo>
                    <a:pt x="1434465" y="2397443"/>
                  </a:lnTo>
                  <a:lnTo>
                    <a:pt x="1483995" y="2408872"/>
                  </a:lnTo>
                  <a:lnTo>
                    <a:pt x="1537335" y="2419350"/>
                  </a:lnTo>
                  <a:lnTo>
                    <a:pt x="1591628" y="2426970"/>
                  </a:lnTo>
                  <a:lnTo>
                    <a:pt x="1640205" y="2437448"/>
                  </a:lnTo>
                  <a:lnTo>
                    <a:pt x="1688782" y="2444115"/>
                  </a:lnTo>
                  <a:lnTo>
                    <a:pt x="1743075" y="2447925"/>
                  </a:lnTo>
                  <a:lnTo>
                    <a:pt x="1791653" y="2455545"/>
                  </a:lnTo>
                  <a:lnTo>
                    <a:pt x="1845945" y="2459355"/>
                  </a:lnTo>
                  <a:lnTo>
                    <a:pt x="1894522" y="2466022"/>
                  </a:lnTo>
                  <a:lnTo>
                    <a:pt x="1948815" y="2469833"/>
                  </a:lnTo>
                  <a:lnTo>
                    <a:pt x="1997392" y="2473643"/>
                  </a:lnTo>
                  <a:lnTo>
                    <a:pt x="2051685" y="2476500"/>
                  </a:lnTo>
                  <a:lnTo>
                    <a:pt x="2100262" y="2473643"/>
                  </a:lnTo>
                  <a:lnTo>
                    <a:pt x="2154555" y="2469833"/>
                  </a:lnTo>
                  <a:lnTo>
                    <a:pt x="2208848" y="2466022"/>
                  </a:lnTo>
                  <a:lnTo>
                    <a:pt x="2257425" y="2459355"/>
                  </a:lnTo>
                  <a:lnTo>
                    <a:pt x="2311717" y="2455545"/>
                  </a:lnTo>
                  <a:lnTo>
                    <a:pt x="2360295" y="2447925"/>
                  </a:lnTo>
                  <a:lnTo>
                    <a:pt x="2414588" y="2444115"/>
                  </a:lnTo>
                  <a:lnTo>
                    <a:pt x="2463165" y="2437448"/>
                  </a:lnTo>
                  <a:lnTo>
                    <a:pt x="2516505" y="2426970"/>
                  </a:lnTo>
                  <a:lnTo>
                    <a:pt x="2566035" y="2419350"/>
                  </a:lnTo>
                  <a:lnTo>
                    <a:pt x="2614612" y="2408872"/>
                  </a:lnTo>
                  <a:lnTo>
                    <a:pt x="2668905" y="2397443"/>
                  </a:lnTo>
                  <a:lnTo>
                    <a:pt x="2717482" y="2383155"/>
                  </a:lnTo>
                  <a:lnTo>
                    <a:pt x="2770822" y="2372678"/>
                  </a:lnTo>
                  <a:lnTo>
                    <a:pt x="2820352" y="2354580"/>
                  </a:lnTo>
                  <a:lnTo>
                    <a:pt x="2873692" y="2336483"/>
                  </a:lnTo>
                  <a:lnTo>
                    <a:pt x="2927985" y="2318385"/>
                  </a:lnTo>
                  <a:lnTo>
                    <a:pt x="2976562" y="2296478"/>
                  </a:lnTo>
                  <a:lnTo>
                    <a:pt x="3030855" y="2271712"/>
                  </a:lnTo>
                  <a:lnTo>
                    <a:pt x="3079433" y="2243138"/>
                  </a:lnTo>
                  <a:lnTo>
                    <a:pt x="3128010" y="2210752"/>
                  </a:lnTo>
                  <a:lnTo>
                    <a:pt x="3182302" y="2174558"/>
                  </a:lnTo>
                  <a:lnTo>
                    <a:pt x="3230880" y="2138362"/>
                  </a:lnTo>
                  <a:lnTo>
                    <a:pt x="3285172" y="2091690"/>
                  </a:lnTo>
                  <a:lnTo>
                    <a:pt x="3339465" y="2045018"/>
                  </a:lnTo>
                  <a:lnTo>
                    <a:pt x="3388042" y="1986915"/>
                  </a:lnTo>
                  <a:lnTo>
                    <a:pt x="3442335" y="1925955"/>
                  </a:lnTo>
                  <a:lnTo>
                    <a:pt x="3490912" y="1857375"/>
                  </a:lnTo>
                  <a:lnTo>
                    <a:pt x="3545205" y="1778318"/>
                  </a:lnTo>
                  <a:lnTo>
                    <a:pt x="3593783" y="1691640"/>
                  </a:lnTo>
                  <a:lnTo>
                    <a:pt x="3642360" y="1594485"/>
                  </a:lnTo>
                  <a:lnTo>
                    <a:pt x="3696652" y="1486853"/>
                  </a:lnTo>
                  <a:lnTo>
                    <a:pt x="3745230" y="1363980"/>
                  </a:lnTo>
                  <a:lnTo>
                    <a:pt x="3799522" y="1227773"/>
                  </a:lnTo>
                  <a:lnTo>
                    <a:pt x="3848100" y="1072515"/>
                  </a:lnTo>
                  <a:lnTo>
                    <a:pt x="3902392" y="903923"/>
                  </a:lnTo>
                  <a:lnTo>
                    <a:pt x="3955733" y="708660"/>
                  </a:lnTo>
                  <a:lnTo>
                    <a:pt x="4004310" y="493395"/>
                  </a:lnTo>
                  <a:lnTo>
                    <a:pt x="4058602" y="251460"/>
                  </a:lnTo>
                  <a:lnTo>
                    <a:pt x="4104322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17055" y="4450080"/>
              <a:ext cx="4072890" cy="9525"/>
            </a:xfrm>
            <a:custGeom>
              <a:avLst/>
              <a:gdLst/>
              <a:ahLst/>
              <a:cxnLst/>
              <a:rect l="l" t="t" r="r" b="b"/>
              <a:pathLst>
                <a:path w="4072890" h="9525">
                  <a:moveTo>
                    <a:pt x="0" y="0"/>
                  </a:moveTo>
                  <a:lnTo>
                    <a:pt x="407289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  <a:custDash>
                <a:ds d="272727" sp="181818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6898005" y="2632710"/>
              <a:ext cx="9525" cy="2554605"/>
            </a:xfrm>
            <a:custGeom>
              <a:avLst/>
              <a:gdLst/>
              <a:ahLst/>
              <a:cxnLst/>
              <a:rect l="l" t="t" r="r" b="b"/>
              <a:pathLst>
                <a:path w="9525" h="2554605">
                  <a:moveTo>
                    <a:pt x="0" y="25546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11008995" y="2632710"/>
              <a:ext cx="9525" cy="2554605"/>
            </a:xfrm>
            <a:custGeom>
              <a:avLst/>
              <a:gdLst/>
              <a:ahLst/>
              <a:cxnLst/>
              <a:rect l="l" t="t" r="r" b="b"/>
              <a:pathLst>
                <a:path w="9525" h="2554605">
                  <a:moveTo>
                    <a:pt x="0" y="25546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4" name="Ellipse 34"/>
            <p:cNvSpPr/>
            <p:nvPr/>
          </p:nvSpPr>
          <p:spPr>
            <a:xfrm>
              <a:off x="6563678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943975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888480" y="26765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0999470" y="26765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888480" y="4440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999470" y="4440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88480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888480" y="26041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999470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999470" y="26041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402636" y="515016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11773" y="226980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22834" y="543306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69028" y="5433060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60371" y="5433060"/>
              <a:ext cx="386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 轴线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56944" y="353806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高频交流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70720" y="413670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直流：均匀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2594" y="244506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12564" y="244506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表面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直流没有趋肤效应，整个截面均匀导电；交流频率越高，有效导电的表层越薄。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涡流与趋肤效应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趋肤效应的后果与应用：电阻增大，表面淬火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002982"/>
            <a:chOff x="533400" y="1524000"/>
            <a:chExt cx="5951220" cy="10029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002982"/>
            </a:xfrm>
            <a:prstGeom prst="roundRect">
              <a:avLst>
                <a:gd name="adj" fmla="val 13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362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导线通过交变电流的有效截面减小，电阻增大，高频时尤其明显。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2712720"/>
            <a:ext cx="5951220" cy="1594485"/>
            <a:chOff x="533400" y="2712720"/>
            <a:chExt cx="5951220" cy="1594485"/>
          </a:xfrm>
        </p:grpSpPr>
        <p:sp>
          <p:nvSpPr>
            <p:cNvPr id="13" name="Rectangle 13"/>
            <p:cNvSpPr/>
            <p:nvPr/>
          </p:nvSpPr>
          <p:spPr>
            <a:xfrm>
              <a:off x="533400" y="2712720"/>
              <a:ext cx="595122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84607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29165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792" y="29522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两种改善办法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327755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3169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28945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用相互绝缘的细导线束代替总截面相等的实心导线，实际上是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抑制涡流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386905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39084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388096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在导线表面镀银，降低表面这一薄层的电阻率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492942"/>
            <a:ext cx="5951220" cy="1545908"/>
            <a:chOff x="533400" y="4492942"/>
            <a:chExt cx="5951220" cy="1545908"/>
          </a:xfrm>
        </p:grpSpPr>
        <p:sp>
          <p:nvSpPr>
            <p:cNvPr id="24" name="Rectangle 24"/>
            <p:cNvSpPr/>
            <p:nvPr/>
          </p:nvSpPr>
          <p:spPr>
            <a:xfrm>
              <a:off x="533400" y="4492942"/>
              <a:ext cx="5951220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7235" y="469677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6742" y="4732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应用：表面淬火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9996" y="5069681"/>
              <a:ext cx="52443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让高频强电流通过导体，或把导体放在高频交变电磁场中，表面温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度迅速升到淬火温度，随即快速冷却，表面硬度增大。内部温度远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低于淬火温度，冷却后仍保持韧性。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789420" y="1524000"/>
            <a:ext cx="4869180" cy="3966687"/>
            <a:chOff x="6789420" y="1524000"/>
            <a:chExt cx="4869180" cy="3966687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6789420" y="1524000"/>
              <a:ext cx="4869180" cy="3651885"/>
            </a:xfrm>
            <a:prstGeom prst="roundRect">
              <a:avLst>
                <a:gd name="adj" fmla="val 3651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484389" y="527065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高频感应线圈中的齿轮，只有齿面一层被加热到发红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8900" cy="3675697"/>
            <a:chOff x="667512" y="1835468"/>
            <a:chExt cx="643890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自感与磁场能量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2899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6.3、6.4，线圈的电流变化会在自身激起电动势，线圈也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因此储存能量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自感系数与自感电动势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例6.6 螺线管、例6.7 同轴电缆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303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自感磁能 ½LI²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9638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磁场能量密度与例6.8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09509" cy="909257"/>
            <a:chOff x="520446" y="342900"/>
            <a:chExt cx="49095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095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自感：Φm = LI，εL = −L dI/dt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66850"/>
            <a:chOff x="533400" y="1524000"/>
            <a:chExt cx="5410200" cy="1466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自感现象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线圈中电流变化，它自己产生的磁通随之变化，在线圈自身中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激起感应电动势。这种现象叫自感，相应的电动势叫自感电动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势。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07"/>
              <p:cNvSpPr txBox="1">
                <a:spLocks noGrp="1"/>
              </p:cNvSpPr>
              <p:nvPr/>
            </p:nvSpPr>
            <p:spPr>
              <a:xfrm>
                <a:off x="533400" y="316611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LI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rd-3"/>
          <p:cNvGrpSpPr/>
          <p:nvPr/>
        </p:nvGrpSpPr>
        <p:grpSpPr>
          <a:xfrm>
            <a:off x="533400" y="3797618"/>
            <a:ext cx="5410200" cy="2389822"/>
            <a:chOff x="533400" y="3797618"/>
            <a:chExt cx="5410200" cy="2389822"/>
          </a:xfrm>
        </p:grpSpPr>
        <p:sp>
          <p:nvSpPr>
            <p:cNvPr id="14" name="Rectangle 14"/>
            <p:cNvSpPr/>
            <p:nvPr/>
          </p:nvSpPr>
          <p:spPr>
            <a:xfrm>
              <a:off x="533400" y="3797618"/>
              <a:ext cx="5410200" cy="2389822"/>
            </a:xfrm>
            <a:prstGeom prst="roundRect">
              <a:avLst>
                <a:gd name="adj" fmla="val 558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5805" y="3990022"/>
              <a:ext cx="86201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1651" y="4024312"/>
              <a:ext cx="709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自感系数 L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4378" y="440340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397" y="4347210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由毕–萨定律 B ∝ I，所以 Φm ∝ I，比例系数 L 叫自感系数，单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位亨利（H）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34378" y="49625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397" y="4906328"/>
              <a:ext cx="46171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只由线圈的形状、大小、匝数和周围磁介质决定；没有铁磁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质时与电流大小无关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34378" y="552259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397" y="5466398"/>
              <a:ext cx="27342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匝密绕线圈用磁链：Ψ = NΦ = LI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108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6" name="c2-text-2"/>
          <p:cNvGrpSpPr/>
          <p:nvPr/>
        </p:nvGrpSpPr>
        <p:grpSpPr>
          <a:xfrm>
            <a:off x="6241542" y="2209800"/>
            <a:ext cx="4160449" cy="264033"/>
            <a:chOff x="6241542" y="2209800"/>
            <a:chExt cx="4160449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6241542" y="2209800"/>
              <a:ext cx="4160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回路形状和磁导率不随时间变化时 dL/dt = 0，于是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09"/>
              <p:cNvSpPr txBox="1">
                <a:spLocks noGrp="1"/>
              </p:cNvSpPr>
              <p:nvPr/>
            </p:nvSpPr>
            <p:spPr>
              <a:xfrm>
                <a:off x="6248400" y="2595562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dI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rd-4"/>
          <p:cNvGrpSpPr/>
          <p:nvPr/>
        </p:nvGrpSpPr>
        <p:grpSpPr>
          <a:xfrm>
            <a:off x="6248400" y="3336608"/>
            <a:ext cx="5410200" cy="1466850"/>
            <a:chOff x="6248400" y="3336608"/>
            <a:chExt cx="5410200" cy="1466850"/>
          </a:xfrm>
        </p:grpSpPr>
        <p:sp>
          <p:nvSpPr>
            <p:cNvPr id="28" name="Rectangle 28"/>
            <p:cNvSpPr/>
            <p:nvPr/>
          </p:nvSpPr>
          <p:spPr>
            <a:xfrm>
              <a:off x="6248400" y="3336608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46995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352901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344" y="35633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负号的含义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3886200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εL 总是反抗电流的变化：电流增大时与电流反向，电流减小时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与电流同向。自感使回路有保持原有电流不变的倾向，L 是回路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「电磁惯性」的量度。</a:t>
              </a:r>
            </a:p>
          </p:txBody>
        </p:sp>
      </p:grpSp>
      <p:grpSp>
        <p:nvGrpSpPr>
          <p:cNvPr id="39" name="c2-card-5"/>
          <p:cNvGrpSpPr/>
          <p:nvPr/>
        </p:nvGrpSpPr>
        <p:grpSpPr>
          <a:xfrm>
            <a:off x="6248400" y="4978718"/>
            <a:ext cx="5410200" cy="1209675"/>
            <a:chOff x="6248400" y="4978718"/>
            <a:chExt cx="5410200" cy="1209675"/>
          </a:xfrm>
        </p:grpSpPr>
        <p:sp>
          <p:nvSpPr>
            <p:cNvPr id="34" name="Rectangle 34"/>
            <p:cNvSpPr/>
            <p:nvPr/>
          </p:nvSpPr>
          <p:spPr>
            <a:xfrm>
              <a:off x="6248400" y="4978718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511206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8905" y="5171122"/>
              <a:ext cx="15287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8319" y="5205412"/>
              <a:ext cx="14089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小例（作业填空题 9）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2047" y="5527358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0.05 mH，I = 0.8 A，切断后 0.8 μs 内降为零：平均 εL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LΔI/Δt = 5×10⁻⁵ × 0.8 / (8×10⁻⁷) = 50 V。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77264" cy="909257"/>
            <a:chOff x="520446" y="342900"/>
            <a:chExt cx="45772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77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例6.6 长直螺线管：L = μn²V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428750"/>
            <a:chOff x="533400" y="1524000"/>
            <a:chExt cx="4760595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长直螺线管长 l、截面积 S，共密绕 N 匝，管内充满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磁导率 μ 的磁介质。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1253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自感系数 L。</a:t>
              </a:r>
            </a:p>
          </p:txBody>
        </p:sp>
      </p:grpSp>
      <p:grpSp>
        <p:nvGrpSpPr>
          <p:cNvPr id="63" name="c1-graph-2"/>
          <p:cNvGrpSpPr/>
          <p:nvPr/>
        </p:nvGrpSpPr>
        <p:grpSpPr>
          <a:xfrm>
            <a:off x="714375" y="3239452"/>
            <a:ext cx="4475988" cy="1893570"/>
            <a:chOff x="714375" y="3239452"/>
            <a:chExt cx="4475988" cy="1893570"/>
          </a:xfrm>
        </p:grpSpPr>
        <p:sp>
          <p:nvSpPr>
            <p:cNvPr id="14" name="Freeform 14"/>
            <p:cNvSpPr/>
            <p:nvPr/>
          </p:nvSpPr>
          <p:spPr>
            <a:xfrm>
              <a:off x="981075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76350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71625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66900" y="3468052"/>
              <a:ext cx="246698" cy="1311592"/>
            </a:xfrm>
            <a:custGeom>
              <a:avLst/>
              <a:gdLst/>
              <a:ahLst/>
              <a:cxnLst/>
              <a:rect l="l" t="t" r="r" b="b"/>
              <a:pathLst>
                <a:path w="246698" h="1311592">
                  <a:moveTo>
                    <a:pt x="246698" y="636270"/>
                  </a:moveTo>
                  <a:lnTo>
                    <a:pt x="241935" y="508635"/>
                  </a:lnTo>
                  <a:lnTo>
                    <a:pt x="232410" y="371475"/>
                  </a:lnTo>
                  <a:lnTo>
                    <a:pt x="218123" y="246697"/>
                  </a:lnTo>
                  <a:lnTo>
                    <a:pt x="199073" y="141922"/>
                  </a:lnTo>
                  <a:lnTo>
                    <a:pt x="175260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5260" y="1245870"/>
                  </a:lnTo>
                  <a:lnTo>
                    <a:pt x="199073" y="1168718"/>
                  </a:lnTo>
                  <a:lnTo>
                    <a:pt x="218123" y="1063942"/>
                  </a:lnTo>
                  <a:lnTo>
                    <a:pt x="232410" y="939165"/>
                  </a:lnTo>
                  <a:lnTo>
                    <a:pt x="241935" y="802005"/>
                  </a:lnTo>
                  <a:lnTo>
                    <a:pt x="246698" y="655320"/>
                  </a:lnTo>
                  <a:lnTo>
                    <a:pt x="241935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161222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7650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5267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56498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7650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5268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51772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7650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5268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047048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342322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637598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932872" y="3468052"/>
              <a:ext cx="247650" cy="1311592"/>
            </a:xfrm>
            <a:custGeom>
              <a:avLst/>
              <a:gdLst/>
              <a:ahLst/>
              <a:cxnLst/>
              <a:rect l="l" t="t" r="r" b="b"/>
              <a:pathLst>
                <a:path w="247650" h="1311592">
                  <a:moveTo>
                    <a:pt x="246698" y="636270"/>
                  </a:moveTo>
                  <a:lnTo>
                    <a:pt x="242888" y="508635"/>
                  </a:lnTo>
                  <a:lnTo>
                    <a:pt x="233362" y="371475"/>
                  </a:lnTo>
                  <a:lnTo>
                    <a:pt x="219075" y="246697"/>
                  </a:lnTo>
                  <a:lnTo>
                    <a:pt x="200025" y="141922"/>
                  </a:lnTo>
                  <a:lnTo>
                    <a:pt x="176212" y="64770"/>
                  </a:lnTo>
                  <a:lnTo>
                    <a:pt x="152400" y="17145"/>
                  </a:lnTo>
                  <a:lnTo>
                    <a:pt x="123825" y="0"/>
                  </a:lnTo>
                  <a:lnTo>
                    <a:pt x="95250" y="17145"/>
                  </a:lnTo>
                  <a:lnTo>
                    <a:pt x="71438" y="64770"/>
                  </a:lnTo>
                  <a:lnTo>
                    <a:pt x="47625" y="141922"/>
                  </a:lnTo>
                  <a:lnTo>
                    <a:pt x="28575" y="246697"/>
                  </a:lnTo>
                  <a:lnTo>
                    <a:pt x="14288" y="371475"/>
                  </a:lnTo>
                  <a:lnTo>
                    <a:pt x="4762" y="508635"/>
                  </a:lnTo>
                  <a:lnTo>
                    <a:pt x="0" y="655320"/>
                  </a:lnTo>
                  <a:lnTo>
                    <a:pt x="4762" y="802005"/>
                  </a:lnTo>
                  <a:lnTo>
                    <a:pt x="14288" y="939165"/>
                  </a:lnTo>
                  <a:lnTo>
                    <a:pt x="28575" y="1063942"/>
                  </a:lnTo>
                  <a:lnTo>
                    <a:pt x="47625" y="1168718"/>
                  </a:lnTo>
                  <a:lnTo>
                    <a:pt x="71438" y="1245870"/>
                  </a:lnTo>
                  <a:lnTo>
                    <a:pt x="95250" y="1293495"/>
                  </a:lnTo>
                  <a:lnTo>
                    <a:pt x="123825" y="1311592"/>
                  </a:lnTo>
                  <a:lnTo>
                    <a:pt x="152400" y="1293495"/>
                  </a:lnTo>
                  <a:lnTo>
                    <a:pt x="176212" y="1245870"/>
                  </a:lnTo>
                  <a:lnTo>
                    <a:pt x="200025" y="1168718"/>
                  </a:lnTo>
                  <a:lnTo>
                    <a:pt x="219075" y="1063942"/>
                  </a:lnTo>
                  <a:lnTo>
                    <a:pt x="233362" y="939165"/>
                  </a:lnTo>
                  <a:lnTo>
                    <a:pt x="242888" y="802005"/>
                  </a:lnTo>
                  <a:lnTo>
                    <a:pt x="247650" y="655320"/>
                  </a:lnTo>
                  <a:lnTo>
                    <a:pt x="242888" y="508635"/>
                  </a:lnTo>
                  <a:lnTo>
                    <a:pt x="234315" y="39052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42950" y="4123372"/>
              <a:ext cx="4341495" cy="9525"/>
            </a:xfrm>
            <a:custGeom>
              <a:avLst/>
              <a:gdLst/>
              <a:ahLst/>
              <a:cxnLst/>
              <a:rect l="l" t="t" r="r" b="b"/>
              <a:pathLst>
                <a:path w="4341495" h="9525">
                  <a:moveTo>
                    <a:pt x="0" y="0"/>
                  </a:moveTo>
                  <a:lnTo>
                    <a:pt x="434149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1219200" y="5085398"/>
              <a:ext cx="2723198" cy="9525"/>
            </a:xfrm>
            <a:custGeom>
              <a:avLst/>
              <a:gdLst/>
              <a:ahLst/>
              <a:cxnLst/>
              <a:rect l="l" t="t" r="r" b="b"/>
              <a:pathLst>
                <a:path w="2723198" h="9525">
                  <a:moveTo>
                    <a:pt x="0" y="0"/>
                  </a:moveTo>
                  <a:lnTo>
                    <a:pt x="2723198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942398" y="5037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23950" y="50377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170748" y="4123372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24765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085148" y="40757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219200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4912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514475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500188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809750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795462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10407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089785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399348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85060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69462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680335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989898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975610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28517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270885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580448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566160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87572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861435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170998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156710" y="3830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14375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5093970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95375" y="50758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047172" y="50758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14217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89922" y="4113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554591" y="4892516"/>
              <a:ext cx="51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37494" y="3843814"/>
              <a:ext cx="4514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 = μnI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3947" y="34932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47032" y="3239452"/>
              <a:ext cx="7433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匝，n = N/l</a:t>
              </a:r>
            </a:p>
          </p:txBody>
        </p:sp>
      </p:grpSp>
      <p:grpSp>
        <p:nvGrpSpPr>
          <p:cNvPr id="81" name="c2-steps-1"/>
          <p:cNvGrpSpPr/>
          <p:nvPr/>
        </p:nvGrpSpPr>
        <p:grpSpPr>
          <a:xfrm>
            <a:off x="5598795" y="1533525"/>
            <a:ext cx="2741790" cy="2149412"/>
            <a:chOff x="5598795" y="1533525"/>
            <a:chExt cx="2741790" cy="2149412"/>
          </a:xfrm>
        </p:grpSpPr>
        <p:sp>
          <p:nvSpPr>
            <p:cNvPr id="64" name="Rectangle 64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11418" y="1564481"/>
              <a:ext cx="1151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设电流 I，求 B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12561" y="1818322"/>
              <a:ext cx="2328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长直螺线管内部 B = μNI/l，近似匀强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11418" y="21169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一匝的磁通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012561" y="2371725"/>
              <a:ext cx="1086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Φ₁ = BS = μNIS/l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01141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012561" y="2925128"/>
              <a:ext cx="11673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Ψ = NΦ₁ = μN²IS/l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11418" y="3222784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I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12561" y="3477578"/>
              <a:ext cx="2103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Ψ/I，I 被约掉，L 与电流无关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formula116"/>
              <p:cNvSpPr txBox="1">
                <a:spLocks noGrp="1"/>
              </p:cNvSpPr>
              <p:nvPr/>
            </p:nvSpPr>
            <p:spPr>
              <a:xfrm>
                <a:off x="5598795" y="3844290"/>
                <a:ext cx="605980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87" name="c2-card-3"/>
          <p:cNvGrpSpPr/>
          <p:nvPr/>
        </p:nvGrpSpPr>
        <p:grpSpPr>
          <a:xfrm>
            <a:off x="5598795" y="4523422"/>
            <a:ext cx="6059805" cy="901065"/>
            <a:chOff x="5598795" y="4523422"/>
            <a:chExt cx="6059805" cy="901065"/>
          </a:xfrm>
        </p:grpSpPr>
        <p:sp>
          <p:nvSpPr>
            <p:cNvPr id="83" name="Rectangle 83"/>
            <p:cNvSpPr/>
            <p:nvPr/>
          </p:nvSpPr>
          <p:spPr>
            <a:xfrm>
              <a:off x="5598795" y="4523422"/>
              <a:ext cx="605980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5779770" y="470439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876493" y="47372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773293" y="5044916"/>
              <a:ext cx="5709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= μN²S/l = μn²V，其中 n = N/l 是单位长度匝数，V = lS 是螺线管体积。</a:t>
              </a:r>
            </a:p>
          </p:txBody>
        </p:sp>
      </p:grpSp>
      <p:grpSp>
        <p:nvGrpSpPr>
          <p:cNvPr id="9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88" name="Rectangle 88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04863" y="59890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1273" y="5805011"/>
              <a:ext cx="9888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数值：N = 1000、l = 0.5 m、S = 10 cm²、μ = μ₀，L = 2.51×10⁻³ H；换成相对磁导率 1000 的铁芯，L 增大 1000 倍，所以电感器常加铁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芯。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6463" cy="909257"/>
            <a:chOff x="520446" y="342900"/>
            <a:chExt cx="80064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64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例6.7 同轴电缆：单位长度自感 (μ/2π) ln(R₂/R₁)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1013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同轴电缆由半径 R₁、R₂ 的两个导体薄圆筒组成，其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间充满磁导率 μ 的磁介质；内、外筒沿轴向流过等大反向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的电流 I，电缆长 l。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816066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单位长度的自感系数。</a:t>
              </a:r>
            </a:p>
          </p:txBody>
        </p:sp>
      </p:grpSp>
      <p:grpSp>
        <p:nvGrpSpPr>
          <p:cNvPr id="51" name="c1-graph-2"/>
          <p:cNvGrpSpPr/>
          <p:nvPr/>
        </p:nvGrpSpPr>
        <p:grpSpPr>
          <a:xfrm>
            <a:off x="1257300" y="3482340"/>
            <a:ext cx="3669784" cy="1783080"/>
            <a:chOff x="1257300" y="3482340"/>
            <a:chExt cx="3669784" cy="1783080"/>
          </a:xfrm>
        </p:grpSpPr>
        <p:sp>
          <p:nvSpPr>
            <p:cNvPr id="14" name="Freeform 14"/>
            <p:cNvSpPr/>
            <p:nvPr/>
          </p:nvSpPr>
          <p:spPr>
            <a:xfrm>
              <a:off x="1828800" y="4050030"/>
              <a:ext cx="646747" cy="648653"/>
            </a:xfrm>
            <a:custGeom>
              <a:avLst/>
              <a:gdLst/>
              <a:ahLst/>
              <a:cxnLst/>
              <a:rect l="l" t="t" r="r" b="b"/>
              <a:pathLst>
                <a:path w="646747" h="648653">
                  <a:moveTo>
                    <a:pt x="646747" y="304800"/>
                  </a:moveTo>
                  <a:lnTo>
                    <a:pt x="646747" y="287655"/>
                  </a:lnTo>
                  <a:lnTo>
                    <a:pt x="637222" y="251460"/>
                  </a:lnTo>
                  <a:lnTo>
                    <a:pt x="627697" y="216217"/>
                  </a:lnTo>
                  <a:lnTo>
                    <a:pt x="613410" y="183833"/>
                  </a:lnTo>
                  <a:lnTo>
                    <a:pt x="599122" y="151448"/>
                  </a:lnTo>
                  <a:lnTo>
                    <a:pt x="575310" y="120967"/>
                  </a:lnTo>
                  <a:lnTo>
                    <a:pt x="551498" y="95250"/>
                  </a:lnTo>
                  <a:lnTo>
                    <a:pt x="527685" y="70485"/>
                  </a:lnTo>
                  <a:lnTo>
                    <a:pt x="494348" y="50483"/>
                  </a:lnTo>
                  <a:lnTo>
                    <a:pt x="465773" y="32385"/>
                  </a:lnTo>
                  <a:lnTo>
                    <a:pt x="432435" y="18098"/>
                  </a:lnTo>
                  <a:lnTo>
                    <a:pt x="394335" y="7620"/>
                  </a:lnTo>
                  <a:lnTo>
                    <a:pt x="360998" y="1905"/>
                  </a:lnTo>
                  <a:lnTo>
                    <a:pt x="322898" y="0"/>
                  </a:lnTo>
                  <a:lnTo>
                    <a:pt x="284798" y="1905"/>
                  </a:lnTo>
                  <a:lnTo>
                    <a:pt x="251460" y="7620"/>
                  </a:lnTo>
                  <a:lnTo>
                    <a:pt x="213360" y="18098"/>
                  </a:lnTo>
                  <a:lnTo>
                    <a:pt x="180975" y="32385"/>
                  </a:lnTo>
                  <a:lnTo>
                    <a:pt x="152400" y="50483"/>
                  </a:lnTo>
                  <a:lnTo>
                    <a:pt x="119062" y="70485"/>
                  </a:lnTo>
                  <a:lnTo>
                    <a:pt x="95250" y="95250"/>
                  </a:lnTo>
                  <a:lnTo>
                    <a:pt x="71438" y="120967"/>
                  </a:lnTo>
                  <a:lnTo>
                    <a:pt x="47625" y="151448"/>
                  </a:lnTo>
                  <a:lnTo>
                    <a:pt x="33338" y="183833"/>
                  </a:lnTo>
                  <a:lnTo>
                    <a:pt x="19050" y="216217"/>
                  </a:lnTo>
                  <a:lnTo>
                    <a:pt x="9525" y="251460"/>
                  </a:lnTo>
                  <a:lnTo>
                    <a:pt x="0" y="287655"/>
                  </a:lnTo>
                  <a:lnTo>
                    <a:pt x="0" y="323850"/>
                  </a:lnTo>
                  <a:lnTo>
                    <a:pt x="0" y="360045"/>
                  </a:lnTo>
                  <a:lnTo>
                    <a:pt x="9525" y="397192"/>
                  </a:lnTo>
                  <a:lnTo>
                    <a:pt x="19050" y="431483"/>
                  </a:lnTo>
                  <a:lnTo>
                    <a:pt x="33338" y="463867"/>
                  </a:lnTo>
                  <a:lnTo>
                    <a:pt x="47625" y="496253"/>
                  </a:lnTo>
                  <a:lnTo>
                    <a:pt x="71438" y="526733"/>
                  </a:lnTo>
                  <a:lnTo>
                    <a:pt x="95250" y="553403"/>
                  </a:lnTo>
                  <a:lnTo>
                    <a:pt x="119062" y="577215"/>
                  </a:lnTo>
                  <a:lnTo>
                    <a:pt x="152400" y="597217"/>
                  </a:lnTo>
                  <a:lnTo>
                    <a:pt x="180975" y="616267"/>
                  </a:lnTo>
                  <a:lnTo>
                    <a:pt x="213360" y="629603"/>
                  </a:lnTo>
                  <a:lnTo>
                    <a:pt x="251460" y="640080"/>
                  </a:lnTo>
                  <a:lnTo>
                    <a:pt x="284798" y="645795"/>
                  </a:lnTo>
                  <a:lnTo>
                    <a:pt x="322898" y="648653"/>
                  </a:lnTo>
                  <a:lnTo>
                    <a:pt x="360998" y="645795"/>
                  </a:lnTo>
                  <a:lnTo>
                    <a:pt x="394335" y="640080"/>
                  </a:lnTo>
                  <a:lnTo>
                    <a:pt x="432435" y="629603"/>
                  </a:lnTo>
                  <a:lnTo>
                    <a:pt x="465773" y="616267"/>
                  </a:lnTo>
                  <a:lnTo>
                    <a:pt x="494348" y="597217"/>
                  </a:lnTo>
                  <a:lnTo>
                    <a:pt x="527685" y="577215"/>
                  </a:lnTo>
                  <a:lnTo>
                    <a:pt x="551498" y="553403"/>
                  </a:lnTo>
                  <a:lnTo>
                    <a:pt x="575310" y="526733"/>
                  </a:lnTo>
                  <a:lnTo>
                    <a:pt x="599122" y="496253"/>
                  </a:lnTo>
                  <a:lnTo>
                    <a:pt x="613410" y="463867"/>
                  </a:lnTo>
                  <a:lnTo>
                    <a:pt x="627697" y="431483"/>
                  </a:lnTo>
                  <a:lnTo>
                    <a:pt x="637222" y="397192"/>
                  </a:lnTo>
                  <a:lnTo>
                    <a:pt x="646747" y="360045"/>
                  </a:lnTo>
                  <a:lnTo>
                    <a:pt x="646747" y="323850"/>
                  </a:lnTo>
                  <a:lnTo>
                    <a:pt x="646747" y="287655"/>
                  </a:lnTo>
                  <a:lnTo>
                    <a:pt x="641985" y="269558"/>
                  </a:lnTo>
                </a:path>
              </a:pathLst>
            </a:custGeom>
            <a:noFill/>
            <a:ln w="33338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57300" y="3482340"/>
              <a:ext cx="1789747" cy="1783080"/>
            </a:xfrm>
            <a:custGeom>
              <a:avLst/>
              <a:gdLst/>
              <a:ahLst/>
              <a:cxnLst/>
              <a:rect l="l" t="t" r="r" b="b"/>
              <a:pathLst>
                <a:path w="1789747" h="1783080">
                  <a:moveTo>
                    <a:pt x="1788795" y="872490"/>
                  </a:moveTo>
                  <a:lnTo>
                    <a:pt x="1784985" y="814388"/>
                  </a:lnTo>
                  <a:lnTo>
                    <a:pt x="1775460" y="738188"/>
                  </a:lnTo>
                  <a:lnTo>
                    <a:pt x="1756410" y="661035"/>
                  </a:lnTo>
                  <a:lnTo>
                    <a:pt x="1732597" y="587692"/>
                  </a:lnTo>
                  <a:lnTo>
                    <a:pt x="1704022" y="514350"/>
                  </a:lnTo>
                  <a:lnTo>
                    <a:pt x="1665922" y="445770"/>
                  </a:lnTo>
                  <a:lnTo>
                    <a:pt x="1627822" y="381000"/>
                  </a:lnTo>
                  <a:lnTo>
                    <a:pt x="1580197" y="318135"/>
                  </a:lnTo>
                  <a:lnTo>
                    <a:pt x="1527810" y="261938"/>
                  </a:lnTo>
                  <a:lnTo>
                    <a:pt x="1470660" y="208597"/>
                  </a:lnTo>
                  <a:lnTo>
                    <a:pt x="1408747" y="161925"/>
                  </a:lnTo>
                  <a:lnTo>
                    <a:pt x="1342072" y="120015"/>
                  </a:lnTo>
                  <a:lnTo>
                    <a:pt x="1270635" y="82867"/>
                  </a:lnTo>
                  <a:lnTo>
                    <a:pt x="1199197" y="55245"/>
                  </a:lnTo>
                  <a:lnTo>
                    <a:pt x="1127760" y="30480"/>
                  </a:lnTo>
                  <a:lnTo>
                    <a:pt x="1051560" y="14288"/>
                  </a:lnTo>
                  <a:lnTo>
                    <a:pt x="970598" y="3810"/>
                  </a:lnTo>
                  <a:lnTo>
                    <a:pt x="894398" y="0"/>
                  </a:lnTo>
                  <a:lnTo>
                    <a:pt x="818198" y="3810"/>
                  </a:lnTo>
                  <a:lnTo>
                    <a:pt x="738188" y="14288"/>
                  </a:lnTo>
                  <a:lnTo>
                    <a:pt x="661988" y="30480"/>
                  </a:lnTo>
                  <a:lnTo>
                    <a:pt x="590550" y="55245"/>
                  </a:lnTo>
                  <a:lnTo>
                    <a:pt x="519112" y="82867"/>
                  </a:lnTo>
                  <a:lnTo>
                    <a:pt x="447675" y="120015"/>
                  </a:lnTo>
                  <a:lnTo>
                    <a:pt x="381000" y="161925"/>
                  </a:lnTo>
                  <a:lnTo>
                    <a:pt x="319088" y="208597"/>
                  </a:lnTo>
                  <a:lnTo>
                    <a:pt x="261938" y="261938"/>
                  </a:lnTo>
                  <a:lnTo>
                    <a:pt x="209550" y="318135"/>
                  </a:lnTo>
                  <a:lnTo>
                    <a:pt x="161925" y="381000"/>
                  </a:lnTo>
                  <a:lnTo>
                    <a:pt x="123825" y="445770"/>
                  </a:lnTo>
                  <a:lnTo>
                    <a:pt x="85725" y="514350"/>
                  </a:lnTo>
                  <a:lnTo>
                    <a:pt x="57150" y="587692"/>
                  </a:lnTo>
                  <a:lnTo>
                    <a:pt x="33338" y="661035"/>
                  </a:lnTo>
                  <a:lnTo>
                    <a:pt x="14288" y="738188"/>
                  </a:lnTo>
                  <a:lnTo>
                    <a:pt x="4762" y="814388"/>
                  </a:lnTo>
                  <a:lnTo>
                    <a:pt x="0" y="891540"/>
                  </a:lnTo>
                  <a:lnTo>
                    <a:pt x="4762" y="968692"/>
                  </a:lnTo>
                  <a:lnTo>
                    <a:pt x="14288" y="1045845"/>
                  </a:lnTo>
                  <a:lnTo>
                    <a:pt x="33338" y="1122997"/>
                  </a:lnTo>
                  <a:lnTo>
                    <a:pt x="57150" y="1195388"/>
                  </a:lnTo>
                  <a:lnTo>
                    <a:pt x="85725" y="1268730"/>
                  </a:lnTo>
                  <a:lnTo>
                    <a:pt x="123825" y="1337310"/>
                  </a:lnTo>
                  <a:lnTo>
                    <a:pt x="161925" y="1402080"/>
                  </a:lnTo>
                  <a:lnTo>
                    <a:pt x="209550" y="1464945"/>
                  </a:lnTo>
                  <a:lnTo>
                    <a:pt x="261938" y="1522095"/>
                  </a:lnTo>
                  <a:lnTo>
                    <a:pt x="319088" y="1574482"/>
                  </a:lnTo>
                  <a:lnTo>
                    <a:pt x="381000" y="1621155"/>
                  </a:lnTo>
                  <a:lnTo>
                    <a:pt x="447675" y="1664017"/>
                  </a:lnTo>
                  <a:lnTo>
                    <a:pt x="519112" y="1700212"/>
                  </a:lnTo>
                  <a:lnTo>
                    <a:pt x="590550" y="1728788"/>
                  </a:lnTo>
                  <a:lnTo>
                    <a:pt x="661988" y="1752600"/>
                  </a:lnTo>
                  <a:lnTo>
                    <a:pt x="738188" y="1768792"/>
                  </a:lnTo>
                  <a:lnTo>
                    <a:pt x="818198" y="1779270"/>
                  </a:lnTo>
                  <a:lnTo>
                    <a:pt x="894398" y="1783080"/>
                  </a:lnTo>
                  <a:lnTo>
                    <a:pt x="970598" y="1779270"/>
                  </a:lnTo>
                  <a:lnTo>
                    <a:pt x="1051560" y="1768792"/>
                  </a:lnTo>
                  <a:lnTo>
                    <a:pt x="1127760" y="1752600"/>
                  </a:lnTo>
                  <a:lnTo>
                    <a:pt x="1199197" y="1728788"/>
                  </a:lnTo>
                  <a:lnTo>
                    <a:pt x="1270635" y="1700212"/>
                  </a:lnTo>
                  <a:lnTo>
                    <a:pt x="1342072" y="1664017"/>
                  </a:lnTo>
                  <a:lnTo>
                    <a:pt x="1408747" y="1621155"/>
                  </a:lnTo>
                  <a:lnTo>
                    <a:pt x="1470660" y="1574482"/>
                  </a:lnTo>
                  <a:lnTo>
                    <a:pt x="1527810" y="1522095"/>
                  </a:lnTo>
                  <a:lnTo>
                    <a:pt x="1580197" y="1464945"/>
                  </a:lnTo>
                  <a:lnTo>
                    <a:pt x="1627822" y="1402080"/>
                  </a:lnTo>
                  <a:lnTo>
                    <a:pt x="1665922" y="1337310"/>
                  </a:lnTo>
                  <a:lnTo>
                    <a:pt x="1704022" y="1268730"/>
                  </a:lnTo>
                  <a:lnTo>
                    <a:pt x="1732597" y="1195388"/>
                  </a:lnTo>
                  <a:lnTo>
                    <a:pt x="1756410" y="1122997"/>
                  </a:lnTo>
                  <a:lnTo>
                    <a:pt x="1775460" y="1045845"/>
                  </a:lnTo>
                  <a:lnTo>
                    <a:pt x="1784985" y="968692"/>
                  </a:lnTo>
                  <a:lnTo>
                    <a:pt x="1789747" y="891540"/>
                  </a:lnTo>
                  <a:lnTo>
                    <a:pt x="1784985" y="814388"/>
                  </a:lnTo>
                  <a:lnTo>
                    <a:pt x="1778318" y="756285"/>
                  </a:lnTo>
                </a:path>
              </a:pathLst>
            </a:custGeom>
            <a:noFill/>
            <a:ln w="33338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24012" y="3847148"/>
              <a:ext cx="1056322" cy="1053465"/>
            </a:xfrm>
            <a:custGeom>
              <a:avLst/>
              <a:gdLst/>
              <a:ahLst/>
              <a:cxnLst/>
              <a:rect l="l" t="t" r="r" b="b"/>
              <a:pathLst>
                <a:path w="1056322" h="1053465">
                  <a:moveTo>
                    <a:pt x="1055370" y="507683"/>
                  </a:moveTo>
                  <a:lnTo>
                    <a:pt x="1051560" y="467678"/>
                  </a:lnTo>
                  <a:lnTo>
                    <a:pt x="1042035" y="409575"/>
                  </a:lnTo>
                  <a:lnTo>
                    <a:pt x="1027747" y="352425"/>
                  </a:lnTo>
                  <a:lnTo>
                    <a:pt x="1003935" y="298133"/>
                  </a:lnTo>
                  <a:lnTo>
                    <a:pt x="975360" y="247650"/>
                  </a:lnTo>
                  <a:lnTo>
                    <a:pt x="942022" y="199073"/>
                  </a:lnTo>
                  <a:lnTo>
                    <a:pt x="899160" y="154305"/>
                  </a:lnTo>
                  <a:lnTo>
                    <a:pt x="856297" y="115253"/>
                  </a:lnTo>
                  <a:lnTo>
                    <a:pt x="808672" y="80962"/>
                  </a:lnTo>
                  <a:lnTo>
                    <a:pt x="756285" y="52388"/>
                  </a:lnTo>
                  <a:lnTo>
                    <a:pt x="703898" y="30480"/>
                  </a:lnTo>
                  <a:lnTo>
                    <a:pt x="646748" y="14288"/>
                  </a:lnTo>
                  <a:lnTo>
                    <a:pt x="584835" y="3810"/>
                  </a:lnTo>
                  <a:lnTo>
                    <a:pt x="527685" y="0"/>
                  </a:lnTo>
                  <a:lnTo>
                    <a:pt x="470535" y="3810"/>
                  </a:lnTo>
                  <a:lnTo>
                    <a:pt x="408623" y="14288"/>
                  </a:lnTo>
                  <a:lnTo>
                    <a:pt x="352425" y="30480"/>
                  </a:lnTo>
                  <a:lnTo>
                    <a:pt x="300038" y="52388"/>
                  </a:lnTo>
                  <a:lnTo>
                    <a:pt x="247650" y="80962"/>
                  </a:lnTo>
                  <a:lnTo>
                    <a:pt x="200025" y="115253"/>
                  </a:lnTo>
                  <a:lnTo>
                    <a:pt x="157162" y="154305"/>
                  </a:lnTo>
                  <a:lnTo>
                    <a:pt x="114300" y="199073"/>
                  </a:lnTo>
                  <a:lnTo>
                    <a:pt x="80962" y="247650"/>
                  </a:lnTo>
                  <a:lnTo>
                    <a:pt x="52388" y="298133"/>
                  </a:lnTo>
                  <a:lnTo>
                    <a:pt x="28575" y="352425"/>
                  </a:lnTo>
                  <a:lnTo>
                    <a:pt x="14288" y="409575"/>
                  </a:lnTo>
                  <a:lnTo>
                    <a:pt x="4762" y="467678"/>
                  </a:lnTo>
                  <a:lnTo>
                    <a:pt x="0" y="526733"/>
                  </a:lnTo>
                  <a:lnTo>
                    <a:pt x="4762" y="585788"/>
                  </a:lnTo>
                  <a:lnTo>
                    <a:pt x="14288" y="644843"/>
                  </a:lnTo>
                  <a:lnTo>
                    <a:pt x="28575" y="701040"/>
                  </a:lnTo>
                  <a:lnTo>
                    <a:pt x="52388" y="756285"/>
                  </a:lnTo>
                  <a:lnTo>
                    <a:pt x="80962" y="806768"/>
                  </a:lnTo>
                  <a:lnTo>
                    <a:pt x="114300" y="855345"/>
                  </a:lnTo>
                  <a:lnTo>
                    <a:pt x="157162" y="900112"/>
                  </a:lnTo>
                  <a:lnTo>
                    <a:pt x="200025" y="938212"/>
                  </a:lnTo>
                  <a:lnTo>
                    <a:pt x="247650" y="972503"/>
                  </a:lnTo>
                  <a:lnTo>
                    <a:pt x="300038" y="1001078"/>
                  </a:lnTo>
                  <a:lnTo>
                    <a:pt x="352425" y="1022985"/>
                  </a:lnTo>
                  <a:lnTo>
                    <a:pt x="408623" y="1039178"/>
                  </a:lnTo>
                  <a:lnTo>
                    <a:pt x="470535" y="1049655"/>
                  </a:lnTo>
                  <a:lnTo>
                    <a:pt x="527685" y="1053465"/>
                  </a:lnTo>
                  <a:lnTo>
                    <a:pt x="584835" y="1049655"/>
                  </a:lnTo>
                  <a:lnTo>
                    <a:pt x="646748" y="1039178"/>
                  </a:lnTo>
                  <a:lnTo>
                    <a:pt x="703898" y="1022985"/>
                  </a:lnTo>
                  <a:lnTo>
                    <a:pt x="756285" y="1001078"/>
                  </a:lnTo>
                  <a:lnTo>
                    <a:pt x="808672" y="972503"/>
                  </a:lnTo>
                  <a:lnTo>
                    <a:pt x="856297" y="938212"/>
                  </a:lnTo>
                  <a:lnTo>
                    <a:pt x="899160" y="900112"/>
                  </a:lnTo>
                  <a:lnTo>
                    <a:pt x="942022" y="855345"/>
                  </a:lnTo>
                  <a:lnTo>
                    <a:pt x="975360" y="806768"/>
                  </a:lnTo>
                  <a:lnTo>
                    <a:pt x="1003935" y="756285"/>
                  </a:lnTo>
                  <a:lnTo>
                    <a:pt x="1027747" y="701040"/>
                  </a:lnTo>
                  <a:lnTo>
                    <a:pt x="1042035" y="644843"/>
                  </a:lnTo>
                  <a:lnTo>
                    <a:pt x="1051560" y="585788"/>
                  </a:lnTo>
                  <a:lnTo>
                    <a:pt x="1056322" y="526733"/>
                  </a:lnTo>
                  <a:lnTo>
                    <a:pt x="1051560" y="467678"/>
                  </a:lnTo>
                  <a:lnTo>
                    <a:pt x="1044892" y="42862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524000" y="3746182"/>
              <a:ext cx="1256347" cy="1256348"/>
            </a:xfrm>
            <a:custGeom>
              <a:avLst/>
              <a:gdLst/>
              <a:ahLst/>
              <a:cxnLst/>
              <a:rect l="l" t="t" r="r" b="b"/>
              <a:pathLst>
                <a:path w="1256347" h="1256348">
                  <a:moveTo>
                    <a:pt x="1255395" y="608647"/>
                  </a:moveTo>
                  <a:lnTo>
                    <a:pt x="1251585" y="557212"/>
                  </a:lnTo>
                  <a:lnTo>
                    <a:pt x="1242060" y="487680"/>
                  </a:lnTo>
                  <a:lnTo>
                    <a:pt x="1223010" y="421005"/>
                  </a:lnTo>
                  <a:lnTo>
                    <a:pt x="1194435" y="354330"/>
                  </a:lnTo>
                  <a:lnTo>
                    <a:pt x="1161097" y="293370"/>
                  </a:lnTo>
                  <a:lnTo>
                    <a:pt x="1118235" y="237172"/>
                  </a:lnTo>
                  <a:lnTo>
                    <a:pt x="1070610" y="183833"/>
                  </a:lnTo>
                  <a:lnTo>
                    <a:pt x="1018222" y="137160"/>
                  </a:lnTo>
                  <a:lnTo>
                    <a:pt x="961072" y="97155"/>
                  </a:lnTo>
                  <a:lnTo>
                    <a:pt x="899160" y="62865"/>
                  </a:lnTo>
                  <a:lnTo>
                    <a:pt x="837248" y="34290"/>
                  </a:lnTo>
                  <a:lnTo>
                    <a:pt x="765810" y="16192"/>
                  </a:lnTo>
                  <a:lnTo>
                    <a:pt x="699135" y="3810"/>
                  </a:lnTo>
                  <a:lnTo>
                    <a:pt x="627698" y="0"/>
                  </a:lnTo>
                  <a:lnTo>
                    <a:pt x="556260" y="3810"/>
                  </a:lnTo>
                  <a:lnTo>
                    <a:pt x="490538" y="16192"/>
                  </a:lnTo>
                  <a:lnTo>
                    <a:pt x="419100" y="34290"/>
                  </a:lnTo>
                  <a:lnTo>
                    <a:pt x="357188" y="62865"/>
                  </a:lnTo>
                  <a:lnTo>
                    <a:pt x="295275" y="97155"/>
                  </a:lnTo>
                  <a:lnTo>
                    <a:pt x="238125" y="137160"/>
                  </a:lnTo>
                  <a:lnTo>
                    <a:pt x="185738" y="183833"/>
                  </a:lnTo>
                  <a:lnTo>
                    <a:pt x="138112" y="237172"/>
                  </a:lnTo>
                  <a:lnTo>
                    <a:pt x="95250" y="293370"/>
                  </a:lnTo>
                  <a:lnTo>
                    <a:pt x="61912" y="354330"/>
                  </a:lnTo>
                  <a:lnTo>
                    <a:pt x="33338" y="421005"/>
                  </a:lnTo>
                  <a:lnTo>
                    <a:pt x="14288" y="487680"/>
                  </a:lnTo>
                  <a:lnTo>
                    <a:pt x="4762" y="557212"/>
                  </a:lnTo>
                  <a:lnTo>
                    <a:pt x="0" y="627697"/>
                  </a:lnTo>
                  <a:lnTo>
                    <a:pt x="4762" y="699135"/>
                  </a:lnTo>
                  <a:lnTo>
                    <a:pt x="14288" y="767715"/>
                  </a:lnTo>
                  <a:lnTo>
                    <a:pt x="33338" y="834390"/>
                  </a:lnTo>
                  <a:lnTo>
                    <a:pt x="61912" y="901065"/>
                  </a:lnTo>
                  <a:lnTo>
                    <a:pt x="95250" y="962025"/>
                  </a:lnTo>
                  <a:lnTo>
                    <a:pt x="138112" y="1019175"/>
                  </a:lnTo>
                  <a:lnTo>
                    <a:pt x="185738" y="1071562"/>
                  </a:lnTo>
                  <a:lnTo>
                    <a:pt x="238125" y="1118235"/>
                  </a:lnTo>
                  <a:lnTo>
                    <a:pt x="295275" y="1159192"/>
                  </a:lnTo>
                  <a:lnTo>
                    <a:pt x="357188" y="1193482"/>
                  </a:lnTo>
                  <a:lnTo>
                    <a:pt x="419100" y="1222058"/>
                  </a:lnTo>
                  <a:lnTo>
                    <a:pt x="490538" y="1240155"/>
                  </a:lnTo>
                  <a:lnTo>
                    <a:pt x="556260" y="1252537"/>
                  </a:lnTo>
                  <a:lnTo>
                    <a:pt x="627698" y="1256348"/>
                  </a:lnTo>
                  <a:lnTo>
                    <a:pt x="699135" y="1252537"/>
                  </a:lnTo>
                  <a:lnTo>
                    <a:pt x="765810" y="1240155"/>
                  </a:lnTo>
                  <a:lnTo>
                    <a:pt x="837248" y="1222058"/>
                  </a:lnTo>
                  <a:lnTo>
                    <a:pt x="899160" y="1193482"/>
                  </a:lnTo>
                  <a:lnTo>
                    <a:pt x="961072" y="1159192"/>
                  </a:lnTo>
                  <a:lnTo>
                    <a:pt x="1018222" y="1118235"/>
                  </a:lnTo>
                  <a:lnTo>
                    <a:pt x="1070610" y="1071562"/>
                  </a:lnTo>
                  <a:lnTo>
                    <a:pt x="1118235" y="1019175"/>
                  </a:lnTo>
                  <a:lnTo>
                    <a:pt x="1161097" y="962025"/>
                  </a:lnTo>
                  <a:lnTo>
                    <a:pt x="1194435" y="901065"/>
                  </a:lnTo>
                  <a:lnTo>
                    <a:pt x="1223010" y="834390"/>
                  </a:lnTo>
                  <a:lnTo>
                    <a:pt x="1242060" y="767715"/>
                  </a:lnTo>
                  <a:lnTo>
                    <a:pt x="1251585" y="699135"/>
                  </a:lnTo>
                  <a:lnTo>
                    <a:pt x="1256347" y="627697"/>
                  </a:lnTo>
                  <a:lnTo>
                    <a:pt x="1251585" y="557212"/>
                  </a:lnTo>
                  <a:lnTo>
                    <a:pt x="1244918" y="50673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2161222" y="4191952"/>
              <a:ext cx="96202" cy="165735"/>
            </a:xfrm>
            <a:custGeom>
              <a:avLst/>
              <a:gdLst/>
              <a:ahLst/>
              <a:cxnLst/>
              <a:rect l="l" t="t" r="r" b="b"/>
              <a:pathLst>
                <a:path w="96202" h="165735">
                  <a:moveTo>
                    <a:pt x="0" y="165735"/>
                  </a:moveTo>
                  <a:lnTo>
                    <a:pt x="96202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15515" y="410908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8583" y="0"/>
                  </a:moveTo>
                  <a:lnTo>
                    <a:pt x="82868" y="105728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704022" y="3737610"/>
              <a:ext cx="437198" cy="621030"/>
            </a:xfrm>
            <a:custGeom>
              <a:avLst/>
              <a:gdLst/>
              <a:ahLst/>
              <a:cxnLst/>
              <a:rect l="l" t="t" r="r" b="b"/>
              <a:pathLst>
                <a:path w="437198" h="621030">
                  <a:moveTo>
                    <a:pt x="437198" y="6210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43B7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648778" y="3660458"/>
              <a:ext cx="94298" cy="104775"/>
            </a:xfrm>
            <a:custGeom>
              <a:avLst/>
              <a:gdLst/>
              <a:ahLst/>
              <a:cxnLst/>
              <a:rect l="l" t="t" r="r" b="b"/>
              <a:pathLst>
                <a:path w="94298" h="104775">
                  <a:moveTo>
                    <a:pt x="0" y="0"/>
                  </a:moveTo>
                  <a:lnTo>
                    <a:pt x="94298" y="50483"/>
                  </a:lnTo>
                  <a:lnTo>
                    <a:pt x="16193" y="104775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166938" y="4386262"/>
              <a:ext cx="301942" cy="253365"/>
            </a:xfrm>
            <a:custGeom>
              <a:avLst/>
              <a:gdLst/>
              <a:ahLst/>
              <a:cxnLst/>
              <a:rect l="l" t="t" r="r" b="b"/>
              <a:pathLst>
                <a:path w="301942" h="253365">
                  <a:moveTo>
                    <a:pt x="0" y="0"/>
                  </a:moveTo>
                  <a:lnTo>
                    <a:pt x="301942" y="25336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438400" y="460248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334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863215" y="4075748"/>
              <a:ext cx="58102" cy="159068"/>
            </a:xfrm>
            <a:custGeom>
              <a:avLst/>
              <a:gdLst/>
              <a:ahLst/>
              <a:cxnLst/>
              <a:rect l="l" t="t" r="r" b="b"/>
              <a:pathLst>
                <a:path w="58102" h="159068">
                  <a:moveTo>
                    <a:pt x="58102" y="159068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14A38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818448" y="3986212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11430" y="0"/>
                  </a:moveTo>
                  <a:lnTo>
                    <a:pt x="89535" y="73342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123122" y="43453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6602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456498" y="42919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03752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023235" y="42110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70810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656522" y="42471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77082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756535" y="42243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14217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304098" y="40824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14217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628775" y="36347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142172" y="4364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546985" y="47034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918460" y="42433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813685" y="39595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77806" y="393477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16733" y="350710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73888" y="45748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44744" y="38228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70935" y="3628073"/>
              <a:ext cx="11136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内筒 R₁：I 流出纸面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70935" y="3992880"/>
              <a:ext cx="11136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外筒 R₂：I 流入纸面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70935" y="4398645"/>
              <a:ext cx="12561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两筒之间 B = μI/(2πr)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70935" y="4803458"/>
              <a:ext cx="11302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虚线：半径 r、厚 dr</a:t>
              </a:r>
            </a:p>
          </p:txBody>
        </p:sp>
      </p:grpSp>
      <p:grpSp>
        <p:nvGrpSpPr>
          <p:cNvPr id="65" name="c2-steps-1"/>
          <p:cNvGrpSpPr/>
          <p:nvPr/>
        </p:nvGrpSpPr>
        <p:grpSpPr>
          <a:xfrm>
            <a:off x="5598795" y="1533525"/>
            <a:ext cx="4653683" cy="1596962"/>
            <a:chOff x="5598795" y="1533525"/>
            <a:chExt cx="4653683" cy="1596962"/>
          </a:xfrm>
        </p:grpSpPr>
        <p:sp>
          <p:nvSpPr>
            <p:cNvPr id="52" name="Rectangle 52"/>
            <p:cNvSpPr/>
            <p:nvPr/>
          </p:nvSpPr>
          <p:spPr>
            <a:xfrm>
              <a:off x="573214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1418" y="1564481"/>
              <a:ext cx="1553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用安培环路定理求 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2561" y="1818322"/>
              <a:ext cx="4239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 &lt; r &lt; R₂：H·2πr = I，B = μI/(2πr)；r &lt; R₁ 与 r &gt; R₂ 处 B = 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1418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取面元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2561" y="2371725"/>
              <a:ext cx="3386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在过轴线的纵截面上取长 l、宽 dr 的窄条，dΦ = Bl dr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418" y="2670334"/>
              <a:ext cx="989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积分再除以 I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561" y="2925128"/>
              <a:ext cx="1017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从 R₁ 积到 R₂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formula129"/>
              <p:cNvSpPr txBox="1">
                <a:spLocks noGrp="1"/>
              </p:cNvSpPr>
              <p:nvPr/>
            </p:nvSpPr>
            <p:spPr>
              <a:xfrm>
                <a:off x="5598795" y="3291840"/>
                <a:ext cx="6059805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μI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2πr</m:t>
                              </m:r>
                            </m:den>
                          </m:f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dr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μIl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formula130"/>
              <p:cNvSpPr txBox="1">
                <a:spLocks noGrp="1"/>
              </p:cNvSpPr>
              <p:nvPr/>
            </p:nvSpPr>
            <p:spPr>
              <a:xfrm>
                <a:off x="5598795" y="3910012"/>
                <a:ext cx="605980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μl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72" name="c2-card-4"/>
          <p:cNvGrpSpPr/>
          <p:nvPr/>
        </p:nvGrpSpPr>
        <p:grpSpPr>
          <a:xfrm>
            <a:off x="5598795" y="4486275"/>
            <a:ext cx="6059805" cy="901065"/>
            <a:chOff x="5598795" y="4486275"/>
            <a:chExt cx="6059805" cy="901065"/>
          </a:xfrm>
        </p:grpSpPr>
        <p:sp>
          <p:nvSpPr>
            <p:cNvPr id="68" name="Rectangle 68"/>
            <p:cNvSpPr/>
            <p:nvPr/>
          </p:nvSpPr>
          <p:spPr>
            <a:xfrm>
              <a:off x="5598795" y="4486275"/>
              <a:ext cx="6059805" cy="901065"/>
            </a:xfrm>
            <a:prstGeom prst="roundRect">
              <a:avLst>
                <a:gd name="adj" fmla="val 1479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79770" y="466725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876493" y="470011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73293" y="5006816"/>
              <a:ext cx="5718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单位长度的自感 L₁ = (μ/2π) ln(R₂/R₁)，只与两筒半径之比和介质有关。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3" name="Rectangle 7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4863" y="61061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6039326"/>
              <a:ext cx="86523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数值：R₁ = 1 mm、R₂ = 3.5 mm、μ = μ₀，L₁ = 2×10⁻⁷ × ln 3.5 ≈ 0.25 μH/m；用数值积分求磁通，结果相同。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6127" cy="909257"/>
            <a:chOff x="520446" y="342900"/>
            <a:chExt cx="7176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6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自感磁能：电源多做的功以 ½LI² 储存在线圈中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913448" y="1667828"/>
            <a:ext cx="4109085" cy="1442751"/>
            <a:chOff x="913448" y="1667828"/>
            <a:chExt cx="4109085" cy="1442751"/>
          </a:xfrm>
        </p:grpSpPr>
        <p:sp>
          <p:nvSpPr>
            <p:cNvPr id="7" name="Freeform 7"/>
            <p:cNvSpPr/>
            <p:nvPr/>
          </p:nvSpPr>
          <p:spPr>
            <a:xfrm>
              <a:off x="942022" y="1801178"/>
              <a:ext cx="783907" cy="9525"/>
            </a:xfrm>
            <a:custGeom>
              <a:avLst/>
              <a:gdLst/>
              <a:ahLst/>
              <a:cxnLst/>
              <a:rect l="l" t="t" r="r" b="b"/>
              <a:pathLst>
                <a:path w="783907" h="9525">
                  <a:moveTo>
                    <a:pt x="0" y="0"/>
                  </a:moveTo>
                  <a:lnTo>
                    <a:pt x="783907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63140" y="1801178"/>
              <a:ext cx="978218" cy="9525"/>
            </a:xfrm>
            <a:custGeom>
              <a:avLst/>
              <a:gdLst/>
              <a:ahLst/>
              <a:cxnLst/>
              <a:rect l="l" t="t" r="r" b="b"/>
              <a:pathLst>
                <a:path w="978218" h="9525">
                  <a:moveTo>
                    <a:pt x="0" y="0"/>
                  </a:moveTo>
                  <a:lnTo>
                    <a:pt x="978218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448175" y="1801178"/>
              <a:ext cx="545782" cy="9525"/>
            </a:xfrm>
            <a:custGeom>
              <a:avLst/>
              <a:gdLst/>
              <a:ahLst/>
              <a:cxnLst/>
              <a:rect l="l" t="t" r="r" b="b"/>
              <a:pathLst>
                <a:path w="545782" h="9525">
                  <a:moveTo>
                    <a:pt x="0" y="0"/>
                  </a:moveTo>
                  <a:lnTo>
                    <a:pt x="545782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13008" y="1820228"/>
              <a:ext cx="9525" cy="1141095"/>
            </a:xfrm>
            <a:custGeom>
              <a:avLst/>
              <a:gdLst/>
              <a:ahLst/>
              <a:cxnLst/>
              <a:rect l="l" t="t" r="r" b="b"/>
              <a:pathLst>
                <a:path w="9525" h="1141095">
                  <a:moveTo>
                    <a:pt x="0" y="0"/>
                  </a:moveTo>
                  <a:lnTo>
                    <a:pt x="0" y="1141095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4342" y="2980372"/>
              <a:ext cx="729615" cy="9525"/>
            </a:xfrm>
            <a:custGeom>
              <a:avLst/>
              <a:gdLst/>
              <a:ahLst/>
              <a:cxnLst/>
              <a:rect l="l" t="t" r="r" b="b"/>
              <a:pathLst>
                <a:path w="729615" h="9525">
                  <a:moveTo>
                    <a:pt x="72961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19325" y="2980372"/>
              <a:ext cx="1594485" cy="9525"/>
            </a:xfrm>
            <a:custGeom>
              <a:avLst/>
              <a:gdLst/>
              <a:ahLst/>
              <a:cxnLst/>
              <a:rect l="l" t="t" r="r" b="b"/>
              <a:pathLst>
                <a:path w="1594485" h="9525">
                  <a:moveTo>
                    <a:pt x="159448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42022" y="2980372"/>
              <a:ext cx="826770" cy="9525"/>
            </a:xfrm>
            <a:custGeom>
              <a:avLst/>
              <a:gdLst/>
              <a:ahLst/>
              <a:cxnLst/>
              <a:rect l="l" t="t" r="r" b="b"/>
              <a:pathLst>
                <a:path w="826770" h="9525">
                  <a:moveTo>
                    <a:pt x="826770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22972" y="1820228"/>
              <a:ext cx="9525" cy="1141095"/>
            </a:xfrm>
            <a:custGeom>
              <a:avLst/>
              <a:gdLst/>
              <a:ahLst/>
              <a:cxnLst/>
              <a:rect l="l" t="t" r="r" b="b"/>
              <a:pathLst>
                <a:path w="9525" h="1141095">
                  <a:moveTo>
                    <a:pt x="0" y="1141095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63265" y="1667828"/>
              <a:ext cx="1163002" cy="133350"/>
            </a:xfrm>
            <a:custGeom>
              <a:avLst/>
              <a:gdLst/>
              <a:ahLst/>
              <a:cxnLst/>
              <a:rect l="l" t="t" r="r" b="b"/>
              <a:pathLst>
                <a:path w="1163002" h="133350">
                  <a:moveTo>
                    <a:pt x="0" y="114300"/>
                  </a:moveTo>
                  <a:lnTo>
                    <a:pt x="1905" y="99060"/>
                  </a:lnTo>
                  <a:lnTo>
                    <a:pt x="16192" y="65723"/>
                  </a:lnTo>
                  <a:lnTo>
                    <a:pt x="40957" y="38100"/>
                  </a:lnTo>
                  <a:lnTo>
                    <a:pt x="69532" y="17145"/>
                  </a:lnTo>
                  <a:lnTo>
                    <a:pt x="103822" y="3810"/>
                  </a:lnTo>
                  <a:lnTo>
                    <a:pt x="142875" y="0"/>
                  </a:lnTo>
                  <a:lnTo>
                    <a:pt x="181927" y="3810"/>
                  </a:lnTo>
                  <a:lnTo>
                    <a:pt x="216217" y="17145"/>
                  </a:lnTo>
                  <a:lnTo>
                    <a:pt x="244792" y="38100"/>
                  </a:lnTo>
                  <a:lnTo>
                    <a:pt x="269557" y="65723"/>
                  </a:lnTo>
                  <a:lnTo>
                    <a:pt x="283845" y="99060"/>
                  </a:lnTo>
                  <a:lnTo>
                    <a:pt x="288607" y="133350"/>
                  </a:lnTo>
                  <a:lnTo>
                    <a:pt x="288607" y="133350"/>
                  </a:lnTo>
                  <a:lnTo>
                    <a:pt x="294322" y="99060"/>
                  </a:lnTo>
                  <a:lnTo>
                    <a:pt x="308610" y="65723"/>
                  </a:lnTo>
                  <a:lnTo>
                    <a:pt x="332422" y="38100"/>
                  </a:lnTo>
                  <a:lnTo>
                    <a:pt x="361950" y="17145"/>
                  </a:lnTo>
                  <a:lnTo>
                    <a:pt x="396240" y="3810"/>
                  </a:lnTo>
                  <a:lnTo>
                    <a:pt x="435292" y="0"/>
                  </a:lnTo>
                  <a:lnTo>
                    <a:pt x="474345" y="3810"/>
                  </a:lnTo>
                  <a:lnTo>
                    <a:pt x="507682" y="17145"/>
                  </a:lnTo>
                  <a:lnTo>
                    <a:pt x="537210" y="38100"/>
                  </a:lnTo>
                  <a:lnTo>
                    <a:pt x="561975" y="65723"/>
                  </a:lnTo>
                  <a:lnTo>
                    <a:pt x="576262" y="99060"/>
                  </a:lnTo>
                  <a:lnTo>
                    <a:pt x="581025" y="133350"/>
                  </a:lnTo>
                  <a:lnTo>
                    <a:pt x="581025" y="133350"/>
                  </a:lnTo>
                  <a:lnTo>
                    <a:pt x="585788" y="99060"/>
                  </a:lnTo>
                  <a:lnTo>
                    <a:pt x="601027" y="65723"/>
                  </a:lnTo>
                  <a:lnTo>
                    <a:pt x="624840" y="38100"/>
                  </a:lnTo>
                  <a:lnTo>
                    <a:pt x="654367" y="17145"/>
                  </a:lnTo>
                  <a:lnTo>
                    <a:pt x="688657" y="3810"/>
                  </a:lnTo>
                  <a:lnTo>
                    <a:pt x="727710" y="0"/>
                  </a:lnTo>
                  <a:lnTo>
                    <a:pt x="765810" y="3810"/>
                  </a:lnTo>
                  <a:lnTo>
                    <a:pt x="800100" y="17145"/>
                  </a:lnTo>
                  <a:lnTo>
                    <a:pt x="829627" y="38100"/>
                  </a:lnTo>
                  <a:lnTo>
                    <a:pt x="853440" y="65723"/>
                  </a:lnTo>
                  <a:lnTo>
                    <a:pt x="868680" y="99060"/>
                  </a:lnTo>
                  <a:lnTo>
                    <a:pt x="873442" y="133350"/>
                  </a:lnTo>
                  <a:lnTo>
                    <a:pt x="873442" y="133350"/>
                  </a:lnTo>
                  <a:lnTo>
                    <a:pt x="878205" y="99060"/>
                  </a:lnTo>
                  <a:lnTo>
                    <a:pt x="892492" y="65723"/>
                  </a:lnTo>
                  <a:lnTo>
                    <a:pt x="917257" y="38100"/>
                  </a:lnTo>
                  <a:lnTo>
                    <a:pt x="946785" y="17145"/>
                  </a:lnTo>
                  <a:lnTo>
                    <a:pt x="980122" y="3810"/>
                  </a:lnTo>
                  <a:lnTo>
                    <a:pt x="1019175" y="0"/>
                  </a:lnTo>
                  <a:lnTo>
                    <a:pt x="1058227" y="3810"/>
                  </a:lnTo>
                  <a:lnTo>
                    <a:pt x="1092518" y="17145"/>
                  </a:lnTo>
                  <a:lnTo>
                    <a:pt x="1122045" y="38100"/>
                  </a:lnTo>
                  <a:lnTo>
                    <a:pt x="1145857" y="65723"/>
                  </a:lnTo>
                  <a:lnTo>
                    <a:pt x="1160145" y="99060"/>
                  </a:lnTo>
                  <a:lnTo>
                    <a:pt x="1163002" y="11430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00312" y="2044065"/>
              <a:ext cx="450533" cy="9525"/>
            </a:xfrm>
            <a:custGeom>
              <a:avLst/>
              <a:gdLst/>
              <a:ahLst/>
              <a:cxnLst/>
              <a:rect l="l" t="t" r="r" b="b"/>
              <a:pathLst>
                <a:path w="450533" h="9525">
                  <a:moveTo>
                    <a:pt x="0" y="0"/>
                  </a:moveTo>
                  <a:lnTo>
                    <a:pt x="450533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50845" y="1996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725930" y="1671638"/>
              <a:ext cx="537210" cy="260032"/>
            </a:xfrm>
            <a:prstGeom prst="roundRect">
              <a:avLst>
                <a:gd name="adj" fmla="val 36630"/>
              </a:avLst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68792" y="2849880"/>
              <a:ext cx="450532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13810" y="2849880"/>
              <a:ext cx="450532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13448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13448" y="2970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003482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003482" y="29708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250882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419600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250882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419600" y="1791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471738" y="20345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055620" y="20345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49332" y="17406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51488" y="29198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94349" y="291988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92575" y="2026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44823" y="2138362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58064" y="2458879"/>
              <a:ext cx="1419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合上 K，I 由 0 增到 ε/R</a:t>
              </a:r>
            </a:p>
          </p:txBody>
        </p:sp>
      </p:grpSp>
      <p:grpSp>
        <p:nvGrpSpPr>
          <p:cNvPr id="48" name="c1-flow-2"/>
          <p:cNvGrpSpPr/>
          <p:nvPr/>
        </p:nvGrpSpPr>
        <p:grpSpPr>
          <a:xfrm>
            <a:off x="703898" y="3493770"/>
            <a:ext cx="4528185" cy="919163"/>
            <a:chOff x="703898" y="3493770"/>
            <a:chExt cx="4528185" cy="919163"/>
          </a:xfrm>
        </p:grpSpPr>
        <p:sp>
          <p:nvSpPr>
            <p:cNvPr id="38" name="Freeform 38"/>
            <p:cNvSpPr/>
            <p:nvPr/>
          </p:nvSpPr>
          <p:spPr>
            <a:xfrm>
              <a:off x="2797492" y="3692842"/>
              <a:ext cx="236220" cy="9525"/>
            </a:xfrm>
            <a:custGeom>
              <a:avLst/>
              <a:gdLst/>
              <a:ahLst/>
              <a:cxnLst/>
              <a:rect l="l" t="t" r="r" b="b"/>
              <a:pathLst>
                <a:path w="236220" h="9525">
                  <a:moveTo>
                    <a:pt x="0" y="0"/>
                  </a:moveTo>
                  <a:lnTo>
                    <a:pt x="2362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033712" y="3640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750695" y="3891915"/>
              <a:ext cx="1283018" cy="320992"/>
            </a:xfrm>
            <a:custGeom>
              <a:avLst/>
              <a:gdLst/>
              <a:ahLst/>
              <a:cxnLst/>
              <a:rect l="l" t="t" r="r" b="b"/>
              <a:pathLst>
                <a:path w="1283018" h="320992">
                  <a:moveTo>
                    <a:pt x="0" y="0"/>
                  </a:moveTo>
                  <a:lnTo>
                    <a:pt x="0" y="209550"/>
                  </a:lnTo>
                  <a:lnTo>
                    <a:pt x="0" y="320992"/>
                  </a:lnTo>
                  <a:lnTo>
                    <a:pt x="1178242" y="320992"/>
                  </a:lnTo>
                  <a:lnTo>
                    <a:pt x="1283018" y="3209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033712" y="41605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3898" y="3493770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138488" y="3493770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3138488" y="4013835"/>
              <a:ext cx="2093595" cy="399098"/>
            </a:xfrm>
            <a:prstGeom prst="roundRect">
              <a:avLst>
                <a:gd name="adj" fmla="val 23866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368044" y="36142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电源做的功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51860" y="36142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电阻上的焦耳热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27247" y="41343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线圈的自感能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139"/>
              <p:cNvSpPr txBox="1">
                <a:spLocks noGrp="1"/>
              </p:cNvSpPr>
              <p:nvPr/>
            </p:nvSpPr>
            <p:spPr>
              <a:xfrm>
                <a:off x="533400" y="4648200"/>
                <a:ext cx="486918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63" name="c2-steps-1"/>
          <p:cNvGrpSpPr/>
          <p:nvPr/>
        </p:nvGrpSpPr>
        <p:grpSpPr>
          <a:xfrm>
            <a:off x="5707380" y="1533525"/>
            <a:ext cx="4344949" cy="1693069"/>
            <a:chOff x="5707380" y="1533525"/>
            <a:chExt cx="4344949" cy="1693069"/>
          </a:xfrm>
        </p:grpSpPr>
        <p:sp>
          <p:nvSpPr>
            <p:cNvPr id="50" name="Rectangle 50"/>
            <p:cNvSpPr/>
            <p:nvPr/>
          </p:nvSpPr>
          <p:spPr>
            <a:xfrm>
              <a:off x="5840730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70738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0100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70738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0100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19622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回路方程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765" y="1833086"/>
              <a:ext cx="3887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接通后电流从 0 增大，由全电路欧姆定律 ε − L dI/dt = RI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19622" y="2152650"/>
              <a:ext cx="947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两边乘 I dt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20765" y="2419826"/>
              <a:ext cx="1461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εI dt − LI dI = RI² dt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19622" y="2739390"/>
              <a:ext cx="2131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0 积到 t（电流 0 → I）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20765" y="300656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电源的功一部分变成焦耳热，另一部分用来克服自感电动势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formula140"/>
              <p:cNvSpPr txBox="1">
                <a:spLocks noGrp="1"/>
              </p:cNvSpPr>
              <p:nvPr/>
            </p:nvSpPr>
            <p:spPr>
              <a:xfrm>
                <a:off x="5707380" y="3395662"/>
                <a:ext cx="5951220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εI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9" name="c2-card-3"/>
          <p:cNvGrpSpPr/>
          <p:nvPr/>
        </p:nvGrpSpPr>
        <p:grpSpPr>
          <a:xfrm>
            <a:off x="5707380" y="4050982"/>
            <a:ext cx="5951220" cy="1466850"/>
            <a:chOff x="5707380" y="4050982"/>
            <a:chExt cx="5951220" cy="1466850"/>
          </a:xfrm>
        </p:grpSpPr>
        <p:sp>
          <p:nvSpPr>
            <p:cNvPr id="65" name="Rectangle 65"/>
            <p:cNvSpPr/>
            <p:nvPr/>
          </p:nvSpPr>
          <p:spPr>
            <a:xfrm>
              <a:off x="5707380" y="4050982"/>
              <a:ext cx="595122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899785" y="424338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91225" y="42776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92927" y="4599622"/>
              <a:ext cx="530294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电流为 I 的线圈储存磁能 ½LI²，对任何自感为 L 的线圈都成立（作业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选择题 8）。断开电源后，自感电动势维持电流继续流一段时间，把这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部分能量释放给电路。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0" name="Rectangle 7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4677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½LI² 与电容器储能 ½CU² 形式相同：L 对应 C，I 对应 U。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0834" cy="909257"/>
            <a:chOff x="520446" y="342900"/>
            <a:chExt cx="7660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0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磁场能量密度 wm = B²/(2μ)：能量储存在磁场里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103495" cy="293370"/>
            <a:chOff x="525780" y="1548765"/>
            <a:chExt cx="510349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1034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以长直螺线管为例：B = μnI，L = μn²V，管内磁场均匀。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44"/>
              <p:cNvSpPr txBox="1">
                <a:spLocks noGrp="1"/>
              </p:cNvSpPr>
              <p:nvPr/>
            </p:nvSpPr>
            <p:spPr>
              <a:xfrm>
                <a:off x="533400" y="1973580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num>
                                <m:den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μn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den>
                      </m:f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45"/>
              <p:cNvSpPr txBox="1">
                <a:spLocks noGrp="1"/>
              </p:cNvSpPr>
              <p:nvPr/>
            </p:nvSpPr>
            <p:spPr>
              <a:xfrm>
                <a:off x="533400" y="2652712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BH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4"/>
          <p:cNvGrpSpPr/>
          <p:nvPr/>
        </p:nvGrpSpPr>
        <p:grpSpPr>
          <a:xfrm>
            <a:off x="533400" y="3357562"/>
            <a:ext cx="5410200" cy="2294572"/>
            <a:chOff x="533400" y="3357562"/>
            <a:chExt cx="5410200" cy="2294572"/>
          </a:xfrm>
        </p:grpSpPr>
        <p:sp>
          <p:nvSpPr>
            <p:cNvPr id="11" name="Rectangle 11"/>
            <p:cNvSpPr/>
            <p:nvPr/>
          </p:nvSpPr>
          <p:spPr>
            <a:xfrm>
              <a:off x="533400" y="3357562"/>
              <a:ext cx="5410200" cy="2294572"/>
            </a:xfrm>
            <a:prstGeom prst="roundRect">
              <a:avLst>
                <a:gd name="adj" fmla="val 581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567112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6407" y="3602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磁场能量密度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5330" y="3944302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wm 是单位体积磁场的能量。上式从螺线管导出，对任何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磁场都成立；非均匀磁场的总能量逐点积分：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46"/>
                <p:cNvSpPr txBox="1">
                  <a:spLocks noGrp="1"/>
                </p:cNvSpPr>
                <p:nvPr/>
              </p:nvSpPr>
              <p:spPr>
                <a:xfrm>
                  <a:off x="742950" y="4540568"/>
                  <a:ext cx="49911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sub>
                            </m:s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2μ</m:t>
                                </m:r>
                              </m:den>
                            </m:f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table-1"/>
          <p:cNvGrpSpPr/>
          <p:nvPr/>
        </p:nvGrpSpPr>
        <p:grpSpPr>
          <a:xfrm>
            <a:off x="6248400" y="1524000"/>
            <a:ext cx="5410200" cy="1950720"/>
            <a:chOff x="6248400" y="1524000"/>
            <a:chExt cx="5410200" cy="1950720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4942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48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1941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5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储能元件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6235" y="2150745"/>
              <a:ext cx="1154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电容器 ½CU²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06000" y="2150745"/>
              <a:ext cx="899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 ½LI²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24945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2499360"/>
              <a:ext cx="5410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5080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能量密度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76235" y="2638425"/>
              <a:ext cx="1067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½εE² = ½DE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06000" y="2638425"/>
              <a:ext cx="1067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½μH² = ½BH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29822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5080" y="31261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总能量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76235" y="3126105"/>
              <a:ext cx="6807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∫we dV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06000" y="3126105"/>
              <a:ext cx="721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∫wm dV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64792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79455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2"/>
          <p:cNvGrpSpPr/>
          <p:nvPr/>
        </p:nvGrpSpPr>
        <p:grpSpPr>
          <a:xfrm>
            <a:off x="6248400" y="3665220"/>
            <a:ext cx="5410200" cy="1986915"/>
            <a:chOff x="6248400" y="3665220"/>
            <a:chExt cx="5410200" cy="1986915"/>
          </a:xfrm>
        </p:grpSpPr>
        <p:sp>
          <p:nvSpPr>
            <p:cNvPr id="37" name="Rectangle 37"/>
            <p:cNvSpPr/>
            <p:nvPr/>
          </p:nvSpPr>
          <p:spPr>
            <a:xfrm>
              <a:off x="6248400" y="366522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379857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387477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2308" y="39104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数量级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4251960"/>
              <a:ext cx="4650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 T 的磁场：wm = 1/(2μ₀) ≈ 4.0×10⁵ J/m³。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458724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10⁶ V/m 的强电场（接近空气的击穿场强）：we = 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ε₀E² ≈ 4.4 J/m³。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2082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同样大小的空间里，磁场能储存多得多的能量。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103035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线圈只是产生磁场的装置，能量分布在磁场所在的空间里；例6.8 用两种方法求同轴电缆的磁能，得到同一个结果。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自感与磁场能量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例6.8 同轴电缆的磁场能量：用自感或用能量密度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937385"/>
            <a:chOff x="533400" y="1524000"/>
            <a:chExt cx="519398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63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两导体圆筒组成的无限长同轴电缆（例6.7），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筒间介质磁导率 μ，内外筒通相反的电流 I，取长 l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24989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这段电缆中的磁场能量。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51885"/>
            <a:ext cx="5193982" cy="1951672"/>
            <a:chOff x="533400" y="3651885"/>
            <a:chExt cx="5193982" cy="1951672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5193982" cy="1951672"/>
            </a:xfrm>
            <a:prstGeom prst="roundRect">
              <a:avLst>
                <a:gd name="adj" fmla="val 6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5235"/>
              <a:ext cx="47625" cy="168497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61435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9202" y="389715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方法一 · 用自感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238625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例6.7 已求出 L = (μl/2π) ln(R₂/R₁)，代入储能公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50"/>
                <p:cNvSpPr txBox="1">
                  <a:spLocks noGrp="1"/>
                </p:cNvSpPr>
                <p:nvPr/>
              </p:nvSpPr>
              <p:spPr>
                <a:xfrm>
                  <a:off x="781050" y="4834890"/>
                  <a:ext cx="473678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6032182" y="1524000"/>
            <a:ext cx="5626418" cy="2527935"/>
            <a:chOff x="6032182" y="1524000"/>
            <a:chExt cx="5626418" cy="2527935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1708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79832" y="1733550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9132" y="176926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方法二 · 用能量密度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2212" y="2110740"/>
              <a:ext cx="4863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取长 l、半径 r、厚 dr 的圆柱壳，dV = 2πrl dr；壳内 B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μI/(2πr)：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51"/>
                <p:cNvSpPr txBox="1">
                  <a:spLocks noGrp="1"/>
                </p:cNvSpPr>
                <p:nvPr/>
              </p:nvSpPr>
              <p:spPr>
                <a:xfrm>
                  <a:off x="6279832" y="2707005"/>
                  <a:ext cx="5169218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2μ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52"/>
                <p:cNvSpPr txBox="1">
                  <a:spLocks noGrp="1"/>
                </p:cNvSpPr>
                <p:nvPr/>
              </p:nvSpPr>
              <p:spPr>
                <a:xfrm>
                  <a:off x="6279832" y="3316605"/>
                  <a:ext cx="5169218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2πrl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dr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2"/>
          <p:cNvGrpSpPr/>
          <p:nvPr/>
        </p:nvGrpSpPr>
        <p:grpSpPr>
          <a:xfrm>
            <a:off x="6032182" y="4242435"/>
            <a:ext cx="5626418" cy="1361122"/>
            <a:chOff x="6032182" y="4242435"/>
            <a:chExt cx="5626418" cy="1361122"/>
          </a:xfrm>
        </p:grpSpPr>
        <p:sp>
          <p:nvSpPr>
            <p:cNvPr id="29" name="Rectangle 29"/>
            <p:cNvSpPr/>
            <p:nvPr/>
          </p:nvSpPr>
          <p:spPr>
            <a:xfrm>
              <a:off x="6032182" y="4242435"/>
              <a:ext cx="5626418" cy="1361122"/>
            </a:xfrm>
            <a:prstGeom prst="roundRect">
              <a:avLst>
                <a:gd name="adj" fmla="val 979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1732" y="445198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5890" y="448770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4112" y="4829175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Wm = (μI²l/4π) ln(R₂/R₁)，两种方法一致。反过来，先用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能量密度求出 Wm，再由 L = 2Wm/I² 也能求自感。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04863" y="6073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10380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数值：R₁ = 1 mm、R₂ = 3.5 mm、I = 10 A、μ = μ₀，每米电缆储能 1.25×10⁻⁵ J；两种算法的数值积分结果相同。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8900" cy="3675697"/>
            <a:chOff x="667512" y="1835468"/>
            <a:chExt cx="643890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5201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 麦克斯韦方程组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2899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6.5、6.6，变化的电场也能激发磁场，电磁规律由此归结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为四个方程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安培环路定理遇到的矛盾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位移电流与全电流定律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例6.9 电容器中的磁场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麦克斯韦方程组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电容器充电时，安培环路定理出现矛盾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783908" y="2071688"/>
            <a:ext cx="4692967" cy="3312413"/>
            <a:chOff x="783908" y="2071688"/>
            <a:chExt cx="4692967" cy="3312413"/>
          </a:xfrm>
        </p:grpSpPr>
        <p:sp>
          <p:nvSpPr>
            <p:cNvPr id="7" name="Freeform 7"/>
            <p:cNvSpPr/>
            <p:nvPr/>
          </p:nvSpPr>
          <p:spPr>
            <a:xfrm>
              <a:off x="793432" y="3609975"/>
              <a:ext cx="9525" cy="1615440"/>
            </a:xfrm>
            <a:custGeom>
              <a:avLst/>
              <a:gdLst/>
              <a:ahLst/>
              <a:cxnLst/>
              <a:rect l="l" t="t" r="r" b="b"/>
              <a:pathLst>
                <a:path w="9525" h="1615440">
                  <a:moveTo>
                    <a:pt x="0" y="0"/>
                  </a:moveTo>
                  <a:lnTo>
                    <a:pt x="0" y="161544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12482" y="5244465"/>
              <a:ext cx="2184082" cy="9525"/>
            </a:xfrm>
            <a:custGeom>
              <a:avLst/>
              <a:gdLst/>
              <a:ahLst/>
              <a:cxnLst/>
              <a:rect l="l" t="t" r="r" b="b"/>
              <a:pathLst>
                <a:path w="2184082" h="9525">
                  <a:moveTo>
                    <a:pt x="0" y="0"/>
                  </a:moveTo>
                  <a:lnTo>
                    <a:pt x="2184082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63265" y="5244465"/>
              <a:ext cx="2185035" cy="9525"/>
            </a:xfrm>
            <a:custGeom>
              <a:avLst/>
              <a:gdLst/>
              <a:ahLst/>
              <a:cxnLst/>
              <a:rect l="l" t="t" r="r" b="b"/>
              <a:pathLst>
                <a:path w="2185035" h="9525">
                  <a:moveTo>
                    <a:pt x="0" y="0"/>
                  </a:moveTo>
                  <a:lnTo>
                    <a:pt x="218503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67350" y="3609975"/>
              <a:ext cx="9525" cy="1615440"/>
            </a:xfrm>
            <a:custGeom>
              <a:avLst/>
              <a:gdLst/>
              <a:ahLst/>
              <a:cxnLst/>
              <a:rect l="l" t="t" r="r" b="b"/>
              <a:pathLst>
                <a:path w="9525" h="1615440">
                  <a:moveTo>
                    <a:pt x="0" y="161544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53802" y="2452688"/>
              <a:ext cx="9525" cy="2276475"/>
            </a:xfrm>
            <a:custGeom>
              <a:avLst/>
              <a:gdLst/>
              <a:ahLst/>
              <a:cxnLst/>
              <a:rect l="l" t="t" r="r" b="b"/>
              <a:pathLst>
                <a:path w="9525" h="2276475">
                  <a:moveTo>
                    <a:pt x="0" y="0"/>
                  </a:moveTo>
                  <a:lnTo>
                    <a:pt x="0" y="2276475"/>
                  </a:lnTo>
                </a:path>
              </a:pathLst>
            </a:custGeom>
            <a:noFill/>
            <a:ln w="57150">
              <a:solidFill>
                <a:srgbClr val="243B7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72915" y="2452688"/>
              <a:ext cx="9525" cy="2276475"/>
            </a:xfrm>
            <a:custGeom>
              <a:avLst/>
              <a:gdLst/>
              <a:ahLst/>
              <a:cxnLst/>
              <a:rect l="l" t="t" r="r" b="b"/>
              <a:pathLst>
                <a:path w="9525" h="2276475">
                  <a:moveTo>
                    <a:pt x="0" y="0"/>
                  </a:moveTo>
                  <a:lnTo>
                    <a:pt x="0" y="2276475"/>
                  </a:lnTo>
                </a:path>
              </a:pathLst>
            </a:custGeom>
            <a:noFill/>
            <a:ln w="57150">
              <a:solidFill>
                <a:srgbClr val="243B7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12482" y="3590925"/>
              <a:ext cx="2922270" cy="9525"/>
            </a:xfrm>
            <a:custGeom>
              <a:avLst/>
              <a:gdLst/>
              <a:ahLst/>
              <a:cxnLst/>
              <a:rect l="l" t="t" r="r" b="b"/>
              <a:pathLst>
                <a:path w="2922270" h="9525">
                  <a:moveTo>
                    <a:pt x="0" y="0"/>
                  </a:moveTo>
                  <a:lnTo>
                    <a:pt x="2922270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91965" y="3590925"/>
              <a:ext cx="1156335" cy="9525"/>
            </a:xfrm>
            <a:custGeom>
              <a:avLst/>
              <a:gdLst/>
              <a:ahLst/>
              <a:cxnLst/>
              <a:rect l="l" t="t" r="r" b="b"/>
              <a:pathLst>
                <a:path w="1156335" h="9525">
                  <a:moveTo>
                    <a:pt x="0" y="0"/>
                  </a:moveTo>
                  <a:lnTo>
                    <a:pt x="1156335" y="0"/>
                  </a:lnTo>
                </a:path>
              </a:pathLst>
            </a:custGeom>
            <a:noFill/>
            <a:ln w="2095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028825" y="2764155"/>
              <a:ext cx="332423" cy="1653540"/>
            </a:xfrm>
            <a:custGeom>
              <a:avLst/>
              <a:gdLst/>
              <a:ahLst/>
              <a:cxnLst/>
              <a:rect l="l" t="t" r="r" b="b"/>
              <a:pathLst>
                <a:path w="332423" h="1653540">
                  <a:moveTo>
                    <a:pt x="332423" y="807720"/>
                  </a:moveTo>
                  <a:lnTo>
                    <a:pt x="332423" y="736283"/>
                  </a:lnTo>
                  <a:lnTo>
                    <a:pt x="327660" y="641033"/>
                  </a:lnTo>
                  <a:lnTo>
                    <a:pt x="321945" y="554355"/>
                  </a:lnTo>
                  <a:lnTo>
                    <a:pt x="317183" y="466725"/>
                  </a:lnTo>
                  <a:lnTo>
                    <a:pt x="306705" y="388620"/>
                  </a:lnTo>
                  <a:lnTo>
                    <a:pt x="296227" y="310515"/>
                  </a:lnTo>
                  <a:lnTo>
                    <a:pt x="285750" y="243840"/>
                  </a:lnTo>
                  <a:lnTo>
                    <a:pt x="270510" y="181928"/>
                  </a:lnTo>
                  <a:lnTo>
                    <a:pt x="255270" y="128588"/>
                  </a:lnTo>
                  <a:lnTo>
                    <a:pt x="239077" y="82867"/>
                  </a:lnTo>
                  <a:lnTo>
                    <a:pt x="223838" y="45720"/>
                  </a:lnTo>
                  <a:lnTo>
                    <a:pt x="202883" y="20955"/>
                  </a:lnTo>
                  <a:lnTo>
                    <a:pt x="187642" y="3810"/>
                  </a:lnTo>
                  <a:lnTo>
                    <a:pt x="166688" y="0"/>
                  </a:lnTo>
                  <a:lnTo>
                    <a:pt x="145733" y="3810"/>
                  </a:lnTo>
                  <a:lnTo>
                    <a:pt x="130492" y="20955"/>
                  </a:lnTo>
                  <a:lnTo>
                    <a:pt x="109538" y="45720"/>
                  </a:lnTo>
                  <a:lnTo>
                    <a:pt x="94298" y="82867"/>
                  </a:lnTo>
                  <a:lnTo>
                    <a:pt x="78105" y="128588"/>
                  </a:lnTo>
                  <a:lnTo>
                    <a:pt x="62865" y="181928"/>
                  </a:lnTo>
                  <a:lnTo>
                    <a:pt x="46673" y="243840"/>
                  </a:lnTo>
                  <a:lnTo>
                    <a:pt x="37148" y="310515"/>
                  </a:lnTo>
                  <a:lnTo>
                    <a:pt x="26670" y="388620"/>
                  </a:lnTo>
                  <a:lnTo>
                    <a:pt x="16192" y="466725"/>
                  </a:lnTo>
                  <a:lnTo>
                    <a:pt x="10477" y="554355"/>
                  </a:lnTo>
                  <a:lnTo>
                    <a:pt x="5715" y="641033"/>
                  </a:lnTo>
                  <a:lnTo>
                    <a:pt x="0" y="736283"/>
                  </a:lnTo>
                  <a:lnTo>
                    <a:pt x="0" y="826770"/>
                  </a:lnTo>
                  <a:lnTo>
                    <a:pt x="0" y="917258"/>
                  </a:lnTo>
                  <a:lnTo>
                    <a:pt x="5715" y="1012508"/>
                  </a:lnTo>
                  <a:lnTo>
                    <a:pt x="10477" y="1099185"/>
                  </a:lnTo>
                  <a:lnTo>
                    <a:pt x="16192" y="1186815"/>
                  </a:lnTo>
                  <a:lnTo>
                    <a:pt x="26670" y="1264920"/>
                  </a:lnTo>
                  <a:lnTo>
                    <a:pt x="37148" y="1343025"/>
                  </a:lnTo>
                  <a:lnTo>
                    <a:pt x="46673" y="1409700"/>
                  </a:lnTo>
                  <a:lnTo>
                    <a:pt x="62865" y="1471612"/>
                  </a:lnTo>
                  <a:lnTo>
                    <a:pt x="78105" y="1524953"/>
                  </a:lnTo>
                  <a:lnTo>
                    <a:pt x="94298" y="1570673"/>
                  </a:lnTo>
                  <a:lnTo>
                    <a:pt x="109538" y="1607820"/>
                  </a:lnTo>
                  <a:lnTo>
                    <a:pt x="130492" y="1632585"/>
                  </a:lnTo>
                  <a:lnTo>
                    <a:pt x="145733" y="1649730"/>
                  </a:lnTo>
                  <a:lnTo>
                    <a:pt x="166688" y="1653540"/>
                  </a:lnTo>
                  <a:lnTo>
                    <a:pt x="187642" y="1649730"/>
                  </a:lnTo>
                  <a:lnTo>
                    <a:pt x="202883" y="1632585"/>
                  </a:lnTo>
                  <a:lnTo>
                    <a:pt x="223838" y="1607820"/>
                  </a:lnTo>
                  <a:lnTo>
                    <a:pt x="239077" y="1570673"/>
                  </a:lnTo>
                  <a:lnTo>
                    <a:pt x="255270" y="1524953"/>
                  </a:lnTo>
                  <a:lnTo>
                    <a:pt x="270510" y="1471612"/>
                  </a:lnTo>
                  <a:lnTo>
                    <a:pt x="285750" y="1409700"/>
                  </a:lnTo>
                  <a:lnTo>
                    <a:pt x="296227" y="1343025"/>
                  </a:lnTo>
                  <a:lnTo>
                    <a:pt x="306705" y="1264920"/>
                  </a:lnTo>
                  <a:lnTo>
                    <a:pt x="317183" y="1186815"/>
                  </a:lnTo>
                  <a:lnTo>
                    <a:pt x="321945" y="1099185"/>
                  </a:lnTo>
                  <a:lnTo>
                    <a:pt x="327660" y="1012508"/>
                  </a:lnTo>
                  <a:lnTo>
                    <a:pt x="332423" y="917258"/>
                  </a:lnTo>
                  <a:lnTo>
                    <a:pt x="332423" y="826770"/>
                  </a:lnTo>
                  <a:lnTo>
                    <a:pt x="332423" y="736283"/>
                  </a:lnTo>
                  <a:lnTo>
                    <a:pt x="328612" y="660083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13610" y="2769870"/>
              <a:ext cx="1280160" cy="1642110"/>
            </a:xfrm>
            <a:custGeom>
              <a:avLst/>
              <a:gdLst/>
              <a:ahLst/>
              <a:cxnLst/>
              <a:rect l="l" t="t" r="r" b="b"/>
              <a:pathLst>
                <a:path w="1280160" h="1642110">
                  <a:moveTo>
                    <a:pt x="0" y="0"/>
                  </a:moveTo>
                  <a:lnTo>
                    <a:pt x="137160" y="43815"/>
                  </a:lnTo>
                  <a:lnTo>
                    <a:pt x="288607" y="98108"/>
                  </a:lnTo>
                  <a:lnTo>
                    <a:pt x="422910" y="151447"/>
                  </a:lnTo>
                  <a:lnTo>
                    <a:pt x="547687" y="200977"/>
                  </a:lnTo>
                  <a:lnTo>
                    <a:pt x="667702" y="250508"/>
                  </a:lnTo>
                  <a:lnTo>
                    <a:pt x="771525" y="304800"/>
                  </a:lnTo>
                  <a:lnTo>
                    <a:pt x="869632" y="358140"/>
                  </a:lnTo>
                  <a:lnTo>
                    <a:pt x="958215" y="407670"/>
                  </a:lnTo>
                  <a:lnTo>
                    <a:pt x="1030605" y="457200"/>
                  </a:lnTo>
                  <a:lnTo>
                    <a:pt x="1098232" y="510540"/>
                  </a:lnTo>
                  <a:lnTo>
                    <a:pt x="1155382" y="564833"/>
                  </a:lnTo>
                  <a:lnTo>
                    <a:pt x="1197293" y="614362"/>
                  </a:lnTo>
                  <a:lnTo>
                    <a:pt x="1233487" y="663892"/>
                  </a:lnTo>
                  <a:lnTo>
                    <a:pt x="1259205" y="717233"/>
                  </a:lnTo>
                  <a:lnTo>
                    <a:pt x="1275398" y="771525"/>
                  </a:lnTo>
                  <a:lnTo>
                    <a:pt x="1280160" y="821055"/>
                  </a:lnTo>
                  <a:lnTo>
                    <a:pt x="1275398" y="870585"/>
                  </a:lnTo>
                  <a:lnTo>
                    <a:pt x="1259205" y="924877"/>
                  </a:lnTo>
                  <a:lnTo>
                    <a:pt x="1233487" y="978217"/>
                  </a:lnTo>
                  <a:lnTo>
                    <a:pt x="1197293" y="1027747"/>
                  </a:lnTo>
                  <a:lnTo>
                    <a:pt x="1155382" y="1077277"/>
                  </a:lnTo>
                  <a:lnTo>
                    <a:pt x="1098232" y="1131570"/>
                  </a:lnTo>
                  <a:lnTo>
                    <a:pt x="1030605" y="1184910"/>
                  </a:lnTo>
                  <a:lnTo>
                    <a:pt x="958215" y="1234440"/>
                  </a:lnTo>
                  <a:lnTo>
                    <a:pt x="869632" y="1283970"/>
                  </a:lnTo>
                  <a:lnTo>
                    <a:pt x="771525" y="1337310"/>
                  </a:lnTo>
                  <a:lnTo>
                    <a:pt x="667702" y="1391602"/>
                  </a:lnTo>
                  <a:lnTo>
                    <a:pt x="547687" y="1441132"/>
                  </a:lnTo>
                  <a:lnTo>
                    <a:pt x="422910" y="1490662"/>
                  </a:lnTo>
                  <a:lnTo>
                    <a:pt x="288607" y="1544002"/>
                  </a:lnTo>
                  <a:lnTo>
                    <a:pt x="137160" y="1598295"/>
                  </a:lnTo>
                  <a:lnTo>
                    <a:pt x="0" y="164211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071562" y="3343275"/>
              <a:ext cx="490538" cy="9525"/>
            </a:xfrm>
            <a:custGeom>
              <a:avLst/>
              <a:gdLst/>
              <a:ahLst/>
              <a:cxnLst/>
              <a:rect l="l" t="t" r="r" b="b"/>
              <a:pathLst>
                <a:path w="490538" h="9525">
                  <a:moveTo>
                    <a:pt x="0" y="0"/>
                  </a:moveTo>
                  <a:lnTo>
                    <a:pt x="490538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562100" y="32956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876675" y="2847022"/>
              <a:ext cx="178117" cy="9525"/>
            </a:xfrm>
            <a:custGeom>
              <a:avLst/>
              <a:gdLst/>
              <a:ahLst/>
              <a:cxnLst/>
              <a:rect l="l" t="t" r="r" b="b"/>
              <a:pathLst>
                <a:path w="178117" h="9525">
                  <a:moveTo>
                    <a:pt x="0" y="0"/>
                  </a:moveTo>
                  <a:lnTo>
                    <a:pt x="178117" y="0"/>
                  </a:lnTo>
                </a:path>
              </a:pathLst>
            </a:custGeom>
            <a:noFill/>
            <a:ln w="19050">
              <a:solidFill>
                <a:srgbClr val="14A38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54792" y="27993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006090" y="512064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83908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83908" y="5234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457825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457825" y="52349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744278" y="24241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744278" y="47386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263390" y="24241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263390" y="47386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83908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744278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263390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457825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351722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346960" y="3395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185988" y="27546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185988" y="44081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42988" y="33337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666875" y="33337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48100" y="28374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159568" y="28374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83766" y="51787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~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32441" y="2965132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40130" y="238696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86329" y="396573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32199" y="264271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39668" y="2071688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E(t)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53548" y="3858577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032182" y="1524000"/>
            <a:ext cx="5626418" cy="1602105"/>
            <a:chOff x="6032182" y="1524000"/>
            <a:chExt cx="5626418" cy="1602105"/>
          </a:xfrm>
        </p:grpSpPr>
        <p:sp>
          <p:nvSpPr>
            <p:cNvPr id="50" name="Rectangle 50"/>
            <p:cNvSpPr/>
            <p:nvPr/>
          </p:nvSpPr>
          <p:spPr>
            <a:xfrm>
              <a:off x="6032182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170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79832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57239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问题的提出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2212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变化的磁场会产生电场，变化的电场能不能产生磁场？麦克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斯韦把安培环路定理用于电容器充电电路，发现同一个环路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选不同的曲面，结果不一样。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154"/>
              <p:cNvSpPr txBox="1">
                <a:spLocks noGrp="1"/>
              </p:cNvSpPr>
              <p:nvPr/>
            </p:nvSpPr>
            <p:spPr>
              <a:xfrm>
                <a:off x="6032182" y="3316605"/>
                <a:ext cx="5626418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对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nor m:val="on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对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1" name="c2-card-3"/>
          <p:cNvGrpSpPr/>
          <p:nvPr/>
        </p:nvGrpSpPr>
        <p:grpSpPr>
          <a:xfrm>
            <a:off x="6032182" y="4013835"/>
            <a:ext cx="5626418" cy="1602105"/>
            <a:chOff x="6032182" y="4013835"/>
            <a:chExt cx="5626418" cy="1602105"/>
          </a:xfrm>
        </p:grpSpPr>
        <p:sp>
          <p:nvSpPr>
            <p:cNvPr id="57" name="Rectangle 57"/>
            <p:cNvSpPr/>
            <p:nvPr/>
          </p:nvSpPr>
          <p:spPr>
            <a:xfrm>
              <a:off x="6032182" y="4013835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1732" y="42233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19139" y="42591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矛盾的焦点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34112" y="4600575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S₁ 被导线穿过；S₂ 从两极板之间穿过，那里没有传导电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流。非稳恒情况下传导电流在极板处中断，不连续，环流的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值取决于选哪个曲面，定理失效。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2" name="Rectangle 6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130" y="5991225"/>
              <a:ext cx="10155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稳恒电流总是闭合的，穿过同一 L 所围任何曲面的电流都相同；电容器充放电这类时变情况，这个前提不再成立。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位移电流：就激发磁场而言，变化的电场等效于电流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09675"/>
            <a:chOff x="533400" y="1524000"/>
            <a:chExt cx="5410200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定性分析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极板间没有传导电流，但有变化的电场。充、放电时，极板间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的方向与外电路电流的方向相同。</a:t>
              </a:r>
            </a:p>
          </p:txBody>
        </p:sp>
      </p:grpSp>
      <p:grpSp>
        <p:nvGrpSpPr>
          <p:cNvPr id="22" name="c1-steps-2"/>
          <p:cNvGrpSpPr/>
          <p:nvPr/>
        </p:nvGrpSpPr>
        <p:grpSpPr>
          <a:xfrm>
            <a:off x="533400" y="2918460"/>
            <a:ext cx="5394368" cy="1106329"/>
            <a:chOff x="533400" y="2918460"/>
            <a:chExt cx="5394368" cy="1106329"/>
          </a:xfrm>
        </p:grpSpPr>
        <p:sp>
          <p:nvSpPr>
            <p:cNvPr id="13" name="Rectangle 13"/>
            <p:cNvSpPr/>
            <p:nvPr/>
          </p:nvSpPr>
          <p:spPr>
            <a:xfrm>
              <a:off x="666750" y="3061335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18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052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949892"/>
              <a:ext cx="1881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板间 D 等于面电荷密度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3217069"/>
              <a:ext cx="3608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由高斯定理，D(t) = σ(t) = q(t)/S，dD/dt = dσ/dt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35366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板间电通量等于极板电量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804761"/>
              <a:ext cx="4980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Φe(t) = D(t)S = q(t)，dΦe/dt = dq/dt = I，恰好等于导线里的传导电流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192905"/>
            <a:ext cx="5410200" cy="1209675"/>
            <a:chOff x="533400" y="4192905"/>
            <a:chExt cx="5410200" cy="1209675"/>
          </a:xfrm>
        </p:grpSpPr>
        <p:sp>
          <p:nvSpPr>
            <p:cNvPr id="23" name="Rectangle 23"/>
            <p:cNvSpPr/>
            <p:nvPr/>
          </p:nvSpPr>
          <p:spPr>
            <a:xfrm>
              <a:off x="533400" y="419290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432625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3905" y="438531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344" y="44196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数量级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4742498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0.01 m²、I = 0.1 A 时，板间 dE/dt = I/(ε₀S)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1.1×10¹² V·m⁻¹·s⁻¹，Id = ε₀S·dE/dt = 0.1 A。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553528"/>
            <a:chOff x="6248400" y="1524000"/>
            <a:chExt cx="5410200" cy="1553528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553528"/>
            </a:xfrm>
            <a:prstGeom prst="roundRect">
              <a:avLst>
                <a:gd name="adj" fmla="val 858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40805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12242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麦克斯韦假设二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3947" y="207264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就激发磁场而言，变化的电场等效于一种电流，叫位移电流：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59"/>
                <p:cNvSpPr txBox="1">
                  <a:spLocks noGrp="1"/>
                </p:cNvSpPr>
                <p:nvPr/>
              </p:nvSpPr>
              <p:spPr>
                <a:xfrm>
                  <a:off x="6440805" y="2353628"/>
                  <a:ext cx="502539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</m:acc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acc>
                              <m:accPr>
                                <m:chr m:val="⃗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2-card-2"/>
          <p:cNvGrpSpPr/>
          <p:nvPr/>
        </p:nvGrpSpPr>
        <p:grpSpPr>
          <a:xfrm>
            <a:off x="6248400" y="3252788"/>
            <a:ext cx="5410200" cy="1209675"/>
            <a:chOff x="6248400" y="3252788"/>
            <a:chExt cx="54102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6248400" y="3252788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38613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344519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8344" y="347948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矛盾解决了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3801427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S₁：∮H·dl = I；对 S₂：∮H·dl = Id = dq/dt = I。两个曲面给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出同一个结果。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248400" y="4636770"/>
            <a:ext cx="5410200" cy="765810"/>
            <a:chOff x="6248400" y="4636770"/>
            <a:chExt cx="5410200" cy="765810"/>
          </a:xfrm>
        </p:grpSpPr>
        <p:sp>
          <p:nvSpPr>
            <p:cNvPr id="41" name="Rectangle 41"/>
            <p:cNvSpPr/>
            <p:nvPr/>
          </p:nvSpPr>
          <p:spPr>
            <a:xfrm>
              <a:off x="6248400" y="4636770"/>
              <a:ext cx="5410200" cy="765810"/>
            </a:xfrm>
            <a:prstGeom prst="roundRect">
              <a:avLst>
                <a:gd name="adj" fmla="val 149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4919663"/>
              <a:ext cx="200026" cy="200025"/>
              <a:chOff x="6453188" y="4919663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49196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92926" y="49641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27642" y="50752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5892" y="4801552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Jd 是位移电流密度；Id 是穿过某个曲面的位移电流，等于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该面上电位移通量的变化率。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9488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充电时 D 增大，∂D/∂t 与 D 同向；放电时 D 减小，∂D/∂t 与 D 反向。两种情况下位移电流都与导线中的电流同方向。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全电流永远连续：安培环路定理推广为全电流定律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934528"/>
            <a:chOff x="533400" y="1524000"/>
            <a:chExt cx="5410200" cy="19345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340" y="175069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位移电流的实质与全电流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428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位移电流的实质是变化的电场，不是电荷的定向移动。传导电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流中断的地方，必有等量的位移电流接续下去，两者合起来永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远连续：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8"/>
                <p:cNvSpPr txBox="1">
                  <a:spLocks noGrp="1"/>
                </p:cNvSpPr>
                <p:nvPr/>
              </p:nvSpPr>
              <p:spPr>
                <a:xfrm>
                  <a:off x="763905" y="2867978"/>
                  <a:ext cx="498729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全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1-table-2"/>
          <p:cNvGrpSpPr/>
          <p:nvPr/>
        </p:nvGrpSpPr>
        <p:grpSpPr>
          <a:xfrm>
            <a:off x="533400" y="3633788"/>
            <a:ext cx="5410200" cy="2028825"/>
            <a:chOff x="533400" y="3633788"/>
            <a:chExt cx="5410200" cy="2028825"/>
          </a:xfrm>
        </p:grpSpPr>
        <p:sp>
          <p:nvSpPr>
            <p:cNvPr id="14" name="Rectangle 14"/>
            <p:cNvSpPr/>
            <p:nvPr/>
          </p:nvSpPr>
          <p:spPr>
            <a:xfrm>
              <a:off x="533400" y="3633788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2241" y="3758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75954" y="37580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传导电流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44771" y="37580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位移电流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3412" y="41638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产生原因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5025" y="41638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电荷定向移动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60482" y="41638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电场随时间变化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405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44531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45696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焦耳热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05025" y="45696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60482" y="45696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463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9753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激发磁场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05025" y="49753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60482" y="49753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有，规律相同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2520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25684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53811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05025" y="53811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60482" y="538114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介质和真空中都可以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33788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00250" y="36337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55708" y="363378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051685"/>
            <a:chOff x="6248400" y="1524000"/>
            <a:chExt cx="5410200" cy="205168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051685"/>
            </a:xfrm>
            <a:prstGeom prst="roundRect">
              <a:avLst>
                <a:gd name="adj" fmla="val 65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408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0244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全电流定律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947" y="2072640"/>
              <a:ext cx="4464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假设 Id 的磁效应与传导电流相同，安培环路定理推广为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169"/>
                <p:cNvSpPr txBox="1">
                  <a:spLocks noGrp="1"/>
                </p:cNvSpPr>
                <p:nvPr/>
              </p:nvSpPr>
              <p:spPr>
                <a:xfrm>
                  <a:off x="6440805" y="2353628"/>
                  <a:ext cx="5025390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D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nor m:val="on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全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6433947" y="291560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它适用于非稳恒情况；稳恒时 ∂D/∂t = 0，回到原来的安培环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路定理。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3750945"/>
            <a:ext cx="5410200" cy="1910715"/>
            <a:chOff x="6248400" y="3750945"/>
            <a:chExt cx="5410200" cy="1910715"/>
          </a:xfrm>
        </p:grpSpPr>
        <p:sp>
          <p:nvSpPr>
            <p:cNvPr id="46" name="Rectangle 46"/>
            <p:cNvSpPr/>
            <p:nvPr/>
          </p:nvSpPr>
          <p:spPr>
            <a:xfrm>
              <a:off x="6248400" y="3750945"/>
              <a:ext cx="5410200" cy="1910715"/>
            </a:xfrm>
            <a:prstGeom prst="roundRect">
              <a:avLst>
                <a:gd name="adj" fmla="val 69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3884295"/>
              <a:ext cx="47625" cy="1644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8905" y="394335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0342" y="397764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与感生电场对照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430053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变化的磁场激发涡旋电场，变化的电场激发涡旋磁场，两式差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一个负号：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87478" y="49158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43497" y="4859655"/>
              <a:ext cx="19990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EK 与 ∂B/∂t 成左手关系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7478" y="521874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43497" y="5162550"/>
              <a:ext cx="3002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位移电流的磁场与 ∂D/∂t 成右手关系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7982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作业选择题 5：位移电流由变化的电场产生，没有焦耳热，它的磁效应服从推广后的安培环路定理。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例6.9 充电电容器：板间位移电流与磁场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2025968"/>
            <a:chOff x="533400" y="1524000"/>
            <a:chExt cx="4760595" cy="2025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25968"/>
            </a:xfrm>
            <a:prstGeom prst="roundRect">
              <a:avLst>
                <a:gd name="adj" fmla="val 65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592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027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平行板电容器两极板是半径 R = 5.0 cm 的圆导体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片，充电时板间 dE/dt = 1.0×10¹² V·m⁻¹·s⁻¹，忽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略边缘效应。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板间的位移电流；(2) 距两板中心连线 r（r &lt;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R）处的磁感应强度。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761924" y="3771424"/>
            <a:ext cx="4384618" cy="1691830"/>
            <a:chOff x="761924" y="3771424"/>
            <a:chExt cx="4384618" cy="1691830"/>
          </a:xfrm>
        </p:grpSpPr>
        <p:sp>
          <p:nvSpPr>
            <p:cNvPr id="14" name="Freeform 14"/>
            <p:cNvSpPr/>
            <p:nvPr/>
          </p:nvSpPr>
          <p:spPr>
            <a:xfrm>
              <a:off x="981075" y="5217795"/>
              <a:ext cx="3955732" cy="9525"/>
            </a:xfrm>
            <a:custGeom>
              <a:avLst/>
              <a:gdLst/>
              <a:ahLst/>
              <a:cxnLst/>
              <a:rect l="l" t="t" r="r" b="b"/>
              <a:pathLst>
                <a:path w="3955732" h="9525">
                  <a:moveTo>
                    <a:pt x="0" y="0"/>
                  </a:moveTo>
                  <a:lnTo>
                    <a:pt x="395573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936808" y="5170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62025" y="4026218"/>
              <a:ext cx="9525" cy="1172527"/>
            </a:xfrm>
            <a:custGeom>
              <a:avLst/>
              <a:gdLst/>
              <a:ahLst/>
              <a:cxnLst/>
              <a:rect l="l" t="t" r="r" b="b"/>
              <a:pathLst>
                <a:path w="9525" h="1172527">
                  <a:moveTo>
                    <a:pt x="0" y="117252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14400" y="39309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76312" y="4092892"/>
              <a:ext cx="1303972" cy="1112520"/>
            </a:xfrm>
            <a:custGeom>
              <a:avLst/>
              <a:gdLst/>
              <a:ahLst/>
              <a:cxnLst/>
              <a:rect l="l" t="t" r="r" b="b"/>
              <a:pathLst>
                <a:path w="1303972" h="1112520">
                  <a:moveTo>
                    <a:pt x="0" y="1112520"/>
                  </a:moveTo>
                  <a:lnTo>
                    <a:pt x="52388" y="1067752"/>
                  </a:lnTo>
                  <a:lnTo>
                    <a:pt x="119062" y="1010602"/>
                  </a:lnTo>
                  <a:lnTo>
                    <a:pt x="185738" y="954405"/>
                  </a:lnTo>
                  <a:lnTo>
                    <a:pt x="252412" y="897255"/>
                  </a:lnTo>
                  <a:lnTo>
                    <a:pt x="319088" y="840105"/>
                  </a:lnTo>
                  <a:lnTo>
                    <a:pt x="385762" y="783908"/>
                  </a:lnTo>
                  <a:lnTo>
                    <a:pt x="452438" y="726758"/>
                  </a:lnTo>
                  <a:lnTo>
                    <a:pt x="519112" y="669608"/>
                  </a:lnTo>
                  <a:lnTo>
                    <a:pt x="585788" y="613410"/>
                  </a:lnTo>
                  <a:lnTo>
                    <a:pt x="652462" y="556260"/>
                  </a:lnTo>
                  <a:lnTo>
                    <a:pt x="719138" y="499110"/>
                  </a:lnTo>
                  <a:lnTo>
                    <a:pt x="785812" y="442912"/>
                  </a:lnTo>
                  <a:lnTo>
                    <a:pt x="852488" y="385762"/>
                  </a:lnTo>
                  <a:lnTo>
                    <a:pt x="919162" y="328612"/>
                  </a:lnTo>
                  <a:lnTo>
                    <a:pt x="985838" y="272415"/>
                  </a:lnTo>
                  <a:lnTo>
                    <a:pt x="1051560" y="215265"/>
                  </a:lnTo>
                  <a:lnTo>
                    <a:pt x="1118235" y="158115"/>
                  </a:lnTo>
                  <a:lnTo>
                    <a:pt x="1184910" y="101917"/>
                  </a:lnTo>
                  <a:lnTo>
                    <a:pt x="1251585" y="44767"/>
                  </a:lnTo>
                  <a:lnTo>
                    <a:pt x="1303972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309812" y="4092892"/>
              <a:ext cx="2632710" cy="743903"/>
            </a:xfrm>
            <a:custGeom>
              <a:avLst/>
              <a:gdLst/>
              <a:ahLst/>
              <a:cxnLst/>
              <a:rect l="l" t="t" r="r" b="b"/>
              <a:pathLst>
                <a:path w="2632710" h="743903">
                  <a:moveTo>
                    <a:pt x="0" y="0"/>
                  </a:moveTo>
                  <a:lnTo>
                    <a:pt x="51435" y="40958"/>
                  </a:lnTo>
                  <a:lnTo>
                    <a:pt x="118110" y="90488"/>
                  </a:lnTo>
                  <a:lnTo>
                    <a:pt x="184785" y="135255"/>
                  </a:lnTo>
                  <a:lnTo>
                    <a:pt x="251460" y="178117"/>
                  </a:lnTo>
                  <a:lnTo>
                    <a:pt x="318135" y="215265"/>
                  </a:lnTo>
                  <a:lnTo>
                    <a:pt x="384810" y="250508"/>
                  </a:lnTo>
                  <a:lnTo>
                    <a:pt x="451485" y="282892"/>
                  </a:lnTo>
                  <a:lnTo>
                    <a:pt x="518160" y="312420"/>
                  </a:lnTo>
                  <a:lnTo>
                    <a:pt x="584835" y="340995"/>
                  </a:lnTo>
                  <a:lnTo>
                    <a:pt x="651510" y="365760"/>
                  </a:lnTo>
                  <a:lnTo>
                    <a:pt x="718185" y="391478"/>
                  </a:lnTo>
                  <a:lnTo>
                    <a:pt x="784860" y="414338"/>
                  </a:lnTo>
                  <a:lnTo>
                    <a:pt x="851535" y="435292"/>
                  </a:lnTo>
                  <a:lnTo>
                    <a:pt x="918210" y="457200"/>
                  </a:lnTo>
                  <a:lnTo>
                    <a:pt x="984885" y="474345"/>
                  </a:lnTo>
                  <a:lnTo>
                    <a:pt x="1051560" y="492442"/>
                  </a:lnTo>
                  <a:lnTo>
                    <a:pt x="1118235" y="509588"/>
                  </a:lnTo>
                  <a:lnTo>
                    <a:pt x="1184910" y="525780"/>
                  </a:lnTo>
                  <a:lnTo>
                    <a:pt x="1251585" y="541973"/>
                  </a:lnTo>
                  <a:lnTo>
                    <a:pt x="1318260" y="556260"/>
                  </a:lnTo>
                  <a:lnTo>
                    <a:pt x="1384935" y="570548"/>
                  </a:lnTo>
                  <a:lnTo>
                    <a:pt x="1451610" y="582930"/>
                  </a:lnTo>
                  <a:lnTo>
                    <a:pt x="1518285" y="595312"/>
                  </a:lnTo>
                  <a:lnTo>
                    <a:pt x="1584960" y="607695"/>
                  </a:lnTo>
                  <a:lnTo>
                    <a:pt x="1651635" y="620078"/>
                  </a:lnTo>
                  <a:lnTo>
                    <a:pt x="1718310" y="630555"/>
                  </a:lnTo>
                  <a:lnTo>
                    <a:pt x="1784985" y="641033"/>
                  </a:lnTo>
                  <a:lnTo>
                    <a:pt x="1851660" y="650558"/>
                  </a:lnTo>
                  <a:lnTo>
                    <a:pt x="1918335" y="661035"/>
                  </a:lnTo>
                  <a:lnTo>
                    <a:pt x="1985010" y="669608"/>
                  </a:lnTo>
                  <a:lnTo>
                    <a:pt x="2051685" y="679133"/>
                  </a:lnTo>
                  <a:lnTo>
                    <a:pt x="2118360" y="687705"/>
                  </a:lnTo>
                  <a:lnTo>
                    <a:pt x="2185035" y="694373"/>
                  </a:lnTo>
                  <a:lnTo>
                    <a:pt x="2251710" y="703898"/>
                  </a:lnTo>
                  <a:lnTo>
                    <a:pt x="2318385" y="710565"/>
                  </a:lnTo>
                  <a:lnTo>
                    <a:pt x="2385060" y="718185"/>
                  </a:lnTo>
                  <a:lnTo>
                    <a:pt x="2451735" y="724853"/>
                  </a:lnTo>
                  <a:lnTo>
                    <a:pt x="2518410" y="732473"/>
                  </a:lnTo>
                  <a:lnTo>
                    <a:pt x="2585085" y="739140"/>
                  </a:lnTo>
                  <a:lnTo>
                    <a:pt x="2632710" y="743903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94572" y="4099560"/>
              <a:ext cx="9525" cy="1099185"/>
            </a:xfrm>
            <a:custGeom>
              <a:avLst/>
              <a:gdLst/>
              <a:ahLst/>
              <a:cxnLst/>
              <a:rect l="l" t="t" r="r" b="b"/>
              <a:pathLst>
                <a:path w="9525" h="1099185">
                  <a:moveTo>
                    <a:pt x="0" y="109918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952500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52500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285048" y="40709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285048" y="40709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952048" y="48291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285048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285048" y="40709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60448" y="51573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6822" y="37714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1924" y="5254466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1286" y="527256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46452" y="527256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79952" y="527256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9725" y="4285298"/>
              <a:ext cx="337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∝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2688" y="4464368"/>
              <a:ext cx="497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 ∝ 1/r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94394" y="3886676"/>
              <a:ext cx="12853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B(R) = 2.78×10⁻⁷ T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5598795" y="1533525"/>
            <a:ext cx="5253863" cy="1900714"/>
            <a:chOff x="5598795" y="1533525"/>
            <a:chExt cx="5253863" cy="1900714"/>
          </a:xfrm>
        </p:grpSpPr>
        <p:sp>
          <p:nvSpPr>
            <p:cNvPr id="38" name="Rectangle 38"/>
            <p:cNvSpPr/>
            <p:nvPr/>
          </p:nvSpPr>
          <p:spPr>
            <a:xfrm>
              <a:off x="573214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59879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241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59879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9241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037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180" y="1833086"/>
              <a:ext cx="48404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Id = dΦe/dt = S·dD/dt = πR²ε₀·dE/dt = π × 0.05² × 8.85×10⁻¹² × 10¹² ≈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7.0×10⁻² 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037" y="2359342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取半径 r 的圆周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2180" y="2627471"/>
              <a:ext cx="4579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由对称性，H 沿圆周切向且大小相等，圆内位移电流为 ε₀πr²·dE/dt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11037" y="29460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用全电流定律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2180" y="3214211"/>
              <a:ext cx="194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(B/μ₀)·2πr = ε₀πr²·dE/dt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174"/>
              <p:cNvSpPr txBox="1">
                <a:spLocks noGrp="1"/>
              </p:cNvSpPr>
              <p:nvPr/>
            </p:nvSpPr>
            <p:spPr>
              <a:xfrm>
                <a:off x="5598795" y="3602355"/>
                <a:ext cx="605980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dE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3"/>
          <p:cNvGrpSpPr/>
          <p:nvPr/>
        </p:nvGrpSpPr>
        <p:grpSpPr>
          <a:xfrm>
            <a:off x="5598795" y="4291965"/>
            <a:ext cx="6059805" cy="1209675"/>
            <a:chOff x="5598795" y="4291965"/>
            <a:chExt cx="6059805" cy="1209675"/>
          </a:xfrm>
        </p:grpSpPr>
        <p:sp>
          <p:nvSpPr>
            <p:cNvPr id="53" name="Rectangle 53"/>
            <p:cNvSpPr/>
            <p:nvPr/>
          </p:nvSpPr>
          <p:spPr>
            <a:xfrm>
              <a:off x="5598795" y="4291965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08320" y="442531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29300" y="44843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20740" y="45186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22442" y="4841558"/>
              <a:ext cx="52429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34 页结果写作 7.0×10⁻¹² A，数量级错误，应为 7.0×10⁻²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A；dE/dt 的单位 V/ms 应写作 V·m⁻¹·s⁻¹。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04863" y="60956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29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检验：r = R 处 B = 2.78×10⁻⁷ T，正好等于 μ₀Id/(2πR)；板外 B = ε₀μ₀R²/(2r)·dE/dt，与通有 Id 的长直导线的磁场相同。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麦克斯韦方程组：四个方程概括全部电磁规律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951220" cy="4057650"/>
            <a:chOff x="533400" y="1524000"/>
            <a:chExt cx="595122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0"/>
            </a:xfrm>
            <a:prstGeom prst="roundRect">
              <a:avLst>
                <a:gd name="adj" fmla="val 328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95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积分形式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93"/>
                <p:cNvSpPr txBox="1">
                  <a:spLocks noGrp="1"/>
                </p:cNvSpPr>
                <p:nvPr/>
              </p:nvSpPr>
              <p:spPr>
                <a:xfrm>
                  <a:off x="737235" y="2077402"/>
                  <a:ext cx="554355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94"/>
                <p:cNvSpPr txBox="1">
                  <a:spLocks noGrp="1"/>
                </p:cNvSpPr>
                <p:nvPr/>
              </p:nvSpPr>
              <p:spPr>
                <a:xfrm>
                  <a:off x="737235" y="2676525"/>
                  <a:ext cx="554355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∂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5"/>
                <p:cNvSpPr txBox="1">
                  <a:spLocks noGrp="1"/>
                </p:cNvSpPr>
                <p:nvPr/>
              </p:nvSpPr>
              <p:spPr>
                <a:xfrm>
                  <a:off x="737235" y="3275648"/>
                  <a:ext cx="554355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96"/>
                <p:cNvSpPr txBox="1">
                  <a:spLocks noGrp="1"/>
                </p:cNvSpPr>
                <p:nvPr/>
              </p:nvSpPr>
              <p:spPr>
                <a:xfrm>
                  <a:off x="737235" y="3874770"/>
                  <a:ext cx="554355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∮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/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D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2-card-1"/>
          <p:cNvGrpSpPr/>
          <p:nvPr/>
        </p:nvGrpSpPr>
        <p:grpSpPr>
          <a:xfrm>
            <a:off x="6789420" y="1524000"/>
            <a:ext cx="4869180" cy="2753678"/>
            <a:chOff x="6789420" y="1524000"/>
            <a:chExt cx="4869180" cy="2753678"/>
          </a:xfrm>
        </p:grpSpPr>
        <p:sp>
          <p:nvSpPr>
            <p:cNvPr id="15" name="Rectangle 15"/>
            <p:cNvSpPr/>
            <p:nvPr/>
          </p:nvSpPr>
          <p:spPr>
            <a:xfrm>
              <a:off x="6789420" y="1524000"/>
              <a:ext cx="4869180" cy="2753678"/>
            </a:xfrm>
            <a:prstGeom prst="roundRect">
              <a:avLst>
                <a:gd name="adj" fmla="val 4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798945" y="1657350"/>
              <a:ext cx="47625" cy="24869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3135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1366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微分形式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97"/>
                <p:cNvSpPr txBox="1">
                  <a:spLocks noGrp="1"/>
                </p:cNvSpPr>
                <p:nvPr/>
              </p:nvSpPr>
              <p:spPr>
                <a:xfrm>
                  <a:off x="7031355" y="2077402"/>
                  <a:ext cx="442341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∇⋅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98"/>
                <p:cNvSpPr txBox="1">
                  <a:spLocks noGrp="1"/>
                </p:cNvSpPr>
                <p:nvPr/>
              </p:nvSpPr>
              <p:spPr>
                <a:xfrm>
                  <a:off x="7031355" y="2531745"/>
                  <a:ext cx="442341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∇×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99"/>
                <p:cNvSpPr txBox="1">
                  <a:spLocks noGrp="1"/>
                </p:cNvSpPr>
                <p:nvPr/>
              </p:nvSpPr>
              <p:spPr>
                <a:xfrm>
                  <a:off x="7031355" y="3112770"/>
                  <a:ext cx="442341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∇⋅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200"/>
                <p:cNvSpPr txBox="1">
                  <a:spLocks noGrp="1"/>
                </p:cNvSpPr>
                <p:nvPr/>
              </p:nvSpPr>
              <p:spPr>
                <a:xfrm>
                  <a:off x="7031355" y="3567112"/>
                  <a:ext cx="442341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∇×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acc>
                              <m:accPr>
                                <m:chr m:val="⃗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</m:acc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∂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2-card-2"/>
          <p:cNvGrpSpPr/>
          <p:nvPr/>
        </p:nvGrpSpPr>
        <p:grpSpPr>
          <a:xfrm>
            <a:off x="6789420" y="4463415"/>
            <a:ext cx="4869180" cy="1118235"/>
            <a:chOff x="6789420" y="4463415"/>
            <a:chExt cx="4869180" cy="1118235"/>
          </a:xfrm>
        </p:grpSpPr>
        <p:sp>
          <p:nvSpPr>
            <p:cNvPr id="24" name="Rectangle 24"/>
            <p:cNvSpPr/>
            <p:nvPr/>
          </p:nvSpPr>
          <p:spPr>
            <a:xfrm>
              <a:off x="6789420" y="4463415"/>
              <a:ext cx="4869180" cy="1118235"/>
            </a:xfrm>
            <a:prstGeom prst="roundRect">
              <a:avLst>
                <a:gd name="adj" fmla="val 119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98945" y="4596765"/>
              <a:ext cx="47625" cy="8515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31355" y="46672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83158" y="47029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辅助公式（介质的性质）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01"/>
                <p:cNvSpPr txBox="1">
                  <a:spLocks noGrp="1"/>
                </p:cNvSpPr>
                <p:nvPr/>
              </p:nvSpPr>
              <p:spPr>
                <a:xfrm>
                  <a:off x="7031355" y="5016818"/>
                  <a:ext cx="442341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acc>
                          <m:accPr>
                            <m:chr m:val="⃗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0" name="Rectangle 3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04084"/>
              <a:ext cx="9018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微分形式用到散度 ∇· 和旋度 ∇×，由积分形式经高斯公式、斯托克斯公式得到；本章的计算都用积分形式。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279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8518" y="407194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位移电流 麦克斯韦方程组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逐式读懂方程组：两式讲源，两式讲电与磁互相激发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705100"/>
            <a:chOff x="533400" y="1524000"/>
            <a:chExt cx="11125200" cy="2705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2594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8254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说的是什么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44000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来源与推广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939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∮D·dS = q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4265" y="2150745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电荷是电场的源，电场线起于正电荷、止于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负电荷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60018" y="228409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静电场的高斯定理，推广到一般电场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2905125"/>
              <a:ext cx="21352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∮E·dl = −∫(∂B/∂t)·dS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4265" y="2905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变化的磁场激发涡旋电场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60018" y="29051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静电场环路定理加上感生电场（假设一）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48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392805"/>
              <a:ext cx="9477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∮B·dS =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4265" y="339280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磁场无源，磁感线闭合，没有磁单极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0018" y="33928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稳恒磁场的高斯定理，推广到一般磁场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414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3880485"/>
              <a:ext cx="2382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∮H·dl = ∫(J + ∂D/∂t)·dS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4265" y="38804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传导电流和变化的电场都激发涡旋磁场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60018" y="38804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安培环路定理加上位移电流（假设二）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32822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48575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419600"/>
            <a:ext cx="11125200" cy="1238250"/>
            <a:chOff x="533400" y="4419600"/>
            <a:chExt cx="111252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533400" y="4419600"/>
              <a:ext cx="11125200" cy="1238250"/>
            </a:xfrm>
            <a:prstGeom prst="roundRect">
              <a:avLst>
                <a:gd name="adj" fmla="val 9231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938715"/>
              <a:ext cx="200023" cy="200023"/>
              <a:chOff x="738188" y="4938715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387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5005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795838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第二、四两式把电场和磁场联系起来：变化的磁场产生电场，变化的电场产生磁场，两者互相激发，可以脱离电荷和电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流向外传播，这就是下一节的电磁波。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130" y="5991225"/>
              <a:ext cx="7951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静态情况下 ∂/∂t = 0，第二、四式退回第4章、第5章的环路定理，电场与磁场各自独立。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679254" cy="3351847"/>
            <a:chOff x="667512" y="1835468"/>
            <a:chExt cx="667925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69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6.7，从麦克斯韦方程组推出波动方程，预言光是电磁波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电磁波的预言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平面电磁波的波动方程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平面电磁波的性质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能流密度与四道例题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电磁波的预言：交变的电场与磁场互相激发、向外传播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651635"/>
            <a:chOff x="533400" y="1524000"/>
            <a:chExt cx="595122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904" y="17692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麦克斯韦的电磁场理论表明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变化的磁场激发涡旋电场，变化的电场激发涡旋磁场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电磁振源产生交变的电磁场，交变电场与交变磁场互相激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发，由近及远传播，形成电磁波</a:t>
              </a:r>
            </a:p>
          </p:txBody>
        </p:sp>
      </p:grpSp>
      <p:grpSp>
        <p:nvGrpSpPr>
          <p:cNvPr id="49" name="c1-graph-2"/>
          <p:cNvGrpSpPr/>
          <p:nvPr/>
        </p:nvGrpSpPr>
        <p:grpSpPr>
          <a:xfrm>
            <a:off x="474345" y="3421380"/>
            <a:ext cx="6078855" cy="1591247"/>
            <a:chOff x="474345" y="3421380"/>
            <a:chExt cx="6078855" cy="1591247"/>
          </a:xfrm>
        </p:grpSpPr>
        <p:sp>
          <p:nvSpPr>
            <p:cNvPr id="18" name="Freeform 18"/>
            <p:cNvSpPr/>
            <p:nvPr/>
          </p:nvSpPr>
          <p:spPr>
            <a:xfrm>
              <a:off x="1319212" y="3657600"/>
              <a:ext cx="1046798" cy="1036320"/>
            </a:xfrm>
            <a:custGeom>
              <a:avLst/>
              <a:gdLst/>
              <a:ahLst/>
              <a:cxnLst/>
              <a:rect l="l" t="t" r="r" b="b"/>
              <a:pathLst>
                <a:path w="1046798" h="1036320">
                  <a:moveTo>
                    <a:pt x="1044892" y="499110"/>
                  </a:moveTo>
                  <a:lnTo>
                    <a:pt x="1041083" y="460058"/>
                  </a:lnTo>
                  <a:lnTo>
                    <a:pt x="1029652" y="402908"/>
                  </a:lnTo>
                  <a:lnTo>
                    <a:pt x="1017270" y="346710"/>
                  </a:lnTo>
                  <a:lnTo>
                    <a:pt x="993458" y="293370"/>
                  </a:lnTo>
                  <a:lnTo>
                    <a:pt x="963930" y="242888"/>
                  </a:lnTo>
                  <a:lnTo>
                    <a:pt x="927735" y="194310"/>
                  </a:lnTo>
                  <a:lnTo>
                    <a:pt x="892492" y="152400"/>
                  </a:lnTo>
                  <a:lnTo>
                    <a:pt x="850583" y="113347"/>
                  </a:lnTo>
                  <a:lnTo>
                    <a:pt x="802958" y="79058"/>
                  </a:lnTo>
                  <a:lnTo>
                    <a:pt x="749617" y="51435"/>
                  </a:lnTo>
                  <a:lnTo>
                    <a:pt x="696278" y="29528"/>
                  </a:lnTo>
                  <a:lnTo>
                    <a:pt x="636270" y="13335"/>
                  </a:lnTo>
                  <a:lnTo>
                    <a:pt x="582930" y="2858"/>
                  </a:lnTo>
                  <a:lnTo>
                    <a:pt x="523875" y="0"/>
                  </a:lnTo>
                  <a:lnTo>
                    <a:pt x="463867" y="2858"/>
                  </a:lnTo>
                  <a:lnTo>
                    <a:pt x="410527" y="13335"/>
                  </a:lnTo>
                  <a:lnTo>
                    <a:pt x="350520" y="29528"/>
                  </a:lnTo>
                  <a:lnTo>
                    <a:pt x="297180" y="51435"/>
                  </a:lnTo>
                  <a:lnTo>
                    <a:pt x="243840" y="79058"/>
                  </a:lnTo>
                  <a:lnTo>
                    <a:pt x="196215" y="113347"/>
                  </a:lnTo>
                  <a:lnTo>
                    <a:pt x="154305" y="152400"/>
                  </a:lnTo>
                  <a:lnTo>
                    <a:pt x="119062" y="194310"/>
                  </a:lnTo>
                  <a:lnTo>
                    <a:pt x="82867" y="242888"/>
                  </a:lnTo>
                  <a:lnTo>
                    <a:pt x="53340" y="293370"/>
                  </a:lnTo>
                  <a:lnTo>
                    <a:pt x="29527" y="346710"/>
                  </a:lnTo>
                  <a:lnTo>
                    <a:pt x="17145" y="402908"/>
                  </a:lnTo>
                  <a:lnTo>
                    <a:pt x="5715" y="460058"/>
                  </a:lnTo>
                  <a:lnTo>
                    <a:pt x="0" y="518160"/>
                  </a:lnTo>
                  <a:lnTo>
                    <a:pt x="5715" y="576262"/>
                  </a:lnTo>
                  <a:lnTo>
                    <a:pt x="17145" y="633412"/>
                  </a:lnTo>
                  <a:lnTo>
                    <a:pt x="29527" y="689610"/>
                  </a:lnTo>
                  <a:lnTo>
                    <a:pt x="53340" y="742950"/>
                  </a:lnTo>
                  <a:lnTo>
                    <a:pt x="82867" y="793433"/>
                  </a:lnTo>
                  <a:lnTo>
                    <a:pt x="119062" y="842010"/>
                  </a:lnTo>
                  <a:lnTo>
                    <a:pt x="154305" y="883920"/>
                  </a:lnTo>
                  <a:lnTo>
                    <a:pt x="196215" y="922972"/>
                  </a:lnTo>
                  <a:lnTo>
                    <a:pt x="243840" y="957262"/>
                  </a:lnTo>
                  <a:lnTo>
                    <a:pt x="297180" y="984885"/>
                  </a:lnTo>
                  <a:lnTo>
                    <a:pt x="350520" y="1006792"/>
                  </a:lnTo>
                  <a:lnTo>
                    <a:pt x="410527" y="1022985"/>
                  </a:lnTo>
                  <a:lnTo>
                    <a:pt x="463867" y="1033462"/>
                  </a:lnTo>
                  <a:lnTo>
                    <a:pt x="523875" y="1036320"/>
                  </a:lnTo>
                  <a:lnTo>
                    <a:pt x="582930" y="1033462"/>
                  </a:lnTo>
                  <a:lnTo>
                    <a:pt x="636270" y="1022985"/>
                  </a:lnTo>
                  <a:lnTo>
                    <a:pt x="696278" y="1006792"/>
                  </a:lnTo>
                  <a:lnTo>
                    <a:pt x="749617" y="984885"/>
                  </a:lnTo>
                  <a:lnTo>
                    <a:pt x="802958" y="957262"/>
                  </a:lnTo>
                  <a:lnTo>
                    <a:pt x="850583" y="922972"/>
                  </a:lnTo>
                  <a:lnTo>
                    <a:pt x="892492" y="883920"/>
                  </a:lnTo>
                  <a:lnTo>
                    <a:pt x="927735" y="842010"/>
                  </a:lnTo>
                  <a:lnTo>
                    <a:pt x="963930" y="793433"/>
                  </a:lnTo>
                  <a:lnTo>
                    <a:pt x="993458" y="742950"/>
                  </a:lnTo>
                  <a:lnTo>
                    <a:pt x="1017270" y="689610"/>
                  </a:lnTo>
                  <a:lnTo>
                    <a:pt x="1029652" y="633412"/>
                  </a:lnTo>
                  <a:lnTo>
                    <a:pt x="1041083" y="576262"/>
                  </a:lnTo>
                  <a:lnTo>
                    <a:pt x="1046798" y="518160"/>
                  </a:lnTo>
                  <a:lnTo>
                    <a:pt x="1041083" y="460058"/>
                  </a:lnTo>
                  <a:lnTo>
                    <a:pt x="1033462" y="42195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85135" y="3657600"/>
              <a:ext cx="1047750" cy="1036320"/>
            </a:xfrm>
            <a:custGeom>
              <a:avLst/>
              <a:gdLst/>
              <a:ahLst/>
              <a:cxnLst/>
              <a:rect l="l" t="t" r="r" b="b"/>
              <a:pathLst>
                <a:path w="1047750" h="1036320">
                  <a:moveTo>
                    <a:pt x="1045845" y="499110"/>
                  </a:moveTo>
                  <a:lnTo>
                    <a:pt x="1042035" y="460058"/>
                  </a:lnTo>
                  <a:lnTo>
                    <a:pt x="1029653" y="402908"/>
                  </a:lnTo>
                  <a:lnTo>
                    <a:pt x="1018223" y="346710"/>
                  </a:lnTo>
                  <a:lnTo>
                    <a:pt x="994410" y="293370"/>
                  </a:lnTo>
                  <a:lnTo>
                    <a:pt x="963930" y="242888"/>
                  </a:lnTo>
                  <a:lnTo>
                    <a:pt x="928688" y="194310"/>
                  </a:lnTo>
                  <a:lnTo>
                    <a:pt x="892493" y="152400"/>
                  </a:lnTo>
                  <a:lnTo>
                    <a:pt x="851535" y="113347"/>
                  </a:lnTo>
                  <a:lnTo>
                    <a:pt x="803910" y="79058"/>
                  </a:lnTo>
                  <a:lnTo>
                    <a:pt x="749618" y="51435"/>
                  </a:lnTo>
                  <a:lnTo>
                    <a:pt x="696278" y="29528"/>
                  </a:lnTo>
                  <a:lnTo>
                    <a:pt x="637223" y="13335"/>
                  </a:lnTo>
                  <a:lnTo>
                    <a:pt x="582930" y="2858"/>
                  </a:lnTo>
                  <a:lnTo>
                    <a:pt x="523875" y="0"/>
                  </a:lnTo>
                  <a:lnTo>
                    <a:pt x="464820" y="2858"/>
                  </a:lnTo>
                  <a:lnTo>
                    <a:pt x="410528" y="13335"/>
                  </a:lnTo>
                  <a:lnTo>
                    <a:pt x="351473" y="29528"/>
                  </a:lnTo>
                  <a:lnTo>
                    <a:pt x="298133" y="51435"/>
                  </a:lnTo>
                  <a:lnTo>
                    <a:pt x="243840" y="79058"/>
                  </a:lnTo>
                  <a:lnTo>
                    <a:pt x="196215" y="113347"/>
                  </a:lnTo>
                  <a:lnTo>
                    <a:pt x="155258" y="152400"/>
                  </a:lnTo>
                  <a:lnTo>
                    <a:pt x="119062" y="194310"/>
                  </a:lnTo>
                  <a:lnTo>
                    <a:pt x="83820" y="242888"/>
                  </a:lnTo>
                  <a:lnTo>
                    <a:pt x="53340" y="293370"/>
                  </a:lnTo>
                  <a:lnTo>
                    <a:pt x="29528" y="346710"/>
                  </a:lnTo>
                  <a:lnTo>
                    <a:pt x="18098" y="402908"/>
                  </a:lnTo>
                  <a:lnTo>
                    <a:pt x="5715" y="460058"/>
                  </a:lnTo>
                  <a:lnTo>
                    <a:pt x="0" y="518160"/>
                  </a:lnTo>
                  <a:lnTo>
                    <a:pt x="5715" y="576262"/>
                  </a:lnTo>
                  <a:lnTo>
                    <a:pt x="18098" y="633412"/>
                  </a:lnTo>
                  <a:lnTo>
                    <a:pt x="29528" y="689610"/>
                  </a:lnTo>
                  <a:lnTo>
                    <a:pt x="53340" y="742950"/>
                  </a:lnTo>
                  <a:lnTo>
                    <a:pt x="83820" y="793433"/>
                  </a:lnTo>
                  <a:lnTo>
                    <a:pt x="119062" y="842010"/>
                  </a:lnTo>
                  <a:lnTo>
                    <a:pt x="155258" y="883920"/>
                  </a:lnTo>
                  <a:lnTo>
                    <a:pt x="196215" y="922972"/>
                  </a:lnTo>
                  <a:lnTo>
                    <a:pt x="243840" y="957262"/>
                  </a:lnTo>
                  <a:lnTo>
                    <a:pt x="298133" y="984885"/>
                  </a:lnTo>
                  <a:lnTo>
                    <a:pt x="351473" y="1006792"/>
                  </a:lnTo>
                  <a:lnTo>
                    <a:pt x="410528" y="1022985"/>
                  </a:lnTo>
                  <a:lnTo>
                    <a:pt x="464820" y="1033462"/>
                  </a:lnTo>
                  <a:lnTo>
                    <a:pt x="523875" y="1036320"/>
                  </a:lnTo>
                  <a:lnTo>
                    <a:pt x="582930" y="1033462"/>
                  </a:lnTo>
                  <a:lnTo>
                    <a:pt x="637223" y="1022985"/>
                  </a:lnTo>
                  <a:lnTo>
                    <a:pt x="696278" y="1006792"/>
                  </a:lnTo>
                  <a:lnTo>
                    <a:pt x="749618" y="984885"/>
                  </a:lnTo>
                  <a:lnTo>
                    <a:pt x="803910" y="957262"/>
                  </a:lnTo>
                  <a:lnTo>
                    <a:pt x="851535" y="922972"/>
                  </a:lnTo>
                  <a:lnTo>
                    <a:pt x="892493" y="883920"/>
                  </a:lnTo>
                  <a:lnTo>
                    <a:pt x="928688" y="842010"/>
                  </a:lnTo>
                  <a:lnTo>
                    <a:pt x="963930" y="793433"/>
                  </a:lnTo>
                  <a:lnTo>
                    <a:pt x="994410" y="742950"/>
                  </a:lnTo>
                  <a:lnTo>
                    <a:pt x="1018223" y="689610"/>
                  </a:lnTo>
                  <a:lnTo>
                    <a:pt x="1029653" y="633412"/>
                  </a:lnTo>
                  <a:lnTo>
                    <a:pt x="1042035" y="576262"/>
                  </a:lnTo>
                  <a:lnTo>
                    <a:pt x="1047750" y="518160"/>
                  </a:lnTo>
                  <a:lnTo>
                    <a:pt x="1042035" y="460058"/>
                  </a:lnTo>
                  <a:lnTo>
                    <a:pt x="1033462" y="42195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52010" y="3657600"/>
              <a:ext cx="1046797" cy="1036320"/>
            </a:xfrm>
            <a:custGeom>
              <a:avLst/>
              <a:gdLst/>
              <a:ahLst/>
              <a:cxnLst/>
              <a:rect l="l" t="t" r="r" b="b"/>
              <a:pathLst>
                <a:path w="1046797" h="1036320">
                  <a:moveTo>
                    <a:pt x="1044893" y="499110"/>
                  </a:moveTo>
                  <a:lnTo>
                    <a:pt x="1041083" y="460058"/>
                  </a:lnTo>
                  <a:lnTo>
                    <a:pt x="1029653" y="402908"/>
                  </a:lnTo>
                  <a:lnTo>
                    <a:pt x="1017270" y="346710"/>
                  </a:lnTo>
                  <a:lnTo>
                    <a:pt x="993458" y="293370"/>
                  </a:lnTo>
                  <a:lnTo>
                    <a:pt x="963930" y="242888"/>
                  </a:lnTo>
                  <a:lnTo>
                    <a:pt x="927735" y="194310"/>
                  </a:lnTo>
                  <a:lnTo>
                    <a:pt x="892493" y="152400"/>
                  </a:lnTo>
                  <a:lnTo>
                    <a:pt x="850583" y="113347"/>
                  </a:lnTo>
                  <a:lnTo>
                    <a:pt x="802958" y="79058"/>
                  </a:lnTo>
                  <a:lnTo>
                    <a:pt x="749618" y="51435"/>
                  </a:lnTo>
                  <a:lnTo>
                    <a:pt x="696278" y="29528"/>
                  </a:lnTo>
                  <a:lnTo>
                    <a:pt x="636270" y="13335"/>
                  </a:lnTo>
                  <a:lnTo>
                    <a:pt x="582930" y="2858"/>
                  </a:lnTo>
                  <a:lnTo>
                    <a:pt x="522922" y="0"/>
                  </a:lnTo>
                  <a:lnTo>
                    <a:pt x="463868" y="2858"/>
                  </a:lnTo>
                  <a:lnTo>
                    <a:pt x="410528" y="13335"/>
                  </a:lnTo>
                  <a:lnTo>
                    <a:pt x="350520" y="29528"/>
                  </a:lnTo>
                  <a:lnTo>
                    <a:pt x="297180" y="51435"/>
                  </a:lnTo>
                  <a:lnTo>
                    <a:pt x="243840" y="79058"/>
                  </a:lnTo>
                  <a:lnTo>
                    <a:pt x="196215" y="113347"/>
                  </a:lnTo>
                  <a:lnTo>
                    <a:pt x="154305" y="152400"/>
                  </a:lnTo>
                  <a:lnTo>
                    <a:pt x="119062" y="194310"/>
                  </a:lnTo>
                  <a:lnTo>
                    <a:pt x="82868" y="242888"/>
                  </a:lnTo>
                  <a:lnTo>
                    <a:pt x="53340" y="293370"/>
                  </a:lnTo>
                  <a:lnTo>
                    <a:pt x="29528" y="346710"/>
                  </a:lnTo>
                  <a:lnTo>
                    <a:pt x="17145" y="402908"/>
                  </a:lnTo>
                  <a:lnTo>
                    <a:pt x="5715" y="460058"/>
                  </a:lnTo>
                  <a:lnTo>
                    <a:pt x="0" y="518160"/>
                  </a:lnTo>
                  <a:lnTo>
                    <a:pt x="5715" y="576262"/>
                  </a:lnTo>
                  <a:lnTo>
                    <a:pt x="17145" y="633412"/>
                  </a:lnTo>
                  <a:lnTo>
                    <a:pt x="29528" y="689610"/>
                  </a:lnTo>
                  <a:lnTo>
                    <a:pt x="53340" y="742950"/>
                  </a:lnTo>
                  <a:lnTo>
                    <a:pt x="82868" y="793433"/>
                  </a:lnTo>
                  <a:lnTo>
                    <a:pt x="119062" y="842010"/>
                  </a:lnTo>
                  <a:lnTo>
                    <a:pt x="154305" y="883920"/>
                  </a:lnTo>
                  <a:lnTo>
                    <a:pt x="196215" y="922972"/>
                  </a:lnTo>
                  <a:lnTo>
                    <a:pt x="243840" y="957262"/>
                  </a:lnTo>
                  <a:lnTo>
                    <a:pt x="297180" y="984885"/>
                  </a:lnTo>
                  <a:lnTo>
                    <a:pt x="350520" y="1006792"/>
                  </a:lnTo>
                  <a:lnTo>
                    <a:pt x="410528" y="1022985"/>
                  </a:lnTo>
                  <a:lnTo>
                    <a:pt x="463868" y="1033462"/>
                  </a:lnTo>
                  <a:lnTo>
                    <a:pt x="522922" y="1036320"/>
                  </a:lnTo>
                  <a:lnTo>
                    <a:pt x="582930" y="1033462"/>
                  </a:lnTo>
                  <a:lnTo>
                    <a:pt x="636270" y="1022985"/>
                  </a:lnTo>
                  <a:lnTo>
                    <a:pt x="696278" y="1006792"/>
                  </a:lnTo>
                  <a:lnTo>
                    <a:pt x="749618" y="984885"/>
                  </a:lnTo>
                  <a:lnTo>
                    <a:pt x="802958" y="957262"/>
                  </a:lnTo>
                  <a:lnTo>
                    <a:pt x="850583" y="922972"/>
                  </a:lnTo>
                  <a:lnTo>
                    <a:pt x="892493" y="883920"/>
                  </a:lnTo>
                  <a:lnTo>
                    <a:pt x="927735" y="842010"/>
                  </a:lnTo>
                  <a:lnTo>
                    <a:pt x="963930" y="793433"/>
                  </a:lnTo>
                  <a:lnTo>
                    <a:pt x="993458" y="742950"/>
                  </a:lnTo>
                  <a:lnTo>
                    <a:pt x="1017270" y="689610"/>
                  </a:lnTo>
                  <a:lnTo>
                    <a:pt x="1029653" y="633412"/>
                  </a:lnTo>
                  <a:lnTo>
                    <a:pt x="1041083" y="576262"/>
                  </a:lnTo>
                  <a:lnTo>
                    <a:pt x="1046797" y="518160"/>
                  </a:lnTo>
                  <a:lnTo>
                    <a:pt x="1041083" y="460058"/>
                  </a:lnTo>
                  <a:lnTo>
                    <a:pt x="1033462" y="42195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74345" y="3981450"/>
              <a:ext cx="1070610" cy="388620"/>
            </a:xfrm>
            <a:custGeom>
              <a:avLst/>
              <a:gdLst/>
              <a:ahLst/>
              <a:cxnLst/>
              <a:rect l="l" t="t" r="r" b="b"/>
              <a:pathLst>
                <a:path w="1070610" h="388620">
                  <a:moveTo>
                    <a:pt x="1065848" y="176212"/>
                  </a:moveTo>
                  <a:lnTo>
                    <a:pt x="1064895" y="173355"/>
                  </a:lnTo>
                  <a:lnTo>
                    <a:pt x="1059180" y="150495"/>
                  </a:lnTo>
                  <a:lnTo>
                    <a:pt x="1041082" y="129540"/>
                  </a:lnTo>
                  <a:lnTo>
                    <a:pt x="1017270" y="110490"/>
                  </a:lnTo>
                  <a:lnTo>
                    <a:pt x="987742" y="90488"/>
                  </a:lnTo>
                  <a:lnTo>
                    <a:pt x="951547" y="72390"/>
                  </a:lnTo>
                  <a:lnTo>
                    <a:pt x="916305" y="56197"/>
                  </a:lnTo>
                  <a:lnTo>
                    <a:pt x="868680" y="41910"/>
                  </a:lnTo>
                  <a:lnTo>
                    <a:pt x="821055" y="29528"/>
                  </a:lnTo>
                  <a:lnTo>
                    <a:pt x="767715" y="19050"/>
                  </a:lnTo>
                  <a:lnTo>
                    <a:pt x="713422" y="11430"/>
                  </a:lnTo>
                  <a:lnTo>
                    <a:pt x="654368" y="4762"/>
                  </a:lnTo>
                  <a:lnTo>
                    <a:pt x="594360" y="1905"/>
                  </a:lnTo>
                  <a:lnTo>
                    <a:pt x="535305" y="0"/>
                  </a:lnTo>
                  <a:lnTo>
                    <a:pt x="475298" y="1905"/>
                  </a:lnTo>
                  <a:lnTo>
                    <a:pt x="416242" y="4762"/>
                  </a:lnTo>
                  <a:lnTo>
                    <a:pt x="356235" y="11430"/>
                  </a:lnTo>
                  <a:lnTo>
                    <a:pt x="302895" y="19050"/>
                  </a:lnTo>
                  <a:lnTo>
                    <a:pt x="249555" y="29528"/>
                  </a:lnTo>
                  <a:lnTo>
                    <a:pt x="201930" y="41910"/>
                  </a:lnTo>
                  <a:lnTo>
                    <a:pt x="154305" y="56197"/>
                  </a:lnTo>
                  <a:lnTo>
                    <a:pt x="118110" y="72390"/>
                  </a:lnTo>
                  <a:lnTo>
                    <a:pt x="82868" y="90488"/>
                  </a:lnTo>
                  <a:lnTo>
                    <a:pt x="53340" y="110490"/>
                  </a:lnTo>
                  <a:lnTo>
                    <a:pt x="29528" y="129540"/>
                  </a:lnTo>
                  <a:lnTo>
                    <a:pt x="11430" y="150495"/>
                  </a:lnTo>
                  <a:lnTo>
                    <a:pt x="5715" y="173355"/>
                  </a:lnTo>
                  <a:lnTo>
                    <a:pt x="0" y="194310"/>
                  </a:lnTo>
                  <a:lnTo>
                    <a:pt x="5715" y="215265"/>
                  </a:lnTo>
                  <a:lnTo>
                    <a:pt x="11430" y="238125"/>
                  </a:lnTo>
                  <a:lnTo>
                    <a:pt x="29528" y="259080"/>
                  </a:lnTo>
                  <a:lnTo>
                    <a:pt x="53340" y="278130"/>
                  </a:lnTo>
                  <a:lnTo>
                    <a:pt x="82868" y="298133"/>
                  </a:lnTo>
                  <a:lnTo>
                    <a:pt x="118110" y="315278"/>
                  </a:lnTo>
                  <a:lnTo>
                    <a:pt x="154305" y="331470"/>
                  </a:lnTo>
                  <a:lnTo>
                    <a:pt x="201930" y="346710"/>
                  </a:lnTo>
                  <a:lnTo>
                    <a:pt x="249555" y="359092"/>
                  </a:lnTo>
                  <a:lnTo>
                    <a:pt x="302895" y="369570"/>
                  </a:lnTo>
                  <a:lnTo>
                    <a:pt x="356235" y="377190"/>
                  </a:lnTo>
                  <a:lnTo>
                    <a:pt x="416242" y="383858"/>
                  </a:lnTo>
                  <a:lnTo>
                    <a:pt x="475298" y="386715"/>
                  </a:lnTo>
                  <a:lnTo>
                    <a:pt x="535305" y="388620"/>
                  </a:lnTo>
                  <a:lnTo>
                    <a:pt x="594360" y="386715"/>
                  </a:lnTo>
                  <a:lnTo>
                    <a:pt x="654368" y="383858"/>
                  </a:lnTo>
                  <a:lnTo>
                    <a:pt x="713422" y="377190"/>
                  </a:lnTo>
                  <a:lnTo>
                    <a:pt x="767715" y="369570"/>
                  </a:lnTo>
                  <a:lnTo>
                    <a:pt x="821055" y="359092"/>
                  </a:lnTo>
                  <a:lnTo>
                    <a:pt x="868680" y="346710"/>
                  </a:lnTo>
                  <a:lnTo>
                    <a:pt x="916305" y="331470"/>
                  </a:lnTo>
                  <a:lnTo>
                    <a:pt x="951547" y="315278"/>
                  </a:lnTo>
                  <a:lnTo>
                    <a:pt x="987742" y="298133"/>
                  </a:lnTo>
                  <a:lnTo>
                    <a:pt x="1017270" y="278130"/>
                  </a:lnTo>
                  <a:lnTo>
                    <a:pt x="1041082" y="259080"/>
                  </a:lnTo>
                  <a:lnTo>
                    <a:pt x="1059180" y="238125"/>
                  </a:lnTo>
                  <a:lnTo>
                    <a:pt x="1064895" y="215265"/>
                  </a:lnTo>
                  <a:lnTo>
                    <a:pt x="1070610" y="194310"/>
                  </a:lnTo>
                  <a:lnTo>
                    <a:pt x="1064895" y="173355"/>
                  </a:lnTo>
                  <a:lnTo>
                    <a:pt x="1063942" y="168592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2140268" y="3981450"/>
              <a:ext cx="1071562" cy="388620"/>
            </a:xfrm>
            <a:custGeom>
              <a:avLst/>
              <a:gdLst/>
              <a:ahLst/>
              <a:cxnLst/>
              <a:rect l="l" t="t" r="r" b="b"/>
              <a:pathLst>
                <a:path w="1071562" h="388620">
                  <a:moveTo>
                    <a:pt x="1065848" y="176212"/>
                  </a:moveTo>
                  <a:lnTo>
                    <a:pt x="1064895" y="173355"/>
                  </a:lnTo>
                  <a:lnTo>
                    <a:pt x="1059180" y="150495"/>
                  </a:lnTo>
                  <a:lnTo>
                    <a:pt x="1041083" y="129540"/>
                  </a:lnTo>
                  <a:lnTo>
                    <a:pt x="1017270" y="110490"/>
                  </a:lnTo>
                  <a:lnTo>
                    <a:pt x="987742" y="90488"/>
                  </a:lnTo>
                  <a:lnTo>
                    <a:pt x="952500" y="72390"/>
                  </a:lnTo>
                  <a:lnTo>
                    <a:pt x="916305" y="56197"/>
                  </a:lnTo>
                  <a:lnTo>
                    <a:pt x="868680" y="41910"/>
                  </a:lnTo>
                  <a:lnTo>
                    <a:pt x="821055" y="29528"/>
                  </a:lnTo>
                  <a:lnTo>
                    <a:pt x="767715" y="19050"/>
                  </a:lnTo>
                  <a:lnTo>
                    <a:pt x="714375" y="11430"/>
                  </a:lnTo>
                  <a:lnTo>
                    <a:pt x="654367" y="4762"/>
                  </a:lnTo>
                  <a:lnTo>
                    <a:pt x="595312" y="1905"/>
                  </a:lnTo>
                  <a:lnTo>
                    <a:pt x="535305" y="0"/>
                  </a:lnTo>
                  <a:lnTo>
                    <a:pt x="476250" y="1905"/>
                  </a:lnTo>
                  <a:lnTo>
                    <a:pt x="416242" y="4762"/>
                  </a:lnTo>
                  <a:lnTo>
                    <a:pt x="357188" y="11430"/>
                  </a:lnTo>
                  <a:lnTo>
                    <a:pt x="303848" y="19050"/>
                  </a:lnTo>
                  <a:lnTo>
                    <a:pt x="249555" y="29528"/>
                  </a:lnTo>
                  <a:lnTo>
                    <a:pt x="201930" y="41910"/>
                  </a:lnTo>
                  <a:lnTo>
                    <a:pt x="154305" y="56197"/>
                  </a:lnTo>
                  <a:lnTo>
                    <a:pt x="119062" y="72390"/>
                  </a:lnTo>
                  <a:lnTo>
                    <a:pt x="82868" y="90488"/>
                  </a:lnTo>
                  <a:lnTo>
                    <a:pt x="53340" y="110490"/>
                  </a:lnTo>
                  <a:lnTo>
                    <a:pt x="29528" y="129540"/>
                  </a:lnTo>
                  <a:lnTo>
                    <a:pt x="11430" y="150495"/>
                  </a:lnTo>
                  <a:lnTo>
                    <a:pt x="5715" y="173355"/>
                  </a:lnTo>
                  <a:lnTo>
                    <a:pt x="0" y="194310"/>
                  </a:lnTo>
                  <a:lnTo>
                    <a:pt x="5715" y="215265"/>
                  </a:lnTo>
                  <a:lnTo>
                    <a:pt x="11430" y="238125"/>
                  </a:lnTo>
                  <a:lnTo>
                    <a:pt x="29528" y="259080"/>
                  </a:lnTo>
                  <a:lnTo>
                    <a:pt x="53340" y="278130"/>
                  </a:lnTo>
                  <a:lnTo>
                    <a:pt x="82868" y="298133"/>
                  </a:lnTo>
                  <a:lnTo>
                    <a:pt x="119062" y="315278"/>
                  </a:lnTo>
                  <a:lnTo>
                    <a:pt x="154305" y="331470"/>
                  </a:lnTo>
                  <a:lnTo>
                    <a:pt x="201930" y="346710"/>
                  </a:lnTo>
                  <a:lnTo>
                    <a:pt x="249555" y="359092"/>
                  </a:lnTo>
                  <a:lnTo>
                    <a:pt x="303848" y="369570"/>
                  </a:lnTo>
                  <a:lnTo>
                    <a:pt x="357188" y="377190"/>
                  </a:lnTo>
                  <a:lnTo>
                    <a:pt x="416242" y="383858"/>
                  </a:lnTo>
                  <a:lnTo>
                    <a:pt x="476250" y="386715"/>
                  </a:lnTo>
                  <a:lnTo>
                    <a:pt x="535305" y="388620"/>
                  </a:lnTo>
                  <a:lnTo>
                    <a:pt x="595312" y="386715"/>
                  </a:lnTo>
                  <a:lnTo>
                    <a:pt x="654367" y="383858"/>
                  </a:lnTo>
                  <a:lnTo>
                    <a:pt x="714375" y="377190"/>
                  </a:lnTo>
                  <a:lnTo>
                    <a:pt x="767715" y="369570"/>
                  </a:lnTo>
                  <a:lnTo>
                    <a:pt x="821055" y="359092"/>
                  </a:lnTo>
                  <a:lnTo>
                    <a:pt x="868680" y="346710"/>
                  </a:lnTo>
                  <a:lnTo>
                    <a:pt x="916305" y="331470"/>
                  </a:lnTo>
                  <a:lnTo>
                    <a:pt x="952500" y="315278"/>
                  </a:lnTo>
                  <a:lnTo>
                    <a:pt x="987742" y="298133"/>
                  </a:lnTo>
                  <a:lnTo>
                    <a:pt x="1017270" y="278130"/>
                  </a:lnTo>
                  <a:lnTo>
                    <a:pt x="1041083" y="259080"/>
                  </a:lnTo>
                  <a:lnTo>
                    <a:pt x="1059180" y="238125"/>
                  </a:lnTo>
                  <a:lnTo>
                    <a:pt x="1064895" y="215265"/>
                  </a:lnTo>
                  <a:lnTo>
                    <a:pt x="1071562" y="194310"/>
                  </a:lnTo>
                  <a:lnTo>
                    <a:pt x="1064895" y="173355"/>
                  </a:lnTo>
                  <a:lnTo>
                    <a:pt x="1063942" y="168592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3806190" y="3981450"/>
              <a:ext cx="1071562" cy="388620"/>
            </a:xfrm>
            <a:custGeom>
              <a:avLst/>
              <a:gdLst/>
              <a:ahLst/>
              <a:cxnLst/>
              <a:rect l="l" t="t" r="r" b="b"/>
              <a:pathLst>
                <a:path w="1071562" h="388620">
                  <a:moveTo>
                    <a:pt x="1066800" y="176212"/>
                  </a:moveTo>
                  <a:lnTo>
                    <a:pt x="1065847" y="173355"/>
                  </a:lnTo>
                  <a:lnTo>
                    <a:pt x="1060132" y="150495"/>
                  </a:lnTo>
                  <a:lnTo>
                    <a:pt x="1042035" y="129540"/>
                  </a:lnTo>
                  <a:lnTo>
                    <a:pt x="1018222" y="110490"/>
                  </a:lnTo>
                  <a:lnTo>
                    <a:pt x="988695" y="90488"/>
                  </a:lnTo>
                  <a:lnTo>
                    <a:pt x="952500" y="72390"/>
                  </a:lnTo>
                  <a:lnTo>
                    <a:pt x="917257" y="56197"/>
                  </a:lnTo>
                  <a:lnTo>
                    <a:pt x="869632" y="41910"/>
                  </a:lnTo>
                  <a:lnTo>
                    <a:pt x="822007" y="29528"/>
                  </a:lnTo>
                  <a:lnTo>
                    <a:pt x="767715" y="19050"/>
                  </a:lnTo>
                  <a:lnTo>
                    <a:pt x="714375" y="11430"/>
                  </a:lnTo>
                  <a:lnTo>
                    <a:pt x="655320" y="4762"/>
                  </a:lnTo>
                  <a:lnTo>
                    <a:pt x="595312" y="1905"/>
                  </a:lnTo>
                  <a:lnTo>
                    <a:pt x="536257" y="0"/>
                  </a:lnTo>
                  <a:lnTo>
                    <a:pt x="476250" y="1905"/>
                  </a:lnTo>
                  <a:lnTo>
                    <a:pt x="417195" y="4762"/>
                  </a:lnTo>
                  <a:lnTo>
                    <a:pt x="357188" y="11430"/>
                  </a:lnTo>
                  <a:lnTo>
                    <a:pt x="303847" y="19050"/>
                  </a:lnTo>
                  <a:lnTo>
                    <a:pt x="250507" y="29528"/>
                  </a:lnTo>
                  <a:lnTo>
                    <a:pt x="202882" y="41910"/>
                  </a:lnTo>
                  <a:lnTo>
                    <a:pt x="155257" y="56197"/>
                  </a:lnTo>
                  <a:lnTo>
                    <a:pt x="119062" y="72390"/>
                  </a:lnTo>
                  <a:lnTo>
                    <a:pt x="83820" y="90488"/>
                  </a:lnTo>
                  <a:lnTo>
                    <a:pt x="54292" y="110490"/>
                  </a:lnTo>
                  <a:lnTo>
                    <a:pt x="30480" y="129540"/>
                  </a:lnTo>
                  <a:lnTo>
                    <a:pt x="12382" y="150495"/>
                  </a:lnTo>
                  <a:lnTo>
                    <a:pt x="6667" y="173355"/>
                  </a:lnTo>
                  <a:lnTo>
                    <a:pt x="0" y="194310"/>
                  </a:lnTo>
                  <a:lnTo>
                    <a:pt x="6667" y="215265"/>
                  </a:lnTo>
                  <a:lnTo>
                    <a:pt x="12382" y="238125"/>
                  </a:lnTo>
                  <a:lnTo>
                    <a:pt x="30480" y="259080"/>
                  </a:lnTo>
                  <a:lnTo>
                    <a:pt x="54292" y="278130"/>
                  </a:lnTo>
                  <a:lnTo>
                    <a:pt x="83820" y="298133"/>
                  </a:lnTo>
                  <a:lnTo>
                    <a:pt x="119062" y="315278"/>
                  </a:lnTo>
                  <a:lnTo>
                    <a:pt x="155257" y="331470"/>
                  </a:lnTo>
                  <a:lnTo>
                    <a:pt x="202882" y="346710"/>
                  </a:lnTo>
                  <a:lnTo>
                    <a:pt x="250507" y="359092"/>
                  </a:lnTo>
                  <a:lnTo>
                    <a:pt x="303847" y="369570"/>
                  </a:lnTo>
                  <a:lnTo>
                    <a:pt x="357188" y="377190"/>
                  </a:lnTo>
                  <a:lnTo>
                    <a:pt x="417195" y="383858"/>
                  </a:lnTo>
                  <a:lnTo>
                    <a:pt x="476250" y="386715"/>
                  </a:lnTo>
                  <a:lnTo>
                    <a:pt x="536257" y="388620"/>
                  </a:lnTo>
                  <a:lnTo>
                    <a:pt x="595312" y="386715"/>
                  </a:lnTo>
                  <a:lnTo>
                    <a:pt x="655320" y="383858"/>
                  </a:lnTo>
                  <a:lnTo>
                    <a:pt x="714375" y="377190"/>
                  </a:lnTo>
                  <a:lnTo>
                    <a:pt x="767715" y="369570"/>
                  </a:lnTo>
                  <a:lnTo>
                    <a:pt x="822007" y="359092"/>
                  </a:lnTo>
                  <a:lnTo>
                    <a:pt x="869632" y="346710"/>
                  </a:lnTo>
                  <a:lnTo>
                    <a:pt x="917257" y="331470"/>
                  </a:lnTo>
                  <a:lnTo>
                    <a:pt x="952500" y="315278"/>
                  </a:lnTo>
                  <a:lnTo>
                    <a:pt x="988695" y="298133"/>
                  </a:lnTo>
                  <a:lnTo>
                    <a:pt x="1018222" y="278130"/>
                  </a:lnTo>
                  <a:lnTo>
                    <a:pt x="1042035" y="259080"/>
                  </a:lnTo>
                  <a:lnTo>
                    <a:pt x="1060132" y="238125"/>
                  </a:lnTo>
                  <a:lnTo>
                    <a:pt x="1065847" y="215265"/>
                  </a:lnTo>
                  <a:lnTo>
                    <a:pt x="1071562" y="194310"/>
                  </a:lnTo>
                  <a:lnTo>
                    <a:pt x="1065847" y="173355"/>
                  </a:lnTo>
                  <a:lnTo>
                    <a:pt x="1064895" y="168592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5473065" y="3981450"/>
              <a:ext cx="1070610" cy="388620"/>
            </a:xfrm>
            <a:custGeom>
              <a:avLst/>
              <a:gdLst/>
              <a:ahLst/>
              <a:cxnLst/>
              <a:rect l="l" t="t" r="r" b="b"/>
              <a:pathLst>
                <a:path w="1070610" h="388620">
                  <a:moveTo>
                    <a:pt x="1065847" y="176212"/>
                  </a:moveTo>
                  <a:lnTo>
                    <a:pt x="1064895" y="173355"/>
                  </a:lnTo>
                  <a:lnTo>
                    <a:pt x="1059180" y="150495"/>
                  </a:lnTo>
                  <a:lnTo>
                    <a:pt x="1041082" y="129540"/>
                  </a:lnTo>
                  <a:lnTo>
                    <a:pt x="1017270" y="110490"/>
                  </a:lnTo>
                  <a:lnTo>
                    <a:pt x="987742" y="90488"/>
                  </a:lnTo>
                  <a:lnTo>
                    <a:pt x="952500" y="72390"/>
                  </a:lnTo>
                  <a:lnTo>
                    <a:pt x="916305" y="56197"/>
                  </a:lnTo>
                  <a:lnTo>
                    <a:pt x="868680" y="41910"/>
                  </a:lnTo>
                  <a:lnTo>
                    <a:pt x="821055" y="29528"/>
                  </a:lnTo>
                  <a:lnTo>
                    <a:pt x="767715" y="19050"/>
                  </a:lnTo>
                  <a:lnTo>
                    <a:pt x="714375" y="11430"/>
                  </a:lnTo>
                  <a:lnTo>
                    <a:pt x="654367" y="4762"/>
                  </a:lnTo>
                  <a:lnTo>
                    <a:pt x="595312" y="1905"/>
                  </a:lnTo>
                  <a:lnTo>
                    <a:pt x="535305" y="0"/>
                  </a:lnTo>
                  <a:lnTo>
                    <a:pt x="476250" y="1905"/>
                  </a:lnTo>
                  <a:lnTo>
                    <a:pt x="416242" y="4762"/>
                  </a:lnTo>
                  <a:lnTo>
                    <a:pt x="357188" y="11430"/>
                  </a:lnTo>
                  <a:lnTo>
                    <a:pt x="302895" y="19050"/>
                  </a:lnTo>
                  <a:lnTo>
                    <a:pt x="249555" y="29528"/>
                  </a:lnTo>
                  <a:lnTo>
                    <a:pt x="201930" y="41910"/>
                  </a:lnTo>
                  <a:lnTo>
                    <a:pt x="154305" y="56197"/>
                  </a:lnTo>
                  <a:lnTo>
                    <a:pt x="119062" y="72390"/>
                  </a:lnTo>
                  <a:lnTo>
                    <a:pt x="82867" y="90488"/>
                  </a:lnTo>
                  <a:lnTo>
                    <a:pt x="53340" y="110490"/>
                  </a:lnTo>
                  <a:lnTo>
                    <a:pt x="29528" y="129540"/>
                  </a:lnTo>
                  <a:lnTo>
                    <a:pt x="11430" y="150495"/>
                  </a:lnTo>
                  <a:lnTo>
                    <a:pt x="5715" y="173355"/>
                  </a:lnTo>
                  <a:lnTo>
                    <a:pt x="0" y="194310"/>
                  </a:lnTo>
                  <a:lnTo>
                    <a:pt x="5715" y="215265"/>
                  </a:lnTo>
                  <a:lnTo>
                    <a:pt x="11430" y="238125"/>
                  </a:lnTo>
                  <a:lnTo>
                    <a:pt x="29528" y="259080"/>
                  </a:lnTo>
                  <a:lnTo>
                    <a:pt x="53340" y="278130"/>
                  </a:lnTo>
                  <a:lnTo>
                    <a:pt x="82867" y="298133"/>
                  </a:lnTo>
                  <a:lnTo>
                    <a:pt x="119062" y="315278"/>
                  </a:lnTo>
                  <a:lnTo>
                    <a:pt x="154305" y="331470"/>
                  </a:lnTo>
                  <a:lnTo>
                    <a:pt x="201930" y="346710"/>
                  </a:lnTo>
                  <a:lnTo>
                    <a:pt x="249555" y="359092"/>
                  </a:lnTo>
                  <a:lnTo>
                    <a:pt x="302895" y="369570"/>
                  </a:lnTo>
                  <a:lnTo>
                    <a:pt x="357188" y="377190"/>
                  </a:lnTo>
                  <a:lnTo>
                    <a:pt x="416242" y="383858"/>
                  </a:lnTo>
                  <a:lnTo>
                    <a:pt x="476250" y="386715"/>
                  </a:lnTo>
                  <a:lnTo>
                    <a:pt x="535305" y="388620"/>
                  </a:lnTo>
                  <a:lnTo>
                    <a:pt x="595312" y="386715"/>
                  </a:lnTo>
                  <a:lnTo>
                    <a:pt x="654367" y="383858"/>
                  </a:lnTo>
                  <a:lnTo>
                    <a:pt x="714375" y="377190"/>
                  </a:lnTo>
                  <a:lnTo>
                    <a:pt x="767715" y="369570"/>
                  </a:lnTo>
                  <a:lnTo>
                    <a:pt x="821055" y="359092"/>
                  </a:lnTo>
                  <a:lnTo>
                    <a:pt x="868680" y="346710"/>
                  </a:lnTo>
                  <a:lnTo>
                    <a:pt x="916305" y="331470"/>
                  </a:lnTo>
                  <a:lnTo>
                    <a:pt x="952500" y="315278"/>
                  </a:lnTo>
                  <a:lnTo>
                    <a:pt x="987742" y="298133"/>
                  </a:lnTo>
                  <a:lnTo>
                    <a:pt x="1017270" y="278130"/>
                  </a:lnTo>
                  <a:lnTo>
                    <a:pt x="1041082" y="259080"/>
                  </a:lnTo>
                  <a:lnTo>
                    <a:pt x="1059180" y="238125"/>
                  </a:lnTo>
                  <a:lnTo>
                    <a:pt x="1064895" y="215265"/>
                  </a:lnTo>
                  <a:lnTo>
                    <a:pt x="1070610" y="194310"/>
                  </a:lnTo>
                  <a:lnTo>
                    <a:pt x="1064895" y="173355"/>
                  </a:lnTo>
                  <a:lnTo>
                    <a:pt x="1063942" y="168592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3509010" y="3545205"/>
              <a:ext cx="9525" cy="1261110"/>
            </a:xfrm>
            <a:custGeom>
              <a:avLst/>
              <a:gdLst/>
              <a:ahLst/>
              <a:cxnLst/>
              <a:rect l="l" t="t" r="r" b="b"/>
              <a:pathLst>
                <a:path w="9525" h="1261110">
                  <a:moveTo>
                    <a:pt x="0" y="126111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461385" y="34499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461385" y="4806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356485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339340" y="40509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023360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005262" y="40509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689282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672138" y="40509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535430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524000" y="4122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202305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189922" y="4122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868228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856798" y="4122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534150" y="41662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522720" y="4122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499485" y="49110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499485" y="34213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696402" y="34470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28248" y="34470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28888" y="45481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磁场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95762" y="45481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磁场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78568" y="48072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波源</a:t>
              </a:r>
            </a:p>
          </p:txBody>
        </p:sp>
      </p:grpSp>
      <p:grpSp>
        <p:nvGrpSpPr>
          <p:cNvPr id="51" name="c1-text-3"/>
          <p:cNvGrpSpPr/>
          <p:nvPr/>
        </p:nvGrpSpPr>
        <p:grpSpPr>
          <a:xfrm>
            <a:off x="526923" y="5197316"/>
            <a:ext cx="5702554" cy="500824"/>
            <a:chOff x="526923" y="5197316"/>
            <a:chExt cx="5702554" cy="500824"/>
          </a:xfrm>
        </p:grpSpPr>
        <p:sp>
          <p:nvSpPr>
            <p:cNvPr id="50" name="TextBox 50"/>
            <p:cNvSpPr txBox="1"/>
            <p:nvPr/>
          </p:nvSpPr>
          <p:spPr>
            <a:xfrm>
              <a:off x="526923" y="5197316"/>
              <a:ext cx="57025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电场线（实线）与磁感线（虚线）一环套一环，由波源向两侧传开。电磁振荡沿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各个方向传播，图中只画了一个方向。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789420" y="1524000"/>
            <a:ext cx="4869180" cy="1937385"/>
            <a:chOff x="6789420" y="1524000"/>
            <a:chExt cx="4869180" cy="1937385"/>
          </a:xfrm>
        </p:grpSpPr>
        <p:sp>
          <p:nvSpPr>
            <p:cNvPr id="52" name="Rectangle 52"/>
            <p:cNvSpPr/>
            <p:nvPr/>
          </p:nvSpPr>
          <p:spPr>
            <a:xfrm>
              <a:off x="678942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79894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37070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88873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补充：振荡偶极子的辐射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04278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0900" y="2110740"/>
              <a:ext cx="3977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辐射强度 ∝ ω⁴：频率提高到 4 倍，强度变为 4⁴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256 倍（作业选择题 9）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04278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00900" y="273177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各向同性的点波源，强度 ∝ 1/r²，强度又 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E²，所以 E ∝ 1/r（作业选择题 11）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789420" y="3651885"/>
            <a:ext cx="4869180" cy="1995488"/>
            <a:chOff x="6789420" y="3651885"/>
            <a:chExt cx="4869180" cy="1995488"/>
          </a:xfrm>
        </p:grpSpPr>
        <p:sp>
          <p:nvSpPr>
            <p:cNvPr id="61" name="Rectangle 61"/>
            <p:cNvSpPr/>
            <p:nvPr/>
          </p:nvSpPr>
          <p:spPr>
            <a:xfrm>
              <a:off x="6789420" y="3651885"/>
              <a:ext cx="4869180" cy="1995488"/>
            </a:xfrm>
            <a:prstGeom prst="roundRect">
              <a:avLst>
                <a:gd name="adj" fmla="val 66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98945" y="3785235"/>
              <a:ext cx="47625" cy="17287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37070" y="38614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6577" y="38971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与机械波的区别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29450" y="423862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电磁波传播不需要介质，可以在真空中传播；机械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波必须有介质（作业选择题 14）。两者都能反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射、折射、干涉、衍射，都由近及远传递能量。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28964" cy="909257"/>
            <a:chOff x="520446" y="342900"/>
            <a:chExt cx="88289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289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波动方程推导（一）：由法拉第定律得 ∂E/∂z = −μ∂H/∂t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501515" cy="883920"/>
            <a:chOff x="525780" y="1548765"/>
            <a:chExt cx="4501515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5015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在均匀、无限大、无源（ρ = 0、J = 0）的区域中，沿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方向传播的电磁场，E 沿 x、H 沿 y，只随 z 和 t 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</p:grpSp>
      <p:grpSp>
        <p:nvGrpSpPr>
          <p:cNvPr id="53" name="c1-graph-2"/>
          <p:cNvGrpSpPr/>
          <p:nvPr/>
        </p:nvGrpSpPr>
        <p:grpSpPr>
          <a:xfrm>
            <a:off x="875348" y="2674144"/>
            <a:ext cx="4391024" cy="2831877"/>
            <a:chOff x="875348" y="2674144"/>
            <a:chExt cx="4391024" cy="2831877"/>
          </a:xfrm>
        </p:grpSpPr>
        <p:sp>
          <p:nvSpPr>
            <p:cNvPr id="9" name="Freeform 9"/>
            <p:cNvSpPr/>
            <p:nvPr/>
          </p:nvSpPr>
          <p:spPr>
            <a:xfrm>
              <a:off x="2481262" y="3451860"/>
              <a:ext cx="9525" cy="1025843"/>
            </a:xfrm>
            <a:custGeom>
              <a:avLst/>
              <a:gdLst/>
              <a:ahLst/>
              <a:cxnLst/>
              <a:rect l="l" t="t" r="r" b="b"/>
              <a:pathLst>
                <a:path w="9525" h="1025843">
                  <a:moveTo>
                    <a:pt x="0" y="0"/>
                  </a:moveTo>
                  <a:lnTo>
                    <a:pt x="0" y="1025843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33638" y="44777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00312" y="4592002"/>
              <a:ext cx="1229678" cy="9525"/>
            </a:xfrm>
            <a:custGeom>
              <a:avLst/>
              <a:gdLst/>
              <a:ahLst/>
              <a:cxnLst/>
              <a:rect l="l" t="t" r="r" b="b"/>
              <a:pathLst>
                <a:path w="1229678" h="9525">
                  <a:moveTo>
                    <a:pt x="0" y="0"/>
                  </a:moveTo>
                  <a:lnTo>
                    <a:pt x="1229678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29990" y="4544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844290" y="3547110"/>
              <a:ext cx="9525" cy="1025843"/>
            </a:xfrm>
            <a:custGeom>
              <a:avLst/>
              <a:gdLst/>
              <a:ahLst/>
              <a:cxnLst/>
              <a:rect l="l" t="t" r="r" b="b"/>
              <a:pathLst>
                <a:path w="9525" h="1025843">
                  <a:moveTo>
                    <a:pt x="0" y="1025843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96665" y="3451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00312" y="3432810"/>
              <a:ext cx="1324928" cy="9525"/>
            </a:xfrm>
            <a:custGeom>
              <a:avLst/>
              <a:gdLst/>
              <a:ahLst/>
              <a:cxnLst/>
              <a:rect l="l" t="t" r="r" b="b"/>
              <a:pathLst>
                <a:path w="1324928" h="9525">
                  <a:moveTo>
                    <a:pt x="132492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42022" y="5054918"/>
              <a:ext cx="4200525" cy="9525"/>
            </a:xfrm>
            <a:custGeom>
              <a:avLst/>
              <a:gdLst/>
              <a:ahLst/>
              <a:cxnLst/>
              <a:rect l="l" t="t" r="r" b="b"/>
              <a:pathLst>
                <a:path w="4200525" h="9525">
                  <a:moveTo>
                    <a:pt x="0" y="0"/>
                  </a:moveTo>
                  <a:lnTo>
                    <a:pt x="42005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142548" y="50072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22972" y="2823210"/>
              <a:ext cx="9525" cy="2212658"/>
            </a:xfrm>
            <a:custGeom>
              <a:avLst/>
              <a:gdLst/>
              <a:ahLst/>
              <a:cxnLst/>
              <a:rect l="l" t="t" r="r" b="b"/>
              <a:pathLst>
                <a:path w="9525" h="2212658">
                  <a:moveTo>
                    <a:pt x="0" y="22126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75348" y="27279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188845" y="3721418"/>
              <a:ext cx="9525" cy="908685"/>
            </a:xfrm>
            <a:custGeom>
              <a:avLst/>
              <a:gdLst/>
              <a:ahLst/>
              <a:cxnLst/>
              <a:rect l="l" t="t" r="r" b="b"/>
              <a:pathLst>
                <a:path w="9525" h="908685">
                  <a:moveTo>
                    <a:pt x="0" y="90868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141220" y="36261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136708" y="3315652"/>
              <a:ext cx="9525" cy="1314450"/>
            </a:xfrm>
            <a:custGeom>
              <a:avLst/>
              <a:gdLst/>
              <a:ahLst/>
              <a:cxnLst/>
              <a:rect l="l" t="t" r="r" b="b"/>
              <a:pathLst>
                <a:path w="9525" h="1314450">
                  <a:moveTo>
                    <a:pt x="0" y="13144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89082" y="32204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595562" y="5286375"/>
              <a:ext cx="1134428" cy="9525"/>
            </a:xfrm>
            <a:custGeom>
              <a:avLst/>
              <a:gdLst/>
              <a:ahLst/>
              <a:cxnLst/>
              <a:rect l="l" t="t" r="r" b="b"/>
              <a:pathLst>
                <a:path w="1134428" h="9525">
                  <a:moveTo>
                    <a:pt x="0" y="0"/>
                  </a:moveTo>
                  <a:lnTo>
                    <a:pt x="113442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729990" y="5238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500312" y="5238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71738" y="3423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471738" y="45824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834765" y="45824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834765" y="3423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471738" y="3423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13448" y="50453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247322" y="50453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13448" y="50453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13448" y="2699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179320" y="4639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179320" y="35975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127182" y="4639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127182" y="31918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471738" y="5276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834765" y="5276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10091" y="32246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10091" y="4702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16959" y="4702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16959" y="32246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53439" y="3609023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E(z)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77106" y="3204210"/>
              <a:ext cx="5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E(z+Δz)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30748" y="3940492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⊙ 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77023" y="5300662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Δz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0458" y="3898582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168207" y="47601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0105" y="26741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5707380" y="1533525"/>
            <a:ext cx="4896302" cy="2529173"/>
            <a:chOff x="5707380" y="1533525"/>
            <a:chExt cx="4896302" cy="2529173"/>
          </a:xfrm>
        </p:grpSpPr>
        <p:sp>
          <p:nvSpPr>
            <p:cNvPr id="54" name="Rectangle 54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18860" y="1567815"/>
              <a:ext cx="2319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xz 平面取小矩形 abcd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0003" y="1861661"/>
              <a:ext cx="3267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 Δz、高 l，按 a→b→c→d 绕行，法线沿 +y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18860" y="2218372"/>
              <a:ext cx="811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的环流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0003" y="2512219"/>
              <a:ext cx="4483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只有两条竖边有贡献：∮E·dl = [E(z + Δz, t) − E(z, t)]l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18860" y="28689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穿过它的磁通变化率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20003" y="3162776"/>
              <a:ext cx="17478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dΦm/dt = (∂B/∂t)lΔz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18860" y="3520440"/>
              <a:ext cx="2306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用法拉第定律，令 Δz → 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120003" y="3813334"/>
              <a:ext cx="2071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两边除以 lΔz，再用 B = μH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formula204"/>
              <p:cNvSpPr txBox="1">
                <a:spLocks noGrp="1"/>
              </p:cNvSpPr>
              <p:nvPr/>
            </p:nvSpPr>
            <p:spPr>
              <a:xfrm>
                <a:off x="5707380" y="4241482"/>
                <a:ext cx="595122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+Δ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formula205"/>
              <p:cNvSpPr txBox="1">
                <a:spLocks noGrp="1"/>
              </p:cNvSpPr>
              <p:nvPr/>
            </p:nvSpPr>
            <p:spPr>
              <a:xfrm>
                <a:off x="5707380" y="4920615"/>
                <a:ext cx="595122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6.35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8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4" name="Rectangle 7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130" y="5991225"/>
              <a:ext cx="7850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绕行方向与法线必须成右手关系；把 abcd 反过来绕，环流和磁通同时变号，结果不变。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58807" cy="909257"/>
            <a:chOff x="520446" y="342900"/>
            <a:chExt cx="98588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588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推导（二）：由全电流定律得 ∂H/∂z = −ε∂E/∂t，合成波动方程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09"/>
              <p:cNvSpPr txBox="1">
                <a:spLocks noGrp="1"/>
              </p:cNvSpPr>
              <p:nvPr/>
            </p:nvSpPr>
            <p:spPr>
              <a:xfrm>
                <a:off x="533400" y="1524000"/>
                <a:ext cx="486918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6.37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2" name="c1-graph-2"/>
          <p:cNvGrpSpPr/>
          <p:nvPr/>
        </p:nvGrpSpPr>
        <p:grpSpPr>
          <a:xfrm>
            <a:off x="875348" y="2450782"/>
            <a:ext cx="4391024" cy="3957257"/>
            <a:chOff x="875348" y="2450782"/>
            <a:chExt cx="4391024" cy="3957257"/>
          </a:xfrm>
        </p:grpSpPr>
        <p:sp>
          <p:nvSpPr>
            <p:cNvPr id="8" name="Freeform 8"/>
            <p:cNvSpPr/>
            <p:nvPr/>
          </p:nvSpPr>
          <p:spPr>
            <a:xfrm>
              <a:off x="2481262" y="3601402"/>
              <a:ext cx="9525" cy="1509712"/>
            </a:xfrm>
            <a:custGeom>
              <a:avLst/>
              <a:gdLst/>
              <a:ahLst/>
              <a:cxnLst/>
              <a:rect l="l" t="t" r="r" b="b"/>
              <a:pathLst>
                <a:path w="9525" h="1509712">
                  <a:moveTo>
                    <a:pt x="0" y="1509712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433638" y="3506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500312" y="3487102"/>
              <a:ext cx="1229678" cy="9525"/>
            </a:xfrm>
            <a:custGeom>
              <a:avLst/>
              <a:gdLst/>
              <a:ahLst/>
              <a:cxnLst/>
              <a:rect l="l" t="t" r="r" b="b"/>
              <a:pathLst>
                <a:path w="1229678" h="9525">
                  <a:moveTo>
                    <a:pt x="0" y="0"/>
                  </a:moveTo>
                  <a:lnTo>
                    <a:pt x="1229678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29990" y="34394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844290" y="3506152"/>
              <a:ext cx="9525" cy="1509712"/>
            </a:xfrm>
            <a:custGeom>
              <a:avLst/>
              <a:gdLst/>
              <a:ahLst/>
              <a:cxnLst/>
              <a:rect l="l" t="t" r="r" b="b"/>
              <a:pathLst>
                <a:path w="9525" h="1509712">
                  <a:moveTo>
                    <a:pt x="0" y="0"/>
                  </a:moveTo>
                  <a:lnTo>
                    <a:pt x="0" y="1509712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96665" y="50158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43B7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00312" y="5130165"/>
              <a:ext cx="1324928" cy="9525"/>
            </a:xfrm>
            <a:custGeom>
              <a:avLst/>
              <a:gdLst/>
              <a:ahLst/>
              <a:cxnLst/>
              <a:rect l="l" t="t" r="r" b="b"/>
              <a:pathLst>
                <a:path w="1324928" h="9525">
                  <a:moveTo>
                    <a:pt x="132492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243B7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42022" y="5787390"/>
              <a:ext cx="4200525" cy="9525"/>
            </a:xfrm>
            <a:custGeom>
              <a:avLst/>
              <a:gdLst/>
              <a:ahLst/>
              <a:cxnLst/>
              <a:rect l="l" t="t" r="r" b="b"/>
              <a:pathLst>
                <a:path w="4200525" h="9525">
                  <a:moveTo>
                    <a:pt x="0" y="0"/>
                  </a:moveTo>
                  <a:lnTo>
                    <a:pt x="42005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42548" y="57397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22972" y="2574608"/>
              <a:ext cx="9525" cy="3193732"/>
            </a:xfrm>
            <a:custGeom>
              <a:avLst/>
              <a:gdLst/>
              <a:ahLst/>
              <a:cxnLst/>
              <a:rect l="l" t="t" r="r" b="b"/>
              <a:pathLst>
                <a:path w="9525" h="3193732">
                  <a:moveTo>
                    <a:pt x="0" y="319373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75348" y="2479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188845" y="3848100"/>
              <a:ext cx="9525" cy="1344930"/>
            </a:xfrm>
            <a:custGeom>
              <a:avLst/>
              <a:gdLst/>
              <a:ahLst/>
              <a:cxnLst/>
              <a:rect l="l" t="t" r="r" b="b"/>
              <a:pathLst>
                <a:path w="9525" h="1344930">
                  <a:moveTo>
                    <a:pt x="0" y="134493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41220" y="3752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136708" y="3272790"/>
              <a:ext cx="9525" cy="1920240"/>
            </a:xfrm>
            <a:custGeom>
              <a:avLst/>
              <a:gdLst/>
              <a:ahLst/>
              <a:cxnLst/>
              <a:rect l="l" t="t" r="r" b="b"/>
              <a:pathLst>
                <a:path w="9525" h="1920240">
                  <a:moveTo>
                    <a:pt x="0" y="192024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89082" y="3177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595562" y="6116002"/>
              <a:ext cx="1134428" cy="9525"/>
            </a:xfrm>
            <a:custGeom>
              <a:avLst/>
              <a:gdLst/>
              <a:ahLst/>
              <a:cxnLst/>
              <a:rect l="l" t="t" r="r" b="b"/>
              <a:pathLst>
                <a:path w="1134428" h="9525">
                  <a:moveTo>
                    <a:pt x="0" y="0"/>
                  </a:moveTo>
                  <a:lnTo>
                    <a:pt x="113442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729990" y="6068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500312" y="6068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471738" y="51206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471738" y="34775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834765" y="34775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834765" y="51206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471738" y="51206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13448" y="57778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247322" y="57778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13448" y="57778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13448" y="2450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179320" y="5202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179320" y="37242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127182" y="5202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127182" y="31489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471738" y="61064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34765" y="61064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10091" y="5337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10091" y="32427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16959" y="32427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16959" y="5337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53439" y="3784282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H(z)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77106" y="3208973"/>
              <a:ext cx="598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H(z+Δz)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30748" y="4261485"/>
              <a:ext cx="263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⊗ 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77023" y="6202680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Δz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00458" y="4195762"/>
              <a:ext cx="5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68207" y="541924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0105" y="246173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66" name="c2-steps-1"/>
          <p:cNvGrpSpPr/>
          <p:nvPr/>
        </p:nvGrpSpPr>
        <p:grpSpPr>
          <a:xfrm>
            <a:off x="5707380" y="1533525"/>
            <a:ext cx="5656270" cy="2112930"/>
            <a:chOff x="5707380" y="1533525"/>
            <a:chExt cx="5656270" cy="2112930"/>
          </a:xfrm>
        </p:grpSpPr>
        <p:sp>
          <p:nvSpPr>
            <p:cNvPr id="53" name="Rectangle 53"/>
            <p:cNvSpPr/>
            <p:nvPr/>
          </p:nvSpPr>
          <p:spPr>
            <a:xfrm>
              <a:off x="5840730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70738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0100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18860" y="1567815"/>
              <a:ext cx="2319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yz 平面取小矩形 efgh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120003" y="1861661"/>
              <a:ext cx="5243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e→f→g→h 绕行，法线沿 +x：∮H·dl = −[H(z + Δz, t) − H(z, t)]l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118860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电通量变化率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120003" y="2512219"/>
              <a:ext cx="48328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dΦe/dt = (∂D/∂t)lΔz；无源区 J = 0，由全电流定律并用 D = εE 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(6.37)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18860" y="3104198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 H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0003" y="3397091"/>
              <a:ext cx="44069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(6.35) 两边对 z 求偏导，(6.37) 两边对 t 求偏导，代入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formula210"/>
              <p:cNvSpPr txBox="1">
                <a:spLocks noGrp="1"/>
              </p:cNvSpPr>
              <p:nvPr/>
            </p:nvSpPr>
            <p:spPr>
              <a:xfrm>
                <a:off x="5707380" y="3825240"/>
                <a:ext cx="595122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εμ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6.38a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formula211"/>
              <p:cNvSpPr txBox="1">
                <a:spLocks noGrp="1"/>
              </p:cNvSpPr>
              <p:nvPr/>
            </p:nvSpPr>
            <p:spPr>
              <a:xfrm>
                <a:off x="5707380" y="4555808"/>
                <a:ext cx="5951220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εμ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6.38b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74" name="c2-callout-4"/>
          <p:cNvGrpSpPr/>
          <p:nvPr/>
        </p:nvGrpSpPr>
        <p:grpSpPr>
          <a:xfrm>
            <a:off x="5707380" y="5286375"/>
            <a:ext cx="5951220" cy="782955"/>
            <a:chOff x="5707380" y="5286375"/>
            <a:chExt cx="5951220" cy="782955"/>
          </a:xfrm>
        </p:grpSpPr>
        <p:sp>
          <p:nvSpPr>
            <p:cNvPr id="69" name="Rectangle 69"/>
            <p:cNvSpPr/>
            <p:nvPr/>
          </p:nvSpPr>
          <p:spPr>
            <a:xfrm>
              <a:off x="5707380" y="528637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5912168" y="5577842"/>
              <a:ext cx="200023" cy="200023"/>
              <a:chOff x="5912168" y="5577842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912168" y="55778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045518" y="56445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214110" y="5434965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这就是平面电磁波的微分方程，与第3章平面简谐波的波动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方程形式相同。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53884" cy="909257"/>
            <a:chOff x="520446" y="342900"/>
            <a:chExt cx="62538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538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波速 u = 1/√(εμ)：真空中正好等于光速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136855" cy="278702"/>
            <a:chOff x="526161" y="1547336"/>
            <a:chExt cx="513685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136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推广到三维，E 的每个分量都满足下式，H 满足同样的方程：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24"/>
              <p:cNvSpPr txBox="1">
                <a:spLocks noGrp="1"/>
              </p:cNvSpPr>
              <p:nvPr/>
            </p:nvSpPr>
            <p:spPr>
              <a:xfrm>
                <a:off x="533400" y="195072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εμ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616994"/>
            <a:ext cx="2308403" cy="278702"/>
            <a:chOff x="526161" y="2616994"/>
            <a:chExt cx="2308403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6169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与机械波的波动方程对比：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25"/>
              <p:cNvSpPr txBox="1">
                <a:spLocks noGrp="1"/>
              </p:cNvSpPr>
              <p:nvPr/>
            </p:nvSpPr>
            <p:spPr>
              <a:xfrm>
                <a:off x="533400" y="3019425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5"/>
          <p:cNvGrpSpPr/>
          <p:nvPr/>
        </p:nvGrpSpPr>
        <p:grpSpPr>
          <a:xfrm>
            <a:off x="533400" y="3663315"/>
            <a:ext cx="5410200" cy="1970722"/>
            <a:chOff x="533400" y="3663315"/>
            <a:chExt cx="5410200" cy="1970722"/>
          </a:xfrm>
        </p:grpSpPr>
        <p:sp>
          <p:nvSpPr>
            <p:cNvPr id="13" name="Rectangle 13"/>
            <p:cNvSpPr/>
            <p:nvPr/>
          </p:nvSpPr>
          <p:spPr>
            <a:xfrm>
              <a:off x="533400" y="3663315"/>
              <a:ext cx="5410200" cy="1970722"/>
            </a:xfrm>
            <a:prstGeom prst="roundRect">
              <a:avLst>
                <a:gd name="adj" fmla="val 676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86143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959" y="38957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对比系数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221956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1/u² 对应 εμ，所以电磁波在介质中的传播速度为 u = 1/√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(εμ)。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226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εμ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5" name="c2-card-2"/>
          <p:cNvGrpSpPr/>
          <p:nvPr/>
        </p:nvGrpSpPr>
        <p:grpSpPr>
          <a:xfrm>
            <a:off x="6248400" y="2372678"/>
            <a:ext cx="5410200" cy="1557338"/>
            <a:chOff x="6248400" y="2372678"/>
            <a:chExt cx="5410200" cy="1557338"/>
          </a:xfrm>
        </p:grpSpPr>
        <p:sp>
          <p:nvSpPr>
            <p:cNvPr id="19" name="Rectangle 19"/>
            <p:cNvSpPr/>
            <p:nvPr/>
          </p:nvSpPr>
          <p:spPr>
            <a:xfrm>
              <a:off x="6248400" y="2372678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506028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84620" y="257079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72060" y="26050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真空中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227"/>
                <p:cNvSpPr txBox="1">
                  <a:spLocks noGrp="1"/>
                </p:cNvSpPr>
                <p:nvPr/>
              </p:nvSpPr>
              <p:spPr>
                <a:xfrm>
                  <a:off x="6484620" y="2907982"/>
                  <a:ext cx="497586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2.998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p>
                          <m:e>
                            <m:r>
                              <m:rPr>
                                <m:nor m:val="on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TextBox 24"/>
            <p:cNvSpPr txBox="1"/>
            <p:nvPr/>
          </p:nvSpPr>
          <p:spPr>
            <a:xfrm>
              <a:off x="6477381" y="3509486"/>
              <a:ext cx="41607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ε₀ = 8.85×10⁻¹² F·m⁻¹，μ₀ = 4π×10⁻⁷ H·m⁻¹</a:t>
              </a:r>
            </a:p>
          </p:txBody>
        </p:sp>
      </p:grpSp>
      <p:grpSp>
        <p:nvGrpSpPr>
          <p:cNvPr id="31" name="c2-card-3"/>
          <p:cNvGrpSpPr/>
          <p:nvPr/>
        </p:nvGrpSpPr>
        <p:grpSpPr>
          <a:xfrm>
            <a:off x="6248400" y="4110990"/>
            <a:ext cx="5410200" cy="1522095"/>
            <a:chOff x="6248400" y="4110990"/>
            <a:chExt cx="5410200" cy="1522095"/>
          </a:xfrm>
        </p:grpSpPr>
        <p:sp>
          <p:nvSpPr>
            <p:cNvPr id="26" name="Rectangle 26"/>
            <p:cNvSpPr/>
            <p:nvPr/>
          </p:nvSpPr>
          <p:spPr>
            <a:xfrm>
              <a:off x="6248400" y="411099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424434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84620" y="430911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6058" y="4343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预言光是电磁波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7381" y="4669631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由两个电磁学常量算出的波速与当时测得的光速相符，麦克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斯韦据此预言光也是电磁波。1887～1888 年赫兹用实验产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生并检测到电磁波，证实了这一预言。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2" name="Rectangle 3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6011704"/>
              <a:ext cx="69058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介质中 u = c/√(εrμr)，折射率 n = c/u = √(εrμr)；一般介质 μr ≈ 1，n ≈ √εr。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83066" cy="909257"/>
            <a:chOff x="520446" y="342900"/>
            <a:chExt cx="86830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830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平面电磁波：E 与 H 同相、互相垂直，都垂直于传播方向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30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1" name="c1-graph-2"/>
          <p:cNvGrpSpPr/>
          <p:nvPr/>
        </p:nvGrpSpPr>
        <p:grpSpPr>
          <a:xfrm>
            <a:off x="685800" y="2330768"/>
            <a:ext cx="5160644" cy="4080986"/>
            <a:chOff x="685800" y="2330768"/>
            <a:chExt cx="5160644" cy="4080986"/>
          </a:xfrm>
        </p:grpSpPr>
        <p:sp>
          <p:nvSpPr>
            <p:cNvPr id="8" name="Freeform 8"/>
            <p:cNvSpPr/>
            <p:nvPr/>
          </p:nvSpPr>
          <p:spPr>
            <a:xfrm>
              <a:off x="1634490" y="4183380"/>
              <a:ext cx="4032885" cy="9525"/>
            </a:xfrm>
            <a:custGeom>
              <a:avLst/>
              <a:gdLst/>
              <a:ahLst/>
              <a:cxnLst/>
              <a:rect l="l" t="t" r="r" b="b"/>
              <a:pathLst>
                <a:path w="4032885" h="9525">
                  <a:moveTo>
                    <a:pt x="0" y="0"/>
                  </a:moveTo>
                  <a:lnTo>
                    <a:pt x="40328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667375" y="41357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2454592"/>
              <a:ext cx="9525" cy="1709738"/>
            </a:xfrm>
            <a:custGeom>
              <a:avLst/>
              <a:gdLst/>
              <a:ahLst/>
              <a:cxnLst/>
              <a:rect l="l" t="t" r="r" b="b"/>
              <a:pathLst>
                <a:path w="9525" h="1709738">
                  <a:moveTo>
                    <a:pt x="0" y="170973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67815" y="23593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44855" y="4200525"/>
              <a:ext cx="862012" cy="1807845"/>
            </a:xfrm>
            <a:custGeom>
              <a:avLst/>
              <a:gdLst/>
              <a:ahLst/>
              <a:cxnLst/>
              <a:rect l="l" t="t" r="r" b="b"/>
              <a:pathLst>
                <a:path w="862012" h="1807845">
                  <a:moveTo>
                    <a:pt x="862012" y="0"/>
                  </a:moveTo>
                  <a:lnTo>
                    <a:pt x="0" y="18078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01992" y="598741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1905" y="106680"/>
                  </a:moveTo>
                  <a:lnTo>
                    <a:pt x="0" y="0"/>
                  </a:lnTo>
                  <a:lnTo>
                    <a:pt x="85725" y="40957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619250" y="2675572"/>
              <a:ext cx="3995738" cy="3016568"/>
            </a:xfrm>
            <a:custGeom>
              <a:avLst/>
              <a:gdLst/>
              <a:ahLst/>
              <a:cxnLst/>
              <a:rect l="l" t="t" r="r" b="b"/>
              <a:pathLst>
                <a:path w="3995738" h="3016568">
                  <a:moveTo>
                    <a:pt x="0" y="1489710"/>
                  </a:moveTo>
                  <a:lnTo>
                    <a:pt x="28575" y="1348740"/>
                  </a:lnTo>
                  <a:lnTo>
                    <a:pt x="60960" y="1193482"/>
                  </a:lnTo>
                  <a:lnTo>
                    <a:pt x="99060" y="1042988"/>
                  </a:lnTo>
                  <a:lnTo>
                    <a:pt x="131445" y="896303"/>
                  </a:lnTo>
                  <a:lnTo>
                    <a:pt x="163830" y="753428"/>
                  </a:lnTo>
                  <a:lnTo>
                    <a:pt x="196215" y="620078"/>
                  </a:lnTo>
                  <a:lnTo>
                    <a:pt x="228600" y="498158"/>
                  </a:lnTo>
                  <a:lnTo>
                    <a:pt x="260985" y="384810"/>
                  </a:lnTo>
                  <a:lnTo>
                    <a:pt x="299085" y="288608"/>
                  </a:lnTo>
                  <a:lnTo>
                    <a:pt x="331470" y="200978"/>
                  </a:lnTo>
                  <a:lnTo>
                    <a:pt x="363855" y="129540"/>
                  </a:lnTo>
                  <a:lnTo>
                    <a:pt x="396240" y="75248"/>
                  </a:lnTo>
                  <a:lnTo>
                    <a:pt x="428625" y="33338"/>
                  </a:lnTo>
                  <a:lnTo>
                    <a:pt x="461010" y="7620"/>
                  </a:lnTo>
                  <a:lnTo>
                    <a:pt x="494348" y="0"/>
                  </a:lnTo>
                  <a:lnTo>
                    <a:pt x="531495" y="7620"/>
                  </a:lnTo>
                  <a:lnTo>
                    <a:pt x="563880" y="33338"/>
                  </a:lnTo>
                  <a:lnTo>
                    <a:pt x="596265" y="75248"/>
                  </a:lnTo>
                  <a:lnTo>
                    <a:pt x="629602" y="129540"/>
                  </a:lnTo>
                  <a:lnTo>
                    <a:pt x="661988" y="200978"/>
                  </a:lnTo>
                  <a:lnTo>
                    <a:pt x="699135" y="288608"/>
                  </a:lnTo>
                  <a:lnTo>
                    <a:pt x="731520" y="384810"/>
                  </a:lnTo>
                  <a:lnTo>
                    <a:pt x="764858" y="498158"/>
                  </a:lnTo>
                  <a:lnTo>
                    <a:pt x="797242" y="620078"/>
                  </a:lnTo>
                  <a:lnTo>
                    <a:pt x="829628" y="753428"/>
                  </a:lnTo>
                  <a:lnTo>
                    <a:pt x="862012" y="896303"/>
                  </a:lnTo>
                  <a:lnTo>
                    <a:pt x="894397" y="1042988"/>
                  </a:lnTo>
                  <a:lnTo>
                    <a:pt x="932497" y="1193482"/>
                  </a:lnTo>
                  <a:lnTo>
                    <a:pt x="964883" y="1348740"/>
                  </a:lnTo>
                  <a:lnTo>
                    <a:pt x="997267" y="1507808"/>
                  </a:lnTo>
                  <a:lnTo>
                    <a:pt x="1029653" y="1666875"/>
                  </a:lnTo>
                  <a:lnTo>
                    <a:pt x="1062038" y="1822132"/>
                  </a:lnTo>
                  <a:lnTo>
                    <a:pt x="1100138" y="1973580"/>
                  </a:lnTo>
                  <a:lnTo>
                    <a:pt x="1132522" y="2120265"/>
                  </a:lnTo>
                  <a:lnTo>
                    <a:pt x="1164908" y="2262188"/>
                  </a:lnTo>
                  <a:lnTo>
                    <a:pt x="1197292" y="2396490"/>
                  </a:lnTo>
                  <a:lnTo>
                    <a:pt x="1229678" y="2518410"/>
                  </a:lnTo>
                  <a:lnTo>
                    <a:pt x="1262062" y="2630805"/>
                  </a:lnTo>
                  <a:lnTo>
                    <a:pt x="1294447" y="2727960"/>
                  </a:lnTo>
                  <a:lnTo>
                    <a:pt x="1332547" y="2815590"/>
                  </a:lnTo>
                  <a:lnTo>
                    <a:pt x="1364932" y="2887028"/>
                  </a:lnTo>
                  <a:lnTo>
                    <a:pt x="1397318" y="2941320"/>
                  </a:lnTo>
                  <a:lnTo>
                    <a:pt x="1429703" y="2983230"/>
                  </a:lnTo>
                  <a:lnTo>
                    <a:pt x="1462088" y="3007995"/>
                  </a:lnTo>
                  <a:lnTo>
                    <a:pt x="1500188" y="3016568"/>
                  </a:lnTo>
                  <a:lnTo>
                    <a:pt x="1532572" y="3007995"/>
                  </a:lnTo>
                  <a:lnTo>
                    <a:pt x="1564958" y="2983230"/>
                  </a:lnTo>
                  <a:lnTo>
                    <a:pt x="1597342" y="2941320"/>
                  </a:lnTo>
                  <a:lnTo>
                    <a:pt x="1629728" y="2887028"/>
                  </a:lnTo>
                  <a:lnTo>
                    <a:pt x="1662112" y="2815590"/>
                  </a:lnTo>
                  <a:lnTo>
                    <a:pt x="1700212" y="2727960"/>
                  </a:lnTo>
                  <a:lnTo>
                    <a:pt x="1732597" y="2630805"/>
                  </a:lnTo>
                  <a:lnTo>
                    <a:pt x="1764982" y="2518410"/>
                  </a:lnTo>
                  <a:lnTo>
                    <a:pt x="1797368" y="2396490"/>
                  </a:lnTo>
                  <a:lnTo>
                    <a:pt x="1830705" y="2262188"/>
                  </a:lnTo>
                  <a:lnTo>
                    <a:pt x="1863090" y="2120265"/>
                  </a:lnTo>
                  <a:lnTo>
                    <a:pt x="1895475" y="1973580"/>
                  </a:lnTo>
                  <a:lnTo>
                    <a:pt x="1932622" y="1822132"/>
                  </a:lnTo>
                  <a:lnTo>
                    <a:pt x="1965960" y="1666875"/>
                  </a:lnTo>
                  <a:lnTo>
                    <a:pt x="1998345" y="1507808"/>
                  </a:lnTo>
                  <a:lnTo>
                    <a:pt x="2030730" y="1348740"/>
                  </a:lnTo>
                  <a:lnTo>
                    <a:pt x="2063115" y="1193482"/>
                  </a:lnTo>
                  <a:lnTo>
                    <a:pt x="2101215" y="1042988"/>
                  </a:lnTo>
                  <a:lnTo>
                    <a:pt x="2133600" y="896303"/>
                  </a:lnTo>
                  <a:lnTo>
                    <a:pt x="2165985" y="753428"/>
                  </a:lnTo>
                  <a:lnTo>
                    <a:pt x="2198370" y="620078"/>
                  </a:lnTo>
                  <a:lnTo>
                    <a:pt x="2230755" y="498158"/>
                  </a:lnTo>
                  <a:lnTo>
                    <a:pt x="2263140" y="384810"/>
                  </a:lnTo>
                  <a:lnTo>
                    <a:pt x="2295525" y="288608"/>
                  </a:lnTo>
                  <a:lnTo>
                    <a:pt x="2333625" y="200978"/>
                  </a:lnTo>
                  <a:lnTo>
                    <a:pt x="2366010" y="129540"/>
                  </a:lnTo>
                  <a:lnTo>
                    <a:pt x="2398395" y="75248"/>
                  </a:lnTo>
                  <a:lnTo>
                    <a:pt x="2430780" y="33338"/>
                  </a:lnTo>
                  <a:lnTo>
                    <a:pt x="2463165" y="7620"/>
                  </a:lnTo>
                  <a:lnTo>
                    <a:pt x="2495550" y="0"/>
                  </a:lnTo>
                  <a:lnTo>
                    <a:pt x="2533650" y="7620"/>
                  </a:lnTo>
                  <a:lnTo>
                    <a:pt x="2566035" y="33338"/>
                  </a:lnTo>
                  <a:lnTo>
                    <a:pt x="2598420" y="75248"/>
                  </a:lnTo>
                  <a:lnTo>
                    <a:pt x="2630805" y="129540"/>
                  </a:lnTo>
                  <a:lnTo>
                    <a:pt x="2663190" y="200978"/>
                  </a:lnTo>
                  <a:lnTo>
                    <a:pt x="2701290" y="288608"/>
                  </a:lnTo>
                  <a:lnTo>
                    <a:pt x="2733675" y="384810"/>
                  </a:lnTo>
                  <a:lnTo>
                    <a:pt x="2766060" y="498158"/>
                  </a:lnTo>
                  <a:lnTo>
                    <a:pt x="2798445" y="620078"/>
                  </a:lnTo>
                  <a:lnTo>
                    <a:pt x="2830830" y="753428"/>
                  </a:lnTo>
                  <a:lnTo>
                    <a:pt x="2863215" y="896303"/>
                  </a:lnTo>
                  <a:lnTo>
                    <a:pt x="2901315" y="1042988"/>
                  </a:lnTo>
                  <a:lnTo>
                    <a:pt x="2933700" y="1193482"/>
                  </a:lnTo>
                  <a:lnTo>
                    <a:pt x="2966085" y="1348740"/>
                  </a:lnTo>
                  <a:lnTo>
                    <a:pt x="2998470" y="1507808"/>
                  </a:lnTo>
                  <a:lnTo>
                    <a:pt x="3030855" y="1666875"/>
                  </a:lnTo>
                  <a:lnTo>
                    <a:pt x="3064192" y="1822132"/>
                  </a:lnTo>
                  <a:lnTo>
                    <a:pt x="3096578" y="1973580"/>
                  </a:lnTo>
                  <a:lnTo>
                    <a:pt x="3133725" y="2120265"/>
                  </a:lnTo>
                  <a:lnTo>
                    <a:pt x="3166110" y="2262188"/>
                  </a:lnTo>
                  <a:lnTo>
                    <a:pt x="3199448" y="2396490"/>
                  </a:lnTo>
                  <a:lnTo>
                    <a:pt x="3231832" y="2518410"/>
                  </a:lnTo>
                  <a:lnTo>
                    <a:pt x="3264218" y="2630805"/>
                  </a:lnTo>
                  <a:lnTo>
                    <a:pt x="3296602" y="2727960"/>
                  </a:lnTo>
                  <a:lnTo>
                    <a:pt x="3334702" y="2815590"/>
                  </a:lnTo>
                  <a:lnTo>
                    <a:pt x="3367088" y="2887028"/>
                  </a:lnTo>
                  <a:lnTo>
                    <a:pt x="3399472" y="2941320"/>
                  </a:lnTo>
                  <a:lnTo>
                    <a:pt x="3431857" y="2983230"/>
                  </a:lnTo>
                  <a:lnTo>
                    <a:pt x="3464243" y="3007995"/>
                  </a:lnTo>
                  <a:lnTo>
                    <a:pt x="3502343" y="3016568"/>
                  </a:lnTo>
                  <a:lnTo>
                    <a:pt x="3534728" y="3007995"/>
                  </a:lnTo>
                  <a:lnTo>
                    <a:pt x="3567112" y="2983230"/>
                  </a:lnTo>
                  <a:lnTo>
                    <a:pt x="3599498" y="2941320"/>
                  </a:lnTo>
                  <a:lnTo>
                    <a:pt x="3631882" y="2887028"/>
                  </a:lnTo>
                  <a:lnTo>
                    <a:pt x="3664268" y="2815590"/>
                  </a:lnTo>
                  <a:lnTo>
                    <a:pt x="3702368" y="2727960"/>
                  </a:lnTo>
                  <a:lnTo>
                    <a:pt x="3734752" y="2630805"/>
                  </a:lnTo>
                  <a:lnTo>
                    <a:pt x="3767138" y="2518410"/>
                  </a:lnTo>
                  <a:lnTo>
                    <a:pt x="3799522" y="2396490"/>
                  </a:lnTo>
                  <a:lnTo>
                    <a:pt x="3831907" y="2262188"/>
                  </a:lnTo>
                  <a:lnTo>
                    <a:pt x="3864293" y="2120265"/>
                  </a:lnTo>
                  <a:lnTo>
                    <a:pt x="3902393" y="1973580"/>
                  </a:lnTo>
                  <a:lnTo>
                    <a:pt x="3934778" y="1822132"/>
                  </a:lnTo>
                  <a:lnTo>
                    <a:pt x="3967162" y="1666875"/>
                  </a:lnTo>
                  <a:lnTo>
                    <a:pt x="3995738" y="1526858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87792" y="2926080"/>
              <a:ext cx="4458652" cy="2514600"/>
            </a:xfrm>
            <a:custGeom>
              <a:avLst/>
              <a:gdLst/>
              <a:ahLst/>
              <a:cxnLst/>
              <a:rect l="l" t="t" r="r" b="b"/>
              <a:pathLst>
                <a:path w="4458652" h="2514600">
                  <a:moveTo>
                    <a:pt x="222885" y="1276350"/>
                  </a:moveTo>
                  <a:lnTo>
                    <a:pt x="195262" y="1387792"/>
                  </a:lnTo>
                  <a:lnTo>
                    <a:pt x="157162" y="1517332"/>
                  </a:lnTo>
                  <a:lnTo>
                    <a:pt x="124778" y="1646873"/>
                  </a:lnTo>
                  <a:lnTo>
                    <a:pt x="98108" y="1768792"/>
                  </a:lnTo>
                  <a:lnTo>
                    <a:pt x="70485" y="1885950"/>
                  </a:lnTo>
                  <a:lnTo>
                    <a:pt x="43815" y="1995488"/>
                  </a:lnTo>
                  <a:lnTo>
                    <a:pt x="27623" y="2100263"/>
                  </a:lnTo>
                  <a:lnTo>
                    <a:pt x="11430" y="2191702"/>
                  </a:lnTo>
                  <a:lnTo>
                    <a:pt x="0" y="2275523"/>
                  </a:lnTo>
                  <a:lnTo>
                    <a:pt x="0" y="2346960"/>
                  </a:lnTo>
                  <a:lnTo>
                    <a:pt x="0" y="2406015"/>
                  </a:lnTo>
                  <a:lnTo>
                    <a:pt x="11430" y="2451735"/>
                  </a:lnTo>
                  <a:lnTo>
                    <a:pt x="27623" y="2485073"/>
                  </a:lnTo>
                  <a:lnTo>
                    <a:pt x="49530" y="2506027"/>
                  </a:lnTo>
                  <a:lnTo>
                    <a:pt x="76200" y="2514600"/>
                  </a:lnTo>
                  <a:lnTo>
                    <a:pt x="114300" y="2506027"/>
                  </a:lnTo>
                  <a:lnTo>
                    <a:pt x="157162" y="2485073"/>
                  </a:lnTo>
                  <a:lnTo>
                    <a:pt x="211455" y="2451735"/>
                  </a:lnTo>
                  <a:lnTo>
                    <a:pt x="270510" y="2406015"/>
                  </a:lnTo>
                  <a:lnTo>
                    <a:pt x="330518" y="2346960"/>
                  </a:lnTo>
                  <a:lnTo>
                    <a:pt x="401003" y="2275523"/>
                  </a:lnTo>
                  <a:lnTo>
                    <a:pt x="476250" y="2191702"/>
                  </a:lnTo>
                  <a:lnTo>
                    <a:pt x="562928" y="2100263"/>
                  </a:lnTo>
                  <a:lnTo>
                    <a:pt x="643890" y="1995488"/>
                  </a:lnTo>
                  <a:lnTo>
                    <a:pt x="736283" y="1885950"/>
                  </a:lnTo>
                  <a:lnTo>
                    <a:pt x="833438" y="1768792"/>
                  </a:lnTo>
                  <a:lnTo>
                    <a:pt x="925830" y="1646873"/>
                  </a:lnTo>
                  <a:lnTo>
                    <a:pt x="1028700" y="1517332"/>
                  </a:lnTo>
                  <a:lnTo>
                    <a:pt x="1125855" y="1387792"/>
                  </a:lnTo>
                  <a:lnTo>
                    <a:pt x="1228725" y="1257300"/>
                  </a:lnTo>
                  <a:lnTo>
                    <a:pt x="1331595" y="1127760"/>
                  </a:lnTo>
                  <a:lnTo>
                    <a:pt x="1428750" y="998220"/>
                  </a:lnTo>
                  <a:lnTo>
                    <a:pt x="1531620" y="867728"/>
                  </a:lnTo>
                  <a:lnTo>
                    <a:pt x="1623060" y="746760"/>
                  </a:lnTo>
                  <a:lnTo>
                    <a:pt x="1721168" y="628650"/>
                  </a:lnTo>
                  <a:lnTo>
                    <a:pt x="1812608" y="520065"/>
                  </a:lnTo>
                  <a:lnTo>
                    <a:pt x="1893570" y="415290"/>
                  </a:lnTo>
                  <a:lnTo>
                    <a:pt x="1980248" y="322898"/>
                  </a:lnTo>
                  <a:lnTo>
                    <a:pt x="2056448" y="239078"/>
                  </a:lnTo>
                  <a:lnTo>
                    <a:pt x="2126932" y="167640"/>
                  </a:lnTo>
                  <a:lnTo>
                    <a:pt x="2185988" y="109538"/>
                  </a:lnTo>
                  <a:lnTo>
                    <a:pt x="2245995" y="62865"/>
                  </a:lnTo>
                  <a:lnTo>
                    <a:pt x="2299335" y="29528"/>
                  </a:lnTo>
                  <a:lnTo>
                    <a:pt x="2343150" y="8573"/>
                  </a:lnTo>
                  <a:lnTo>
                    <a:pt x="2381250" y="0"/>
                  </a:lnTo>
                  <a:lnTo>
                    <a:pt x="2407920" y="8573"/>
                  </a:lnTo>
                  <a:lnTo>
                    <a:pt x="2429828" y="29528"/>
                  </a:lnTo>
                  <a:lnTo>
                    <a:pt x="2446020" y="62865"/>
                  </a:lnTo>
                  <a:lnTo>
                    <a:pt x="2456498" y="109538"/>
                  </a:lnTo>
                  <a:lnTo>
                    <a:pt x="2456498" y="167640"/>
                  </a:lnTo>
                  <a:lnTo>
                    <a:pt x="2456498" y="239078"/>
                  </a:lnTo>
                  <a:lnTo>
                    <a:pt x="2446020" y="322898"/>
                  </a:lnTo>
                  <a:lnTo>
                    <a:pt x="2429828" y="415290"/>
                  </a:lnTo>
                  <a:lnTo>
                    <a:pt x="2413635" y="520065"/>
                  </a:lnTo>
                  <a:lnTo>
                    <a:pt x="2386012" y="628650"/>
                  </a:lnTo>
                  <a:lnTo>
                    <a:pt x="2359342" y="746760"/>
                  </a:lnTo>
                  <a:lnTo>
                    <a:pt x="2332673" y="867728"/>
                  </a:lnTo>
                  <a:lnTo>
                    <a:pt x="2299335" y="998220"/>
                  </a:lnTo>
                  <a:lnTo>
                    <a:pt x="2262188" y="1127760"/>
                  </a:lnTo>
                  <a:lnTo>
                    <a:pt x="2229802" y="1257300"/>
                  </a:lnTo>
                  <a:lnTo>
                    <a:pt x="2197418" y="1387792"/>
                  </a:lnTo>
                  <a:lnTo>
                    <a:pt x="2159318" y="1517332"/>
                  </a:lnTo>
                  <a:lnTo>
                    <a:pt x="2126932" y="1646873"/>
                  </a:lnTo>
                  <a:lnTo>
                    <a:pt x="2099310" y="1768792"/>
                  </a:lnTo>
                  <a:lnTo>
                    <a:pt x="2072640" y="1885950"/>
                  </a:lnTo>
                  <a:lnTo>
                    <a:pt x="2045018" y="1995488"/>
                  </a:lnTo>
                  <a:lnTo>
                    <a:pt x="2028825" y="2100263"/>
                  </a:lnTo>
                  <a:lnTo>
                    <a:pt x="2012632" y="2191702"/>
                  </a:lnTo>
                  <a:lnTo>
                    <a:pt x="2002155" y="2275523"/>
                  </a:lnTo>
                  <a:lnTo>
                    <a:pt x="2002155" y="2346960"/>
                  </a:lnTo>
                  <a:lnTo>
                    <a:pt x="2002155" y="2406015"/>
                  </a:lnTo>
                  <a:lnTo>
                    <a:pt x="2012632" y="2451735"/>
                  </a:lnTo>
                  <a:lnTo>
                    <a:pt x="2028825" y="2485073"/>
                  </a:lnTo>
                  <a:lnTo>
                    <a:pt x="2050732" y="2506027"/>
                  </a:lnTo>
                  <a:lnTo>
                    <a:pt x="2078355" y="2514600"/>
                  </a:lnTo>
                  <a:lnTo>
                    <a:pt x="2115502" y="2506027"/>
                  </a:lnTo>
                  <a:lnTo>
                    <a:pt x="2159318" y="2485073"/>
                  </a:lnTo>
                  <a:lnTo>
                    <a:pt x="2213610" y="2451735"/>
                  </a:lnTo>
                  <a:lnTo>
                    <a:pt x="2272665" y="2406015"/>
                  </a:lnTo>
                  <a:lnTo>
                    <a:pt x="2332673" y="2346960"/>
                  </a:lnTo>
                  <a:lnTo>
                    <a:pt x="2402205" y="2275523"/>
                  </a:lnTo>
                  <a:lnTo>
                    <a:pt x="2478405" y="2191702"/>
                  </a:lnTo>
                  <a:lnTo>
                    <a:pt x="2565082" y="2100263"/>
                  </a:lnTo>
                  <a:lnTo>
                    <a:pt x="2646045" y="1995488"/>
                  </a:lnTo>
                  <a:lnTo>
                    <a:pt x="2738438" y="1885950"/>
                  </a:lnTo>
                  <a:lnTo>
                    <a:pt x="2835592" y="1768792"/>
                  </a:lnTo>
                  <a:lnTo>
                    <a:pt x="2927032" y="1646873"/>
                  </a:lnTo>
                  <a:lnTo>
                    <a:pt x="3029902" y="1517332"/>
                  </a:lnTo>
                  <a:lnTo>
                    <a:pt x="3127058" y="1387792"/>
                  </a:lnTo>
                  <a:lnTo>
                    <a:pt x="3229928" y="1257300"/>
                  </a:lnTo>
                  <a:lnTo>
                    <a:pt x="3332798" y="1127760"/>
                  </a:lnTo>
                  <a:lnTo>
                    <a:pt x="3430905" y="998220"/>
                  </a:lnTo>
                  <a:lnTo>
                    <a:pt x="3532823" y="867728"/>
                  </a:lnTo>
                  <a:lnTo>
                    <a:pt x="3625215" y="746760"/>
                  </a:lnTo>
                  <a:lnTo>
                    <a:pt x="3722370" y="628650"/>
                  </a:lnTo>
                  <a:lnTo>
                    <a:pt x="3814763" y="520065"/>
                  </a:lnTo>
                  <a:lnTo>
                    <a:pt x="3895725" y="415290"/>
                  </a:lnTo>
                  <a:lnTo>
                    <a:pt x="3982402" y="322898"/>
                  </a:lnTo>
                  <a:lnTo>
                    <a:pt x="4057650" y="239078"/>
                  </a:lnTo>
                  <a:lnTo>
                    <a:pt x="4128135" y="167640"/>
                  </a:lnTo>
                  <a:lnTo>
                    <a:pt x="4188142" y="109538"/>
                  </a:lnTo>
                  <a:lnTo>
                    <a:pt x="4247198" y="62865"/>
                  </a:lnTo>
                  <a:lnTo>
                    <a:pt x="4301490" y="29528"/>
                  </a:lnTo>
                  <a:lnTo>
                    <a:pt x="4344352" y="8573"/>
                  </a:lnTo>
                  <a:lnTo>
                    <a:pt x="4382452" y="0"/>
                  </a:lnTo>
                  <a:lnTo>
                    <a:pt x="4410075" y="8573"/>
                  </a:lnTo>
                  <a:lnTo>
                    <a:pt x="4431030" y="29528"/>
                  </a:lnTo>
                  <a:lnTo>
                    <a:pt x="4447222" y="62865"/>
                  </a:lnTo>
                  <a:lnTo>
                    <a:pt x="4458652" y="109538"/>
                  </a:lnTo>
                  <a:lnTo>
                    <a:pt x="4458652" y="167640"/>
                  </a:lnTo>
                  <a:lnTo>
                    <a:pt x="4458652" y="239078"/>
                  </a:lnTo>
                  <a:lnTo>
                    <a:pt x="4447222" y="322898"/>
                  </a:lnTo>
                  <a:lnTo>
                    <a:pt x="4431030" y="415290"/>
                  </a:lnTo>
                  <a:lnTo>
                    <a:pt x="4414838" y="520065"/>
                  </a:lnTo>
                  <a:lnTo>
                    <a:pt x="4388168" y="628650"/>
                  </a:lnTo>
                  <a:lnTo>
                    <a:pt x="4361498" y="746760"/>
                  </a:lnTo>
                  <a:lnTo>
                    <a:pt x="4333875" y="867728"/>
                  </a:lnTo>
                  <a:lnTo>
                    <a:pt x="4301490" y="998220"/>
                  </a:lnTo>
                  <a:lnTo>
                    <a:pt x="4263390" y="1127760"/>
                  </a:lnTo>
                  <a:lnTo>
                    <a:pt x="4235768" y="1239203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64042" y="3133725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103060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13510" y="4200525"/>
              <a:ext cx="441960" cy="854393"/>
            </a:xfrm>
            <a:custGeom>
              <a:avLst/>
              <a:gdLst/>
              <a:ahLst/>
              <a:cxnLst/>
              <a:rect l="l" t="t" r="r" b="b"/>
              <a:pathLst>
                <a:path w="441960" h="854393">
                  <a:moveTo>
                    <a:pt x="441960" y="0"/>
                  </a:moveTo>
                  <a:lnTo>
                    <a:pt x="0" y="854393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113598" y="2694622"/>
              <a:ext cx="9525" cy="1469708"/>
            </a:xfrm>
            <a:custGeom>
              <a:avLst/>
              <a:gdLst/>
              <a:ahLst/>
              <a:cxnLst/>
              <a:rect l="l" t="t" r="r" b="b"/>
              <a:pathLst>
                <a:path w="9525" h="1469708">
                  <a:moveTo>
                    <a:pt x="0" y="146970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472565" y="4200525"/>
              <a:ext cx="631508" cy="1223010"/>
            </a:xfrm>
            <a:custGeom>
              <a:avLst/>
              <a:gdLst/>
              <a:ahLst/>
              <a:cxnLst/>
              <a:rect l="l" t="t" r="r" b="b"/>
              <a:pathLst>
                <a:path w="631508" h="1223010">
                  <a:moveTo>
                    <a:pt x="631508" y="0"/>
                  </a:moveTo>
                  <a:lnTo>
                    <a:pt x="0" y="122301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67915" y="3133725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103060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916430" y="4200525"/>
              <a:ext cx="441960" cy="854393"/>
            </a:xfrm>
            <a:custGeom>
              <a:avLst/>
              <a:gdLst/>
              <a:ahLst/>
              <a:cxnLst/>
              <a:rect l="l" t="t" r="r" b="b"/>
              <a:pathLst>
                <a:path w="441960" h="854393">
                  <a:moveTo>
                    <a:pt x="441960" y="0"/>
                  </a:moveTo>
                  <a:lnTo>
                    <a:pt x="0" y="854393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65120" y="4202430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0"/>
                  </a:moveTo>
                  <a:lnTo>
                    <a:pt x="0" y="1030605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873692" y="3311842"/>
              <a:ext cx="442912" cy="855345"/>
            </a:xfrm>
            <a:custGeom>
              <a:avLst/>
              <a:gdLst/>
              <a:ahLst/>
              <a:cxnLst/>
              <a:rect l="l" t="t" r="r" b="b"/>
              <a:pathLst>
                <a:path w="442912" h="855345">
                  <a:moveTo>
                    <a:pt x="0" y="855345"/>
                  </a:moveTo>
                  <a:lnTo>
                    <a:pt x="442912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119438" y="4202430"/>
              <a:ext cx="9525" cy="1470660"/>
            </a:xfrm>
            <a:custGeom>
              <a:avLst/>
              <a:gdLst/>
              <a:ahLst/>
              <a:cxnLst/>
              <a:rect l="l" t="t" r="r" b="b"/>
              <a:pathLst>
                <a:path w="9525" h="1470660">
                  <a:moveTo>
                    <a:pt x="0" y="0"/>
                  </a:moveTo>
                  <a:lnTo>
                    <a:pt x="0" y="147066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128010" y="2943225"/>
              <a:ext cx="631508" cy="1223962"/>
            </a:xfrm>
            <a:custGeom>
              <a:avLst/>
              <a:gdLst/>
              <a:ahLst/>
              <a:cxnLst/>
              <a:rect l="l" t="t" r="r" b="b"/>
              <a:pathLst>
                <a:path w="631508" h="1223962">
                  <a:moveTo>
                    <a:pt x="0" y="1223962"/>
                  </a:moveTo>
                  <a:lnTo>
                    <a:pt x="631508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368040" y="4202430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0"/>
                  </a:moveTo>
                  <a:lnTo>
                    <a:pt x="0" y="1030605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77565" y="3311842"/>
              <a:ext cx="441960" cy="855345"/>
            </a:xfrm>
            <a:custGeom>
              <a:avLst/>
              <a:gdLst/>
              <a:ahLst/>
              <a:cxnLst/>
              <a:rect l="l" t="t" r="r" b="b"/>
              <a:pathLst>
                <a:path w="441960" h="855345">
                  <a:moveTo>
                    <a:pt x="0" y="855345"/>
                  </a:moveTo>
                  <a:lnTo>
                    <a:pt x="441960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866198" y="3133725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103060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414712" y="4200525"/>
              <a:ext cx="442912" cy="854393"/>
            </a:xfrm>
            <a:custGeom>
              <a:avLst/>
              <a:gdLst/>
              <a:ahLst/>
              <a:cxnLst/>
              <a:rect l="l" t="t" r="r" b="b"/>
              <a:pathLst>
                <a:path w="442912" h="854393">
                  <a:moveTo>
                    <a:pt x="442912" y="0"/>
                  </a:moveTo>
                  <a:lnTo>
                    <a:pt x="0" y="854393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114800" y="2694622"/>
              <a:ext cx="9525" cy="1469708"/>
            </a:xfrm>
            <a:custGeom>
              <a:avLst/>
              <a:gdLst/>
              <a:ahLst/>
              <a:cxnLst/>
              <a:rect l="l" t="t" r="r" b="b"/>
              <a:pathLst>
                <a:path w="9525" h="1469708">
                  <a:moveTo>
                    <a:pt x="0" y="146970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474720" y="4200525"/>
              <a:ext cx="631508" cy="1223010"/>
            </a:xfrm>
            <a:custGeom>
              <a:avLst/>
              <a:gdLst/>
              <a:ahLst/>
              <a:cxnLst/>
              <a:rect l="l" t="t" r="r" b="b"/>
              <a:pathLst>
                <a:path w="631508" h="1223010">
                  <a:moveTo>
                    <a:pt x="631508" y="0"/>
                  </a:moveTo>
                  <a:lnTo>
                    <a:pt x="0" y="122301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369118" y="3133725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103060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918585" y="4200525"/>
              <a:ext cx="441960" cy="854393"/>
            </a:xfrm>
            <a:custGeom>
              <a:avLst/>
              <a:gdLst/>
              <a:ahLst/>
              <a:cxnLst/>
              <a:rect l="l" t="t" r="r" b="b"/>
              <a:pathLst>
                <a:path w="441960" h="854393">
                  <a:moveTo>
                    <a:pt x="441960" y="0"/>
                  </a:moveTo>
                  <a:lnTo>
                    <a:pt x="0" y="854393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867275" y="4202430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0"/>
                  </a:moveTo>
                  <a:lnTo>
                    <a:pt x="0" y="1030605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875848" y="3311842"/>
              <a:ext cx="441960" cy="855345"/>
            </a:xfrm>
            <a:custGeom>
              <a:avLst/>
              <a:gdLst/>
              <a:ahLst/>
              <a:cxnLst/>
              <a:rect l="l" t="t" r="r" b="b"/>
              <a:pathLst>
                <a:path w="441960" h="855345">
                  <a:moveTo>
                    <a:pt x="0" y="855345"/>
                  </a:moveTo>
                  <a:lnTo>
                    <a:pt x="441960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121592" y="4202430"/>
              <a:ext cx="9525" cy="1470660"/>
            </a:xfrm>
            <a:custGeom>
              <a:avLst/>
              <a:gdLst/>
              <a:ahLst/>
              <a:cxnLst/>
              <a:rect l="l" t="t" r="r" b="b"/>
              <a:pathLst>
                <a:path w="9525" h="1470660">
                  <a:moveTo>
                    <a:pt x="0" y="0"/>
                  </a:moveTo>
                  <a:lnTo>
                    <a:pt x="0" y="1470660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130165" y="2943225"/>
              <a:ext cx="631507" cy="1223962"/>
            </a:xfrm>
            <a:custGeom>
              <a:avLst/>
              <a:gdLst/>
              <a:ahLst/>
              <a:cxnLst/>
              <a:rect l="l" t="t" r="r" b="b"/>
              <a:pathLst>
                <a:path w="631507" h="1223962">
                  <a:moveTo>
                    <a:pt x="0" y="1223962"/>
                  </a:moveTo>
                  <a:lnTo>
                    <a:pt x="631507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370195" y="4202430"/>
              <a:ext cx="9525" cy="1030605"/>
            </a:xfrm>
            <a:custGeom>
              <a:avLst/>
              <a:gdLst/>
              <a:ahLst/>
              <a:cxnLst/>
              <a:rect l="l" t="t" r="r" b="b"/>
              <a:pathLst>
                <a:path w="9525" h="1030605">
                  <a:moveTo>
                    <a:pt x="0" y="0"/>
                  </a:moveTo>
                  <a:lnTo>
                    <a:pt x="0" y="1030605"/>
                  </a:lnTo>
                </a:path>
              </a:pathLst>
            </a:custGeom>
            <a:noFill/>
            <a:ln w="11430">
              <a:solidFill>
                <a:srgbClr val="B4231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378768" y="3311842"/>
              <a:ext cx="442912" cy="855345"/>
            </a:xfrm>
            <a:custGeom>
              <a:avLst/>
              <a:gdLst/>
              <a:ahLst/>
              <a:cxnLst/>
              <a:rect l="l" t="t" r="r" b="b"/>
              <a:pathLst>
                <a:path w="442912" h="855345">
                  <a:moveTo>
                    <a:pt x="0" y="855345"/>
                  </a:moveTo>
                  <a:lnTo>
                    <a:pt x="442912" y="0"/>
                  </a:lnTo>
                </a:path>
              </a:pathLst>
            </a:custGeom>
            <a:noFill/>
            <a:ln w="11430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6059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77215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6059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605915" y="23307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6059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85800" y="6101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6059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6092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6059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6092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854518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854518" y="3105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854518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394460" y="50625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1040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104072" y="26660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1040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454468" y="5431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35839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358390" y="3105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35839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898332" y="50625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285559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2855595" y="52425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85559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315652" y="32861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10991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109912" y="56826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10991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759518" y="2916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3585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3358515" y="52425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335851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3818572" y="32861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38566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3856672" y="3105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385667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3396615" y="50625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10527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4105275" y="26660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105275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3456622" y="5431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435959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4359592" y="3105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4359592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3899535" y="50625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485775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4857750" y="52425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485775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5316855" y="32861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5112068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5112068" y="56826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5112068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5760720" y="29165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536067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5360670" y="52425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5360670" y="4173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5820728" y="32861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82687" y="2386489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E（x）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36979" y="6191726"/>
              <a:ext cx="492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H（y）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942881" y="3818573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传播方向 z</a:t>
              </a:r>
            </a:p>
          </p:txBody>
        </p:sp>
      </p:grpSp>
      <p:grpSp>
        <p:nvGrpSpPr>
          <p:cNvPr id="114" name="c2-bullets-1"/>
          <p:cNvGrpSpPr/>
          <p:nvPr/>
        </p:nvGrpSpPr>
        <p:grpSpPr>
          <a:xfrm>
            <a:off x="6248400" y="1535430"/>
            <a:ext cx="5297183" cy="2092738"/>
            <a:chOff x="6248400" y="1535430"/>
            <a:chExt cx="5297183" cy="2092738"/>
          </a:xfrm>
        </p:grpSpPr>
        <p:sp>
          <p:nvSpPr>
            <p:cNvPr id="102" name="Ellipse 102"/>
            <p:cNvSpPr/>
            <p:nvPr/>
          </p:nvSpPr>
          <p:spPr>
            <a:xfrm>
              <a:off x="6248400" y="153543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306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539294" y="1547336"/>
              <a:ext cx="477545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电磁波是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横波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：E 与 H 相互垂直，都垂直于传播方向 k，E、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H、k 构成右手螺旋系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6248400" y="213550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306745" y="21758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539294" y="2148364"/>
              <a:ext cx="50062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H 都作简谐变化，相位相同，同时达到最大、同时为零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6248400" y="2465070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306745" y="25054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539294" y="247792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大小成比例：√ε E = √μ H；真空中 E = cB，E₀ = cB₀；介质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 E = uB</a:t>
              </a:r>
            </a:p>
          </p:txBody>
        </p:sp>
        <p:sp>
          <p:nvSpPr>
            <p:cNvPr id="111" name="Ellipse 111"/>
            <p:cNvSpPr/>
            <p:nvPr/>
          </p:nvSpPr>
          <p:spPr>
            <a:xfrm>
              <a:off x="6248400" y="306609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306745" y="3106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539294" y="3078004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H 具有偏振性：E 始终在 xz 平面内振动，H 始终在 yz 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面内振动</a:t>
              </a:r>
            </a:p>
          </p:txBody>
        </p:sp>
      </p:grpSp>
      <p:grpSp>
        <p:nvGrpSpPr>
          <p:cNvPr id="121" name="c2-callout-2"/>
          <p:cNvGrpSpPr/>
          <p:nvPr/>
        </p:nvGrpSpPr>
        <p:grpSpPr>
          <a:xfrm>
            <a:off x="6248400" y="3757612"/>
            <a:ext cx="5410200" cy="756285"/>
            <a:chOff x="6248400" y="3757612"/>
            <a:chExt cx="5410200" cy="756285"/>
          </a:xfrm>
        </p:grpSpPr>
        <p:sp>
          <p:nvSpPr>
            <p:cNvPr id="115" name="Rectangle 115"/>
            <p:cNvSpPr/>
            <p:nvPr/>
          </p:nvSpPr>
          <p:spPr>
            <a:xfrm>
              <a:off x="6248400" y="375761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9" name="Group 119"/>
            <p:cNvGrpSpPr/>
            <p:nvPr/>
          </p:nvGrpSpPr>
          <p:grpSpPr>
            <a:xfrm>
              <a:off x="6453188" y="4035743"/>
              <a:ext cx="200026" cy="200025"/>
              <a:chOff x="6453188" y="4035743"/>
              <a:chExt cx="200026" cy="200025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6453188" y="40357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6492926" y="40801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6527642" y="41913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6755511" y="3904774"/>
              <a:ext cx="44147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传播方向就是 E×H 的方向。已知 E 和传播方向，就用它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定出 H 的方向。</a:t>
              </a:r>
            </a:p>
          </p:txBody>
        </p:sp>
      </p:grpSp>
      <p:grpSp>
        <p:nvGrpSpPr>
          <p:cNvPr id="127" name="c2-card-3"/>
          <p:cNvGrpSpPr/>
          <p:nvPr/>
        </p:nvGrpSpPr>
        <p:grpSpPr>
          <a:xfrm>
            <a:off x="6248400" y="4699635"/>
            <a:ext cx="5410200" cy="1274445"/>
            <a:chOff x="6248400" y="4699635"/>
            <a:chExt cx="5410200" cy="1274445"/>
          </a:xfrm>
        </p:grpSpPr>
        <p:sp>
          <p:nvSpPr>
            <p:cNvPr id="122" name="Rectangle 122"/>
            <p:cNvSpPr/>
            <p:nvPr/>
          </p:nvSpPr>
          <p:spPr>
            <a:xfrm>
              <a:off x="6248400" y="4699635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57925" y="483298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6490335" y="490347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554940" y="493918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从相位看传播方向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6483096" y="5276374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相位写成 ω(t − z/u) 表示沿 +z 传播；写成 ω(t + z/u) 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−z 传播，这时 H 要反向，使 E×H 仍指向传播方向。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62334" cy="909257"/>
            <a:chOff x="520446" y="342900"/>
            <a:chExt cx="50623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623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H 的大小关系：√ε E = √μ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58156" cy="2002536"/>
            <a:chOff x="533400" y="1533525"/>
            <a:chExt cx="5058156" cy="20025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11193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(6.37)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2776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Ex、Hy 的解代入 ∂H/∂z = −ε∂E/∂t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4118"/>
              <a:ext cx="3456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(ω/u)H₀ sin ω(t − z/u) = εωE₀ sin ω(t − z/u)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得振幅关系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0385"/>
              <a:ext cx="46451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= εuE₀ = √(ε/μ)·E₀，即 √ε E₀ = √μ H₀；E、H 同相，所以任意时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 √ε E = √μ H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34"/>
              <p:cNvSpPr txBox="1">
                <a:spLocks noGrp="1"/>
              </p:cNvSpPr>
              <p:nvPr/>
            </p:nvSpPr>
            <p:spPr>
              <a:xfrm>
                <a:off x="533400" y="370713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</m:ra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e>
                      </m:ra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εμ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uB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4402455"/>
            <a:ext cx="5410200" cy="1250632"/>
            <a:chOff x="533400" y="4402455"/>
            <a:chExt cx="5410200" cy="1250632"/>
          </a:xfrm>
        </p:grpSpPr>
        <p:sp>
          <p:nvSpPr>
            <p:cNvPr id="22" name="Rectangle 22"/>
            <p:cNvSpPr/>
            <p:nvPr/>
          </p:nvSpPr>
          <p:spPr>
            <a:xfrm>
              <a:off x="533400" y="4402455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53580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9620" y="460057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057" y="463486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电能与磁能各占一半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4961096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√ε E = √μ H 得 ½εE² = ½μH²：电磁波中任一点的电场能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量密度与磁场能量密度相等。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8400" y="1524000"/>
            <a:ext cx="5410200" cy="2316480"/>
            <a:chOff x="6248400" y="1524000"/>
            <a:chExt cx="5410200" cy="231648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4629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6341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6458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5627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49746" y="2119789"/>
              <a:ext cx="566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76566" y="2119789"/>
              <a:ext cx="1223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√ε₀ E = √μ₀ 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52101" y="2119789"/>
              <a:ext cx="1007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√ε E = √μ H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4460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2450782"/>
              <a:ext cx="5410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9746" y="2582704"/>
              <a:ext cx="566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与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6566" y="2582704"/>
              <a:ext cx="569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cB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2101" y="2582704"/>
              <a:ext cx="569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uB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9089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9746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6566" y="3045619"/>
              <a:ext cx="788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 = cB₀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52101" y="3045619"/>
              <a:ext cx="788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 = uB₀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3728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377565"/>
              <a:ext cx="5410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9746" y="350948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E/H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76566" y="3509486"/>
              <a:ext cx="15823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√(μ₀/ε₀) ≈ 377 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52101" y="3509486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√(μ/ε)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470458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845992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6248400" y="4020502"/>
            <a:ext cx="5410200" cy="1632585"/>
            <a:chOff x="6248400" y="4020502"/>
            <a:chExt cx="5410200" cy="1632585"/>
          </a:xfrm>
        </p:grpSpPr>
        <p:sp>
          <p:nvSpPr>
            <p:cNvPr id="53" name="Rectangle 53"/>
            <p:cNvSpPr/>
            <p:nvPr/>
          </p:nvSpPr>
          <p:spPr>
            <a:xfrm>
              <a:off x="6248400" y="4020502"/>
              <a:ext cx="5410200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153852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84620" y="421862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72060" y="42529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数量级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77381" y="4579144"/>
              <a:ext cx="461314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 E = 50 V/m 时，B 只有 1.67×10⁻⁷ T。E 与 B 单位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不同，数值大小不能直接比；能比的是能量密度，两者相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9" name="Rectangle 5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11704"/>
              <a:ext cx="6876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√(μ₀/ε₀) ≈ 377 Ω 叫真空的波阻抗，记住它，真空中由 E 求 H 只需除以 377 Ω。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6916" cy="909257"/>
            <a:chOff x="520446" y="342900"/>
            <a:chExt cx="7216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6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电磁波的能量：能量密度 w 与能流密度 S = wu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030605"/>
            <a:chOff x="533400" y="1524000"/>
            <a:chExt cx="5410200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辐射能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以电磁波形式传播出去的电磁能量称为辐射能。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745105"/>
            <a:ext cx="5410200" cy="1330642"/>
            <a:chOff x="533400" y="2745105"/>
            <a:chExt cx="5410200" cy="1330642"/>
          </a:xfrm>
        </p:grpSpPr>
        <p:sp>
          <p:nvSpPr>
            <p:cNvPr id="13" name="Rectangle 13"/>
            <p:cNvSpPr/>
            <p:nvPr/>
          </p:nvSpPr>
          <p:spPr>
            <a:xfrm>
              <a:off x="533400" y="2745105"/>
              <a:ext cx="5410200" cy="1330642"/>
            </a:xfrm>
            <a:prstGeom prst="roundRect">
              <a:avLst>
                <a:gd name="adj" fmla="val 100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878455"/>
              <a:ext cx="47625" cy="10639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29546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29903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能量密度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238"/>
                <p:cNvSpPr txBox="1">
                  <a:spLocks noGrp="1"/>
                </p:cNvSpPr>
                <p:nvPr/>
              </p:nvSpPr>
              <p:spPr>
                <a:xfrm>
                  <a:off x="781050" y="3307080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card-3"/>
          <p:cNvGrpSpPr/>
          <p:nvPr/>
        </p:nvGrpSpPr>
        <p:grpSpPr>
          <a:xfrm>
            <a:off x="533400" y="4266248"/>
            <a:ext cx="5410200" cy="1951672"/>
            <a:chOff x="533400" y="4266248"/>
            <a:chExt cx="5410200" cy="1951672"/>
          </a:xfrm>
        </p:grpSpPr>
        <p:sp>
          <p:nvSpPr>
            <p:cNvPr id="19" name="Rectangle 19"/>
            <p:cNvSpPr/>
            <p:nvPr/>
          </p:nvSpPr>
          <p:spPr>
            <a:xfrm>
              <a:off x="533400" y="4266248"/>
              <a:ext cx="5410200" cy="1951672"/>
            </a:xfrm>
            <a:prstGeom prst="roundRect">
              <a:avLst>
                <a:gd name="adj" fmla="val 68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399598"/>
              <a:ext cx="47625" cy="168497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4757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3359" y="45115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能流密度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4852988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单位时间内通过垂直于传播方向的单位面积的电磁能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量，称为能流密度 S：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239"/>
                <p:cNvSpPr txBox="1">
                  <a:spLocks noGrp="1"/>
                </p:cNvSpPr>
                <p:nvPr/>
              </p:nvSpPr>
              <p:spPr>
                <a:xfrm>
                  <a:off x="781050" y="5449252"/>
                  <a:ext cx="495300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wu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  <m:sSup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419350"/>
            <a:chOff x="6248400" y="1524000"/>
            <a:chExt cx="5410200" cy="241935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11287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2861" y="1769269"/>
              <a:ext cx="9960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S = wu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2110740"/>
              <a:ext cx="47396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取垂直于传播方向、截面积 A、长 u dt 的柱体。dt 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内柱体里的能量 w·Au dt 全部穿过底面，所以单位时间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单位面积通过的能量 S = wu，通过面积 A 的功率 P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wuA。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573" y="329993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原课件写作 P = wuS，那里的 S 指面积，为避免与能流密度混淆，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这里记为 A</a:t>
              </a:r>
            </a:p>
          </p:txBody>
        </p:sp>
      </p:grpSp>
      <p:grpSp>
        <p:nvGrpSpPr>
          <p:cNvPr id="37" name="c2-steps-2"/>
          <p:cNvGrpSpPr/>
          <p:nvPr/>
        </p:nvGrpSpPr>
        <p:grpSpPr>
          <a:xfrm>
            <a:off x="6248400" y="4143375"/>
            <a:ext cx="5234021" cy="576548"/>
            <a:chOff x="6248400" y="4143375"/>
            <a:chExt cx="5234021" cy="576548"/>
          </a:xfrm>
        </p:grpSpPr>
        <p:sp>
          <p:nvSpPr>
            <p:cNvPr id="33" name="Ellipse 33"/>
            <p:cNvSpPr/>
            <p:nvPr/>
          </p:nvSpPr>
          <p:spPr>
            <a:xfrm>
              <a:off x="6248400" y="414337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42171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9880" y="4177665"/>
              <a:ext cx="2889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u = 1/√(εμ) 与 √ε E = √μ 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023" y="4470559"/>
              <a:ext cx="482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εE² 写成 √εE·√εE，其中一个 √εE 换成 √μH；μH² 同样处理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240"/>
              <p:cNvSpPr txBox="1">
                <a:spLocks noGrp="1"/>
              </p:cNvSpPr>
              <p:nvPr/>
            </p:nvSpPr>
            <p:spPr>
              <a:xfrm>
                <a:off x="6248400" y="4898708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εμ</m:t>
                              </m:r>
                            </m:e>
                          </m:rad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</m:ra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ra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</m:ra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</m:ra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EH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76064" cy="909257"/>
            <a:chOff x="520446" y="342900"/>
            <a:chExt cx="58760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760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坡印廷矢量 S = E×H，强度 I = ½E₀H₀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2055495"/>
            <a:chOff x="533400" y="1524000"/>
            <a:chExt cx="5410200" cy="2055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55495"/>
            </a:xfrm>
            <a:prstGeom prst="roundRect">
              <a:avLst>
                <a:gd name="adj" fmla="val 648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52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坡印廷矢量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788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 的方向就是能量传播的方向，与 E×H 同向，写成矢量形式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53"/>
                <p:cNvSpPr txBox="1">
                  <a:spLocks noGrp="1"/>
                </p:cNvSpPr>
                <p:nvPr/>
              </p:nvSpPr>
              <p:spPr>
                <a:xfrm>
                  <a:off x="725805" y="2353628"/>
                  <a:ext cx="502539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18947" y="2919412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 称为坡印廷矢量（Poynting vector），大小 S = EH，单位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W/m²。</a:t>
              </a:r>
            </a:p>
          </p:txBody>
        </p:sp>
      </p:grpSp>
      <p:grpSp>
        <p:nvGrpSpPr>
          <p:cNvPr id="44" name="c1-graph-2"/>
          <p:cNvGrpSpPr/>
          <p:nvPr/>
        </p:nvGrpSpPr>
        <p:grpSpPr>
          <a:xfrm>
            <a:off x="848678" y="3797618"/>
            <a:ext cx="4829746" cy="1836420"/>
            <a:chOff x="848678" y="3797618"/>
            <a:chExt cx="4829746" cy="1836420"/>
          </a:xfrm>
        </p:grpSpPr>
        <p:sp>
          <p:nvSpPr>
            <p:cNvPr id="14" name="Freeform 14"/>
            <p:cNvSpPr/>
            <p:nvPr/>
          </p:nvSpPr>
          <p:spPr>
            <a:xfrm>
              <a:off x="877252" y="4767262"/>
              <a:ext cx="4627245" cy="9525"/>
            </a:xfrm>
            <a:custGeom>
              <a:avLst/>
              <a:gdLst/>
              <a:ahLst/>
              <a:cxnLst/>
              <a:rect l="l" t="t" r="r" b="b"/>
              <a:pathLst>
                <a:path w="4627245" h="9525">
                  <a:moveTo>
                    <a:pt x="0" y="0"/>
                  </a:moveTo>
                  <a:lnTo>
                    <a:pt x="46272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504498" y="47196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022282" y="3966210"/>
              <a:ext cx="9525" cy="1639253"/>
            </a:xfrm>
            <a:custGeom>
              <a:avLst/>
              <a:gdLst/>
              <a:ahLst/>
              <a:cxnLst/>
              <a:rect l="l" t="t" r="r" b="b"/>
              <a:pathLst>
                <a:path w="9525" h="1639253">
                  <a:moveTo>
                    <a:pt x="0" y="16392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74658" y="38709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608772" y="3997642"/>
              <a:ext cx="2910840" cy="1496377"/>
            </a:xfrm>
            <a:custGeom>
              <a:avLst/>
              <a:gdLst/>
              <a:ahLst/>
              <a:cxnLst/>
              <a:rect l="l" t="t" r="r" b="b"/>
              <a:pathLst>
                <a:path w="2910840" h="1496377">
                  <a:moveTo>
                    <a:pt x="2910840" y="0"/>
                  </a:moveTo>
                  <a:lnTo>
                    <a:pt x="0" y="149637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524000" y="545211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2865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022282" y="4314825"/>
              <a:ext cx="9525" cy="433388"/>
            </a:xfrm>
            <a:custGeom>
              <a:avLst/>
              <a:gdLst/>
              <a:ahLst/>
              <a:cxnLst/>
              <a:rect l="l" t="t" r="r" b="b"/>
              <a:pathLst>
                <a:path w="9525" h="433388">
                  <a:moveTo>
                    <a:pt x="0" y="433388"/>
                  </a:moveTo>
                  <a:lnTo>
                    <a:pt x="0" y="0"/>
                  </a:lnTo>
                </a:path>
              </a:pathLst>
            </a:custGeom>
            <a:noFill/>
            <a:ln w="3238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974658" y="42195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182178" y="4776788"/>
              <a:ext cx="822960" cy="421957"/>
            </a:xfrm>
            <a:custGeom>
              <a:avLst/>
              <a:gdLst/>
              <a:ahLst/>
              <a:cxnLst/>
              <a:rect l="l" t="t" r="r" b="b"/>
              <a:pathLst>
                <a:path w="822960" h="421957">
                  <a:moveTo>
                    <a:pt x="822960" y="0"/>
                  </a:moveTo>
                  <a:lnTo>
                    <a:pt x="0" y="421957"/>
                  </a:lnTo>
                </a:path>
              </a:pathLst>
            </a:custGeom>
            <a:noFill/>
            <a:ln w="3238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097405" y="5155882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5725"/>
                  </a:moveTo>
                  <a:lnTo>
                    <a:pt x="62865" y="0"/>
                  </a:lnTo>
                  <a:lnTo>
                    <a:pt x="106680" y="84773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041332" y="4767262"/>
              <a:ext cx="1478280" cy="9525"/>
            </a:xfrm>
            <a:custGeom>
              <a:avLst/>
              <a:gdLst/>
              <a:ahLst/>
              <a:cxnLst/>
              <a:rect l="l" t="t" r="r" b="b"/>
              <a:pathLst>
                <a:path w="1478280" h="9525">
                  <a:moveTo>
                    <a:pt x="0" y="0"/>
                  </a:moveTo>
                  <a:lnTo>
                    <a:pt x="1478280" y="0"/>
                  </a:lnTo>
                </a:path>
              </a:pathLst>
            </a:custGeom>
            <a:noFill/>
            <a:ln w="32385">
              <a:solidFill>
                <a:srgbClr val="14A38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519612" y="47196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48678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609272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012758" y="56149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012758" y="3842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527232" y="39795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497330" y="55368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12758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12758" y="41910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012758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070735" y="52406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012758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624388" y="47577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90013" y="48491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48587" y="379761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92139" y="539400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95370" y="40790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20912" y="49925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82197" y="44905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248400" y="1524000"/>
            <a:ext cx="5410200" cy="1733550"/>
            <a:chOff x="6248400" y="1524000"/>
            <a:chExt cx="5410200" cy="1733550"/>
          </a:xfrm>
        </p:grpSpPr>
        <p:sp>
          <p:nvSpPr>
            <p:cNvPr id="45" name="Rectangle 45"/>
            <p:cNvSpPr/>
            <p:nvPr/>
          </p:nvSpPr>
          <p:spPr>
            <a:xfrm>
              <a:off x="6248400" y="1524000"/>
              <a:ext cx="5410200" cy="173355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1657350"/>
              <a:ext cx="47625" cy="14668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43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电磁波的强度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2047" y="2072640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随时间迅速变化，取它在一个周期内的平均值，记为 I，称为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电磁波的强度（intensity）：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formula254"/>
                <p:cNvSpPr txBox="1">
                  <a:spLocks noGrp="1"/>
                </p:cNvSpPr>
                <p:nvPr/>
              </p:nvSpPr>
              <p:spPr>
                <a:xfrm>
                  <a:off x="6478905" y="2610802"/>
                  <a:ext cx="498729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EH</m:t>
                            </m:r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den>
                            </m:f>
                          </m:e>
                        </m:rad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ba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μ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den>
                            </m:f>
                          </m:e>
                        </m:rad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bar>
                          <m:barPr>
                            <m:pos m:val="top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ba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c2-text-2"/>
          <p:cNvGrpSpPr/>
          <p:nvPr/>
        </p:nvGrpSpPr>
        <p:grpSpPr>
          <a:xfrm>
            <a:off x="6241542" y="3454718"/>
            <a:ext cx="4439012" cy="264033"/>
            <a:chOff x="6241542" y="3454718"/>
            <a:chExt cx="4439012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6241542" y="3454718"/>
              <a:ext cx="44390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对平面简谐电磁波，cos² 在一个周期内的平均值为 ½：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255"/>
              <p:cNvSpPr txBox="1">
                <a:spLocks noGrp="1"/>
              </p:cNvSpPr>
              <p:nvPr/>
            </p:nvSpPr>
            <p:spPr>
              <a:xfrm>
                <a:off x="6248400" y="3840480"/>
                <a:ext cx="541020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func>
                            <m:funcPr/>
                            <m:fNam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</m:func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num>
                                <m:den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</m:t>
                                  </m:r>
                                </m:den>
                              </m:f>
                            </m:e>
                          </m:d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60" name="c2-card-4"/>
          <p:cNvGrpSpPr/>
          <p:nvPr/>
        </p:nvGrpSpPr>
        <p:grpSpPr>
          <a:xfrm>
            <a:off x="6248400" y="4442460"/>
            <a:ext cx="5410200" cy="1209675"/>
            <a:chOff x="6248400" y="4442460"/>
            <a:chExt cx="5410200" cy="1209675"/>
          </a:xfrm>
        </p:grpSpPr>
        <p:sp>
          <p:nvSpPr>
            <p:cNvPr id="55" name="Rectangle 55"/>
            <p:cNvSpPr/>
            <p:nvPr/>
          </p:nvSpPr>
          <p:spPr>
            <a:xfrm>
              <a:off x="6248400" y="444246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457581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8905" y="4634865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45964" y="4669155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数值感受 · 太阳光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72047" y="4991100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地球大气层外太阳光的强度约 I = 1.4×10³ W/m²：E₀ = √(2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377 Ω × I) ≈ 1.0×10³ V/m，H₀ = E₀/377 Ω ≈ 2.7 A/m。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1" name="Rectangle 6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6265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已知 E₀ 求强度：I = ½E₀H₀ = ½√(ε/μ)·E₀²；真空中 I = E₀²/(2 × 377 Ω)。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6110" cy="909257"/>
            <a:chOff x="520446" y="342900"/>
            <a:chExt cx="58261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61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沿 −x 传播的电磁波：由 E 写出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568768"/>
            <a:chOff x="533400" y="1524000"/>
            <a:chExt cx="4760595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2005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345" y="1756410"/>
              <a:ext cx="233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0540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平面电磁波在真空中沿 x 轴负方向传播，Ey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 cos 2π(νt + x/λ)。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磁场强度的表达式。</a:t>
              </a:r>
            </a:p>
          </p:txBody>
        </p:sp>
      </p:grpSp>
      <p:grpSp>
        <p:nvGrpSpPr>
          <p:cNvPr id="44" name="c1-graph-2"/>
          <p:cNvGrpSpPr/>
          <p:nvPr/>
        </p:nvGrpSpPr>
        <p:grpSpPr>
          <a:xfrm>
            <a:off x="809625" y="3351848"/>
            <a:ext cx="4251579" cy="2240280"/>
            <a:chOff x="809625" y="3351848"/>
            <a:chExt cx="4251579" cy="2240280"/>
          </a:xfrm>
        </p:grpSpPr>
        <p:sp>
          <p:nvSpPr>
            <p:cNvPr id="14" name="Freeform 14"/>
            <p:cNvSpPr/>
            <p:nvPr/>
          </p:nvSpPr>
          <p:spPr>
            <a:xfrm>
              <a:off x="838200" y="4524375"/>
              <a:ext cx="4055745" cy="9525"/>
            </a:xfrm>
            <a:custGeom>
              <a:avLst/>
              <a:gdLst/>
              <a:ahLst/>
              <a:cxnLst/>
              <a:rect l="l" t="t" r="r" b="b"/>
              <a:pathLst>
                <a:path w="4055745" h="9525">
                  <a:moveTo>
                    <a:pt x="0" y="0"/>
                  </a:moveTo>
                  <a:lnTo>
                    <a:pt x="40557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893945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723198" y="3507105"/>
              <a:ext cx="9525" cy="2056448"/>
            </a:xfrm>
            <a:custGeom>
              <a:avLst/>
              <a:gdLst/>
              <a:ahLst/>
              <a:cxnLst/>
              <a:rect l="l" t="t" r="r" b="b"/>
              <a:pathLst>
                <a:path w="9525" h="2056448">
                  <a:moveTo>
                    <a:pt x="0" y="20564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675572" y="3411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83042" y="3572828"/>
              <a:ext cx="2558415" cy="1846897"/>
            </a:xfrm>
            <a:custGeom>
              <a:avLst/>
              <a:gdLst/>
              <a:ahLst/>
              <a:cxnLst/>
              <a:rect l="l" t="t" r="r" b="b"/>
              <a:pathLst>
                <a:path w="2558415" h="1846897">
                  <a:moveTo>
                    <a:pt x="2558415" y="0"/>
                  </a:moveTo>
                  <a:lnTo>
                    <a:pt x="0" y="184689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405890" y="5380672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0" y="94297"/>
                  </a:moveTo>
                  <a:lnTo>
                    <a:pt x="49530" y="0"/>
                  </a:lnTo>
                  <a:lnTo>
                    <a:pt x="104775" y="77153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723198" y="3938588"/>
              <a:ext cx="9525" cy="566738"/>
            </a:xfrm>
            <a:custGeom>
              <a:avLst/>
              <a:gdLst/>
              <a:ahLst/>
              <a:cxnLst/>
              <a:rect l="l" t="t" r="r" b="b"/>
              <a:pathLst>
                <a:path w="9525" h="566738">
                  <a:moveTo>
                    <a:pt x="0" y="566738"/>
                  </a:moveTo>
                  <a:lnTo>
                    <a:pt x="0" y="0"/>
                  </a:lnTo>
                </a:path>
              </a:pathLst>
            </a:custGeom>
            <a:noFill/>
            <a:ln w="3238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675572" y="38433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38438" y="3993832"/>
              <a:ext cx="721042" cy="519112"/>
            </a:xfrm>
            <a:custGeom>
              <a:avLst/>
              <a:gdLst/>
              <a:ahLst/>
              <a:cxnLst/>
              <a:rect l="l" t="t" r="r" b="b"/>
              <a:pathLst>
                <a:path w="721042" h="519112">
                  <a:moveTo>
                    <a:pt x="0" y="519112"/>
                  </a:moveTo>
                  <a:lnTo>
                    <a:pt x="721042" y="0"/>
                  </a:lnTo>
                </a:path>
              </a:pathLst>
            </a:custGeom>
            <a:noFill/>
            <a:ln w="3238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430905" y="3938588"/>
              <a:ext cx="105728" cy="94297"/>
            </a:xfrm>
            <a:custGeom>
              <a:avLst/>
              <a:gdLst/>
              <a:ahLst/>
              <a:cxnLst/>
              <a:rect l="l" t="t" r="r" b="b"/>
              <a:pathLst>
                <a:path w="105728" h="94297">
                  <a:moveTo>
                    <a:pt x="105728" y="0"/>
                  </a:moveTo>
                  <a:lnTo>
                    <a:pt x="56198" y="94297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657350" y="4524375"/>
              <a:ext cx="1046797" cy="9525"/>
            </a:xfrm>
            <a:custGeom>
              <a:avLst/>
              <a:gdLst/>
              <a:ahLst/>
              <a:cxnLst/>
              <a:rect l="l" t="t" r="r" b="b"/>
              <a:pathLst>
                <a:path w="1046797" h="9525">
                  <a:moveTo>
                    <a:pt x="1046797" y="0"/>
                  </a:moveTo>
                  <a:lnTo>
                    <a:pt x="0" y="0"/>
                  </a:lnTo>
                </a:path>
              </a:pathLst>
            </a:custGeom>
            <a:noFill/>
            <a:ln w="32385">
              <a:solidFill>
                <a:srgbClr val="14A38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562100" y="4476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09625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998720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713672" y="55730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713672" y="33832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047172" y="35518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381125" y="54768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713672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713672" y="38147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713672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542348" y="39176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713672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533525" y="4514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72793" y="465105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17117" y="335184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8319" y="53244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53565" y="36947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34615" y="38938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87668" y="42024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5598795" y="1533525"/>
            <a:ext cx="5591556" cy="2002536"/>
            <a:chOff x="5598795" y="1533525"/>
            <a:chExt cx="5591556" cy="2002536"/>
          </a:xfrm>
        </p:grpSpPr>
        <p:sp>
          <p:nvSpPr>
            <p:cNvPr id="45" name="Rectangle 45"/>
            <p:cNvSpPr/>
            <p:nvPr/>
          </p:nvSpPr>
          <p:spPr>
            <a:xfrm>
              <a:off x="573214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598795" y="23717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241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598795" y="29879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9241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0656" y="1566386"/>
              <a:ext cx="10230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H 的方向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1799" y="1846898"/>
              <a:ext cx="5178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E×H 沿 −x，E 沿 +y：y 方向 × (−z 方向) = −x 方向，所以 Ey &gt; 0 时 H 沿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−z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0656" y="2404586"/>
              <a:ext cx="10230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H 的大小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1799" y="2685098"/>
              <a:ext cx="3108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 √ε₀ E = √μ₀ H，H₀ = √(ε₀/μ₀)·E₀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0656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定相位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1799" y="3301365"/>
              <a:ext cx="1866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E、H 同相，余弦部分照抄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259"/>
              <p:cNvSpPr txBox="1">
                <a:spLocks noGrp="1"/>
              </p:cNvSpPr>
              <p:nvPr/>
            </p:nvSpPr>
            <p:spPr>
              <a:xfrm>
                <a:off x="5598795" y="3707130"/>
                <a:ext cx="605980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func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νt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4" name="c2-card-3"/>
          <p:cNvGrpSpPr/>
          <p:nvPr/>
        </p:nvGrpSpPr>
        <p:grpSpPr>
          <a:xfrm>
            <a:off x="5598795" y="4428172"/>
            <a:ext cx="6059805" cy="1250632"/>
            <a:chOff x="5598795" y="4428172"/>
            <a:chExt cx="6059805" cy="1250632"/>
          </a:xfrm>
        </p:grpSpPr>
        <p:sp>
          <p:nvSpPr>
            <p:cNvPr id="60" name="Rectangle 60"/>
            <p:cNvSpPr/>
            <p:nvPr/>
          </p:nvSpPr>
          <p:spPr>
            <a:xfrm>
              <a:off x="5598795" y="4428172"/>
              <a:ext cx="6059805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96915" y="462629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92356" y="466058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89676" y="4986814"/>
              <a:ext cx="517220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Hz = −√(ε₀/μ₀)·E₀ cos 2π(νt + x/λ)。负号不能丢：它表示 Ey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为正时 H 指向 −z。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5" name="Rectangle 6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6011704"/>
              <a:ext cx="9219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由 E 写 H 只看三件事：E×H 沿传播方向定符号，大小乘 √(ε/μ)，相位不变。写成 Hz = +… 是最常见的错误。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0303" cy="909257"/>
            <a:chOff x="520446" y="342900"/>
            <a:chExt cx="6200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0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某点 E = 50 V/m：求 B、H、w、S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865948"/>
            <a:chOff x="533400" y="1524000"/>
            <a:chExt cx="4760595" cy="18659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平面电磁波在真空中传播，某时刻通过某点时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该点 E = 50 V/m。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39909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该时刻该点 B、H 的大小，以及电磁能量密度 w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和能流密度 S。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575685"/>
            <a:ext cx="4760595" cy="2090738"/>
            <a:chOff x="533400" y="3575685"/>
            <a:chExt cx="4760595" cy="2090738"/>
          </a:xfrm>
        </p:grpSpPr>
        <p:sp>
          <p:nvSpPr>
            <p:cNvPr id="14" name="Rectangle 14"/>
            <p:cNvSpPr/>
            <p:nvPr/>
          </p:nvSpPr>
          <p:spPr>
            <a:xfrm>
              <a:off x="533400" y="3575685"/>
              <a:ext cx="4760595" cy="2090738"/>
            </a:xfrm>
            <a:prstGeom prst="roundRect">
              <a:avLst>
                <a:gd name="adj" fmla="val 63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09035"/>
              <a:ext cx="47625" cy="18240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7795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543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152424"/>
              <a:ext cx="394589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H 取 0.134 A/m，按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1.67×10⁻⁷/(4π×10⁻⁷) 应为 0.133 A/m；S 相应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6.6 W/m²，原写 6.7。</a:t>
              </a:r>
            </a:p>
          </p:txBody>
        </p:sp>
      </p:grpSp>
      <p:grpSp>
        <p:nvGrpSpPr>
          <p:cNvPr id="37" name="c2-steps-1"/>
          <p:cNvGrpSpPr/>
          <p:nvPr/>
        </p:nvGrpSpPr>
        <p:grpSpPr>
          <a:xfrm>
            <a:off x="5598795" y="1533525"/>
            <a:ext cx="5732892" cy="2411159"/>
            <a:chOff x="5598795" y="1533525"/>
            <a:chExt cx="5732892" cy="2411159"/>
          </a:xfrm>
        </p:grpSpPr>
        <p:sp>
          <p:nvSpPr>
            <p:cNvPr id="20" name="Rectangle 20"/>
            <p:cNvSpPr/>
            <p:nvPr/>
          </p:nvSpPr>
          <p:spPr>
            <a:xfrm>
              <a:off x="5732145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9879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98795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92419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0656" y="1566386"/>
              <a:ext cx="385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799" y="1846898"/>
              <a:ext cx="34975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cB，B = E/c = 50/(3×10⁸) = 1.67×10⁻⁷ 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656" y="2187416"/>
              <a:ext cx="385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799" y="2467927"/>
              <a:ext cx="3591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B/μ₀ = 1.67×10⁻⁷/(4π×10⁻⁷) = 0.133 A/m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656" y="2808446"/>
              <a:ext cx="416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799" y="3088957"/>
              <a:ext cx="5319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电能、磁能各占一半，w = ε₀E² = 8.85×10⁻¹² × 50² = 2.21×10⁻⁸ J/m³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0656" y="3429476"/>
              <a:ext cx="385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1799" y="3709988"/>
              <a:ext cx="2485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EH = 50 × 0.133 = 6.6 W/m²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5598795" y="4120515"/>
            <a:ext cx="6059805" cy="1545908"/>
            <a:chOff x="5598795" y="4120515"/>
            <a:chExt cx="6059805" cy="1545908"/>
          </a:xfrm>
        </p:grpSpPr>
        <p:sp>
          <p:nvSpPr>
            <p:cNvPr id="38" name="Rectangle 38"/>
            <p:cNvSpPr/>
            <p:nvPr/>
          </p:nvSpPr>
          <p:spPr>
            <a:xfrm>
              <a:off x="5598795" y="4120515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02630" y="43243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97740" y="43600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5391" y="4697254"/>
              <a:ext cx="507301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1.67×10⁻⁷ T，H = 0.133 A/m，w = 2.21×10⁻⁸ J/m³，S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6.6 W/m²。检验：S = wc = 6.6 W/m²，H = E/377 Ω = 0.133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A/m。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7443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这里的 w、S 都是该时刻的瞬时值；要求强度（时间平均）必须用振幅 E₀，I = ½E₀H₀。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21883" cy="909257"/>
            <a:chOff x="520446" y="342900"/>
            <a:chExt cx="7121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21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由 Ey 表达式求波长、频率、传播方向和 H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347" y="1737836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987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真空中平面电磁波 Ey = 60×10⁻² cos[2π×10⁸(t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x/c)]（SI 单位）。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1013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波长、频率；(2) 传播方向；(3) 磁场的大小和方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60420"/>
            <a:ext cx="4760595" cy="1143952"/>
            <a:chOff x="533400" y="3360420"/>
            <a:chExt cx="4760595" cy="1143952"/>
          </a:xfrm>
        </p:grpSpPr>
        <p:sp>
          <p:nvSpPr>
            <p:cNvPr id="14" name="Rectangle 14"/>
            <p:cNvSpPr/>
            <p:nvPr/>
          </p:nvSpPr>
          <p:spPr>
            <a:xfrm>
              <a:off x="533400" y="3360420"/>
              <a:ext cx="476059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354139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0146" y="357425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88191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ν = 10⁸ Hz，λ = 3 m；(2) 沿 x 轴正向；(3) H₀ =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1.59×10⁻³ A/m，沿 z 轴正向，与 E 同相。</a:t>
              </a:r>
            </a:p>
          </p:txBody>
        </p:sp>
      </p:grpSp>
      <p:grpSp>
        <p:nvGrpSpPr>
          <p:cNvPr id="49" name="c1-graph-3"/>
          <p:cNvGrpSpPr/>
          <p:nvPr/>
        </p:nvGrpSpPr>
        <p:grpSpPr>
          <a:xfrm>
            <a:off x="809625" y="4694396"/>
            <a:ext cx="4251198" cy="1008888"/>
            <a:chOff x="809625" y="4694396"/>
            <a:chExt cx="4251198" cy="1008888"/>
          </a:xfrm>
        </p:grpSpPr>
        <p:sp>
          <p:nvSpPr>
            <p:cNvPr id="19" name="Freeform 19"/>
            <p:cNvSpPr/>
            <p:nvPr/>
          </p:nvSpPr>
          <p:spPr>
            <a:xfrm>
              <a:off x="838200" y="5217795"/>
              <a:ext cx="4055745" cy="9525"/>
            </a:xfrm>
            <a:custGeom>
              <a:avLst/>
              <a:gdLst/>
              <a:ahLst/>
              <a:cxnLst/>
              <a:rect l="l" t="t" r="r" b="b"/>
              <a:pathLst>
                <a:path w="4055745" h="9525">
                  <a:moveTo>
                    <a:pt x="0" y="0"/>
                  </a:moveTo>
                  <a:lnTo>
                    <a:pt x="40557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893945" y="5170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723198" y="4836795"/>
              <a:ext cx="9525" cy="825817"/>
            </a:xfrm>
            <a:custGeom>
              <a:avLst/>
              <a:gdLst/>
              <a:ahLst/>
              <a:cxnLst/>
              <a:rect l="l" t="t" r="r" b="b"/>
              <a:pathLst>
                <a:path w="9525" h="825817">
                  <a:moveTo>
                    <a:pt x="0" y="82581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675572" y="47415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499235" y="4801552"/>
              <a:ext cx="2539365" cy="802957"/>
            </a:xfrm>
            <a:custGeom>
              <a:avLst/>
              <a:gdLst/>
              <a:ahLst/>
              <a:cxnLst/>
              <a:rect l="l" t="t" r="r" b="b"/>
              <a:pathLst>
                <a:path w="2539365" h="802957">
                  <a:moveTo>
                    <a:pt x="2539365" y="0"/>
                  </a:moveTo>
                  <a:lnTo>
                    <a:pt x="0" y="80295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408748" y="555879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4295"/>
                  </a:moveTo>
                  <a:lnTo>
                    <a:pt x="76200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723198" y="5025390"/>
              <a:ext cx="9525" cy="173355"/>
            </a:xfrm>
            <a:custGeom>
              <a:avLst/>
              <a:gdLst/>
              <a:ahLst/>
              <a:cxnLst/>
              <a:rect l="l" t="t" r="r" b="b"/>
              <a:pathLst>
                <a:path w="9525" h="173355">
                  <a:moveTo>
                    <a:pt x="0" y="173355"/>
                  </a:moveTo>
                  <a:lnTo>
                    <a:pt x="0" y="0"/>
                  </a:lnTo>
                </a:path>
              </a:pathLst>
            </a:custGeom>
            <a:noFill/>
            <a:ln w="32385">
              <a:solidFill>
                <a:srgbClr val="B4231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675572" y="49301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004060" y="5223510"/>
              <a:ext cx="701040" cy="220980"/>
            </a:xfrm>
            <a:custGeom>
              <a:avLst/>
              <a:gdLst/>
              <a:ahLst/>
              <a:cxnLst/>
              <a:rect l="l" t="t" r="r" b="b"/>
              <a:pathLst>
                <a:path w="701040" h="220980">
                  <a:moveTo>
                    <a:pt x="701040" y="0"/>
                  </a:moveTo>
                  <a:lnTo>
                    <a:pt x="0" y="220980"/>
                  </a:lnTo>
                </a:path>
              </a:pathLst>
            </a:custGeom>
            <a:noFill/>
            <a:ln w="3238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913572" y="539877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4295"/>
                  </a:moveTo>
                  <a:lnTo>
                    <a:pt x="76200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742248" y="5217795"/>
              <a:ext cx="1285875" cy="9525"/>
            </a:xfrm>
            <a:custGeom>
              <a:avLst/>
              <a:gdLst/>
              <a:ahLst/>
              <a:cxnLst/>
              <a:rect l="l" t="t" r="r" b="b"/>
              <a:pathLst>
                <a:path w="1285875" h="9525">
                  <a:moveTo>
                    <a:pt x="0" y="0"/>
                  </a:moveTo>
                  <a:lnTo>
                    <a:pt x="1285875" y="0"/>
                  </a:lnTo>
                </a:path>
              </a:pathLst>
            </a:custGeom>
            <a:noFill/>
            <a:ln w="32385">
              <a:solidFill>
                <a:srgbClr val="14A38B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028122" y="51701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A38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09625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998720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713672" y="56721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713672" y="47129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047172" y="47863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381125" y="56292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713672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713672" y="49015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713672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885950" y="5469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713672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132898" y="52082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978357" y="521731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20089" y="469439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1292" y="551259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60488" y="479774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51766" y="529209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93963" y="50196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4A38B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</p:grpSp>
      <p:grpSp>
        <p:nvGrpSpPr>
          <p:cNvPr id="67" name="c2-steps-1"/>
          <p:cNvGrpSpPr/>
          <p:nvPr/>
        </p:nvGrpSpPr>
        <p:grpSpPr>
          <a:xfrm>
            <a:off x="5598795" y="1533525"/>
            <a:ext cx="5382547" cy="2149412"/>
            <a:chOff x="5598795" y="1533525"/>
            <a:chExt cx="5382547" cy="2149412"/>
          </a:xfrm>
        </p:grpSpPr>
        <p:sp>
          <p:nvSpPr>
            <p:cNvPr id="50" name="Rectangle 50"/>
            <p:cNvSpPr/>
            <p:nvPr/>
          </p:nvSpPr>
          <p:spPr>
            <a:xfrm>
              <a:off x="5732145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598795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92419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1418" y="1564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频率与波长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2561" y="1818322"/>
              <a:ext cx="3451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2π×10⁸ rad/s，ν = ω/2π = 10⁸ Hz，λ = c/ν = 3 m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141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传播方向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12561" y="2371725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相位是 t − x/c，x 越大落后越多，沿 x 轴正向传播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11418" y="2670334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的方向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561" y="2925128"/>
              <a:ext cx="2325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沿 +y，E×H 要沿 +x，所以 H 沿 +z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11418" y="3222784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的大小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12561" y="3477578"/>
              <a:ext cx="4968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= √(ε₀/μ₀)·E₀ = E₀/(μ₀c) = 0.6/(4π×10⁻⁷ × 3×10⁸) = 1.59×10⁻³ A/m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formula266"/>
              <p:cNvSpPr txBox="1">
                <a:spLocks noGrp="1"/>
              </p:cNvSpPr>
              <p:nvPr/>
            </p:nvSpPr>
            <p:spPr>
              <a:xfrm>
                <a:off x="5598795" y="3844290"/>
                <a:ext cx="605980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1.59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8</m:t>
                                  </m:r>
                                </m:sup>
                              </m:s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2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A/m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4" name="c2-card-3"/>
          <p:cNvGrpSpPr/>
          <p:nvPr/>
        </p:nvGrpSpPr>
        <p:grpSpPr>
          <a:xfrm>
            <a:off x="5598795" y="4446270"/>
            <a:ext cx="6059805" cy="1194435"/>
            <a:chOff x="5598795" y="4446270"/>
            <a:chExt cx="6059805" cy="1194435"/>
          </a:xfrm>
        </p:grpSpPr>
        <p:sp>
          <p:nvSpPr>
            <p:cNvPr id="69" name="Rectangle 69"/>
            <p:cNvSpPr/>
            <p:nvPr/>
          </p:nvSpPr>
          <p:spPr>
            <a:xfrm>
              <a:off x="5598795" y="4446270"/>
              <a:ext cx="6059805" cy="1194435"/>
            </a:xfrm>
            <a:prstGeom prst="roundRect">
              <a:avLst>
                <a:gd name="adj" fmla="val 111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608320" y="4579620"/>
              <a:ext cx="47625" cy="927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17870" y="462724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99340" y="466010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顺带求强度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11393" y="4967764"/>
              <a:ext cx="4372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½E₀H₀ = ½ × 0.6 × 1.59×10⁻³ ≈ 4.8×10⁻⁴ W/m²。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5" name="Rectangle 7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1273" y="6039326"/>
              <a:ext cx="5540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与例1 对照：沿 +x 传播、E 沿 +y 时 H 沿 +z；沿 −x 传播时 H 翻到 −z。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44154" cy="909257"/>
            <a:chOff x="520446" y="342900"/>
            <a:chExt cx="99441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 · 电磁波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44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脉冲激光：由能量、时间、截面求能流、能量密度和场的振幅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2257425"/>
            <a:chOff x="533400" y="1524000"/>
            <a:chExt cx="4328160" cy="2257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0576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062" y="1743551"/>
              <a:ext cx="2180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6656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频率 ν = 3×10¹³ Hz 的脉冲强激光束，携带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总能量 W = 100 J，持续时间 τ = 10 ns，圆形截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面半径 r = 1 cm。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869882"/>
              <a:ext cx="37684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激光波长；(2) 平均能流密度；(3) 平均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能量密度；(4) 辐射强度；(5) 电场振幅和磁场振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幅。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50970"/>
            <a:ext cx="4328160" cy="1700212"/>
            <a:chOff x="533400" y="3950970"/>
            <a:chExt cx="4328160" cy="1700212"/>
          </a:xfrm>
        </p:grpSpPr>
        <p:sp>
          <p:nvSpPr>
            <p:cNvPr id="14" name="Rectangle 14"/>
            <p:cNvSpPr/>
            <p:nvPr/>
          </p:nvSpPr>
          <p:spPr>
            <a:xfrm>
              <a:off x="533400" y="3950970"/>
              <a:ext cx="4328160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08432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41376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862" y="41705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482465"/>
              <a:ext cx="36141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E₀ 取两位写成 1.6×10⁸ V/m，再用它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 H₀ = 4.25×10⁵ A/m（按 1.6 算其实是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4.24）。用未取整的 E₀ = 1.55×10⁸ V/m 算，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= 4.1×10⁵ A/m。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166360" y="1524000"/>
            <a:ext cx="6492240" cy="3072765"/>
            <a:chOff x="5166360" y="1524000"/>
            <a:chExt cx="6492240" cy="3072765"/>
          </a:xfrm>
        </p:grpSpPr>
        <p:sp>
          <p:nvSpPr>
            <p:cNvPr id="20" name="Rectangle 20"/>
            <p:cNvSpPr/>
            <p:nvPr/>
          </p:nvSpPr>
          <p:spPr>
            <a:xfrm>
              <a:off x="5166360" y="1524000"/>
              <a:ext cx="6492240" cy="439102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93436" y="164877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470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0697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62372" y="208788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1977" y="2087880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c/ν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27604" y="2087880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1.0×10⁻⁵ m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66360" y="23974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66360" y="2402205"/>
              <a:ext cx="649224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2372" y="2526982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11977" y="2526982"/>
              <a:ext cx="1800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平均能流 = W/(πr²τ)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7604" y="2526982"/>
              <a:ext cx="1480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3.2×10¹³ W·m⁻²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66360" y="28355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2372" y="296608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11977" y="2966085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平均能量密度 = 平均能流/c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27604" y="2966085"/>
              <a:ext cx="1340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1.1×10⁵ J·m⁻³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66360" y="32746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66360" y="3279458"/>
              <a:ext cx="649224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62372" y="340518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11977" y="3405188"/>
              <a:ext cx="1440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强度 I = 平均能流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27604" y="3405188"/>
              <a:ext cx="1480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3.2×10¹³ W·m⁻²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7137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62372" y="384333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1977" y="3843338"/>
              <a:ext cx="120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 = √(2cμ₀I)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27604" y="3843338"/>
              <a:ext cx="1443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1.55×10⁸ V·m⁻¹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41529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4157662"/>
              <a:ext cx="649224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1977" y="4282440"/>
              <a:ext cx="1256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= E₀/(cμ₀)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27604" y="4282440"/>
              <a:ext cx="13405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4.1×10⁵ A·m⁻¹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1524000"/>
              <a:ext cx="6492240" cy="30727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1202" y="1524000"/>
              <a:ext cx="9525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926830" y="1524000"/>
              <a:ext cx="9525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steps-2"/>
          <p:cNvGrpSpPr/>
          <p:nvPr/>
        </p:nvGrpSpPr>
        <p:grpSpPr>
          <a:xfrm>
            <a:off x="5166360" y="4775835"/>
            <a:ext cx="5192415" cy="519589"/>
            <a:chOff x="5166360" y="4775835"/>
            <a:chExt cx="5192415" cy="519589"/>
          </a:xfrm>
        </p:grpSpPr>
        <p:sp>
          <p:nvSpPr>
            <p:cNvPr id="53" name="Ellipse 53"/>
            <p:cNvSpPr/>
            <p:nvPr/>
          </p:nvSpPr>
          <p:spPr>
            <a:xfrm>
              <a:off x="5166360" y="47758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59984" y="4849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78602" y="4807268"/>
              <a:ext cx="931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的来历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79745" y="5075396"/>
              <a:ext cx="4779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½E₀H₀，而 H₀ = E₀/(cμ₀)，所以 I = E₀²/(2cμ₀)，E₀ = √(2cμ₀I)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8" name="Rectangle 5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8373"/>
              <a:ext cx="7634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这束激光的强度约为地面太阳光（约 10³ W/m²）的 3×10¹⁰ 倍，电场振幅达 1.55×10⁸ V/m。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自测题（上）电磁感应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000250"/>
            <a:chOff x="533400" y="1524000"/>
            <a:chExt cx="3505200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尺寸相同的铁环和铜环，所围面积中磁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通量的变化率相同，两环的电动势、电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流各怎样？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869882"/>
              <a:ext cx="29369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电动势相同，只看 dΦ/dt；电阻率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不同，电流不同。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93795"/>
            <a:ext cx="3505200" cy="2000250"/>
            <a:chOff x="533400" y="3693795"/>
            <a:chExt cx="3505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9379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225290"/>
              <a:ext cx="28006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v、B 和导线三者都在纸面内，v 与 B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 α 角，导线的动生电动势？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782502"/>
              <a:ext cx="28683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0。v×B 垂直纸面，与纸面内的 dl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点乘为零，与 α 无关。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43075"/>
            <a:chOff x="4343400" y="1524000"/>
            <a:chExt cx="3505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9626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棒 AB 绕 C 在垂直于 B 的平面内转动，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与 B 同向，BC = L/3，哪端电势高？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26111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两端都比 C 高：UA − UB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BωL²/6，A 端高；开路，无电流。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36620"/>
            <a:ext cx="3505200" cy="2257425"/>
            <a:chOff x="4343400" y="3436620"/>
            <a:chExt cx="3505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4343400" y="343662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3968115"/>
              <a:ext cx="2924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∮EK·dl = −dΦm/dt 说明感应电场具有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什么性质？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52532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环流不为零，是非保守场，不能像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静电场那样引入电势。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00250"/>
            <a:chOff x="8153400" y="1524000"/>
            <a:chExt cx="35052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8987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10 cm、电阻 10 Ω 的线圈垂直于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匀强磁场，要维持 0.01 A 的电流，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dB/dt = 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869882"/>
              <a:ext cx="28855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dB/dt = iR/(πr²) = 10/π ≈ 3.18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T/s。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93795"/>
            <a:ext cx="3505200" cy="2000250"/>
            <a:chOff x="8153400" y="3693795"/>
            <a:chExt cx="3505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8153400" y="369379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225290"/>
              <a:ext cx="29900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半圆环（半径 R）直径 ab 垂直于长直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电流 I，环心距电流 L，a 端近，沿 I 方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向以 v 平动，Ua − Ub = 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5039678"/>
              <a:ext cx="30055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补直径成回路，磁通不变：Ua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 = (μ₀Iv/2π) ln[(L + R)/(L − R)]。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8373"/>
              <a:ext cx="74210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方向题先定 v×B 或 ∂B/∂t 的方向再下结论；一段导线的题想一想能否补线段凑成闭合回路。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自测题（下）自感、位移电流与电磁波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11692"/>
            <a:chOff x="533400" y="1524000"/>
            <a:chExt cx="3505200" cy="2111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290532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0.05 mH 的线圈通 0.8 A，切断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 0.8 μs 电流降为零，平均自感电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动势多大？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943701"/>
              <a:ext cx="27917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εL = LΔI/Δt = 5×10⁻⁵ × 0.8 /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(8×10⁻⁷) = 50 V。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15715"/>
            <a:ext cx="3505200" cy="1840230"/>
            <a:chOff x="533400" y="3815715"/>
            <a:chExt cx="3505200" cy="1840230"/>
          </a:xfrm>
        </p:grpSpPr>
        <p:sp>
          <p:nvSpPr>
            <p:cNvPr id="13" name="Rectangle 13"/>
            <p:cNvSpPr/>
            <p:nvPr/>
          </p:nvSpPr>
          <p:spPr>
            <a:xfrm>
              <a:off x="533400" y="3815715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401383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404812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374356"/>
              <a:ext cx="28422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电台附近电场强度的最大值为 Em，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该处磁感应强度的最大值？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963954"/>
              <a:ext cx="15360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Bm = Em/c。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568768"/>
            <a:chOff x="4343400" y="1524000"/>
            <a:chExt cx="3505200" cy="156876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4281" y="2082641"/>
              <a:ext cx="31425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Wm = ½LI² 只适用于长直螺线管吗？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4281" y="2400776"/>
              <a:ext cx="29269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不是。对任何自感为 L 的线圈都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272790"/>
            <a:ext cx="3505200" cy="2383155"/>
            <a:chOff x="4343400" y="3272790"/>
            <a:chExt cx="3505200" cy="2383155"/>
          </a:xfrm>
        </p:grpSpPr>
        <p:sp>
          <p:nvSpPr>
            <p:cNvPr id="25" name="Rectangle 25"/>
            <p:cNvSpPr/>
            <p:nvPr/>
          </p:nvSpPr>
          <p:spPr>
            <a:xfrm>
              <a:off x="4343400" y="3272790"/>
              <a:ext cx="3505200" cy="2383155"/>
            </a:xfrm>
            <a:prstGeom prst="roundRect">
              <a:avLst>
                <a:gd name="adj" fmla="val 559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1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0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4281" y="3831431"/>
              <a:ext cx="29350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真空中沿 −z 传播的平面波 Hx = −H₀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ω(t + z/c)，写出电场。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4281" y="4421029"/>
              <a:ext cx="280073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E×H 要沿 −z，Ey 与 Hx 同号：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Ey = −√(μ₀/ε₀)H₀ cos ω(t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z/c)。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840230"/>
            <a:chOff x="8153400" y="1524000"/>
            <a:chExt cx="3505200" cy="184023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4281" y="208264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位移电流由什么产生？会不会产生焦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耳热？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4281" y="2672239"/>
              <a:ext cx="27195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由变化的电场产生；没有焦耳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热，磁效应服从全电流定律。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544252"/>
            <a:ext cx="3505200" cy="2111692"/>
            <a:chOff x="8153400" y="3544252"/>
            <a:chExt cx="3505200" cy="2111692"/>
          </a:xfrm>
        </p:grpSpPr>
        <p:sp>
          <p:nvSpPr>
            <p:cNvPr id="37" name="Rectangle 37"/>
            <p:cNvSpPr/>
            <p:nvPr/>
          </p:nvSpPr>
          <p:spPr>
            <a:xfrm>
              <a:off x="8153400" y="3544252"/>
              <a:ext cx="3505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1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0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4281" y="4102894"/>
              <a:ext cx="28232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mW 的氦氖激光，光束直径 2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mm，求平均能流密度和电场振幅。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4281" y="4692491"/>
              <a:ext cx="25392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P/(πr²) = 3.18×10³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W/m²；E₀ = √(2 × 377 Ω × I) 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1.55×10³ V/m。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3" name="Rectangle 4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6011704"/>
              <a:ext cx="7280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电磁波题先写 E×H 定方向，再用 √εE = √μH 定大小；求强度一律用振幅，I = ½E₀H₀。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电磁感应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370830" cy="2647283"/>
            <a:chOff x="533400" y="1533525"/>
            <a:chExt cx="5370830" cy="2647283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5092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法拉第定律 ε = −dΦm/dt，方向用楞次定律；感应电量 q = ΔΦ/R，只看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磁通的变化量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动生：EK = v×B，ε = ∫(v×B)·dl；绕端点转动的杆 ½BωL²；非均匀场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逐段积分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感生：∮EK·dl = −∫(∂B/∂t)·dS，EK 线闭合、不能引入电势；圆柱内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(r/2)dB/dt，柱外 R²/(2r)·dB/dt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153251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自感 L = Ψ/I，εL = −L dI/dt；螺线管 μn²V，同轴电缆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(μl/2π)ln(R₂/R₁)；磁能 ½LI²，能量密度 B²/(2μ)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67760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7132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688556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位移电流 Id = dΦe/dt，全电流连续；麦克斯韦方程组四式；电磁波 u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1/√(εμ)，√εE = √μH，S = E×H，I = ½E₀H₀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95775"/>
            <a:ext cx="5626418" cy="1267778"/>
            <a:chOff x="533400" y="4295775"/>
            <a:chExt cx="5626418" cy="1267778"/>
          </a:xfrm>
        </p:grpSpPr>
        <p:sp>
          <p:nvSpPr>
            <p:cNvPr id="23" name="Rectangle 23"/>
            <p:cNvSpPr/>
            <p:nvPr/>
          </p:nvSpPr>
          <p:spPr>
            <a:xfrm>
              <a:off x="533400" y="4295775"/>
              <a:ext cx="5626418" cy="1267778"/>
            </a:xfrm>
            <a:prstGeom prst="roundRect">
              <a:avLst>
                <a:gd name="adj" fmla="val 90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30128"/>
              <a:ext cx="200026" cy="200025"/>
              <a:chOff x="738188" y="483012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301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8745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9857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722971"/>
              <a:ext cx="46134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定方向的三件工具：v×B 定动生电动势，左手关系定 EK，E×H 定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传播方向。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464618" y="1524000"/>
            <a:ext cx="5193982" cy="2487930"/>
            <a:chOff x="6464618" y="1524000"/>
            <a:chExt cx="5193982" cy="2487930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1657350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83692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4681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93218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48666" y="2045494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例6.9 位移电流 7.0×10⁻¹² A 应为 7.0×10⁻² A（原第 34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93218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48666" y="2573179"/>
              <a:ext cx="4277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H 应为 0.133 A/m，S ≈ 6.6 W/m²（原第 46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93218" y="291084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8666" y="2857976"/>
              <a:ext cx="4182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E₀ 提前取整使 H₀ 偏大，应为 4.1×10⁵ A/m（原第 49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93218" y="343852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8666" y="3385661"/>
              <a:ext cx="3737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趋肤效应的英文应为 Skin Effect（原第 19 页）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8359" y="3667125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「无线长」「不在均匀」等错字已直接改正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4176712"/>
            <a:ext cx="5193982" cy="1386840"/>
            <a:chOff x="6464618" y="4176712"/>
            <a:chExt cx="5193982" cy="1386840"/>
          </a:xfrm>
        </p:grpSpPr>
        <p:sp>
          <p:nvSpPr>
            <p:cNvPr id="44" name="Rectangle 44"/>
            <p:cNvSpPr/>
            <p:nvPr/>
          </p:nvSpPr>
          <p:spPr>
            <a:xfrm>
              <a:off x="6464618" y="4176712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45592" y="43576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9913" y="4390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39116" y="4698206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例题的完整步骤与数值检验、两张对照表、补半径技巧、磁能密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度数量级、方程组逐式含义、E 与 H 换算表、偶极辐射，以及取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自作业的小例和 12 道自测题。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93178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本章把电场和磁场连成一体：变化的磁场产生电场，变化的电场产生磁场，两者互相激发，以光速向外传播，就是电磁波。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第6章 电磁感应与麦克斯韦方程组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6">
  <a:themeElements>
    <a:clrScheme name="phys_ch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2026-09-23T11:25:54Z</dcterms:created>
  <dcterms:modified xsi:type="dcterms:W3CDTF">2026-09-23T11:25:54Z</dcterms:modified>
  <cp:category/>
  <cp:contentStatus/>
</cp:coreProperties>
</file>