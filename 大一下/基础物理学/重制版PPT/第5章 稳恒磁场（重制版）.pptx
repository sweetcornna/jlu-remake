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hys_ch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hys_ch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88b8154ba2b2de1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63a10eb8e43af65.png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ac55e810400662a.png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523156" cy="3437763"/>
            <a:chOff x="666750" y="1619250"/>
            <a:chExt cx="452315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745932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9438" y="171831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基础物理学 · 第五章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稳恒磁场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5132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从毕奥-萨伐尔定律到安培环路定理与磁力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恒定电流与电动势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毕萨定律与典型电流的磁场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磁介质与安培环路定理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安培力、洛伦兹力与霍尔效应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08793" cy="205359"/>
            <a:chOff x="680466" y="6192202"/>
            <a:chExt cx="4208793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087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自学复习版｜据吉林大学《基础物理学》第5章课件整理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agenda-1"/>
          <p:cNvGrpSpPr/>
          <p:nvPr/>
        </p:nvGrpSpPr>
        <p:grpSpPr>
          <a:xfrm>
            <a:off x="523113" y="1520666"/>
            <a:ext cx="6286310" cy="4735831"/>
            <a:chOff x="523113" y="1520666"/>
            <a:chExt cx="6286310" cy="4735831"/>
          </a:xfrm>
        </p:grpSpPr>
        <p:sp>
          <p:nvSpPr>
            <p:cNvPr id="7" name="TextBox 7"/>
            <p:cNvSpPr txBox="1"/>
            <p:nvPr/>
          </p:nvSpPr>
          <p:spPr>
            <a:xfrm>
              <a:off x="523113" y="152066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1558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恒定电流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3462" y="183975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电流密度、欧姆定律、电动势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39178" y="211931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3113" y="221980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1558" y="22479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磁现象与磁感应强度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462" y="2538889"/>
              <a:ext cx="16545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分子电流假说、B 的定义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39178" y="281940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3113" y="2919889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1558" y="2947988"/>
              <a:ext cx="15453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毕奥-萨伐尔定律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323897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直线与圆电流、组合电流练习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39178" y="3518535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3113" y="3619024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1558" y="364712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磁通量与高斯定理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93811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磁感应线、磁场无源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39178" y="421767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3113" y="431911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1558" y="434721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磁介质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4638199"/>
              <a:ext cx="1671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 与 H、磁滞回线与磁畴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39178" y="4917758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3113" y="501824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1558" y="50463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安培环路定理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3462" y="533733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螺线管与圆柱导体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39178" y="561689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113" y="571738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1558" y="574548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磁场对电流和运动电荷的作用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3462" y="603646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安培力、磁力矩、洛伦兹力、霍尔效应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114222" y="1524000"/>
            <a:ext cx="4544378" cy="4688205"/>
            <a:chOff x="7114222" y="1524000"/>
            <a:chExt cx="4544378" cy="4688205"/>
          </a:xfrm>
        </p:grpSpPr>
        <p:sp>
          <p:nvSpPr>
            <p:cNvPr id="35" name="Rectangle 35"/>
            <p:cNvSpPr/>
            <p:nvPr/>
          </p:nvSpPr>
          <p:spPr>
            <a:xfrm>
              <a:off x="7114222" y="1524000"/>
              <a:ext cx="4544378" cy="4688205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23748" y="1657350"/>
              <a:ext cx="47625" cy="44215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44728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28167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53300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09320" y="20726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求直线段与圆弧组合电流的磁场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53300" y="243173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09320" y="2375535"/>
              <a:ext cx="2942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用安培环路定理求对称电流的 H 与 B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53300" y="273462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09320" y="267843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用微元积分求非均匀场的磁通量与安培力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53300" y="303657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09320" y="298037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求线圈的磁矩、磁力矩，判断平衡稳定性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353300" y="333946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09320" y="32832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算回旋半径、周期、螺距，由霍尔系数判断载流子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790762" cy="3351847"/>
            <a:chOff x="667512" y="1835468"/>
            <a:chExt cx="579076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恒定电流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808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5.1，磁场由电流产生，先把电流本身描述清楚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电流强度与电流密度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7723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nqv 与漂移速度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欧姆定律及其微分形式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电源与电动势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恒定电流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电流强度描述整个截面，电流密度描述截面上的每一点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1755458"/>
            <a:chOff x="533400" y="1524000"/>
            <a:chExt cx="5410200" cy="17554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55458"/>
            </a:xfrm>
            <a:prstGeom prst="roundRect">
              <a:avLst>
                <a:gd name="adj" fmla="val 75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8875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89058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518" y="1737836"/>
              <a:ext cx="7315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1. 电流强度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9"/>
                <p:cNvSpPr txBox="1">
                  <a:spLocks noGrp="1"/>
                </p:cNvSpPr>
                <p:nvPr/>
              </p:nvSpPr>
              <p:spPr>
                <a:xfrm>
                  <a:off x="752475" y="2024062"/>
                  <a:ext cx="501015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dq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dt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Ellipse 12"/>
            <p:cNvSpPr/>
            <p:nvPr/>
          </p:nvSpPr>
          <p:spPr>
            <a:xfrm>
              <a:off x="762000" y="266700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615089"/>
              <a:ext cx="44209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单位时间内通过导体任一横截面的电荷量，单位安培（A）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295179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2899886"/>
              <a:ext cx="39677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规定正电荷的运动方向为电流方向，但 I 本身是标量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444240"/>
            <a:ext cx="5410200" cy="1185862"/>
            <a:chOff x="533400" y="3444240"/>
            <a:chExt cx="5410200" cy="1185862"/>
          </a:xfrm>
        </p:grpSpPr>
        <p:sp>
          <p:nvSpPr>
            <p:cNvPr id="17" name="Rectangle 17"/>
            <p:cNvSpPr/>
            <p:nvPr/>
          </p:nvSpPr>
          <p:spPr>
            <a:xfrm>
              <a:off x="533400" y="344424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57759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2475" y="362521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8693" y="365807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形成电流的两个条件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52475" y="395478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382" y="3990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2223" y="396573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有可以自由运动的载流子（电子、离子、空穴）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52475" y="423957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4382" y="4275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2223" y="425053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导体内存在电场；恒定电流对应恒定电场</a:t>
              </a:r>
            </a:p>
          </p:txBody>
        </p:sp>
      </p:grpSp>
      <p:grpSp>
        <p:nvGrpSpPr>
          <p:cNvPr id="33" name="c1-kv-3"/>
          <p:cNvGrpSpPr/>
          <p:nvPr/>
        </p:nvGrpSpPr>
        <p:grpSpPr>
          <a:xfrm>
            <a:off x="526923" y="4816316"/>
            <a:ext cx="5416677" cy="623697"/>
            <a:chOff x="526923" y="4816316"/>
            <a:chExt cx="5416677" cy="623697"/>
          </a:xfrm>
        </p:grpSpPr>
        <p:sp>
          <p:nvSpPr>
            <p:cNvPr id="28" name="TextBox 28"/>
            <p:cNvSpPr txBox="1"/>
            <p:nvPr/>
          </p:nvSpPr>
          <p:spPr>
            <a:xfrm>
              <a:off x="526923" y="48163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传导电流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51800" y="481631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导电介质中电荷的定向移动，如金属导线里的电流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0892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6923" y="51906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运流电流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51800" y="519064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带电物体整体做机械运动形成的电流，如转动的带电圆盘</a:t>
              </a:r>
            </a:p>
          </p:txBody>
        </p:sp>
      </p:grpSp>
      <p:grpSp>
        <p:nvGrpSpPr>
          <p:cNvPr id="69" name="g_tube"/>
          <p:cNvGrpSpPr/>
          <p:nvPr/>
        </p:nvGrpSpPr>
        <p:grpSpPr>
          <a:xfrm>
            <a:off x="6811328" y="1765459"/>
            <a:ext cx="4284345" cy="1522095"/>
            <a:chOff x="6811328" y="1765459"/>
            <a:chExt cx="4284345" cy="1522095"/>
          </a:xfrm>
        </p:grpSpPr>
        <p:sp>
          <p:nvSpPr>
            <p:cNvPr id="34" name="Freeform 34"/>
            <p:cNvSpPr/>
            <p:nvPr/>
          </p:nvSpPr>
          <p:spPr>
            <a:xfrm>
              <a:off x="6830378" y="1807845"/>
              <a:ext cx="4246245" cy="9525"/>
            </a:xfrm>
            <a:custGeom>
              <a:avLst/>
              <a:gdLst/>
              <a:ahLst/>
              <a:cxnLst/>
              <a:rect l="l" t="t" r="r" b="b"/>
              <a:pathLst>
                <a:path w="4246245" h="9525">
                  <a:moveTo>
                    <a:pt x="0" y="0"/>
                  </a:moveTo>
                  <a:lnTo>
                    <a:pt x="4246245" y="0"/>
                  </a:lnTo>
                </a:path>
              </a:pathLst>
            </a:custGeom>
            <a:noFill/>
            <a:ln w="20955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830378" y="3021330"/>
              <a:ext cx="4246245" cy="9525"/>
            </a:xfrm>
            <a:custGeom>
              <a:avLst/>
              <a:gdLst/>
              <a:ahLst/>
              <a:cxnLst/>
              <a:rect l="l" t="t" r="r" b="b"/>
              <a:pathLst>
                <a:path w="4246245" h="9525">
                  <a:moveTo>
                    <a:pt x="0" y="0"/>
                  </a:moveTo>
                  <a:lnTo>
                    <a:pt x="4246245" y="0"/>
                  </a:lnTo>
                </a:path>
              </a:pathLst>
            </a:custGeom>
            <a:noFill/>
            <a:ln w="20955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992302" y="2090738"/>
              <a:ext cx="928688" cy="9525"/>
            </a:xfrm>
            <a:custGeom>
              <a:avLst/>
              <a:gdLst/>
              <a:ahLst/>
              <a:cxnLst/>
              <a:rect l="l" t="t" r="r" b="b"/>
              <a:pathLst>
                <a:path w="928688" h="9525">
                  <a:moveTo>
                    <a:pt x="0" y="0"/>
                  </a:moveTo>
                  <a:lnTo>
                    <a:pt x="928688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920990" y="20431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6992302" y="2738438"/>
              <a:ext cx="928688" cy="9525"/>
            </a:xfrm>
            <a:custGeom>
              <a:avLst/>
              <a:gdLst/>
              <a:ahLst/>
              <a:cxnLst/>
              <a:rect l="l" t="t" r="r" b="b"/>
              <a:pathLst>
                <a:path w="928688" h="9525">
                  <a:moveTo>
                    <a:pt x="0" y="0"/>
                  </a:moveTo>
                  <a:lnTo>
                    <a:pt x="928688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920990" y="26908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9016365" y="1996440"/>
              <a:ext cx="619125" cy="836295"/>
            </a:xfrm>
            <a:custGeom>
              <a:avLst/>
              <a:gdLst/>
              <a:ahLst/>
              <a:cxnLst/>
              <a:rect l="l" t="t" r="r" b="b"/>
              <a:pathLst>
                <a:path w="619125" h="836295">
                  <a:moveTo>
                    <a:pt x="606742" y="818198"/>
                  </a:moveTo>
                  <a:lnTo>
                    <a:pt x="609600" y="815340"/>
                  </a:lnTo>
                  <a:lnTo>
                    <a:pt x="616267" y="795338"/>
                  </a:lnTo>
                  <a:lnTo>
                    <a:pt x="619125" y="767715"/>
                  </a:lnTo>
                  <a:lnTo>
                    <a:pt x="615315" y="734378"/>
                  </a:lnTo>
                  <a:lnTo>
                    <a:pt x="606742" y="696278"/>
                  </a:lnTo>
                  <a:lnTo>
                    <a:pt x="592455" y="653415"/>
                  </a:lnTo>
                  <a:lnTo>
                    <a:pt x="574357" y="605790"/>
                  </a:lnTo>
                  <a:lnTo>
                    <a:pt x="551497" y="555307"/>
                  </a:lnTo>
                  <a:lnTo>
                    <a:pt x="523875" y="502920"/>
                  </a:lnTo>
                  <a:lnTo>
                    <a:pt x="492442" y="448627"/>
                  </a:lnTo>
                  <a:lnTo>
                    <a:pt x="459105" y="393383"/>
                  </a:lnTo>
                  <a:lnTo>
                    <a:pt x="421957" y="339090"/>
                  </a:lnTo>
                  <a:lnTo>
                    <a:pt x="383857" y="285750"/>
                  </a:lnTo>
                  <a:lnTo>
                    <a:pt x="343853" y="235268"/>
                  </a:lnTo>
                  <a:lnTo>
                    <a:pt x="303847" y="187643"/>
                  </a:lnTo>
                  <a:lnTo>
                    <a:pt x="263842" y="143827"/>
                  </a:lnTo>
                  <a:lnTo>
                    <a:pt x="223838" y="104775"/>
                  </a:lnTo>
                  <a:lnTo>
                    <a:pt x="185738" y="71438"/>
                  </a:lnTo>
                  <a:lnTo>
                    <a:pt x="149542" y="43815"/>
                  </a:lnTo>
                  <a:lnTo>
                    <a:pt x="117157" y="22860"/>
                  </a:lnTo>
                  <a:lnTo>
                    <a:pt x="86678" y="8573"/>
                  </a:lnTo>
                  <a:lnTo>
                    <a:pt x="60960" y="0"/>
                  </a:lnTo>
                  <a:lnTo>
                    <a:pt x="39053" y="0"/>
                  </a:lnTo>
                  <a:lnTo>
                    <a:pt x="21907" y="6668"/>
                  </a:lnTo>
                  <a:lnTo>
                    <a:pt x="9525" y="20955"/>
                  </a:lnTo>
                  <a:lnTo>
                    <a:pt x="1905" y="40958"/>
                  </a:lnTo>
                  <a:lnTo>
                    <a:pt x="0" y="68580"/>
                  </a:lnTo>
                  <a:lnTo>
                    <a:pt x="3810" y="101918"/>
                  </a:lnTo>
                  <a:lnTo>
                    <a:pt x="12382" y="140018"/>
                  </a:lnTo>
                  <a:lnTo>
                    <a:pt x="26670" y="182880"/>
                  </a:lnTo>
                  <a:lnTo>
                    <a:pt x="44767" y="230505"/>
                  </a:lnTo>
                  <a:lnTo>
                    <a:pt x="67628" y="280988"/>
                  </a:lnTo>
                  <a:lnTo>
                    <a:pt x="95250" y="333375"/>
                  </a:lnTo>
                  <a:lnTo>
                    <a:pt x="125730" y="387668"/>
                  </a:lnTo>
                  <a:lnTo>
                    <a:pt x="160020" y="442913"/>
                  </a:lnTo>
                  <a:lnTo>
                    <a:pt x="197167" y="497205"/>
                  </a:lnTo>
                  <a:lnTo>
                    <a:pt x="235267" y="550545"/>
                  </a:lnTo>
                  <a:lnTo>
                    <a:pt x="275272" y="601028"/>
                  </a:lnTo>
                  <a:lnTo>
                    <a:pt x="316230" y="648652"/>
                  </a:lnTo>
                  <a:lnTo>
                    <a:pt x="356235" y="692468"/>
                  </a:lnTo>
                  <a:lnTo>
                    <a:pt x="395288" y="731520"/>
                  </a:lnTo>
                  <a:lnTo>
                    <a:pt x="433388" y="764857"/>
                  </a:lnTo>
                  <a:lnTo>
                    <a:pt x="469582" y="792480"/>
                  </a:lnTo>
                  <a:lnTo>
                    <a:pt x="502920" y="813435"/>
                  </a:lnTo>
                  <a:lnTo>
                    <a:pt x="532447" y="827722"/>
                  </a:lnTo>
                  <a:lnTo>
                    <a:pt x="558165" y="836295"/>
                  </a:lnTo>
                  <a:lnTo>
                    <a:pt x="580072" y="836295"/>
                  </a:lnTo>
                  <a:lnTo>
                    <a:pt x="584835" y="83439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196388" y="1912620"/>
              <a:ext cx="259080" cy="1003935"/>
            </a:xfrm>
            <a:custGeom>
              <a:avLst/>
              <a:gdLst/>
              <a:ahLst/>
              <a:cxnLst/>
              <a:rect l="l" t="t" r="r" b="b"/>
              <a:pathLst>
                <a:path w="259080" h="1003935">
                  <a:moveTo>
                    <a:pt x="259080" y="487680"/>
                  </a:moveTo>
                  <a:lnTo>
                    <a:pt x="259080" y="452438"/>
                  </a:lnTo>
                  <a:lnTo>
                    <a:pt x="256222" y="403860"/>
                  </a:lnTo>
                  <a:lnTo>
                    <a:pt x="253365" y="356235"/>
                  </a:lnTo>
                  <a:lnTo>
                    <a:pt x="249555" y="309562"/>
                  </a:lnTo>
                  <a:lnTo>
                    <a:pt x="243840" y="265747"/>
                  </a:lnTo>
                  <a:lnTo>
                    <a:pt x="237172" y="222885"/>
                  </a:lnTo>
                  <a:lnTo>
                    <a:pt x="229553" y="183832"/>
                  </a:lnTo>
                  <a:lnTo>
                    <a:pt x="220980" y="146685"/>
                  </a:lnTo>
                  <a:lnTo>
                    <a:pt x="211455" y="114300"/>
                  </a:lnTo>
                  <a:lnTo>
                    <a:pt x="200978" y="84772"/>
                  </a:lnTo>
                  <a:lnTo>
                    <a:pt x="190500" y="59055"/>
                  </a:lnTo>
                  <a:lnTo>
                    <a:pt x="179070" y="38100"/>
                  </a:lnTo>
                  <a:lnTo>
                    <a:pt x="167640" y="21907"/>
                  </a:lnTo>
                  <a:lnTo>
                    <a:pt x="154305" y="9525"/>
                  </a:lnTo>
                  <a:lnTo>
                    <a:pt x="141922" y="1905"/>
                  </a:lnTo>
                  <a:lnTo>
                    <a:pt x="129540" y="0"/>
                  </a:lnTo>
                  <a:lnTo>
                    <a:pt x="117157" y="1905"/>
                  </a:lnTo>
                  <a:lnTo>
                    <a:pt x="104775" y="9525"/>
                  </a:lnTo>
                  <a:lnTo>
                    <a:pt x="92393" y="21907"/>
                  </a:lnTo>
                  <a:lnTo>
                    <a:pt x="80010" y="38100"/>
                  </a:lnTo>
                  <a:lnTo>
                    <a:pt x="68580" y="59055"/>
                  </a:lnTo>
                  <a:lnTo>
                    <a:pt x="57150" y="84772"/>
                  </a:lnTo>
                  <a:lnTo>
                    <a:pt x="46672" y="114300"/>
                  </a:lnTo>
                  <a:lnTo>
                    <a:pt x="38100" y="146685"/>
                  </a:lnTo>
                  <a:lnTo>
                    <a:pt x="29528" y="183832"/>
                  </a:lnTo>
                  <a:lnTo>
                    <a:pt x="21907" y="222885"/>
                  </a:lnTo>
                  <a:lnTo>
                    <a:pt x="15240" y="265747"/>
                  </a:lnTo>
                  <a:lnTo>
                    <a:pt x="9525" y="309562"/>
                  </a:lnTo>
                  <a:lnTo>
                    <a:pt x="5715" y="356235"/>
                  </a:lnTo>
                  <a:lnTo>
                    <a:pt x="2857" y="403860"/>
                  </a:lnTo>
                  <a:lnTo>
                    <a:pt x="953" y="452438"/>
                  </a:lnTo>
                  <a:lnTo>
                    <a:pt x="0" y="501967"/>
                  </a:lnTo>
                  <a:lnTo>
                    <a:pt x="953" y="551497"/>
                  </a:lnTo>
                  <a:lnTo>
                    <a:pt x="2857" y="600075"/>
                  </a:lnTo>
                  <a:lnTo>
                    <a:pt x="5715" y="647700"/>
                  </a:lnTo>
                  <a:lnTo>
                    <a:pt x="9525" y="694372"/>
                  </a:lnTo>
                  <a:lnTo>
                    <a:pt x="15240" y="738188"/>
                  </a:lnTo>
                  <a:lnTo>
                    <a:pt x="21907" y="781050"/>
                  </a:lnTo>
                  <a:lnTo>
                    <a:pt x="29528" y="820102"/>
                  </a:lnTo>
                  <a:lnTo>
                    <a:pt x="38100" y="857250"/>
                  </a:lnTo>
                  <a:lnTo>
                    <a:pt x="46672" y="889635"/>
                  </a:lnTo>
                  <a:lnTo>
                    <a:pt x="57150" y="919162"/>
                  </a:lnTo>
                  <a:lnTo>
                    <a:pt x="68580" y="944880"/>
                  </a:lnTo>
                  <a:lnTo>
                    <a:pt x="80010" y="965835"/>
                  </a:lnTo>
                  <a:lnTo>
                    <a:pt x="92393" y="982027"/>
                  </a:lnTo>
                  <a:lnTo>
                    <a:pt x="104775" y="994410"/>
                  </a:lnTo>
                  <a:lnTo>
                    <a:pt x="117157" y="1002030"/>
                  </a:lnTo>
                  <a:lnTo>
                    <a:pt x="129540" y="1003935"/>
                  </a:lnTo>
                  <a:lnTo>
                    <a:pt x="141922" y="1002030"/>
                  </a:lnTo>
                  <a:lnTo>
                    <a:pt x="154305" y="994410"/>
                  </a:lnTo>
                  <a:lnTo>
                    <a:pt x="167640" y="982027"/>
                  </a:lnTo>
                  <a:lnTo>
                    <a:pt x="179070" y="965835"/>
                  </a:lnTo>
                  <a:lnTo>
                    <a:pt x="190500" y="944880"/>
                  </a:lnTo>
                  <a:lnTo>
                    <a:pt x="200978" y="919162"/>
                  </a:lnTo>
                  <a:lnTo>
                    <a:pt x="211455" y="889635"/>
                  </a:lnTo>
                  <a:lnTo>
                    <a:pt x="220980" y="857250"/>
                  </a:lnTo>
                  <a:lnTo>
                    <a:pt x="229553" y="820102"/>
                  </a:lnTo>
                  <a:lnTo>
                    <a:pt x="237172" y="781050"/>
                  </a:lnTo>
                  <a:lnTo>
                    <a:pt x="243840" y="738188"/>
                  </a:lnTo>
                  <a:lnTo>
                    <a:pt x="249555" y="694372"/>
                  </a:lnTo>
                  <a:lnTo>
                    <a:pt x="253365" y="647700"/>
                  </a:lnTo>
                  <a:lnTo>
                    <a:pt x="256222" y="600075"/>
                  </a:lnTo>
                  <a:lnTo>
                    <a:pt x="259080" y="551497"/>
                  </a:lnTo>
                  <a:lnTo>
                    <a:pt x="259080" y="51625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2" name="Freeform 42"/>
            <p:cNvSpPr/>
            <p:nvPr/>
          </p:nvSpPr>
          <p:spPr>
            <a:xfrm>
              <a:off x="9340215" y="2414588"/>
              <a:ext cx="1090612" cy="9525"/>
            </a:xfrm>
            <a:custGeom>
              <a:avLst/>
              <a:gdLst/>
              <a:ahLst/>
              <a:cxnLst/>
              <a:rect l="l" t="t" r="r" b="b"/>
              <a:pathLst>
                <a:path w="1090612" h="9525">
                  <a:moveTo>
                    <a:pt x="0" y="0"/>
                  </a:moveTo>
                  <a:lnTo>
                    <a:pt x="1090612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430828" y="23669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9337358" y="1989772"/>
              <a:ext cx="595312" cy="416242"/>
            </a:xfrm>
            <a:custGeom>
              <a:avLst/>
              <a:gdLst/>
              <a:ahLst/>
              <a:cxnLst/>
              <a:rect l="l" t="t" r="r" b="b"/>
              <a:pathLst>
                <a:path w="595312" h="416242">
                  <a:moveTo>
                    <a:pt x="0" y="416242"/>
                  </a:moveTo>
                  <a:lnTo>
                    <a:pt x="595312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905048" y="1935480"/>
              <a:ext cx="105727" cy="93345"/>
            </a:xfrm>
            <a:custGeom>
              <a:avLst/>
              <a:gdLst/>
              <a:ahLst/>
              <a:cxnLst/>
              <a:rect l="l" t="t" r="r" b="b"/>
              <a:pathLst>
                <a:path w="105727" h="93345">
                  <a:moveTo>
                    <a:pt x="105727" y="0"/>
                  </a:moveTo>
                  <a:lnTo>
                    <a:pt x="55245" y="93345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6811328" y="180308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1086148" y="180308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6811328" y="30165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1086148" y="30165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6973252" y="20859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025765" y="20859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6973252" y="27336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8025765" y="27336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9609772" y="28213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9609772" y="28213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9450705" y="24098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9450705" y="24098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9321165" y="24098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10535602" y="24098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9321165" y="24098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10017442" y="19221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48593" y="233934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589061" y="233934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076319" y="176545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eₙ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752463" y="22074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566480" y="2912269"/>
              <a:ext cx="1665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dS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854526" y="1848803"/>
              <a:ext cx="2150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dS⊥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228846" y="3125629"/>
              <a:ext cx="12795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dS 的法线 eₙ 与 J 成 θ 角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formula20"/>
              <p:cNvSpPr txBox="1">
                <a:spLocks noGrp="1"/>
              </p:cNvSpPr>
              <p:nvPr/>
            </p:nvSpPr>
            <p:spPr>
              <a:xfrm>
                <a:off x="6248400" y="3469958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dI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⊥</m:t>
                              </m:r>
                            </m:sub>
                          </m:sSub>
                        </m:den>
                      </m:f>
                      <m:sSub>
                        <m:e>
                          <m:acc>
                            <m:accPr>
                              <m:chr m:val="⃗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formula21"/>
              <p:cNvSpPr txBox="1">
                <a:spLocks noGrp="1"/>
              </p:cNvSpPr>
              <p:nvPr/>
            </p:nvSpPr>
            <p:spPr>
              <a:xfrm>
                <a:off x="6248400" y="4097655"/>
                <a:ext cx="541020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dI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dS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78" name="c2-callout-4"/>
          <p:cNvGrpSpPr/>
          <p:nvPr/>
        </p:nvGrpSpPr>
        <p:grpSpPr>
          <a:xfrm>
            <a:off x="6248400" y="4689158"/>
            <a:ext cx="5410200" cy="702945"/>
            <a:chOff x="6248400" y="4689158"/>
            <a:chExt cx="5410200" cy="702945"/>
          </a:xfrm>
        </p:grpSpPr>
        <p:sp>
          <p:nvSpPr>
            <p:cNvPr id="72" name="Rectangle 72"/>
            <p:cNvSpPr/>
            <p:nvPr/>
          </p:nvSpPr>
          <p:spPr>
            <a:xfrm>
              <a:off x="6248400" y="4689158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6453188" y="4940618"/>
              <a:ext cx="200026" cy="200025"/>
              <a:chOff x="6453188" y="4940618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453188" y="49406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492926" y="49850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527642" y="50961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6756273" y="4834414"/>
              <a:ext cx="45321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θ 是截面法线与 J 的夹角。θ = 0 时截面正对电流，dI = J dS 最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大；θ = 90° 时截面与电流平行，没有电流穿过。</a:t>
              </a:r>
            </a:p>
          </p:txBody>
        </p:sp>
      </p:grpSp>
      <p:grpSp>
        <p:nvGrpSpPr>
          <p:cNvPr id="84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79" name="Rectangle 79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1273" y="5805011"/>
              <a:ext cx="100266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的方向是该点正电荷的运动方向，大小是通过该点单位垂直截面的电流。I 是 J 穿过某个截面的通量，两者的关系与电场强度和电通量的关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系相同。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26577" cy="909257"/>
            <a:chOff x="520446" y="342900"/>
            <a:chExt cx="50265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恒定电流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265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电流密度由载流子决定：J = nqv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g_drift"/>
          <p:cNvGrpSpPr/>
          <p:nvPr/>
        </p:nvGrpSpPr>
        <p:grpSpPr>
          <a:xfrm>
            <a:off x="1813560" y="1595914"/>
            <a:ext cx="2838178" cy="1789271"/>
            <a:chOff x="1813560" y="1595914"/>
            <a:chExt cx="2838178" cy="1789271"/>
          </a:xfrm>
        </p:grpSpPr>
        <p:sp>
          <p:nvSpPr>
            <p:cNvPr id="7" name="Freeform 7"/>
            <p:cNvSpPr/>
            <p:nvPr/>
          </p:nvSpPr>
          <p:spPr>
            <a:xfrm>
              <a:off x="2005965" y="1824038"/>
              <a:ext cx="2238375" cy="9525"/>
            </a:xfrm>
            <a:custGeom>
              <a:avLst/>
              <a:gdLst/>
              <a:ahLst/>
              <a:cxnLst/>
              <a:rect l="l" t="t" r="r" b="b"/>
              <a:pathLst>
                <a:path w="2238375" h="9525">
                  <a:moveTo>
                    <a:pt x="0" y="0"/>
                  </a:moveTo>
                  <a:lnTo>
                    <a:pt x="2238375" y="0"/>
                  </a:lnTo>
                </a:path>
              </a:pathLst>
            </a:custGeom>
            <a:noFill/>
            <a:ln w="1905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05965" y="2925128"/>
              <a:ext cx="2238375" cy="9525"/>
            </a:xfrm>
            <a:custGeom>
              <a:avLst/>
              <a:gdLst/>
              <a:ahLst/>
              <a:cxnLst/>
              <a:rect l="l" t="t" r="r" b="b"/>
              <a:pathLst>
                <a:path w="2238375" h="9525">
                  <a:moveTo>
                    <a:pt x="0" y="0"/>
                  </a:moveTo>
                  <a:lnTo>
                    <a:pt x="2238375" y="0"/>
                  </a:lnTo>
                </a:path>
              </a:pathLst>
            </a:custGeom>
            <a:noFill/>
            <a:ln w="1905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813560" y="1824038"/>
              <a:ext cx="356235" cy="1101090"/>
            </a:xfrm>
            <a:custGeom>
              <a:avLst/>
              <a:gdLst/>
              <a:ahLst/>
              <a:cxnLst/>
              <a:rect l="l" t="t" r="r" b="b"/>
              <a:pathLst>
                <a:path w="356235" h="1101090">
                  <a:moveTo>
                    <a:pt x="356235" y="535305"/>
                  </a:moveTo>
                  <a:lnTo>
                    <a:pt x="355282" y="496252"/>
                  </a:lnTo>
                  <a:lnTo>
                    <a:pt x="352425" y="442912"/>
                  </a:lnTo>
                  <a:lnTo>
                    <a:pt x="348615" y="390525"/>
                  </a:lnTo>
                  <a:lnTo>
                    <a:pt x="342900" y="339090"/>
                  </a:lnTo>
                  <a:lnTo>
                    <a:pt x="335280" y="290512"/>
                  </a:lnTo>
                  <a:lnTo>
                    <a:pt x="325755" y="243840"/>
                  </a:lnTo>
                  <a:lnTo>
                    <a:pt x="316230" y="200977"/>
                  </a:lnTo>
                  <a:lnTo>
                    <a:pt x="303848" y="160973"/>
                  </a:lnTo>
                  <a:lnTo>
                    <a:pt x="290512" y="124777"/>
                  </a:lnTo>
                  <a:lnTo>
                    <a:pt x="277177" y="92392"/>
                  </a:lnTo>
                  <a:lnTo>
                    <a:pt x="261938" y="64770"/>
                  </a:lnTo>
                  <a:lnTo>
                    <a:pt x="245745" y="41910"/>
                  </a:lnTo>
                  <a:lnTo>
                    <a:pt x="229552" y="22860"/>
                  </a:lnTo>
                  <a:lnTo>
                    <a:pt x="213360" y="10477"/>
                  </a:lnTo>
                  <a:lnTo>
                    <a:pt x="196215" y="1905"/>
                  </a:lnTo>
                  <a:lnTo>
                    <a:pt x="178117" y="0"/>
                  </a:lnTo>
                  <a:lnTo>
                    <a:pt x="160973" y="1905"/>
                  </a:lnTo>
                  <a:lnTo>
                    <a:pt x="142875" y="10477"/>
                  </a:lnTo>
                  <a:lnTo>
                    <a:pt x="126682" y="22860"/>
                  </a:lnTo>
                  <a:lnTo>
                    <a:pt x="109538" y="41910"/>
                  </a:lnTo>
                  <a:lnTo>
                    <a:pt x="94298" y="64770"/>
                  </a:lnTo>
                  <a:lnTo>
                    <a:pt x="79057" y="92392"/>
                  </a:lnTo>
                  <a:lnTo>
                    <a:pt x="65723" y="124777"/>
                  </a:lnTo>
                  <a:lnTo>
                    <a:pt x="52388" y="160973"/>
                  </a:lnTo>
                  <a:lnTo>
                    <a:pt x="40005" y="200977"/>
                  </a:lnTo>
                  <a:lnTo>
                    <a:pt x="30480" y="243840"/>
                  </a:lnTo>
                  <a:lnTo>
                    <a:pt x="20955" y="290512"/>
                  </a:lnTo>
                  <a:lnTo>
                    <a:pt x="13335" y="339090"/>
                  </a:lnTo>
                  <a:lnTo>
                    <a:pt x="7620" y="390525"/>
                  </a:lnTo>
                  <a:lnTo>
                    <a:pt x="3810" y="442912"/>
                  </a:lnTo>
                  <a:lnTo>
                    <a:pt x="952" y="496252"/>
                  </a:lnTo>
                  <a:lnTo>
                    <a:pt x="0" y="549592"/>
                  </a:lnTo>
                  <a:lnTo>
                    <a:pt x="952" y="603885"/>
                  </a:lnTo>
                  <a:lnTo>
                    <a:pt x="3810" y="657225"/>
                  </a:lnTo>
                  <a:lnTo>
                    <a:pt x="7620" y="709612"/>
                  </a:lnTo>
                  <a:lnTo>
                    <a:pt x="13335" y="761047"/>
                  </a:lnTo>
                  <a:lnTo>
                    <a:pt x="20955" y="809625"/>
                  </a:lnTo>
                  <a:lnTo>
                    <a:pt x="30480" y="856297"/>
                  </a:lnTo>
                  <a:lnTo>
                    <a:pt x="40005" y="899160"/>
                  </a:lnTo>
                  <a:lnTo>
                    <a:pt x="52388" y="939165"/>
                  </a:lnTo>
                  <a:lnTo>
                    <a:pt x="65723" y="975360"/>
                  </a:lnTo>
                  <a:lnTo>
                    <a:pt x="79057" y="1007745"/>
                  </a:lnTo>
                  <a:lnTo>
                    <a:pt x="94298" y="1035367"/>
                  </a:lnTo>
                  <a:lnTo>
                    <a:pt x="109538" y="1059180"/>
                  </a:lnTo>
                  <a:lnTo>
                    <a:pt x="126682" y="1077278"/>
                  </a:lnTo>
                  <a:lnTo>
                    <a:pt x="142875" y="1089660"/>
                  </a:lnTo>
                  <a:lnTo>
                    <a:pt x="160973" y="1098232"/>
                  </a:lnTo>
                  <a:lnTo>
                    <a:pt x="178117" y="1101090"/>
                  </a:lnTo>
                  <a:lnTo>
                    <a:pt x="196215" y="1098232"/>
                  </a:lnTo>
                  <a:lnTo>
                    <a:pt x="213360" y="1089660"/>
                  </a:lnTo>
                  <a:lnTo>
                    <a:pt x="229552" y="1077278"/>
                  </a:lnTo>
                  <a:lnTo>
                    <a:pt x="245745" y="1059180"/>
                  </a:lnTo>
                  <a:lnTo>
                    <a:pt x="261938" y="1035367"/>
                  </a:lnTo>
                  <a:lnTo>
                    <a:pt x="277177" y="1007745"/>
                  </a:lnTo>
                  <a:lnTo>
                    <a:pt x="290512" y="975360"/>
                  </a:lnTo>
                  <a:lnTo>
                    <a:pt x="303848" y="939165"/>
                  </a:lnTo>
                  <a:lnTo>
                    <a:pt x="316230" y="899160"/>
                  </a:lnTo>
                  <a:lnTo>
                    <a:pt x="325755" y="856297"/>
                  </a:lnTo>
                  <a:lnTo>
                    <a:pt x="335280" y="809625"/>
                  </a:lnTo>
                  <a:lnTo>
                    <a:pt x="342900" y="761047"/>
                  </a:lnTo>
                  <a:lnTo>
                    <a:pt x="348615" y="709612"/>
                  </a:lnTo>
                  <a:lnTo>
                    <a:pt x="352425" y="657225"/>
                  </a:lnTo>
                  <a:lnTo>
                    <a:pt x="355282" y="603885"/>
                  </a:lnTo>
                  <a:lnTo>
                    <a:pt x="356235" y="56388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4080510" y="1824038"/>
              <a:ext cx="356235" cy="1101090"/>
            </a:xfrm>
            <a:custGeom>
              <a:avLst/>
              <a:gdLst/>
              <a:ahLst/>
              <a:cxnLst/>
              <a:rect l="l" t="t" r="r" b="b"/>
              <a:pathLst>
                <a:path w="356235" h="1101090">
                  <a:moveTo>
                    <a:pt x="356235" y="535305"/>
                  </a:moveTo>
                  <a:lnTo>
                    <a:pt x="355283" y="496252"/>
                  </a:lnTo>
                  <a:lnTo>
                    <a:pt x="352425" y="442912"/>
                  </a:lnTo>
                  <a:lnTo>
                    <a:pt x="348615" y="390525"/>
                  </a:lnTo>
                  <a:lnTo>
                    <a:pt x="342900" y="339090"/>
                  </a:lnTo>
                  <a:lnTo>
                    <a:pt x="335280" y="290512"/>
                  </a:lnTo>
                  <a:lnTo>
                    <a:pt x="325755" y="243840"/>
                  </a:lnTo>
                  <a:lnTo>
                    <a:pt x="316230" y="200977"/>
                  </a:lnTo>
                  <a:lnTo>
                    <a:pt x="303848" y="160973"/>
                  </a:lnTo>
                  <a:lnTo>
                    <a:pt x="290512" y="124777"/>
                  </a:lnTo>
                  <a:lnTo>
                    <a:pt x="277178" y="92392"/>
                  </a:lnTo>
                  <a:lnTo>
                    <a:pt x="261938" y="64770"/>
                  </a:lnTo>
                  <a:lnTo>
                    <a:pt x="246698" y="41910"/>
                  </a:lnTo>
                  <a:lnTo>
                    <a:pt x="229553" y="22860"/>
                  </a:lnTo>
                  <a:lnTo>
                    <a:pt x="213360" y="10477"/>
                  </a:lnTo>
                  <a:lnTo>
                    <a:pt x="195262" y="1905"/>
                  </a:lnTo>
                  <a:lnTo>
                    <a:pt x="178118" y="0"/>
                  </a:lnTo>
                  <a:lnTo>
                    <a:pt x="160973" y="1905"/>
                  </a:lnTo>
                  <a:lnTo>
                    <a:pt x="142875" y="10477"/>
                  </a:lnTo>
                  <a:lnTo>
                    <a:pt x="126683" y="22860"/>
                  </a:lnTo>
                  <a:lnTo>
                    <a:pt x="110490" y="41910"/>
                  </a:lnTo>
                  <a:lnTo>
                    <a:pt x="94298" y="64770"/>
                  </a:lnTo>
                  <a:lnTo>
                    <a:pt x="79058" y="92392"/>
                  </a:lnTo>
                  <a:lnTo>
                    <a:pt x="65723" y="124777"/>
                  </a:lnTo>
                  <a:lnTo>
                    <a:pt x="52388" y="160973"/>
                  </a:lnTo>
                  <a:lnTo>
                    <a:pt x="40005" y="200977"/>
                  </a:lnTo>
                  <a:lnTo>
                    <a:pt x="30480" y="243840"/>
                  </a:lnTo>
                  <a:lnTo>
                    <a:pt x="20955" y="290512"/>
                  </a:lnTo>
                  <a:lnTo>
                    <a:pt x="13335" y="339090"/>
                  </a:lnTo>
                  <a:lnTo>
                    <a:pt x="7620" y="390525"/>
                  </a:lnTo>
                  <a:lnTo>
                    <a:pt x="3810" y="442912"/>
                  </a:lnTo>
                  <a:lnTo>
                    <a:pt x="953" y="496252"/>
                  </a:lnTo>
                  <a:lnTo>
                    <a:pt x="0" y="549592"/>
                  </a:lnTo>
                  <a:lnTo>
                    <a:pt x="953" y="603885"/>
                  </a:lnTo>
                  <a:lnTo>
                    <a:pt x="3810" y="657225"/>
                  </a:lnTo>
                  <a:lnTo>
                    <a:pt x="7620" y="709612"/>
                  </a:lnTo>
                  <a:lnTo>
                    <a:pt x="13335" y="761047"/>
                  </a:lnTo>
                  <a:lnTo>
                    <a:pt x="20955" y="809625"/>
                  </a:lnTo>
                  <a:lnTo>
                    <a:pt x="30480" y="856297"/>
                  </a:lnTo>
                  <a:lnTo>
                    <a:pt x="40005" y="899160"/>
                  </a:lnTo>
                  <a:lnTo>
                    <a:pt x="52388" y="939165"/>
                  </a:lnTo>
                  <a:lnTo>
                    <a:pt x="65723" y="975360"/>
                  </a:lnTo>
                  <a:lnTo>
                    <a:pt x="79058" y="1007745"/>
                  </a:lnTo>
                  <a:lnTo>
                    <a:pt x="94298" y="1035367"/>
                  </a:lnTo>
                  <a:lnTo>
                    <a:pt x="110490" y="1059180"/>
                  </a:lnTo>
                  <a:lnTo>
                    <a:pt x="126683" y="1077278"/>
                  </a:lnTo>
                  <a:lnTo>
                    <a:pt x="142875" y="1089660"/>
                  </a:lnTo>
                  <a:lnTo>
                    <a:pt x="160973" y="1098232"/>
                  </a:lnTo>
                  <a:lnTo>
                    <a:pt x="178118" y="1101090"/>
                  </a:lnTo>
                  <a:lnTo>
                    <a:pt x="195262" y="1098232"/>
                  </a:lnTo>
                  <a:lnTo>
                    <a:pt x="213360" y="1089660"/>
                  </a:lnTo>
                  <a:lnTo>
                    <a:pt x="229553" y="1077278"/>
                  </a:lnTo>
                  <a:lnTo>
                    <a:pt x="246698" y="1059180"/>
                  </a:lnTo>
                  <a:lnTo>
                    <a:pt x="261938" y="1035367"/>
                  </a:lnTo>
                  <a:lnTo>
                    <a:pt x="277178" y="1007745"/>
                  </a:lnTo>
                  <a:lnTo>
                    <a:pt x="290512" y="975360"/>
                  </a:lnTo>
                  <a:lnTo>
                    <a:pt x="303848" y="939165"/>
                  </a:lnTo>
                  <a:lnTo>
                    <a:pt x="316230" y="899160"/>
                  </a:lnTo>
                  <a:lnTo>
                    <a:pt x="325755" y="856297"/>
                  </a:lnTo>
                  <a:lnTo>
                    <a:pt x="335280" y="809625"/>
                  </a:lnTo>
                  <a:lnTo>
                    <a:pt x="342900" y="761047"/>
                  </a:lnTo>
                  <a:lnTo>
                    <a:pt x="348615" y="709612"/>
                  </a:lnTo>
                  <a:lnTo>
                    <a:pt x="352425" y="657225"/>
                  </a:lnTo>
                  <a:lnTo>
                    <a:pt x="355283" y="603885"/>
                  </a:lnTo>
                  <a:lnTo>
                    <a:pt x="356235" y="56388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774632" y="2373630"/>
              <a:ext cx="726758" cy="9525"/>
            </a:xfrm>
            <a:custGeom>
              <a:avLst/>
              <a:gdLst/>
              <a:ahLst/>
              <a:cxnLst/>
              <a:rect l="l" t="t" r="r" b="b"/>
              <a:pathLst>
                <a:path w="726758" h="9525">
                  <a:moveTo>
                    <a:pt x="0" y="0"/>
                  </a:moveTo>
                  <a:lnTo>
                    <a:pt x="726758" y="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501390" y="23260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101215" y="3143250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49090" y="3095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005965" y="3095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986915" y="18192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253865" y="18192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986915" y="29203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253865" y="29203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165032" y="23688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165032" y="23688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431982" y="23688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431982" y="23688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678555" y="2595562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248852" y="2225040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923222" y="1928812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239328" y="2763202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973705" y="2741295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853815" y="2627948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433762" y="1942148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3820478" y="1945005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438525" y="2649855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579370" y="2672715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755582" y="23688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606165" y="23688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986915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4253865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59966" y="21697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80831" y="198072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ΔS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894270" y="3208973"/>
              <a:ext cx="4617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Δl = vΔt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268212" y="1595914"/>
              <a:ext cx="17138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Δt 内柱体里的电荷全部穿过右端面</a:t>
              </a:r>
            </a:p>
          </p:txBody>
        </p:sp>
      </p:grpSp>
      <p:grpSp>
        <p:nvGrpSpPr>
          <p:cNvPr id="56" name="c1-steps-2"/>
          <p:cNvGrpSpPr/>
          <p:nvPr/>
        </p:nvGrpSpPr>
        <p:grpSpPr>
          <a:xfrm>
            <a:off x="533400" y="3560445"/>
            <a:ext cx="5098352" cy="1790319"/>
            <a:chOff x="533400" y="3560445"/>
            <a:chExt cx="5098352" cy="1790319"/>
          </a:xfrm>
        </p:grpSpPr>
        <p:sp>
          <p:nvSpPr>
            <p:cNvPr id="43" name="Rectangle 43"/>
            <p:cNvSpPr/>
            <p:nvPr/>
          </p:nvSpPr>
          <p:spPr>
            <a:xfrm>
              <a:off x="666750" y="3703320"/>
              <a:ext cx="19050" cy="12992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533400" y="35604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7024" y="36342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33400" y="43072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7024" y="43810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33400" y="48596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7024" y="49334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6023" y="35914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取小柱体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7166" y="3845243"/>
              <a:ext cx="468458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沿速度方向取长 Δl = vΔt、截面 ΔS 的小柱体，Δt 内柱体里的电荷全部穿过右端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6023" y="433720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数电荷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7166" y="4592002"/>
              <a:ext cx="14002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ΔI = ρΔlΔS/Δt = ρvΔS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6023" y="48906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除以截面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7166" y="5145405"/>
              <a:ext cx="2627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ΔI/ΔS = ρv，而 ρ = nq，所以 J = nqv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formula28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ρ</m:t>
                      </m:r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nq</m:t>
                      </m:r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69" name="c2-kv-2"/>
          <p:cNvGrpSpPr/>
          <p:nvPr/>
        </p:nvGrpSpPr>
        <p:grpSpPr>
          <a:xfrm>
            <a:off x="6241923" y="2091214"/>
            <a:ext cx="5416677" cy="1371409"/>
            <a:chOff x="6241923" y="2091214"/>
            <a:chExt cx="5416677" cy="1371409"/>
          </a:xfrm>
        </p:grpSpPr>
        <p:sp>
          <p:nvSpPr>
            <p:cNvPr id="58" name="TextBox 58"/>
            <p:cNvSpPr txBox="1"/>
            <p:nvPr/>
          </p:nvSpPr>
          <p:spPr>
            <a:xfrm>
              <a:off x="6241923" y="20912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ρ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87680" y="2091214"/>
              <a:ext cx="18739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载流子电荷密度，ρ = nq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23631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41923" y="246459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87680" y="246459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载流子数密度，即单位体积内的载流子个数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41923" y="283892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87680" y="283892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每个载流子的电荷量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31108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41923" y="32132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87680" y="321325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载流子定向运动速度的平均值，叫迁移速度（漂移速度）</a:t>
              </a:r>
            </a:p>
          </p:txBody>
        </p:sp>
      </p:grpSp>
      <p:grpSp>
        <p:nvGrpSpPr>
          <p:cNvPr id="78" name="c2-card-3"/>
          <p:cNvGrpSpPr/>
          <p:nvPr/>
        </p:nvGrpSpPr>
        <p:grpSpPr>
          <a:xfrm>
            <a:off x="6248400" y="3576638"/>
            <a:ext cx="5410200" cy="2127885"/>
            <a:chOff x="6248400" y="3576638"/>
            <a:chExt cx="5410200" cy="2127885"/>
          </a:xfrm>
        </p:grpSpPr>
        <p:sp>
          <p:nvSpPr>
            <p:cNvPr id="70" name="Rectangle 70"/>
            <p:cNvSpPr/>
            <p:nvPr/>
          </p:nvSpPr>
          <p:spPr>
            <a:xfrm>
              <a:off x="6248400" y="3576638"/>
              <a:ext cx="5410200" cy="2127885"/>
            </a:xfrm>
            <a:prstGeom prst="roundRect">
              <a:avLst>
                <a:gd name="adj" fmla="val 62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57925" y="3709988"/>
              <a:ext cx="47625" cy="18611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467475" y="375761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560147" y="37904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033451" y="379714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铜导线里的漂移速度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60998" y="4114324"/>
              <a:ext cx="41094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截面 1 mm² 的铜导线通 1 A 电流，铜的自由电子密度 n 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8.5×10²⁸ m⁻³：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460998" y="4642009"/>
              <a:ext cx="38087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= I/(neS) = 1/(8.5×10²⁸ × 1.6×10⁻¹⁹ × 10⁻⁶) ≈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7.3×10⁻⁵ m/s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462141" y="5166360"/>
              <a:ext cx="477793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每秒不到 0.1 mm。开关一合灯就亮，是因为电场几乎以光速建立起来，各处电子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几乎同时开始漂移。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9" name="Rectangle 7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1273" y="6039326"/>
              <a:ext cx="73127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金属里的载流子是电子，q &lt; 0，所以电子的漂移速度与 J 反向；J 的方向始终与电流方向一致。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恒定电流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欧姆定律：积分形式管一段导体，微分形式管每一点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1602105"/>
            <a:chOff x="533400" y="1524000"/>
            <a:chExt cx="5193982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稳恒电场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导体中电荷的分布不随时间变化时，它们激发的电场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也不随时间变化，叫稳恒电场。恒定电流就是靠它维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持的。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32"/>
              <p:cNvSpPr txBox="1">
                <a:spLocks noGrp="1"/>
              </p:cNvSpPr>
              <p:nvPr/>
            </p:nvSpPr>
            <p:spPr>
              <a:xfrm>
                <a:off x="533400" y="3316605"/>
                <a:ext cx="5193982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GU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9" name="c1-kv-3"/>
          <p:cNvGrpSpPr/>
          <p:nvPr/>
        </p:nvGrpSpPr>
        <p:grpSpPr>
          <a:xfrm>
            <a:off x="525780" y="4071938"/>
            <a:ext cx="5201602" cy="733424"/>
            <a:chOff x="525780" y="4071938"/>
            <a:chExt cx="5201602" cy="733424"/>
          </a:xfrm>
        </p:grpSpPr>
        <p:sp>
          <p:nvSpPr>
            <p:cNvPr id="14" name="TextBox 14"/>
            <p:cNvSpPr txBox="1"/>
            <p:nvPr/>
          </p:nvSpPr>
          <p:spPr>
            <a:xfrm>
              <a:off x="525780" y="4071938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电阻 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47788" y="4071938"/>
              <a:ext cx="13441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单位欧姆（Ω）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3919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5780" y="4511992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电导 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47788" y="4511992"/>
              <a:ext cx="1941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单位西门子，S = Ω⁻¹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formula33"/>
              <p:cNvSpPr txBox="1">
                <a:spLocks noGrp="1"/>
              </p:cNvSpPr>
              <p:nvPr/>
            </p:nvSpPr>
            <p:spPr>
              <a:xfrm>
                <a:off x="533400" y="4936808"/>
                <a:ext cx="5193982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ρ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σS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n"/>
                          <m:sup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ρ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dl</m:t>
                              </m:r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22" name="c1-text-5"/>
          <p:cNvGrpSpPr/>
          <p:nvPr/>
        </p:nvGrpSpPr>
        <p:grpSpPr>
          <a:xfrm>
            <a:off x="526923" y="5663089"/>
            <a:ext cx="4971034" cy="500824"/>
            <a:chOff x="526923" y="5663089"/>
            <a:chExt cx="4971034" cy="500824"/>
          </a:xfrm>
        </p:grpSpPr>
        <p:sp>
          <p:nvSpPr>
            <p:cNvPr id="21" name="TextBox 21"/>
            <p:cNvSpPr txBox="1"/>
            <p:nvPr/>
          </p:nvSpPr>
          <p:spPr>
            <a:xfrm>
              <a:off x="526923" y="5663089"/>
              <a:ext cx="497103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 是电阻率，σ = 1/ρ 是电导率。ρ 或截面 S 沿长度变化时，把导体切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成长 dl 的薄片再相加，用右边的积分式。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6032182" y="1533525"/>
            <a:ext cx="4467714" cy="2529173"/>
            <a:chOff x="6032182" y="1533525"/>
            <a:chExt cx="4467714" cy="2529173"/>
          </a:xfrm>
        </p:grpSpPr>
        <p:sp>
          <p:nvSpPr>
            <p:cNvPr id="23" name="Rectangle 23"/>
            <p:cNvSpPr/>
            <p:nvPr/>
          </p:nvSpPr>
          <p:spPr>
            <a:xfrm>
              <a:off x="6165532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032182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25806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032182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25806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032182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25806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43662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取小圆柱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44806" y="1861661"/>
              <a:ext cx="4055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沿电流方向取长 Δl、截面 ΔS 的小圆柱，两端电压 ΔU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43662" y="22183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用积分形式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4806" y="2512219"/>
              <a:ext cx="32244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ΔI = ΔU/R，其中 ΔU = EΔl，R = Δl/(σΔS)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3662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代入化简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44806" y="3162776"/>
              <a:ext cx="22629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ΔI = EΔl/[Δl/(σΔS)] = σEΔS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43662" y="35204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除以截面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44806" y="3813334"/>
              <a:ext cx="25763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ΔI/ΔS = σE，J 与 E 方向相同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formula34"/>
              <p:cNvSpPr txBox="1">
                <a:spLocks noGrp="1"/>
              </p:cNvSpPr>
              <p:nvPr/>
            </p:nvSpPr>
            <p:spPr>
              <a:xfrm>
                <a:off x="6032182" y="4241482"/>
                <a:ext cx="5626418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acc>
                        <m:accPr>
                          <m:chr m:val="⃗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48" name="c2-callout-3"/>
          <p:cNvGrpSpPr/>
          <p:nvPr/>
        </p:nvGrpSpPr>
        <p:grpSpPr>
          <a:xfrm>
            <a:off x="6032182" y="4927282"/>
            <a:ext cx="5626418" cy="1185862"/>
            <a:chOff x="6032182" y="4927282"/>
            <a:chExt cx="5626418" cy="1185862"/>
          </a:xfrm>
        </p:grpSpPr>
        <p:sp>
          <p:nvSpPr>
            <p:cNvPr id="42" name="Rectangle 42"/>
            <p:cNvSpPr/>
            <p:nvPr/>
          </p:nvSpPr>
          <p:spPr>
            <a:xfrm>
              <a:off x="6032182" y="4927282"/>
              <a:ext cx="5626418" cy="1185862"/>
            </a:xfrm>
            <a:prstGeom prst="roundRect">
              <a:avLst>
                <a:gd name="adj" fmla="val 963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236970" y="5419725"/>
              <a:ext cx="200026" cy="200025"/>
              <a:chOff x="6236970" y="5419725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236970" y="54197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276709" y="54641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311424" y="55753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538912" y="5138738"/>
              <a:ext cx="46920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微分形式只涉及同一点的 J、E 和该点的 σ，与导体的形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状无关，电导率不均匀、形状不规则的导体里每一点都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成立。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恒定电流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电动势：非静电力把单位正电荷绕回路一周所做的功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g_emf"/>
          <p:cNvGrpSpPr/>
          <p:nvPr/>
        </p:nvGrpSpPr>
        <p:grpSpPr>
          <a:xfrm>
            <a:off x="1099185" y="1654969"/>
            <a:ext cx="3662363" cy="2038350"/>
            <a:chOff x="1099185" y="1654969"/>
            <a:chExt cx="3662363" cy="2038350"/>
          </a:xfrm>
        </p:grpSpPr>
        <p:sp>
          <p:nvSpPr>
            <p:cNvPr id="7" name="Freeform 7"/>
            <p:cNvSpPr/>
            <p:nvPr/>
          </p:nvSpPr>
          <p:spPr>
            <a:xfrm>
              <a:off x="1724978" y="1870710"/>
              <a:ext cx="2831782" cy="9525"/>
            </a:xfrm>
            <a:custGeom>
              <a:avLst/>
              <a:gdLst/>
              <a:ahLst/>
              <a:cxnLst/>
              <a:rect l="l" t="t" r="r" b="b"/>
              <a:pathLst>
                <a:path w="2831782" h="9525">
                  <a:moveTo>
                    <a:pt x="0" y="0"/>
                  </a:moveTo>
                  <a:lnTo>
                    <a:pt x="2831782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571048" y="1884998"/>
              <a:ext cx="9525" cy="1487805"/>
            </a:xfrm>
            <a:custGeom>
              <a:avLst/>
              <a:gdLst/>
              <a:ahLst/>
              <a:cxnLst/>
              <a:rect l="l" t="t" r="r" b="b"/>
              <a:pathLst>
                <a:path w="9525" h="1487805">
                  <a:moveTo>
                    <a:pt x="0" y="0"/>
                  </a:moveTo>
                  <a:lnTo>
                    <a:pt x="0" y="1487805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724978" y="3387090"/>
              <a:ext cx="2831782" cy="9525"/>
            </a:xfrm>
            <a:custGeom>
              <a:avLst/>
              <a:gdLst/>
              <a:ahLst/>
              <a:cxnLst/>
              <a:rect l="l" t="t" r="r" b="b"/>
              <a:pathLst>
                <a:path w="2831782" h="9525">
                  <a:moveTo>
                    <a:pt x="2831782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10690" y="1884998"/>
              <a:ext cx="9525" cy="595312"/>
            </a:xfrm>
            <a:custGeom>
              <a:avLst/>
              <a:gdLst/>
              <a:ahLst/>
              <a:cxnLst/>
              <a:rect l="l" t="t" r="r" b="b"/>
              <a:pathLst>
                <a:path w="9525" h="595312">
                  <a:moveTo>
                    <a:pt x="0" y="0"/>
                  </a:moveTo>
                  <a:lnTo>
                    <a:pt x="0" y="595312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710690" y="2768918"/>
              <a:ext cx="9525" cy="603885"/>
            </a:xfrm>
            <a:custGeom>
              <a:avLst/>
              <a:gdLst/>
              <a:ahLst/>
              <a:cxnLst/>
              <a:rect l="l" t="t" r="r" b="b"/>
              <a:pathLst>
                <a:path w="9525" h="603885">
                  <a:moveTo>
                    <a:pt x="0" y="0"/>
                  </a:moveTo>
                  <a:lnTo>
                    <a:pt x="0" y="603885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464945" y="2494598"/>
              <a:ext cx="491490" cy="9525"/>
            </a:xfrm>
            <a:custGeom>
              <a:avLst/>
              <a:gdLst/>
              <a:ahLst/>
              <a:cxnLst/>
              <a:rect l="l" t="t" r="r" b="b"/>
              <a:pathLst>
                <a:path w="491490" h="9525">
                  <a:moveTo>
                    <a:pt x="0" y="0"/>
                  </a:moveTo>
                  <a:lnTo>
                    <a:pt x="491490" y="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604010" y="2754630"/>
              <a:ext cx="214312" cy="9525"/>
            </a:xfrm>
            <a:custGeom>
              <a:avLst/>
              <a:gdLst/>
              <a:ahLst/>
              <a:cxnLst/>
              <a:rect l="l" t="t" r="r" b="b"/>
              <a:pathLst>
                <a:path w="214312" h="9525">
                  <a:moveTo>
                    <a:pt x="0" y="0"/>
                  </a:moveTo>
                  <a:lnTo>
                    <a:pt x="214312" y="0"/>
                  </a:lnTo>
                </a:path>
              </a:pathLst>
            </a:custGeom>
            <a:noFill/>
            <a:ln w="5715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103948" y="2130742"/>
              <a:ext cx="1213485" cy="997267"/>
            </a:xfrm>
            <a:custGeom>
              <a:avLst/>
              <a:gdLst/>
              <a:ahLst/>
              <a:cxnLst/>
              <a:rect l="l" t="t" r="r" b="b"/>
              <a:pathLst>
                <a:path w="1213485" h="997267">
                  <a:moveTo>
                    <a:pt x="14288" y="0"/>
                  </a:moveTo>
                  <a:lnTo>
                    <a:pt x="1213485" y="0"/>
                  </a:lnTo>
                  <a:lnTo>
                    <a:pt x="1213485" y="997267"/>
                  </a:lnTo>
                  <a:lnTo>
                    <a:pt x="0" y="997267"/>
                  </a:lnTo>
                  <a:lnTo>
                    <a:pt x="0" y="14288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1260158" y="2396490"/>
              <a:ext cx="9525" cy="586740"/>
            </a:xfrm>
            <a:custGeom>
              <a:avLst/>
              <a:gdLst/>
              <a:ahLst/>
              <a:cxnLst/>
              <a:rect l="l" t="t" r="r" b="b"/>
              <a:pathLst>
                <a:path w="9525" h="586740">
                  <a:moveTo>
                    <a:pt x="0" y="58674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212532" y="23012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65108" y="187071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508058" y="18230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705928" y="18659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4566285" y="18659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566285" y="18659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566285" y="33823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566285" y="33823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705928" y="33823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705928" y="18659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705928" y="24898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705928" y="27498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705928" y="33823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445895" y="24898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965960" y="24898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584960" y="27498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827848" y="27498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99185" y="21259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099185" y="21259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255395" y="299275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255395" y="228219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746058" y="18659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612832" y="18659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380548" y="2356485"/>
              <a:ext cx="381000" cy="554355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525844" y="257317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76172" y="256651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EK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99157" y="2428399"/>
              <a:ext cx="4229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A（+）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399157" y="2722721"/>
              <a:ext cx="4229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B（−）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85151" y="197119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电源内部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153401" y="1654969"/>
              <a:ext cx="61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321573" y="3531394"/>
              <a:ext cx="18986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外电路中静电场推动正电荷从 A 流向 B</a:t>
              </a:r>
            </a:p>
          </p:txBody>
        </p:sp>
      </p:grpSp>
      <p:grpSp>
        <p:nvGrpSpPr>
          <p:cNvPr id="56" name="c1-card-2"/>
          <p:cNvGrpSpPr/>
          <p:nvPr/>
        </p:nvGrpSpPr>
        <p:grpSpPr>
          <a:xfrm>
            <a:off x="533400" y="3866198"/>
            <a:ext cx="4977765" cy="1511618"/>
            <a:chOff x="533400" y="3866198"/>
            <a:chExt cx="4977765" cy="1511618"/>
          </a:xfrm>
        </p:grpSpPr>
        <p:sp>
          <p:nvSpPr>
            <p:cNvPr id="48" name="Rectangle 48"/>
            <p:cNvSpPr/>
            <p:nvPr/>
          </p:nvSpPr>
          <p:spPr>
            <a:xfrm>
              <a:off x="533400" y="3866198"/>
              <a:ext cx="4977765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42925" y="3999548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63905" y="405860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35342" y="409289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电源与非静电力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72478" y="447103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28497" y="4414838"/>
              <a:ext cx="41799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把正电荷从负极 B 经电源内部移到正极 A 的力叫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非静电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力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，提供它的装置叫电源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72478" y="503110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28497" y="4974908"/>
              <a:ext cx="3096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类比静电场定义非静电场强 EK = FK/q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formula43"/>
              <p:cNvSpPr txBox="1">
                <a:spLocks noGrp="1"/>
              </p:cNvSpPr>
              <p:nvPr/>
            </p:nvSpPr>
            <p:spPr>
              <a:xfrm>
                <a:off x="5815965" y="1524000"/>
                <a:ext cx="5842635" cy="7362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  <m:nary>
                            <m:naryPr>
                              <m:chr m:val="∫"/>
                              <m:limLoc m:val="subSup"/>
                              <m:grow m:val="off"/>
                              <m:subHide m:val="off"/>
                              <m:supHide m:val="off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</m:t>
                                      </m:r>
                                    </m:e>
                                  </m:acc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sSub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E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  <m:nary>
                            <m:naryPr>
                              <m:chr m:val="∫"/>
                              <m:limLoc m:val="subSup"/>
                              <m:grow m:val="off"/>
                              <m:subHide m:val="off"/>
                              <m:supHide m:val="off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p>
                            <m:e>
                              <m:acc>
                                <m:accPr>
                                  <m:chr m:val="⃗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</m:acc>
                            </m:e>
                          </m:nary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</m:acc>
                        </m:e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  <m:nary>
                            <m:naryPr>
                              <m:chr m:val="∮"/>
                              <m:limLoc m:val="subSup"/>
                              <m:grow m:val="off"/>
                              <m:subHide m:val="off"/>
                              <m:supHide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b>
                            <m:sup/>
                            <m:e>
                              <m:sSub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</m:acc>
                        </m:e>
                      </m:eqAr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formula44"/>
              <p:cNvSpPr txBox="1">
                <a:spLocks noGrp="1"/>
              </p:cNvSpPr>
              <p:nvPr/>
            </p:nvSpPr>
            <p:spPr>
              <a:xfrm>
                <a:off x="5815965" y="2435542"/>
                <a:ext cx="5842635" cy="480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∮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  <m:sup/>
                        <m:e>
                          <m:sSub>
                            <m:e>
                              <m:acc>
                                <m:accPr>
                                  <m:chr m:val="⃗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p>
                        <m:e>
                          <m:sSub>
                            <m:e>
                              <m:acc>
                                <m:accPr>
                                  <m:chr m:val="⃗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67" name="c2-card-3"/>
          <p:cNvGrpSpPr/>
          <p:nvPr/>
        </p:nvGrpSpPr>
        <p:grpSpPr>
          <a:xfrm>
            <a:off x="5815965" y="3090862"/>
            <a:ext cx="5842635" cy="2286952"/>
            <a:chOff x="5815965" y="3090862"/>
            <a:chExt cx="5842635" cy="2286952"/>
          </a:xfrm>
        </p:grpSpPr>
        <p:sp>
          <p:nvSpPr>
            <p:cNvPr id="59" name="Rectangle 59"/>
            <p:cNvSpPr/>
            <p:nvPr/>
          </p:nvSpPr>
          <p:spPr>
            <a:xfrm>
              <a:off x="5815965" y="3090862"/>
              <a:ext cx="5842635" cy="2286952"/>
            </a:xfrm>
            <a:prstGeom prst="roundRect">
              <a:avLst>
                <a:gd name="adj" fmla="val 58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825490" y="3224212"/>
              <a:ext cx="47625" cy="2020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46470" y="328326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29909" y="331755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两点说明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055042" y="369570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11062" y="3639502"/>
              <a:ext cx="50200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第一步用到 ∮E·dl = 0；最后一步是因为 EK 只存在于电源内部，外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电路上 EK = 0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055042" y="425577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211062" y="4199572"/>
              <a:ext cx="49086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电动势是标量，单位与电势相同（V）。规定从负极经电源内部指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向正极为电动势的方向，也就是电源内部电势升高的方向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68" name="Rectangle 68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5897882"/>
              <a:ext cx="200023" cy="200023"/>
              <a:chOff x="738188" y="5897882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892" y="5779770"/>
              <a:ext cx="97863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静电场绕一圈做功为零，电荷能在回路里持续流动，靠的是只存在于电源内部的非静电力。电动势只由电源本身决定，与外电路无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80147" cy="3351847"/>
            <a:chOff x="667512" y="1835468"/>
            <a:chExt cx="468014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磁现象与磁感应强度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702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5.2，一切磁现象都来自运动的电荷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五个基本磁现象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分子电流假说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磁场的物质性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760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磁感应强度 B 的定义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磁现象与磁感应强度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磁现象的根源是运动电荷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465232" cy="2867502"/>
            <a:chOff x="533400" y="1533525"/>
            <a:chExt cx="5465232" cy="2867502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3479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946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814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55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1833086"/>
              <a:ext cx="45497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天然磁铁能吸引铁、钴、镍等物质，这种性质叫磁性（magnetism）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1526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磁极间的作用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41982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同性磁极相斥，异性磁极相吸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73939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磁极不能分开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006566"/>
              <a:ext cx="5051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磁铁的两个磁极不能分割成独立的 N 极或 S 极，这是磁极和电荷的基本区别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32613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电流的磁效应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593306"/>
              <a:ext cx="43053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1820 年奥斯特（H. C. Oersted）发现电流使附近的小磁针偏转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391287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电流间的作用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180999"/>
              <a:ext cx="4006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1820 年安培发现载流导线之间、载流线圈之间也有相互作用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4569142"/>
            <a:ext cx="5626418" cy="1466850"/>
            <a:chOff x="533400" y="4569142"/>
            <a:chExt cx="5626418" cy="1466850"/>
          </a:xfrm>
        </p:grpSpPr>
        <p:sp>
          <p:nvSpPr>
            <p:cNvPr id="29" name="Rectangle 29"/>
            <p:cNvSpPr/>
            <p:nvPr/>
          </p:nvSpPr>
          <p:spPr>
            <a:xfrm>
              <a:off x="533400" y="4569142"/>
              <a:ext cx="562641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702492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3905" y="476154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5345" y="47958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7047" y="5118735"/>
              <a:ext cx="4998625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原课件写“1819 年奥斯特发现电流磁效应”。奥斯特的实验和论文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都在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1820 年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（论文当年 7 月发表），同年安培紧接着发现了电流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间的相互作用。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464618" y="1524000"/>
            <a:ext cx="5193982" cy="1473518"/>
            <a:chOff x="6464618" y="1524000"/>
            <a:chExt cx="5193982" cy="1473518"/>
          </a:xfrm>
        </p:grpSpPr>
        <p:sp>
          <p:nvSpPr>
            <p:cNvPr id="35" name="Rectangle 35"/>
            <p:cNvSpPr/>
            <p:nvPr/>
          </p:nvSpPr>
          <p:spPr>
            <a:xfrm>
              <a:off x="6464618" y="1524000"/>
              <a:ext cx="5193982" cy="1473518"/>
            </a:xfrm>
            <a:prstGeom prst="roundRect">
              <a:avLst>
                <a:gd name="adj" fmla="val 905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57022" y="1716405"/>
              <a:ext cx="216027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98194" y="1750695"/>
              <a:ext cx="20779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分子电流假说（安培，1822 年）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0164" y="207264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一切磁现象的根源是电流。磁性物质的分子中存在回路电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流，叫分子电流，每个分子电流相当于一个小磁体。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51308" y="262937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分子电流排列杂乱时对外不显磁性，排列整齐时整块物体就成了磁体。</a:t>
              </a:r>
            </a:p>
          </p:txBody>
        </p:sp>
      </p:grpSp>
      <p:grpSp>
        <p:nvGrpSpPr>
          <p:cNvPr id="57" name="c2-compare-2"/>
          <p:cNvGrpSpPr/>
          <p:nvPr/>
        </p:nvGrpSpPr>
        <p:grpSpPr>
          <a:xfrm>
            <a:off x="6464618" y="3171825"/>
            <a:ext cx="5193982" cy="1754505"/>
            <a:chOff x="6464618" y="3171825"/>
            <a:chExt cx="5193982" cy="1754505"/>
          </a:xfrm>
        </p:grpSpPr>
        <p:sp>
          <p:nvSpPr>
            <p:cNvPr id="41" name="Rectangle 41"/>
            <p:cNvSpPr/>
            <p:nvPr/>
          </p:nvSpPr>
          <p:spPr>
            <a:xfrm>
              <a:off x="6464618" y="3171825"/>
              <a:ext cx="2386965" cy="1754505"/>
            </a:xfrm>
            <a:prstGeom prst="roundRect">
              <a:avLst>
                <a:gd name="adj" fmla="val 76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3305175"/>
              <a:ext cx="47625" cy="14878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88264" y="33870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电荷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703695" y="376332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59714" y="3707130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正负电荷可以单独存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703695" y="432244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59714" y="4266248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电场线起于正电荷、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止于负电荷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271635" y="3171825"/>
              <a:ext cx="2386965" cy="1754505"/>
            </a:xfrm>
            <a:prstGeom prst="roundRect">
              <a:avLst>
                <a:gd name="adj" fmla="val 76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281160" y="3305175"/>
              <a:ext cx="47625" cy="14878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495282" y="33870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磁极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9510712" y="376332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666732" y="3707130"/>
              <a:ext cx="1736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N、S 极总是成对出现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510712" y="406527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666732" y="4009072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把磁铁截断，得到两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块完整的磁铁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900160" y="388810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76631" y="398859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4" name="c2-callout-3"/>
          <p:cNvGrpSpPr/>
          <p:nvPr/>
        </p:nvGrpSpPr>
        <p:grpSpPr>
          <a:xfrm>
            <a:off x="6464618" y="5101590"/>
            <a:ext cx="5193982" cy="934402"/>
            <a:chOff x="6464618" y="5101590"/>
            <a:chExt cx="5193982" cy="934402"/>
          </a:xfrm>
        </p:grpSpPr>
        <p:sp>
          <p:nvSpPr>
            <p:cNvPr id="58" name="Rectangle 58"/>
            <p:cNvSpPr/>
            <p:nvPr/>
          </p:nvSpPr>
          <p:spPr>
            <a:xfrm>
              <a:off x="6464618" y="5101590"/>
              <a:ext cx="5193982" cy="934402"/>
            </a:xfrm>
            <a:prstGeom prst="roundRect">
              <a:avLst>
                <a:gd name="adj" fmla="val 1223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669405" y="5469255"/>
              <a:ext cx="200026" cy="200025"/>
              <a:chOff x="6669405" y="5469255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669405" y="54692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09144" y="55137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43859" y="56248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972110" y="5350192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所以磁现象归结为一句话：运动电荷（电流）产生磁场，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磁场又对运动电荷（电流）施力。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01810" cy="909257"/>
            <a:chOff x="520446" y="342900"/>
            <a:chExt cx="79018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磁现象与磁感应强度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018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磁场是一种物质，B 用运动电荷受的最大磁力来定义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185862"/>
            <a:chOff x="533400" y="1524000"/>
            <a:chExt cx="5410200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94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磁场的物质性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2000" y="209740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7448" y="204549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对引入其中的运动电荷或载流导体施加磁力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38220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33029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载流导体在磁场中移动时磁力要做功，说明磁场具有能量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2874645"/>
            <a:ext cx="5410200" cy="2807970"/>
            <a:chOff x="533400" y="2874645"/>
            <a:chExt cx="5410200" cy="2807970"/>
          </a:xfrm>
        </p:grpSpPr>
        <p:sp>
          <p:nvSpPr>
            <p:cNvPr id="16" name="Rectangle 16"/>
            <p:cNvSpPr/>
            <p:nvPr/>
          </p:nvSpPr>
          <p:spPr>
            <a:xfrm>
              <a:off x="533400" y="2874645"/>
              <a:ext cx="5410200" cy="2807970"/>
            </a:xfrm>
            <a:prstGeom prst="roundRect">
              <a:avLst>
                <a:gd name="adj" fmla="val 474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4375" y="3055620"/>
              <a:ext cx="135540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5732" y="3088481"/>
              <a:ext cx="12336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磁感应强度 B 的定义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51"/>
                <p:cNvSpPr txBox="1">
                  <a:spLocks noGrp="1"/>
                </p:cNvSpPr>
                <p:nvPr/>
              </p:nvSpPr>
              <p:spPr>
                <a:xfrm>
                  <a:off x="714375" y="3374708"/>
                  <a:ext cx="504825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qv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Ellipse 20"/>
            <p:cNvSpPr/>
            <p:nvPr/>
          </p:nvSpPr>
          <p:spPr>
            <a:xfrm>
              <a:off x="723900" y="404431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9348" y="3991451"/>
              <a:ext cx="46784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试验电荷受的磁力与 q、v 以及磁场本身有关；v 与 B 垂直时磁力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最大，Fmax 与 qv 之比只由磁场决定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23900" y="457200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9348" y="4519136"/>
              <a:ext cx="45402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方向：试验电荷沿某一直线运动时不受力，B 就在这条直线上，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指向取小磁针 N 极所指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23900" y="509968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9348" y="5046821"/>
              <a:ext cx="28298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单位特斯拉（T），1 T = 1 N/(A·m)</a:t>
              </a:r>
            </a:p>
          </p:txBody>
        </p:sp>
      </p:grpSp>
      <p:grpSp>
        <p:nvGrpSpPr>
          <p:cNvPr id="77" name="g_bdef"/>
          <p:cNvGrpSpPr/>
          <p:nvPr/>
        </p:nvGrpSpPr>
        <p:grpSpPr>
          <a:xfrm>
            <a:off x="6770370" y="1714024"/>
            <a:ext cx="4366260" cy="1598770"/>
            <a:chOff x="6770370" y="1714024"/>
            <a:chExt cx="4366260" cy="1598770"/>
          </a:xfrm>
        </p:grpSpPr>
        <p:sp>
          <p:nvSpPr>
            <p:cNvPr id="27" name="Freeform 27"/>
            <p:cNvSpPr/>
            <p:nvPr/>
          </p:nvSpPr>
          <p:spPr>
            <a:xfrm>
              <a:off x="6789420" y="1888808"/>
              <a:ext cx="1819275" cy="9525"/>
            </a:xfrm>
            <a:custGeom>
              <a:avLst/>
              <a:gdLst/>
              <a:ahLst/>
              <a:cxnLst/>
              <a:rect l="l" t="t" r="r" b="b"/>
              <a:pathLst>
                <a:path w="1819275" h="9525">
                  <a:moveTo>
                    <a:pt x="0" y="0"/>
                  </a:moveTo>
                  <a:lnTo>
                    <a:pt x="181927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608695" y="18411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789420" y="2414588"/>
              <a:ext cx="1819275" cy="9525"/>
            </a:xfrm>
            <a:custGeom>
              <a:avLst/>
              <a:gdLst/>
              <a:ahLst/>
              <a:cxnLst/>
              <a:rect l="l" t="t" r="r" b="b"/>
              <a:pathLst>
                <a:path w="1819275" h="9525">
                  <a:moveTo>
                    <a:pt x="0" y="0"/>
                  </a:moveTo>
                  <a:lnTo>
                    <a:pt x="181927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608695" y="23669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789420" y="2941320"/>
              <a:ext cx="1819275" cy="9525"/>
            </a:xfrm>
            <a:custGeom>
              <a:avLst/>
              <a:gdLst/>
              <a:ahLst/>
              <a:cxnLst/>
              <a:rect l="l" t="t" r="r" b="b"/>
              <a:pathLst>
                <a:path w="1819275" h="9525">
                  <a:moveTo>
                    <a:pt x="0" y="0"/>
                  </a:moveTo>
                  <a:lnTo>
                    <a:pt x="181927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608695" y="28936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9178290" y="1888808"/>
              <a:ext cx="1844040" cy="9525"/>
            </a:xfrm>
            <a:custGeom>
              <a:avLst/>
              <a:gdLst/>
              <a:ahLst/>
              <a:cxnLst/>
              <a:rect l="l" t="t" r="r" b="b"/>
              <a:pathLst>
                <a:path w="1844040" h="9525">
                  <a:moveTo>
                    <a:pt x="0" y="0"/>
                  </a:moveTo>
                  <a:lnTo>
                    <a:pt x="184404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1022330" y="18411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9178290" y="2414588"/>
              <a:ext cx="1844040" cy="9525"/>
            </a:xfrm>
            <a:custGeom>
              <a:avLst/>
              <a:gdLst/>
              <a:ahLst/>
              <a:cxnLst/>
              <a:rect l="l" t="t" r="r" b="b"/>
              <a:pathLst>
                <a:path w="1844040" h="9525">
                  <a:moveTo>
                    <a:pt x="0" y="0"/>
                  </a:moveTo>
                  <a:lnTo>
                    <a:pt x="184404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1022330" y="23669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178290" y="2941320"/>
              <a:ext cx="1844040" cy="9525"/>
            </a:xfrm>
            <a:custGeom>
              <a:avLst/>
              <a:gdLst/>
              <a:ahLst/>
              <a:cxnLst/>
              <a:rect l="l" t="t" r="r" b="b"/>
              <a:pathLst>
                <a:path w="1844040" h="9525">
                  <a:moveTo>
                    <a:pt x="0" y="0"/>
                  </a:moveTo>
                  <a:lnTo>
                    <a:pt x="184404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1022330" y="28936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397115" y="2414588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082915" y="23669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892665" y="2135505"/>
              <a:ext cx="9525" cy="588645"/>
            </a:xfrm>
            <a:custGeom>
              <a:avLst/>
              <a:gdLst/>
              <a:ahLst/>
              <a:cxnLst/>
              <a:rect l="l" t="t" r="r" b="b"/>
              <a:pathLst>
                <a:path w="9525" h="588645">
                  <a:moveTo>
                    <a:pt x="0" y="588645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845040" y="20402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10216515" y="2641282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1453" y="75247"/>
                  </a:lnTo>
                  <a:lnTo>
                    <a:pt x="184785" y="55245"/>
                  </a:lnTo>
                  <a:lnTo>
                    <a:pt x="172403" y="36195"/>
                  </a:lnTo>
                  <a:lnTo>
                    <a:pt x="158115" y="20955"/>
                  </a:lnTo>
                  <a:lnTo>
                    <a:pt x="139065" y="9525"/>
                  </a:lnTo>
                  <a:lnTo>
                    <a:pt x="119062" y="2858"/>
                  </a:lnTo>
                  <a:lnTo>
                    <a:pt x="97155" y="0"/>
                  </a:lnTo>
                  <a:lnTo>
                    <a:pt x="75248" y="2858"/>
                  </a:lnTo>
                  <a:lnTo>
                    <a:pt x="55245" y="9525"/>
                  </a:lnTo>
                  <a:lnTo>
                    <a:pt x="36195" y="20955"/>
                  </a:lnTo>
                  <a:lnTo>
                    <a:pt x="20955" y="36195"/>
                  </a:lnTo>
                  <a:lnTo>
                    <a:pt x="9525" y="55245"/>
                  </a:lnTo>
                  <a:lnTo>
                    <a:pt x="2858" y="75247"/>
                  </a:lnTo>
                  <a:lnTo>
                    <a:pt x="0" y="97155"/>
                  </a:lnTo>
                  <a:lnTo>
                    <a:pt x="2858" y="119062"/>
                  </a:lnTo>
                  <a:lnTo>
                    <a:pt x="9525" y="139065"/>
                  </a:lnTo>
                  <a:lnTo>
                    <a:pt x="20955" y="158115"/>
                  </a:lnTo>
                  <a:lnTo>
                    <a:pt x="36195" y="173355"/>
                  </a:lnTo>
                  <a:lnTo>
                    <a:pt x="55245" y="184785"/>
                  </a:lnTo>
                  <a:lnTo>
                    <a:pt x="75248" y="191452"/>
                  </a:lnTo>
                  <a:lnTo>
                    <a:pt x="97155" y="194310"/>
                  </a:lnTo>
                  <a:lnTo>
                    <a:pt x="119062" y="191452"/>
                  </a:lnTo>
                  <a:lnTo>
                    <a:pt x="139065" y="184785"/>
                  </a:lnTo>
                  <a:lnTo>
                    <a:pt x="158115" y="173355"/>
                  </a:lnTo>
                  <a:lnTo>
                    <a:pt x="172403" y="158115"/>
                  </a:lnTo>
                  <a:lnTo>
                    <a:pt x="184785" y="139065"/>
                  </a:lnTo>
                  <a:lnTo>
                    <a:pt x="191453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257472" y="2682240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0"/>
                  </a:moveTo>
                  <a:lnTo>
                    <a:pt x="112395" y="112395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257472" y="2682240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112395"/>
                  </a:moveTo>
                  <a:lnTo>
                    <a:pt x="11239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6770370" y="18840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8713470" y="18840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6770370" y="24098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8713470" y="24098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6770370" y="29365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713470" y="29365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9159240" y="18840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11127105" y="18840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9159240" y="24098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11127105" y="24098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9159240" y="29365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11127105" y="29365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7316152" y="2347912"/>
              <a:ext cx="133350" cy="1333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7378065" y="24098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8187690" y="24098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9825990" y="2671762"/>
              <a:ext cx="133350" cy="1333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9887902" y="27336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9887902" y="20212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10406062" y="27336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10406062" y="27336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10243185" y="26679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10374630" y="27993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10243185" y="27993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10374630" y="26679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730179" y="17140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029514" y="17140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28438" y="21997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382954" y="3136582"/>
              <a:ext cx="7274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∥ B：F = 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736270" y="20378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478969" y="255603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760950" y="3136582"/>
              <a:ext cx="781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⊥ B：F 最大</a:t>
              </a:r>
            </a:p>
          </p:txBody>
        </p:sp>
      </p:grpSp>
      <p:grpSp>
        <p:nvGrpSpPr>
          <p:cNvPr id="97" name="c2-table-2"/>
          <p:cNvGrpSpPr/>
          <p:nvPr/>
        </p:nvGrpSpPr>
        <p:grpSpPr>
          <a:xfrm>
            <a:off x="6243447" y="3550920"/>
            <a:ext cx="5415153" cy="2170461"/>
            <a:chOff x="6243447" y="3550920"/>
            <a:chExt cx="5415153" cy="2170461"/>
          </a:xfrm>
        </p:grpSpPr>
        <p:sp>
          <p:nvSpPr>
            <p:cNvPr id="78" name="Rectangle 78"/>
            <p:cNvSpPr/>
            <p:nvPr/>
          </p:nvSpPr>
          <p:spPr>
            <a:xfrm>
              <a:off x="6248400" y="355092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589520" y="36680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磁场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157296" y="3668078"/>
              <a:ext cx="568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的量级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343079" y="405003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地球表面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318688" y="4050030"/>
              <a:ext cx="816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5×10⁻⁵ T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248400" y="43091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248400" y="431387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343079" y="443103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冰箱贴一类的小永磁体表面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318688" y="4431030"/>
              <a:ext cx="816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5×10⁻³ T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248400" y="46901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343079" y="481203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实验室电磁铁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318688" y="4812030"/>
              <a:ext cx="4388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1～2 T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248400" y="5072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6248400" y="507682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343079" y="519398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医用核磁共振成像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318688" y="5193983"/>
              <a:ext cx="594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1.5～3 T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6248400" y="3550920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9219248" y="355092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243447" y="5530691"/>
              <a:ext cx="21650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另一个常见单位是高斯，1 T = 10⁴ G</a:t>
              </a:r>
            </a:p>
          </p:txBody>
        </p:sp>
      </p:grpSp>
      <p:grpSp>
        <p:nvGrpSpPr>
          <p:cNvPr id="10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8" name="Rectangle 9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1041273" y="6039326"/>
              <a:ext cx="99720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在磁场中的地位相当于电场中的 E，二者都用试验电荷的受力来定义；区别在于磁力还与电荷的速度有关，而且总是垂直于速度。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013778" cy="3351847"/>
            <a:chOff x="667512" y="1835468"/>
            <a:chExt cx="401377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70887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毕奥-萨伐尔定律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038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5.3，本章计算量最大的一节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电流元的磁场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运动电荷的磁场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直线电流与圆电流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组合电流的四道练习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16209" cy="909257"/>
            <a:chOff x="520446" y="342900"/>
            <a:chExt cx="73162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毕奥-萨伐尔定律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162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毕奥-萨伐尔定律：电流元 Idl 在 P 点产生的 dB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g_bs"/>
          <p:cNvGrpSpPr/>
          <p:nvPr/>
        </p:nvGrpSpPr>
        <p:grpSpPr>
          <a:xfrm>
            <a:off x="909638" y="1776412"/>
            <a:ext cx="4462463" cy="2257425"/>
            <a:chOff x="909638" y="1776412"/>
            <a:chExt cx="4462463" cy="2257425"/>
          </a:xfrm>
        </p:grpSpPr>
        <p:sp>
          <p:nvSpPr>
            <p:cNvPr id="7" name="Freeform 7"/>
            <p:cNvSpPr/>
            <p:nvPr/>
          </p:nvSpPr>
          <p:spPr>
            <a:xfrm>
              <a:off x="928688" y="1776412"/>
              <a:ext cx="2353628" cy="2257425"/>
            </a:xfrm>
            <a:custGeom>
              <a:avLst/>
              <a:gdLst/>
              <a:ahLst/>
              <a:cxnLst/>
              <a:rect l="l" t="t" r="r" b="b"/>
              <a:pathLst>
                <a:path w="2353628" h="2257425">
                  <a:moveTo>
                    <a:pt x="0" y="2226945"/>
                  </a:moveTo>
                  <a:lnTo>
                    <a:pt x="26670" y="2232660"/>
                  </a:lnTo>
                  <a:lnTo>
                    <a:pt x="66675" y="2240280"/>
                  </a:lnTo>
                  <a:lnTo>
                    <a:pt x="106680" y="2246948"/>
                  </a:lnTo>
                  <a:lnTo>
                    <a:pt x="147638" y="2252662"/>
                  </a:lnTo>
                  <a:lnTo>
                    <a:pt x="187643" y="2255520"/>
                  </a:lnTo>
                  <a:lnTo>
                    <a:pt x="227648" y="2257425"/>
                  </a:lnTo>
                  <a:lnTo>
                    <a:pt x="268605" y="2254568"/>
                  </a:lnTo>
                  <a:lnTo>
                    <a:pt x="308610" y="2249805"/>
                  </a:lnTo>
                  <a:lnTo>
                    <a:pt x="349567" y="2240280"/>
                  </a:lnTo>
                  <a:lnTo>
                    <a:pt x="389573" y="2227898"/>
                  </a:lnTo>
                  <a:lnTo>
                    <a:pt x="429577" y="2210752"/>
                  </a:lnTo>
                  <a:lnTo>
                    <a:pt x="470535" y="2188845"/>
                  </a:lnTo>
                  <a:lnTo>
                    <a:pt x="510540" y="2162175"/>
                  </a:lnTo>
                  <a:lnTo>
                    <a:pt x="550545" y="2131695"/>
                  </a:lnTo>
                  <a:lnTo>
                    <a:pt x="591502" y="2095500"/>
                  </a:lnTo>
                  <a:lnTo>
                    <a:pt x="631508" y="2054542"/>
                  </a:lnTo>
                  <a:lnTo>
                    <a:pt x="671512" y="2008822"/>
                  </a:lnTo>
                  <a:lnTo>
                    <a:pt x="712470" y="1959292"/>
                  </a:lnTo>
                  <a:lnTo>
                    <a:pt x="752475" y="1904047"/>
                  </a:lnTo>
                  <a:lnTo>
                    <a:pt x="792480" y="1844992"/>
                  </a:lnTo>
                  <a:lnTo>
                    <a:pt x="833438" y="1781175"/>
                  </a:lnTo>
                  <a:lnTo>
                    <a:pt x="874395" y="1714500"/>
                  </a:lnTo>
                  <a:lnTo>
                    <a:pt x="914400" y="1644015"/>
                  </a:lnTo>
                  <a:lnTo>
                    <a:pt x="954405" y="1569720"/>
                  </a:lnTo>
                  <a:lnTo>
                    <a:pt x="995362" y="1493520"/>
                  </a:lnTo>
                  <a:lnTo>
                    <a:pt x="1035367" y="1414462"/>
                  </a:lnTo>
                  <a:lnTo>
                    <a:pt x="1075372" y="1334453"/>
                  </a:lnTo>
                  <a:lnTo>
                    <a:pt x="1115378" y="1252538"/>
                  </a:lnTo>
                  <a:lnTo>
                    <a:pt x="1156335" y="1170622"/>
                  </a:lnTo>
                  <a:lnTo>
                    <a:pt x="1196340" y="1086803"/>
                  </a:lnTo>
                  <a:lnTo>
                    <a:pt x="1236345" y="1004888"/>
                  </a:lnTo>
                  <a:lnTo>
                    <a:pt x="1277302" y="922972"/>
                  </a:lnTo>
                  <a:lnTo>
                    <a:pt x="1317308" y="842962"/>
                  </a:lnTo>
                  <a:lnTo>
                    <a:pt x="1358265" y="763905"/>
                  </a:lnTo>
                  <a:lnTo>
                    <a:pt x="1398270" y="687705"/>
                  </a:lnTo>
                  <a:lnTo>
                    <a:pt x="1439228" y="613410"/>
                  </a:lnTo>
                  <a:lnTo>
                    <a:pt x="1479232" y="542925"/>
                  </a:lnTo>
                  <a:lnTo>
                    <a:pt x="1519238" y="476250"/>
                  </a:lnTo>
                  <a:lnTo>
                    <a:pt x="1560195" y="412433"/>
                  </a:lnTo>
                  <a:lnTo>
                    <a:pt x="1600200" y="353377"/>
                  </a:lnTo>
                  <a:lnTo>
                    <a:pt x="1640205" y="298133"/>
                  </a:lnTo>
                  <a:lnTo>
                    <a:pt x="1681162" y="248602"/>
                  </a:lnTo>
                  <a:lnTo>
                    <a:pt x="1721168" y="202883"/>
                  </a:lnTo>
                  <a:lnTo>
                    <a:pt x="1761172" y="161925"/>
                  </a:lnTo>
                  <a:lnTo>
                    <a:pt x="1802130" y="125730"/>
                  </a:lnTo>
                  <a:lnTo>
                    <a:pt x="1842135" y="95250"/>
                  </a:lnTo>
                  <a:lnTo>
                    <a:pt x="1883092" y="68580"/>
                  </a:lnTo>
                  <a:lnTo>
                    <a:pt x="1923097" y="46673"/>
                  </a:lnTo>
                  <a:lnTo>
                    <a:pt x="1963103" y="29527"/>
                  </a:lnTo>
                  <a:lnTo>
                    <a:pt x="2004060" y="17145"/>
                  </a:lnTo>
                  <a:lnTo>
                    <a:pt x="2044065" y="7620"/>
                  </a:lnTo>
                  <a:lnTo>
                    <a:pt x="2084070" y="2858"/>
                  </a:lnTo>
                  <a:lnTo>
                    <a:pt x="2125028" y="0"/>
                  </a:lnTo>
                  <a:lnTo>
                    <a:pt x="2165032" y="1905"/>
                  </a:lnTo>
                  <a:lnTo>
                    <a:pt x="2205038" y="4762"/>
                  </a:lnTo>
                  <a:lnTo>
                    <a:pt x="2245995" y="10477"/>
                  </a:lnTo>
                  <a:lnTo>
                    <a:pt x="2286000" y="17145"/>
                  </a:lnTo>
                  <a:lnTo>
                    <a:pt x="2326005" y="24765"/>
                  </a:lnTo>
                  <a:lnTo>
                    <a:pt x="2353628" y="3048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946910" y="2825115"/>
              <a:ext cx="198120" cy="401002"/>
            </a:xfrm>
            <a:custGeom>
              <a:avLst/>
              <a:gdLst/>
              <a:ahLst/>
              <a:cxnLst/>
              <a:rect l="l" t="t" r="r" b="b"/>
              <a:pathLst>
                <a:path w="198120" h="401002">
                  <a:moveTo>
                    <a:pt x="0" y="401002"/>
                  </a:moveTo>
                  <a:lnTo>
                    <a:pt x="198120" y="0"/>
                  </a:lnTo>
                </a:path>
              </a:pathLst>
            </a:custGeom>
            <a:noFill/>
            <a:ln w="42862">
              <a:solidFill>
                <a:srgbClr val="F26B3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102168" y="2739390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4773" y="0"/>
                  </a:moveTo>
                  <a:lnTo>
                    <a:pt x="85725" y="106680"/>
                  </a:lnTo>
                  <a:lnTo>
                    <a:pt x="0" y="6477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047875" y="3051810"/>
              <a:ext cx="2471738" cy="133350"/>
            </a:xfrm>
            <a:custGeom>
              <a:avLst/>
              <a:gdLst/>
              <a:ahLst/>
              <a:cxnLst/>
              <a:rect l="l" t="t" r="r" b="b"/>
              <a:pathLst>
                <a:path w="2471738" h="133350">
                  <a:moveTo>
                    <a:pt x="0" y="0"/>
                  </a:moveTo>
                  <a:lnTo>
                    <a:pt x="2471738" y="13335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516755" y="3137535"/>
              <a:ext cx="98108" cy="95250"/>
            </a:xfrm>
            <a:custGeom>
              <a:avLst/>
              <a:gdLst/>
              <a:ahLst/>
              <a:cxnLst/>
              <a:rect l="l" t="t" r="r" b="b"/>
              <a:pathLst>
                <a:path w="98108" h="95250">
                  <a:moveTo>
                    <a:pt x="98108" y="52388"/>
                  </a:moveTo>
                  <a:lnTo>
                    <a:pt x="0" y="95250"/>
                  </a:lnTo>
                  <a:lnTo>
                    <a:pt x="4762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4895850" y="2790825"/>
              <a:ext cx="226695" cy="228600"/>
            </a:xfrm>
            <a:custGeom>
              <a:avLst/>
              <a:gdLst/>
              <a:ahLst/>
              <a:cxnLst/>
              <a:rect l="l" t="t" r="r" b="b"/>
              <a:pathLst>
                <a:path w="226695" h="228600">
                  <a:moveTo>
                    <a:pt x="226695" y="100012"/>
                  </a:moveTo>
                  <a:lnTo>
                    <a:pt x="225743" y="88583"/>
                  </a:lnTo>
                  <a:lnTo>
                    <a:pt x="217170" y="64770"/>
                  </a:lnTo>
                  <a:lnTo>
                    <a:pt x="202882" y="42862"/>
                  </a:lnTo>
                  <a:lnTo>
                    <a:pt x="185738" y="24765"/>
                  </a:lnTo>
                  <a:lnTo>
                    <a:pt x="163830" y="11430"/>
                  </a:lnTo>
                  <a:lnTo>
                    <a:pt x="140018" y="2858"/>
                  </a:lnTo>
                  <a:lnTo>
                    <a:pt x="114300" y="0"/>
                  </a:lnTo>
                  <a:lnTo>
                    <a:pt x="88582" y="2858"/>
                  </a:lnTo>
                  <a:lnTo>
                    <a:pt x="64770" y="11430"/>
                  </a:lnTo>
                  <a:lnTo>
                    <a:pt x="42862" y="24765"/>
                  </a:lnTo>
                  <a:lnTo>
                    <a:pt x="24765" y="42862"/>
                  </a:lnTo>
                  <a:lnTo>
                    <a:pt x="11430" y="64770"/>
                  </a:lnTo>
                  <a:lnTo>
                    <a:pt x="2857" y="88583"/>
                  </a:lnTo>
                  <a:lnTo>
                    <a:pt x="0" y="114300"/>
                  </a:lnTo>
                  <a:lnTo>
                    <a:pt x="2857" y="140017"/>
                  </a:lnTo>
                  <a:lnTo>
                    <a:pt x="11430" y="163830"/>
                  </a:lnTo>
                  <a:lnTo>
                    <a:pt x="24765" y="185738"/>
                  </a:lnTo>
                  <a:lnTo>
                    <a:pt x="42862" y="203835"/>
                  </a:lnTo>
                  <a:lnTo>
                    <a:pt x="64770" y="217170"/>
                  </a:lnTo>
                  <a:lnTo>
                    <a:pt x="88582" y="225742"/>
                  </a:lnTo>
                  <a:lnTo>
                    <a:pt x="114300" y="228600"/>
                  </a:lnTo>
                  <a:lnTo>
                    <a:pt x="140018" y="225742"/>
                  </a:lnTo>
                  <a:lnTo>
                    <a:pt x="163830" y="217170"/>
                  </a:lnTo>
                  <a:lnTo>
                    <a:pt x="185738" y="203835"/>
                  </a:lnTo>
                  <a:lnTo>
                    <a:pt x="202882" y="185738"/>
                  </a:lnTo>
                  <a:lnTo>
                    <a:pt x="217170" y="163830"/>
                  </a:lnTo>
                  <a:lnTo>
                    <a:pt x="225743" y="140017"/>
                  </a:lnTo>
                  <a:lnTo>
                    <a:pt x="226695" y="12858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942522" y="2837498"/>
              <a:ext cx="135255" cy="135255"/>
            </a:xfrm>
            <a:custGeom>
              <a:avLst/>
              <a:gdLst/>
              <a:ahLst/>
              <a:cxnLst/>
              <a:rect l="l" t="t" r="r" b="b"/>
              <a:pathLst>
                <a:path w="135255" h="135255">
                  <a:moveTo>
                    <a:pt x="0" y="0"/>
                  </a:moveTo>
                  <a:lnTo>
                    <a:pt x="135255" y="13525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942522" y="2837498"/>
              <a:ext cx="135255" cy="135255"/>
            </a:xfrm>
            <a:custGeom>
              <a:avLst/>
              <a:gdLst/>
              <a:ahLst/>
              <a:cxnLst/>
              <a:rect l="l" t="t" r="r" b="b"/>
              <a:pathLst>
                <a:path w="135255" h="135255">
                  <a:moveTo>
                    <a:pt x="0" y="135255"/>
                  </a:moveTo>
                  <a:lnTo>
                    <a:pt x="13525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155508" y="2835592"/>
              <a:ext cx="125730" cy="214312"/>
            </a:xfrm>
            <a:custGeom>
              <a:avLst/>
              <a:gdLst/>
              <a:ahLst/>
              <a:cxnLst/>
              <a:rect l="l" t="t" r="r" b="b"/>
              <a:pathLst>
                <a:path w="125730" h="214312">
                  <a:moveTo>
                    <a:pt x="125730" y="214312"/>
                  </a:moveTo>
                  <a:lnTo>
                    <a:pt x="125730" y="210503"/>
                  </a:lnTo>
                  <a:lnTo>
                    <a:pt x="124777" y="192405"/>
                  </a:lnTo>
                  <a:lnTo>
                    <a:pt x="122872" y="175260"/>
                  </a:lnTo>
                  <a:lnTo>
                    <a:pt x="119062" y="157162"/>
                  </a:lnTo>
                  <a:lnTo>
                    <a:pt x="114300" y="140017"/>
                  </a:lnTo>
                  <a:lnTo>
                    <a:pt x="107632" y="122873"/>
                  </a:lnTo>
                  <a:lnTo>
                    <a:pt x="100965" y="106680"/>
                  </a:lnTo>
                  <a:lnTo>
                    <a:pt x="91440" y="90488"/>
                  </a:lnTo>
                  <a:lnTo>
                    <a:pt x="81915" y="75248"/>
                  </a:lnTo>
                  <a:lnTo>
                    <a:pt x="71438" y="60960"/>
                  </a:lnTo>
                  <a:lnTo>
                    <a:pt x="60007" y="46673"/>
                  </a:lnTo>
                  <a:lnTo>
                    <a:pt x="46672" y="34290"/>
                  </a:lnTo>
                  <a:lnTo>
                    <a:pt x="33338" y="22860"/>
                  </a:lnTo>
                  <a:lnTo>
                    <a:pt x="18097" y="11430"/>
                  </a:lnTo>
                  <a:lnTo>
                    <a:pt x="3810" y="1905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09638" y="39957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290888" y="1804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936432" y="323469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2188845" y="27222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028825" y="30460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624388" y="3186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591050" y="315277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119688" y="29003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119688" y="29003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927282" y="28222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082540" y="29784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4927282" y="29784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082540" y="28222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276475" y="30594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2138362" y="28241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35075" y="2789396"/>
              <a:ext cx="1969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Idl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81641" y="28970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15535" y="334851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81598" y="2643664"/>
              <a:ext cx="190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dB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30094" y="2777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71921" y="3495675"/>
              <a:ext cx="65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</p:grpSp>
      <p:grpSp>
        <p:nvGrpSpPr>
          <p:cNvPr id="44" name="c1-callout-2"/>
          <p:cNvGrpSpPr/>
          <p:nvPr/>
        </p:nvGrpSpPr>
        <p:grpSpPr>
          <a:xfrm>
            <a:off x="533400" y="4381500"/>
            <a:ext cx="4977765" cy="851535"/>
            <a:chOff x="533400" y="4381500"/>
            <a:chExt cx="4977765" cy="851535"/>
          </a:xfrm>
        </p:grpSpPr>
        <p:sp>
          <p:nvSpPr>
            <p:cNvPr id="38" name="Rectangle 38"/>
            <p:cNvSpPr/>
            <p:nvPr/>
          </p:nvSpPr>
          <p:spPr>
            <a:xfrm>
              <a:off x="533400" y="4381500"/>
              <a:ext cx="4977765" cy="851535"/>
            </a:xfrm>
            <a:prstGeom prst="roundRect">
              <a:avLst>
                <a:gd name="adj" fmla="val 1342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4707255"/>
              <a:ext cx="200026" cy="200025"/>
              <a:chOff x="738188" y="4707255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47072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7926" y="47517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2642" y="48628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456438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 从电流元指向场点 P；dB 垂直于 Idl 和 r 决定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的平面，图中指向纸内。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formula55"/>
              <p:cNvSpPr txBox="1">
                <a:spLocks noGrp="1"/>
              </p:cNvSpPr>
              <p:nvPr/>
            </p:nvSpPr>
            <p:spPr>
              <a:xfrm>
                <a:off x="5815965" y="1524000"/>
                <a:ext cx="5842635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</m:t>
                          </m:r>
                        </m:den>
                      </m:f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Id</m:t>
                          </m:r>
                          <m:acc>
                            <m:accPr>
                              <m:chr m:val="⃗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</m:acc>
                        </m:num>
                        <m:den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formula56"/>
              <p:cNvSpPr txBox="1">
                <a:spLocks noGrp="1"/>
              </p:cNvSpPr>
              <p:nvPr/>
            </p:nvSpPr>
            <p:spPr>
              <a:xfrm>
                <a:off x="5815965" y="2331720"/>
                <a:ext cx="5842635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dB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</m:t>
                          </m:r>
                        </m:den>
                      </m:f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dl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e>
                          </m:func>
                        </m:num>
                        <m:den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55" name="c2-kv-3"/>
          <p:cNvGrpSpPr/>
          <p:nvPr/>
        </p:nvGrpSpPr>
        <p:grpSpPr>
          <a:xfrm>
            <a:off x="5808345" y="3112770"/>
            <a:ext cx="5883592" cy="1455420"/>
            <a:chOff x="5808345" y="3112770"/>
            <a:chExt cx="5883592" cy="1455420"/>
          </a:xfrm>
        </p:grpSpPr>
        <p:sp>
          <p:nvSpPr>
            <p:cNvPr id="47" name="TextBox 47"/>
            <p:cNvSpPr txBox="1"/>
            <p:nvPr/>
          </p:nvSpPr>
          <p:spPr>
            <a:xfrm>
              <a:off x="5808345" y="311277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α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52235" y="3112770"/>
              <a:ext cx="13535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Idl 与 r 的夹角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34328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808345" y="35528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52235" y="3552825"/>
              <a:ext cx="52397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右手四指由 Idl 经小于 180° 的角转向 r，拇指所指就是 dB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15965" y="387286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808345" y="399288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μ₀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52235" y="3992880"/>
              <a:ext cx="44634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真空磁导率，μ₀ = 4π×10⁻⁷ T·m/A，所以 μ₀/(4π)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10⁻⁷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formula57"/>
              <p:cNvSpPr txBox="1">
                <a:spLocks noGrp="1"/>
              </p:cNvSpPr>
              <p:nvPr/>
            </p:nvSpPr>
            <p:spPr>
              <a:xfrm>
                <a:off x="5815965" y="4699635"/>
                <a:ext cx="5842635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  <m:sup/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  <m:sup/>
                        <m:e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4π</m:t>
                              </m:r>
                            </m:den>
                          </m:f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Id</m:t>
                              </m:r>
                              <m:acc>
                                <m:accPr>
                                  <m:chr m:val="⃗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</m:acc>
                            </m:num>
                            <m:den>
                              <m:sSup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63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7" name="Rectangle 57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130" y="5728335"/>
              <a:ext cx="9997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各电流元的 dB 方向一般不同，要先分解到坐标轴，再对每个分量积分；只有所有 dB 方向都相同时，才能直接把大小相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加。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毕奥-萨伐尔定律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运动电荷的磁场：把电流元看成一群运动电荷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587968" cy="1878615"/>
            <a:chOff x="533400" y="1533525"/>
            <a:chExt cx="5587968" cy="187861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电流元里有多少电荷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51753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Idl = J dS dl = nqv dS dl = Nqv，N = n dS dl 是电流元内的载流子数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代入毕萨定律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2246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 = N · (μ₀/4π) · qv×r/r³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689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平均到每个电荷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62776"/>
              <a:ext cx="4476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Bq = dB/N，就是一个以速度 v 运动的点电荷 q 产生的磁场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59"/>
              <p:cNvSpPr txBox="1">
                <a:spLocks noGrp="1"/>
              </p:cNvSpPr>
              <p:nvPr/>
            </p:nvSpPr>
            <p:spPr>
              <a:xfrm>
                <a:off x="533400" y="3590925"/>
                <a:ext cx="5626418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⃗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acc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</m:t>
                          </m:r>
                        </m:den>
                      </m:f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  <m:acc>
                            <m:accPr>
                              <m:chr m:val="⃗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</m:acc>
                        </m:num>
                        <m:den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8" name="c1-callout-3"/>
          <p:cNvGrpSpPr/>
          <p:nvPr/>
        </p:nvGrpSpPr>
        <p:grpSpPr>
          <a:xfrm>
            <a:off x="533400" y="4398645"/>
            <a:ext cx="5626418" cy="1474470"/>
            <a:chOff x="533400" y="4398645"/>
            <a:chExt cx="5626418" cy="1474470"/>
          </a:xfrm>
        </p:grpSpPr>
        <p:sp>
          <p:nvSpPr>
            <p:cNvPr id="22" name="Rectangle 22"/>
            <p:cNvSpPr/>
            <p:nvPr/>
          </p:nvSpPr>
          <p:spPr>
            <a:xfrm>
              <a:off x="533400" y="4398645"/>
              <a:ext cx="5626418" cy="1474470"/>
            </a:xfrm>
            <a:prstGeom prst="roundRect">
              <a:avLst>
                <a:gd name="adj" fmla="val 775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26129" y="5031223"/>
              <a:ext cx="224134" cy="192560"/>
              <a:chOff x="726129" y="5031223"/>
              <a:chExt cx="224134" cy="1925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38200" y="51015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6129" y="50312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51793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4892040"/>
              <a:ext cx="4577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q 为负时 Bq 与 v×r 反向。这个式子只适用于 v 远小于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光速的情形。</a:t>
              </a:r>
            </a:p>
          </p:txBody>
        </p:sp>
      </p:grpSp>
      <p:grpSp>
        <p:nvGrpSpPr>
          <p:cNvPr id="53" name="g_moving"/>
          <p:cNvGrpSpPr/>
          <p:nvPr/>
        </p:nvGrpSpPr>
        <p:grpSpPr>
          <a:xfrm>
            <a:off x="7102119" y="1933575"/>
            <a:ext cx="4029750" cy="1500187"/>
            <a:chOff x="7102119" y="1933575"/>
            <a:chExt cx="4029750" cy="1500187"/>
          </a:xfrm>
        </p:grpSpPr>
        <p:sp>
          <p:nvSpPr>
            <p:cNvPr id="29" name="Freeform 29"/>
            <p:cNvSpPr/>
            <p:nvPr/>
          </p:nvSpPr>
          <p:spPr>
            <a:xfrm>
              <a:off x="7336155" y="2857500"/>
              <a:ext cx="1209675" cy="9525"/>
            </a:xfrm>
            <a:custGeom>
              <a:avLst/>
              <a:gdLst/>
              <a:ahLst/>
              <a:cxnLst/>
              <a:rect l="l" t="t" r="r" b="b"/>
              <a:pathLst>
                <a:path w="1209675" h="9525">
                  <a:moveTo>
                    <a:pt x="0" y="0"/>
                  </a:moveTo>
                  <a:lnTo>
                    <a:pt x="1209675" y="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545830" y="2809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336155" y="2076450"/>
              <a:ext cx="2832735" cy="777240"/>
            </a:xfrm>
            <a:custGeom>
              <a:avLst/>
              <a:gdLst/>
              <a:ahLst/>
              <a:cxnLst/>
              <a:rect l="l" t="t" r="r" b="b"/>
              <a:pathLst>
                <a:path w="2832735" h="777240">
                  <a:moveTo>
                    <a:pt x="0" y="777240"/>
                  </a:moveTo>
                  <a:lnTo>
                    <a:pt x="2832735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156508" y="2030730"/>
              <a:ext cx="104775" cy="92393"/>
            </a:xfrm>
            <a:custGeom>
              <a:avLst/>
              <a:gdLst/>
              <a:ahLst/>
              <a:cxnLst/>
              <a:rect l="l" t="t" r="r" b="b"/>
              <a:pathLst>
                <a:path w="104775" h="92393">
                  <a:moveTo>
                    <a:pt x="104775" y="20955"/>
                  </a:moveTo>
                  <a:lnTo>
                    <a:pt x="25718" y="92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88942" y="1933575"/>
              <a:ext cx="226695" cy="228600"/>
            </a:xfrm>
            <a:custGeom>
              <a:avLst/>
              <a:gdLst/>
              <a:ahLst/>
              <a:cxnLst/>
              <a:rect l="l" t="t" r="r" b="b"/>
              <a:pathLst>
                <a:path w="226695" h="228600">
                  <a:moveTo>
                    <a:pt x="226695" y="100012"/>
                  </a:moveTo>
                  <a:lnTo>
                    <a:pt x="225743" y="88583"/>
                  </a:lnTo>
                  <a:lnTo>
                    <a:pt x="217170" y="64770"/>
                  </a:lnTo>
                  <a:lnTo>
                    <a:pt x="203835" y="42862"/>
                  </a:lnTo>
                  <a:lnTo>
                    <a:pt x="185738" y="24765"/>
                  </a:lnTo>
                  <a:lnTo>
                    <a:pt x="163830" y="11430"/>
                  </a:lnTo>
                  <a:lnTo>
                    <a:pt x="140018" y="2858"/>
                  </a:lnTo>
                  <a:lnTo>
                    <a:pt x="114300" y="0"/>
                  </a:lnTo>
                  <a:lnTo>
                    <a:pt x="89535" y="2858"/>
                  </a:lnTo>
                  <a:lnTo>
                    <a:pt x="64770" y="11430"/>
                  </a:lnTo>
                  <a:lnTo>
                    <a:pt x="43815" y="24765"/>
                  </a:lnTo>
                  <a:lnTo>
                    <a:pt x="24765" y="42862"/>
                  </a:lnTo>
                  <a:lnTo>
                    <a:pt x="11430" y="64770"/>
                  </a:lnTo>
                  <a:lnTo>
                    <a:pt x="2857" y="88583"/>
                  </a:lnTo>
                  <a:lnTo>
                    <a:pt x="0" y="114300"/>
                  </a:lnTo>
                  <a:lnTo>
                    <a:pt x="2857" y="140017"/>
                  </a:lnTo>
                  <a:lnTo>
                    <a:pt x="11430" y="163830"/>
                  </a:lnTo>
                  <a:lnTo>
                    <a:pt x="24765" y="185738"/>
                  </a:lnTo>
                  <a:lnTo>
                    <a:pt x="43815" y="203835"/>
                  </a:lnTo>
                  <a:lnTo>
                    <a:pt x="64770" y="217170"/>
                  </a:lnTo>
                  <a:lnTo>
                    <a:pt x="89535" y="225742"/>
                  </a:lnTo>
                  <a:lnTo>
                    <a:pt x="114300" y="228600"/>
                  </a:lnTo>
                  <a:lnTo>
                    <a:pt x="140018" y="225742"/>
                  </a:lnTo>
                  <a:lnTo>
                    <a:pt x="163830" y="217170"/>
                  </a:lnTo>
                  <a:lnTo>
                    <a:pt x="185738" y="203835"/>
                  </a:lnTo>
                  <a:lnTo>
                    <a:pt x="203835" y="185738"/>
                  </a:lnTo>
                  <a:lnTo>
                    <a:pt x="217170" y="163830"/>
                  </a:lnTo>
                  <a:lnTo>
                    <a:pt x="225743" y="140017"/>
                  </a:lnTo>
                  <a:lnTo>
                    <a:pt x="226695" y="12858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636192" y="2780348"/>
              <a:ext cx="9525" cy="68580"/>
            </a:xfrm>
            <a:custGeom>
              <a:avLst/>
              <a:gdLst/>
              <a:ahLst/>
              <a:cxnLst/>
              <a:rect l="l" t="t" r="r" b="b"/>
              <a:pathLst>
                <a:path w="9525" h="68580">
                  <a:moveTo>
                    <a:pt x="9525" y="62865"/>
                  </a:moveTo>
                  <a:lnTo>
                    <a:pt x="9525" y="68580"/>
                  </a:lnTo>
                  <a:lnTo>
                    <a:pt x="9525" y="60008"/>
                  </a:lnTo>
                  <a:lnTo>
                    <a:pt x="8572" y="51435"/>
                  </a:lnTo>
                  <a:lnTo>
                    <a:pt x="8572" y="42862"/>
                  </a:lnTo>
                  <a:lnTo>
                    <a:pt x="6667" y="34290"/>
                  </a:lnTo>
                  <a:lnTo>
                    <a:pt x="5715" y="25718"/>
                  </a:lnTo>
                  <a:lnTo>
                    <a:pt x="3810" y="17145"/>
                  </a:lnTo>
                  <a:lnTo>
                    <a:pt x="2857" y="8573"/>
                  </a:lnTo>
                  <a:lnTo>
                    <a:pt x="0" y="0"/>
                  </a:lnTo>
                  <a:lnTo>
                    <a:pt x="1905" y="57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245668" y="2781300"/>
              <a:ext cx="152400" cy="1524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317105" y="28527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650605" y="28527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7317105" y="28527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269855" y="2043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236518" y="200977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0812780" y="2043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0812780" y="2043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0672762" y="20173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640955" y="28527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7629525" y="2767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02119" y="2976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63241" y="29570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96616" y="2214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88058" y="219075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941366" y="1937861"/>
              <a:ext cx="190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Bq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71018" y="26765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63801" y="3257550"/>
              <a:ext cx="17832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q &gt; 0：Bq 沿 v×r，垂直纸面向外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464618" y="3619500"/>
            <a:ext cx="5193982" cy="2252662"/>
            <a:chOff x="6464618" y="3619500"/>
            <a:chExt cx="5193982" cy="2252662"/>
          </a:xfrm>
        </p:grpSpPr>
        <p:sp>
          <p:nvSpPr>
            <p:cNvPr id="54" name="Rectangle 54"/>
            <p:cNvSpPr/>
            <p:nvPr/>
          </p:nvSpPr>
          <p:spPr>
            <a:xfrm>
              <a:off x="6464618" y="3619500"/>
              <a:ext cx="5193982" cy="2252662"/>
            </a:xfrm>
            <a:prstGeom prst="roundRect">
              <a:avLst>
                <a:gd name="adj" fmla="val 5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4142" y="3752850"/>
              <a:ext cx="47625" cy="19859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712268" y="38290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03428" y="38647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13295" y="38642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氢原子核处的磁场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04648" y="4225290"/>
              <a:ext cx="4225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玻尔模型中电子以 v ≈ 2.2×10⁶ m/s 在 r 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0.53×10⁻¹⁰ m 的圆轨道上运动，v ⊥ r，在核处：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04648" y="4846320"/>
              <a:ext cx="3453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μ₀ev/(4πr²) = 10⁻⁷ × 1.6×10⁻¹⁹ ×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2.2×10⁶/(0.53×10⁻¹⁰)² ≈ 12.5 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05791" y="546401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比实验室电磁铁还强，原子尺度上运动电荷的磁场相当可观。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91784" cy="909257"/>
            <a:chOff x="520446" y="342900"/>
            <a:chExt cx="64917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毕奥-萨伐尔定律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917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载流直导线：各 dB 同向，直接对大小积分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2" name="g_wire"/>
          <p:cNvGrpSpPr/>
          <p:nvPr/>
        </p:nvGrpSpPr>
        <p:grpSpPr>
          <a:xfrm>
            <a:off x="1078256" y="2108359"/>
            <a:ext cx="3793781" cy="3238976"/>
            <a:chOff x="1078256" y="2108359"/>
            <a:chExt cx="3793781" cy="3238976"/>
          </a:xfrm>
        </p:grpSpPr>
        <p:sp>
          <p:nvSpPr>
            <p:cNvPr id="7" name="Freeform 7"/>
            <p:cNvSpPr/>
            <p:nvPr/>
          </p:nvSpPr>
          <p:spPr>
            <a:xfrm>
              <a:off x="1571625" y="2354580"/>
              <a:ext cx="9525" cy="2973705"/>
            </a:xfrm>
            <a:custGeom>
              <a:avLst/>
              <a:gdLst/>
              <a:ahLst/>
              <a:cxnLst/>
              <a:rect l="l" t="t" r="r" b="b"/>
              <a:pathLst>
                <a:path w="9525" h="2973705">
                  <a:moveTo>
                    <a:pt x="0" y="297370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524000" y="22593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83055" y="2324100"/>
              <a:ext cx="2842260" cy="1891665"/>
            </a:xfrm>
            <a:custGeom>
              <a:avLst/>
              <a:gdLst/>
              <a:ahLst/>
              <a:cxnLst/>
              <a:rect l="l" t="t" r="r" b="b"/>
              <a:pathLst>
                <a:path w="2842260" h="1891665">
                  <a:moveTo>
                    <a:pt x="0" y="0"/>
                  </a:moveTo>
                  <a:lnTo>
                    <a:pt x="2842260" y="189166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584960" y="4228148"/>
              <a:ext cx="2838450" cy="1109662"/>
            </a:xfrm>
            <a:custGeom>
              <a:avLst/>
              <a:gdLst/>
              <a:ahLst/>
              <a:cxnLst/>
              <a:rect l="l" t="t" r="r" b="b"/>
              <a:pathLst>
                <a:path w="2838450" h="1109662">
                  <a:moveTo>
                    <a:pt x="0" y="1109662"/>
                  </a:moveTo>
                  <a:lnTo>
                    <a:pt x="283845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1585912" y="4223385"/>
              <a:ext cx="2836545" cy="9525"/>
            </a:xfrm>
            <a:custGeom>
              <a:avLst/>
              <a:gdLst/>
              <a:ahLst/>
              <a:cxnLst/>
              <a:rect l="l" t="t" r="r" b="b"/>
              <a:pathLst>
                <a:path w="2836545" h="9525">
                  <a:moveTo>
                    <a:pt x="0" y="0"/>
                  </a:moveTo>
                  <a:lnTo>
                    <a:pt x="283654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1571625" y="3109912"/>
              <a:ext cx="9525" cy="258128"/>
            </a:xfrm>
            <a:custGeom>
              <a:avLst/>
              <a:gdLst/>
              <a:ahLst/>
              <a:cxnLst/>
              <a:rect l="l" t="t" r="r" b="b"/>
              <a:pathLst>
                <a:path w="9525" h="258128">
                  <a:moveTo>
                    <a:pt x="0" y="258128"/>
                  </a:moveTo>
                  <a:lnTo>
                    <a:pt x="0" y="0"/>
                  </a:lnTo>
                </a:path>
              </a:pathLst>
            </a:custGeom>
            <a:noFill/>
            <a:ln w="66675">
              <a:solidFill>
                <a:srgbClr val="F26B3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231582" y="3384232"/>
              <a:ext cx="9525" cy="729615"/>
            </a:xfrm>
            <a:custGeom>
              <a:avLst/>
              <a:gdLst/>
              <a:ahLst/>
              <a:cxnLst/>
              <a:rect l="l" t="t" r="r" b="b"/>
              <a:pathLst>
                <a:path w="9525" h="729615">
                  <a:moveTo>
                    <a:pt x="0" y="72961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183958" y="32889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183958" y="41138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584960" y="3243262"/>
              <a:ext cx="2747962" cy="944880"/>
            </a:xfrm>
            <a:custGeom>
              <a:avLst/>
              <a:gdLst/>
              <a:ahLst/>
              <a:cxnLst/>
              <a:rect l="l" t="t" r="r" b="b"/>
              <a:pathLst>
                <a:path w="2747962" h="944880">
                  <a:moveTo>
                    <a:pt x="0" y="0"/>
                  </a:moveTo>
                  <a:lnTo>
                    <a:pt x="2747962" y="94488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317682" y="4142422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76200"/>
                  </a:moveTo>
                  <a:lnTo>
                    <a:pt x="0" y="90488"/>
                  </a:lnTo>
                  <a:lnTo>
                    <a:pt x="31433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652010" y="4115752"/>
              <a:ext cx="213360" cy="215265"/>
            </a:xfrm>
            <a:custGeom>
              <a:avLst/>
              <a:gdLst/>
              <a:ahLst/>
              <a:cxnLst/>
              <a:rect l="l" t="t" r="r" b="b"/>
              <a:pathLst>
                <a:path w="213360" h="215265">
                  <a:moveTo>
                    <a:pt x="213360" y="93345"/>
                  </a:moveTo>
                  <a:lnTo>
                    <a:pt x="212408" y="83820"/>
                  </a:lnTo>
                  <a:lnTo>
                    <a:pt x="203835" y="60960"/>
                  </a:lnTo>
                  <a:lnTo>
                    <a:pt x="191453" y="40957"/>
                  </a:lnTo>
                  <a:lnTo>
                    <a:pt x="174308" y="23812"/>
                  </a:lnTo>
                  <a:lnTo>
                    <a:pt x="154305" y="10477"/>
                  </a:lnTo>
                  <a:lnTo>
                    <a:pt x="131445" y="2857"/>
                  </a:lnTo>
                  <a:lnTo>
                    <a:pt x="107633" y="0"/>
                  </a:lnTo>
                  <a:lnTo>
                    <a:pt x="83820" y="2857"/>
                  </a:lnTo>
                  <a:lnTo>
                    <a:pt x="60960" y="10477"/>
                  </a:lnTo>
                  <a:lnTo>
                    <a:pt x="40005" y="23812"/>
                  </a:lnTo>
                  <a:lnTo>
                    <a:pt x="22860" y="40957"/>
                  </a:lnTo>
                  <a:lnTo>
                    <a:pt x="10478" y="60960"/>
                  </a:lnTo>
                  <a:lnTo>
                    <a:pt x="2858" y="83820"/>
                  </a:lnTo>
                  <a:lnTo>
                    <a:pt x="0" y="107632"/>
                  </a:lnTo>
                  <a:lnTo>
                    <a:pt x="2858" y="131445"/>
                  </a:lnTo>
                  <a:lnTo>
                    <a:pt x="10478" y="154305"/>
                  </a:lnTo>
                  <a:lnTo>
                    <a:pt x="22860" y="174307"/>
                  </a:lnTo>
                  <a:lnTo>
                    <a:pt x="40005" y="191452"/>
                  </a:lnTo>
                  <a:lnTo>
                    <a:pt x="60960" y="204788"/>
                  </a:lnTo>
                  <a:lnTo>
                    <a:pt x="83820" y="212407"/>
                  </a:lnTo>
                  <a:lnTo>
                    <a:pt x="107633" y="215265"/>
                  </a:lnTo>
                  <a:lnTo>
                    <a:pt x="131445" y="212407"/>
                  </a:lnTo>
                  <a:lnTo>
                    <a:pt x="154305" y="204788"/>
                  </a:lnTo>
                  <a:lnTo>
                    <a:pt x="174308" y="191452"/>
                  </a:lnTo>
                  <a:lnTo>
                    <a:pt x="191453" y="174307"/>
                  </a:lnTo>
                  <a:lnTo>
                    <a:pt x="203835" y="154305"/>
                  </a:lnTo>
                  <a:lnTo>
                    <a:pt x="212408" y="131445"/>
                  </a:lnTo>
                  <a:lnTo>
                    <a:pt x="213360" y="12192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695825" y="4160520"/>
              <a:ext cx="125730" cy="125730"/>
            </a:xfrm>
            <a:custGeom>
              <a:avLst/>
              <a:gdLst/>
              <a:ahLst/>
              <a:cxnLst/>
              <a:rect l="l" t="t" r="r" b="b"/>
              <a:pathLst>
                <a:path w="125730" h="125730">
                  <a:moveTo>
                    <a:pt x="0" y="0"/>
                  </a:moveTo>
                  <a:lnTo>
                    <a:pt x="125730" y="12573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695825" y="4160520"/>
              <a:ext cx="125730" cy="125730"/>
            </a:xfrm>
            <a:custGeom>
              <a:avLst/>
              <a:gdLst/>
              <a:ahLst/>
              <a:cxnLst/>
              <a:rect l="l" t="t" r="r" b="b"/>
              <a:pathLst>
                <a:path w="125730" h="125730">
                  <a:moveTo>
                    <a:pt x="0" y="125730"/>
                  </a:moveTo>
                  <a:lnTo>
                    <a:pt x="12573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585912" y="3024188"/>
              <a:ext cx="200025" cy="270510"/>
            </a:xfrm>
            <a:custGeom>
              <a:avLst/>
              <a:gdLst/>
              <a:ahLst/>
              <a:cxnLst/>
              <a:rect l="l" t="t" r="r" b="b"/>
              <a:pathLst>
                <a:path w="200025" h="270510">
                  <a:moveTo>
                    <a:pt x="192405" y="270510"/>
                  </a:moveTo>
                  <a:lnTo>
                    <a:pt x="196215" y="256222"/>
                  </a:lnTo>
                  <a:lnTo>
                    <a:pt x="200025" y="227647"/>
                  </a:lnTo>
                  <a:lnTo>
                    <a:pt x="200025" y="198120"/>
                  </a:lnTo>
                  <a:lnTo>
                    <a:pt x="196215" y="168592"/>
                  </a:lnTo>
                  <a:lnTo>
                    <a:pt x="187642" y="140970"/>
                  </a:lnTo>
                  <a:lnTo>
                    <a:pt x="176212" y="114300"/>
                  </a:lnTo>
                  <a:lnTo>
                    <a:pt x="160973" y="89535"/>
                  </a:lnTo>
                  <a:lnTo>
                    <a:pt x="141923" y="66675"/>
                  </a:lnTo>
                  <a:lnTo>
                    <a:pt x="120967" y="47625"/>
                  </a:lnTo>
                  <a:lnTo>
                    <a:pt x="97155" y="30480"/>
                  </a:lnTo>
                  <a:lnTo>
                    <a:pt x="70485" y="17145"/>
                  </a:lnTo>
                  <a:lnTo>
                    <a:pt x="43815" y="7620"/>
                  </a:lnTo>
                  <a:lnTo>
                    <a:pt x="15240" y="953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585912" y="5074920"/>
              <a:ext cx="229552" cy="157162"/>
            </a:xfrm>
            <a:custGeom>
              <a:avLst/>
              <a:gdLst/>
              <a:ahLst/>
              <a:cxnLst/>
              <a:rect l="l" t="t" r="r" b="b"/>
              <a:pathLst>
                <a:path w="229552" h="157162">
                  <a:moveTo>
                    <a:pt x="229552" y="157162"/>
                  </a:moveTo>
                  <a:lnTo>
                    <a:pt x="226695" y="148590"/>
                  </a:lnTo>
                  <a:lnTo>
                    <a:pt x="215265" y="128588"/>
                  </a:lnTo>
                  <a:lnTo>
                    <a:pt x="202883" y="109538"/>
                  </a:lnTo>
                  <a:lnTo>
                    <a:pt x="188595" y="91440"/>
                  </a:lnTo>
                  <a:lnTo>
                    <a:pt x="172402" y="75248"/>
                  </a:lnTo>
                  <a:lnTo>
                    <a:pt x="155258" y="60008"/>
                  </a:lnTo>
                  <a:lnTo>
                    <a:pt x="137160" y="45720"/>
                  </a:lnTo>
                  <a:lnTo>
                    <a:pt x="118110" y="34290"/>
                  </a:lnTo>
                  <a:lnTo>
                    <a:pt x="97155" y="23812"/>
                  </a:lnTo>
                  <a:lnTo>
                    <a:pt x="76200" y="14288"/>
                  </a:lnTo>
                  <a:lnTo>
                    <a:pt x="54292" y="7620"/>
                  </a:lnTo>
                  <a:lnTo>
                    <a:pt x="31433" y="2858"/>
                  </a:lnTo>
                  <a:lnTo>
                    <a:pt x="8573" y="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585912" y="2156460"/>
              <a:ext cx="146685" cy="236220"/>
            </a:xfrm>
            <a:custGeom>
              <a:avLst/>
              <a:gdLst/>
              <a:ahLst/>
              <a:cxnLst/>
              <a:rect l="l" t="t" r="r" b="b"/>
              <a:pathLst>
                <a:path w="146685" h="236220">
                  <a:moveTo>
                    <a:pt x="126683" y="236220"/>
                  </a:moveTo>
                  <a:lnTo>
                    <a:pt x="132398" y="227648"/>
                  </a:lnTo>
                  <a:lnTo>
                    <a:pt x="140970" y="204788"/>
                  </a:lnTo>
                  <a:lnTo>
                    <a:pt x="145733" y="180023"/>
                  </a:lnTo>
                  <a:lnTo>
                    <a:pt x="146685" y="155257"/>
                  </a:lnTo>
                  <a:lnTo>
                    <a:pt x="143827" y="130492"/>
                  </a:lnTo>
                  <a:lnTo>
                    <a:pt x="138112" y="106680"/>
                  </a:lnTo>
                  <a:lnTo>
                    <a:pt x="127635" y="83820"/>
                  </a:lnTo>
                  <a:lnTo>
                    <a:pt x="114300" y="62865"/>
                  </a:lnTo>
                  <a:lnTo>
                    <a:pt x="98108" y="43815"/>
                  </a:lnTo>
                  <a:lnTo>
                    <a:pt x="79058" y="28575"/>
                  </a:lnTo>
                  <a:lnTo>
                    <a:pt x="57150" y="15240"/>
                  </a:lnTo>
                  <a:lnTo>
                    <a:pt x="34290" y="6667"/>
                  </a:lnTo>
                  <a:lnTo>
                    <a:pt x="10477" y="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566862" y="53378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566862" y="22402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566862" y="23117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4431982" y="42186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566862" y="53378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431982" y="42186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566862" y="42186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431982" y="42186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566862" y="33775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566862" y="30908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226820" y="42186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226820" y="32699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566862" y="32337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4431982" y="42186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4398645" y="41852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4862512" y="42186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4862512" y="42186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4681538" y="41452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4827270" y="42919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4681538" y="42919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4827270" y="41452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769745" y="33032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566862" y="30184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817370" y="52397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566862" y="50692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701165" y="24003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566862" y="21507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343651" y="2403634"/>
              <a:ext cx="61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002803" y="4315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32715" y="4195286"/>
              <a:ext cx="1196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52706" y="3133725"/>
              <a:ext cx="136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dl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78256" y="3661410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002803" y="34823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687513" y="3886200"/>
              <a:ext cx="178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dB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370188" y="438721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820043" y="296656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722894" y="493823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759089" y="210835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α₂</a:t>
              </a:r>
            </a:p>
          </p:txBody>
        </p:sp>
      </p:grpSp>
      <p:grpSp>
        <p:nvGrpSpPr>
          <p:cNvPr id="80" name="c2-steps-1"/>
          <p:cNvGrpSpPr/>
          <p:nvPr/>
        </p:nvGrpSpPr>
        <p:grpSpPr>
          <a:xfrm>
            <a:off x="5598795" y="1533525"/>
            <a:ext cx="6051194" cy="2398776"/>
            <a:chOff x="5598795" y="1533525"/>
            <a:chExt cx="6051194" cy="2398776"/>
          </a:xfrm>
        </p:grpSpPr>
        <p:sp>
          <p:nvSpPr>
            <p:cNvPr id="63" name="Rectangle 63"/>
            <p:cNvSpPr/>
            <p:nvPr/>
          </p:nvSpPr>
          <p:spPr>
            <a:xfrm>
              <a:off x="5732145" y="167640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5598795" y="21507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692419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5598795" y="27670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692419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5598795" y="338423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692419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010656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判方向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11799" y="1846898"/>
              <a:ext cx="556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每个电流元的 dB 都垂直纸面向里，方向相同，所以 B = ∫ μ₀I dl sinα/(4πr²)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010656" y="218360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换元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011799" y="2464118"/>
              <a:ext cx="5638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以垂足 O 为原点，l = a cot(π − α) = −a cot α，dl = a csc²α dα，r = a csc α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010656" y="279987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011799" y="3080385"/>
              <a:ext cx="53876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∫ μ₀I·a csc²α·sinα dα/(4πa² csc²α) = ∫(α₁→α₂) μ₀I sinα dα/(4πa)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010656" y="341709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011799" y="3697605"/>
              <a:ext cx="41446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 sinα dα = −cos α，得 B = μ₀I(cos α₁ − cos α₂)/(4πa)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formula63"/>
              <p:cNvSpPr txBox="1">
                <a:spLocks noGrp="1"/>
              </p:cNvSpPr>
              <p:nvPr/>
            </p:nvSpPr>
            <p:spPr>
              <a:xfrm>
                <a:off x="5598795" y="4103370"/>
                <a:ext cx="6059805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4πa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4πa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fName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β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fName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β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90" name="c2-card-3"/>
          <p:cNvGrpSpPr/>
          <p:nvPr/>
        </p:nvGrpSpPr>
        <p:grpSpPr>
          <a:xfrm>
            <a:off x="5598795" y="4746308"/>
            <a:ext cx="6059805" cy="1568768"/>
            <a:chOff x="5598795" y="4746308"/>
            <a:chExt cx="6059805" cy="1568768"/>
          </a:xfrm>
        </p:grpSpPr>
        <p:sp>
          <p:nvSpPr>
            <p:cNvPr id="82" name="Rectangle 82"/>
            <p:cNvSpPr/>
            <p:nvPr/>
          </p:nvSpPr>
          <p:spPr>
            <a:xfrm>
              <a:off x="5598795" y="4746308"/>
              <a:ext cx="6059805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5608320" y="4879658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5835015" y="494442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918454" y="497871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角怎么量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5842635" y="536543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999226" y="5304949"/>
              <a:ext cx="518121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α₁、α₂ 是导线起点、终点处，电流方向与该点到 P 的连线之间的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夹角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5842635" y="595503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999226" y="5894546"/>
              <a:ext cx="49956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 从垂线 OP 量起，β = α − 90°；端点在垂足下方时 β 取负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毕奥-萨伐尔定律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直导线公式的四种常用情形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33400" y="1524000"/>
            <a:ext cx="5842635" cy="2364105"/>
            <a:chOff x="533400" y="1524000"/>
            <a:chExt cx="5842635" cy="2364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5921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29550" y="165544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47747" y="165544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10990" y="16554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0850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一段有限长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33992" y="20850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52190" y="20850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49922" y="2085022"/>
              <a:ext cx="20329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μ₀I(cosα₁ − cosα₂)/(4πa)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793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8410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51555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无限长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7841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9661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165282" y="2393632"/>
              <a:ext cx="220122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875276" y="2515552"/>
              <a:ext cx="7821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μ₀I/(2πa)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8098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2946082"/>
              <a:ext cx="1672209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半无限长，P 在端点的垂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89568" y="305276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π/2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96614" y="305276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75276" y="3052762"/>
              <a:ext cx="7821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μ₀I/(4πa)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528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45757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8746" y="3589020"/>
              <a:ext cx="14568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在导线的延长线上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04757" y="3589020"/>
              <a:ext cx="4483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或 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22955" y="3589020"/>
              <a:ext cx="4483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或 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15852" y="35890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5842635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515552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333750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150995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card-2"/>
          <p:cNvGrpSpPr/>
          <p:nvPr/>
        </p:nvGrpSpPr>
        <p:grpSpPr>
          <a:xfrm>
            <a:off x="533400" y="4073842"/>
            <a:ext cx="5842635" cy="1594485"/>
            <a:chOff x="533400" y="4073842"/>
            <a:chExt cx="5842635" cy="1594485"/>
          </a:xfrm>
        </p:grpSpPr>
        <p:sp>
          <p:nvSpPr>
            <p:cNvPr id="39" name="Rectangle 39"/>
            <p:cNvSpPr/>
            <p:nvPr/>
          </p:nvSpPr>
          <p:spPr>
            <a:xfrm>
              <a:off x="533400" y="4073842"/>
              <a:ext cx="5842635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4207192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75335" y="42776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65543" y="43133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8096" y="4650581"/>
              <a:ext cx="37152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无限长直导线 I = 10 A，距离 a = 5 cm 处：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8096" y="4970621"/>
              <a:ext cx="492874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μ₀I/(2πa) = 2×10⁻⁷ × 10/0.05 = 4.0×10⁻⁵ T，与地磁场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同一量级。</a:t>
              </a:r>
            </a:p>
          </p:txBody>
        </p:sp>
      </p:grpSp>
      <p:grpSp>
        <p:nvGrpSpPr>
          <p:cNvPr id="86" name="g_wirefield"/>
          <p:cNvGrpSpPr/>
          <p:nvPr/>
        </p:nvGrpSpPr>
        <p:grpSpPr>
          <a:xfrm>
            <a:off x="7926705" y="1662112"/>
            <a:ext cx="2370772" cy="2583847"/>
            <a:chOff x="7926705" y="1662112"/>
            <a:chExt cx="2370772" cy="2583847"/>
          </a:xfrm>
        </p:grpSpPr>
        <p:sp>
          <p:nvSpPr>
            <p:cNvPr id="46" name="Freeform 46"/>
            <p:cNvSpPr/>
            <p:nvPr/>
          </p:nvSpPr>
          <p:spPr>
            <a:xfrm>
              <a:off x="8696325" y="2402205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80" y="401003"/>
                  </a:moveTo>
                  <a:lnTo>
                    <a:pt x="829628" y="379095"/>
                  </a:lnTo>
                  <a:lnTo>
                    <a:pt x="824865" y="342900"/>
                  </a:lnTo>
                  <a:lnTo>
                    <a:pt x="817245" y="307658"/>
                  </a:lnTo>
                  <a:lnTo>
                    <a:pt x="805815" y="273367"/>
                  </a:lnTo>
                  <a:lnTo>
                    <a:pt x="792480" y="240030"/>
                  </a:lnTo>
                  <a:lnTo>
                    <a:pt x="775335" y="207645"/>
                  </a:lnTo>
                  <a:lnTo>
                    <a:pt x="756285" y="177165"/>
                  </a:lnTo>
                  <a:lnTo>
                    <a:pt x="733425" y="147638"/>
                  </a:lnTo>
                  <a:lnTo>
                    <a:pt x="709612" y="120967"/>
                  </a:lnTo>
                  <a:lnTo>
                    <a:pt x="682943" y="97155"/>
                  </a:lnTo>
                  <a:lnTo>
                    <a:pt x="654368" y="74295"/>
                  </a:lnTo>
                  <a:lnTo>
                    <a:pt x="622935" y="55245"/>
                  </a:lnTo>
                  <a:lnTo>
                    <a:pt x="591503" y="38100"/>
                  </a:lnTo>
                  <a:lnTo>
                    <a:pt x="558165" y="24765"/>
                  </a:lnTo>
                  <a:lnTo>
                    <a:pt x="522922" y="13335"/>
                  </a:lnTo>
                  <a:lnTo>
                    <a:pt x="487680" y="5715"/>
                  </a:lnTo>
                  <a:lnTo>
                    <a:pt x="451485" y="953"/>
                  </a:lnTo>
                  <a:lnTo>
                    <a:pt x="415290" y="0"/>
                  </a:lnTo>
                  <a:lnTo>
                    <a:pt x="379095" y="953"/>
                  </a:lnTo>
                  <a:lnTo>
                    <a:pt x="342900" y="5715"/>
                  </a:lnTo>
                  <a:lnTo>
                    <a:pt x="307657" y="13335"/>
                  </a:lnTo>
                  <a:lnTo>
                    <a:pt x="273368" y="24765"/>
                  </a:lnTo>
                  <a:lnTo>
                    <a:pt x="240030" y="38100"/>
                  </a:lnTo>
                  <a:lnTo>
                    <a:pt x="207645" y="55245"/>
                  </a:lnTo>
                  <a:lnTo>
                    <a:pt x="177165" y="74295"/>
                  </a:lnTo>
                  <a:lnTo>
                    <a:pt x="148590" y="97155"/>
                  </a:lnTo>
                  <a:lnTo>
                    <a:pt x="121920" y="120967"/>
                  </a:lnTo>
                  <a:lnTo>
                    <a:pt x="97155" y="147638"/>
                  </a:lnTo>
                  <a:lnTo>
                    <a:pt x="75247" y="177165"/>
                  </a:lnTo>
                  <a:lnTo>
                    <a:pt x="55245" y="207645"/>
                  </a:lnTo>
                  <a:lnTo>
                    <a:pt x="38100" y="240030"/>
                  </a:lnTo>
                  <a:lnTo>
                    <a:pt x="24765" y="273367"/>
                  </a:lnTo>
                  <a:lnTo>
                    <a:pt x="14288" y="307658"/>
                  </a:lnTo>
                  <a:lnTo>
                    <a:pt x="6668" y="342900"/>
                  </a:lnTo>
                  <a:lnTo>
                    <a:pt x="953" y="379095"/>
                  </a:lnTo>
                  <a:lnTo>
                    <a:pt x="0" y="415290"/>
                  </a:lnTo>
                  <a:lnTo>
                    <a:pt x="953" y="451485"/>
                  </a:lnTo>
                  <a:lnTo>
                    <a:pt x="6668" y="487680"/>
                  </a:lnTo>
                  <a:lnTo>
                    <a:pt x="14288" y="522923"/>
                  </a:lnTo>
                  <a:lnTo>
                    <a:pt x="24765" y="557212"/>
                  </a:lnTo>
                  <a:lnTo>
                    <a:pt x="38100" y="590550"/>
                  </a:lnTo>
                  <a:lnTo>
                    <a:pt x="55245" y="622935"/>
                  </a:lnTo>
                  <a:lnTo>
                    <a:pt x="75247" y="653415"/>
                  </a:lnTo>
                  <a:lnTo>
                    <a:pt x="97155" y="682942"/>
                  </a:lnTo>
                  <a:lnTo>
                    <a:pt x="121920" y="709612"/>
                  </a:lnTo>
                  <a:lnTo>
                    <a:pt x="148590" y="733425"/>
                  </a:lnTo>
                  <a:lnTo>
                    <a:pt x="177165" y="756285"/>
                  </a:lnTo>
                  <a:lnTo>
                    <a:pt x="207645" y="775335"/>
                  </a:lnTo>
                  <a:lnTo>
                    <a:pt x="240030" y="792480"/>
                  </a:lnTo>
                  <a:lnTo>
                    <a:pt x="273368" y="805815"/>
                  </a:lnTo>
                  <a:lnTo>
                    <a:pt x="307657" y="817245"/>
                  </a:lnTo>
                  <a:lnTo>
                    <a:pt x="342900" y="824865"/>
                  </a:lnTo>
                  <a:lnTo>
                    <a:pt x="379095" y="829628"/>
                  </a:lnTo>
                  <a:lnTo>
                    <a:pt x="415290" y="830580"/>
                  </a:lnTo>
                  <a:lnTo>
                    <a:pt x="451485" y="829628"/>
                  </a:lnTo>
                  <a:lnTo>
                    <a:pt x="487680" y="824865"/>
                  </a:lnTo>
                  <a:lnTo>
                    <a:pt x="522922" y="817245"/>
                  </a:lnTo>
                  <a:lnTo>
                    <a:pt x="558165" y="805815"/>
                  </a:lnTo>
                  <a:lnTo>
                    <a:pt x="591503" y="792480"/>
                  </a:lnTo>
                  <a:lnTo>
                    <a:pt x="622935" y="775335"/>
                  </a:lnTo>
                  <a:lnTo>
                    <a:pt x="654368" y="756285"/>
                  </a:lnTo>
                  <a:lnTo>
                    <a:pt x="682943" y="733425"/>
                  </a:lnTo>
                  <a:lnTo>
                    <a:pt x="709612" y="709612"/>
                  </a:lnTo>
                  <a:lnTo>
                    <a:pt x="733425" y="682942"/>
                  </a:lnTo>
                  <a:lnTo>
                    <a:pt x="756285" y="653415"/>
                  </a:lnTo>
                  <a:lnTo>
                    <a:pt x="775335" y="622935"/>
                  </a:lnTo>
                  <a:lnTo>
                    <a:pt x="792480" y="590550"/>
                  </a:lnTo>
                  <a:lnTo>
                    <a:pt x="805815" y="557212"/>
                  </a:lnTo>
                  <a:lnTo>
                    <a:pt x="817245" y="522923"/>
                  </a:lnTo>
                  <a:lnTo>
                    <a:pt x="824865" y="487680"/>
                  </a:lnTo>
                  <a:lnTo>
                    <a:pt x="829628" y="451485"/>
                  </a:lnTo>
                  <a:lnTo>
                    <a:pt x="830580" y="42957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686800" y="2724150"/>
              <a:ext cx="20955" cy="165735"/>
            </a:xfrm>
            <a:custGeom>
              <a:avLst/>
              <a:gdLst/>
              <a:ahLst/>
              <a:cxnLst/>
              <a:rect l="l" t="t" r="r" b="b"/>
              <a:pathLst>
                <a:path w="20955" h="165735">
                  <a:moveTo>
                    <a:pt x="20955" y="0"/>
                  </a:moveTo>
                  <a:lnTo>
                    <a:pt x="16193" y="20955"/>
                  </a:lnTo>
                  <a:lnTo>
                    <a:pt x="10478" y="57150"/>
                  </a:lnTo>
                  <a:lnTo>
                    <a:pt x="9525" y="93345"/>
                  </a:lnTo>
                  <a:lnTo>
                    <a:pt x="10478" y="129540"/>
                  </a:lnTo>
                  <a:lnTo>
                    <a:pt x="16193" y="165735"/>
                  </a:lnTo>
                  <a:lnTo>
                    <a:pt x="0" y="94297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640128" y="2807970"/>
              <a:ext cx="92392" cy="102870"/>
            </a:xfrm>
            <a:custGeom>
              <a:avLst/>
              <a:gdLst/>
              <a:ahLst/>
              <a:cxnLst/>
              <a:rect l="l" t="t" r="r" b="b"/>
              <a:pathLst>
                <a:path w="92392" h="102870">
                  <a:moveTo>
                    <a:pt x="67628" y="102870"/>
                  </a:moveTo>
                  <a:lnTo>
                    <a:pt x="0" y="20955"/>
                  </a:lnTo>
                  <a:lnTo>
                    <a:pt x="92392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9516428" y="2745105"/>
              <a:ext cx="20955" cy="165735"/>
            </a:xfrm>
            <a:custGeom>
              <a:avLst/>
              <a:gdLst/>
              <a:ahLst/>
              <a:cxnLst/>
              <a:rect l="l" t="t" r="r" b="b"/>
              <a:pathLst>
                <a:path w="20955" h="165735">
                  <a:moveTo>
                    <a:pt x="0" y="165735"/>
                  </a:moveTo>
                  <a:lnTo>
                    <a:pt x="4762" y="144780"/>
                  </a:lnTo>
                  <a:lnTo>
                    <a:pt x="9525" y="108585"/>
                  </a:lnTo>
                  <a:lnTo>
                    <a:pt x="11430" y="72390"/>
                  </a:lnTo>
                  <a:lnTo>
                    <a:pt x="9525" y="36195"/>
                  </a:lnTo>
                  <a:lnTo>
                    <a:pt x="4762" y="0"/>
                  </a:lnTo>
                  <a:lnTo>
                    <a:pt x="20955" y="7143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490710" y="2724150"/>
              <a:ext cx="93345" cy="102870"/>
            </a:xfrm>
            <a:custGeom>
              <a:avLst/>
              <a:gdLst/>
              <a:ahLst/>
              <a:cxnLst/>
              <a:rect l="l" t="t" r="r" b="b"/>
              <a:pathLst>
                <a:path w="93345" h="102870">
                  <a:moveTo>
                    <a:pt x="25718" y="0"/>
                  </a:moveTo>
                  <a:lnTo>
                    <a:pt x="93345" y="81915"/>
                  </a:lnTo>
                  <a:lnTo>
                    <a:pt x="0" y="10287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8326755" y="2032635"/>
              <a:ext cx="1569720" cy="1570672"/>
            </a:xfrm>
            <a:custGeom>
              <a:avLst/>
              <a:gdLst/>
              <a:ahLst/>
              <a:cxnLst/>
              <a:rect l="l" t="t" r="r" b="b"/>
              <a:pathLst>
                <a:path w="1569720" h="1570672">
                  <a:moveTo>
                    <a:pt x="1569720" y="770572"/>
                  </a:moveTo>
                  <a:lnTo>
                    <a:pt x="1567815" y="716280"/>
                  </a:lnTo>
                  <a:lnTo>
                    <a:pt x="1558290" y="648652"/>
                  </a:lnTo>
                  <a:lnTo>
                    <a:pt x="1543050" y="581978"/>
                  </a:lnTo>
                  <a:lnTo>
                    <a:pt x="1523047" y="516255"/>
                  </a:lnTo>
                  <a:lnTo>
                    <a:pt x="1496377" y="453390"/>
                  </a:lnTo>
                  <a:lnTo>
                    <a:pt x="1464945" y="392430"/>
                  </a:lnTo>
                  <a:lnTo>
                    <a:pt x="1428750" y="334327"/>
                  </a:lnTo>
                  <a:lnTo>
                    <a:pt x="1386840" y="280035"/>
                  </a:lnTo>
                  <a:lnTo>
                    <a:pt x="1340167" y="229552"/>
                  </a:lnTo>
                  <a:lnTo>
                    <a:pt x="1289685" y="182880"/>
                  </a:lnTo>
                  <a:lnTo>
                    <a:pt x="1235392" y="141923"/>
                  </a:lnTo>
                  <a:lnTo>
                    <a:pt x="1177290" y="104775"/>
                  </a:lnTo>
                  <a:lnTo>
                    <a:pt x="1117282" y="73342"/>
                  </a:lnTo>
                  <a:lnTo>
                    <a:pt x="1053465" y="46673"/>
                  </a:lnTo>
                  <a:lnTo>
                    <a:pt x="988695" y="25717"/>
                  </a:lnTo>
                  <a:lnTo>
                    <a:pt x="921067" y="11430"/>
                  </a:lnTo>
                  <a:lnTo>
                    <a:pt x="853440" y="2857"/>
                  </a:lnTo>
                  <a:lnTo>
                    <a:pt x="784860" y="0"/>
                  </a:lnTo>
                  <a:lnTo>
                    <a:pt x="716280" y="2857"/>
                  </a:lnTo>
                  <a:lnTo>
                    <a:pt x="648652" y="11430"/>
                  </a:lnTo>
                  <a:lnTo>
                    <a:pt x="581977" y="25717"/>
                  </a:lnTo>
                  <a:lnTo>
                    <a:pt x="516255" y="46673"/>
                  </a:lnTo>
                  <a:lnTo>
                    <a:pt x="453390" y="73342"/>
                  </a:lnTo>
                  <a:lnTo>
                    <a:pt x="392430" y="104775"/>
                  </a:lnTo>
                  <a:lnTo>
                    <a:pt x="335280" y="141923"/>
                  </a:lnTo>
                  <a:lnTo>
                    <a:pt x="280035" y="182880"/>
                  </a:lnTo>
                  <a:lnTo>
                    <a:pt x="229552" y="229552"/>
                  </a:lnTo>
                  <a:lnTo>
                    <a:pt x="183832" y="280035"/>
                  </a:lnTo>
                  <a:lnTo>
                    <a:pt x="141922" y="334327"/>
                  </a:lnTo>
                  <a:lnTo>
                    <a:pt x="104775" y="392430"/>
                  </a:lnTo>
                  <a:lnTo>
                    <a:pt x="73342" y="453390"/>
                  </a:lnTo>
                  <a:lnTo>
                    <a:pt x="47625" y="516255"/>
                  </a:lnTo>
                  <a:lnTo>
                    <a:pt x="26670" y="581978"/>
                  </a:lnTo>
                  <a:lnTo>
                    <a:pt x="12382" y="648652"/>
                  </a:lnTo>
                  <a:lnTo>
                    <a:pt x="2857" y="716280"/>
                  </a:lnTo>
                  <a:lnTo>
                    <a:pt x="0" y="784860"/>
                  </a:lnTo>
                  <a:lnTo>
                    <a:pt x="2857" y="853440"/>
                  </a:lnTo>
                  <a:lnTo>
                    <a:pt x="12382" y="921068"/>
                  </a:lnTo>
                  <a:lnTo>
                    <a:pt x="26670" y="987743"/>
                  </a:lnTo>
                  <a:lnTo>
                    <a:pt x="47625" y="1053465"/>
                  </a:lnTo>
                  <a:lnTo>
                    <a:pt x="73342" y="1116330"/>
                  </a:lnTo>
                  <a:lnTo>
                    <a:pt x="104775" y="1177290"/>
                  </a:lnTo>
                  <a:lnTo>
                    <a:pt x="141922" y="1235393"/>
                  </a:lnTo>
                  <a:lnTo>
                    <a:pt x="183832" y="1289685"/>
                  </a:lnTo>
                  <a:lnTo>
                    <a:pt x="229552" y="1340168"/>
                  </a:lnTo>
                  <a:lnTo>
                    <a:pt x="280035" y="1386840"/>
                  </a:lnTo>
                  <a:lnTo>
                    <a:pt x="335280" y="1428750"/>
                  </a:lnTo>
                  <a:lnTo>
                    <a:pt x="392430" y="1464945"/>
                  </a:lnTo>
                  <a:lnTo>
                    <a:pt x="453390" y="1496378"/>
                  </a:lnTo>
                  <a:lnTo>
                    <a:pt x="516255" y="1523048"/>
                  </a:lnTo>
                  <a:lnTo>
                    <a:pt x="581977" y="1543050"/>
                  </a:lnTo>
                  <a:lnTo>
                    <a:pt x="648652" y="1558290"/>
                  </a:lnTo>
                  <a:lnTo>
                    <a:pt x="716280" y="1566862"/>
                  </a:lnTo>
                  <a:lnTo>
                    <a:pt x="784860" y="1570672"/>
                  </a:lnTo>
                  <a:lnTo>
                    <a:pt x="853440" y="1566862"/>
                  </a:lnTo>
                  <a:lnTo>
                    <a:pt x="921067" y="1558290"/>
                  </a:lnTo>
                  <a:lnTo>
                    <a:pt x="988695" y="1543050"/>
                  </a:lnTo>
                  <a:lnTo>
                    <a:pt x="1053465" y="1523048"/>
                  </a:lnTo>
                  <a:lnTo>
                    <a:pt x="1117282" y="1496378"/>
                  </a:lnTo>
                  <a:lnTo>
                    <a:pt x="1177290" y="1464945"/>
                  </a:lnTo>
                  <a:lnTo>
                    <a:pt x="1235392" y="1428750"/>
                  </a:lnTo>
                  <a:lnTo>
                    <a:pt x="1289685" y="1386840"/>
                  </a:lnTo>
                  <a:lnTo>
                    <a:pt x="1340167" y="1340168"/>
                  </a:lnTo>
                  <a:lnTo>
                    <a:pt x="1386840" y="1289685"/>
                  </a:lnTo>
                  <a:lnTo>
                    <a:pt x="1428750" y="1235393"/>
                  </a:lnTo>
                  <a:lnTo>
                    <a:pt x="1464945" y="1177290"/>
                  </a:lnTo>
                  <a:lnTo>
                    <a:pt x="1496377" y="1116330"/>
                  </a:lnTo>
                  <a:lnTo>
                    <a:pt x="1523047" y="1053465"/>
                  </a:lnTo>
                  <a:lnTo>
                    <a:pt x="1543050" y="987743"/>
                  </a:lnTo>
                  <a:lnTo>
                    <a:pt x="1558290" y="921068"/>
                  </a:lnTo>
                  <a:lnTo>
                    <a:pt x="1567815" y="853440"/>
                  </a:lnTo>
                  <a:lnTo>
                    <a:pt x="1569720" y="79914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326755" y="2627948"/>
              <a:ext cx="23812" cy="325755"/>
            </a:xfrm>
            <a:custGeom>
              <a:avLst/>
              <a:gdLst/>
              <a:ahLst/>
              <a:cxnLst/>
              <a:rect l="l" t="t" r="r" b="b"/>
              <a:pathLst>
                <a:path w="23812" h="325755">
                  <a:moveTo>
                    <a:pt x="23812" y="0"/>
                  </a:moveTo>
                  <a:lnTo>
                    <a:pt x="12382" y="53340"/>
                  </a:lnTo>
                  <a:lnTo>
                    <a:pt x="2857" y="120968"/>
                  </a:lnTo>
                  <a:lnTo>
                    <a:pt x="0" y="189548"/>
                  </a:lnTo>
                  <a:lnTo>
                    <a:pt x="2857" y="258128"/>
                  </a:lnTo>
                  <a:lnTo>
                    <a:pt x="12382" y="325755"/>
                  </a:lnTo>
                  <a:lnTo>
                    <a:pt x="2857" y="28575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282940" y="2903220"/>
              <a:ext cx="93345" cy="103822"/>
            </a:xfrm>
            <a:custGeom>
              <a:avLst/>
              <a:gdLst/>
              <a:ahLst/>
              <a:cxnLst/>
              <a:rect l="l" t="t" r="r" b="b"/>
              <a:pathLst>
                <a:path w="93345" h="103822">
                  <a:moveTo>
                    <a:pt x="67628" y="103822"/>
                  </a:moveTo>
                  <a:lnTo>
                    <a:pt x="0" y="20955"/>
                  </a:lnTo>
                  <a:lnTo>
                    <a:pt x="93345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9873615" y="2681288"/>
              <a:ext cx="23812" cy="325755"/>
            </a:xfrm>
            <a:custGeom>
              <a:avLst/>
              <a:gdLst/>
              <a:ahLst/>
              <a:cxnLst/>
              <a:rect l="l" t="t" r="r" b="b"/>
              <a:pathLst>
                <a:path w="23812" h="325755">
                  <a:moveTo>
                    <a:pt x="0" y="325755"/>
                  </a:moveTo>
                  <a:lnTo>
                    <a:pt x="11430" y="272415"/>
                  </a:lnTo>
                  <a:lnTo>
                    <a:pt x="20955" y="204788"/>
                  </a:lnTo>
                  <a:lnTo>
                    <a:pt x="23812" y="136208"/>
                  </a:lnTo>
                  <a:lnTo>
                    <a:pt x="20955" y="67628"/>
                  </a:lnTo>
                  <a:lnTo>
                    <a:pt x="11430" y="0"/>
                  </a:lnTo>
                  <a:lnTo>
                    <a:pt x="20003" y="4000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9847898" y="2627948"/>
              <a:ext cx="92392" cy="103823"/>
            </a:xfrm>
            <a:custGeom>
              <a:avLst/>
              <a:gdLst/>
              <a:ahLst/>
              <a:cxnLst/>
              <a:rect l="l" t="t" r="r" b="b"/>
              <a:pathLst>
                <a:path w="92392" h="103823">
                  <a:moveTo>
                    <a:pt x="25717" y="0"/>
                  </a:moveTo>
                  <a:lnTo>
                    <a:pt x="92392" y="82868"/>
                  </a:lnTo>
                  <a:lnTo>
                    <a:pt x="0" y="103823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7957185" y="1662112"/>
              <a:ext cx="2308860" cy="2310765"/>
            </a:xfrm>
            <a:custGeom>
              <a:avLst/>
              <a:gdLst/>
              <a:ahLst/>
              <a:cxnLst/>
              <a:rect l="l" t="t" r="r" b="b"/>
              <a:pathLst>
                <a:path w="2308860" h="2310765">
                  <a:moveTo>
                    <a:pt x="2308860" y="1141095"/>
                  </a:moveTo>
                  <a:lnTo>
                    <a:pt x="2305050" y="1054418"/>
                  </a:lnTo>
                  <a:lnTo>
                    <a:pt x="2291715" y="954405"/>
                  </a:lnTo>
                  <a:lnTo>
                    <a:pt x="2270760" y="856297"/>
                  </a:lnTo>
                  <a:lnTo>
                    <a:pt x="2240280" y="760095"/>
                  </a:lnTo>
                  <a:lnTo>
                    <a:pt x="2201228" y="667702"/>
                  </a:lnTo>
                  <a:lnTo>
                    <a:pt x="2154555" y="578167"/>
                  </a:lnTo>
                  <a:lnTo>
                    <a:pt x="2100263" y="492442"/>
                  </a:lnTo>
                  <a:lnTo>
                    <a:pt x="2039303" y="413385"/>
                  </a:lnTo>
                  <a:lnTo>
                    <a:pt x="1971675" y="339090"/>
                  </a:lnTo>
                  <a:lnTo>
                    <a:pt x="1897380" y="270510"/>
                  </a:lnTo>
                  <a:lnTo>
                    <a:pt x="1817370" y="209550"/>
                  </a:lnTo>
                  <a:lnTo>
                    <a:pt x="1732597" y="155258"/>
                  </a:lnTo>
                  <a:lnTo>
                    <a:pt x="1643062" y="108585"/>
                  </a:lnTo>
                  <a:lnTo>
                    <a:pt x="1549718" y="70485"/>
                  </a:lnTo>
                  <a:lnTo>
                    <a:pt x="1453515" y="40005"/>
                  </a:lnTo>
                  <a:lnTo>
                    <a:pt x="1355408" y="18098"/>
                  </a:lnTo>
                  <a:lnTo>
                    <a:pt x="1255395" y="4762"/>
                  </a:lnTo>
                  <a:lnTo>
                    <a:pt x="1154430" y="0"/>
                  </a:lnTo>
                  <a:lnTo>
                    <a:pt x="1054418" y="4762"/>
                  </a:lnTo>
                  <a:lnTo>
                    <a:pt x="954405" y="18098"/>
                  </a:lnTo>
                  <a:lnTo>
                    <a:pt x="856297" y="40005"/>
                  </a:lnTo>
                  <a:lnTo>
                    <a:pt x="760095" y="70485"/>
                  </a:lnTo>
                  <a:lnTo>
                    <a:pt x="666750" y="108585"/>
                  </a:lnTo>
                  <a:lnTo>
                    <a:pt x="577215" y="155258"/>
                  </a:lnTo>
                  <a:lnTo>
                    <a:pt x="492443" y="209550"/>
                  </a:lnTo>
                  <a:lnTo>
                    <a:pt x="412433" y="270510"/>
                  </a:lnTo>
                  <a:lnTo>
                    <a:pt x="338138" y="339090"/>
                  </a:lnTo>
                  <a:lnTo>
                    <a:pt x="269558" y="413385"/>
                  </a:lnTo>
                  <a:lnTo>
                    <a:pt x="208597" y="492442"/>
                  </a:lnTo>
                  <a:lnTo>
                    <a:pt x="154305" y="578167"/>
                  </a:lnTo>
                  <a:lnTo>
                    <a:pt x="108585" y="667702"/>
                  </a:lnTo>
                  <a:lnTo>
                    <a:pt x="69533" y="760095"/>
                  </a:lnTo>
                  <a:lnTo>
                    <a:pt x="39053" y="856297"/>
                  </a:lnTo>
                  <a:lnTo>
                    <a:pt x="18097" y="954405"/>
                  </a:lnTo>
                  <a:lnTo>
                    <a:pt x="3810" y="1054418"/>
                  </a:lnTo>
                  <a:lnTo>
                    <a:pt x="0" y="1155382"/>
                  </a:lnTo>
                  <a:lnTo>
                    <a:pt x="3810" y="1256347"/>
                  </a:lnTo>
                  <a:lnTo>
                    <a:pt x="18097" y="1356360"/>
                  </a:lnTo>
                  <a:lnTo>
                    <a:pt x="39053" y="1454468"/>
                  </a:lnTo>
                  <a:lnTo>
                    <a:pt x="69533" y="1550670"/>
                  </a:lnTo>
                  <a:lnTo>
                    <a:pt x="108585" y="1643062"/>
                  </a:lnTo>
                  <a:lnTo>
                    <a:pt x="154305" y="1732597"/>
                  </a:lnTo>
                  <a:lnTo>
                    <a:pt x="208597" y="1817370"/>
                  </a:lnTo>
                  <a:lnTo>
                    <a:pt x="269558" y="1897380"/>
                  </a:lnTo>
                  <a:lnTo>
                    <a:pt x="338138" y="1971675"/>
                  </a:lnTo>
                  <a:lnTo>
                    <a:pt x="412433" y="2040255"/>
                  </a:lnTo>
                  <a:lnTo>
                    <a:pt x="492443" y="2101215"/>
                  </a:lnTo>
                  <a:lnTo>
                    <a:pt x="577215" y="2155508"/>
                  </a:lnTo>
                  <a:lnTo>
                    <a:pt x="666750" y="2202180"/>
                  </a:lnTo>
                  <a:lnTo>
                    <a:pt x="760095" y="2240280"/>
                  </a:lnTo>
                  <a:lnTo>
                    <a:pt x="856297" y="2270760"/>
                  </a:lnTo>
                  <a:lnTo>
                    <a:pt x="954405" y="2292668"/>
                  </a:lnTo>
                  <a:lnTo>
                    <a:pt x="1054418" y="2306002"/>
                  </a:lnTo>
                  <a:lnTo>
                    <a:pt x="1154430" y="2310765"/>
                  </a:lnTo>
                  <a:lnTo>
                    <a:pt x="1255395" y="2306002"/>
                  </a:lnTo>
                  <a:lnTo>
                    <a:pt x="1355408" y="2292668"/>
                  </a:lnTo>
                  <a:lnTo>
                    <a:pt x="1453515" y="2270760"/>
                  </a:lnTo>
                  <a:lnTo>
                    <a:pt x="1549718" y="2240280"/>
                  </a:lnTo>
                  <a:lnTo>
                    <a:pt x="1643062" y="2202180"/>
                  </a:lnTo>
                  <a:lnTo>
                    <a:pt x="1732597" y="2155508"/>
                  </a:lnTo>
                  <a:lnTo>
                    <a:pt x="1817370" y="2101215"/>
                  </a:lnTo>
                  <a:lnTo>
                    <a:pt x="1897380" y="2040255"/>
                  </a:lnTo>
                  <a:lnTo>
                    <a:pt x="1971675" y="1971675"/>
                  </a:lnTo>
                  <a:lnTo>
                    <a:pt x="2039303" y="1897380"/>
                  </a:lnTo>
                  <a:lnTo>
                    <a:pt x="2100263" y="1817370"/>
                  </a:lnTo>
                  <a:lnTo>
                    <a:pt x="2154555" y="1732597"/>
                  </a:lnTo>
                  <a:lnTo>
                    <a:pt x="2201228" y="1643062"/>
                  </a:lnTo>
                  <a:lnTo>
                    <a:pt x="2240280" y="1550670"/>
                  </a:lnTo>
                  <a:lnTo>
                    <a:pt x="2270760" y="1454468"/>
                  </a:lnTo>
                  <a:lnTo>
                    <a:pt x="2291715" y="1356360"/>
                  </a:lnTo>
                  <a:lnTo>
                    <a:pt x="2305050" y="1256347"/>
                  </a:lnTo>
                  <a:lnTo>
                    <a:pt x="2308860" y="116967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957185" y="2532698"/>
              <a:ext cx="36195" cy="485775"/>
            </a:xfrm>
            <a:custGeom>
              <a:avLst/>
              <a:gdLst/>
              <a:ahLst/>
              <a:cxnLst/>
              <a:rect l="l" t="t" r="r" b="b"/>
              <a:pathLst>
                <a:path w="36195" h="485775">
                  <a:moveTo>
                    <a:pt x="36195" y="0"/>
                  </a:moveTo>
                  <a:lnTo>
                    <a:pt x="18097" y="83820"/>
                  </a:lnTo>
                  <a:lnTo>
                    <a:pt x="3810" y="183833"/>
                  </a:lnTo>
                  <a:lnTo>
                    <a:pt x="0" y="284798"/>
                  </a:lnTo>
                  <a:lnTo>
                    <a:pt x="3810" y="385762"/>
                  </a:lnTo>
                  <a:lnTo>
                    <a:pt x="18097" y="485775"/>
                  </a:lnTo>
                  <a:lnTo>
                    <a:pt x="16193" y="47625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7926705" y="2999422"/>
              <a:ext cx="92392" cy="102870"/>
            </a:xfrm>
            <a:custGeom>
              <a:avLst/>
              <a:gdLst/>
              <a:ahLst/>
              <a:cxnLst/>
              <a:rect l="l" t="t" r="r" b="b"/>
              <a:pathLst>
                <a:path w="92392" h="102870">
                  <a:moveTo>
                    <a:pt x="66675" y="102870"/>
                  </a:moveTo>
                  <a:lnTo>
                    <a:pt x="0" y="20003"/>
                  </a:lnTo>
                  <a:lnTo>
                    <a:pt x="92392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10230802" y="2616518"/>
              <a:ext cx="36195" cy="485775"/>
            </a:xfrm>
            <a:custGeom>
              <a:avLst/>
              <a:gdLst/>
              <a:ahLst/>
              <a:cxnLst/>
              <a:rect l="l" t="t" r="r" b="b"/>
              <a:pathLst>
                <a:path w="36195" h="485775">
                  <a:moveTo>
                    <a:pt x="0" y="485775"/>
                  </a:moveTo>
                  <a:lnTo>
                    <a:pt x="18098" y="401955"/>
                  </a:lnTo>
                  <a:lnTo>
                    <a:pt x="31433" y="301942"/>
                  </a:lnTo>
                  <a:lnTo>
                    <a:pt x="36195" y="200978"/>
                  </a:lnTo>
                  <a:lnTo>
                    <a:pt x="31433" y="100012"/>
                  </a:lnTo>
                  <a:lnTo>
                    <a:pt x="18098" y="0"/>
                  </a:lnTo>
                  <a:lnTo>
                    <a:pt x="20003" y="952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0204132" y="2532698"/>
              <a:ext cx="93345" cy="102870"/>
            </a:xfrm>
            <a:custGeom>
              <a:avLst/>
              <a:gdLst/>
              <a:ahLst/>
              <a:cxnLst/>
              <a:rect l="l" t="t" r="r" b="b"/>
              <a:pathLst>
                <a:path w="93345" h="102870">
                  <a:moveTo>
                    <a:pt x="26670" y="0"/>
                  </a:moveTo>
                  <a:lnTo>
                    <a:pt x="93345" y="82868"/>
                  </a:lnTo>
                  <a:lnTo>
                    <a:pt x="0" y="10287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9001125" y="2707005"/>
              <a:ext cx="220028" cy="220980"/>
            </a:xfrm>
            <a:custGeom>
              <a:avLst/>
              <a:gdLst/>
              <a:ahLst/>
              <a:cxnLst/>
              <a:rect l="l" t="t" r="r" b="b"/>
              <a:pathLst>
                <a:path w="220028" h="220980">
                  <a:moveTo>
                    <a:pt x="220028" y="96203"/>
                  </a:moveTo>
                  <a:lnTo>
                    <a:pt x="219075" y="85725"/>
                  </a:lnTo>
                  <a:lnTo>
                    <a:pt x="210503" y="61912"/>
                  </a:lnTo>
                  <a:lnTo>
                    <a:pt x="198120" y="41910"/>
                  </a:lnTo>
                  <a:lnTo>
                    <a:pt x="180022" y="23812"/>
                  </a:lnTo>
                  <a:lnTo>
                    <a:pt x="159068" y="10478"/>
                  </a:lnTo>
                  <a:lnTo>
                    <a:pt x="135255" y="1905"/>
                  </a:lnTo>
                  <a:lnTo>
                    <a:pt x="110490" y="0"/>
                  </a:lnTo>
                  <a:lnTo>
                    <a:pt x="85725" y="1905"/>
                  </a:lnTo>
                  <a:lnTo>
                    <a:pt x="62865" y="10478"/>
                  </a:lnTo>
                  <a:lnTo>
                    <a:pt x="41910" y="23812"/>
                  </a:lnTo>
                  <a:lnTo>
                    <a:pt x="23812" y="41910"/>
                  </a:lnTo>
                  <a:lnTo>
                    <a:pt x="11430" y="61912"/>
                  </a:lnTo>
                  <a:lnTo>
                    <a:pt x="2857" y="85725"/>
                  </a:lnTo>
                  <a:lnTo>
                    <a:pt x="0" y="110490"/>
                  </a:lnTo>
                  <a:lnTo>
                    <a:pt x="2857" y="135255"/>
                  </a:lnTo>
                  <a:lnTo>
                    <a:pt x="11430" y="158115"/>
                  </a:lnTo>
                  <a:lnTo>
                    <a:pt x="23812" y="180023"/>
                  </a:lnTo>
                  <a:lnTo>
                    <a:pt x="41910" y="197167"/>
                  </a:lnTo>
                  <a:lnTo>
                    <a:pt x="62865" y="210503"/>
                  </a:lnTo>
                  <a:lnTo>
                    <a:pt x="85725" y="218123"/>
                  </a:lnTo>
                  <a:lnTo>
                    <a:pt x="110490" y="220980"/>
                  </a:lnTo>
                  <a:lnTo>
                    <a:pt x="135255" y="218123"/>
                  </a:lnTo>
                  <a:lnTo>
                    <a:pt x="159068" y="210503"/>
                  </a:lnTo>
                  <a:lnTo>
                    <a:pt x="180022" y="197167"/>
                  </a:lnTo>
                  <a:lnTo>
                    <a:pt x="198120" y="180023"/>
                  </a:lnTo>
                  <a:lnTo>
                    <a:pt x="210503" y="158115"/>
                  </a:lnTo>
                  <a:lnTo>
                    <a:pt x="219075" y="135255"/>
                  </a:lnTo>
                  <a:lnTo>
                    <a:pt x="220028" y="124778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9523095" y="28127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9523095" y="28127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8705850" y="27051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8705850" y="29203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9508808" y="29203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9508808" y="27051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9892665" y="28127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9892665" y="28127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8348662" y="26098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8348662" y="30156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9865042" y="30156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9865042" y="26098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10262235" y="28127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10262235" y="28127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7991475" y="25136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7991475" y="31118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10223182" y="31118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10223182" y="25136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9218295" y="28127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9218295" y="28127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9081135" y="278701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265594" y="2595086"/>
              <a:ext cx="61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983825" y="178260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123926" y="4055269"/>
              <a:ext cx="19753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俯视：电流流出纸面，B 线逆时针</a:t>
              </a:r>
            </a:p>
          </p:txBody>
        </p:sp>
      </p:grpSp>
      <p:grpSp>
        <p:nvGrpSpPr>
          <p:cNvPr id="93" name="c2-callout-2"/>
          <p:cNvGrpSpPr/>
          <p:nvPr/>
        </p:nvGrpSpPr>
        <p:grpSpPr>
          <a:xfrm>
            <a:off x="6680835" y="4389120"/>
            <a:ext cx="4977765" cy="1279208"/>
            <a:chOff x="6680835" y="4389120"/>
            <a:chExt cx="4977765" cy="1279208"/>
          </a:xfrm>
        </p:grpSpPr>
        <p:sp>
          <p:nvSpPr>
            <p:cNvPr id="87" name="Rectangle 87"/>
            <p:cNvSpPr/>
            <p:nvPr/>
          </p:nvSpPr>
          <p:spPr>
            <a:xfrm>
              <a:off x="6680835" y="4389120"/>
              <a:ext cx="4977765" cy="1279208"/>
            </a:xfrm>
            <a:prstGeom prst="roundRect">
              <a:avLst>
                <a:gd name="adj" fmla="val 893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6885623" y="4928235"/>
              <a:ext cx="200026" cy="200025"/>
              <a:chOff x="6885623" y="4928235"/>
              <a:chExt cx="200026" cy="200025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6885623" y="49282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6925361" y="49726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6960077" y="50838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7187946" y="4798219"/>
              <a:ext cx="400900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右手握住导线，拇指指向电流，弯曲的四指就是 B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线的绕向。B 与 a 成反比，离导线越远 B 线越稀。</a:t>
              </a:r>
            </a:p>
          </p:txBody>
        </p:sp>
      </p:grpSp>
      <p:grpSp>
        <p:nvGrpSpPr>
          <p:cNvPr id="10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94" name="Rectangle 9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040511" y="6004084"/>
              <a:ext cx="89489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半无限长的 μ₀I/(4πa) 只在 P 正对端点时成立；P 偏离端点的垂线时，要回到 cosα₁ − cosα₂ 自己量角。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毕奥-萨伐尔定律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圆电流轴线上的磁场：垂直分量两两抵消，只剩轴向分量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1" name="g_loop"/>
          <p:cNvGrpSpPr/>
          <p:nvPr/>
        </p:nvGrpSpPr>
        <p:grpSpPr>
          <a:xfrm>
            <a:off x="719138" y="1789748"/>
            <a:ext cx="4629149" cy="2759963"/>
            <a:chOff x="719138" y="1789748"/>
            <a:chExt cx="4629149" cy="2759963"/>
          </a:xfrm>
        </p:grpSpPr>
        <p:sp>
          <p:nvSpPr>
            <p:cNvPr id="7" name="Freeform 7"/>
            <p:cNvSpPr/>
            <p:nvPr/>
          </p:nvSpPr>
          <p:spPr>
            <a:xfrm>
              <a:off x="1295400" y="2047875"/>
              <a:ext cx="571500" cy="2190750"/>
            </a:xfrm>
            <a:custGeom>
              <a:avLst/>
              <a:gdLst/>
              <a:ahLst/>
              <a:cxnLst/>
              <a:rect l="l" t="t" r="r" b="b"/>
              <a:pathLst>
                <a:path w="571500" h="2190750">
                  <a:moveTo>
                    <a:pt x="571500" y="1081088"/>
                  </a:moveTo>
                  <a:lnTo>
                    <a:pt x="570548" y="987742"/>
                  </a:lnTo>
                  <a:lnTo>
                    <a:pt x="565785" y="882015"/>
                  </a:lnTo>
                  <a:lnTo>
                    <a:pt x="559117" y="777240"/>
                  </a:lnTo>
                  <a:lnTo>
                    <a:pt x="549592" y="676275"/>
                  </a:lnTo>
                  <a:lnTo>
                    <a:pt x="538162" y="579120"/>
                  </a:lnTo>
                  <a:lnTo>
                    <a:pt x="523875" y="486728"/>
                  </a:lnTo>
                  <a:lnTo>
                    <a:pt x="506730" y="401003"/>
                  </a:lnTo>
                  <a:lnTo>
                    <a:pt x="487680" y="320992"/>
                  </a:lnTo>
                  <a:lnTo>
                    <a:pt x="466725" y="248602"/>
                  </a:lnTo>
                  <a:lnTo>
                    <a:pt x="444817" y="184785"/>
                  </a:lnTo>
                  <a:lnTo>
                    <a:pt x="421005" y="129540"/>
                  </a:lnTo>
                  <a:lnTo>
                    <a:pt x="395288" y="83820"/>
                  </a:lnTo>
                  <a:lnTo>
                    <a:pt x="368617" y="47625"/>
                  </a:lnTo>
                  <a:lnTo>
                    <a:pt x="341948" y="20955"/>
                  </a:lnTo>
                  <a:lnTo>
                    <a:pt x="314325" y="4762"/>
                  </a:lnTo>
                  <a:lnTo>
                    <a:pt x="285750" y="0"/>
                  </a:lnTo>
                  <a:lnTo>
                    <a:pt x="258127" y="4762"/>
                  </a:lnTo>
                  <a:lnTo>
                    <a:pt x="229552" y="20955"/>
                  </a:lnTo>
                  <a:lnTo>
                    <a:pt x="202883" y="47625"/>
                  </a:lnTo>
                  <a:lnTo>
                    <a:pt x="177165" y="83820"/>
                  </a:lnTo>
                  <a:lnTo>
                    <a:pt x="151448" y="129540"/>
                  </a:lnTo>
                  <a:lnTo>
                    <a:pt x="126683" y="184785"/>
                  </a:lnTo>
                  <a:lnTo>
                    <a:pt x="104775" y="248602"/>
                  </a:lnTo>
                  <a:lnTo>
                    <a:pt x="83820" y="320992"/>
                  </a:lnTo>
                  <a:lnTo>
                    <a:pt x="64770" y="401003"/>
                  </a:lnTo>
                  <a:lnTo>
                    <a:pt x="48577" y="486728"/>
                  </a:lnTo>
                  <a:lnTo>
                    <a:pt x="34290" y="579120"/>
                  </a:lnTo>
                  <a:lnTo>
                    <a:pt x="21908" y="676275"/>
                  </a:lnTo>
                  <a:lnTo>
                    <a:pt x="12383" y="777240"/>
                  </a:lnTo>
                  <a:lnTo>
                    <a:pt x="5715" y="882015"/>
                  </a:lnTo>
                  <a:lnTo>
                    <a:pt x="1905" y="987742"/>
                  </a:lnTo>
                  <a:lnTo>
                    <a:pt x="0" y="1095375"/>
                  </a:lnTo>
                  <a:lnTo>
                    <a:pt x="1905" y="1203008"/>
                  </a:lnTo>
                  <a:lnTo>
                    <a:pt x="5715" y="1308735"/>
                  </a:lnTo>
                  <a:lnTo>
                    <a:pt x="12383" y="1413510"/>
                  </a:lnTo>
                  <a:lnTo>
                    <a:pt x="21908" y="1514475"/>
                  </a:lnTo>
                  <a:lnTo>
                    <a:pt x="34290" y="1611630"/>
                  </a:lnTo>
                  <a:lnTo>
                    <a:pt x="48577" y="1704022"/>
                  </a:lnTo>
                  <a:lnTo>
                    <a:pt x="64770" y="1789747"/>
                  </a:lnTo>
                  <a:lnTo>
                    <a:pt x="83820" y="1869758"/>
                  </a:lnTo>
                  <a:lnTo>
                    <a:pt x="104775" y="1942147"/>
                  </a:lnTo>
                  <a:lnTo>
                    <a:pt x="126683" y="2005965"/>
                  </a:lnTo>
                  <a:lnTo>
                    <a:pt x="151448" y="2061210"/>
                  </a:lnTo>
                  <a:lnTo>
                    <a:pt x="177165" y="2106930"/>
                  </a:lnTo>
                  <a:lnTo>
                    <a:pt x="202883" y="2143125"/>
                  </a:lnTo>
                  <a:lnTo>
                    <a:pt x="229552" y="2169795"/>
                  </a:lnTo>
                  <a:lnTo>
                    <a:pt x="258127" y="2185988"/>
                  </a:lnTo>
                  <a:lnTo>
                    <a:pt x="285750" y="2190750"/>
                  </a:lnTo>
                  <a:lnTo>
                    <a:pt x="314325" y="2185988"/>
                  </a:lnTo>
                  <a:lnTo>
                    <a:pt x="341948" y="2169795"/>
                  </a:lnTo>
                  <a:lnTo>
                    <a:pt x="368617" y="2143125"/>
                  </a:lnTo>
                  <a:lnTo>
                    <a:pt x="395288" y="2106930"/>
                  </a:lnTo>
                  <a:lnTo>
                    <a:pt x="421005" y="2061210"/>
                  </a:lnTo>
                  <a:lnTo>
                    <a:pt x="444817" y="2005965"/>
                  </a:lnTo>
                  <a:lnTo>
                    <a:pt x="466725" y="1942147"/>
                  </a:lnTo>
                  <a:lnTo>
                    <a:pt x="487680" y="1869758"/>
                  </a:lnTo>
                  <a:lnTo>
                    <a:pt x="506730" y="1789747"/>
                  </a:lnTo>
                  <a:lnTo>
                    <a:pt x="523875" y="1704022"/>
                  </a:lnTo>
                  <a:lnTo>
                    <a:pt x="538162" y="1611630"/>
                  </a:lnTo>
                  <a:lnTo>
                    <a:pt x="549592" y="1514475"/>
                  </a:lnTo>
                  <a:lnTo>
                    <a:pt x="559117" y="1413510"/>
                  </a:lnTo>
                  <a:lnTo>
                    <a:pt x="565785" y="1308735"/>
                  </a:lnTo>
                  <a:lnTo>
                    <a:pt x="570548" y="1203008"/>
                  </a:lnTo>
                  <a:lnTo>
                    <a:pt x="571500" y="1109662"/>
                  </a:lnTo>
                </a:path>
              </a:pathLst>
            </a:custGeom>
            <a:noFill/>
            <a:ln w="1905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38188" y="3143250"/>
              <a:ext cx="4591050" cy="9525"/>
            </a:xfrm>
            <a:custGeom>
              <a:avLst/>
              <a:gdLst/>
              <a:ahLst/>
              <a:cxnLst/>
              <a:rect l="l" t="t" r="r" b="b"/>
              <a:pathLst>
                <a:path w="4591050" h="9525">
                  <a:moveTo>
                    <a:pt x="0" y="0"/>
                  </a:moveTo>
                  <a:lnTo>
                    <a:pt x="459105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1476375" y="1943100"/>
              <a:ext cx="207645" cy="209550"/>
            </a:xfrm>
            <a:custGeom>
              <a:avLst/>
              <a:gdLst/>
              <a:ahLst/>
              <a:cxnLst/>
              <a:rect l="l" t="t" r="r" b="b"/>
              <a:pathLst>
                <a:path w="207645" h="209550">
                  <a:moveTo>
                    <a:pt x="207645" y="90488"/>
                  </a:moveTo>
                  <a:lnTo>
                    <a:pt x="206692" y="80962"/>
                  </a:lnTo>
                  <a:lnTo>
                    <a:pt x="199073" y="59055"/>
                  </a:lnTo>
                  <a:lnTo>
                    <a:pt x="186690" y="39052"/>
                  </a:lnTo>
                  <a:lnTo>
                    <a:pt x="169545" y="22860"/>
                  </a:lnTo>
                  <a:lnTo>
                    <a:pt x="150495" y="10477"/>
                  </a:lnTo>
                  <a:lnTo>
                    <a:pt x="128588" y="2858"/>
                  </a:lnTo>
                  <a:lnTo>
                    <a:pt x="104775" y="0"/>
                  </a:lnTo>
                  <a:lnTo>
                    <a:pt x="80962" y="2858"/>
                  </a:lnTo>
                  <a:lnTo>
                    <a:pt x="59055" y="10477"/>
                  </a:lnTo>
                  <a:lnTo>
                    <a:pt x="40005" y="22860"/>
                  </a:lnTo>
                  <a:lnTo>
                    <a:pt x="22860" y="39052"/>
                  </a:lnTo>
                  <a:lnTo>
                    <a:pt x="10477" y="59055"/>
                  </a:lnTo>
                  <a:lnTo>
                    <a:pt x="2858" y="80962"/>
                  </a:lnTo>
                  <a:lnTo>
                    <a:pt x="0" y="104775"/>
                  </a:lnTo>
                  <a:lnTo>
                    <a:pt x="2858" y="128588"/>
                  </a:lnTo>
                  <a:lnTo>
                    <a:pt x="10477" y="150495"/>
                  </a:lnTo>
                  <a:lnTo>
                    <a:pt x="22860" y="169545"/>
                  </a:lnTo>
                  <a:lnTo>
                    <a:pt x="40005" y="186690"/>
                  </a:lnTo>
                  <a:lnTo>
                    <a:pt x="59055" y="199073"/>
                  </a:lnTo>
                  <a:lnTo>
                    <a:pt x="80962" y="206692"/>
                  </a:lnTo>
                  <a:lnTo>
                    <a:pt x="104775" y="209550"/>
                  </a:lnTo>
                  <a:lnTo>
                    <a:pt x="128588" y="206692"/>
                  </a:lnTo>
                  <a:lnTo>
                    <a:pt x="150495" y="199073"/>
                  </a:lnTo>
                  <a:lnTo>
                    <a:pt x="169545" y="186690"/>
                  </a:lnTo>
                  <a:lnTo>
                    <a:pt x="186690" y="169545"/>
                  </a:lnTo>
                  <a:lnTo>
                    <a:pt x="199073" y="150495"/>
                  </a:lnTo>
                  <a:lnTo>
                    <a:pt x="206692" y="128588"/>
                  </a:lnTo>
                  <a:lnTo>
                    <a:pt x="207645" y="11906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76375" y="4133850"/>
              <a:ext cx="207645" cy="209550"/>
            </a:xfrm>
            <a:custGeom>
              <a:avLst/>
              <a:gdLst/>
              <a:ahLst/>
              <a:cxnLst/>
              <a:rect l="l" t="t" r="r" b="b"/>
              <a:pathLst>
                <a:path w="207645" h="209550">
                  <a:moveTo>
                    <a:pt x="207645" y="90488"/>
                  </a:moveTo>
                  <a:lnTo>
                    <a:pt x="206692" y="80962"/>
                  </a:lnTo>
                  <a:lnTo>
                    <a:pt x="199073" y="59055"/>
                  </a:lnTo>
                  <a:lnTo>
                    <a:pt x="186690" y="40005"/>
                  </a:lnTo>
                  <a:lnTo>
                    <a:pt x="169545" y="22860"/>
                  </a:lnTo>
                  <a:lnTo>
                    <a:pt x="150495" y="10478"/>
                  </a:lnTo>
                  <a:lnTo>
                    <a:pt x="128588" y="2858"/>
                  </a:lnTo>
                  <a:lnTo>
                    <a:pt x="104775" y="0"/>
                  </a:lnTo>
                  <a:lnTo>
                    <a:pt x="80962" y="2858"/>
                  </a:lnTo>
                  <a:lnTo>
                    <a:pt x="59055" y="10478"/>
                  </a:lnTo>
                  <a:lnTo>
                    <a:pt x="40005" y="22860"/>
                  </a:lnTo>
                  <a:lnTo>
                    <a:pt x="22860" y="40005"/>
                  </a:lnTo>
                  <a:lnTo>
                    <a:pt x="10477" y="59055"/>
                  </a:lnTo>
                  <a:lnTo>
                    <a:pt x="2858" y="80962"/>
                  </a:lnTo>
                  <a:lnTo>
                    <a:pt x="0" y="104775"/>
                  </a:lnTo>
                  <a:lnTo>
                    <a:pt x="2858" y="128588"/>
                  </a:lnTo>
                  <a:lnTo>
                    <a:pt x="10477" y="150495"/>
                  </a:lnTo>
                  <a:lnTo>
                    <a:pt x="22860" y="170497"/>
                  </a:lnTo>
                  <a:lnTo>
                    <a:pt x="40005" y="186690"/>
                  </a:lnTo>
                  <a:lnTo>
                    <a:pt x="59055" y="199072"/>
                  </a:lnTo>
                  <a:lnTo>
                    <a:pt x="80962" y="206692"/>
                  </a:lnTo>
                  <a:lnTo>
                    <a:pt x="104775" y="209550"/>
                  </a:lnTo>
                  <a:lnTo>
                    <a:pt x="128588" y="206692"/>
                  </a:lnTo>
                  <a:lnTo>
                    <a:pt x="150495" y="199072"/>
                  </a:lnTo>
                  <a:lnTo>
                    <a:pt x="169545" y="186690"/>
                  </a:lnTo>
                  <a:lnTo>
                    <a:pt x="186690" y="170497"/>
                  </a:lnTo>
                  <a:lnTo>
                    <a:pt x="199073" y="150495"/>
                  </a:lnTo>
                  <a:lnTo>
                    <a:pt x="206692" y="128588"/>
                  </a:lnTo>
                  <a:lnTo>
                    <a:pt x="207645" y="11906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520190" y="4177665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121920" y="12192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520190" y="4177665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121920"/>
                  </a:moveTo>
                  <a:lnTo>
                    <a:pt x="12192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581150" y="2176462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95250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89735" y="2091690"/>
              <a:ext cx="2504122" cy="1010602"/>
            </a:xfrm>
            <a:custGeom>
              <a:avLst/>
              <a:gdLst/>
              <a:ahLst/>
              <a:cxnLst/>
              <a:rect l="l" t="t" r="r" b="b"/>
              <a:pathLst>
                <a:path w="2504122" h="1010602">
                  <a:moveTo>
                    <a:pt x="0" y="0"/>
                  </a:moveTo>
                  <a:lnTo>
                    <a:pt x="2504122" y="1010602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176712" y="3058478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105728" y="80010"/>
                  </a:moveTo>
                  <a:lnTo>
                    <a:pt x="0" y="87630"/>
                  </a:lnTo>
                  <a:lnTo>
                    <a:pt x="35242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689735" y="3148965"/>
              <a:ext cx="2592705" cy="1045845"/>
            </a:xfrm>
            <a:custGeom>
              <a:avLst/>
              <a:gdLst/>
              <a:ahLst/>
              <a:cxnLst/>
              <a:rect l="l" t="t" r="r" b="b"/>
              <a:pathLst>
                <a:path w="2592705" h="1045845">
                  <a:moveTo>
                    <a:pt x="0" y="1045845"/>
                  </a:moveTo>
                  <a:lnTo>
                    <a:pt x="259270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4301490" y="1920240"/>
              <a:ext cx="487680" cy="1209675"/>
            </a:xfrm>
            <a:custGeom>
              <a:avLst/>
              <a:gdLst/>
              <a:ahLst/>
              <a:cxnLst/>
              <a:rect l="l" t="t" r="r" b="b"/>
              <a:pathLst>
                <a:path w="487680" h="1209675">
                  <a:moveTo>
                    <a:pt x="0" y="1209675"/>
                  </a:moveTo>
                  <a:lnTo>
                    <a:pt x="48768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745355" y="1831658"/>
              <a:ext cx="88583" cy="105727"/>
            </a:xfrm>
            <a:custGeom>
              <a:avLst/>
              <a:gdLst/>
              <a:ahLst/>
              <a:cxnLst/>
              <a:rect l="l" t="t" r="r" b="b"/>
              <a:pathLst>
                <a:path w="88583" h="105727">
                  <a:moveTo>
                    <a:pt x="80010" y="0"/>
                  </a:moveTo>
                  <a:lnTo>
                    <a:pt x="88583" y="105727"/>
                  </a:lnTo>
                  <a:lnTo>
                    <a:pt x="0" y="70485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310062" y="3143250"/>
              <a:ext cx="410528" cy="9525"/>
            </a:xfrm>
            <a:custGeom>
              <a:avLst/>
              <a:gdLst/>
              <a:ahLst/>
              <a:cxnLst/>
              <a:rect l="l" t="t" r="r" b="b"/>
              <a:pathLst>
                <a:path w="410528" h="9525">
                  <a:moveTo>
                    <a:pt x="0" y="0"/>
                  </a:moveTo>
                  <a:lnTo>
                    <a:pt x="410528" y="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720590" y="3095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295775" y="1927860"/>
              <a:ext cx="9525" cy="1201102"/>
            </a:xfrm>
            <a:custGeom>
              <a:avLst/>
              <a:gdLst/>
              <a:ahLst/>
              <a:cxnLst/>
              <a:rect l="l" t="t" r="r" b="b"/>
              <a:pathLst>
                <a:path w="9525" h="1201102">
                  <a:moveTo>
                    <a:pt x="0" y="120110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  <a:custDash>
                <a:ds d="333333" sp="222222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4248150" y="18326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830128" y="1832610"/>
              <a:ext cx="9525" cy="1296352"/>
            </a:xfrm>
            <a:custGeom>
              <a:avLst/>
              <a:gdLst/>
              <a:ahLst/>
              <a:cxnLst/>
              <a:rect l="l" t="t" r="r" b="b"/>
              <a:pathLst>
                <a:path w="9525" h="1296352">
                  <a:moveTo>
                    <a:pt x="0" y="0"/>
                  </a:moveTo>
                  <a:lnTo>
                    <a:pt x="0" y="1296352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4" name="Freeform 24"/>
            <p:cNvSpPr/>
            <p:nvPr/>
          </p:nvSpPr>
          <p:spPr>
            <a:xfrm>
              <a:off x="4301490" y="3156585"/>
              <a:ext cx="487680" cy="1209675"/>
            </a:xfrm>
            <a:custGeom>
              <a:avLst/>
              <a:gdLst/>
              <a:ahLst/>
              <a:cxnLst/>
              <a:rect l="l" t="t" r="r" b="b"/>
              <a:pathLst>
                <a:path w="487680" h="1209675">
                  <a:moveTo>
                    <a:pt x="0" y="0"/>
                  </a:moveTo>
                  <a:lnTo>
                    <a:pt x="487680" y="120967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5" name="Freeform 25"/>
            <p:cNvSpPr/>
            <p:nvPr/>
          </p:nvSpPr>
          <p:spPr>
            <a:xfrm>
              <a:off x="4745355" y="4349115"/>
              <a:ext cx="88583" cy="105727"/>
            </a:xfrm>
            <a:custGeom>
              <a:avLst/>
              <a:gdLst/>
              <a:ahLst/>
              <a:cxnLst/>
              <a:rect l="l" t="t" r="r" b="b"/>
              <a:pathLst>
                <a:path w="88583" h="105727">
                  <a:moveTo>
                    <a:pt x="80010" y="105727"/>
                  </a:moveTo>
                  <a:lnTo>
                    <a:pt x="0" y="35242"/>
                  </a:lnTo>
                  <a:lnTo>
                    <a:pt x="88583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3914775" y="3013710"/>
              <a:ext cx="21908" cy="115253"/>
            </a:xfrm>
            <a:custGeom>
              <a:avLst/>
              <a:gdLst/>
              <a:ahLst/>
              <a:cxnLst/>
              <a:rect l="l" t="t" r="r" b="b"/>
              <a:pathLst>
                <a:path w="21908" h="115253">
                  <a:moveTo>
                    <a:pt x="21908" y="0"/>
                  </a:moveTo>
                  <a:lnTo>
                    <a:pt x="21908" y="953"/>
                  </a:lnTo>
                  <a:lnTo>
                    <a:pt x="18097" y="14288"/>
                  </a:lnTo>
                  <a:lnTo>
                    <a:pt x="13335" y="28575"/>
                  </a:lnTo>
                  <a:lnTo>
                    <a:pt x="10478" y="42862"/>
                  </a:lnTo>
                  <a:lnTo>
                    <a:pt x="6667" y="57150"/>
                  </a:lnTo>
                  <a:lnTo>
                    <a:pt x="3810" y="71438"/>
                  </a:lnTo>
                  <a:lnTo>
                    <a:pt x="1905" y="85725"/>
                  </a:lnTo>
                  <a:lnTo>
                    <a:pt x="953" y="100012"/>
                  </a:lnTo>
                  <a:lnTo>
                    <a:pt x="0" y="115253"/>
                  </a:lnTo>
                  <a:lnTo>
                    <a:pt x="0" y="1152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862138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862138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719138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338762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681162" y="2043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681162" y="2043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550670" y="20173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681162" y="42338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681162" y="42338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504950" y="41624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647825" y="43053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504950" y="43053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647825" y="41624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576388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576388" y="21574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671638" y="20812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4291012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671638" y="41957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4291012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4257675" y="3105150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4291012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4825365" y="18135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4291012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4825365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4291012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4291012" y="18135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4825365" y="18135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4825365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4291012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4825365" y="44634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3937635" y="29956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3910012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96569" y="29475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轴线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65015" y="1943100"/>
              <a:ext cx="184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Idl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364609" y="3248025"/>
              <a:ext cx="128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646991" y="25050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889211" y="32627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865399" y="2357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190166" y="328612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944426" y="1823561"/>
              <a:ext cx="190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dB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946533" y="3114675"/>
              <a:ext cx="2624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dB∥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884776" y="1789748"/>
              <a:ext cx="2504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dB⊥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895379" y="4344352"/>
              <a:ext cx="2504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dB′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716226" y="29622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</a:t>
              </a:r>
            </a:p>
          </p:txBody>
        </p:sp>
      </p:grpSp>
      <p:grpSp>
        <p:nvGrpSpPr>
          <p:cNvPr id="78" name="c1-callout-2"/>
          <p:cNvGrpSpPr/>
          <p:nvPr/>
        </p:nvGrpSpPr>
        <p:grpSpPr>
          <a:xfrm>
            <a:off x="533400" y="4857750"/>
            <a:ext cx="4977765" cy="1208722"/>
            <a:chOff x="533400" y="4857750"/>
            <a:chExt cx="4977765" cy="1208722"/>
          </a:xfrm>
        </p:grpSpPr>
        <p:sp>
          <p:nvSpPr>
            <p:cNvPr id="72" name="Rectangle 72"/>
            <p:cNvSpPr/>
            <p:nvPr/>
          </p:nvSpPr>
          <p:spPr>
            <a:xfrm>
              <a:off x="533400" y="4857750"/>
              <a:ext cx="4977765" cy="1208722"/>
            </a:xfrm>
            <a:prstGeom prst="roundRect">
              <a:avLst>
                <a:gd name="adj" fmla="val 945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5362575"/>
              <a:ext cx="200026" cy="200025"/>
              <a:chOff x="738188" y="5362575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53625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77926" y="54070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12642" y="55181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130" y="5081588"/>
              <a:ext cx="40633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直径两端的一对电流元，产生的 dB⊥ 大小相等、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方向相反，图中虚线 dB′ 就是下端电流元的贡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献。</a:t>
              </a:r>
            </a:p>
          </p:txBody>
        </p:sp>
      </p:grpSp>
      <p:grpSp>
        <p:nvGrpSpPr>
          <p:cNvPr id="96" name="c2-steps-1"/>
          <p:cNvGrpSpPr/>
          <p:nvPr/>
        </p:nvGrpSpPr>
        <p:grpSpPr>
          <a:xfrm>
            <a:off x="5815965" y="1533525"/>
            <a:ext cx="5663870" cy="2764440"/>
            <a:chOff x="5815965" y="1533525"/>
            <a:chExt cx="5663870" cy="2764440"/>
          </a:xfrm>
        </p:grpSpPr>
        <p:sp>
          <p:nvSpPr>
            <p:cNvPr id="79" name="Rectangle 79"/>
            <p:cNvSpPr/>
            <p:nvPr/>
          </p:nvSpPr>
          <p:spPr>
            <a:xfrm>
              <a:off x="5949315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5815965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90958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5815965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90958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5815965" y="37204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909589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227445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228588" y="1861661"/>
              <a:ext cx="50604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dB 分成沿轴的 dB∥ 与垂直于轴的 dB⊥，dB⊥ 两两抵消，B = ∫ dB∥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∫ dB sinφ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227445" y="2453640"/>
              <a:ext cx="522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 dB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228588" y="2746534"/>
              <a:ext cx="5251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Idl 与 r 处处垂直，dB = μ₀I dl/(4πr²)；r 与 φ 对所有电流元都相同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227445" y="31041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228588" y="3397091"/>
              <a:ext cx="47837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μ₀I sinφ/(4πr²) · ∫(0→2πR) dl = μ₀I sinφ · 2πR/(4πr²)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227445" y="37547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代几何量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228588" y="4048601"/>
              <a:ext cx="2779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sinφ = R/√(R² + x²)，r² = R² + x²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formula65"/>
              <p:cNvSpPr txBox="1">
                <a:spLocks noGrp="1"/>
              </p:cNvSpPr>
              <p:nvPr/>
            </p:nvSpPr>
            <p:spPr>
              <a:xfrm>
                <a:off x="5815965" y="4475798"/>
                <a:ext cx="5842635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num>
                        <m:den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R</m:t>
                                      </m:r>
                                    </m:e>
                                    <m:sup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s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03" name="c2-callout-3"/>
          <p:cNvGrpSpPr/>
          <p:nvPr/>
        </p:nvGrpSpPr>
        <p:grpSpPr>
          <a:xfrm>
            <a:off x="5815965" y="5283518"/>
            <a:ext cx="5842635" cy="782955"/>
            <a:chOff x="5815965" y="5283518"/>
            <a:chExt cx="5842635" cy="782955"/>
          </a:xfrm>
        </p:grpSpPr>
        <p:sp>
          <p:nvSpPr>
            <p:cNvPr id="98" name="Rectangle 98"/>
            <p:cNvSpPr/>
            <p:nvPr/>
          </p:nvSpPr>
          <p:spPr>
            <a:xfrm>
              <a:off x="5815965" y="5283518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6020753" y="5574985"/>
              <a:ext cx="200023" cy="200023"/>
              <a:chOff x="6020753" y="5574985"/>
              <a:chExt cx="200023" cy="200023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6020753" y="55749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6154103" y="56416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6322695" y="5432108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方向沿轴线，与电流绕向成右手螺旋关系：右手四指顺着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电流弯曲，拇指指向 B。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56379" cy="909257"/>
            <a:chOff x="520446" y="342900"/>
            <a:chExt cx="59563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毕奥-萨伐尔定律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563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轴线上 B 随距离迅速减小，圆心处最大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g_loopaxis"/>
          <p:cNvGrpSpPr/>
          <p:nvPr/>
        </p:nvGrpSpPr>
        <p:grpSpPr>
          <a:xfrm>
            <a:off x="981075" y="1695450"/>
            <a:ext cx="4793932" cy="3377279"/>
            <a:chOff x="981075" y="1695450"/>
            <a:chExt cx="4793932" cy="3377279"/>
          </a:xfrm>
        </p:grpSpPr>
        <p:sp>
          <p:nvSpPr>
            <p:cNvPr id="7" name="Freeform 7"/>
            <p:cNvSpPr/>
            <p:nvPr/>
          </p:nvSpPr>
          <p:spPr>
            <a:xfrm>
              <a:off x="1017270" y="4629150"/>
              <a:ext cx="4643437" cy="9525"/>
            </a:xfrm>
            <a:custGeom>
              <a:avLst/>
              <a:gdLst/>
              <a:ahLst/>
              <a:cxnLst/>
              <a:rect l="l" t="t" r="r" b="b"/>
              <a:pathLst>
                <a:path w="4643437" h="9525">
                  <a:moveTo>
                    <a:pt x="0" y="0"/>
                  </a:moveTo>
                  <a:lnTo>
                    <a:pt x="4643437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660708" y="45815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343275" y="1809750"/>
              <a:ext cx="9525" cy="3185160"/>
            </a:xfrm>
            <a:custGeom>
              <a:avLst/>
              <a:gdLst/>
              <a:ahLst/>
              <a:cxnLst/>
              <a:rect l="l" t="t" r="r" b="b"/>
              <a:pathLst>
                <a:path w="9525" h="3185160">
                  <a:moveTo>
                    <a:pt x="0" y="318516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95650" y="1714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00125" y="2139315"/>
              <a:ext cx="4687252" cy="2422208"/>
            </a:xfrm>
            <a:custGeom>
              <a:avLst/>
              <a:gdLst/>
              <a:ahLst/>
              <a:cxnLst/>
              <a:rect l="l" t="t" r="r" b="b"/>
              <a:pathLst>
                <a:path w="4687252" h="2422208">
                  <a:moveTo>
                    <a:pt x="0" y="2422208"/>
                  </a:moveTo>
                  <a:lnTo>
                    <a:pt x="22860" y="2420302"/>
                  </a:lnTo>
                  <a:lnTo>
                    <a:pt x="59055" y="2417445"/>
                  </a:lnTo>
                  <a:lnTo>
                    <a:pt x="96202" y="2413635"/>
                  </a:lnTo>
                  <a:lnTo>
                    <a:pt x="133350" y="2410778"/>
                  </a:lnTo>
                  <a:lnTo>
                    <a:pt x="170498" y="2406968"/>
                  </a:lnTo>
                  <a:lnTo>
                    <a:pt x="206693" y="2403158"/>
                  </a:lnTo>
                  <a:lnTo>
                    <a:pt x="243840" y="2399348"/>
                  </a:lnTo>
                  <a:lnTo>
                    <a:pt x="280035" y="2394585"/>
                  </a:lnTo>
                  <a:lnTo>
                    <a:pt x="317183" y="2389822"/>
                  </a:lnTo>
                  <a:lnTo>
                    <a:pt x="354330" y="2385060"/>
                  </a:lnTo>
                  <a:lnTo>
                    <a:pt x="390525" y="2380298"/>
                  </a:lnTo>
                  <a:lnTo>
                    <a:pt x="427673" y="2374582"/>
                  </a:lnTo>
                  <a:lnTo>
                    <a:pt x="464820" y="2367915"/>
                  </a:lnTo>
                  <a:lnTo>
                    <a:pt x="501967" y="2362200"/>
                  </a:lnTo>
                  <a:lnTo>
                    <a:pt x="538162" y="2355532"/>
                  </a:lnTo>
                  <a:lnTo>
                    <a:pt x="575310" y="2347913"/>
                  </a:lnTo>
                  <a:lnTo>
                    <a:pt x="611505" y="2340292"/>
                  </a:lnTo>
                  <a:lnTo>
                    <a:pt x="648652" y="2331720"/>
                  </a:lnTo>
                  <a:lnTo>
                    <a:pt x="685800" y="2322195"/>
                  </a:lnTo>
                  <a:lnTo>
                    <a:pt x="722948" y="2312670"/>
                  </a:lnTo>
                  <a:lnTo>
                    <a:pt x="759142" y="2303145"/>
                  </a:lnTo>
                  <a:lnTo>
                    <a:pt x="796290" y="2291715"/>
                  </a:lnTo>
                  <a:lnTo>
                    <a:pt x="833438" y="2279332"/>
                  </a:lnTo>
                  <a:lnTo>
                    <a:pt x="870585" y="2266950"/>
                  </a:lnTo>
                  <a:lnTo>
                    <a:pt x="906780" y="2252663"/>
                  </a:lnTo>
                  <a:lnTo>
                    <a:pt x="943928" y="2238375"/>
                  </a:lnTo>
                  <a:lnTo>
                    <a:pt x="980122" y="2222182"/>
                  </a:lnTo>
                  <a:lnTo>
                    <a:pt x="1017270" y="2204085"/>
                  </a:lnTo>
                  <a:lnTo>
                    <a:pt x="1054418" y="2185988"/>
                  </a:lnTo>
                  <a:lnTo>
                    <a:pt x="1090612" y="2165032"/>
                  </a:lnTo>
                  <a:lnTo>
                    <a:pt x="1127760" y="2143125"/>
                  </a:lnTo>
                  <a:lnTo>
                    <a:pt x="1163955" y="2119313"/>
                  </a:lnTo>
                  <a:lnTo>
                    <a:pt x="1201102" y="2092643"/>
                  </a:lnTo>
                  <a:lnTo>
                    <a:pt x="1238250" y="2064068"/>
                  </a:lnTo>
                  <a:lnTo>
                    <a:pt x="1275398" y="2033588"/>
                  </a:lnTo>
                  <a:lnTo>
                    <a:pt x="1311592" y="2000250"/>
                  </a:lnTo>
                  <a:lnTo>
                    <a:pt x="1348740" y="1964055"/>
                  </a:lnTo>
                  <a:lnTo>
                    <a:pt x="1385888" y="1925002"/>
                  </a:lnTo>
                  <a:lnTo>
                    <a:pt x="1423035" y="1882140"/>
                  </a:lnTo>
                  <a:lnTo>
                    <a:pt x="1459230" y="1836420"/>
                  </a:lnTo>
                  <a:lnTo>
                    <a:pt x="1496378" y="1785938"/>
                  </a:lnTo>
                  <a:lnTo>
                    <a:pt x="1532572" y="1731645"/>
                  </a:lnTo>
                  <a:lnTo>
                    <a:pt x="1569720" y="1672590"/>
                  </a:lnTo>
                  <a:lnTo>
                    <a:pt x="1606868" y="1609725"/>
                  </a:lnTo>
                  <a:lnTo>
                    <a:pt x="1644015" y="1541145"/>
                  </a:lnTo>
                  <a:lnTo>
                    <a:pt x="1680210" y="1466850"/>
                  </a:lnTo>
                  <a:lnTo>
                    <a:pt x="1717358" y="1387793"/>
                  </a:lnTo>
                  <a:lnTo>
                    <a:pt x="1754505" y="1303972"/>
                  </a:lnTo>
                  <a:lnTo>
                    <a:pt x="1790700" y="1214438"/>
                  </a:lnTo>
                  <a:lnTo>
                    <a:pt x="1827847" y="1120140"/>
                  </a:lnTo>
                  <a:lnTo>
                    <a:pt x="1864042" y="1022032"/>
                  </a:lnTo>
                  <a:lnTo>
                    <a:pt x="1901190" y="920115"/>
                  </a:lnTo>
                  <a:lnTo>
                    <a:pt x="1938338" y="814388"/>
                  </a:lnTo>
                  <a:lnTo>
                    <a:pt x="1975485" y="707707"/>
                  </a:lnTo>
                  <a:lnTo>
                    <a:pt x="2011680" y="601028"/>
                  </a:lnTo>
                  <a:lnTo>
                    <a:pt x="2048828" y="496252"/>
                  </a:lnTo>
                  <a:lnTo>
                    <a:pt x="2085975" y="396240"/>
                  </a:lnTo>
                  <a:lnTo>
                    <a:pt x="2122170" y="301943"/>
                  </a:lnTo>
                  <a:lnTo>
                    <a:pt x="2159318" y="216218"/>
                  </a:lnTo>
                  <a:lnTo>
                    <a:pt x="2196465" y="141923"/>
                  </a:lnTo>
                  <a:lnTo>
                    <a:pt x="2232660" y="80962"/>
                  </a:lnTo>
                  <a:lnTo>
                    <a:pt x="2269808" y="37148"/>
                  </a:lnTo>
                  <a:lnTo>
                    <a:pt x="2306955" y="8573"/>
                  </a:lnTo>
                  <a:lnTo>
                    <a:pt x="2343150" y="0"/>
                  </a:lnTo>
                  <a:lnTo>
                    <a:pt x="2380298" y="8573"/>
                  </a:lnTo>
                  <a:lnTo>
                    <a:pt x="2416492" y="37148"/>
                  </a:lnTo>
                  <a:lnTo>
                    <a:pt x="2453640" y="80962"/>
                  </a:lnTo>
                  <a:lnTo>
                    <a:pt x="2490788" y="141923"/>
                  </a:lnTo>
                  <a:lnTo>
                    <a:pt x="2527935" y="216218"/>
                  </a:lnTo>
                  <a:lnTo>
                    <a:pt x="2564130" y="301943"/>
                  </a:lnTo>
                  <a:lnTo>
                    <a:pt x="2601278" y="396240"/>
                  </a:lnTo>
                  <a:lnTo>
                    <a:pt x="2638425" y="496252"/>
                  </a:lnTo>
                  <a:lnTo>
                    <a:pt x="2675572" y="601028"/>
                  </a:lnTo>
                  <a:lnTo>
                    <a:pt x="2711768" y="707707"/>
                  </a:lnTo>
                  <a:lnTo>
                    <a:pt x="2748915" y="814388"/>
                  </a:lnTo>
                  <a:lnTo>
                    <a:pt x="2785110" y="920115"/>
                  </a:lnTo>
                  <a:lnTo>
                    <a:pt x="2822258" y="1022032"/>
                  </a:lnTo>
                  <a:lnTo>
                    <a:pt x="2859405" y="1120140"/>
                  </a:lnTo>
                  <a:lnTo>
                    <a:pt x="2896552" y="1214438"/>
                  </a:lnTo>
                  <a:lnTo>
                    <a:pt x="2932748" y="1303972"/>
                  </a:lnTo>
                  <a:lnTo>
                    <a:pt x="2969895" y="1387793"/>
                  </a:lnTo>
                  <a:lnTo>
                    <a:pt x="3007042" y="1466850"/>
                  </a:lnTo>
                  <a:lnTo>
                    <a:pt x="3043238" y="1541145"/>
                  </a:lnTo>
                  <a:lnTo>
                    <a:pt x="3080385" y="1609725"/>
                  </a:lnTo>
                  <a:lnTo>
                    <a:pt x="3116580" y="1672590"/>
                  </a:lnTo>
                  <a:lnTo>
                    <a:pt x="3153728" y="1731645"/>
                  </a:lnTo>
                  <a:lnTo>
                    <a:pt x="3190875" y="1785938"/>
                  </a:lnTo>
                  <a:lnTo>
                    <a:pt x="3228022" y="1836420"/>
                  </a:lnTo>
                  <a:lnTo>
                    <a:pt x="3264218" y="1882140"/>
                  </a:lnTo>
                  <a:lnTo>
                    <a:pt x="3301365" y="1925002"/>
                  </a:lnTo>
                  <a:lnTo>
                    <a:pt x="3337560" y="1964055"/>
                  </a:lnTo>
                  <a:lnTo>
                    <a:pt x="3374708" y="2000250"/>
                  </a:lnTo>
                  <a:lnTo>
                    <a:pt x="3411855" y="2033588"/>
                  </a:lnTo>
                  <a:lnTo>
                    <a:pt x="3449002" y="2064068"/>
                  </a:lnTo>
                  <a:lnTo>
                    <a:pt x="3485198" y="2092643"/>
                  </a:lnTo>
                  <a:lnTo>
                    <a:pt x="3522345" y="2119313"/>
                  </a:lnTo>
                  <a:lnTo>
                    <a:pt x="3559492" y="2143125"/>
                  </a:lnTo>
                  <a:lnTo>
                    <a:pt x="3595688" y="2165032"/>
                  </a:lnTo>
                  <a:lnTo>
                    <a:pt x="3632835" y="2185988"/>
                  </a:lnTo>
                  <a:lnTo>
                    <a:pt x="3669030" y="2204085"/>
                  </a:lnTo>
                  <a:lnTo>
                    <a:pt x="3706178" y="2222182"/>
                  </a:lnTo>
                  <a:lnTo>
                    <a:pt x="3743325" y="2238375"/>
                  </a:lnTo>
                  <a:lnTo>
                    <a:pt x="3780472" y="2252663"/>
                  </a:lnTo>
                  <a:lnTo>
                    <a:pt x="3816668" y="2266950"/>
                  </a:lnTo>
                  <a:lnTo>
                    <a:pt x="3853815" y="2279332"/>
                  </a:lnTo>
                  <a:lnTo>
                    <a:pt x="3890962" y="2291715"/>
                  </a:lnTo>
                  <a:lnTo>
                    <a:pt x="3928110" y="2303145"/>
                  </a:lnTo>
                  <a:lnTo>
                    <a:pt x="3964305" y="2312670"/>
                  </a:lnTo>
                  <a:lnTo>
                    <a:pt x="4001452" y="2322195"/>
                  </a:lnTo>
                  <a:lnTo>
                    <a:pt x="4037648" y="2331720"/>
                  </a:lnTo>
                  <a:lnTo>
                    <a:pt x="4074795" y="2340292"/>
                  </a:lnTo>
                  <a:lnTo>
                    <a:pt x="4111943" y="2347913"/>
                  </a:lnTo>
                  <a:lnTo>
                    <a:pt x="4149090" y="2355532"/>
                  </a:lnTo>
                  <a:lnTo>
                    <a:pt x="4185285" y="2362200"/>
                  </a:lnTo>
                  <a:lnTo>
                    <a:pt x="4221480" y="2367915"/>
                  </a:lnTo>
                  <a:lnTo>
                    <a:pt x="4258628" y="2374582"/>
                  </a:lnTo>
                  <a:lnTo>
                    <a:pt x="4295775" y="2380298"/>
                  </a:lnTo>
                  <a:lnTo>
                    <a:pt x="4332922" y="2385060"/>
                  </a:lnTo>
                  <a:lnTo>
                    <a:pt x="4369118" y="2389822"/>
                  </a:lnTo>
                  <a:lnTo>
                    <a:pt x="4406265" y="2394585"/>
                  </a:lnTo>
                  <a:lnTo>
                    <a:pt x="4443412" y="2399348"/>
                  </a:lnTo>
                  <a:lnTo>
                    <a:pt x="4480560" y="2403158"/>
                  </a:lnTo>
                  <a:lnTo>
                    <a:pt x="4516755" y="2406968"/>
                  </a:lnTo>
                  <a:lnTo>
                    <a:pt x="4553902" y="2410778"/>
                  </a:lnTo>
                  <a:lnTo>
                    <a:pt x="4590098" y="2413635"/>
                  </a:lnTo>
                  <a:lnTo>
                    <a:pt x="4627245" y="2417445"/>
                  </a:lnTo>
                  <a:lnTo>
                    <a:pt x="4664392" y="2420302"/>
                  </a:lnTo>
                  <a:lnTo>
                    <a:pt x="4687252" y="2422208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06992" y="3763328"/>
              <a:ext cx="9525" cy="851535"/>
            </a:xfrm>
            <a:custGeom>
              <a:avLst/>
              <a:gdLst/>
              <a:ahLst/>
              <a:cxnLst/>
              <a:rect l="l" t="t" r="r" b="b"/>
              <a:pathLst>
                <a:path w="9525" h="851535">
                  <a:moveTo>
                    <a:pt x="0" y="8515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4080510" y="3763328"/>
              <a:ext cx="9525" cy="851535"/>
            </a:xfrm>
            <a:custGeom>
              <a:avLst/>
              <a:gdLst/>
              <a:ahLst/>
              <a:cxnLst/>
              <a:rect l="l" t="t" r="r" b="b"/>
              <a:pathLst>
                <a:path w="9525" h="851535">
                  <a:moveTo>
                    <a:pt x="0" y="8515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357562" y="3749040"/>
              <a:ext cx="708660" cy="9525"/>
            </a:xfrm>
            <a:custGeom>
              <a:avLst/>
              <a:gdLst/>
              <a:ahLst/>
              <a:cxnLst/>
              <a:rect l="l" t="t" r="r" b="b"/>
              <a:pathLst>
                <a:path w="708660" h="9525">
                  <a:moveTo>
                    <a:pt x="0" y="0"/>
                  </a:moveTo>
                  <a:lnTo>
                    <a:pt x="70866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5" name="Ellipse 15"/>
            <p:cNvSpPr/>
            <p:nvPr/>
          </p:nvSpPr>
          <p:spPr>
            <a:xfrm>
              <a:off x="998220" y="4624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765482" y="4624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338512" y="50044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338512" y="16954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81075" y="45577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696902" y="45577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602230" y="4624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2602230" y="37442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075748" y="4624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4075748" y="37442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338512" y="37442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075748" y="37442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67190" y="48820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72596" y="1806416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B/B₀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21539" y="485251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35307" y="485251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00670" y="3652838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0.35B₀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28822" y="2069306"/>
              <a:ext cx="934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B₀ = μ₀I/(2R)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67139" y="4855845"/>
              <a:ext cx="1103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78"/>
              <p:cNvSpPr txBox="1">
                <a:spLocks noGrp="1"/>
              </p:cNvSpPr>
              <p:nvPr/>
            </p:nvSpPr>
            <p:spPr>
              <a:xfrm>
                <a:off x="533400" y="5360670"/>
                <a:ext cx="5626418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≫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sSup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sSup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  <m:sSup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Iπ</m:t>
                      </m:r>
                      <m:sSup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37" name="c1-text-3"/>
          <p:cNvGrpSpPr/>
          <p:nvPr/>
        </p:nvGrpSpPr>
        <p:grpSpPr>
          <a:xfrm>
            <a:off x="527685" y="5965984"/>
            <a:ext cx="5295646" cy="441008"/>
            <a:chOff x="527685" y="5965984"/>
            <a:chExt cx="5295646" cy="441008"/>
          </a:xfrm>
        </p:grpSpPr>
        <p:sp>
          <p:nvSpPr>
            <p:cNvPr id="36" name="TextBox 36"/>
            <p:cNvSpPr txBox="1"/>
            <p:nvPr/>
          </p:nvSpPr>
          <p:spPr>
            <a:xfrm>
              <a:off x="527685" y="5965984"/>
              <a:ext cx="5295646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远处按 1/x³ 衰减，只由 pₘ = IS 决定，pₘ 就是 5.7 节的线圈磁矩（原课件没有这一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条）。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464618" y="1524000"/>
            <a:ext cx="5193982" cy="1810702"/>
            <a:chOff x="6464618" y="1524000"/>
            <a:chExt cx="5193982" cy="1810702"/>
          </a:xfrm>
        </p:grpSpPr>
        <p:sp>
          <p:nvSpPr>
            <p:cNvPr id="38" name="Rectangle 38"/>
            <p:cNvSpPr/>
            <p:nvPr/>
          </p:nvSpPr>
          <p:spPr>
            <a:xfrm>
              <a:off x="6464618" y="1524000"/>
              <a:ext cx="5193982" cy="1810702"/>
            </a:xfrm>
            <a:prstGeom prst="roundRect">
              <a:avLst>
                <a:gd name="adj" fmla="val 736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57022" y="1716405"/>
              <a:ext cx="1191578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27605" y="1750695"/>
              <a:ext cx="10513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圆心处（x = 0）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formula79"/>
                <p:cNvSpPr txBox="1">
                  <a:spLocks noGrp="1"/>
                </p:cNvSpPr>
                <p:nvPr/>
              </p:nvSpPr>
              <p:spPr>
                <a:xfrm>
                  <a:off x="6657022" y="2050732"/>
                  <a:ext cx="4809172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2R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2" name="TextBox 42"/>
            <p:cNvSpPr txBox="1"/>
            <p:nvPr/>
          </p:nvSpPr>
          <p:spPr>
            <a:xfrm>
              <a:off x="6650164" y="2673668"/>
              <a:ext cx="45485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也可以直接算：各电流元到 O 的距离都是 R，Idl ⊥ r，dB 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向，B = ∫ μ₀I dl/(4πR²) = μ₀I/(2R)。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464618" y="3509962"/>
            <a:ext cx="5193982" cy="1463040"/>
            <a:chOff x="6464618" y="3509962"/>
            <a:chExt cx="5193982" cy="1463040"/>
          </a:xfrm>
        </p:grpSpPr>
        <p:sp>
          <p:nvSpPr>
            <p:cNvPr id="44" name="Rectangle 44"/>
            <p:cNvSpPr/>
            <p:nvPr/>
          </p:nvSpPr>
          <p:spPr>
            <a:xfrm>
              <a:off x="6464618" y="3509962"/>
              <a:ext cx="5193982" cy="1463040"/>
            </a:xfrm>
            <a:prstGeom prst="roundRect">
              <a:avLst>
                <a:gd name="adj" fmla="val 911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57022" y="3702368"/>
              <a:ext cx="1570672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16081" y="3736658"/>
              <a:ext cx="14535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圆心角为 θ 的一段圆弧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formula80"/>
                <p:cNvSpPr txBox="1">
                  <a:spLocks noGrp="1"/>
                </p:cNvSpPr>
                <p:nvPr/>
              </p:nvSpPr>
              <p:spPr>
                <a:xfrm>
                  <a:off x="6657022" y="4036695"/>
                  <a:ext cx="4809172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Iθ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4πR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2R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2π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8" name="TextBox 48"/>
            <p:cNvSpPr txBox="1"/>
            <p:nvPr/>
          </p:nvSpPr>
          <p:spPr>
            <a:xfrm>
              <a:off x="6651308" y="4604861"/>
              <a:ext cx="37005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按圆心角占整圆的比例折算，半圆 θ = π 得 μ₀I/(4R)。</a:t>
              </a:r>
            </a:p>
          </p:txBody>
        </p:sp>
      </p:grpSp>
      <p:grpSp>
        <p:nvGrpSpPr>
          <p:cNvPr id="55" name="c2-card-3"/>
          <p:cNvGrpSpPr/>
          <p:nvPr/>
        </p:nvGrpSpPr>
        <p:grpSpPr>
          <a:xfrm>
            <a:off x="6464618" y="5147310"/>
            <a:ext cx="5193982" cy="1209675"/>
            <a:chOff x="6464618" y="5147310"/>
            <a:chExt cx="5193982" cy="1209675"/>
          </a:xfrm>
        </p:grpSpPr>
        <p:sp>
          <p:nvSpPr>
            <p:cNvPr id="50" name="Rectangle 50"/>
            <p:cNvSpPr/>
            <p:nvPr/>
          </p:nvSpPr>
          <p:spPr>
            <a:xfrm>
              <a:off x="6464618" y="5147310"/>
              <a:ext cx="5193982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4142" y="528066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95122" y="53397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86562" y="53740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88264" y="5696902"/>
              <a:ext cx="44542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5 cm、I = 10 A：圆心 B₀ = μ₀I/(2R) ≈ 1.26×10⁻⁴ T；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轴上 x = R 处 B = B₀/(2√2) ≈ 4.4×10⁻⁵ T。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毕奥-萨伐尔定律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五个必记结论，加上组合电流的解题步骤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5951220" cy="2873692"/>
            <a:chOff x="533400" y="1524000"/>
            <a:chExt cx="5951220" cy="28736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39102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6825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04172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80251" y="1648778"/>
              <a:ext cx="730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的大小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9412" y="220789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电流元或一段直导线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74404" y="2087880"/>
              <a:ext cx="10424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在它的延长线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88569" y="220789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374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2235"/>
              <a:ext cx="595122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9412" y="276701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一段直导线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74404" y="2767012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到导线距离 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56676" y="2767012"/>
              <a:ext cx="21774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μ₀I(cosα₁−cosα₂)/(4πa)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7562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9412" y="320611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无限长直导线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74404" y="3206115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到导线距离 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05421" y="3206115"/>
              <a:ext cx="8799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μ₀I/(2πa)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1472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19488"/>
              <a:ext cx="595122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9412" y="36452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圆电流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74404" y="3645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47212" y="3645218"/>
              <a:ext cx="7963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μ₀I/(2R)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538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9412" y="408336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圆心角 θ 的圆弧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74404" y="4083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50686" y="4083368"/>
              <a:ext cx="9894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μ₀Iθ/(4πR)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5951220" cy="28736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373630" y="1524000"/>
              <a:ext cx="9525" cy="28736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801428" y="1524000"/>
              <a:ext cx="9525" cy="28736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llout-2"/>
          <p:cNvGrpSpPr/>
          <p:nvPr/>
        </p:nvGrpSpPr>
        <p:grpSpPr>
          <a:xfrm>
            <a:off x="533400" y="4567238"/>
            <a:ext cx="5951220" cy="1134428"/>
            <a:chOff x="533400" y="4567238"/>
            <a:chExt cx="5951220" cy="1134428"/>
          </a:xfrm>
        </p:grpSpPr>
        <p:sp>
          <p:nvSpPr>
            <p:cNvPr id="36" name="Rectangle 36"/>
            <p:cNvSpPr/>
            <p:nvPr/>
          </p:nvSpPr>
          <p:spPr>
            <a:xfrm>
              <a:off x="533400" y="4567238"/>
              <a:ext cx="5951220" cy="1134428"/>
            </a:xfrm>
            <a:prstGeom prst="roundRect">
              <a:avLst>
                <a:gd name="adj" fmla="val 1007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034915"/>
              <a:ext cx="200026" cy="200025"/>
              <a:chOff x="738188" y="5034915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0349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50793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51904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4915852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半无限长直导线在端点垂线上的 μ₀I/(4πa)，是无限长结果的一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半，可以当作第六个结论记。</a:t>
              </a:r>
            </a:p>
          </p:txBody>
        </p:sp>
      </p:grpSp>
      <p:grpSp>
        <p:nvGrpSpPr>
          <p:cNvPr id="60" name="c2-steps-1"/>
          <p:cNvGrpSpPr/>
          <p:nvPr/>
        </p:nvGrpSpPr>
        <p:grpSpPr>
          <a:xfrm>
            <a:off x="6789420" y="1533525"/>
            <a:ext cx="4692015" cy="2476023"/>
            <a:chOff x="6789420" y="1533525"/>
            <a:chExt cx="4692015" cy="2476023"/>
          </a:xfrm>
        </p:grpSpPr>
        <p:sp>
          <p:nvSpPr>
            <p:cNvPr id="43" name="Rectangle 43"/>
            <p:cNvSpPr/>
            <p:nvPr/>
          </p:nvSpPr>
          <p:spPr>
            <a:xfrm>
              <a:off x="6922770" y="1676400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789420" y="21164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8304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789420" y="26993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8304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789420" y="328231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83044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01662" y="1564957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02805" y="183308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把导线拆成若干直线段和圆弧段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01662" y="214788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02805" y="241601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延长线通过场点的直线段贡献为零，直接划掉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01662" y="27308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02805" y="299894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其余各段分别套左表公式求大小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01662" y="331374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02805" y="3581876"/>
              <a:ext cx="42786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每段用右手法则定方向：同向相加、反向相减，互相垂直时用勾股定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理合成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789420" y="4172902"/>
            <a:ext cx="4869180" cy="1528762"/>
            <a:chOff x="6789420" y="4172902"/>
            <a:chExt cx="4869180" cy="1528762"/>
          </a:xfrm>
        </p:grpSpPr>
        <p:sp>
          <p:nvSpPr>
            <p:cNvPr id="61" name="Rectangle 61"/>
            <p:cNvSpPr/>
            <p:nvPr/>
          </p:nvSpPr>
          <p:spPr>
            <a:xfrm>
              <a:off x="6789420" y="4172902"/>
              <a:ext cx="4869180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798945" y="4306252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014210" y="435959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095680" y="439245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常见失分点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022782" y="475964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178802" y="470344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把半无限长当成无限长，结果大了一倍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022782" y="505968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178802" y="5003483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圆弧公式里的 θ 用了角度而不是弧度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022782" y="536067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178802" y="530352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两段磁场方向互相垂直，却直接把大小相加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2" name="Rectangle 7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892" y="6028373"/>
              <a:ext cx="9100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定方向时，直导线用右手握住看四指，圆弧用右手四指顺着电流弯曲看拇指；先定方向再算大小，最不容易出错。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毕奥-萨伐尔定律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练习（一）半圆加两条半无限长直线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4" name="g_ex1"/>
          <p:cNvGrpSpPr/>
          <p:nvPr/>
        </p:nvGrpSpPr>
        <p:grpSpPr>
          <a:xfrm>
            <a:off x="1589722" y="1584484"/>
            <a:ext cx="3847148" cy="1509236"/>
            <a:chOff x="1589722" y="1584484"/>
            <a:chExt cx="3847148" cy="1509236"/>
          </a:xfrm>
        </p:grpSpPr>
        <p:sp>
          <p:nvSpPr>
            <p:cNvPr id="7" name="Freeform 7"/>
            <p:cNvSpPr/>
            <p:nvPr/>
          </p:nvSpPr>
          <p:spPr>
            <a:xfrm>
              <a:off x="1644015" y="1784032"/>
              <a:ext cx="616268" cy="1261110"/>
            </a:xfrm>
            <a:custGeom>
              <a:avLst/>
              <a:gdLst/>
              <a:ahLst/>
              <a:cxnLst/>
              <a:rect l="l" t="t" r="r" b="b"/>
              <a:pathLst>
                <a:path w="616268" h="1261110">
                  <a:moveTo>
                    <a:pt x="616268" y="1261110"/>
                  </a:moveTo>
                  <a:lnTo>
                    <a:pt x="581978" y="1260158"/>
                  </a:lnTo>
                  <a:lnTo>
                    <a:pt x="532448" y="1254442"/>
                  </a:lnTo>
                  <a:lnTo>
                    <a:pt x="483870" y="1244918"/>
                  </a:lnTo>
                  <a:lnTo>
                    <a:pt x="435293" y="1231582"/>
                  </a:lnTo>
                  <a:lnTo>
                    <a:pt x="389573" y="1214438"/>
                  </a:lnTo>
                  <a:lnTo>
                    <a:pt x="343852" y="1193482"/>
                  </a:lnTo>
                  <a:lnTo>
                    <a:pt x="300990" y="1168718"/>
                  </a:lnTo>
                  <a:lnTo>
                    <a:pt x="260033" y="1141095"/>
                  </a:lnTo>
                  <a:lnTo>
                    <a:pt x="220980" y="1110615"/>
                  </a:lnTo>
                  <a:lnTo>
                    <a:pt x="184785" y="1077277"/>
                  </a:lnTo>
                  <a:lnTo>
                    <a:pt x="151448" y="1041083"/>
                  </a:lnTo>
                  <a:lnTo>
                    <a:pt x="120015" y="1002030"/>
                  </a:lnTo>
                  <a:lnTo>
                    <a:pt x="92393" y="960120"/>
                  </a:lnTo>
                  <a:lnTo>
                    <a:pt x="68580" y="917258"/>
                  </a:lnTo>
                  <a:lnTo>
                    <a:pt x="47625" y="872490"/>
                  </a:lnTo>
                  <a:lnTo>
                    <a:pt x="30480" y="825817"/>
                  </a:lnTo>
                  <a:lnTo>
                    <a:pt x="17145" y="778192"/>
                  </a:lnTo>
                  <a:lnTo>
                    <a:pt x="6668" y="729615"/>
                  </a:lnTo>
                  <a:lnTo>
                    <a:pt x="1905" y="680085"/>
                  </a:lnTo>
                  <a:lnTo>
                    <a:pt x="0" y="630555"/>
                  </a:lnTo>
                  <a:lnTo>
                    <a:pt x="1905" y="581025"/>
                  </a:lnTo>
                  <a:lnTo>
                    <a:pt x="6668" y="531495"/>
                  </a:lnTo>
                  <a:lnTo>
                    <a:pt x="17145" y="482917"/>
                  </a:lnTo>
                  <a:lnTo>
                    <a:pt x="30480" y="435292"/>
                  </a:lnTo>
                  <a:lnTo>
                    <a:pt x="47625" y="388620"/>
                  </a:lnTo>
                  <a:lnTo>
                    <a:pt x="68580" y="343852"/>
                  </a:lnTo>
                  <a:lnTo>
                    <a:pt x="92393" y="300990"/>
                  </a:lnTo>
                  <a:lnTo>
                    <a:pt x="120015" y="259080"/>
                  </a:lnTo>
                  <a:lnTo>
                    <a:pt x="151448" y="220027"/>
                  </a:lnTo>
                  <a:lnTo>
                    <a:pt x="184785" y="183832"/>
                  </a:lnTo>
                  <a:lnTo>
                    <a:pt x="220980" y="150495"/>
                  </a:lnTo>
                  <a:lnTo>
                    <a:pt x="260033" y="120015"/>
                  </a:lnTo>
                  <a:lnTo>
                    <a:pt x="300990" y="92392"/>
                  </a:lnTo>
                  <a:lnTo>
                    <a:pt x="343852" y="67627"/>
                  </a:lnTo>
                  <a:lnTo>
                    <a:pt x="389573" y="46672"/>
                  </a:lnTo>
                  <a:lnTo>
                    <a:pt x="435293" y="29527"/>
                  </a:lnTo>
                  <a:lnTo>
                    <a:pt x="483870" y="16192"/>
                  </a:lnTo>
                  <a:lnTo>
                    <a:pt x="532448" y="6667"/>
                  </a:lnTo>
                  <a:lnTo>
                    <a:pt x="581978" y="952"/>
                  </a:lnTo>
                  <a:lnTo>
                    <a:pt x="616268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37348" y="2345055"/>
              <a:ext cx="17145" cy="186690"/>
            </a:xfrm>
            <a:custGeom>
              <a:avLst/>
              <a:gdLst/>
              <a:ahLst/>
              <a:cxnLst/>
              <a:rect l="l" t="t" r="r" b="b"/>
              <a:pathLst>
                <a:path w="17145" h="186690">
                  <a:moveTo>
                    <a:pt x="17145" y="186690"/>
                  </a:moveTo>
                  <a:lnTo>
                    <a:pt x="12382" y="160973"/>
                  </a:lnTo>
                  <a:lnTo>
                    <a:pt x="8573" y="120967"/>
                  </a:lnTo>
                  <a:lnTo>
                    <a:pt x="6667" y="80962"/>
                  </a:lnTo>
                  <a:lnTo>
                    <a:pt x="6667" y="40005"/>
                  </a:lnTo>
                  <a:lnTo>
                    <a:pt x="10477" y="0"/>
                  </a:lnTo>
                  <a:lnTo>
                    <a:pt x="0" y="6858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589722" y="2319338"/>
              <a:ext cx="94298" cy="100965"/>
            </a:xfrm>
            <a:custGeom>
              <a:avLst/>
              <a:gdLst/>
              <a:ahLst/>
              <a:cxnLst/>
              <a:rect l="l" t="t" r="r" b="b"/>
              <a:pathLst>
                <a:path w="94298" h="100965">
                  <a:moveTo>
                    <a:pt x="61912" y="0"/>
                  </a:moveTo>
                  <a:lnTo>
                    <a:pt x="94298" y="100965"/>
                  </a:lnTo>
                  <a:lnTo>
                    <a:pt x="0" y="86677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288858" y="1783080"/>
              <a:ext cx="2724150" cy="9525"/>
            </a:xfrm>
            <a:custGeom>
              <a:avLst/>
              <a:gdLst/>
              <a:ahLst/>
              <a:cxnLst/>
              <a:rect l="l" t="t" r="r" b="b"/>
              <a:pathLst>
                <a:path w="2724150" h="9525">
                  <a:moveTo>
                    <a:pt x="0" y="0"/>
                  </a:moveTo>
                  <a:lnTo>
                    <a:pt x="272415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288858" y="3046095"/>
              <a:ext cx="2724150" cy="9525"/>
            </a:xfrm>
            <a:custGeom>
              <a:avLst/>
              <a:gdLst/>
              <a:ahLst/>
              <a:cxnLst/>
              <a:rect l="l" t="t" r="r" b="b"/>
              <a:pathLst>
                <a:path w="2724150" h="9525">
                  <a:moveTo>
                    <a:pt x="2724150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041582" y="1783080"/>
              <a:ext cx="376238" cy="9525"/>
            </a:xfrm>
            <a:custGeom>
              <a:avLst/>
              <a:gdLst/>
              <a:ahLst/>
              <a:cxnLst/>
              <a:rect l="l" t="t" r="r" b="b"/>
              <a:pathLst>
                <a:path w="376238" h="9525">
                  <a:moveTo>
                    <a:pt x="0" y="0"/>
                  </a:moveTo>
                  <a:lnTo>
                    <a:pt x="376238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5041582" y="3046095"/>
              <a:ext cx="376238" cy="9525"/>
            </a:xfrm>
            <a:custGeom>
              <a:avLst/>
              <a:gdLst/>
              <a:ahLst/>
              <a:cxnLst/>
              <a:rect l="l" t="t" r="r" b="b"/>
              <a:pathLst>
                <a:path w="376238" h="9525">
                  <a:moveTo>
                    <a:pt x="0" y="0"/>
                  </a:moveTo>
                  <a:lnTo>
                    <a:pt x="376238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382328" y="178308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744278" y="17354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477578" y="3046095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361950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382328" y="29984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274570" y="1797368"/>
              <a:ext cx="9525" cy="1234440"/>
            </a:xfrm>
            <a:custGeom>
              <a:avLst/>
              <a:gdLst/>
              <a:ahLst/>
              <a:cxnLst/>
              <a:rect l="l" t="t" r="r" b="b"/>
              <a:pathLst>
                <a:path w="9525" h="1234440">
                  <a:moveTo>
                    <a:pt x="0" y="0"/>
                  </a:moveTo>
                  <a:lnTo>
                    <a:pt x="0" y="123444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1905952" y="2045970"/>
              <a:ext cx="359093" cy="358140"/>
            </a:xfrm>
            <a:custGeom>
              <a:avLst/>
              <a:gdLst/>
              <a:ahLst/>
              <a:cxnLst/>
              <a:rect l="l" t="t" r="r" b="b"/>
              <a:pathLst>
                <a:path w="359093" h="358140">
                  <a:moveTo>
                    <a:pt x="359093" y="35814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838325" y="1978342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0"/>
                  </a:moveTo>
                  <a:lnTo>
                    <a:pt x="100965" y="33338"/>
                  </a:lnTo>
                  <a:lnTo>
                    <a:pt x="34290" y="10096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477452" y="2326005"/>
              <a:ext cx="176212" cy="178117"/>
            </a:xfrm>
            <a:custGeom>
              <a:avLst/>
              <a:gdLst/>
              <a:ahLst/>
              <a:cxnLst/>
              <a:rect l="l" t="t" r="r" b="b"/>
              <a:pathLst>
                <a:path w="176212" h="178117">
                  <a:moveTo>
                    <a:pt x="176212" y="74295"/>
                  </a:moveTo>
                  <a:lnTo>
                    <a:pt x="175260" y="68580"/>
                  </a:lnTo>
                  <a:lnTo>
                    <a:pt x="169545" y="49530"/>
                  </a:lnTo>
                  <a:lnTo>
                    <a:pt x="159067" y="33338"/>
                  </a:lnTo>
                  <a:lnTo>
                    <a:pt x="144780" y="19050"/>
                  </a:lnTo>
                  <a:lnTo>
                    <a:pt x="127635" y="8573"/>
                  </a:lnTo>
                  <a:lnTo>
                    <a:pt x="109538" y="1905"/>
                  </a:lnTo>
                  <a:lnTo>
                    <a:pt x="89535" y="0"/>
                  </a:lnTo>
                  <a:lnTo>
                    <a:pt x="69532" y="1905"/>
                  </a:lnTo>
                  <a:lnTo>
                    <a:pt x="50482" y="8573"/>
                  </a:lnTo>
                  <a:lnTo>
                    <a:pt x="33338" y="19050"/>
                  </a:lnTo>
                  <a:lnTo>
                    <a:pt x="19050" y="33338"/>
                  </a:lnTo>
                  <a:lnTo>
                    <a:pt x="8572" y="49530"/>
                  </a:lnTo>
                  <a:lnTo>
                    <a:pt x="1905" y="68580"/>
                  </a:lnTo>
                  <a:lnTo>
                    <a:pt x="0" y="88583"/>
                  </a:lnTo>
                  <a:lnTo>
                    <a:pt x="1905" y="108585"/>
                  </a:lnTo>
                  <a:lnTo>
                    <a:pt x="8572" y="127635"/>
                  </a:lnTo>
                  <a:lnTo>
                    <a:pt x="19050" y="143828"/>
                  </a:lnTo>
                  <a:lnTo>
                    <a:pt x="33338" y="158115"/>
                  </a:lnTo>
                  <a:lnTo>
                    <a:pt x="50482" y="168592"/>
                  </a:lnTo>
                  <a:lnTo>
                    <a:pt x="69532" y="175260"/>
                  </a:lnTo>
                  <a:lnTo>
                    <a:pt x="89535" y="178117"/>
                  </a:lnTo>
                  <a:lnTo>
                    <a:pt x="109538" y="175260"/>
                  </a:lnTo>
                  <a:lnTo>
                    <a:pt x="127635" y="168592"/>
                  </a:lnTo>
                  <a:lnTo>
                    <a:pt x="144780" y="158115"/>
                  </a:lnTo>
                  <a:lnTo>
                    <a:pt x="159067" y="143828"/>
                  </a:lnTo>
                  <a:lnTo>
                    <a:pt x="169545" y="127635"/>
                  </a:lnTo>
                  <a:lnTo>
                    <a:pt x="175260" y="108585"/>
                  </a:lnTo>
                  <a:lnTo>
                    <a:pt x="176212" y="10287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516505" y="236410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0"/>
                  </a:moveTo>
                  <a:lnTo>
                    <a:pt x="100965" y="10096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516505" y="236410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100965"/>
                  </a:moveTo>
                  <a:lnTo>
                    <a:pt x="10096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269808" y="3041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269808" y="1778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652588" y="25412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648778" y="23002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269808" y="1778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022532" y="1778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022532" y="3041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269808" y="3041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022532" y="1778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427345" y="1778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5022532" y="3041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427345" y="3041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363278" y="1778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849052" y="1778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849052" y="3041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363278" y="3041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269808" y="1778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269808" y="3041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269808" y="24098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824038" y="19631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2650808" y="24098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2650808" y="24098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2501265" y="23488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2622232" y="24707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2501265" y="24707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2622232" y="23488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584020" y="1584484"/>
              <a:ext cx="53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861368" y="220503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301316" y="2545080"/>
              <a:ext cx="1103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734810" y="238315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65" name="c1-card-2"/>
          <p:cNvGrpSpPr/>
          <p:nvPr/>
        </p:nvGrpSpPr>
        <p:grpSpPr>
          <a:xfrm>
            <a:off x="533400" y="3469958"/>
            <a:ext cx="5410200" cy="1989772"/>
            <a:chOff x="533400" y="3469958"/>
            <a:chExt cx="5410200" cy="1989772"/>
          </a:xfrm>
        </p:grpSpPr>
        <p:sp>
          <p:nvSpPr>
            <p:cNvPr id="55" name="Rectangle 55"/>
            <p:cNvSpPr/>
            <p:nvPr/>
          </p:nvSpPr>
          <p:spPr>
            <a:xfrm>
              <a:off x="533400" y="3469958"/>
              <a:ext cx="5410200" cy="1989772"/>
            </a:xfrm>
            <a:prstGeom prst="roundRect">
              <a:avLst>
                <a:gd name="adj" fmla="val 67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42925" y="3603308"/>
              <a:ext cx="47625" cy="17230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52475" y="3650932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41519" y="3683794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 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5998" y="3991451"/>
              <a:ext cx="50659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半径 R 的半圆与两条半无限长直线在纸面内连成回路，O 为圆心。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62000" y="432816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17448" y="4276249"/>
              <a:ext cx="31674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半圆：μ₀I/(4R)，顺时针，垂直纸面向里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62000" y="461391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17448" y="4561046"/>
              <a:ext cx="3621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每条直线：O 正对端点，μ₀I/(4πR)，同样向里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formula93"/>
                <p:cNvSpPr txBox="1">
                  <a:spLocks noGrp="1"/>
                </p:cNvSpPr>
                <p:nvPr/>
              </p:nvSpPr>
              <p:spPr>
                <a:xfrm>
                  <a:off x="752475" y="4825365"/>
                  <a:ext cx="5010150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4R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2πR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00" name="g_ex2"/>
          <p:cNvGrpSpPr/>
          <p:nvPr/>
        </p:nvGrpSpPr>
        <p:grpSpPr>
          <a:xfrm>
            <a:off x="7682865" y="1584484"/>
            <a:ext cx="3469005" cy="1509236"/>
            <a:chOff x="7682865" y="1584484"/>
            <a:chExt cx="3469005" cy="1509236"/>
          </a:xfrm>
        </p:grpSpPr>
        <p:sp>
          <p:nvSpPr>
            <p:cNvPr id="66" name="Freeform 66"/>
            <p:cNvSpPr/>
            <p:nvPr/>
          </p:nvSpPr>
          <p:spPr>
            <a:xfrm>
              <a:off x="7682865" y="1784032"/>
              <a:ext cx="292417" cy="1261110"/>
            </a:xfrm>
            <a:custGeom>
              <a:avLst/>
              <a:gdLst/>
              <a:ahLst/>
              <a:cxnLst/>
              <a:rect l="l" t="t" r="r" b="b"/>
              <a:pathLst>
                <a:path w="292417" h="1261110">
                  <a:moveTo>
                    <a:pt x="292417" y="1261110"/>
                  </a:moveTo>
                  <a:lnTo>
                    <a:pt x="282892" y="1260158"/>
                  </a:lnTo>
                  <a:lnTo>
                    <a:pt x="259080" y="1254442"/>
                  </a:lnTo>
                  <a:lnTo>
                    <a:pt x="235267" y="1244918"/>
                  </a:lnTo>
                  <a:lnTo>
                    <a:pt x="211455" y="1231582"/>
                  </a:lnTo>
                  <a:lnTo>
                    <a:pt x="189547" y="1214438"/>
                  </a:lnTo>
                  <a:lnTo>
                    <a:pt x="167640" y="1193482"/>
                  </a:lnTo>
                  <a:lnTo>
                    <a:pt x="146685" y="1168718"/>
                  </a:lnTo>
                  <a:lnTo>
                    <a:pt x="126682" y="1141095"/>
                  </a:lnTo>
                  <a:lnTo>
                    <a:pt x="107632" y="1110615"/>
                  </a:lnTo>
                  <a:lnTo>
                    <a:pt x="89535" y="1077277"/>
                  </a:lnTo>
                  <a:lnTo>
                    <a:pt x="73342" y="1041083"/>
                  </a:lnTo>
                  <a:lnTo>
                    <a:pt x="58103" y="1002030"/>
                  </a:lnTo>
                  <a:lnTo>
                    <a:pt x="44767" y="960120"/>
                  </a:lnTo>
                  <a:lnTo>
                    <a:pt x="33338" y="917258"/>
                  </a:lnTo>
                  <a:lnTo>
                    <a:pt x="22860" y="872490"/>
                  </a:lnTo>
                  <a:lnTo>
                    <a:pt x="14288" y="825817"/>
                  </a:lnTo>
                  <a:lnTo>
                    <a:pt x="7620" y="778192"/>
                  </a:lnTo>
                  <a:lnTo>
                    <a:pt x="3810" y="729615"/>
                  </a:lnTo>
                  <a:lnTo>
                    <a:pt x="0" y="680085"/>
                  </a:lnTo>
                  <a:lnTo>
                    <a:pt x="0" y="630555"/>
                  </a:lnTo>
                  <a:lnTo>
                    <a:pt x="0" y="581025"/>
                  </a:lnTo>
                  <a:lnTo>
                    <a:pt x="3810" y="531495"/>
                  </a:lnTo>
                  <a:lnTo>
                    <a:pt x="7620" y="482917"/>
                  </a:lnTo>
                  <a:lnTo>
                    <a:pt x="14288" y="435292"/>
                  </a:lnTo>
                  <a:lnTo>
                    <a:pt x="22860" y="388620"/>
                  </a:lnTo>
                  <a:lnTo>
                    <a:pt x="33338" y="343852"/>
                  </a:lnTo>
                  <a:lnTo>
                    <a:pt x="44767" y="300990"/>
                  </a:lnTo>
                  <a:lnTo>
                    <a:pt x="58103" y="259080"/>
                  </a:lnTo>
                  <a:lnTo>
                    <a:pt x="73342" y="220027"/>
                  </a:lnTo>
                  <a:lnTo>
                    <a:pt x="89535" y="183832"/>
                  </a:lnTo>
                  <a:lnTo>
                    <a:pt x="107632" y="150495"/>
                  </a:lnTo>
                  <a:lnTo>
                    <a:pt x="126682" y="120015"/>
                  </a:lnTo>
                  <a:lnTo>
                    <a:pt x="146685" y="92392"/>
                  </a:lnTo>
                  <a:lnTo>
                    <a:pt x="167640" y="67627"/>
                  </a:lnTo>
                  <a:lnTo>
                    <a:pt x="189547" y="46672"/>
                  </a:lnTo>
                  <a:lnTo>
                    <a:pt x="211455" y="29527"/>
                  </a:lnTo>
                  <a:lnTo>
                    <a:pt x="235267" y="16192"/>
                  </a:lnTo>
                  <a:lnTo>
                    <a:pt x="259080" y="6667"/>
                  </a:lnTo>
                  <a:lnTo>
                    <a:pt x="282892" y="952"/>
                  </a:lnTo>
                  <a:lnTo>
                    <a:pt x="292417" y="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8003858" y="1784985"/>
              <a:ext cx="294323" cy="1259205"/>
            </a:xfrm>
            <a:custGeom>
              <a:avLst/>
              <a:gdLst/>
              <a:ahLst/>
              <a:cxnLst/>
              <a:rect l="l" t="t" r="r" b="b"/>
              <a:pathLst>
                <a:path w="294323" h="1259205">
                  <a:moveTo>
                    <a:pt x="0" y="1259205"/>
                  </a:moveTo>
                  <a:lnTo>
                    <a:pt x="18098" y="1257300"/>
                  </a:lnTo>
                  <a:lnTo>
                    <a:pt x="49530" y="1247775"/>
                  </a:lnTo>
                  <a:lnTo>
                    <a:pt x="80962" y="1230630"/>
                  </a:lnTo>
                  <a:lnTo>
                    <a:pt x="111443" y="1206818"/>
                  </a:lnTo>
                  <a:lnTo>
                    <a:pt x="140018" y="1176337"/>
                  </a:lnTo>
                  <a:lnTo>
                    <a:pt x="166688" y="1140143"/>
                  </a:lnTo>
                  <a:lnTo>
                    <a:pt x="192405" y="1099185"/>
                  </a:lnTo>
                  <a:lnTo>
                    <a:pt x="215265" y="1052512"/>
                  </a:lnTo>
                  <a:lnTo>
                    <a:pt x="235268" y="1001078"/>
                  </a:lnTo>
                  <a:lnTo>
                    <a:pt x="252412" y="945832"/>
                  </a:lnTo>
                  <a:lnTo>
                    <a:pt x="267653" y="886778"/>
                  </a:lnTo>
                  <a:lnTo>
                    <a:pt x="279083" y="824865"/>
                  </a:lnTo>
                  <a:lnTo>
                    <a:pt x="286703" y="761048"/>
                  </a:lnTo>
                  <a:lnTo>
                    <a:pt x="292418" y="695325"/>
                  </a:lnTo>
                  <a:lnTo>
                    <a:pt x="294323" y="629602"/>
                  </a:lnTo>
                  <a:lnTo>
                    <a:pt x="292418" y="563880"/>
                  </a:lnTo>
                  <a:lnTo>
                    <a:pt x="286703" y="498157"/>
                  </a:lnTo>
                  <a:lnTo>
                    <a:pt x="279083" y="434340"/>
                  </a:lnTo>
                  <a:lnTo>
                    <a:pt x="267653" y="372427"/>
                  </a:lnTo>
                  <a:lnTo>
                    <a:pt x="252412" y="313373"/>
                  </a:lnTo>
                  <a:lnTo>
                    <a:pt x="235268" y="258127"/>
                  </a:lnTo>
                  <a:lnTo>
                    <a:pt x="215265" y="206692"/>
                  </a:lnTo>
                  <a:lnTo>
                    <a:pt x="192405" y="160020"/>
                  </a:lnTo>
                  <a:lnTo>
                    <a:pt x="166688" y="119062"/>
                  </a:lnTo>
                  <a:lnTo>
                    <a:pt x="140018" y="82867"/>
                  </a:lnTo>
                  <a:lnTo>
                    <a:pt x="111443" y="52388"/>
                  </a:lnTo>
                  <a:lnTo>
                    <a:pt x="80962" y="28575"/>
                  </a:lnTo>
                  <a:lnTo>
                    <a:pt x="49530" y="11430"/>
                  </a:lnTo>
                  <a:lnTo>
                    <a:pt x="18098" y="1905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68" name="Freeform 68"/>
            <p:cNvSpPr/>
            <p:nvPr/>
          </p:nvSpPr>
          <p:spPr>
            <a:xfrm>
              <a:off x="8003858" y="1783080"/>
              <a:ext cx="2724150" cy="9525"/>
            </a:xfrm>
            <a:custGeom>
              <a:avLst/>
              <a:gdLst/>
              <a:ahLst/>
              <a:cxnLst/>
              <a:rect l="l" t="t" r="r" b="b"/>
              <a:pathLst>
                <a:path w="2724150" h="9525">
                  <a:moveTo>
                    <a:pt x="0" y="0"/>
                  </a:moveTo>
                  <a:lnTo>
                    <a:pt x="272415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8003858" y="3046095"/>
              <a:ext cx="2724150" cy="9525"/>
            </a:xfrm>
            <a:custGeom>
              <a:avLst/>
              <a:gdLst/>
              <a:ahLst/>
              <a:cxnLst/>
              <a:rect l="l" t="t" r="r" b="b"/>
              <a:pathLst>
                <a:path w="2724150" h="9525">
                  <a:moveTo>
                    <a:pt x="2724150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10756582" y="1783080"/>
              <a:ext cx="376238" cy="9525"/>
            </a:xfrm>
            <a:custGeom>
              <a:avLst/>
              <a:gdLst/>
              <a:ahLst/>
              <a:cxnLst/>
              <a:rect l="l" t="t" r="r" b="b"/>
              <a:pathLst>
                <a:path w="376238" h="9525">
                  <a:moveTo>
                    <a:pt x="0" y="0"/>
                  </a:moveTo>
                  <a:lnTo>
                    <a:pt x="376238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  <a:custDash>
                <a:ds d="333333" sp="222222"/>
              </a:custDash>
            </a:ln>
          </p:spPr>
        </p:sp>
        <p:sp>
          <p:nvSpPr>
            <p:cNvPr id="71" name="Freeform 71"/>
            <p:cNvSpPr/>
            <p:nvPr/>
          </p:nvSpPr>
          <p:spPr>
            <a:xfrm>
              <a:off x="10756582" y="3046095"/>
              <a:ext cx="376238" cy="9525"/>
            </a:xfrm>
            <a:custGeom>
              <a:avLst/>
              <a:gdLst/>
              <a:ahLst/>
              <a:cxnLst/>
              <a:rect l="l" t="t" r="r" b="b"/>
              <a:pathLst>
                <a:path w="376238" h="9525">
                  <a:moveTo>
                    <a:pt x="0" y="0"/>
                  </a:moveTo>
                  <a:lnTo>
                    <a:pt x="376238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  <a:custDash>
                <a:ds d="333333" sp="222222"/>
              </a:custDash>
            </a:ln>
          </p:spPr>
        </p:sp>
        <p:sp>
          <p:nvSpPr>
            <p:cNvPr id="72" name="Freeform 72"/>
            <p:cNvSpPr/>
            <p:nvPr/>
          </p:nvSpPr>
          <p:spPr>
            <a:xfrm>
              <a:off x="9097328" y="178308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9459278" y="17354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74" name="Freeform 74"/>
            <p:cNvSpPr/>
            <p:nvPr/>
          </p:nvSpPr>
          <p:spPr>
            <a:xfrm>
              <a:off x="9192578" y="3046095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361950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9097328" y="29984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76" name="Freeform 76"/>
            <p:cNvSpPr/>
            <p:nvPr/>
          </p:nvSpPr>
          <p:spPr>
            <a:xfrm>
              <a:off x="7989570" y="1797368"/>
              <a:ext cx="9525" cy="1234440"/>
            </a:xfrm>
            <a:custGeom>
              <a:avLst/>
              <a:gdLst/>
              <a:ahLst/>
              <a:cxnLst/>
              <a:rect l="l" t="t" r="r" b="b"/>
              <a:pathLst>
                <a:path w="9525" h="1234440">
                  <a:moveTo>
                    <a:pt x="0" y="0"/>
                  </a:moveTo>
                  <a:lnTo>
                    <a:pt x="0" y="123444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77" name="Ellipse 77"/>
            <p:cNvSpPr/>
            <p:nvPr/>
          </p:nvSpPr>
          <p:spPr>
            <a:xfrm>
              <a:off x="7984808" y="3041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7984808" y="1778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7984808" y="3041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7984808" y="1778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7984808" y="1778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10737532" y="1778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10737532" y="3041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7984808" y="3041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10737532" y="1778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11142345" y="1778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10737532" y="3041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11142345" y="3041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9078278" y="1778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9564052" y="1778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9564052" y="3041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9078278" y="3041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7984808" y="1778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7984808" y="3041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7951470" y="2376488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9299020" y="1584484"/>
              <a:ext cx="53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048701" y="2496502"/>
              <a:ext cx="1103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045950" y="20269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037879" y="2389346"/>
              <a:ext cx="12237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半圆在垂直纸面的平面内</a:t>
              </a:r>
            </a:p>
          </p:txBody>
        </p:sp>
      </p:grpSp>
      <p:grpSp>
        <p:nvGrpSpPr>
          <p:cNvPr id="111" name="c2-card-2"/>
          <p:cNvGrpSpPr/>
          <p:nvPr/>
        </p:nvGrpSpPr>
        <p:grpSpPr>
          <a:xfrm>
            <a:off x="6248400" y="3469958"/>
            <a:ext cx="5410200" cy="1989772"/>
            <a:chOff x="6248400" y="3469958"/>
            <a:chExt cx="5410200" cy="1989772"/>
          </a:xfrm>
        </p:grpSpPr>
        <p:sp>
          <p:nvSpPr>
            <p:cNvPr id="101" name="Rectangle 101"/>
            <p:cNvSpPr/>
            <p:nvPr/>
          </p:nvSpPr>
          <p:spPr>
            <a:xfrm>
              <a:off x="6248400" y="3469958"/>
              <a:ext cx="5410200" cy="1989772"/>
            </a:xfrm>
            <a:prstGeom prst="roundRect">
              <a:avLst>
                <a:gd name="adj" fmla="val 67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6257925" y="3603308"/>
              <a:ext cx="47625" cy="17230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6467475" y="3650932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556519" y="3683794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 2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460998" y="399145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两条直线仍在纸面内，半圆所在平面与纸面垂直。</a:t>
              </a:r>
            </a:p>
          </p:txBody>
        </p:sp>
        <p:sp>
          <p:nvSpPr>
            <p:cNvPr id="106" name="Ellipse 106"/>
            <p:cNvSpPr/>
            <p:nvPr/>
          </p:nvSpPr>
          <p:spPr>
            <a:xfrm>
              <a:off x="6477000" y="432816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632448" y="4276249"/>
              <a:ext cx="30858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两条直线合起来：μ₀I/(2πR)，垂直纸面</a:t>
              </a: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6477000" y="461391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632448" y="4561046"/>
              <a:ext cx="35120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半圆：μ₀I/(4R)，垂直于半圆面，落在纸面内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formula94"/>
                <p:cNvSpPr txBox="1">
                  <a:spLocks noGrp="1"/>
                </p:cNvSpPr>
                <p:nvPr/>
              </p:nvSpPr>
              <p:spPr>
                <a:xfrm>
                  <a:off x="6467475" y="4825365"/>
                  <a:ext cx="5010150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num>
                                      <m:den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2πR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num>
                                      <m:den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4R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1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12" name="Rectangle 11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16" name="Group 116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17" name="TextBox 117"/>
            <p:cNvSpPr txBox="1"/>
            <p:nvPr/>
          </p:nvSpPr>
          <p:spPr>
            <a:xfrm>
              <a:off x="1041273" y="6039326"/>
              <a:ext cx="9343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三段方向相同才能直接相加。练习 2 的半圆转到了另一个平面，它的磁场与直线段的磁场互相垂直，只能按勾股定理合成。</a:t>
              </a:r>
            </a:p>
          </p:txBody>
        </p:sp>
      </p:grpSp>
      <p:grpSp>
        <p:nvGrpSpPr>
          <p:cNvPr id="1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9" name="TextBox 1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毕奥-萨伐尔定律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练习（二）延长线过圆心的直线，以及与导线垂直的整圆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g_ex3"/>
          <p:cNvGrpSpPr/>
          <p:nvPr/>
        </p:nvGrpSpPr>
        <p:grpSpPr>
          <a:xfrm>
            <a:off x="2797492" y="1585912"/>
            <a:ext cx="1974066" cy="1804035"/>
            <a:chOff x="2797492" y="1585912"/>
            <a:chExt cx="1974066" cy="1804035"/>
          </a:xfrm>
        </p:grpSpPr>
        <p:sp>
          <p:nvSpPr>
            <p:cNvPr id="7" name="Freeform 7"/>
            <p:cNvSpPr/>
            <p:nvPr/>
          </p:nvSpPr>
          <p:spPr>
            <a:xfrm>
              <a:off x="3372802" y="3047048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32385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372802" y="3276600"/>
              <a:ext cx="9525" cy="10478"/>
            </a:xfrm>
            <a:custGeom>
              <a:avLst/>
              <a:gdLst/>
              <a:ahLst/>
              <a:cxnLst/>
              <a:rect l="l" t="t" r="r" b="b"/>
              <a:pathLst>
                <a:path w="9525" h="10478">
                  <a:moveTo>
                    <a:pt x="0" y="10478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325178" y="3181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3372802" y="1604962"/>
              <a:ext cx="9525" cy="374333"/>
            </a:xfrm>
            <a:custGeom>
              <a:avLst/>
              <a:gdLst/>
              <a:ahLst/>
              <a:cxnLst/>
              <a:rect l="l" t="t" r="r" b="b"/>
              <a:pathLst>
                <a:path w="9525" h="374333">
                  <a:moveTo>
                    <a:pt x="0" y="374333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372802" y="1818322"/>
              <a:ext cx="9525" cy="26670"/>
            </a:xfrm>
            <a:custGeom>
              <a:avLst/>
              <a:gdLst/>
              <a:ahLst/>
              <a:cxnLst/>
              <a:rect l="l" t="t" r="r" b="b"/>
              <a:pathLst>
                <a:path w="9525" h="26670">
                  <a:moveTo>
                    <a:pt x="0" y="2667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25178" y="17230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852738" y="1993582"/>
              <a:ext cx="505778" cy="1038225"/>
            </a:xfrm>
            <a:custGeom>
              <a:avLst/>
              <a:gdLst/>
              <a:ahLst/>
              <a:cxnLst/>
              <a:rect l="l" t="t" r="r" b="b"/>
              <a:pathLst>
                <a:path w="505778" h="1038225">
                  <a:moveTo>
                    <a:pt x="505778" y="1038225"/>
                  </a:moveTo>
                  <a:lnTo>
                    <a:pt x="479108" y="1037272"/>
                  </a:lnTo>
                  <a:lnTo>
                    <a:pt x="439103" y="1032510"/>
                  </a:lnTo>
                  <a:lnTo>
                    <a:pt x="399097" y="1024890"/>
                  </a:lnTo>
                  <a:lnTo>
                    <a:pt x="359092" y="1013460"/>
                  </a:lnTo>
                  <a:lnTo>
                    <a:pt x="320992" y="999172"/>
                  </a:lnTo>
                  <a:lnTo>
                    <a:pt x="283845" y="982027"/>
                  </a:lnTo>
                  <a:lnTo>
                    <a:pt x="248603" y="962977"/>
                  </a:lnTo>
                  <a:lnTo>
                    <a:pt x="214312" y="940117"/>
                  </a:lnTo>
                  <a:lnTo>
                    <a:pt x="181928" y="914400"/>
                  </a:lnTo>
                  <a:lnTo>
                    <a:pt x="152400" y="886777"/>
                  </a:lnTo>
                  <a:lnTo>
                    <a:pt x="124778" y="857250"/>
                  </a:lnTo>
                  <a:lnTo>
                    <a:pt x="100012" y="824865"/>
                  </a:lnTo>
                  <a:lnTo>
                    <a:pt x="77153" y="790575"/>
                  </a:lnTo>
                  <a:lnTo>
                    <a:pt x="57150" y="755333"/>
                  </a:lnTo>
                  <a:lnTo>
                    <a:pt x="39053" y="718185"/>
                  </a:lnTo>
                  <a:lnTo>
                    <a:pt x="25717" y="680085"/>
                  </a:lnTo>
                  <a:lnTo>
                    <a:pt x="14288" y="641033"/>
                  </a:lnTo>
                  <a:lnTo>
                    <a:pt x="6667" y="601027"/>
                  </a:lnTo>
                  <a:lnTo>
                    <a:pt x="1905" y="560070"/>
                  </a:lnTo>
                  <a:lnTo>
                    <a:pt x="0" y="519112"/>
                  </a:lnTo>
                  <a:lnTo>
                    <a:pt x="1905" y="479108"/>
                  </a:lnTo>
                  <a:lnTo>
                    <a:pt x="6667" y="438150"/>
                  </a:lnTo>
                  <a:lnTo>
                    <a:pt x="14288" y="398145"/>
                  </a:lnTo>
                  <a:lnTo>
                    <a:pt x="25717" y="359092"/>
                  </a:lnTo>
                  <a:lnTo>
                    <a:pt x="39053" y="320992"/>
                  </a:lnTo>
                  <a:lnTo>
                    <a:pt x="57150" y="283845"/>
                  </a:lnTo>
                  <a:lnTo>
                    <a:pt x="77153" y="247650"/>
                  </a:lnTo>
                  <a:lnTo>
                    <a:pt x="100012" y="214312"/>
                  </a:lnTo>
                  <a:lnTo>
                    <a:pt x="124778" y="181927"/>
                  </a:lnTo>
                  <a:lnTo>
                    <a:pt x="152400" y="152400"/>
                  </a:lnTo>
                  <a:lnTo>
                    <a:pt x="181928" y="124777"/>
                  </a:lnTo>
                  <a:lnTo>
                    <a:pt x="214312" y="99060"/>
                  </a:lnTo>
                  <a:lnTo>
                    <a:pt x="248603" y="76200"/>
                  </a:lnTo>
                  <a:lnTo>
                    <a:pt x="283845" y="56197"/>
                  </a:lnTo>
                  <a:lnTo>
                    <a:pt x="320992" y="39052"/>
                  </a:lnTo>
                  <a:lnTo>
                    <a:pt x="359092" y="25717"/>
                  </a:lnTo>
                  <a:lnTo>
                    <a:pt x="399097" y="14288"/>
                  </a:lnTo>
                  <a:lnTo>
                    <a:pt x="439103" y="6667"/>
                  </a:lnTo>
                  <a:lnTo>
                    <a:pt x="479108" y="952"/>
                  </a:lnTo>
                  <a:lnTo>
                    <a:pt x="505778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845118" y="2455545"/>
              <a:ext cx="16192" cy="151447"/>
            </a:xfrm>
            <a:custGeom>
              <a:avLst/>
              <a:gdLst/>
              <a:ahLst/>
              <a:cxnLst/>
              <a:rect l="l" t="t" r="r" b="b"/>
              <a:pathLst>
                <a:path w="16192" h="151447">
                  <a:moveTo>
                    <a:pt x="16192" y="151447"/>
                  </a:moveTo>
                  <a:lnTo>
                    <a:pt x="13335" y="132397"/>
                  </a:lnTo>
                  <a:lnTo>
                    <a:pt x="9525" y="100012"/>
                  </a:lnTo>
                  <a:lnTo>
                    <a:pt x="7620" y="66675"/>
                  </a:lnTo>
                  <a:lnTo>
                    <a:pt x="8573" y="33338"/>
                  </a:lnTo>
                  <a:lnTo>
                    <a:pt x="10478" y="0"/>
                  </a:lnTo>
                  <a:lnTo>
                    <a:pt x="0" y="75247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797492" y="2436495"/>
              <a:ext cx="94298" cy="101917"/>
            </a:xfrm>
            <a:custGeom>
              <a:avLst/>
              <a:gdLst/>
              <a:ahLst/>
              <a:cxnLst/>
              <a:rect l="l" t="t" r="r" b="b"/>
              <a:pathLst>
                <a:path w="94298" h="101917">
                  <a:moveTo>
                    <a:pt x="60960" y="0"/>
                  </a:moveTo>
                  <a:lnTo>
                    <a:pt x="94298" y="101917"/>
                  </a:lnTo>
                  <a:lnTo>
                    <a:pt x="0" y="8763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372802" y="2007870"/>
              <a:ext cx="9525" cy="1010602"/>
            </a:xfrm>
            <a:custGeom>
              <a:avLst/>
              <a:gdLst/>
              <a:ahLst/>
              <a:cxnLst/>
              <a:rect l="l" t="t" r="r" b="b"/>
              <a:pathLst>
                <a:path w="9525" h="1010602">
                  <a:moveTo>
                    <a:pt x="0" y="0"/>
                  </a:moveTo>
                  <a:lnTo>
                    <a:pt x="0" y="1010602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3036570" y="2521268"/>
              <a:ext cx="324802" cy="226695"/>
            </a:xfrm>
            <a:custGeom>
              <a:avLst/>
              <a:gdLst/>
              <a:ahLst/>
              <a:cxnLst/>
              <a:rect l="l" t="t" r="r" b="b"/>
              <a:pathLst>
                <a:path w="324802" h="226695">
                  <a:moveTo>
                    <a:pt x="324802" y="0"/>
                  </a:moveTo>
                  <a:lnTo>
                    <a:pt x="0" y="2266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958465" y="2708910"/>
              <a:ext cx="105727" cy="94298"/>
            </a:xfrm>
            <a:custGeom>
              <a:avLst/>
              <a:gdLst/>
              <a:ahLst/>
              <a:cxnLst/>
              <a:rect l="l" t="t" r="r" b="b"/>
              <a:pathLst>
                <a:path w="105727" h="94298">
                  <a:moveTo>
                    <a:pt x="0" y="94298"/>
                  </a:moveTo>
                  <a:lnTo>
                    <a:pt x="50482" y="0"/>
                  </a:lnTo>
                  <a:lnTo>
                    <a:pt x="105727" y="7810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368040" y="33804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3368040" y="30279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3368040" y="32966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368040" y="31623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368040" y="198882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368040" y="15859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368040" y="18545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68040" y="17040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368040" y="30279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368040" y="198882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859405" y="26165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2856548" y="24183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3368040" y="198882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368040" y="30279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334702" y="24745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368040" y="25079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942272" y="28060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451936" y="2502218"/>
              <a:ext cx="1103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95808" y="27031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96390" y="3134201"/>
              <a:ext cx="53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35680" y="1635919"/>
              <a:ext cx="12358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两段直线的延长线都过 O</a:t>
              </a:r>
            </a:p>
          </p:txBody>
        </p:sp>
      </p:grpSp>
      <p:grpSp>
        <p:nvGrpSpPr>
          <p:cNvPr id="49" name="c1-card-2"/>
          <p:cNvGrpSpPr/>
          <p:nvPr/>
        </p:nvGrpSpPr>
        <p:grpSpPr>
          <a:xfrm>
            <a:off x="533400" y="3621405"/>
            <a:ext cx="5410200" cy="2032635"/>
            <a:chOff x="533400" y="3621405"/>
            <a:chExt cx="5410200" cy="2032635"/>
          </a:xfrm>
        </p:grpSpPr>
        <p:sp>
          <p:nvSpPr>
            <p:cNvPr id="41" name="Rectangle 41"/>
            <p:cNvSpPr/>
            <p:nvPr/>
          </p:nvSpPr>
          <p:spPr>
            <a:xfrm>
              <a:off x="533400" y="3621405"/>
              <a:ext cx="5410200" cy="2032635"/>
            </a:xfrm>
            <a:prstGeom prst="roundRect">
              <a:avLst>
                <a:gd name="adj" fmla="val 65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2925" y="3754755"/>
              <a:ext cx="47625" cy="17659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58190" y="3808095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47234" y="3840956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 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1332" y="4152900"/>
              <a:ext cx="46514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竖直的无限长导线中间弯出一个半圆，O 为圆心，上下两段直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线的延长线都通过 O。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66762" y="476631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22782" y="4710112"/>
              <a:ext cx="3188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两段直线贡献为 0，只剩半圆 μ₀I/(4R)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formula105"/>
                <p:cNvSpPr txBox="1">
                  <a:spLocks noGrp="1"/>
                </p:cNvSpPr>
                <p:nvPr/>
              </p:nvSpPr>
              <p:spPr>
                <a:xfrm>
                  <a:off x="758190" y="4988242"/>
                  <a:ext cx="499872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4R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80" name="g_ex4"/>
          <p:cNvGrpSpPr/>
          <p:nvPr/>
        </p:nvGrpSpPr>
        <p:grpSpPr>
          <a:xfrm>
            <a:off x="7322820" y="1585912"/>
            <a:ext cx="3441382" cy="1804035"/>
            <a:chOff x="7322820" y="1585912"/>
            <a:chExt cx="3441382" cy="1804035"/>
          </a:xfrm>
        </p:grpSpPr>
        <p:sp>
          <p:nvSpPr>
            <p:cNvPr id="50" name="Freeform 50"/>
            <p:cNvSpPr/>
            <p:nvPr/>
          </p:nvSpPr>
          <p:spPr>
            <a:xfrm>
              <a:off x="7338060" y="2261235"/>
              <a:ext cx="3426142" cy="520065"/>
            </a:xfrm>
            <a:custGeom>
              <a:avLst/>
              <a:gdLst/>
              <a:ahLst/>
              <a:cxnLst/>
              <a:rect l="l" t="t" r="r" b="b"/>
              <a:pathLst>
                <a:path w="3426142" h="520065">
                  <a:moveTo>
                    <a:pt x="0" y="511493"/>
                  </a:moveTo>
                  <a:lnTo>
                    <a:pt x="660083" y="0"/>
                  </a:lnTo>
                  <a:lnTo>
                    <a:pt x="3426142" y="0"/>
                  </a:lnTo>
                  <a:lnTo>
                    <a:pt x="2755583" y="520065"/>
                  </a:lnTo>
                  <a:lnTo>
                    <a:pt x="3810" y="52006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1" name="Freeform 51"/>
            <p:cNvSpPr/>
            <p:nvPr/>
          </p:nvSpPr>
          <p:spPr>
            <a:xfrm>
              <a:off x="7998142" y="2311718"/>
              <a:ext cx="1841182" cy="436245"/>
            </a:xfrm>
            <a:custGeom>
              <a:avLst/>
              <a:gdLst/>
              <a:ahLst/>
              <a:cxnLst/>
              <a:rect l="l" t="t" r="r" b="b"/>
              <a:pathLst>
                <a:path w="1841182" h="436245">
                  <a:moveTo>
                    <a:pt x="1841182" y="203835"/>
                  </a:moveTo>
                  <a:lnTo>
                    <a:pt x="1840230" y="199073"/>
                  </a:lnTo>
                  <a:lnTo>
                    <a:pt x="1829752" y="180023"/>
                  </a:lnTo>
                  <a:lnTo>
                    <a:pt x="1812607" y="161925"/>
                  </a:lnTo>
                  <a:lnTo>
                    <a:pt x="1787843" y="143828"/>
                  </a:lnTo>
                  <a:lnTo>
                    <a:pt x="1757362" y="125730"/>
                  </a:lnTo>
                  <a:lnTo>
                    <a:pt x="1720215" y="109538"/>
                  </a:lnTo>
                  <a:lnTo>
                    <a:pt x="1677352" y="93345"/>
                  </a:lnTo>
                  <a:lnTo>
                    <a:pt x="1628775" y="78105"/>
                  </a:lnTo>
                  <a:lnTo>
                    <a:pt x="1573530" y="63818"/>
                  </a:lnTo>
                  <a:lnTo>
                    <a:pt x="1514475" y="51435"/>
                  </a:lnTo>
                  <a:lnTo>
                    <a:pt x="1450657" y="39053"/>
                  </a:lnTo>
                  <a:lnTo>
                    <a:pt x="1383030" y="29528"/>
                  </a:lnTo>
                  <a:lnTo>
                    <a:pt x="1311592" y="20955"/>
                  </a:lnTo>
                  <a:lnTo>
                    <a:pt x="1237297" y="13335"/>
                  </a:lnTo>
                  <a:lnTo>
                    <a:pt x="1160145" y="7620"/>
                  </a:lnTo>
                  <a:lnTo>
                    <a:pt x="1082040" y="3810"/>
                  </a:lnTo>
                  <a:lnTo>
                    <a:pt x="1002030" y="953"/>
                  </a:lnTo>
                  <a:lnTo>
                    <a:pt x="922020" y="0"/>
                  </a:lnTo>
                  <a:lnTo>
                    <a:pt x="841057" y="953"/>
                  </a:lnTo>
                  <a:lnTo>
                    <a:pt x="762000" y="3810"/>
                  </a:lnTo>
                  <a:lnTo>
                    <a:pt x="682942" y="7620"/>
                  </a:lnTo>
                  <a:lnTo>
                    <a:pt x="606742" y="13335"/>
                  </a:lnTo>
                  <a:lnTo>
                    <a:pt x="532447" y="20955"/>
                  </a:lnTo>
                  <a:lnTo>
                    <a:pt x="461010" y="29528"/>
                  </a:lnTo>
                  <a:lnTo>
                    <a:pt x="393382" y="39053"/>
                  </a:lnTo>
                  <a:lnTo>
                    <a:pt x="329565" y="51435"/>
                  </a:lnTo>
                  <a:lnTo>
                    <a:pt x="269557" y="63818"/>
                  </a:lnTo>
                  <a:lnTo>
                    <a:pt x="216217" y="78105"/>
                  </a:lnTo>
                  <a:lnTo>
                    <a:pt x="166688" y="93345"/>
                  </a:lnTo>
                  <a:lnTo>
                    <a:pt x="122872" y="109538"/>
                  </a:lnTo>
                  <a:lnTo>
                    <a:pt x="85725" y="125730"/>
                  </a:lnTo>
                  <a:lnTo>
                    <a:pt x="55245" y="143828"/>
                  </a:lnTo>
                  <a:lnTo>
                    <a:pt x="31432" y="161925"/>
                  </a:lnTo>
                  <a:lnTo>
                    <a:pt x="14288" y="180023"/>
                  </a:lnTo>
                  <a:lnTo>
                    <a:pt x="2857" y="199073"/>
                  </a:lnTo>
                  <a:lnTo>
                    <a:pt x="0" y="218123"/>
                  </a:lnTo>
                  <a:lnTo>
                    <a:pt x="2857" y="237173"/>
                  </a:lnTo>
                  <a:lnTo>
                    <a:pt x="14288" y="256223"/>
                  </a:lnTo>
                  <a:lnTo>
                    <a:pt x="31432" y="274320"/>
                  </a:lnTo>
                  <a:lnTo>
                    <a:pt x="55245" y="292417"/>
                  </a:lnTo>
                  <a:lnTo>
                    <a:pt x="85725" y="310515"/>
                  </a:lnTo>
                  <a:lnTo>
                    <a:pt x="122872" y="326708"/>
                  </a:lnTo>
                  <a:lnTo>
                    <a:pt x="166688" y="342900"/>
                  </a:lnTo>
                  <a:lnTo>
                    <a:pt x="216217" y="358140"/>
                  </a:lnTo>
                  <a:lnTo>
                    <a:pt x="269557" y="372428"/>
                  </a:lnTo>
                  <a:lnTo>
                    <a:pt x="329565" y="384810"/>
                  </a:lnTo>
                  <a:lnTo>
                    <a:pt x="393382" y="396240"/>
                  </a:lnTo>
                  <a:lnTo>
                    <a:pt x="461010" y="406717"/>
                  </a:lnTo>
                  <a:lnTo>
                    <a:pt x="532447" y="415290"/>
                  </a:lnTo>
                  <a:lnTo>
                    <a:pt x="606742" y="422910"/>
                  </a:lnTo>
                  <a:lnTo>
                    <a:pt x="682942" y="428625"/>
                  </a:lnTo>
                  <a:lnTo>
                    <a:pt x="762000" y="432435"/>
                  </a:lnTo>
                  <a:lnTo>
                    <a:pt x="841057" y="435292"/>
                  </a:lnTo>
                  <a:lnTo>
                    <a:pt x="922020" y="436245"/>
                  </a:lnTo>
                  <a:lnTo>
                    <a:pt x="1002030" y="435292"/>
                  </a:lnTo>
                  <a:lnTo>
                    <a:pt x="1082040" y="432435"/>
                  </a:lnTo>
                  <a:lnTo>
                    <a:pt x="1160145" y="428625"/>
                  </a:lnTo>
                  <a:lnTo>
                    <a:pt x="1237297" y="422910"/>
                  </a:lnTo>
                  <a:lnTo>
                    <a:pt x="1311592" y="415290"/>
                  </a:lnTo>
                  <a:lnTo>
                    <a:pt x="1383030" y="406717"/>
                  </a:lnTo>
                  <a:lnTo>
                    <a:pt x="1450657" y="396240"/>
                  </a:lnTo>
                  <a:lnTo>
                    <a:pt x="1514475" y="384810"/>
                  </a:lnTo>
                  <a:lnTo>
                    <a:pt x="1573530" y="372428"/>
                  </a:lnTo>
                  <a:lnTo>
                    <a:pt x="1628775" y="358140"/>
                  </a:lnTo>
                  <a:lnTo>
                    <a:pt x="1677352" y="342900"/>
                  </a:lnTo>
                  <a:lnTo>
                    <a:pt x="1720215" y="326708"/>
                  </a:lnTo>
                  <a:lnTo>
                    <a:pt x="1757362" y="310515"/>
                  </a:lnTo>
                  <a:lnTo>
                    <a:pt x="1787843" y="292417"/>
                  </a:lnTo>
                  <a:lnTo>
                    <a:pt x="1812607" y="274320"/>
                  </a:lnTo>
                  <a:lnTo>
                    <a:pt x="1829752" y="256223"/>
                  </a:lnTo>
                  <a:lnTo>
                    <a:pt x="1840230" y="237173"/>
                  </a:lnTo>
                  <a:lnTo>
                    <a:pt x="1841182" y="23241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695372" y="2741295"/>
              <a:ext cx="384810" cy="9525"/>
            </a:xfrm>
            <a:custGeom>
              <a:avLst/>
              <a:gdLst/>
              <a:ahLst/>
              <a:cxnLst/>
              <a:rect l="l" t="t" r="r" b="b"/>
              <a:pathLst>
                <a:path w="384810" h="9525">
                  <a:moveTo>
                    <a:pt x="0" y="0"/>
                  </a:moveTo>
                  <a:lnTo>
                    <a:pt x="64770" y="2858"/>
                  </a:lnTo>
                  <a:lnTo>
                    <a:pt x="143828" y="5715"/>
                  </a:lnTo>
                  <a:lnTo>
                    <a:pt x="224790" y="6667"/>
                  </a:lnTo>
                  <a:lnTo>
                    <a:pt x="304800" y="5715"/>
                  </a:lnTo>
                  <a:lnTo>
                    <a:pt x="384810" y="2858"/>
                  </a:lnTo>
                  <a:lnTo>
                    <a:pt x="353378" y="476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046845" y="2698432"/>
              <a:ext cx="97155" cy="95250"/>
            </a:xfrm>
            <a:custGeom>
              <a:avLst/>
              <a:gdLst/>
              <a:ahLst/>
              <a:cxnLst/>
              <a:rect l="l" t="t" r="r" b="b"/>
              <a:pathLst>
                <a:path w="97155" h="95250">
                  <a:moveTo>
                    <a:pt x="97155" y="42862"/>
                  </a:moveTo>
                  <a:lnTo>
                    <a:pt x="4762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9842182" y="1604962"/>
              <a:ext cx="9525" cy="1765935"/>
            </a:xfrm>
            <a:custGeom>
              <a:avLst/>
              <a:gdLst/>
              <a:ahLst/>
              <a:cxnLst/>
              <a:rect l="l" t="t" r="r" b="b"/>
              <a:pathLst>
                <a:path w="9525" h="1765935">
                  <a:moveTo>
                    <a:pt x="0" y="1765935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9842182" y="3192780"/>
              <a:ext cx="9525" cy="43815"/>
            </a:xfrm>
            <a:custGeom>
              <a:avLst/>
              <a:gdLst/>
              <a:ahLst/>
              <a:cxnLst/>
              <a:rect l="l" t="t" r="r" b="b"/>
              <a:pathLst>
                <a:path w="9525" h="43815">
                  <a:moveTo>
                    <a:pt x="0" y="43815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794558" y="30975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9842182" y="1834515"/>
              <a:ext cx="9525" cy="43815"/>
            </a:xfrm>
            <a:custGeom>
              <a:avLst/>
              <a:gdLst/>
              <a:ahLst/>
              <a:cxnLst/>
              <a:rect l="l" t="t" r="r" b="b"/>
              <a:pathLst>
                <a:path w="9525" h="43815">
                  <a:moveTo>
                    <a:pt x="0" y="43815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9794558" y="17392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8934450" y="2529840"/>
              <a:ext cx="747712" cy="9525"/>
            </a:xfrm>
            <a:custGeom>
              <a:avLst/>
              <a:gdLst/>
              <a:ahLst/>
              <a:cxnLst/>
              <a:rect l="l" t="t" r="r" b="b"/>
              <a:pathLst>
                <a:path w="747712" h="9525">
                  <a:moveTo>
                    <a:pt x="0" y="0"/>
                  </a:moveTo>
                  <a:lnTo>
                    <a:pt x="7477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9682162" y="24822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7322820" y="27765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7322820" y="27765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9837420" y="25250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9837420" y="25250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8676322" y="27355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9153525" y="27355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9837420" y="33804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9837420" y="15859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9837420" y="324612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9837420" y="30784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9837420" y="188785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9837420" y="17202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8882062" y="2491740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915400" y="25250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9786938" y="25250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730691" y="2418398"/>
              <a:ext cx="1103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339445" y="236791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949577" y="3134201"/>
              <a:ext cx="53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84186" y="311134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圆线圈在水平面内</a:t>
              </a:r>
            </a:p>
          </p:txBody>
        </p:sp>
      </p:grpSp>
      <p:grpSp>
        <p:nvGrpSpPr>
          <p:cNvPr id="89" name="c2-card-2"/>
          <p:cNvGrpSpPr/>
          <p:nvPr/>
        </p:nvGrpSpPr>
        <p:grpSpPr>
          <a:xfrm>
            <a:off x="6248400" y="3621405"/>
            <a:ext cx="5410200" cy="2032635"/>
            <a:chOff x="6248400" y="3621405"/>
            <a:chExt cx="5410200" cy="2032635"/>
          </a:xfrm>
        </p:grpSpPr>
        <p:sp>
          <p:nvSpPr>
            <p:cNvPr id="81" name="Rectangle 81"/>
            <p:cNvSpPr/>
            <p:nvPr/>
          </p:nvSpPr>
          <p:spPr>
            <a:xfrm>
              <a:off x="6248400" y="3621405"/>
              <a:ext cx="5410200" cy="2032635"/>
            </a:xfrm>
            <a:prstGeom prst="roundRect">
              <a:avLst>
                <a:gd name="adj" fmla="val 65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6257925" y="3754755"/>
              <a:ext cx="47625" cy="17659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473190" y="3808095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562234" y="3840956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 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466332" y="415290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竖直的无限长导线在圆周上一点接入水平圆线圈，绕一周后沿原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直线流出，O 为圆心。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6481762" y="476631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637782" y="4710112"/>
              <a:ext cx="48078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直导线 μ₀I/(2πR) 沿水平方向，整圆 μ₀I/(2R) 沿竖直方向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formula106"/>
                <p:cNvSpPr txBox="1">
                  <a:spLocks noGrp="1"/>
                </p:cNvSpPr>
                <p:nvPr/>
              </p:nvSpPr>
              <p:spPr>
                <a:xfrm>
                  <a:off x="6473190" y="4988242"/>
                  <a:ext cx="4998720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num>
                                      <m:den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2πR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num>
                                      <m:den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2R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9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90" name="Rectangle 9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040892" y="6028373"/>
              <a:ext cx="96390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四道练习的结果都用毕奥-萨伐尔定律对各段数值积分核对过（取 R = 1 m、I = 1 A），与公式的相对误差都小于 0.2%。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毕奥-萨伐尔定律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练习（三）无限长载流平板：拆成许多无限长直线再积分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1675448"/>
            <a:chOff x="533400" y="1524000"/>
            <a:chExt cx="4977765" cy="16754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675448"/>
            </a:xfrm>
            <a:prstGeom prst="roundRect">
              <a:avLst>
                <a:gd name="adj" fmla="val 79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87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519" y="1737836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 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2232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宽 a 的无限长薄平板，电流 I 沿板长方向均匀分布；P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在板所在平面内，到板近边的距离为 b。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17731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P 点的磁感应强度。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7141" y="2854643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原课件这一页只有解答，题干按图补出。</a:t>
              </a:r>
            </a:p>
          </p:txBody>
        </p:sp>
      </p:grpSp>
      <p:grpSp>
        <p:nvGrpSpPr>
          <p:cNvPr id="59" name="g_strip"/>
          <p:cNvGrpSpPr/>
          <p:nvPr/>
        </p:nvGrpSpPr>
        <p:grpSpPr>
          <a:xfrm>
            <a:off x="1104900" y="3567589"/>
            <a:ext cx="3535497" cy="2296001"/>
            <a:chOff x="1104900" y="3567589"/>
            <a:chExt cx="3535497" cy="2296001"/>
          </a:xfrm>
        </p:grpSpPr>
        <p:sp>
          <p:nvSpPr>
            <p:cNvPr id="15" name="Freeform 15"/>
            <p:cNvSpPr/>
            <p:nvPr/>
          </p:nvSpPr>
          <p:spPr>
            <a:xfrm>
              <a:off x="1392555" y="3754755"/>
              <a:ext cx="1214438" cy="2104073"/>
            </a:xfrm>
            <a:custGeom>
              <a:avLst/>
              <a:gdLst/>
              <a:ahLst/>
              <a:cxnLst/>
              <a:rect l="l" t="t" r="r" b="b"/>
              <a:pathLst>
                <a:path w="1214438" h="2104073">
                  <a:moveTo>
                    <a:pt x="14288" y="0"/>
                  </a:moveTo>
                  <a:lnTo>
                    <a:pt x="1214438" y="0"/>
                  </a:lnTo>
                  <a:lnTo>
                    <a:pt x="1214438" y="2104073"/>
                  </a:lnTo>
                  <a:lnTo>
                    <a:pt x="0" y="2104073"/>
                  </a:lnTo>
                  <a:lnTo>
                    <a:pt x="0" y="14288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283142" y="5280660"/>
              <a:ext cx="9525" cy="401955"/>
            </a:xfrm>
            <a:custGeom>
              <a:avLst/>
              <a:gdLst/>
              <a:ahLst/>
              <a:cxnLst/>
              <a:rect l="l" t="t" r="r" b="b"/>
              <a:pathLst>
                <a:path w="9525" h="401955">
                  <a:moveTo>
                    <a:pt x="0" y="40195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235518" y="51854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700212" y="3769042"/>
              <a:ext cx="9525" cy="2075498"/>
            </a:xfrm>
            <a:custGeom>
              <a:avLst/>
              <a:gdLst/>
              <a:ahLst/>
              <a:cxnLst/>
              <a:rect l="l" t="t" r="r" b="b"/>
              <a:pathLst>
                <a:path w="9525" h="2075498">
                  <a:moveTo>
                    <a:pt x="0" y="0"/>
                  </a:moveTo>
                  <a:lnTo>
                    <a:pt x="0" y="2075498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1797368" y="3769042"/>
              <a:ext cx="9525" cy="2075498"/>
            </a:xfrm>
            <a:custGeom>
              <a:avLst/>
              <a:gdLst/>
              <a:ahLst/>
              <a:cxnLst/>
              <a:rect l="l" t="t" r="r" b="b"/>
              <a:pathLst>
                <a:path w="9525" h="2075498">
                  <a:moveTo>
                    <a:pt x="0" y="0"/>
                  </a:moveTo>
                  <a:lnTo>
                    <a:pt x="0" y="2075498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1219200" y="4523422"/>
              <a:ext cx="3154680" cy="9525"/>
            </a:xfrm>
            <a:custGeom>
              <a:avLst/>
              <a:gdLst/>
              <a:ahLst/>
              <a:cxnLst/>
              <a:rect l="l" t="t" r="r" b="b"/>
              <a:pathLst>
                <a:path w="3154680" h="9525">
                  <a:moveTo>
                    <a:pt x="315468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123950" y="44757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502092" y="4847272"/>
              <a:ext cx="995362" cy="9525"/>
            </a:xfrm>
            <a:custGeom>
              <a:avLst/>
              <a:gdLst/>
              <a:ahLst/>
              <a:cxnLst/>
              <a:rect l="l" t="t" r="r" b="b"/>
              <a:pathLst>
                <a:path w="995362" h="9525">
                  <a:moveTo>
                    <a:pt x="0" y="0"/>
                  </a:moveTo>
                  <a:lnTo>
                    <a:pt x="99536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497455" y="47996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406842" y="47996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716530" y="4847272"/>
              <a:ext cx="1562100" cy="9525"/>
            </a:xfrm>
            <a:custGeom>
              <a:avLst/>
              <a:gdLst/>
              <a:ahLst/>
              <a:cxnLst/>
              <a:rect l="l" t="t" r="r" b="b"/>
              <a:pathLst>
                <a:path w="1562100" h="9525">
                  <a:moveTo>
                    <a:pt x="0" y="0"/>
                  </a:moveTo>
                  <a:lnTo>
                    <a:pt x="156210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278630" y="47996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621280" y="47996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4291012" y="5154930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1453" y="75247"/>
                  </a:lnTo>
                  <a:lnTo>
                    <a:pt x="184785" y="55245"/>
                  </a:lnTo>
                  <a:lnTo>
                    <a:pt x="173355" y="36195"/>
                  </a:lnTo>
                  <a:lnTo>
                    <a:pt x="157162" y="20955"/>
                  </a:lnTo>
                  <a:lnTo>
                    <a:pt x="139065" y="9525"/>
                  </a:lnTo>
                  <a:lnTo>
                    <a:pt x="119062" y="2857"/>
                  </a:lnTo>
                  <a:lnTo>
                    <a:pt x="97155" y="0"/>
                  </a:lnTo>
                  <a:lnTo>
                    <a:pt x="75247" y="2857"/>
                  </a:lnTo>
                  <a:lnTo>
                    <a:pt x="55245" y="9525"/>
                  </a:lnTo>
                  <a:lnTo>
                    <a:pt x="36195" y="20955"/>
                  </a:lnTo>
                  <a:lnTo>
                    <a:pt x="20955" y="36195"/>
                  </a:lnTo>
                  <a:lnTo>
                    <a:pt x="9525" y="55245"/>
                  </a:lnTo>
                  <a:lnTo>
                    <a:pt x="1905" y="75247"/>
                  </a:lnTo>
                  <a:lnTo>
                    <a:pt x="0" y="97155"/>
                  </a:lnTo>
                  <a:lnTo>
                    <a:pt x="1905" y="119062"/>
                  </a:lnTo>
                  <a:lnTo>
                    <a:pt x="9525" y="139065"/>
                  </a:lnTo>
                  <a:lnTo>
                    <a:pt x="20955" y="158115"/>
                  </a:lnTo>
                  <a:lnTo>
                    <a:pt x="36195" y="173355"/>
                  </a:lnTo>
                  <a:lnTo>
                    <a:pt x="55245" y="184785"/>
                  </a:lnTo>
                  <a:lnTo>
                    <a:pt x="75247" y="192405"/>
                  </a:lnTo>
                  <a:lnTo>
                    <a:pt x="97155" y="194310"/>
                  </a:lnTo>
                  <a:lnTo>
                    <a:pt x="119062" y="192405"/>
                  </a:lnTo>
                  <a:lnTo>
                    <a:pt x="139065" y="184785"/>
                  </a:lnTo>
                  <a:lnTo>
                    <a:pt x="157162" y="173355"/>
                  </a:lnTo>
                  <a:lnTo>
                    <a:pt x="173355" y="158115"/>
                  </a:lnTo>
                  <a:lnTo>
                    <a:pt x="184785" y="139065"/>
                  </a:lnTo>
                  <a:lnTo>
                    <a:pt x="191453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331970" y="5195888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0"/>
                  </a:moveTo>
                  <a:lnTo>
                    <a:pt x="112395" y="11239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331970" y="5195888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112395"/>
                  </a:moveTo>
                  <a:lnTo>
                    <a:pt x="11239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387792" y="3749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387792" y="3749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278380" y="56921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278380" y="51663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695450" y="3749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695450" y="58540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792605" y="3749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792605" y="58540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4383405" y="45186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104900" y="45186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4331018" y="4466272"/>
              <a:ext cx="114300" cy="1143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387792" y="48425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602230" y="48425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2602230" y="48425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4383405" y="48425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4480560" y="52473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4480560" y="52473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4316730" y="51816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4449128" y="53130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4316730" y="53130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4449128" y="51816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401967" y="5368766"/>
              <a:ext cx="53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680278" y="3567589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dx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6113" y="433006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488697" y="435721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959551" y="46786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57833" y="46786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556943" y="52044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73" name="c2-steps-1"/>
          <p:cNvGrpSpPr/>
          <p:nvPr/>
        </p:nvGrpSpPr>
        <p:grpSpPr>
          <a:xfrm>
            <a:off x="5815965" y="1533525"/>
            <a:ext cx="4371861" cy="1596962"/>
            <a:chOff x="5815965" y="1533525"/>
            <a:chExt cx="4371861" cy="1596962"/>
          </a:xfrm>
        </p:grpSpPr>
        <p:sp>
          <p:nvSpPr>
            <p:cNvPr id="60" name="Rectangle 60"/>
            <p:cNvSpPr/>
            <p:nvPr/>
          </p:nvSpPr>
          <p:spPr>
            <a:xfrm>
              <a:off x="5949315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581596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90958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581596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0958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28588" y="15644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取细条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29731" y="1818322"/>
              <a:ext cx="39580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P 为原点、向左为 x 轴，x 处宽 dx 的细条电流 dI = (I/a)dx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28588" y="21169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细条的场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29731" y="2371725"/>
              <a:ext cx="3208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 = μ₀dI/(2πx)，各细条的方向都是垂直纸面向里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28588" y="26703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229731" y="2925128"/>
              <a:ext cx="1917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∫(b→a+b) μ₀I dx/(2πa x)</a:t>
              </a:r>
            </a:p>
          </p:txBody>
        </p:sp>
      </p:grpSp>
      <p:grpSp>
        <p:nvGrpSpPr>
          <p:cNvPr id="79" name="c2-card-2"/>
          <p:cNvGrpSpPr/>
          <p:nvPr/>
        </p:nvGrpSpPr>
        <p:grpSpPr>
          <a:xfrm>
            <a:off x="5815965" y="3291840"/>
            <a:ext cx="5842635" cy="1444942"/>
            <a:chOff x="5815965" y="3291840"/>
            <a:chExt cx="5842635" cy="1444942"/>
          </a:xfrm>
        </p:grpSpPr>
        <p:sp>
          <p:nvSpPr>
            <p:cNvPr id="74" name="Rectangle 74"/>
            <p:cNvSpPr/>
            <p:nvPr/>
          </p:nvSpPr>
          <p:spPr>
            <a:xfrm>
              <a:off x="5815965" y="3291840"/>
              <a:ext cx="5842635" cy="1444942"/>
            </a:xfrm>
            <a:prstGeom prst="roundRect">
              <a:avLst>
                <a:gd name="adj" fmla="val 922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5996940" y="347281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092711" y="350567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formula113"/>
                <p:cNvSpPr txBox="1">
                  <a:spLocks noGrp="1"/>
                </p:cNvSpPr>
                <p:nvPr/>
              </p:nvSpPr>
              <p:spPr>
                <a:xfrm>
                  <a:off x="5996940" y="3791902"/>
                  <a:ext cx="5480685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2πa</m:t>
                            </m:r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den>
                            </m:f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78" name="TextBox 78"/>
            <p:cNvSpPr txBox="1"/>
            <p:nvPr/>
          </p:nvSpPr>
          <p:spPr>
            <a:xfrm>
              <a:off x="5990463" y="43562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方向垂直纸面向里。</a:t>
              </a:r>
            </a:p>
          </p:txBody>
        </p:sp>
      </p:grpSp>
      <p:grpSp>
        <p:nvGrpSpPr>
          <p:cNvPr id="88" name="c2-card-3"/>
          <p:cNvGrpSpPr/>
          <p:nvPr/>
        </p:nvGrpSpPr>
        <p:grpSpPr>
          <a:xfrm>
            <a:off x="5815965" y="4901565"/>
            <a:ext cx="5842635" cy="1185862"/>
            <a:chOff x="5815965" y="4901565"/>
            <a:chExt cx="5842635" cy="1185862"/>
          </a:xfrm>
        </p:grpSpPr>
        <p:sp>
          <p:nvSpPr>
            <p:cNvPr id="80" name="Rectangle 80"/>
            <p:cNvSpPr/>
            <p:nvPr/>
          </p:nvSpPr>
          <p:spPr>
            <a:xfrm>
              <a:off x="5815965" y="4901565"/>
              <a:ext cx="584263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5825490" y="5034915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035040" y="50825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126759" y="51154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6044565" y="547497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200013" y="5423059"/>
              <a:ext cx="5095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≫ a 时 ln(1 + a/b) ≈ a/b，B → μ₀I/(2πb)，退化为一根直线电流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6044565" y="575976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200013" y="5707856"/>
              <a:ext cx="48205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0.3 m、b = 0.2 m 时分 4000 条细条数值求和，与公式一致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毕奥-萨伐尔定律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练习（四）转动的带电圆环：等效成一组同心圆电流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428750"/>
            <a:chOff x="533400" y="1524000"/>
            <a:chExt cx="4977765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519" y="1737836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 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2070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内外半径 R₁、R₂ 的薄圆环均匀带电，面电荷密度 σ &gt;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0，绕过圆心且垂直环面的轴以角速度 ω 逆时针转动。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1960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圆心处的磁感应强度。</a:t>
              </a:r>
            </a:p>
          </p:txBody>
        </p:sp>
      </p:grpSp>
      <p:grpSp>
        <p:nvGrpSpPr>
          <p:cNvPr id="47" name="g_annulus"/>
          <p:cNvGrpSpPr/>
          <p:nvPr/>
        </p:nvGrpSpPr>
        <p:grpSpPr>
          <a:xfrm>
            <a:off x="2266950" y="3155632"/>
            <a:ext cx="1671570" cy="1613535"/>
            <a:chOff x="2266950" y="3155632"/>
            <a:chExt cx="1671570" cy="1613535"/>
          </a:xfrm>
        </p:grpSpPr>
        <p:sp>
          <p:nvSpPr>
            <p:cNvPr id="14" name="Freeform 14"/>
            <p:cNvSpPr/>
            <p:nvPr/>
          </p:nvSpPr>
          <p:spPr>
            <a:xfrm>
              <a:off x="2687955" y="3668078"/>
              <a:ext cx="679133" cy="680085"/>
            </a:xfrm>
            <a:custGeom>
              <a:avLst/>
              <a:gdLst/>
              <a:ahLst/>
              <a:cxnLst/>
              <a:rect l="l" t="t" r="r" b="b"/>
              <a:pathLst>
                <a:path w="679133" h="680085">
                  <a:moveTo>
                    <a:pt x="679133" y="325755"/>
                  </a:moveTo>
                  <a:lnTo>
                    <a:pt x="679133" y="313372"/>
                  </a:lnTo>
                  <a:lnTo>
                    <a:pt x="675323" y="287655"/>
                  </a:lnTo>
                  <a:lnTo>
                    <a:pt x="670560" y="260985"/>
                  </a:lnTo>
                  <a:lnTo>
                    <a:pt x="662940" y="235267"/>
                  </a:lnTo>
                  <a:lnTo>
                    <a:pt x="654367" y="210502"/>
                  </a:lnTo>
                  <a:lnTo>
                    <a:pt x="642938" y="185738"/>
                  </a:lnTo>
                  <a:lnTo>
                    <a:pt x="629603" y="162877"/>
                  </a:lnTo>
                  <a:lnTo>
                    <a:pt x="615315" y="140970"/>
                  </a:lnTo>
                  <a:lnTo>
                    <a:pt x="598170" y="120015"/>
                  </a:lnTo>
                  <a:lnTo>
                    <a:pt x="580073" y="100012"/>
                  </a:lnTo>
                  <a:lnTo>
                    <a:pt x="561023" y="81915"/>
                  </a:lnTo>
                  <a:lnTo>
                    <a:pt x="540067" y="65722"/>
                  </a:lnTo>
                  <a:lnTo>
                    <a:pt x="518160" y="50482"/>
                  </a:lnTo>
                  <a:lnTo>
                    <a:pt x="494348" y="37147"/>
                  </a:lnTo>
                  <a:lnTo>
                    <a:pt x="469583" y="26670"/>
                  </a:lnTo>
                  <a:lnTo>
                    <a:pt x="444817" y="17145"/>
                  </a:lnTo>
                  <a:lnTo>
                    <a:pt x="419100" y="9525"/>
                  </a:lnTo>
                  <a:lnTo>
                    <a:pt x="393383" y="4762"/>
                  </a:lnTo>
                  <a:lnTo>
                    <a:pt x="366712" y="1905"/>
                  </a:lnTo>
                  <a:lnTo>
                    <a:pt x="340042" y="0"/>
                  </a:lnTo>
                  <a:lnTo>
                    <a:pt x="313373" y="1905"/>
                  </a:lnTo>
                  <a:lnTo>
                    <a:pt x="286703" y="4762"/>
                  </a:lnTo>
                  <a:lnTo>
                    <a:pt x="260033" y="9525"/>
                  </a:lnTo>
                  <a:lnTo>
                    <a:pt x="235267" y="17145"/>
                  </a:lnTo>
                  <a:lnTo>
                    <a:pt x="209550" y="26670"/>
                  </a:lnTo>
                  <a:lnTo>
                    <a:pt x="185738" y="37147"/>
                  </a:lnTo>
                  <a:lnTo>
                    <a:pt x="162878" y="50482"/>
                  </a:lnTo>
                  <a:lnTo>
                    <a:pt x="140017" y="65722"/>
                  </a:lnTo>
                  <a:lnTo>
                    <a:pt x="119062" y="81915"/>
                  </a:lnTo>
                  <a:lnTo>
                    <a:pt x="100012" y="100012"/>
                  </a:lnTo>
                  <a:lnTo>
                    <a:pt x="80962" y="120015"/>
                  </a:lnTo>
                  <a:lnTo>
                    <a:pt x="64770" y="140970"/>
                  </a:lnTo>
                  <a:lnTo>
                    <a:pt x="49530" y="162877"/>
                  </a:lnTo>
                  <a:lnTo>
                    <a:pt x="37148" y="185738"/>
                  </a:lnTo>
                  <a:lnTo>
                    <a:pt x="25717" y="210502"/>
                  </a:lnTo>
                  <a:lnTo>
                    <a:pt x="16192" y="235267"/>
                  </a:lnTo>
                  <a:lnTo>
                    <a:pt x="9525" y="260985"/>
                  </a:lnTo>
                  <a:lnTo>
                    <a:pt x="3810" y="287655"/>
                  </a:lnTo>
                  <a:lnTo>
                    <a:pt x="953" y="313372"/>
                  </a:lnTo>
                  <a:lnTo>
                    <a:pt x="0" y="340042"/>
                  </a:lnTo>
                  <a:lnTo>
                    <a:pt x="953" y="366712"/>
                  </a:lnTo>
                  <a:lnTo>
                    <a:pt x="3810" y="393382"/>
                  </a:lnTo>
                  <a:lnTo>
                    <a:pt x="9525" y="420052"/>
                  </a:lnTo>
                  <a:lnTo>
                    <a:pt x="16192" y="445770"/>
                  </a:lnTo>
                  <a:lnTo>
                    <a:pt x="25717" y="470535"/>
                  </a:lnTo>
                  <a:lnTo>
                    <a:pt x="37148" y="494347"/>
                  </a:lnTo>
                  <a:lnTo>
                    <a:pt x="49530" y="518160"/>
                  </a:lnTo>
                  <a:lnTo>
                    <a:pt x="64770" y="540067"/>
                  </a:lnTo>
                  <a:lnTo>
                    <a:pt x="80962" y="561022"/>
                  </a:lnTo>
                  <a:lnTo>
                    <a:pt x="100012" y="581025"/>
                  </a:lnTo>
                  <a:lnTo>
                    <a:pt x="119062" y="599122"/>
                  </a:lnTo>
                  <a:lnTo>
                    <a:pt x="140017" y="615315"/>
                  </a:lnTo>
                  <a:lnTo>
                    <a:pt x="162878" y="630555"/>
                  </a:lnTo>
                  <a:lnTo>
                    <a:pt x="185738" y="642938"/>
                  </a:lnTo>
                  <a:lnTo>
                    <a:pt x="209550" y="654367"/>
                  </a:lnTo>
                  <a:lnTo>
                    <a:pt x="235267" y="663892"/>
                  </a:lnTo>
                  <a:lnTo>
                    <a:pt x="260033" y="670560"/>
                  </a:lnTo>
                  <a:lnTo>
                    <a:pt x="286703" y="676275"/>
                  </a:lnTo>
                  <a:lnTo>
                    <a:pt x="313373" y="679132"/>
                  </a:lnTo>
                  <a:lnTo>
                    <a:pt x="340042" y="680085"/>
                  </a:lnTo>
                  <a:lnTo>
                    <a:pt x="366712" y="679132"/>
                  </a:lnTo>
                  <a:lnTo>
                    <a:pt x="393383" y="676275"/>
                  </a:lnTo>
                  <a:lnTo>
                    <a:pt x="419100" y="670560"/>
                  </a:lnTo>
                  <a:lnTo>
                    <a:pt x="444817" y="663892"/>
                  </a:lnTo>
                  <a:lnTo>
                    <a:pt x="469583" y="654367"/>
                  </a:lnTo>
                  <a:lnTo>
                    <a:pt x="494348" y="642938"/>
                  </a:lnTo>
                  <a:lnTo>
                    <a:pt x="518160" y="630555"/>
                  </a:lnTo>
                  <a:lnTo>
                    <a:pt x="540067" y="615315"/>
                  </a:lnTo>
                  <a:lnTo>
                    <a:pt x="561023" y="599122"/>
                  </a:lnTo>
                  <a:lnTo>
                    <a:pt x="580073" y="581025"/>
                  </a:lnTo>
                  <a:lnTo>
                    <a:pt x="598170" y="561022"/>
                  </a:lnTo>
                  <a:lnTo>
                    <a:pt x="615315" y="540067"/>
                  </a:lnTo>
                  <a:lnTo>
                    <a:pt x="629603" y="518160"/>
                  </a:lnTo>
                  <a:lnTo>
                    <a:pt x="642938" y="494347"/>
                  </a:lnTo>
                  <a:lnTo>
                    <a:pt x="654367" y="470535"/>
                  </a:lnTo>
                  <a:lnTo>
                    <a:pt x="662940" y="445770"/>
                  </a:lnTo>
                  <a:lnTo>
                    <a:pt x="670560" y="420052"/>
                  </a:lnTo>
                  <a:lnTo>
                    <a:pt x="675323" y="393382"/>
                  </a:lnTo>
                  <a:lnTo>
                    <a:pt x="679133" y="366712"/>
                  </a:lnTo>
                  <a:lnTo>
                    <a:pt x="679133" y="35433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266950" y="3248025"/>
              <a:ext cx="1521142" cy="1521142"/>
            </a:xfrm>
            <a:custGeom>
              <a:avLst/>
              <a:gdLst/>
              <a:ahLst/>
              <a:cxnLst/>
              <a:rect l="l" t="t" r="r" b="b"/>
              <a:pathLst>
                <a:path w="1521142" h="1521142">
                  <a:moveTo>
                    <a:pt x="1521142" y="745808"/>
                  </a:moveTo>
                  <a:lnTo>
                    <a:pt x="1519238" y="701040"/>
                  </a:lnTo>
                  <a:lnTo>
                    <a:pt x="1512570" y="641033"/>
                  </a:lnTo>
                  <a:lnTo>
                    <a:pt x="1501140" y="582930"/>
                  </a:lnTo>
                  <a:lnTo>
                    <a:pt x="1484947" y="525780"/>
                  </a:lnTo>
                  <a:lnTo>
                    <a:pt x="1463992" y="469583"/>
                  </a:lnTo>
                  <a:lnTo>
                    <a:pt x="1439228" y="415290"/>
                  </a:lnTo>
                  <a:lnTo>
                    <a:pt x="1409700" y="362903"/>
                  </a:lnTo>
                  <a:lnTo>
                    <a:pt x="1376362" y="313372"/>
                  </a:lnTo>
                  <a:lnTo>
                    <a:pt x="1339215" y="266700"/>
                  </a:lnTo>
                  <a:lnTo>
                    <a:pt x="1299210" y="222885"/>
                  </a:lnTo>
                  <a:lnTo>
                    <a:pt x="1255395" y="181928"/>
                  </a:lnTo>
                  <a:lnTo>
                    <a:pt x="1207770" y="144780"/>
                  </a:lnTo>
                  <a:lnTo>
                    <a:pt x="1159192" y="111442"/>
                  </a:lnTo>
                  <a:lnTo>
                    <a:pt x="1106805" y="82867"/>
                  </a:lnTo>
                  <a:lnTo>
                    <a:pt x="1052512" y="57150"/>
                  </a:lnTo>
                  <a:lnTo>
                    <a:pt x="996315" y="37147"/>
                  </a:lnTo>
                  <a:lnTo>
                    <a:pt x="939165" y="20955"/>
                  </a:lnTo>
                  <a:lnTo>
                    <a:pt x="880110" y="8572"/>
                  </a:lnTo>
                  <a:lnTo>
                    <a:pt x="821055" y="1905"/>
                  </a:lnTo>
                  <a:lnTo>
                    <a:pt x="761047" y="0"/>
                  </a:lnTo>
                  <a:lnTo>
                    <a:pt x="701040" y="1905"/>
                  </a:lnTo>
                  <a:lnTo>
                    <a:pt x="641985" y="8572"/>
                  </a:lnTo>
                  <a:lnTo>
                    <a:pt x="583883" y="20955"/>
                  </a:lnTo>
                  <a:lnTo>
                    <a:pt x="525780" y="37147"/>
                  </a:lnTo>
                  <a:lnTo>
                    <a:pt x="469583" y="57150"/>
                  </a:lnTo>
                  <a:lnTo>
                    <a:pt x="415290" y="82867"/>
                  </a:lnTo>
                  <a:lnTo>
                    <a:pt x="363855" y="111442"/>
                  </a:lnTo>
                  <a:lnTo>
                    <a:pt x="313372" y="144780"/>
                  </a:lnTo>
                  <a:lnTo>
                    <a:pt x="266700" y="181928"/>
                  </a:lnTo>
                  <a:lnTo>
                    <a:pt x="222885" y="222885"/>
                  </a:lnTo>
                  <a:lnTo>
                    <a:pt x="181928" y="266700"/>
                  </a:lnTo>
                  <a:lnTo>
                    <a:pt x="145733" y="313372"/>
                  </a:lnTo>
                  <a:lnTo>
                    <a:pt x="112395" y="362903"/>
                  </a:lnTo>
                  <a:lnTo>
                    <a:pt x="82867" y="415290"/>
                  </a:lnTo>
                  <a:lnTo>
                    <a:pt x="58102" y="469583"/>
                  </a:lnTo>
                  <a:lnTo>
                    <a:pt x="37148" y="525780"/>
                  </a:lnTo>
                  <a:lnTo>
                    <a:pt x="20955" y="582930"/>
                  </a:lnTo>
                  <a:lnTo>
                    <a:pt x="9525" y="641033"/>
                  </a:lnTo>
                  <a:lnTo>
                    <a:pt x="2858" y="701040"/>
                  </a:lnTo>
                  <a:lnTo>
                    <a:pt x="0" y="760095"/>
                  </a:lnTo>
                  <a:lnTo>
                    <a:pt x="2858" y="820103"/>
                  </a:lnTo>
                  <a:lnTo>
                    <a:pt x="9525" y="879158"/>
                  </a:lnTo>
                  <a:lnTo>
                    <a:pt x="20955" y="938212"/>
                  </a:lnTo>
                  <a:lnTo>
                    <a:pt x="37148" y="995362"/>
                  </a:lnTo>
                  <a:lnTo>
                    <a:pt x="58102" y="1051560"/>
                  </a:lnTo>
                  <a:lnTo>
                    <a:pt x="82867" y="1105853"/>
                  </a:lnTo>
                  <a:lnTo>
                    <a:pt x="112395" y="1158240"/>
                  </a:lnTo>
                  <a:lnTo>
                    <a:pt x="145733" y="1207770"/>
                  </a:lnTo>
                  <a:lnTo>
                    <a:pt x="181928" y="1254442"/>
                  </a:lnTo>
                  <a:lnTo>
                    <a:pt x="222885" y="1298258"/>
                  </a:lnTo>
                  <a:lnTo>
                    <a:pt x="266700" y="1339215"/>
                  </a:lnTo>
                  <a:lnTo>
                    <a:pt x="313372" y="1376362"/>
                  </a:lnTo>
                  <a:lnTo>
                    <a:pt x="363855" y="1408747"/>
                  </a:lnTo>
                  <a:lnTo>
                    <a:pt x="415290" y="1438275"/>
                  </a:lnTo>
                  <a:lnTo>
                    <a:pt x="469583" y="1463040"/>
                  </a:lnTo>
                  <a:lnTo>
                    <a:pt x="525780" y="1483995"/>
                  </a:lnTo>
                  <a:lnTo>
                    <a:pt x="583883" y="1500188"/>
                  </a:lnTo>
                  <a:lnTo>
                    <a:pt x="641985" y="1511618"/>
                  </a:lnTo>
                  <a:lnTo>
                    <a:pt x="701040" y="1519238"/>
                  </a:lnTo>
                  <a:lnTo>
                    <a:pt x="761047" y="1521142"/>
                  </a:lnTo>
                  <a:lnTo>
                    <a:pt x="821055" y="1519238"/>
                  </a:lnTo>
                  <a:lnTo>
                    <a:pt x="880110" y="1511618"/>
                  </a:lnTo>
                  <a:lnTo>
                    <a:pt x="939165" y="1500188"/>
                  </a:lnTo>
                  <a:lnTo>
                    <a:pt x="996315" y="1483995"/>
                  </a:lnTo>
                  <a:lnTo>
                    <a:pt x="1052512" y="1463040"/>
                  </a:lnTo>
                  <a:lnTo>
                    <a:pt x="1106805" y="1438275"/>
                  </a:lnTo>
                  <a:lnTo>
                    <a:pt x="1159192" y="1408747"/>
                  </a:lnTo>
                  <a:lnTo>
                    <a:pt x="1207770" y="1376362"/>
                  </a:lnTo>
                  <a:lnTo>
                    <a:pt x="1255395" y="1339215"/>
                  </a:lnTo>
                  <a:lnTo>
                    <a:pt x="1299210" y="1298258"/>
                  </a:lnTo>
                  <a:lnTo>
                    <a:pt x="1339215" y="1254442"/>
                  </a:lnTo>
                  <a:lnTo>
                    <a:pt x="1376362" y="1207770"/>
                  </a:lnTo>
                  <a:lnTo>
                    <a:pt x="1409700" y="1158240"/>
                  </a:lnTo>
                  <a:lnTo>
                    <a:pt x="1439228" y="1105853"/>
                  </a:lnTo>
                  <a:lnTo>
                    <a:pt x="1463992" y="1051560"/>
                  </a:lnTo>
                  <a:lnTo>
                    <a:pt x="1484947" y="995362"/>
                  </a:lnTo>
                  <a:lnTo>
                    <a:pt x="1501140" y="938212"/>
                  </a:lnTo>
                  <a:lnTo>
                    <a:pt x="1512570" y="879158"/>
                  </a:lnTo>
                  <a:lnTo>
                    <a:pt x="1519238" y="820103"/>
                  </a:lnTo>
                  <a:lnTo>
                    <a:pt x="1521142" y="774383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517458" y="3498532"/>
              <a:ext cx="1020127" cy="1020127"/>
            </a:xfrm>
            <a:custGeom>
              <a:avLst/>
              <a:gdLst/>
              <a:ahLst/>
              <a:cxnLst/>
              <a:rect l="l" t="t" r="r" b="b"/>
              <a:pathLst>
                <a:path w="1020127" h="1020127">
                  <a:moveTo>
                    <a:pt x="1020127" y="495300"/>
                  </a:moveTo>
                  <a:lnTo>
                    <a:pt x="1019175" y="469583"/>
                  </a:lnTo>
                  <a:lnTo>
                    <a:pt x="1014412" y="430530"/>
                  </a:lnTo>
                  <a:lnTo>
                    <a:pt x="1006792" y="390525"/>
                  </a:lnTo>
                  <a:lnTo>
                    <a:pt x="995362" y="352425"/>
                  </a:lnTo>
                  <a:lnTo>
                    <a:pt x="981075" y="314325"/>
                  </a:lnTo>
                  <a:lnTo>
                    <a:pt x="964883" y="278130"/>
                  </a:lnTo>
                  <a:lnTo>
                    <a:pt x="944880" y="243840"/>
                  </a:lnTo>
                  <a:lnTo>
                    <a:pt x="922972" y="210502"/>
                  </a:lnTo>
                  <a:lnTo>
                    <a:pt x="898208" y="179070"/>
                  </a:lnTo>
                  <a:lnTo>
                    <a:pt x="870585" y="149542"/>
                  </a:lnTo>
                  <a:lnTo>
                    <a:pt x="842010" y="121920"/>
                  </a:lnTo>
                  <a:lnTo>
                    <a:pt x="810577" y="97155"/>
                  </a:lnTo>
                  <a:lnTo>
                    <a:pt x="777240" y="75247"/>
                  </a:lnTo>
                  <a:lnTo>
                    <a:pt x="741997" y="55245"/>
                  </a:lnTo>
                  <a:lnTo>
                    <a:pt x="705802" y="39052"/>
                  </a:lnTo>
                  <a:lnTo>
                    <a:pt x="667702" y="24765"/>
                  </a:lnTo>
                  <a:lnTo>
                    <a:pt x="629602" y="14288"/>
                  </a:lnTo>
                  <a:lnTo>
                    <a:pt x="590550" y="6667"/>
                  </a:lnTo>
                  <a:lnTo>
                    <a:pt x="550545" y="1905"/>
                  </a:lnTo>
                  <a:lnTo>
                    <a:pt x="510540" y="0"/>
                  </a:lnTo>
                  <a:lnTo>
                    <a:pt x="470535" y="1905"/>
                  </a:lnTo>
                  <a:lnTo>
                    <a:pt x="430530" y="6667"/>
                  </a:lnTo>
                  <a:lnTo>
                    <a:pt x="391477" y="14288"/>
                  </a:lnTo>
                  <a:lnTo>
                    <a:pt x="352425" y="24765"/>
                  </a:lnTo>
                  <a:lnTo>
                    <a:pt x="315277" y="39052"/>
                  </a:lnTo>
                  <a:lnTo>
                    <a:pt x="279083" y="55245"/>
                  </a:lnTo>
                  <a:lnTo>
                    <a:pt x="243840" y="75247"/>
                  </a:lnTo>
                  <a:lnTo>
                    <a:pt x="210502" y="97155"/>
                  </a:lnTo>
                  <a:lnTo>
                    <a:pt x="179070" y="121920"/>
                  </a:lnTo>
                  <a:lnTo>
                    <a:pt x="149542" y="149542"/>
                  </a:lnTo>
                  <a:lnTo>
                    <a:pt x="122872" y="179070"/>
                  </a:lnTo>
                  <a:lnTo>
                    <a:pt x="98108" y="210502"/>
                  </a:lnTo>
                  <a:lnTo>
                    <a:pt x="75247" y="243840"/>
                  </a:lnTo>
                  <a:lnTo>
                    <a:pt x="56197" y="278130"/>
                  </a:lnTo>
                  <a:lnTo>
                    <a:pt x="39052" y="314325"/>
                  </a:lnTo>
                  <a:lnTo>
                    <a:pt x="25717" y="352425"/>
                  </a:lnTo>
                  <a:lnTo>
                    <a:pt x="14288" y="390525"/>
                  </a:lnTo>
                  <a:lnTo>
                    <a:pt x="6667" y="430530"/>
                  </a:lnTo>
                  <a:lnTo>
                    <a:pt x="1905" y="469583"/>
                  </a:lnTo>
                  <a:lnTo>
                    <a:pt x="0" y="509588"/>
                  </a:lnTo>
                  <a:lnTo>
                    <a:pt x="1905" y="549592"/>
                  </a:lnTo>
                  <a:lnTo>
                    <a:pt x="6667" y="589597"/>
                  </a:lnTo>
                  <a:lnTo>
                    <a:pt x="14288" y="628650"/>
                  </a:lnTo>
                  <a:lnTo>
                    <a:pt x="25717" y="667702"/>
                  </a:lnTo>
                  <a:lnTo>
                    <a:pt x="39052" y="704850"/>
                  </a:lnTo>
                  <a:lnTo>
                    <a:pt x="56197" y="741045"/>
                  </a:lnTo>
                  <a:lnTo>
                    <a:pt x="75247" y="776288"/>
                  </a:lnTo>
                  <a:lnTo>
                    <a:pt x="98108" y="809625"/>
                  </a:lnTo>
                  <a:lnTo>
                    <a:pt x="122872" y="841058"/>
                  </a:lnTo>
                  <a:lnTo>
                    <a:pt x="149542" y="870585"/>
                  </a:lnTo>
                  <a:lnTo>
                    <a:pt x="179070" y="898208"/>
                  </a:lnTo>
                  <a:lnTo>
                    <a:pt x="210502" y="922020"/>
                  </a:lnTo>
                  <a:lnTo>
                    <a:pt x="243840" y="944880"/>
                  </a:lnTo>
                  <a:lnTo>
                    <a:pt x="279083" y="963930"/>
                  </a:lnTo>
                  <a:lnTo>
                    <a:pt x="315277" y="981075"/>
                  </a:lnTo>
                  <a:lnTo>
                    <a:pt x="352425" y="994410"/>
                  </a:lnTo>
                  <a:lnTo>
                    <a:pt x="391477" y="1005840"/>
                  </a:lnTo>
                  <a:lnTo>
                    <a:pt x="430530" y="1013460"/>
                  </a:lnTo>
                  <a:lnTo>
                    <a:pt x="470535" y="1018222"/>
                  </a:lnTo>
                  <a:lnTo>
                    <a:pt x="510540" y="1020127"/>
                  </a:lnTo>
                  <a:lnTo>
                    <a:pt x="550545" y="1018222"/>
                  </a:lnTo>
                  <a:lnTo>
                    <a:pt x="590550" y="1013460"/>
                  </a:lnTo>
                  <a:lnTo>
                    <a:pt x="629602" y="1005840"/>
                  </a:lnTo>
                  <a:lnTo>
                    <a:pt x="667702" y="994410"/>
                  </a:lnTo>
                  <a:lnTo>
                    <a:pt x="705802" y="981075"/>
                  </a:lnTo>
                  <a:lnTo>
                    <a:pt x="741997" y="963930"/>
                  </a:lnTo>
                  <a:lnTo>
                    <a:pt x="777240" y="944880"/>
                  </a:lnTo>
                  <a:lnTo>
                    <a:pt x="810577" y="922020"/>
                  </a:lnTo>
                  <a:lnTo>
                    <a:pt x="842010" y="898208"/>
                  </a:lnTo>
                  <a:lnTo>
                    <a:pt x="870585" y="870585"/>
                  </a:lnTo>
                  <a:lnTo>
                    <a:pt x="898208" y="841058"/>
                  </a:lnTo>
                  <a:lnTo>
                    <a:pt x="922972" y="809625"/>
                  </a:lnTo>
                  <a:lnTo>
                    <a:pt x="944880" y="776288"/>
                  </a:lnTo>
                  <a:lnTo>
                    <a:pt x="964883" y="741045"/>
                  </a:lnTo>
                  <a:lnTo>
                    <a:pt x="981075" y="704850"/>
                  </a:lnTo>
                  <a:lnTo>
                    <a:pt x="995362" y="667702"/>
                  </a:lnTo>
                  <a:lnTo>
                    <a:pt x="1006792" y="628650"/>
                  </a:lnTo>
                  <a:lnTo>
                    <a:pt x="1014412" y="589597"/>
                  </a:lnTo>
                  <a:lnTo>
                    <a:pt x="1019175" y="549592"/>
                  </a:lnTo>
                  <a:lnTo>
                    <a:pt x="1020127" y="52387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445068" y="3426142"/>
              <a:ext cx="1164908" cy="1164908"/>
            </a:xfrm>
            <a:custGeom>
              <a:avLst/>
              <a:gdLst/>
              <a:ahLst/>
              <a:cxnLst/>
              <a:rect l="l" t="t" r="r" b="b"/>
              <a:pathLst>
                <a:path w="1164908" h="1164908">
                  <a:moveTo>
                    <a:pt x="1164908" y="567690"/>
                  </a:moveTo>
                  <a:lnTo>
                    <a:pt x="1163955" y="536258"/>
                  </a:lnTo>
                  <a:lnTo>
                    <a:pt x="1158240" y="491490"/>
                  </a:lnTo>
                  <a:lnTo>
                    <a:pt x="1149668" y="446723"/>
                  </a:lnTo>
                  <a:lnTo>
                    <a:pt x="1137285" y="401955"/>
                  </a:lnTo>
                  <a:lnTo>
                    <a:pt x="1121092" y="359092"/>
                  </a:lnTo>
                  <a:lnTo>
                    <a:pt x="1102042" y="318135"/>
                  </a:lnTo>
                  <a:lnTo>
                    <a:pt x="1080135" y="278130"/>
                  </a:lnTo>
                  <a:lnTo>
                    <a:pt x="1054418" y="240030"/>
                  </a:lnTo>
                  <a:lnTo>
                    <a:pt x="1025842" y="203835"/>
                  </a:lnTo>
                  <a:lnTo>
                    <a:pt x="995362" y="170498"/>
                  </a:lnTo>
                  <a:lnTo>
                    <a:pt x="961073" y="139065"/>
                  </a:lnTo>
                  <a:lnTo>
                    <a:pt x="925830" y="110490"/>
                  </a:lnTo>
                  <a:lnTo>
                    <a:pt x="887730" y="85725"/>
                  </a:lnTo>
                  <a:lnTo>
                    <a:pt x="847725" y="62865"/>
                  </a:lnTo>
                  <a:lnTo>
                    <a:pt x="805815" y="43815"/>
                  </a:lnTo>
                  <a:lnTo>
                    <a:pt x="762953" y="27623"/>
                  </a:lnTo>
                  <a:lnTo>
                    <a:pt x="719138" y="15240"/>
                  </a:lnTo>
                  <a:lnTo>
                    <a:pt x="674370" y="6667"/>
                  </a:lnTo>
                  <a:lnTo>
                    <a:pt x="628650" y="1905"/>
                  </a:lnTo>
                  <a:lnTo>
                    <a:pt x="582930" y="0"/>
                  </a:lnTo>
                  <a:lnTo>
                    <a:pt x="537210" y="1905"/>
                  </a:lnTo>
                  <a:lnTo>
                    <a:pt x="491490" y="6667"/>
                  </a:lnTo>
                  <a:lnTo>
                    <a:pt x="446723" y="15240"/>
                  </a:lnTo>
                  <a:lnTo>
                    <a:pt x="402908" y="27623"/>
                  </a:lnTo>
                  <a:lnTo>
                    <a:pt x="360045" y="43815"/>
                  </a:lnTo>
                  <a:lnTo>
                    <a:pt x="318135" y="62865"/>
                  </a:lnTo>
                  <a:lnTo>
                    <a:pt x="278130" y="85725"/>
                  </a:lnTo>
                  <a:lnTo>
                    <a:pt x="240030" y="110490"/>
                  </a:lnTo>
                  <a:lnTo>
                    <a:pt x="203835" y="139065"/>
                  </a:lnTo>
                  <a:lnTo>
                    <a:pt x="170498" y="170498"/>
                  </a:lnTo>
                  <a:lnTo>
                    <a:pt x="139065" y="203835"/>
                  </a:lnTo>
                  <a:lnTo>
                    <a:pt x="111442" y="240030"/>
                  </a:lnTo>
                  <a:lnTo>
                    <a:pt x="85725" y="278130"/>
                  </a:lnTo>
                  <a:lnTo>
                    <a:pt x="63817" y="318135"/>
                  </a:lnTo>
                  <a:lnTo>
                    <a:pt x="44767" y="359092"/>
                  </a:lnTo>
                  <a:lnTo>
                    <a:pt x="28575" y="401955"/>
                  </a:lnTo>
                  <a:lnTo>
                    <a:pt x="16192" y="446723"/>
                  </a:lnTo>
                  <a:lnTo>
                    <a:pt x="6667" y="491490"/>
                  </a:lnTo>
                  <a:lnTo>
                    <a:pt x="1905" y="536258"/>
                  </a:lnTo>
                  <a:lnTo>
                    <a:pt x="0" y="581978"/>
                  </a:lnTo>
                  <a:lnTo>
                    <a:pt x="1905" y="627698"/>
                  </a:lnTo>
                  <a:lnTo>
                    <a:pt x="6667" y="673417"/>
                  </a:lnTo>
                  <a:lnTo>
                    <a:pt x="16192" y="718185"/>
                  </a:lnTo>
                  <a:lnTo>
                    <a:pt x="28575" y="762000"/>
                  </a:lnTo>
                  <a:lnTo>
                    <a:pt x="44767" y="804862"/>
                  </a:lnTo>
                  <a:lnTo>
                    <a:pt x="63817" y="846773"/>
                  </a:lnTo>
                  <a:lnTo>
                    <a:pt x="85725" y="886778"/>
                  </a:lnTo>
                  <a:lnTo>
                    <a:pt x="111442" y="924878"/>
                  </a:lnTo>
                  <a:lnTo>
                    <a:pt x="139065" y="961073"/>
                  </a:lnTo>
                  <a:lnTo>
                    <a:pt x="170498" y="994410"/>
                  </a:lnTo>
                  <a:lnTo>
                    <a:pt x="203835" y="1025842"/>
                  </a:lnTo>
                  <a:lnTo>
                    <a:pt x="240030" y="1053465"/>
                  </a:lnTo>
                  <a:lnTo>
                    <a:pt x="278130" y="1079182"/>
                  </a:lnTo>
                  <a:lnTo>
                    <a:pt x="318135" y="1101090"/>
                  </a:lnTo>
                  <a:lnTo>
                    <a:pt x="360045" y="1121092"/>
                  </a:lnTo>
                  <a:lnTo>
                    <a:pt x="402908" y="1136332"/>
                  </a:lnTo>
                  <a:lnTo>
                    <a:pt x="446723" y="1148715"/>
                  </a:lnTo>
                  <a:lnTo>
                    <a:pt x="491490" y="1158240"/>
                  </a:lnTo>
                  <a:lnTo>
                    <a:pt x="537210" y="1163003"/>
                  </a:lnTo>
                  <a:lnTo>
                    <a:pt x="582930" y="1164908"/>
                  </a:lnTo>
                  <a:lnTo>
                    <a:pt x="628650" y="1163003"/>
                  </a:lnTo>
                  <a:lnTo>
                    <a:pt x="674370" y="1158240"/>
                  </a:lnTo>
                  <a:lnTo>
                    <a:pt x="719138" y="1148715"/>
                  </a:lnTo>
                  <a:lnTo>
                    <a:pt x="762953" y="1136332"/>
                  </a:lnTo>
                  <a:lnTo>
                    <a:pt x="805815" y="1121092"/>
                  </a:lnTo>
                  <a:lnTo>
                    <a:pt x="847725" y="1101090"/>
                  </a:lnTo>
                  <a:lnTo>
                    <a:pt x="887730" y="1079182"/>
                  </a:lnTo>
                  <a:lnTo>
                    <a:pt x="925830" y="1053465"/>
                  </a:lnTo>
                  <a:lnTo>
                    <a:pt x="961073" y="1025842"/>
                  </a:lnTo>
                  <a:lnTo>
                    <a:pt x="995362" y="994410"/>
                  </a:lnTo>
                  <a:lnTo>
                    <a:pt x="1025842" y="961073"/>
                  </a:lnTo>
                  <a:lnTo>
                    <a:pt x="1054418" y="924878"/>
                  </a:lnTo>
                  <a:lnTo>
                    <a:pt x="1080135" y="886778"/>
                  </a:lnTo>
                  <a:lnTo>
                    <a:pt x="1102042" y="846773"/>
                  </a:lnTo>
                  <a:lnTo>
                    <a:pt x="1121092" y="804862"/>
                  </a:lnTo>
                  <a:lnTo>
                    <a:pt x="1137285" y="762000"/>
                  </a:lnTo>
                  <a:lnTo>
                    <a:pt x="1149668" y="718185"/>
                  </a:lnTo>
                  <a:lnTo>
                    <a:pt x="1158240" y="673417"/>
                  </a:lnTo>
                  <a:lnTo>
                    <a:pt x="1163955" y="627698"/>
                  </a:lnTo>
                  <a:lnTo>
                    <a:pt x="1164908" y="59626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228022" y="3190875"/>
              <a:ext cx="481012" cy="322897"/>
            </a:xfrm>
            <a:custGeom>
              <a:avLst/>
              <a:gdLst/>
              <a:ahLst/>
              <a:cxnLst/>
              <a:rect l="l" t="t" r="r" b="b"/>
              <a:pathLst>
                <a:path w="481012" h="322897">
                  <a:moveTo>
                    <a:pt x="481012" y="322897"/>
                  </a:moveTo>
                  <a:lnTo>
                    <a:pt x="456248" y="290512"/>
                  </a:lnTo>
                  <a:lnTo>
                    <a:pt x="421005" y="248603"/>
                  </a:lnTo>
                  <a:lnTo>
                    <a:pt x="381953" y="209550"/>
                  </a:lnTo>
                  <a:lnTo>
                    <a:pt x="340995" y="172403"/>
                  </a:lnTo>
                  <a:lnTo>
                    <a:pt x="298133" y="139065"/>
                  </a:lnTo>
                  <a:lnTo>
                    <a:pt x="252412" y="107633"/>
                  </a:lnTo>
                  <a:lnTo>
                    <a:pt x="204788" y="79058"/>
                  </a:lnTo>
                  <a:lnTo>
                    <a:pt x="156210" y="54292"/>
                  </a:lnTo>
                  <a:lnTo>
                    <a:pt x="104775" y="33338"/>
                  </a:lnTo>
                  <a:lnTo>
                    <a:pt x="53340" y="15240"/>
                  </a:lnTo>
                  <a:lnTo>
                    <a:pt x="0" y="0"/>
                  </a:lnTo>
                  <a:lnTo>
                    <a:pt x="53340" y="114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188018" y="3155632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0" y="26670"/>
                  </a:moveTo>
                  <a:lnTo>
                    <a:pt x="102870" y="0"/>
                  </a:lnTo>
                  <a:lnTo>
                    <a:pt x="83820" y="933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041332" y="4014788"/>
              <a:ext cx="195262" cy="91440"/>
            </a:xfrm>
            <a:custGeom>
              <a:avLst/>
              <a:gdLst/>
              <a:ahLst/>
              <a:cxnLst/>
              <a:rect l="l" t="t" r="r" b="b"/>
              <a:pathLst>
                <a:path w="195262" h="91440">
                  <a:moveTo>
                    <a:pt x="0" y="0"/>
                  </a:moveTo>
                  <a:lnTo>
                    <a:pt x="195262" y="914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216592" y="4062412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83820"/>
                  </a:moveTo>
                  <a:lnTo>
                    <a:pt x="0" y="86678"/>
                  </a:lnTo>
                  <a:lnTo>
                    <a:pt x="4000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437448" y="4014788"/>
              <a:ext cx="577215" cy="268605"/>
            </a:xfrm>
            <a:custGeom>
              <a:avLst/>
              <a:gdLst/>
              <a:ahLst/>
              <a:cxnLst/>
              <a:rect l="l" t="t" r="r" b="b"/>
              <a:pathLst>
                <a:path w="577215" h="268605">
                  <a:moveTo>
                    <a:pt x="577215" y="0"/>
                  </a:moveTo>
                  <a:lnTo>
                    <a:pt x="0" y="2686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350770" y="4240530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0" y="83820"/>
                  </a:moveTo>
                  <a:lnTo>
                    <a:pt x="66675" y="0"/>
                  </a:lnTo>
                  <a:lnTo>
                    <a:pt x="106680" y="8667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2890838" y="4021455"/>
              <a:ext cx="132397" cy="362903"/>
            </a:xfrm>
            <a:custGeom>
              <a:avLst/>
              <a:gdLst/>
              <a:ahLst/>
              <a:cxnLst/>
              <a:rect l="l" t="t" r="r" b="b"/>
              <a:pathLst>
                <a:path w="132397" h="362903">
                  <a:moveTo>
                    <a:pt x="132397" y="0"/>
                  </a:moveTo>
                  <a:lnTo>
                    <a:pt x="0" y="3629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2846070" y="4368165"/>
              <a:ext cx="89535" cy="105727"/>
            </a:xfrm>
            <a:custGeom>
              <a:avLst/>
              <a:gdLst/>
              <a:ahLst/>
              <a:cxnLst/>
              <a:rect l="l" t="t" r="r" b="b"/>
              <a:pathLst>
                <a:path w="89535" h="105727">
                  <a:moveTo>
                    <a:pt x="12383" y="105727"/>
                  </a:moveTo>
                  <a:lnTo>
                    <a:pt x="0" y="0"/>
                  </a:lnTo>
                  <a:lnTo>
                    <a:pt x="89535" y="3333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63278" y="4003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363278" y="4003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784282" y="4003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784282" y="4003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532822" y="4003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3532822" y="4003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606165" y="4003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606165" y="4003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712845" y="35204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168968" y="317468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023235" y="4003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331845" y="41471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023235" y="4003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333625" y="43253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3023235" y="4003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848928" y="44824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761946" y="33194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05528" y="417957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473056" y="403098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767271" y="42424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01496" y="427434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dr</a:t>
              </a:r>
            </a:p>
          </p:txBody>
        </p:sp>
      </p:grpSp>
      <p:grpSp>
        <p:nvGrpSpPr>
          <p:cNvPr id="53" name="c1-card-3"/>
          <p:cNvGrpSpPr/>
          <p:nvPr/>
        </p:nvGrpSpPr>
        <p:grpSpPr>
          <a:xfrm>
            <a:off x="533400" y="5023485"/>
            <a:ext cx="4977765" cy="1277302"/>
            <a:chOff x="533400" y="5023485"/>
            <a:chExt cx="4977765" cy="1277302"/>
          </a:xfrm>
        </p:grpSpPr>
        <p:sp>
          <p:nvSpPr>
            <p:cNvPr id="48" name="Rectangle 48"/>
            <p:cNvSpPr/>
            <p:nvPr/>
          </p:nvSpPr>
          <p:spPr>
            <a:xfrm>
              <a:off x="533400" y="5023485"/>
              <a:ext cx="4977765" cy="1277302"/>
            </a:xfrm>
            <a:prstGeom prst="roundRect">
              <a:avLst>
                <a:gd name="adj" fmla="val 104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42925" y="5156835"/>
              <a:ext cx="47625" cy="10106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52475" y="52044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5147" y="52373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5998" y="5544979"/>
              <a:ext cx="43451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dB 写成 μdI/(2r)，结果写成 μωσ(R₂ − R₁)/2。这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里是真空中的圆环，应当用真空磁导率 </a:t>
              </a:r>
              <a:r>
                <a:rPr lang="el-GR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μ₀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1" name="c2-steps-1"/>
          <p:cNvGrpSpPr/>
          <p:nvPr/>
        </p:nvGrpSpPr>
        <p:grpSpPr>
          <a:xfrm>
            <a:off x="5815965" y="1533525"/>
            <a:ext cx="4346924" cy="2149412"/>
            <a:chOff x="5815965" y="1533525"/>
            <a:chExt cx="4346924" cy="2149412"/>
          </a:xfrm>
        </p:grpSpPr>
        <p:sp>
          <p:nvSpPr>
            <p:cNvPr id="54" name="Rectangle 54"/>
            <p:cNvSpPr/>
            <p:nvPr/>
          </p:nvSpPr>
          <p:spPr>
            <a:xfrm>
              <a:off x="5949315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81596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0958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81596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0958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5815965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0958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28588" y="15644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取细环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29731" y="1818322"/>
              <a:ext cx="39331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半径 r、宽 dr 的细环带电 dq = σ·2πr dr，每转一圈用时 2π/ω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228588" y="21169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等效电流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29731" y="2371725"/>
              <a:ext cx="1594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 = dq·ω/(2π) = σωr dr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28588" y="26703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细环的场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29731" y="2925128"/>
              <a:ext cx="2969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 = μ₀dI/(2r) = μ₀σω dr/2，各细环方向相同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28588" y="322278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29731" y="3477578"/>
              <a:ext cx="2899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∫(R₁→R₂) μ₀σω dr/2 = μ₀σω(R₂ − R₁)/2</a:t>
              </a:r>
            </a:p>
          </p:txBody>
        </p:sp>
      </p:grpSp>
      <p:grpSp>
        <p:nvGrpSpPr>
          <p:cNvPr id="77" name="c2-card-2"/>
          <p:cNvGrpSpPr/>
          <p:nvPr/>
        </p:nvGrpSpPr>
        <p:grpSpPr>
          <a:xfrm>
            <a:off x="5815965" y="3844290"/>
            <a:ext cx="5842635" cy="1147762"/>
            <a:chOff x="5815965" y="3844290"/>
            <a:chExt cx="5842635" cy="1147762"/>
          </a:xfrm>
        </p:grpSpPr>
        <p:sp>
          <p:nvSpPr>
            <p:cNvPr id="72" name="Rectangle 72"/>
            <p:cNvSpPr/>
            <p:nvPr/>
          </p:nvSpPr>
          <p:spPr>
            <a:xfrm>
              <a:off x="5815965" y="3844290"/>
              <a:ext cx="5842635" cy="1147762"/>
            </a:xfrm>
            <a:prstGeom prst="roundRect">
              <a:avLst>
                <a:gd name="adj" fmla="val 1161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5996940" y="402526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092711" y="405812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990463" y="4365784"/>
              <a:ext cx="4961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= μ₀σω(R₂ − R₁)/2，方向垂直纸面向外（等效电流逆时针）。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991606" y="4647248"/>
              <a:ext cx="35043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变式：R₁ → 0 即圆盘，B = μ₀σωR/2；σ &lt; 0 时 B 反向。</a:t>
              </a:r>
            </a:p>
          </p:txBody>
        </p:sp>
      </p:grpSp>
      <p:grpSp>
        <p:nvGrpSpPr>
          <p:cNvPr id="83" name="c2-card-3"/>
          <p:cNvGrpSpPr/>
          <p:nvPr/>
        </p:nvGrpSpPr>
        <p:grpSpPr>
          <a:xfrm>
            <a:off x="5815965" y="5156835"/>
            <a:ext cx="5842635" cy="1143952"/>
            <a:chOff x="5815965" y="5156835"/>
            <a:chExt cx="5842635" cy="1143952"/>
          </a:xfrm>
        </p:grpSpPr>
        <p:sp>
          <p:nvSpPr>
            <p:cNvPr id="78" name="Rectangle 78"/>
            <p:cNvSpPr/>
            <p:nvPr/>
          </p:nvSpPr>
          <p:spPr>
            <a:xfrm>
              <a:off x="5815965" y="5156835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5825490" y="5290185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035040" y="53378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126759" y="53706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028563" y="5678329"/>
              <a:ext cx="47109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= 10⁻⁶ C/m²、ω = 100 rad/s、R₁ = 0.1 m、R₂ = 0.3 m：切成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20000 个细环数值求和得 1.26×10⁻¹¹ T，与公式一致。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67528" cy="3351847"/>
            <a:chOff x="667512" y="1835468"/>
            <a:chExt cx="536752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磁通量与磁场的高斯定理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259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5.4，磁感应线没有起点和终点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磁感应线的规定和性质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磁通量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高斯定理：磁场是无源场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28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例5.1 非均匀磁场的磁通量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磁通量与磁场的高斯定理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磁感应线：切线给方向，疏密给大小，而且总是闭合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193982" cy="1594485"/>
            <a:chOff x="533400" y="1524000"/>
            <a:chExt cx="5193982" cy="15944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规定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36876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曲线上每一点的切线方向就是该点 B 的方向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48126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42077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通过垂直于 B 的单位面积的磁感应线条数，等于该点 B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的大小</a:t>
              </a:r>
            </a:p>
          </p:txBody>
        </p:sp>
      </p:grpSp>
      <p:grpSp>
        <p:nvGrpSpPr>
          <p:cNvPr id="26" name="c1-bullets-2"/>
          <p:cNvGrpSpPr/>
          <p:nvPr/>
        </p:nvGrpSpPr>
        <p:grpSpPr>
          <a:xfrm>
            <a:off x="526161" y="3327559"/>
            <a:ext cx="3562337" cy="1275969"/>
            <a:chOff x="526161" y="3327559"/>
            <a:chExt cx="3562337" cy="1275969"/>
          </a:xfrm>
        </p:grpSpPr>
        <p:sp>
          <p:nvSpPr>
            <p:cNvPr id="16" name="TextBox 16"/>
            <p:cNvSpPr txBox="1"/>
            <p:nvPr/>
          </p:nvSpPr>
          <p:spPr>
            <a:xfrm>
              <a:off x="526161" y="332755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三条性质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65379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1745" y="369412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4293" y="366664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任何两条磁感应线都不相交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398335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1745" y="402369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4293" y="399526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磁感应线是闭合曲线，没有起点和终点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431292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1745" y="435230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4293" y="432482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回转方向与电流方向满足右手法则</a:t>
              </a:r>
            </a:p>
          </p:txBody>
        </p:sp>
      </p:grpSp>
      <p:grpSp>
        <p:nvGrpSpPr>
          <p:cNvPr id="42" name="c1-table-3"/>
          <p:cNvGrpSpPr/>
          <p:nvPr/>
        </p:nvGrpSpPr>
        <p:grpSpPr>
          <a:xfrm>
            <a:off x="533400" y="4732972"/>
            <a:ext cx="5193982" cy="1290638"/>
            <a:chOff x="533400" y="4732972"/>
            <a:chExt cx="5193982" cy="1290638"/>
          </a:xfrm>
        </p:grpSpPr>
        <p:sp>
          <p:nvSpPr>
            <p:cNvPr id="27" name="Rectangle 27"/>
            <p:cNvSpPr/>
            <p:nvPr/>
          </p:nvSpPr>
          <p:spPr>
            <a:xfrm>
              <a:off x="533400" y="4732972"/>
              <a:ext cx="5193982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7260" y="486441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40496" y="4864417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电场线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85691" y="486441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磁感应线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8746" y="529399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81746" y="529399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起于正电荷，止于负电荷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06762" y="529399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闭合，无头无尾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5883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5593080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8746" y="572452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与源的关系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81746" y="572452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从电荷发出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806762" y="57245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环绕电流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732972"/>
              <a:ext cx="5193982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671638" y="4732972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696652" y="4732972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57" name="g_loopfield"/>
          <p:cNvGrpSpPr/>
          <p:nvPr/>
        </p:nvGrpSpPr>
        <p:grpSpPr>
          <a:xfrm>
            <a:off x="6185535" y="1576388"/>
            <a:ext cx="5319712" cy="3406139"/>
            <a:chOff x="6185535" y="1576388"/>
            <a:chExt cx="5319712" cy="3406139"/>
          </a:xfrm>
        </p:grpSpPr>
        <p:sp>
          <p:nvSpPr>
            <p:cNvPr id="43" name="Freeform 43"/>
            <p:cNvSpPr/>
            <p:nvPr/>
          </p:nvSpPr>
          <p:spPr>
            <a:xfrm>
              <a:off x="8844915" y="2646998"/>
              <a:ext cx="9525" cy="1264920"/>
            </a:xfrm>
            <a:custGeom>
              <a:avLst/>
              <a:gdLst/>
              <a:ahLst/>
              <a:cxnLst/>
              <a:rect l="l" t="t" r="r" b="b"/>
              <a:pathLst>
                <a:path w="9525" h="1264920">
                  <a:moveTo>
                    <a:pt x="0" y="0"/>
                  </a:moveTo>
                  <a:lnTo>
                    <a:pt x="0" y="126492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4" name="Freeform 44"/>
            <p:cNvSpPr/>
            <p:nvPr/>
          </p:nvSpPr>
          <p:spPr>
            <a:xfrm>
              <a:off x="8859202" y="1618298"/>
              <a:ext cx="1104900" cy="1487805"/>
            </a:xfrm>
            <a:custGeom>
              <a:avLst/>
              <a:gdLst/>
              <a:ahLst/>
              <a:cxnLst/>
              <a:rect l="l" t="t" r="r" b="b"/>
              <a:pathLst>
                <a:path w="1104900" h="1487805">
                  <a:moveTo>
                    <a:pt x="0" y="1487805"/>
                  </a:moveTo>
                  <a:lnTo>
                    <a:pt x="24765" y="1486852"/>
                  </a:lnTo>
                  <a:lnTo>
                    <a:pt x="64770" y="1484948"/>
                  </a:lnTo>
                  <a:lnTo>
                    <a:pt x="102870" y="1481137"/>
                  </a:lnTo>
                  <a:lnTo>
                    <a:pt x="141922" y="1476375"/>
                  </a:lnTo>
                  <a:lnTo>
                    <a:pt x="180022" y="1470660"/>
                  </a:lnTo>
                  <a:lnTo>
                    <a:pt x="218122" y="1463040"/>
                  </a:lnTo>
                  <a:lnTo>
                    <a:pt x="257175" y="1454468"/>
                  </a:lnTo>
                  <a:lnTo>
                    <a:pt x="294322" y="1443990"/>
                  </a:lnTo>
                  <a:lnTo>
                    <a:pt x="331470" y="1432560"/>
                  </a:lnTo>
                  <a:lnTo>
                    <a:pt x="368617" y="1420178"/>
                  </a:lnTo>
                  <a:lnTo>
                    <a:pt x="404812" y="1405890"/>
                  </a:lnTo>
                  <a:lnTo>
                    <a:pt x="441007" y="1390650"/>
                  </a:lnTo>
                  <a:lnTo>
                    <a:pt x="477203" y="1374457"/>
                  </a:lnTo>
                  <a:lnTo>
                    <a:pt x="511492" y="1356360"/>
                  </a:lnTo>
                  <a:lnTo>
                    <a:pt x="545782" y="1338262"/>
                  </a:lnTo>
                  <a:lnTo>
                    <a:pt x="579120" y="1318260"/>
                  </a:lnTo>
                  <a:lnTo>
                    <a:pt x="611505" y="1296352"/>
                  </a:lnTo>
                  <a:lnTo>
                    <a:pt x="643890" y="1273493"/>
                  </a:lnTo>
                  <a:lnTo>
                    <a:pt x="674370" y="1250632"/>
                  </a:lnTo>
                  <a:lnTo>
                    <a:pt x="704850" y="1225868"/>
                  </a:lnTo>
                  <a:lnTo>
                    <a:pt x="734378" y="1200150"/>
                  </a:lnTo>
                  <a:lnTo>
                    <a:pt x="762953" y="1173480"/>
                  </a:lnTo>
                  <a:lnTo>
                    <a:pt x="790575" y="1145857"/>
                  </a:lnTo>
                  <a:lnTo>
                    <a:pt x="817245" y="1117282"/>
                  </a:lnTo>
                  <a:lnTo>
                    <a:pt x="842962" y="1087755"/>
                  </a:lnTo>
                  <a:lnTo>
                    <a:pt x="867728" y="1057275"/>
                  </a:lnTo>
                  <a:lnTo>
                    <a:pt x="890588" y="1026795"/>
                  </a:lnTo>
                  <a:lnTo>
                    <a:pt x="913447" y="994410"/>
                  </a:lnTo>
                  <a:lnTo>
                    <a:pt x="934403" y="962025"/>
                  </a:lnTo>
                  <a:lnTo>
                    <a:pt x="955358" y="928687"/>
                  </a:lnTo>
                  <a:lnTo>
                    <a:pt x="973455" y="894398"/>
                  </a:lnTo>
                  <a:lnTo>
                    <a:pt x="991553" y="859155"/>
                  </a:lnTo>
                  <a:lnTo>
                    <a:pt x="1007745" y="823912"/>
                  </a:lnTo>
                  <a:lnTo>
                    <a:pt x="1022985" y="787717"/>
                  </a:lnTo>
                  <a:lnTo>
                    <a:pt x="1037272" y="751522"/>
                  </a:lnTo>
                  <a:lnTo>
                    <a:pt x="1049655" y="714375"/>
                  </a:lnTo>
                  <a:lnTo>
                    <a:pt x="1061085" y="677228"/>
                  </a:lnTo>
                  <a:lnTo>
                    <a:pt x="1071562" y="639128"/>
                  </a:lnTo>
                  <a:lnTo>
                    <a:pt x="1080135" y="601980"/>
                  </a:lnTo>
                  <a:lnTo>
                    <a:pt x="1087755" y="562928"/>
                  </a:lnTo>
                  <a:lnTo>
                    <a:pt x="1094422" y="524828"/>
                  </a:lnTo>
                  <a:lnTo>
                    <a:pt x="1098233" y="485775"/>
                  </a:lnTo>
                  <a:lnTo>
                    <a:pt x="1102042" y="446723"/>
                  </a:lnTo>
                  <a:lnTo>
                    <a:pt x="1103947" y="407670"/>
                  </a:lnTo>
                  <a:lnTo>
                    <a:pt x="1104900" y="369570"/>
                  </a:lnTo>
                  <a:lnTo>
                    <a:pt x="1103947" y="329565"/>
                  </a:lnTo>
                  <a:lnTo>
                    <a:pt x="1102042" y="290512"/>
                  </a:lnTo>
                  <a:lnTo>
                    <a:pt x="1098233" y="252412"/>
                  </a:lnTo>
                  <a:lnTo>
                    <a:pt x="1094422" y="213360"/>
                  </a:lnTo>
                  <a:lnTo>
                    <a:pt x="1087755" y="174307"/>
                  </a:lnTo>
                  <a:lnTo>
                    <a:pt x="1080135" y="136207"/>
                  </a:lnTo>
                  <a:lnTo>
                    <a:pt x="1071562" y="98107"/>
                  </a:lnTo>
                  <a:lnTo>
                    <a:pt x="1061085" y="60960"/>
                  </a:lnTo>
                  <a:lnTo>
                    <a:pt x="1049655" y="22860"/>
                  </a:lnTo>
                  <a:lnTo>
                    <a:pt x="104203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726680" y="1618298"/>
              <a:ext cx="1103947" cy="1487805"/>
            </a:xfrm>
            <a:custGeom>
              <a:avLst/>
              <a:gdLst/>
              <a:ahLst/>
              <a:cxnLst/>
              <a:rect l="l" t="t" r="r" b="b"/>
              <a:pathLst>
                <a:path w="1103947" h="1487805">
                  <a:moveTo>
                    <a:pt x="62865" y="0"/>
                  </a:moveTo>
                  <a:lnTo>
                    <a:pt x="54292" y="22860"/>
                  </a:lnTo>
                  <a:lnTo>
                    <a:pt x="43815" y="60960"/>
                  </a:lnTo>
                  <a:lnTo>
                    <a:pt x="33338" y="98107"/>
                  </a:lnTo>
                  <a:lnTo>
                    <a:pt x="23812" y="136207"/>
                  </a:lnTo>
                  <a:lnTo>
                    <a:pt x="17145" y="174307"/>
                  </a:lnTo>
                  <a:lnTo>
                    <a:pt x="10477" y="213360"/>
                  </a:lnTo>
                  <a:lnTo>
                    <a:pt x="6667" y="252412"/>
                  </a:lnTo>
                  <a:lnTo>
                    <a:pt x="2857" y="290512"/>
                  </a:lnTo>
                  <a:lnTo>
                    <a:pt x="952" y="329565"/>
                  </a:lnTo>
                  <a:lnTo>
                    <a:pt x="0" y="369570"/>
                  </a:lnTo>
                  <a:lnTo>
                    <a:pt x="952" y="407670"/>
                  </a:lnTo>
                  <a:lnTo>
                    <a:pt x="2857" y="446723"/>
                  </a:lnTo>
                  <a:lnTo>
                    <a:pt x="6667" y="485775"/>
                  </a:lnTo>
                  <a:lnTo>
                    <a:pt x="10477" y="524828"/>
                  </a:lnTo>
                  <a:lnTo>
                    <a:pt x="17145" y="562928"/>
                  </a:lnTo>
                  <a:lnTo>
                    <a:pt x="23812" y="601980"/>
                  </a:lnTo>
                  <a:lnTo>
                    <a:pt x="33338" y="639128"/>
                  </a:lnTo>
                  <a:lnTo>
                    <a:pt x="43815" y="677228"/>
                  </a:lnTo>
                  <a:lnTo>
                    <a:pt x="54292" y="714375"/>
                  </a:lnTo>
                  <a:lnTo>
                    <a:pt x="67627" y="751522"/>
                  </a:lnTo>
                  <a:lnTo>
                    <a:pt x="81915" y="787717"/>
                  </a:lnTo>
                  <a:lnTo>
                    <a:pt x="97155" y="823912"/>
                  </a:lnTo>
                  <a:lnTo>
                    <a:pt x="113347" y="859155"/>
                  </a:lnTo>
                  <a:lnTo>
                    <a:pt x="131445" y="894398"/>
                  </a:lnTo>
                  <a:lnTo>
                    <a:pt x="149542" y="928687"/>
                  </a:lnTo>
                  <a:lnTo>
                    <a:pt x="169545" y="962025"/>
                  </a:lnTo>
                  <a:lnTo>
                    <a:pt x="191452" y="994410"/>
                  </a:lnTo>
                  <a:lnTo>
                    <a:pt x="214312" y="1026795"/>
                  </a:lnTo>
                  <a:lnTo>
                    <a:pt x="237172" y="1057275"/>
                  </a:lnTo>
                  <a:lnTo>
                    <a:pt x="261938" y="1087755"/>
                  </a:lnTo>
                  <a:lnTo>
                    <a:pt x="286702" y="1117282"/>
                  </a:lnTo>
                  <a:lnTo>
                    <a:pt x="314325" y="1145857"/>
                  </a:lnTo>
                  <a:lnTo>
                    <a:pt x="341947" y="1173480"/>
                  </a:lnTo>
                  <a:lnTo>
                    <a:pt x="370522" y="1200150"/>
                  </a:lnTo>
                  <a:lnTo>
                    <a:pt x="399097" y="1225868"/>
                  </a:lnTo>
                  <a:lnTo>
                    <a:pt x="429577" y="1250632"/>
                  </a:lnTo>
                  <a:lnTo>
                    <a:pt x="461010" y="1273493"/>
                  </a:lnTo>
                  <a:lnTo>
                    <a:pt x="493395" y="1296352"/>
                  </a:lnTo>
                  <a:lnTo>
                    <a:pt x="525780" y="1318260"/>
                  </a:lnTo>
                  <a:lnTo>
                    <a:pt x="559117" y="1338262"/>
                  </a:lnTo>
                  <a:lnTo>
                    <a:pt x="593407" y="1356360"/>
                  </a:lnTo>
                  <a:lnTo>
                    <a:pt x="627697" y="1374457"/>
                  </a:lnTo>
                  <a:lnTo>
                    <a:pt x="663892" y="1390650"/>
                  </a:lnTo>
                  <a:lnTo>
                    <a:pt x="699135" y="1405890"/>
                  </a:lnTo>
                  <a:lnTo>
                    <a:pt x="736282" y="1420178"/>
                  </a:lnTo>
                  <a:lnTo>
                    <a:pt x="773430" y="1432560"/>
                  </a:lnTo>
                  <a:lnTo>
                    <a:pt x="810577" y="1443990"/>
                  </a:lnTo>
                  <a:lnTo>
                    <a:pt x="847725" y="1454468"/>
                  </a:lnTo>
                  <a:lnTo>
                    <a:pt x="885825" y="1463040"/>
                  </a:lnTo>
                  <a:lnTo>
                    <a:pt x="924877" y="1470660"/>
                  </a:lnTo>
                  <a:lnTo>
                    <a:pt x="962977" y="1476375"/>
                  </a:lnTo>
                  <a:lnTo>
                    <a:pt x="1002030" y="1481137"/>
                  </a:lnTo>
                  <a:lnTo>
                    <a:pt x="1040130" y="1484948"/>
                  </a:lnTo>
                  <a:lnTo>
                    <a:pt x="1080135" y="1486852"/>
                  </a:lnTo>
                  <a:lnTo>
                    <a:pt x="1103947" y="148780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726680" y="1918335"/>
              <a:ext cx="9525" cy="42862"/>
            </a:xfrm>
            <a:custGeom>
              <a:avLst/>
              <a:gdLst/>
              <a:ahLst/>
              <a:cxnLst/>
              <a:rect l="l" t="t" r="r" b="b"/>
              <a:pathLst>
                <a:path w="9525" h="42862">
                  <a:moveTo>
                    <a:pt x="0" y="0"/>
                  </a:moveTo>
                  <a:lnTo>
                    <a:pt x="0" y="4286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679055" y="19611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7726680" y="3452812"/>
              <a:ext cx="1103947" cy="1487805"/>
            </a:xfrm>
            <a:custGeom>
              <a:avLst/>
              <a:gdLst/>
              <a:ahLst/>
              <a:cxnLst/>
              <a:rect l="l" t="t" r="r" b="b"/>
              <a:pathLst>
                <a:path w="1103947" h="1487805">
                  <a:moveTo>
                    <a:pt x="1103947" y="0"/>
                  </a:moveTo>
                  <a:lnTo>
                    <a:pt x="1080135" y="953"/>
                  </a:lnTo>
                  <a:lnTo>
                    <a:pt x="1040130" y="2858"/>
                  </a:lnTo>
                  <a:lnTo>
                    <a:pt x="1002030" y="6667"/>
                  </a:lnTo>
                  <a:lnTo>
                    <a:pt x="962977" y="11430"/>
                  </a:lnTo>
                  <a:lnTo>
                    <a:pt x="924877" y="17145"/>
                  </a:lnTo>
                  <a:lnTo>
                    <a:pt x="885825" y="24765"/>
                  </a:lnTo>
                  <a:lnTo>
                    <a:pt x="847725" y="33338"/>
                  </a:lnTo>
                  <a:lnTo>
                    <a:pt x="810577" y="43815"/>
                  </a:lnTo>
                  <a:lnTo>
                    <a:pt x="773430" y="55245"/>
                  </a:lnTo>
                  <a:lnTo>
                    <a:pt x="736282" y="67628"/>
                  </a:lnTo>
                  <a:lnTo>
                    <a:pt x="699135" y="81915"/>
                  </a:lnTo>
                  <a:lnTo>
                    <a:pt x="663892" y="97155"/>
                  </a:lnTo>
                  <a:lnTo>
                    <a:pt x="627697" y="113347"/>
                  </a:lnTo>
                  <a:lnTo>
                    <a:pt x="593407" y="131445"/>
                  </a:lnTo>
                  <a:lnTo>
                    <a:pt x="559117" y="149542"/>
                  </a:lnTo>
                  <a:lnTo>
                    <a:pt x="525780" y="169545"/>
                  </a:lnTo>
                  <a:lnTo>
                    <a:pt x="493395" y="191453"/>
                  </a:lnTo>
                  <a:lnTo>
                    <a:pt x="461010" y="214312"/>
                  </a:lnTo>
                  <a:lnTo>
                    <a:pt x="429577" y="237172"/>
                  </a:lnTo>
                  <a:lnTo>
                    <a:pt x="399097" y="261938"/>
                  </a:lnTo>
                  <a:lnTo>
                    <a:pt x="370522" y="287655"/>
                  </a:lnTo>
                  <a:lnTo>
                    <a:pt x="341947" y="314325"/>
                  </a:lnTo>
                  <a:lnTo>
                    <a:pt x="314325" y="341947"/>
                  </a:lnTo>
                  <a:lnTo>
                    <a:pt x="286702" y="370522"/>
                  </a:lnTo>
                  <a:lnTo>
                    <a:pt x="261938" y="400050"/>
                  </a:lnTo>
                  <a:lnTo>
                    <a:pt x="237172" y="430530"/>
                  </a:lnTo>
                  <a:lnTo>
                    <a:pt x="214312" y="461010"/>
                  </a:lnTo>
                  <a:lnTo>
                    <a:pt x="191452" y="493395"/>
                  </a:lnTo>
                  <a:lnTo>
                    <a:pt x="169545" y="525780"/>
                  </a:lnTo>
                  <a:lnTo>
                    <a:pt x="149542" y="559117"/>
                  </a:lnTo>
                  <a:lnTo>
                    <a:pt x="131445" y="593408"/>
                  </a:lnTo>
                  <a:lnTo>
                    <a:pt x="113347" y="628650"/>
                  </a:lnTo>
                  <a:lnTo>
                    <a:pt x="97155" y="663892"/>
                  </a:lnTo>
                  <a:lnTo>
                    <a:pt x="81915" y="700088"/>
                  </a:lnTo>
                  <a:lnTo>
                    <a:pt x="67627" y="736283"/>
                  </a:lnTo>
                  <a:lnTo>
                    <a:pt x="54292" y="773430"/>
                  </a:lnTo>
                  <a:lnTo>
                    <a:pt x="43815" y="810578"/>
                  </a:lnTo>
                  <a:lnTo>
                    <a:pt x="33338" y="848678"/>
                  </a:lnTo>
                  <a:lnTo>
                    <a:pt x="23812" y="885825"/>
                  </a:lnTo>
                  <a:lnTo>
                    <a:pt x="17145" y="924878"/>
                  </a:lnTo>
                  <a:lnTo>
                    <a:pt x="10477" y="962978"/>
                  </a:lnTo>
                  <a:lnTo>
                    <a:pt x="6667" y="1002030"/>
                  </a:lnTo>
                  <a:lnTo>
                    <a:pt x="2857" y="1041083"/>
                  </a:lnTo>
                  <a:lnTo>
                    <a:pt x="952" y="1080135"/>
                  </a:lnTo>
                  <a:lnTo>
                    <a:pt x="0" y="1118235"/>
                  </a:lnTo>
                  <a:lnTo>
                    <a:pt x="952" y="1158240"/>
                  </a:lnTo>
                  <a:lnTo>
                    <a:pt x="2857" y="1197292"/>
                  </a:lnTo>
                  <a:lnTo>
                    <a:pt x="6667" y="1235392"/>
                  </a:lnTo>
                  <a:lnTo>
                    <a:pt x="10477" y="1274445"/>
                  </a:lnTo>
                  <a:lnTo>
                    <a:pt x="17145" y="1313497"/>
                  </a:lnTo>
                  <a:lnTo>
                    <a:pt x="23812" y="1351597"/>
                  </a:lnTo>
                  <a:lnTo>
                    <a:pt x="33338" y="1389697"/>
                  </a:lnTo>
                  <a:lnTo>
                    <a:pt x="43815" y="1426845"/>
                  </a:lnTo>
                  <a:lnTo>
                    <a:pt x="54292" y="1464945"/>
                  </a:lnTo>
                  <a:lnTo>
                    <a:pt x="62865" y="148780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859202" y="3452812"/>
              <a:ext cx="1104900" cy="1487805"/>
            </a:xfrm>
            <a:custGeom>
              <a:avLst/>
              <a:gdLst/>
              <a:ahLst/>
              <a:cxnLst/>
              <a:rect l="l" t="t" r="r" b="b"/>
              <a:pathLst>
                <a:path w="1104900" h="1487805">
                  <a:moveTo>
                    <a:pt x="1042035" y="1487805"/>
                  </a:moveTo>
                  <a:lnTo>
                    <a:pt x="1049655" y="1464945"/>
                  </a:lnTo>
                  <a:lnTo>
                    <a:pt x="1061085" y="1426845"/>
                  </a:lnTo>
                  <a:lnTo>
                    <a:pt x="1071562" y="1389697"/>
                  </a:lnTo>
                  <a:lnTo>
                    <a:pt x="1080135" y="1351597"/>
                  </a:lnTo>
                  <a:lnTo>
                    <a:pt x="1087755" y="1313497"/>
                  </a:lnTo>
                  <a:lnTo>
                    <a:pt x="1094422" y="1274445"/>
                  </a:lnTo>
                  <a:lnTo>
                    <a:pt x="1098233" y="1235392"/>
                  </a:lnTo>
                  <a:lnTo>
                    <a:pt x="1102042" y="1197292"/>
                  </a:lnTo>
                  <a:lnTo>
                    <a:pt x="1103947" y="1158240"/>
                  </a:lnTo>
                  <a:lnTo>
                    <a:pt x="1104900" y="1118235"/>
                  </a:lnTo>
                  <a:lnTo>
                    <a:pt x="1103947" y="1080135"/>
                  </a:lnTo>
                  <a:lnTo>
                    <a:pt x="1102042" y="1041083"/>
                  </a:lnTo>
                  <a:lnTo>
                    <a:pt x="1098233" y="1002030"/>
                  </a:lnTo>
                  <a:lnTo>
                    <a:pt x="1094422" y="962978"/>
                  </a:lnTo>
                  <a:lnTo>
                    <a:pt x="1087755" y="924878"/>
                  </a:lnTo>
                  <a:lnTo>
                    <a:pt x="1080135" y="885825"/>
                  </a:lnTo>
                  <a:lnTo>
                    <a:pt x="1071562" y="848678"/>
                  </a:lnTo>
                  <a:lnTo>
                    <a:pt x="1061085" y="810578"/>
                  </a:lnTo>
                  <a:lnTo>
                    <a:pt x="1049655" y="773430"/>
                  </a:lnTo>
                  <a:lnTo>
                    <a:pt x="1037272" y="736283"/>
                  </a:lnTo>
                  <a:lnTo>
                    <a:pt x="1022985" y="700088"/>
                  </a:lnTo>
                  <a:lnTo>
                    <a:pt x="1007745" y="663892"/>
                  </a:lnTo>
                  <a:lnTo>
                    <a:pt x="991553" y="628650"/>
                  </a:lnTo>
                  <a:lnTo>
                    <a:pt x="973455" y="593408"/>
                  </a:lnTo>
                  <a:lnTo>
                    <a:pt x="955358" y="559117"/>
                  </a:lnTo>
                  <a:lnTo>
                    <a:pt x="934403" y="525780"/>
                  </a:lnTo>
                  <a:lnTo>
                    <a:pt x="913447" y="493395"/>
                  </a:lnTo>
                  <a:lnTo>
                    <a:pt x="890588" y="461010"/>
                  </a:lnTo>
                  <a:lnTo>
                    <a:pt x="867728" y="430530"/>
                  </a:lnTo>
                  <a:lnTo>
                    <a:pt x="842962" y="400050"/>
                  </a:lnTo>
                  <a:lnTo>
                    <a:pt x="817245" y="370522"/>
                  </a:lnTo>
                  <a:lnTo>
                    <a:pt x="790575" y="341947"/>
                  </a:lnTo>
                  <a:lnTo>
                    <a:pt x="762953" y="314325"/>
                  </a:lnTo>
                  <a:lnTo>
                    <a:pt x="734378" y="287655"/>
                  </a:lnTo>
                  <a:lnTo>
                    <a:pt x="704850" y="261938"/>
                  </a:lnTo>
                  <a:lnTo>
                    <a:pt x="674370" y="237172"/>
                  </a:lnTo>
                  <a:lnTo>
                    <a:pt x="643890" y="214312"/>
                  </a:lnTo>
                  <a:lnTo>
                    <a:pt x="611505" y="191453"/>
                  </a:lnTo>
                  <a:lnTo>
                    <a:pt x="579120" y="169545"/>
                  </a:lnTo>
                  <a:lnTo>
                    <a:pt x="545782" y="149542"/>
                  </a:lnTo>
                  <a:lnTo>
                    <a:pt x="511492" y="131445"/>
                  </a:lnTo>
                  <a:lnTo>
                    <a:pt x="477203" y="113347"/>
                  </a:lnTo>
                  <a:lnTo>
                    <a:pt x="441007" y="97155"/>
                  </a:lnTo>
                  <a:lnTo>
                    <a:pt x="404812" y="81915"/>
                  </a:lnTo>
                  <a:lnTo>
                    <a:pt x="368617" y="67628"/>
                  </a:lnTo>
                  <a:lnTo>
                    <a:pt x="331470" y="55245"/>
                  </a:lnTo>
                  <a:lnTo>
                    <a:pt x="294322" y="43815"/>
                  </a:lnTo>
                  <a:lnTo>
                    <a:pt x="257175" y="33338"/>
                  </a:lnTo>
                  <a:lnTo>
                    <a:pt x="218122" y="24765"/>
                  </a:lnTo>
                  <a:lnTo>
                    <a:pt x="180022" y="17145"/>
                  </a:lnTo>
                  <a:lnTo>
                    <a:pt x="141922" y="11430"/>
                  </a:lnTo>
                  <a:lnTo>
                    <a:pt x="102870" y="6667"/>
                  </a:lnTo>
                  <a:lnTo>
                    <a:pt x="64770" y="2858"/>
                  </a:lnTo>
                  <a:lnTo>
                    <a:pt x="24765" y="953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726680" y="4597718"/>
              <a:ext cx="9525" cy="42862"/>
            </a:xfrm>
            <a:custGeom>
              <a:avLst/>
              <a:gdLst/>
              <a:ahLst/>
              <a:cxnLst/>
              <a:rect l="l" t="t" r="r" b="b"/>
              <a:pathLst>
                <a:path w="9525" h="42862">
                  <a:moveTo>
                    <a:pt x="0" y="4286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679055" y="45024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8859202" y="1589722"/>
              <a:ext cx="810578" cy="1465898"/>
            </a:xfrm>
            <a:custGeom>
              <a:avLst/>
              <a:gdLst/>
              <a:ahLst/>
              <a:cxnLst/>
              <a:rect l="l" t="t" r="r" b="b"/>
              <a:pathLst>
                <a:path w="810578" h="1465898">
                  <a:moveTo>
                    <a:pt x="0" y="1465898"/>
                  </a:moveTo>
                  <a:lnTo>
                    <a:pt x="15240" y="1465898"/>
                  </a:lnTo>
                  <a:lnTo>
                    <a:pt x="43815" y="1463993"/>
                  </a:lnTo>
                  <a:lnTo>
                    <a:pt x="72390" y="1462087"/>
                  </a:lnTo>
                  <a:lnTo>
                    <a:pt x="100965" y="1458278"/>
                  </a:lnTo>
                  <a:lnTo>
                    <a:pt x="129540" y="1453515"/>
                  </a:lnTo>
                  <a:lnTo>
                    <a:pt x="158115" y="1448752"/>
                  </a:lnTo>
                  <a:lnTo>
                    <a:pt x="185738" y="1442085"/>
                  </a:lnTo>
                  <a:lnTo>
                    <a:pt x="213360" y="1434465"/>
                  </a:lnTo>
                  <a:lnTo>
                    <a:pt x="240982" y="1425893"/>
                  </a:lnTo>
                  <a:lnTo>
                    <a:pt x="268605" y="1416368"/>
                  </a:lnTo>
                  <a:lnTo>
                    <a:pt x="295275" y="1406843"/>
                  </a:lnTo>
                  <a:lnTo>
                    <a:pt x="320992" y="1395412"/>
                  </a:lnTo>
                  <a:lnTo>
                    <a:pt x="347662" y="1383030"/>
                  </a:lnTo>
                  <a:lnTo>
                    <a:pt x="373380" y="1369695"/>
                  </a:lnTo>
                  <a:lnTo>
                    <a:pt x="398145" y="1355407"/>
                  </a:lnTo>
                  <a:lnTo>
                    <a:pt x="422910" y="1341120"/>
                  </a:lnTo>
                  <a:lnTo>
                    <a:pt x="447675" y="1324928"/>
                  </a:lnTo>
                  <a:lnTo>
                    <a:pt x="471488" y="1308735"/>
                  </a:lnTo>
                  <a:lnTo>
                    <a:pt x="494347" y="1291590"/>
                  </a:lnTo>
                  <a:lnTo>
                    <a:pt x="516255" y="1273493"/>
                  </a:lnTo>
                  <a:lnTo>
                    <a:pt x="538162" y="1254443"/>
                  </a:lnTo>
                  <a:lnTo>
                    <a:pt x="559117" y="1234440"/>
                  </a:lnTo>
                  <a:lnTo>
                    <a:pt x="580072" y="1214437"/>
                  </a:lnTo>
                  <a:lnTo>
                    <a:pt x="599122" y="1193482"/>
                  </a:lnTo>
                  <a:lnTo>
                    <a:pt x="618172" y="1171575"/>
                  </a:lnTo>
                  <a:lnTo>
                    <a:pt x="636270" y="1149668"/>
                  </a:lnTo>
                  <a:lnTo>
                    <a:pt x="653415" y="1125855"/>
                  </a:lnTo>
                  <a:lnTo>
                    <a:pt x="670560" y="1102995"/>
                  </a:lnTo>
                  <a:lnTo>
                    <a:pt x="685800" y="1078230"/>
                  </a:lnTo>
                  <a:lnTo>
                    <a:pt x="701040" y="1053465"/>
                  </a:lnTo>
                  <a:lnTo>
                    <a:pt x="714375" y="1028700"/>
                  </a:lnTo>
                  <a:lnTo>
                    <a:pt x="727710" y="1002982"/>
                  </a:lnTo>
                  <a:lnTo>
                    <a:pt x="740092" y="977265"/>
                  </a:lnTo>
                  <a:lnTo>
                    <a:pt x="751522" y="950595"/>
                  </a:lnTo>
                  <a:lnTo>
                    <a:pt x="761047" y="923925"/>
                  </a:lnTo>
                  <a:lnTo>
                    <a:pt x="770572" y="896302"/>
                  </a:lnTo>
                  <a:lnTo>
                    <a:pt x="779145" y="868680"/>
                  </a:lnTo>
                  <a:lnTo>
                    <a:pt x="786765" y="841057"/>
                  </a:lnTo>
                  <a:lnTo>
                    <a:pt x="792480" y="813435"/>
                  </a:lnTo>
                  <a:lnTo>
                    <a:pt x="798195" y="784860"/>
                  </a:lnTo>
                  <a:lnTo>
                    <a:pt x="802957" y="756285"/>
                  </a:lnTo>
                  <a:lnTo>
                    <a:pt x="806767" y="727710"/>
                  </a:lnTo>
                  <a:lnTo>
                    <a:pt x="809625" y="699135"/>
                  </a:lnTo>
                  <a:lnTo>
                    <a:pt x="810578" y="670560"/>
                  </a:lnTo>
                  <a:lnTo>
                    <a:pt x="810578" y="641032"/>
                  </a:lnTo>
                  <a:lnTo>
                    <a:pt x="810578" y="612457"/>
                  </a:lnTo>
                  <a:lnTo>
                    <a:pt x="809625" y="583882"/>
                  </a:lnTo>
                  <a:lnTo>
                    <a:pt x="806767" y="555307"/>
                  </a:lnTo>
                  <a:lnTo>
                    <a:pt x="802957" y="526732"/>
                  </a:lnTo>
                  <a:lnTo>
                    <a:pt x="798195" y="498157"/>
                  </a:lnTo>
                  <a:lnTo>
                    <a:pt x="792480" y="469582"/>
                  </a:lnTo>
                  <a:lnTo>
                    <a:pt x="786765" y="441960"/>
                  </a:lnTo>
                  <a:lnTo>
                    <a:pt x="779145" y="414338"/>
                  </a:lnTo>
                  <a:lnTo>
                    <a:pt x="770572" y="386715"/>
                  </a:lnTo>
                  <a:lnTo>
                    <a:pt x="761047" y="359092"/>
                  </a:lnTo>
                  <a:lnTo>
                    <a:pt x="751522" y="332423"/>
                  </a:lnTo>
                  <a:lnTo>
                    <a:pt x="740092" y="305752"/>
                  </a:lnTo>
                  <a:lnTo>
                    <a:pt x="727710" y="280035"/>
                  </a:lnTo>
                  <a:lnTo>
                    <a:pt x="714375" y="254317"/>
                  </a:lnTo>
                  <a:lnTo>
                    <a:pt x="701040" y="228600"/>
                  </a:lnTo>
                  <a:lnTo>
                    <a:pt x="685800" y="203835"/>
                  </a:lnTo>
                  <a:lnTo>
                    <a:pt x="670560" y="180023"/>
                  </a:lnTo>
                  <a:lnTo>
                    <a:pt x="653415" y="156210"/>
                  </a:lnTo>
                  <a:lnTo>
                    <a:pt x="636270" y="133350"/>
                  </a:lnTo>
                  <a:lnTo>
                    <a:pt x="618172" y="110490"/>
                  </a:lnTo>
                  <a:lnTo>
                    <a:pt x="599122" y="89535"/>
                  </a:lnTo>
                  <a:lnTo>
                    <a:pt x="580072" y="67627"/>
                  </a:lnTo>
                  <a:lnTo>
                    <a:pt x="559117" y="47625"/>
                  </a:lnTo>
                  <a:lnTo>
                    <a:pt x="538162" y="28575"/>
                  </a:lnTo>
                  <a:lnTo>
                    <a:pt x="516255" y="9525"/>
                  </a:lnTo>
                  <a:lnTo>
                    <a:pt x="50482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020050" y="1589722"/>
              <a:ext cx="810578" cy="1465898"/>
            </a:xfrm>
            <a:custGeom>
              <a:avLst/>
              <a:gdLst/>
              <a:ahLst/>
              <a:cxnLst/>
              <a:rect l="l" t="t" r="r" b="b"/>
              <a:pathLst>
                <a:path w="810578" h="1465898">
                  <a:moveTo>
                    <a:pt x="305753" y="0"/>
                  </a:moveTo>
                  <a:lnTo>
                    <a:pt x="294322" y="9525"/>
                  </a:lnTo>
                  <a:lnTo>
                    <a:pt x="273368" y="28575"/>
                  </a:lnTo>
                  <a:lnTo>
                    <a:pt x="251460" y="47625"/>
                  </a:lnTo>
                  <a:lnTo>
                    <a:pt x="231457" y="67627"/>
                  </a:lnTo>
                  <a:lnTo>
                    <a:pt x="212407" y="89535"/>
                  </a:lnTo>
                  <a:lnTo>
                    <a:pt x="193357" y="110490"/>
                  </a:lnTo>
                  <a:lnTo>
                    <a:pt x="175260" y="133350"/>
                  </a:lnTo>
                  <a:lnTo>
                    <a:pt x="158115" y="156210"/>
                  </a:lnTo>
                  <a:lnTo>
                    <a:pt x="140970" y="180023"/>
                  </a:lnTo>
                  <a:lnTo>
                    <a:pt x="125730" y="203835"/>
                  </a:lnTo>
                  <a:lnTo>
                    <a:pt x="110490" y="228600"/>
                  </a:lnTo>
                  <a:lnTo>
                    <a:pt x="96203" y="254317"/>
                  </a:lnTo>
                  <a:lnTo>
                    <a:pt x="83820" y="280035"/>
                  </a:lnTo>
                  <a:lnTo>
                    <a:pt x="71438" y="305752"/>
                  </a:lnTo>
                  <a:lnTo>
                    <a:pt x="60007" y="332423"/>
                  </a:lnTo>
                  <a:lnTo>
                    <a:pt x="49530" y="359092"/>
                  </a:lnTo>
                  <a:lnTo>
                    <a:pt x="40005" y="386715"/>
                  </a:lnTo>
                  <a:lnTo>
                    <a:pt x="31432" y="414338"/>
                  </a:lnTo>
                  <a:lnTo>
                    <a:pt x="24765" y="441960"/>
                  </a:lnTo>
                  <a:lnTo>
                    <a:pt x="18097" y="469582"/>
                  </a:lnTo>
                  <a:lnTo>
                    <a:pt x="12382" y="498157"/>
                  </a:lnTo>
                  <a:lnTo>
                    <a:pt x="8572" y="526732"/>
                  </a:lnTo>
                  <a:lnTo>
                    <a:pt x="4762" y="555307"/>
                  </a:lnTo>
                  <a:lnTo>
                    <a:pt x="1905" y="583882"/>
                  </a:lnTo>
                  <a:lnTo>
                    <a:pt x="0" y="612457"/>
                  </a:lnTo>
                  <a:lnTo>
                    <a:pt x="0" y="641032"/>
                  </a:lnTo>
                  <a:lnTo>
                    <a:pt x="0" y="670560"/>
                  </a:lnTo>
                  <a:lnTo>
                    <a:pt x="1905" y="699135"/>
                  </a:lnTo>
                  <a:lnTo>
                    <a:pt x="4762" y="727710"/>
                  </a:lnTo>
                  <a:lnTo>
                    <a:pt x="8572" y="756285"/>
                  </a:lnTo>
                  <a:lnTo>
                    <a:pt x="12382" y="784860"/>
                  </a:lnTo>
                  <a:lnTo>
                    <a:pt x="18097" y="813435"/>
                  </a:lnTo>
                  <a:lnTo>
                    <a:pt x="24765" y="841057"/>
                  </a:lnTo>
                  <a:lnTo>
                    <a:pt x="31432" y="868680"/>
                  </a:lnTo>
                  <a:lnTo>
                    <a:pt x="40005" y="896302"/>
                  </a:lnTo>
                  <a:lnTo>
                    <a:pt x="49530" y="923925"/>
                  </a:lnTo>
                  <a:lnTo>
                    <a:pt x="60007" y="950595"/>
                  </a:lnTo>
                  <a:lnTo>
                    <a:pt x="71438" y="977265"/>
                  </a:lnTo>
                  <a:lnTo>
                    <a:pt x="83820" y="1002982"/>
                  </a:lnTo>
                  <a:lnTo>
                    <a:pt x="96203" y="1028700"/>
                  </a:lnTo>
                  <a:lnTo>
                    <a:pt x="110490" y="1053465"/>
                  </a:lnTo>
                  <a:lnTo>
                    <a:pt x="125730" y="1078230"/>
                  </a:lnTo>
                  <a:lnTo>
                    <a:pt x="140970" y="1102995"/>
                  </a:lnTo>
                  <a:lnTo>
                    <a:pt x="158115" y="1125855"/>
                  </a:lnTo>
                  <a:lnTo>
                    <a:pt x="175260" y="1149668"/>
                  </a:lnTo>
                  <a:lnTo>
                    <a:pt x="193357" y="1171575"/>
                  </a:lnTo>
                  <a:lnTo>
                    <a:pt x="212407" y="1193482"/>
                  </a:lnTo>
                  <a:lnTo>
                    <a:pt x="231457" y="1214437"/>
                  </a:lnTo>
                  <a:lnTo>
                    <a:pt x="251460" y="1234440"/>
                  </a:lnTo>
                  <a:lnTo>
                    <a:pt x="273368" y="1254443"/>
                  </a:lnTo>
                  <a:lnTo>
                    <a:pt x="294322" y="1273493"/>
                  </a:lnTo>
                  <a:lnTo>
                    <a:pt x="317182" y="1291590"/>
                  </a:lnTo>
                  <a:lnTo>
                    <a:pt x="340043" y="1308735"/>
                  </a:lnTo>
                  <a:lnTo>
                    <a:pt x="363855" y="1324928"/>
                  </a:lnTo>
                  <a:lnTo>
                    <a:pt x="387668" y="1341120"/>
                  </a:lnTo>
                  <a:lnTo>
                    <a:pt x="412432" y="1355407"/>
                  </a:lnTo>
                  <a:lnTo>
                    <a:pt x="438150" y="1369695"/>
                  </a:lnTo>
                  <a:lnTo>
                    <a:pt x="463868" y="1383030"/>
                  </a:lnTo>
                  <a:lnTo>
                    <a:pt x="489585" y="1395412"/>
                  </a:lnTo>
                  <a:lnTo>
                    <a:pt x="516255" y="1406843"/>
                  </a:lnTo>
                  <a:lnTo>
                    <a:pt x="542925" y="1416368"/>
                  </a:lnTo>
                  <a:lnTo>
                    <a:pt x="570547" y="1425893"/>
                  </a:lnTo>
                  <a:lnTo>
                    <a:pt x="598170" y="1434465"/>
                  </a:lnTo>
                  <a:lnTo>
                    <a:pt x="625793" y="1442085"/>
                  </a:lnTo>
                  <a:lnTo>
                    <a:pt x="653415" y="1448752"/>
                  </a:lnTo>
                  <a:lnTo>
                    <a:pt x="681990" y="1453515"/>
                  </a:lnTo>
                  <a:lnTo>
                    <a:pt x="710565" y="1458278"/>
                  </a:lnTo>
                  <a:lnTo>
                    <a:pt x="739140" y="1462087"/>
                  </a:lnTo>
                  <a:lnTo>
                    <a:pt x="767715" y="1463993"/>
                  </a:lnTo>
                  <a:lnTo>
                    <a:pt x="796290" y="1465898"/>
                  </a:lnTo>
                  <a:lnTo>
                    <a:pt x="810578" y="146589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8020050" y="2162175"/>
              <a:ext cx="9525" cy="42862"/>
            </a:xfrm>
            <a:custGeom>
              <a:avLst/>
              <a:gdLst/>
              <a:ahLst/>
              <a:cxnLst/>
              <a:rect l="l" t="t" r="r" b="b"/>
              <a:pathLst>
                <a:path w="9525" h="42862">
                  <a:moveTo>
                    <a:pt x="0" y="0"/>
                  </a:moveTo>
                  <a:lnTo>
                    <a:pt x="0" y="4286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972425" y="22050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8020050" y="3503295"/>
              <a:ext cx="810578" cy="1465898"/>
            </a:xfrm>
            <a:custGeom>
              <a:avLst/>
              <a:gdLst/>
              <a:ahLst/>
              <a:cxnLst/>
              <a:rect l="l" t="t" r="r" b="b"/>
              <a:pathLst>
                <a:path w="810578" h="1465898">
                  <a:moveTo>
                    <a:pt x="810578" y="0"/>
                  </a:moveTo>
                  <a:lnTo>
                    <a:pt x="796290" y="0"/>
                  </a:lnTo>
                  <a:lnTo>
                    <a:pt x="767715" y="1905"/>
                  </a:lnTo>
                  <a:lnTo>
                    <a:pt x="739140" y="3810"/>
                  </a:lnTo>
                  <a:lnTo>
                    <a:pt x="710565" y="7620"/>
                  </a:lnTo>
                  <a:lnTo>
                    <a:pt x="681990" y="12383"/>
                  </a:lnTo>
                  <a:lnTo>
                    <a:pt x="653415" y="17145"/>
                  </a:lnTo>
                  <a:lnTo>
                    <a:pt x="625793" y="23812"/>
                  </a:lnTo>
                  <a:lnTo>
                    <a:pt x="598170" y="31433"/>
                  </a:lnTo>
                  <a:lnTo>
                    <a:pt x="570547" y="40005"/>
                  </a:lnTo>
                  <a:lnTo>
                    <a:pt x="542925" y="49530"/>
                  </a:lnTo>
                  <a:lnTo>
                    <a:pt x="516255" y="59055"/>
                  </a:lnTo>
                  <a:lnTo>
                    <a:pt x="489585" y="70485"/>
                  </a:lnTo>
                  <a:lnTo>
                    <a:pt x="463868" y="82867"/>
                  </a:lnTo>
                  <a:lnTo>
                    <a:pt x="438150" y="96202"/>
                  </a:lnTo>
                  <a:lnTo>
                    <a:pt x="412432" y="110490"/>
                  </a:lnTo>
                  <a:lnTo>
                    <a:pt x="387668" y="124777"/>
                  </a:lnTo>
                  <a:lnTo>
                    <a:pt x="363855" y="140970"/>
                  </a:lnTo>
                  <a:lnTo>
                    <a:pt x="340043" y="157162"/>
                  </a:lnTo>
                  <a:lnTo>
                    <a:pt x="317182" y="174308"/>
                  </a:lnTo>
                  <a:lnTo>
                    <a:pt x="294322" y="192405"/>
                  </a:lnTo>
                  <a:lnTo>
                    <a:pt x="273368" y="211455"/>
                  </a:lnTo>
                  <a:lnTo>
                    <a:pt x="251460" y="231458"/>
                  </a:lnTo>
                  <a:lnTo>
                    <a:pt x="231457" y="251460"/>
                  </a:lnTo>
                  <a:lnTo>
                    <a:pt x="212407" y="272415"/>
                  </a:lnTo>
                  <a:lnTo>
                    <a:pt x="193357" y="294322"/>
                  </a:lnTo>
                  <a:lnTo>
                    <a:pt x="175260" y="316230"/>
                  </a:lnTo>
                  <a:lnTo>
                    <a:pt x="158115" y="340042"/>
                  </a:lnTo>
                  <a:lnTo>
                    <a:pt x="140970" y="362902"/>
                  </a:lnTo>
                  <a:lnTo>
                    <a:pt x="125730" y="387667"/>
                  </a:lnTo>
                  <a:lnTo>
                    <a:pt x="110490" y="412433"/>
                  </a:lnTo>
                  <a:lnTo>
                    <a:pt x="96203" y="437197"/>
                  </a:lnTo>
                  <a:lnTo>
                    <a:pt x="83820" y="462915"/>
                  </a:lnTo>
                  <a:lnTo>
                    <a:pt x="71438" y="488633"/>
                  </a:lnTo>
                  <a:lnTo>
                    <a:pt x="60007" y="515302"/>
                  </a:lnTo>
                  <a:lnTo>
                    <a:pt x="49530" y="541972"/>
                  </a:lnTo>
                  <a:lnTo>
                    <a:pt x="40005" y="569595"/>
                  </a:lnTo>
                  <a:lnTo>
                    <a:pt x="31432" y="597217"/>
                  </a:lnTo>
                  <a:lnTo>
                    <a:pt x="24765" y="624840"/>
                  </a:lnTo>
                  <a:lnTo>
                    <a:pt x="18097" y="652462"/>
                  </a:lnTo>
                  <a:lnTo>
                    <a:pt x="12382" y="681038"/>
                  </a:lnTo>
                  <a:lnTo>
                    <a:pt x="8572" y="709612"/>
                  </a:lnTo>
                  <a:lnTo>
                    <a:pt x="4762" y="738188"/>
                  </a:lnTo>
                  <a:lnTo>
                    <a:pt x="1905" y="766762"/>
                  </a:lnTo>
                  <a:lnTo>
                    <a:pt x="0" y="795338"/>
                  </a:lnTo>
                  <a:lnTo>
                    <a:pt x="0" y="824865"/>
                  </a:lnTo>
                  <a:lnTo>
                    <a:pt x="0" y="853440"/>
                  </a:lnTo>
                  <a:lnTo>
                    <a:pt x="1905" y="882015"/>
                  </a:lnTo>
                  <a:lnTo>
                    <a:pt x="4762" y="910590"/>
                  </a:lnTo>
                  <a:lnTo>
                    <a:pt x="8572" y="939165"/>
                  </a:lnTo>
                  <a:lnTo>
                    <a:pt x="12382" y="967740"/>
                  </a:lnTo>
                  <a:lnTo>
                    <a:pt x="18097" y="996315"/>
                  </a:lnTo>
                  <a:lnTo>
                    <a:pt x="24765" y="1023938"/>
                  </a:lnTo>
                  <a:lnTo>
                    <a:pt x="31432" y="1051560"/>
                  </a:lnTo>
                  <a:lnTo>
                    <a:pt x="40005" y="1079182"/>
                  </a:lnTo>
                  <a:lnTo>
                    <a:pt x="49530" y="1106805"/>
                  </a:lnTo>
                  <a:lnTo>
                    <a:pt x="60007" y="1133475"/>
                  </a:lnTo>
                  <a:lnTo>
                    <a:pt x="71438" y="1160145"/>
                  </a:lnTo>
                  <a:lnTo>
                    <a:pt x="83820" y="1185862"/>
                  </a:lnTo>
                  <a:lnTo>
                    <a:pt x="96203" y="1211580"/>
                  </a:lnTo>
                  <a:lnTo>
                    <a:pt x="110490" y="1237297"/>
                  </a:lnTo>
                  <a:lnTo>
                    <a:pt x="125730" y="1262062"/>
                  </a:lnTo>
                  <a:lnTo>
                    <a:pt x="140970" y="1285875"/>
                  </a:lnTo>
                  <a:lnTo>
                    <a:pt x="158115" y="1309688"/>
                  </a:lnTo>
                  <a:lnTo>
                    <a:pt x="175260" y="1332547"/>
                  </a:lnTo>
                  <a:lnTo>
                    <a:pt x="193357" y="1355408"/>
                  </a:lnTo>
                  <a:lnTo>
                    <a:pt x="212407" y="1376362"/>
                  </a:lnTo>
                  <a:lnTo>
                    <a:pt x="231457" y="1398270"/>
                  </a:lnTo>
                  <a:lnTo>
                    <a:pt x="251460" y="1418273"/>
                  </a:lnTo>
                  <a:lnTo>
                    <a:pt x="273368" y="1437323"/>
                  </a:lnTo>
                  <a:lnTo>
                    <a:pt x="294322" y="1456373"/>
                  </a:lnTo>
                  <a:lnTo>
                    <a:pt x="305753" y="146589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859202" y="3503295"/>
              <a:ext cx="810578" cy="1465898"/>
            </a:xfrm>
            <a:custGeom>
              <a:avLst/>
              <a:gdLst/>
              <a:ahLst/>
              <a:cxnLst/>
              <a:rect l="l" t="t" r="r" b="b"/>
              <a:pathLst>
                <a:path w="810578" h="1465898">
                  <a:moveTo>
                    <a:pt x="504825" y="1465898"/>
                  </a:moveTo>
                  <a:lnTo>
                    <a:pt x="516255" y="1456373"/>
                  </a:lnTo>
                  <a:lnTo>
                    <a:pt x="538162" y="1437323"/>
                  </a:lnTo>
                  <a:lnTo>
                    <a:pt x="559117" y="1418273"/>
                  </a:lnTo>
                  <a:lnTo>
                    <a:pt x="580072" y="1398270"/>
                  </a:lnTo>
                  <a:lnTo>
                    <a:pt x="599122" y="1376362"/>
                  </a:lnTo>
                  <a:lnTo>
                    <a:pt x="618172" y="1355408"/>
                  </a:lnTo>
                  <a:lnTo>
                    <a:pt x="636270" y="1332547"/>
                  </a:lnTo>
                  <a:lnTo>
                    <a:pt x="653415" y="1309688"/>
                  </a:lnTo>
                  <a:lnTo>
                    <a:pt x="670560" y="1285875"/>
                  </a:lnTo>
                  <a:lnTo>
                    <a:pt x="685800" y="1262062"/>
                  </a:lnTo>
                  <a:lnTo>
                    <a:pt x="701040" y="1237297"/>
                  </a:lnTo>
                  <a:lnTo>
                    <a:pt x="714375" y="1211580"/>
                  </a:lnTo>
                  <a:lnTo>
                    <a:pt x="727710" y="1185862"/>
                  </a:lnTo>
                  <a:lnTo>
                    <a:pt x="740092" y="1160145"/>
                  </a:lnTo>
                  <a:lnTo>
                    <a:pt x="751522" y="1133475"/>
                  </a:lnTo>
                  <a:lnTo>
                    <a:pt x="761047" y="1106805"/>
                  </a:lnTo>
                  <a:lnTo>
                    <a:pt x="770572" y="1079182"/>
                  </a:lnTo>
                  <a:lnTo>
                    <a:pt x="779145" y="1051560"/>
                  </a:lnTo>
                  <a:lnTo>
                    <a:pt x="786765" y="1023938"/>
                  </a:lnTo>
                  <a:lnTo>
                    <a:pt x="792480" y="996315"/>
                  </a:lnTo>
                  <a:lnTo>
                    <a:pt x="798195" y="967740"/>
                  </a:lnTo>
                  <a:lnTo>
                    <a:pt x="802957" y="939165"/>
                  </a:lnTo>
                  <a:lnTo>
                    <a:pt x="806767" y="910590"/>
                  </a:lnTo>
                  <a:lnTo>
                    <a:pt x="809625" y="882015"/>
                  </a:lnTo>
                  <a:lnTo>
                    <a:pt x="810578" y="853440"/>
                  </a:lnTo>
                  <a:lnTo>
                    <a:pt x="810578" y="824865"/>
                  </a:lnTo>
                  <a:lnTo>
                    <a:pt x="810578" y="795338"/>
                  </a:lnTo>
                  <a:lnTo>
                    <a:pt x="809625" y="766762"/>
                  </a:lnTo>
                  <a:lnTo>
                    <a:pt x="806767" y="738188"/>
                  </a:lnTo>
                  <a:lnTo>
                    <a:pt x="802957" y="709612"/>
                  </a:lnTo>
                  <a:lnTo>
                    <a:pt x="798195" y="681038"/>
                  </a:lnTo>
                  <a:lnTo>
                    <a:pt x="792480" y="652462"/>
                  </a:lnTo>
                  <a:lnTo>
                    <a:pt x="786765" y="624840"/>
                  </a:lnTo>
                  <a:lnTo>
                    <a:pt x="779145" y="597217"/>
                  </a:lnTo>
                  <a:lnTo>
                    <a:pt x="770572" y="569595"/>
                  </a:lnTo>
                  <a:lnTo>
                    <a:pt x="761047" y="541972"/>
                  </a:lnTo>
                  <a:lnTo>
                    <a:pt x="751522" y="515302"/>
                  </a:lnTo>
                  <a:lnTo>
                    <a:pt x="740092" y="488633"/>
                  </a:lnTo>
                  <a:lnTo>
                    <a:pt x="727710" y="462915"/>
                  </a:lnTo>
                  <a:lnTo>
                    <a:pt x="714375" y="437197"/>
                  </a:lnTo>
                  <a:lnTo>
                    <a:pt x="701040" y="412433"/>
                  </a:lnTo>
                  <a:lnTo>
                    <a:pt x="685800" y="387667"/>
                  </a:lnTo>
                  <a:lnTo>
                    <a:pt x="670560" y="362902"/>
                  </a:lnTo>
                  <a:lnTo>
                    <a:pt x="653415" y="340042"/>
                  </a:lnTo>
                  <a:lnTo>
                    <a:pt x="636270" y="316230"/>
                  </a:lnTo>
                  <a:lnTo>
                    <a:pt x="618172" y="294322"/>
                  </a:lnTo>
                  <a:lnTo>
                    <a:pt x="599122" y="272415"/>
                  </a:lnTo>
                  <a:lnTo>
                    <a:pt x="580072" y="251460"/>
                  </a:lnTo>
                  <a:lnTo>
                    <a:pt x="559117" y="231458"/>
                  </a:lnTo>
                  <a:lnTo>
                    <a:pt x="538162" y="211455"/>
                  </a:lnTo>
                  <a:lnTo>
                    <a:pt x="516255" y="192405"/>
                  </a:lnTo>
                  <a:lnTo>
                    <a:pt x="494347" y="174308"/>
                  </a:lnTo>
                  <a:lnTo>
                    <a:pt x="471488" y="157162"/>
                  </a:lnTo>
                  <a:lnTo>
                    <a:pt x="447675" y="140970"/>
                  </a:lnTo>
                  <a:lnTo>
                    <a:pt x="422910" y="124777"/>
                  </a:lnTo>
                  <a:lnTo>
                    <a:pt x="398145" y="110490"/>
                  </a:lnTo>
                  <a:lnTo>
                    <a:pt x="373380" y="96202"/>
                  </a:lnTo>
                  <a:lnTo>
                    <a:pt x="347662" y="82867"/>
                  </a:lnTo>
                  <a:lnTo>
                    <a:pt x="320992" y="70485"/>
                  </a:lnTo>
                  <a:lnTo>
                    <a:pt x="295275" y="59055"/>
                  </a:lnTo>
                  <a:lnTo>
                    <a:pt x="268605" y="49530"/>
                  </a:lnTo>
                  <a:lnTo>
                    <a:pt x="240982" y="40005"/>
                  </a:lnTo>
                  <a:lnTo>
                    <a:pt x="213360" y="31433"/>
                  </a:lnTo>
                  <a:lnTo>
                    <a:pt x="185738" y="23812"/>
                  </a:lnTo>
                  <a:lnTo>
                    <a:pt x="158115" y="17145"/>
                  </a:lnTo>
                  <a:lnTo>
                    <a:pt x="129540" y="12383"/>
                  </a:lnTo>
                  <a:lnTo>
                    <a:pt x="100965" y="7620"/>
                  </a:lnTo>
                  <a:lnTo>
                    <a:pt x="72390" y="3810"/>
                  </a:lnTo>
                  <a:lnTo>
                    <a:pt x="43815" y="1905"/>
                  </a:lnTo>
                  <a:lnTo>
                    <a:pt x="15240" y="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020050" y="4353878"/>
              <a:ext cx="9525" cy="42862"/>
            </a:xfrm>
            <a:custGeom>
              <a:avLst/>
              <a:gdLst/>
              <a:ahLst/>
              <a:cxnLst/>
              <a:rect l="l" t="t" r="r" b="b"/>
              <a:pathLst>
                <a:path w="9525" h="42862">
                  <a:moveTo>
                    <a:pt x="0" y="4286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7972425" y="42586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8257222" y="1817370"/>
              <a:ext cx="1176338" cy="1175385"/>
            </a:xfrm>
            <a:custGeom>
              <a:avLst/>
              <a:gdLst/>
              <a:ahLst/>
              <a:cxnLst/>
              <a:rect l="l" t="t" r="r" b="b"/>
              <a:pathLst>
                <a:path w="1176338" h="1175385">
                  <a:moveTo>
                    <a:pt x="601980" y="1175385"/>
                  </a:moveTo>
                  <a:lnTo>
                    <a:pt x="608647" y="1175385"/>
                  </a:lnTo>
                  <a:lnTo>
                    <a:pt x="629603" y="1174432"/>
                  </a:lnTo>
                  <a:lnTo>
                    <a:pt x="649605" y="1172527"/>
                  </a:lnTo>
                  <a:lnTo>
                    <a:pt x="670560" y="1170622"/>
                  </a:lnTo>
                  <a:lnTo>
                    <a:pt x="690562" y="1166812"/>
                  </a:lnTo>
                  <a:lnTo>
                    <a:pt x="710565" y="1163002"/>
                  </a:lnTo>
                  <a:lnTo>
                    <a:pt x="730568" y="1159192"/>
                  </a:lnTo>
                  <a:lnTo>
                    <a:pt x="750570" y="1153477"/>
                  </a:lnTo>
                  <a:lnTo>
                    <a:pt x="769620" y="1146810"/>
                  </a:lnTo>
                  <a:lnTo>
                    <a:pt x="789622" y="1140142"/>
                  </a:lnTo>
                  <a:lnTo>
                    <a:pt x="808672" y="1133475"/>
                  </a:lnTo>
                  <a:lnTo>
                    <a:pt x="826770" y="1125855"/>
                  </a:lnTo>
                  <a:lnTo>
                    <a:pt x="845820" y="1116330"/>
                  </a:lnTo>
                  <a:lnTo>
                    <a:pt x="863918" y="1106805"/>
                  </a:lnTo>
                  <a:lnTo>
                    <a:pt x="882015" y="1097280"/>
                  </a:lnTo>
                  <a:lnTo>
                    <a:pt x="900112" y="1086802"/>
                  </a:lnTo>
                  <a:lnTo>
                    <a:pt x="917258" y="1075372"/>
                  </a:lnTo>
                  <a:lnTo>
                    <a:pt x="934403" y="1063942"/>
                  </a:lnTo>
                  <a:lnTo>
                    <a:pt x="950595" y="1051560"/>
                  </a:lnTo>
                  <a:lnTo>
                    <a:pt x="965835" y="1038225"/>
                  </a:lnTo>
                  <a:lnTo>
                    <a:pt x="982028" y="1024890"/>
                  </a:lnTo>
                  <a:lnTo>
                    <a:pt x="996315" y="1010602"/>
                  </a:lnTo>
                  <a:lnTo>
                    <a:pt x="1011555" y="996315"/>
                  </a:lnTo>
                  <a:lnTo>
                    <a:pt x="1024890" y="981075"/>
                  </a:lnTo>
                  <a:lnTo>
                    <a:pt x="1039178" y="965835"/>
                  </a:lnTo>
                  <a:lnTo>
                    <a:pt x="1051560" y="949642"/>
                  </a:lnTo>
                  <a:lnTo>
                    <a:pt x="1063943" y="933450"/>
                  </a:lnTo>
                  <a:lnTo>
                    <a:pt x="1076325" y="917258"/>
                  </a:lnTo>
                  <a:lnTo>
                    <a:pt x="1086803" y="900112"/>
                  </a:lnTo>
                  <a:lnTo>
                    <a:pt x="1097280" y="882015"/>
                  </a:lnTo>
                  <a:lnTo>
                    <a:pt x="1107758" y="863917"/>
                  </a:lnTo>
                  <a:lnTo>
                    <a:pt x="1117283" y="845820"/>
                  </a:lnTo>
                  <a:lnTo>
                    <a:pt x="1125855" y="826770"/>
                  </a:lnTo>
                  <a:lnTo>
                    <a:pt x="1133475" y="808672"/>
                  </a:lnTo>
                  <a:lnTo>
                    <a:pt x="1140143" y="788670"/>
                  </a:lnTo>
                  <a:lnTo>
                    <a:pt x="1147762" y="769620"/>
                  </a:lnTo>
                  <a:lnTo>
                    <a:pt x="1153478" y="749617"/>
                  </a:lnTo>
                  <a:lnTo>
                    <a:pt x="1158240" y="729615"/>
                  </a:lnTo>
                  <a:lnTo>
                    <a:pt x="1163955" y="709612"/>
                  </a:lnTo>
                  <a:lnTo>
                    <a:pt x="1167765" y="689610"/>
                  </a:lnTo>
                  <a:lnTo>
                    <a:pt x="1170622" y="669608"/>
                  </a:lnTo>
                  <a:lnTo>
                    <a:pt x="1173480" y="649605"/>
                  </a:lnTo>
                  <a:lnTo>
                    <a:pt x="1175385" y="628650"/>
                  </a:lnTo>
                  <a:lnTo>
                    <a:pt x="1176338" y="608647"/>
                  </a:lnTo>
                  <a:lnTo>
                    <a:pt x="1176338" y="587692"/>
                  </a:lnTo>
                  <a:lnTo>
                    <a:pt x="1176338" y="566738"/>
                  </a:lnTo>
                  <a:lnTo>
                    <a:pt x="1175385" y="546735"/>
                  </a:lnTo>
                  <a:lnTo>
                    <a:pt x="1173480" y="526732"/>
                  </a:lnTo>
                  <a:lnTo>
                    <a:pt x="1170622" y="505777"/>
                  </a:lnTo>
                  <a:lnTo>
                    <a:pt x="1167765" y="485775"/>
                  </a:lnTo>
                  <a:lnTo>
                    <a:pt x="1163955" y="465772"/>
                  </a:lnTo>
                  <a:lnTo>
                    <a:pt x="1158240" y="445770"/>
                  </a:lnTo>
                  <a:lnTo>
                    <a:pt x="1153478" y="425767"/>
                  </a:lnTo>
                  <a:lnTo>
                    <a:pt x="1147762" y="405765"/>
                  </a:lnTo>
                  <a:lnTo>
                    <a:pt x="1140143" y="386715"/>
                  </a:lnTo>
                  <a:lnTo>
                    <a:pt x="1133475" y="367665"/>
                  </a:lnTo>
                  <a:lnTo>
                    <a:pt x="1125855" y="348615"/>
                  </a:lnTo>
                  <a:lnTo>
                    <a:pt x="1117283" y="329565"/>
                  </a:lnTo>
                  <a:lnTo>
                    <a:pt x="1107758" y="311467"/>
                  </a:lnTo>
                  <a:lnTo>
                    <a:pt x="1097280" y="293370"/>
                  </a:lnTo>
                  <a:lnTo>
                    <a:pt x="1086803" y="276225"/>
                  </a:lnTo>
                  <a:lnTo>
                    <a:pt x="1076325" y="259080"/>
                  </a:lnTo>
                  <a:lnTo>
                    <a:pt x="1063943" y="241935"/>
                  </a:lnTo>
                  <a:lnTo>
                    <a:pt x="1051560" y="225742"/>
                  </a:lnTo>
                  <a:lnTo>
                    <a:pt x="1039178" y="209550"/>
                  </a:lnTo>
                  <a:lnTo>
                    <a:pt x="1024890" y="194310"/>
                  </a:lnTo>
                  <a:lnTo>
                    <a:pt x="1011555" y="179070"/>
                  </a:lnTo>
                  <a:lnTo>
                    <a:pt x="996315" y="164782"/>
                  </a:lnTo>
                  <a:lnTo>
                    <a:pt x="982028" y="150495"/>
                  </a:lnTo>
                  <a:lnTo>
                    <a:pt x="965835" y="137160"/>
                  </a:lnTo>
                  <a:lnTo>
                    <a:pt x="950595" y="124777"/>
                  </a:lnTo>
                  <a:lnTo>
                    <a:pt x="934403" y="111442"/>
                  </a:lnTo>
                  <a:lnTo>
                    <a:pt x="917258" y="100012"/>
                  </a:lnTo>
                  <a:lnTo>
                    <a:pt x="900112" y="88582"/>
                  </a:lnTo>
                  <a:lnTo>
                    <a:pt x="882015" y="78105"/>
                  </a:lnTo>
                  <a:lnTo>
                    <a:pt x="863918" y="68580"/>
                  </a:lnTo>
                  <a:lnTo>
                    <a:pt x="845820" y="59055"/>
                  </a:lnTo>
                  <a:lnTo>
                    <a:pt x="826770" y="50482"/>
                  </a:lnTo>
                  <a:lnTo>
                    <a:pt x="808672" y="42862"/>
                  </a:lnTo>
                  <a:lnTo>
                    <a:pt x="789622" y="35242"/>
                  </a:lnTo>
                  <a:lnTo>
                    <a:pt x="769620" y="28575"/>
                  </a:lnTo>
                  <a:lnTo>
                    <a:pt x="750570" y="21907"/>
                  </a:lnTo>
                  <a:lnTo>
                    <a:pt x="730568" y="17145"/>
                  </a:lnTo>
                  <a:lnTo>
                    <a:pt x="710565" y="12382"/>
                  </a:lnTo>
                  <a:lnTo>
                    <a:pt x="690562" y="8572"/>
                  </a:lnTo>
                  <a:lnTo>
                    <a:pt x="670560" y="5715"/>
                  </a:lnTo>
                  <a:lnTo>
                    <a:pt x="649605" y="2857"/>
                  </a:lnTo>
                  <a:lnTo>
                    <a:pt x="629603" y="952"/>
                  </a:lnTo>
                  <a:lnTo>
                    <a:pt x="608647" y="0"/>
                  </a:lnTo>
                  <a:lnTo>
                    <a:pt x="587693" y="0"/>
                  </a:lnTo>
                  <a:lnTo>
                    <a:pt x="567690" y="0"/>
                  </a:lnTo>
                  <a:lnTo>
                    <a:pt x="546735" y="952"/>
                  </a:lnTo>
                  <a:lnTo>
                    <a:pt x="526733" y="2857"/>
                  </a:lnTo>
                  <a:lnTo>
                    <a:pt x="505778" y="5715"/>
                  </a:lnTo>
                  <a:lnTo>
                    <a:pt x="485775" y="8572"/>
                  </a:lnTo>
                  <a:lnTo>
                    <a:pt x="465772" y="12382"/>
                  </a:lnTo>
                  <a:lnTo>
                    <a:pt x="445770" y="17145"/>
                  </a:lnTo>
                  <a:lnTo>
                    <a:pt x="425768" y="21907"/>
                  </a:lnTo>
                  <a:lnTo>
                    <a:pt x="406718" y="28575"/>
                  </a:lnTo>
                  <a:lnTo>
                    <a:pt x="386715" y="35242"/>
                  </a:lnTo>
                  <a:lnTo>
                    <a:pt x="367665" y="42862"/>
                  </a:lnTo>
                  <a:lnTo>
                    <a:pt x="348615" y="50482"/>
                  </a:lnTo>
                  <a:lnTo>
                    <a:pt x="330518" y="59055"/>
                  </a:lnTo>
                  <a:lnTo>
                    <a:pt x="311468" y="68580"/>
                  </a:lnTo>
                  <a:lnTo>
                    <a:pt x="293370" y="78105"/>
                  </a:lnTo>
                  <a:lnTo>
                    <a:pt x="276225" y="88582"/>
                  </a:lnTo>
                  <a:lnTo>
                    <a:pt x="259080" y="100012"/>
                  </a:lnTo>
                  <a:lnTo>
                    <a:pt x="241935" y="111442"/>
                  </a:lnTo>
                  <a:lnTo>
                    <a:pt x="225743" y="124777"/>
                  </a:lnTo>
                  <a:lnTo>
                    <a:pt x="209550" y="137160"/>
                  </a:lnTo>
                  <a:lnTo>
                    <a:pt x="194310" y="150495"/>
                  </a:lnTo>
                  <a:lnTo>
                    <a:pt x="180022" y="164782"/>
                  </a:lnTo>
                  <a:lnTo>
                    <a:pt x="164783" y="179070"/>
                  </a:lnTo>
                  <a:lnTo>
                    <a:pt x="150495" y="194310"/>
                  </a:lnTo>
                  <a:lnTo>
                    <a:pt x="137160" y="209550"/>
                  </a:lnTo>
                  <a:lnTo>
                    <a:pt x="124778" y="225742"/>
                  </a:lnTo>
                  <a:lnTo>
                    <a:pt x="112395" y="241935"/>
                  </a:lnTo>
                  <a:lnTo>
                    <a:pt x="100012" y="259080"/>
                  </a:lnTo>
                  <a:lnTo>
                    <a:pt x="88583" y="276225"/>
                  </a:lnTo>
                  <a:lnTo>
                    <a:pt x="79058" y="293370"/>
                  </a:lnTo>
                  <a:lnTo>
                    <a:pt x="68580" y="311467"/>
                  </a:lnTo>
                  <a:lnTo>
                    <a:pt x="59055" y="329565"/>
                  </a:lnTo>
                  <a:lnTo>
                    <a:pt x="50483" y="348615"/>
                  </a:lnTo>
                  <a:lnTo>
                    <a:pt x="42862" y="367665"/>
                  </a:lnTo>
                  <a:lnTo>
                    <a:pt x="35243" y="386715"/>
                  </a:lnTo>
                  <a:lnTo>
                    <a:pt x="28575" y="405765"/>
                  </a:lnTo>
                  <a:lnTo>
                    <a:pt x="22860" y="425767"/>
                  </a:lnTo>
                  <a:lnTo>
                    <a:pt x="17145" y="445770"/>
                  </a:lnTo>
                  <a:lnTo>
                    <a:pt x="12383" y="465772"/>
                  </a:lnTo>
                  <a:lnTo>
                    <a:pt x="8572" y="485775"/>
                  </a:lnTo>
                  <a:lnTo>
                    <a:pt x="5715" y="505777"/>
                  </a:lnTo>
                  <a:lnTo>
                    <a:pt x="2858" y="526732"/>
                  </a:lnTo>
                  <a:lnTo>
                    <a:pt x="953" y="546735"/>
                  </a:lnTo>
                  <a:lnTo>
                    <a:pt x="0" y="566738"/>
                  </a:lnTo>
                  <a:lnTo>
                    <a:pt x="0" y="587692"/>
                  </a:lnTo>
                  <a:lnTo>
                    <a:pt x="0" y="608647"/>
                  </a:lnTo>
                  <a:lnTo>
                    <a:pt x="953" y="628650"/>
                  </a:lnTo>
                  <a:lnTo>
                    <a:pt x="2858" y="649605"/>
                  </a:lnTo>
                  <a:lnTo>
                    <a:pt x="5715" y="669608"/>
                  </a:lnTo>
                  <a:lnTo>
                    <a:pt x="8572" y="689610"/>
                  </a:lnTo>
                  <a:lnTo>
                    <a:pt x="12383" y="709612"/>
                  </a:lnTo>
                  <a:lnTo>
                    <a:pt x="17145" y="729615"/>
                  </a:lnTo>
                  <a:lnTo>
                    <a:pt x="22860" y="749617"/>
                  </a:lnTo>
                  <a:lnTo>
                    <a:pt x="28575" y="769620"/>
                  </a:lnTo>
                  <a:lnTo>
                    <a:pt x="35243" y="788670"/>
                  </a:lnTo>
                  <a:lnTo>
                    <a:pt x="42862" y="808672"/>
                  </a:lnTo>
                  <a:lnTo>
                    <a:pt x="50483" y="826770"/>
                  </a:lnTo>
                  <a:lnTo>
                    <a:pt x="59055" y="845820"/>
                  </a:lnTo>
                  <a:lnTo>
                    <a:pt x="68580" y="863917"/>
                  </a:lnTo>
                  <a:lnTo>
                    <a:pt x="79058" y="882015"/>
                  </a:lnTo>
                  <a:lnTo>
                    <a:pt x="88583" y="900112"/>
                  </a:lnTo>
                  <a:lnTo>
                    <a:pt x="100012" y="917258"/>
                  </a:lnTo>
                  <a:lnTo>
                    <a:pt x="112395" y="933450"/>
                  </a:lnTo>
                  <a:lnTo>
                    <a:pt x="124778" y="949642"/>
                  </a:lnTo>
                  <a:lnTo>
                    <a:pt x="137160" y="965835"/>
                  </a:lnTo>
                  <a:lnTo>
                    <a:pt x="150495" y="981075"/>
                  </a:lnTo>
                  <a:lnTo>
                    <a:pt x="164783" y="996315"/>
                  </a:lnTo>
                  <a:lnTo>
                    <a:pt x="180022" y="1010602"/>
                  </a:lnTo>
                  <a:lnTo>
                    <a:pt x="194310" y="1024890"/>
                  </a:lnTo>
                  <a:lnTo>
                    <a:pt x="209550" y="1038225"/>
                  </a:lnTo>
                  <a:lnTo>
                    <a:pt x="225743" y="1051560"/>
                  </a:lnTo>
                  <a:lnTo>
                    <a:pt x="241935" y="1063942"/>
                  </a:lnTo>
                  <a:lnTo>
                    <a:pt x="259080" y="1075372"/>
                  </a:lnTo>
                  <a:lnTo>
                    <a:pt x="276225" y="1086802"/>
                  </a:lnTo>
                  <a:lnTo>
                    <a:pt x="293370" y="1097280"/>
                  </a:lnTo>
                  <a:lnTo>
                    <a:pt x="311468" y="1106805"/>
                  </a:lnTo>
                  <a:lnTo>
                    <a:pt x="330518" y="1116330"/>
                  </a:lnTo>
                  <a:lnTo>
                    <a:pt x="348615" y="1125855"/>
                  </a:lnTo>
                  <a:lnTo>
                    <a:pt x="367665" y="1133475"/>
                  </a:lnTo>
                  <a:lnTo>
                    <a:pt x="386715" y="1140142"/>
                  </a:lnTo>
                  <a:lnTo>
                    <a:pt x="406718" y="1146810"/>
                  </a:lnTo>
                  <a:lnTo>
                    <a:pt x="425768" y="1153477"/>
                  </a:lnTo>
                  <a:lnTo>
                    <a:pt x="445770" y="1159192"/>
                  </a:lnTo>
                  <a:lnTo>
                    <a:pt x="465772" y="1163002"/>
                  </a:lnTo>
                  <a:lnTo>
                    <a:pt x="485775" y="1166812"/>
                  </a:lnTo>
                  <a:lnTo>
                    <a:pt x="505778" y="1170622"/>
                  </a:lnTo>
                  <a:lnTo>
                    <a:pt x="526733" y="1172527"/>
                  </a:lnTo>
                  <a:lnTo>
                    <a:pt x="546735" y="1174432"/>
                  </a:lnTo>
                  <a:lnTo>
                    <a:pt x="567690" y="1175385"/>
                  </a:lnTo>
                  <a:lnTo>
                    <a:pt x="573405" y="117538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8257222" y="2336482"/>
              <a:ext cx="9525" cy="42862"/>
            </a:xfrm>
            <a:custGeom>
              <a:avLst/>
              <a:gdLst/>
              <a:ahLst/>
              <a:cxnLst/>
              <a:rect l="l" t="t" r="r" b="b"/>
              <a:pathLst>
                <a:path w="9525" h="42862">
                  <a:moveTo>
                    <a:pt x="0" y="0"/>
                  </a:moveTo>
                  <a:lnTo>
                    <a:pt x="0" y="4286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8209598" y="23793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8257222" y="3566160"/>
              <a:ext cx="1176338" cy="1175385"/>
            </a:xfrm>
            <a:custGeom>
              <a:avLst/>
              <a:gdLst/>
              <a:ahLst/>
              <a:cxnLst/>
              <a:rect l="l" t="t" r="r" b="b"/>
              <a:pathLst>
                <a:path w="1176338" h="1175385">
                  <a:moveTo>
                    <a:pt x="573405" y="0"/>
                  </a:moveTo>
                  <a:lnTo>
                    <a:pt x="567690" y="0"/>
                  </a:lnTo>
                  <a:lnTo>
                    <a:pt x="546735" y="953"/>
                  </a:lnTo>
                  <a:lnTo>
                    <a:pt x="526733" y="2858"/>
                  </a:lnTo>
                  <a:lnTo>
                    <a:pt x="505778" y="4762"/>
                  </a:lnTo>
                  <a:lnTo>
                    <a:pt x="485775" y="8573"/>
                  </a:lnTo>
                  <a:lnTo>
                    <a:pt x="465772" y="12383"/>
                  </a:lnTo>
                  <a:lnTo>
                    <a:pt x="445770" y="16193"/>
                  </a:lnTo>
                  <a:lnTo>
                    <a:pt x="425768" y="21908"/>
                  </a:lnTo>
                  <a:lnTo>
                    <a:pt x="406718" y="28575"/>
                  </a:lnTo>
                  <a:lnTo>
                    <a:pt x="386715" y="35243"/>
                  </a:lnTo>
                  <a:lnTo>
                    <a:pt x="367665" y="41910"/>
                  </a:lnTo>
                  <a:lnTo>
                    <a:pt x="348615" y="49530"/>
                  </a:lnTo>
                  <a:lnTo>
                    <a:pt x="330518" y="59055"/>
                  </a:lnTo>
                  <a:lnTo>
                    <a:pt x="311468" y="68580"/>
                  </a:lnTo>
                  <a:lnTo>
                    <a:pt x="293370" y="78105"/>
                  </a:lnTo>
                  <a:lnTo>
                    <a:pt x="276225" y="88583"/>
                  </a:lnTo>
                  <a:lnTo>
                    <a:pt x="259080" y="100012"/>
                  </a:lnTo>
                  <a:lnTo>
                    <a:pt x="241935" y="111443"/>
                  </a:lnTo>
                  <a:lnTo>
                    <a:pt x="225743" y="123825"/>
                  </a:lnTo>
                  <a:lnTo>
                    <a:pt x="209550" y="137160"/>
                  </a:lnTo>
                  <a:lnTo>
                    <a:pt x="194310" y="150495"/>
                  </a:lnTo>
                  <a:lnTo>
                    <a:pt x="180022" y="164783"/>
                  </a:lnTo>
                  <a:lnTo>
                    <a:pt x="164783" y="179070"/>
                  </a:lnTo>
                  <a:lnTo>
                    <a:pt x="150495" y="194310"/>
                  </a:lnTo>
                  <a:lnTo>
                    <a:pt x="137160" y="209550"/>
                  </a:lnTo>
                  <a:lnTo>
                    <a:pt x="124778" y="225743"/>
                  </a:lnTo>
                  <a:lnTo>
                    <a:pt x="112395" y="241935"/>
                  </a:lnTo>
                  <a:lnTo>
                    <a:pt x="100012" y="258128"/>
                  </a:lnTo>
                  <a:lnTo>
                    <a:pt x="88583" y="275273"/>
                  </a:lnTo>
                  <a:lnTo>
                    <a:pt x="79058" y="293370"/>
                  </a:lnTo>
                  <a:lnTo>
                    <a:pt x="68580" y="311468"/>
                  </a:lnTo>
                  <a:lnTo>
                    <a:pt x="59055" y="329565"/>
                  </a:lnTo>
                  <a:lnTo>
                    <a:pt x="50483" y="348615"/>
                  </a:lnTo>
                  <a:lnTo>
                    <a:pt x="42862" y="366712"/>
                  </a:lnTo>
                  <a:lnTo>
                    <a:pt x="35243" y="386715"/>
                  </a:lnTo>
                  <a:lnTo>
                    <a:pt x="28575" y="405765"/>
                  </a:lnTo>
                  <a:lnTo>
                    <a:pt x="22860" y="425768"/>
                  </a:lnTo>
                  <a:lnTo>
                    <a:pt x="17145" y="445770"/>
                  </a:lnTo>
                  <a:lnTo>
                    <a:pt x="12383" y="465773"/>
                  </a:lnTo>
                  <a:lnTo>
                    <a:pt x="8572" y="485775"/>
                  </a:lnTo>
                  <a:lnTo>
                    <a:pt x="5715" y="505778"/>
                  </a:lnTo>
                  <a:lnTo>
                    <a:pt x="2858" y="525780"/>
                  </a:lnTo>
                  <a:lnTo>
                    <a:pt x="953" y="546735"/>
                  </a:lnTo>
                  <a:lnTo>
                    <a:pt x="0" y="566738"/>
                  </a:lnTo>
                  <a:lnTo>
                    <a:pt x="0" y="587693"/>
                  </a:lnTo>
                  <a:lnTo>
                    <a:pt x="0" y="608648"/>
                  </a:lnTo>
                  <a:lnTo>
                    <a:pt x="953" y="628650"/>
                  </a:lnTo>
                  <a:lnTo>
                    <a:pt x="2858" y="648653"/>
                  </a:lnTo>
                  <a:lnTo>
                    <a:pt x="5715" y="669608"/>
                  </a:lnTo>
                  <a:lnTo>
                    <a:pt x="8572" y="689610"/>
                  </a:lnTo>
                  <a:lnTo>
                    <a:pt x="12383" y="709612"/>
                  </a:lnTo>
                  <a:lnTo>
                    <a:pt x="17145" y="729615"/>
                  </a:lnTo>
                  <a:lnTo>
                    <a:pt x="22860" y="749618"/>
                  </a:lnTo>
                  <a:lnTo>
                    <a:pt x="28575" y="769620"/>
                  </a:lnTo>
                  <a:lnTo>
                    <a:pt x="35243" y="788670"/>
                  </a:lnTo>
                  <a:lnTo>
                    <a:pt x="42862" y="807720"/>
                  </a:lnTo>
                  <a:lnTo>
                    <a:pt x="50483" y="826770"/>
                  </a:lnTo>
                  <a:lnTo>
                    <a:pt x="59055" y="845820"/>
                  </a:lnTo>
                  <a:lnTo>
                    <a:pt x="68580" y="863918"/>
                  </a:lnTo>
                  <a:lnTo>
                    <a:pt x="79058" y="882015"/>
                  </a:lnTo>
                  <a:lnTo>
                    <a:pt x="88583" y="899160"/>
                  </a:lnTo>
                  <a:lnTo>
                    <a:pt x="100012" y="916305"/>
                  </a:lnTo>
                  <a:lnTo>
                    <a:pt x="112395" y="933450"/>
                  </a:lnTo>
                  <a:lnTo>
                    <a:pt x="124778" y="949643"/>
                  </a:lnTo>
                  <a:lnTo>
                    <a:pt x="137160" y="965835"/>
                  </a:lnTo>
                  <a:lnTo>
                    <a:pt x="150495" y="981075"/>
                  </a:lnTo>
                  <a:lnTo>
                    <a:pt x="164783" y="996315"/>
                  </a:lnTo>
                  <a:lnTo>
                    <a:pt x="180022" y="1010603"/>
                  </a:lnTo>
                  <a:lnTo>
                    <a:pt x="194310" y="1024890"/>
                  </a:lnTo>
                  <a:lnTo>
                    <a:pt x="209550" y="1038225"/>
                  </a:lnTo>
                  <a:lnTo>
                    <a:pt x="225743" y="1050608"/>
                  </a:lnTo>
                  <a:lnTo>
                    <a:pt x="241935" y="1063943"/>
                  </a:lnTo>
                  <a:lnTo>
                    <a:pt x="259080" y="1075373"/>
                  </a:lnTo>
                  <a:lnTo>
                    <a:pt x="276225" y="1086803"/>
                  </a:lnTo>
                  <a:lnTo>
                    <a:pt x="293370" y="1097280"/>
                  </a:lnTo>
                  <a:lnTo>
                    <a:pt x="311468" y="1106805"/>
                  </a:lnTo>
                  <a:lnTo>
                    <a:pt x="330518" y="1116330"/>
                  </a:lnTo>
                  <a:lnTo>
                    <a:pt x="348615" y="1124903"/>
                  </a:lnTo>
                  <a:lnTo>
                    <a:pt x="367665" y="1132523"/>
                  </a:lnTo>
                  <a:lnTo>
                    <a:pt x="386715" y="1140143"/>
                  </a:lnTo>
                  <a:lnTo>
                    <a:pt x="406718" y="1146810"/>
                  </a:lnTo>
                  <a:lnTo>
                    <a:pt x="425768" y="1153478"/>
                  </a:lnTo>
                  <a:lnTo>
                    <a:pt x="445770" y="1158240"/>
                  </a:lnTo>
                  <a:lnTo>
                    <a:pt x="465772" y="1163003"/>
                  </a:lnTo>
                  <a:lnTo>
                    <a:pt x="485775" y="1166812"/>
                  </a:lnTo>
                  <a:lnTo>
                    <a:pt x="505778" y="1169670"/>
                  </a:lnTo>
                  <a:lnTo>
                    <a:pt x="526733" y="1172528"/>
                  </a:lnTo>
                  <a:lnTo>
                    <a:pt x="546735" y="1174432"/>
                  </a:lnTo>
                  <a:lnTo>
                    <a:pt x="567690" y="1175385"/>
                  </a:lnTo>
                  <a:lnTo>
                    <a:pt x="587693" y="1175385"/>
                  </a:lnTo>
                  <a:lnTo>
                    <a:pt x="608647" y="1175385"/>
                  </a:lnTo>
                  <a:lnTo>
                    <a:pt x="629603" y="1174432"/>
                  </a:lnTo>
                  <a:lnTo>
                    <a:pt x="649605" y="1172528"/>
                  </a:lnTo>
                  <a:lnTo>
                    <a:pt x="670560" y="1169670"/>
                  </a:lnTo>
                  <a:lnTo>
                    <a:pt x="690562" y="1166812"/>
                  </a:lnTo>
                  <a:lnTo>
                    <a:pt x="710565" y="1163003"/>
                  </a:lnTo>
                  <a:lnTo>
                    <a:pt x="730568" y="1158240"/>
                  </a:lnTo>
                  <a:lnTo>
                    <a:pt x="750570" y="1153478"/>
                  </a:lnTo>
                  <a:lnTo>
                    <a:pt x="769620" y="1146810"/>
                  </a:lnTo>
                  <a:lnTo>
                    <a:pt x="789622" y="1140143"/>
                  </a:lnTo>
                  <a:lnTo>
                    <a:pt x="808672" y="1132523"/>
                  </a:lnTo>
                  <a:lnTo>
                    <a:pt x="826770" y="1124903"/>
                  </a:lnTo>
                  <a:lnTo>
                    <a:pt x="845820" y="1116330"/>
                  </a:lnTo>
                  <a:lnTo>
                    <a:pt x="863918" y="1106805"/>
                  </a:lnTo>
                  <a:lnTo>
                    <a:pt x="882015" y="1097280"/>
                  </a:lnTo>
                  <a:lnTo>
                    <a:pt x="900112" y="1086803"/>
                  </a:lnTo>
                  <a:lnTo>
                    <a:pt x="917258" y="1075373"/>
                  </a:lnTo>
                  <a:lnTo>
                    <a:pt x="934403" y="1063943"/>
                  </a:lnTo>
                  <a:lnTo>
                    <a:pt x="950595" y="1050608"/>
                  </a:lnTo>
                  <a:lnTo>
                    <a:pt x="965835" y="1038225"/>
                  </a:lnTo>
                  <a:lnTo>
                    <a:pt x="982028" y="1024890"/>
                  </a:lnTo>
                  <a:lnTo>
                    <a:pt x="996315" y="1010603"/>
                  </a:lnTo>
                  <a:lnTo>
                    <a:pt x="1011555" y="996315"/>
                  </a:lnTo>
                  <a:lnTo>
                    <a:pt x="1024890" y="981075"/>
                  </a:lnTo>
                  <a:lnTo>
                    <a:pt x="1039178" y="965835"/>
                  </a:lnTo>
                  <a:lnTo>
                    <a:pt x="1051560" y="949643"/>
                  </a:lnTo>
                  <a:lnTo>
                    <a:pt x="1063943" y="933450"/>
                  </a:lnTo>
                  <a:lnTo>
                    <a:pt x="1076325" y="916305"/>
                  </a:lnTo>
                  <a:lnTo>
                    <a:pt x="1086803" y="899160"/>
                  </a:lnTo>
                  <a:lnTo>
                    <a:pt x="1097280" y="882015"/>
                  </a:lnTo>
                  <a:lnTo>
                    <a:pt x="1107758" y="863918"/>
                  </a:lnTo>
                  <a:lnTo>
                    <a:pt x="1117283" y="845820"/>
                  </a:lnTo>
                  <a:lnTo>
                    <a:pt x="1125855" y="826770"/>
                  </a:lnTo>
                  <a:lnTo>
                    <a:pt x="1133475" y="807720"/>
                  </a:lnTo>
                  <a:lnTo>
                    <a:pt x="1140143" y="788670"/>
                  </a:lnTo>
                  <a:lnTo>
                    <a:pt x="1147762" y="769620"/>
                  </a:lnTo>
                  <a:lnTo>
                    <a:pt x="1153478" y="749618"/>
                  </a:lnTo>
                  <a:lnTo>
                    <a:pt x="1158240" y="729615"/>
                  </a:lnTo>
                  <a:lnTo>
                    <a:pt x="1163955" y="709612"/>
                  </a:lnTo>
                  <a:lnTo>
                    <a:pt x="1167765" y="689610"/>
                  </a:lnTo>
                  <a:lnTo>
                    <a:pt x="1170622" y="669608"/>
                  </a:lnTo>
                  <a:lnTo>
                    <a:pt x="1173480" y="648653"/>
                  </a:lnTo>
                  <a:lnTo>
                    <a:pt x="1175385" y="628650"/>
                  </a:lnTo>
                  <a:lnTo>
                    <a:pt x="1176338" y="608648"/>
                  </a:lnTo>
                  <a:lnTo>
                    <a:pt x="1176338" y="587693"/>
                  </a:lnTo>
                  <a:lnTo>
                    <a:pt x="1176338" y="566738"/>
                  </a:lnTo>
                  <a:lnTo>
                    <a:pt x="1175385" y="546735"/>
                  </a:lnTo>
                  <a:lnTo>
                    <a:pt x="1173480" y="525780"/>
                  </a:lnTo>
                  <a:lnTo>
                    <a:pt x="1170622" y="505778"/>
                  </a:lnTo>
                  <a:lnTo>
                    <a:pt x="1167765" y="485775"/>
                  </a:lnTo>
                  <a:lnTo>
                    <a:pt x="1163955" y="465773"/>
                  </a:lnTo>
                  <a:lnTo>
                    <a:pt x="1158240" y="445770"/>
                  </a:lnTo>
                  <a:lnTo>
                    <a:pt x="1153478" y="425768"/>
                  </a:lnTo>
                  <a:lnTo>
                    <a:pt x="1147762" y="405765"/>
                  </a:lnTo>
                  <a:lnTo>
                    <a:pt x="1140143" y="386715"/>
                  </a:lnTo>
                  <a:lnTo>
                    <a:pt x="1133475" y="366712"/>
                  </a:lnTo>
                  <a:lnTo>
                    <a:pt x="1125855" y="348615"/>
                  </a:lnTo>
                  <a:lnTo>
                    <a:pt x="1117283" y="329565"/>
                  </a:lnTo>
                  <a:lnTo>
                    <a:pt x="1107758" y="311468"/>
                  </a:lnTo>
                  <a:lnTo>
                    <a:pt x="1097280" y="293370"/>
                  </a:lnTo>
                  <a:lnTo>
                    <a:pt x="1086803" y="275273"/>
                  </a:lnTo>
                  <a:lnTo>
                    <a:pt x="1076325" y="258128"/>
                  </a:lnTo>
                  <a:lnTo>
                    <a:pt x="1063943" y="241935"/>
                  </a:lnTo>
                  <a:lnTo>
                    <a:pt x="1051560" y="225743"/>
                  </a:lnTo>
                  <a:lnTo>
                    <a:pt x="1039178" y="209550"/>
                  </a:lnTo>
                  <a:lnTo>
                    <a:pt x="1024890" y="194310"/>
                  </a:lnTo>
                  <a:lnTo>
                    <a:pt x="1011555" y="179070"/>
                  </a:lnTo>
                  <a:lnTo>
                    <a:pt x="996315" y="164783"/>
                  </a:lnTo>
                  <a:lnTo>
                    <a:pt x="982028" y="150495"/>
                  </a:lnTo>
                  <a:lnTo>
                    <a:pt x="965835" y="137160"/>
                  </a:lnTo>
                  <a:lnTo>
                    <a:pt x="950595" y="123825"/>
                  </a:lnTo>
                  <a:lnTo>
                    <a:pt x="934403" y="111443"/>
                  </a:lnTo>
                  <a:lnTo>
                    <a:pt x="917258" y="100012"/>
                  </a:lnTo>
                  <a:lnTo>
                    <a:pt x="900112" y="88583"/>
                  </a:lnTo>
                  <a:lnTo>
                    <a:pt x="882015" y="78105"/>
                  </a:lnTo>
                  <a:lnTo>
                    <a:pt x="863918" y="68580"/>
                  </a:lnTo>
                  <a:lnTo>
                    <a:pt x="845820" y="59055"/>
                  </a:lnTo>
                  <a:lnTo>
                    <a:pt x="826770" y="49530"/>
                  </a:lnTo>
                  <a:lnTo>
                    <a:pt x="808672" y="41910"/>
                  </a:lnTo>
                  <a:lnTo>
                    <a:pt x="789622" y="35243"/>
                  </a:lnTo>
                  <a:lnTo>
                    <a:pt x="769620" y="28575"/>
                  </a:lnTo>
                  <a:lnTo>
                    <a:pt x="750570" y="21908"/>
                  </a:lnTo>
                  <a:lnTo>
                    <a:pt x="730568" y="16193"/>
                  </a:lnTo>
                  <a:lnTo>
                    <a:pt x="710565" y="12383"/>
                  </a:lnTo>
                  <a:lnTo>
                    <a:pt x="690562" y="8573"/>
                  </a:lnTo>
                  <a:lnTo>
                    <a:pt x="670560" y="4762"/>
                  </a:lnTo>
                  <a:lnTo>
                    <a:pt x="649605" y="2858"/>
                  </a:lnTo>
                  <a:lnTo>
                    <a:pt x="629603" y="953"/>
                  </a:lnTo>
                  <a:lnTo>
                    <a:pt x="608647" y="0"/>
                  </a:lnTo>
                  <a:lnTo>
                    <a:pt x="60198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8257222" y="4179570"/>
              <a:ext cx="9525" cy="42862"/>
            </a:xfrm>
            <a:custGeom>
              <a:avLst/>
              <a:gdLst/>
              <a:ahLst/>
              <a:cxnLst/>
              <a:rect l="l" t="t" r="r" b="b"/>
              <a:pathLst>
                <a:path w="9525" h="42862">
                  <a:moveTo>
                    <a:pt x="0" y="4286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209598" y="40843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441055" y="2113598"/>
              <a:ext cx="808672" cy="806768"/>
            </a:xfrm>
            <a:custGeom>
              <a:avLst/>
              <a:gdLst/>
              <a:ahLst/>
              <a:cxnLst/>
              <a:rect l="l" t="t" r="r" b="b"/>
              <a:pathLst>
                <a:path w="808672" h="806768">
                  <a:moveTo>
                    <a:pt x="418147" y="806768"/>
                  </a:moveTo>
                  <a:lnTo>
                    <a:pt x="418147" y="806768"/>
                  </a:lnTo>
                  <a:lnTo>
                    <a:pt x="432435" y="806768"/>
                  </a:lnTo>
                  <a:lnTo>
                    <a:pt x="446722" y="804862"/>
                  </a:lnTo>
                  <a:lnTo>
                    <a:pt x="460057" y="802957"/>
                  </a:lnTo>
                  <a:lnTo>
                    <a:pt x="474345" y="801052"/>
                  </a:lnTo>
                  <a:lnTo>
                    <a:pt x="487680" y="798195"/>
                  </a:lnTo>
                  <a:lnTo>
                    <a:pt x="501967" y="795337"/>
                  </a:lnTo>
                  <a:lnTo>
                    <a:pt x="515302" y="791528"/>
                  </a:lnTo>
                  <a:lnTo>
                    <a:pt x="529590" y="787718"/>
                  </a:lnTo>
                  <a:lnTo>
                    <a:pt x="541972" y="782955"/>
                  </a:lnTo>
                  <a:lnTo>
                    <a:pt x="555307" y="778193"/>
                  </a:lnTo>
                  <a:lnTo>
                    <a:pt x="568642" y="772478"/>
                  </a:lnTo>
                  <a:lnTo>
                    <a:pt x="581025" y="766762"/>
                  </a:lnTo>
                  <a:lnTo>
                    <a:pt x="593407" y="760095"/>
                  </a:lnTo>
                  <a:lnTo>
                    <a:pt x="605790" y="753428"/>
                  </a:lnTo>
                  <a:lnTo>
                    <a:pt x="618172" y="745807"/>
                  </a:lnTo>
                  <a:lnTo>
                    <a:pt x="629602" y="738187"/>
                  </a:lnTo>
                  <a:lnTo>
                    <a:pt x="641985" y="730568"/>
                  </a:lnTo>
                  <a:lnTo>
                    <a:pt x="652462" y="721995"/>
                  </a:lnTo>
                  <a:lnTo>
                    <a:pt x="663892" y="712470"/>
                  </a:lnTo>
                  <a:lnTo>
                    <a:pt x="674370" y="703898"/>
                  </a:lnTo>
                  <a:lnTo>
                    <a:pt x="684847" y="694372"/>
                  </a:lnTo>
                  <a:lnTo>
                    <a:pt x="694372" y="683895"/>
                  </a:lnTo>
                  <a:lnTo>
                    <a:pt x="703897" y="673418"/>
                  </a:lnTo>
                  <a:lnTo>
                    <a:pt x="713422" y="662940"/>
                  </a:lnTo>
                  <a:lnTo>
                    <a:pt x="721995" y="651510"/>
                  </a:lnTo>
                  <a:lnTo>
                    <a:pt x="731520" y="641032"/>
                  </a:lnTo>
                  <a:lnTo>
                    <a:pt x="739140" y="628650"/>
                  </a:lnTo>
                  <a:lnTo>
                    <a:pt x="746760" y="617220"/>
                  </a:lnTo>
                  <a:lnTo>
                    <a:pt x="753427" y="604837"/>
                  </a:lnTo>
                  <a:lnTo>
                    <a:pt x="761047" y="592455"/>
                  </a:lnTo>
                  <a:lnTo>
                    <a:pt x="766762" y="581025"/>
                  </a:lnTo>
                  <a:lnTo>
                    <a:pt x="773430" y="567690"/>
                  </a:lnTo>
                  <a:lnTo>
                    <a:pt x="778192" y="554355"/>
                  </a:lnTo>
                  <a:lnTo>
                    <a:pt x="783907" y="541972"/>
                  </a:lnTo>
                  <a:lnTo>
                    <a:pt x="787717" y="528637"/>
                  </a:lnTo>
                  <a:lnTo>
                    <a:pt x="792480" y="514350"/>
                  </a:lnTo>
                  <a:lnTo>
                    <a:pt x="796290" y="501015"/>
                  </a:lnTo>
                  <a:lnTo>
                    <a:pt x="799147" y="487680"/>
                  </a:lnTo>
                  <a:lnTo>
                    <a:pt x="802005" y="473393"/>
                  </a:lnTo>
                  <a:lnTo>
                    <a:pt x="803910" y="459105"/>
                  </a:lnTo>
                  <a:lnTo>
                    <a:pt x="805815" y="445770"/>
                  </a:lnTo>
                  <a:lnTo>
                    <a:pt x="806767" y="431482"/>
                  </a:lnTo>
                  <a:lnTo>
                    <a:pt x="807720" y="418148"/>
                  </a:lnTo>
                  <a:lnTo>
                    <a:pt x="808672" y="402907"/>
                  </a:lnTo>
                  <a:lnTo>
                    <a:pt x="807720" y="389573"/>
                  </a:lnTo>
                  <a:lnTo>
                    <a:pt x="806767" y="375285"/>
                  </a:lnTo>
                  <a:lnTo>
                    <a:pt x="805815" y="360998"/>
                  </a:lnTo>
                  <a:lnTo>
                    <a:pt x="803910" y="346710"/>
                  </a:lnTo>
                  <a:lnTo>
                    <a:pt x="802005" y="333375"/>
                  </a:lnTo>
                  <a:lnTo>
                    <a:pt x="799147" y="319088"/>
                  </a:lnTo>
                  <a:lnTo>
                    <a:pt x="796290" y="305752"/>
                  </a:lnTo>
                  <a:lnTo>
                    <a:pt x="792480" y="292417"/>
                  </a:lnTo>
                  <a:lnTo>
                    <a:pt x="787717" y="279082"/>
                  </a:lnTo>
                  <a:lnTo>
                    <a:pt x="783907" y="265748"/>
                  </a:lnTo>
                  <a:lnTo>
                    <a:pt x="778192" y="252412"/>
                  </a:lnTo>
                  <a:lnTo>
                    <a:pt x="773430" y="239077"/>
                  </a:lnTo>
                  <a:lnTo>
                    <a:pt x="766762" y="226695"/>
                  </a:lnTo>
                  <a:lnTo>
                    <a:pt x="761047" y="214312"/>
                  </a:lnTo>
                  <a:lnTo>
                    <a:pt x="753427" y="200977"/>
                  </a:lnTo>
                  <a:lnTo>
                    <a:pt x="746760" y="189548"/>
                  </a:lnTo>
                  <a:lnTo>
                    <a:pt x="739140" y="177165"/>
                  </a:lnTo>
                  <a:lnTo>
                    <a:pt x="731520" y="166688"/>
                  </a:lnTo>
                  <a:lnTo>
                    <a:pt x="721995" y="154305"/>
                  </a:lnTo>
                  <a:lnTo>
                    <a:pt x="713422" y="143827"/>
                  </a:lnTo>
                  <a:lnTo>
                    <a:pt x="703897" y="133350"/>
                  </a:lnTo>
                  <a:lnTo>
                    <a:pt x="694372" y="122873"/>
                  </a:lnTo>
                  <a:lnTo>
                    <a:pt x="684847" y="113348"/>
                  </a:lnTo>
                  <a:lnTo>
                    <a:pt x="674370" y="103823"/>
                  </a:lnTo>
                  <a:lnTo>
                    <a:pt x="663892" y="94298"/>
                  </a:lnTo>
                  <a:lnTo>
                    <a:pt x="652462" y="84773"/>
                  </a:lnTo>
                  <a:lnTo>
                    <a:pt x="641985" y="77152"/>
                  </a:lnTo>
                  <a:lnTo>
                    <a:pt x="629602" y="68580"/>
                  </a:lnTo>
                  <a:lnTo>
                    <a:pt x="618172" y="60960"/>
                  </a:lnTo>
                  <a:lnTo>
                    <a:pt x="605790" y="54292"/>
                  </a:lnTo>
                  <a:lnTo>
                    <a:pt x="593407" y="46673"/>
                  </a:lnTo>
                  <a:lnTo>
                    <a:pt x="581025" y="40957"/>
                  </a:lnTo>
                  <a:lnTo>
                    <a:pt x="568642" y="34290"/>
                  </a:lnTo>
                  <a:lnTo>
                    <a:pt x="555307" y="28575"/>
                  </a:lnTo>
                  <a:lnTo>
                    <a:pt x="541972" y="23812"/>
                  </a:lnTo>
                  <a:lnTo>
                    <a:pt x="529590" y="20002"/>
                  </a:lnTo>
                  <a:lnTo>
                    <a:pt x="515302" y="15240"/>
                  </a:lnTo>
                  <a:lnTo>
                    <a:pt x="501967" y="11430"/>
                  </a:lnTo>
                  <a:lnTo>
                    <a:pt x="487680" y="8573"/>
                  </a:lnTo>
                  <a:lnTo>
                    <a:pt x="474345" y="5715"/>
                  </a:lnTo>
                  <a:lnTo>
                    <a:pt x="460057" y="3810"/>
                  </a:lnTo>
                  <a:lnTo>
                    <a:pt x="446722" y="1905"/>
                  </a:lnTo>
                  <a:lnTo>
                    <a:pt x="432435" y="952"/>
                  </a:lnTo>
                  <a:lnTo>
                    <a:pt x="418147" y="0"/>
                  </a:lnTo>
                  <a:lnTo>
                    <a:pt x="403860" y="0"/>
                  </a:lnTo>
                  <a:lnTo>
                    <a:pt x="390525" y="0"/>
                  </a:lnTo>
                  <a:lnTo>
                    <a:pt x="376238" y="952"/>
                  </a:lnTo>
                  <a:lnTo>
                    <a:pt x="361950" y="1905"/>
                  </a:lnTo>
                  <a:lnTo>
                    <a:pt x="347662" y="3810"/>
                  </a:lnTo>
                  <a:lnTo>
                    <a:pt x="334327" y="5715"/>
                  </a:lnTo>
                  <a:lnTo>
                    <a:pt x="320040" y="8573"/>
                  </a:lnTo>
                  <a:lnTo>
                    <a:pt x="306705" y="11430"/>
                  </a:lnTo>
                  <a:lnTo>
                    <a:pt x="292417" y="15240"/>
                  </a:lnTo>
                  <a:lnTo>
                    <a:pt x="279082" y="20002"/>
                  </a:lnTo>
                  <a:lnTo>
                    <a:pt x="266700" y="23812"/>
                  </a:lnTo>
                  <a:lnTo>
                    <a:pt x="252412" y="28575"/>
                  </a:lnTo>
                  <a:lnTo>
                    <a:pt x="240030" y="34290"/>
                  </a:lnTo>
                  <a:lnTo>
                    <a:pt x="226695" y="40957"/>
                  </a:lnTo>
                  <a:lnTo>
                    <a:pt x="214312" y="46673"/>
                  </a:lnTo>
                  <a:lnTo>
                    <a:pt x="201930" y="54292"/>
                  </a:lnTo>
                  <a:lnTo>
                    <a:pt x="190500" y="60960"/>
                  </a:lnTo>
                  <a:lnTo>
                    <a:pt x="179070" y="68580"/>
                  </a:lnTo>
                  <a:lnTo>
                    <a:pt x="166688" y="77152"/>
                  </a:lnTo>
                  <a:lnTo>
                    <a:pt x="155257" y="84773"/>
                  </a:lnTo>
                  <a:lnTo>
                    <a:pt x="144780" y="94298"/>
                  </a:lnTo>
                  <a:lnTo>
                    <a:pt x="134302" y="103823"/>
                  </a:lnTo>
                  <a:lnTo>
                    <a:pt x="123825" y="113348"/>
                  </a:lnTo>
                  <a:lnTo>
                    <a:pt x="114300" y="122873"/>
                  </a:lnTo>
                  <a:lnTo>
                    <a:pt x="104775" y="133350"/>
                  </a:lnTo>
                  <a:lnTo>
                    <a:pt x="95250" y="143827"/>
                  </a:lnTo>
                  <a:lnTo>
                    <a:pt x="86677" y="154305"/>
                  </a:lnTo>
                  <a:lnTo>
                    <a:pt x="77152" y="166688"/>
                  </a:lnTo>
                  <a:lnTo>
                    <a:pt x="69532" y="177165"/>
                  </a:lnTo>
                  <a:lnTo>
                    <a:pt x="61912" y="189548"/>
                  </a:lnTo>
                  <a:lnTo>
                    <a:pt x="55245" y="200977"/>
                  </a:lnTo>
                  <a:lnTo>
                    <a:pt x="47625" y="214312"/>
                  </a:lnTo>
                  <a:lnTo>
                    <a:pt x="40957" y="226695"/>
                  </a:lnTo>
                  <a:lnTo>
                    <a:pt x="35242" y="239077"/>
                  </a:lnTo>
                  <a:lnTo>
                    <a:pt x="30480" y="252412"/>
                  </a:lnTo>
                  <a:lnTo>
                    <a:pt x="24765" y="265748"/>
                  </a:lnTo>
                  <a:lnTo>
                    <a:pt x="20955" y="279082"/>
                  </a:lnTo>
                  <a:lnTo>
                    <a:pt x="16192" y="292417"/>
                  </a:lnTo>
                  <a:lnTo>
                    <a:pt x="12382" y="305752"/>
                  </a:lnTo>
                  <a:lnTo>
                    <a:pt x="9525" y="319088"/>
                  </a:lnTo>
                  <a:lnTo>
                    <a:pt x="6667" y="333375"/>
                  </a:lnTo>
                  <a:lnTo>
                    <a:pt x="3810" y="346710"/>
                  </a:lnTo>
                  <a:lnTo>
                    <a:pt x="2857" y="360998"/>
                  </a:lnTo>
                  <a:lnTo>
                    <a:pt x="952" y="375285"/>
                  </a:lnTo>
                  <a:lnTo>
                    <a:pt x="952" y="389573"/>
                  </a:lnTo>
                  <a:lnTo>
                    <a:pt x="0" y="402907"/>
                  </a:lnTo>
                  <a:lnTo>
                    <a:pt x="952" y="418148"/>
                  </a:lnTo>
                  <a:lnTo>
                    <a:pt x="952" y="431482"/>
                  </a:lnTo>
                  <a:lnTo>
                    <a:pt x="2857" y="445770"/>
                  </a:lnTo>
                  <a:lnTo>
                    <a:pt x="3810" y="459105"/>
                  </a:lnTo>
                  <a:lnTo>
                    <a:pt x="6667" y="473393"/>
                  </a:lnTo>
                  <a:lnTo>
                    <a:pt x="9525" y="487680"/>
                  </a:lnTo>
                  <a:lnTo>
                    <a:pt x="12382" y="501015"/>
                  </a:lnTo>
                  <a:lnTo>
                    <a:pt x="16192" y="514350"/>
                  </a:lnTo>
                  <a:lnTo>
                    <a:pt x="20955" y="528637"/>
                  </a:lnTo>
                  <a:lnTo>
                    <a:pt x="24765" y="541972"/>
                  </a:lnTo>
                  <a:lnTo>
                    <a:pt x="30480" y="554355"/>
                  </a:lnTo>
                  <a:lnTo>
                    <a:pt x="35242" y="567690"/>
                  </a:lnTo>
                  <a:lnTo>
                    <a:pt x="40957" y="581025"/>
                  </a:lnTo>
                  <a:lnTo>
                    <a:pt x="47625" y="592455"/>
                  </a:lnTo>
                  <a:lnTo>
                    <a:pt x="55245" y="604837"/>
                  </a:lnTo>
                  <a:lnTo>
                    <a:pt x="61912" y="617220"/>
                  </a:lnTo>
                  <a:lnTo>
                    <a:pt x="69532" y="628650"/>
                  </a:lnTo>
                  <a:lnTo>
                    <a:pt x="77152" y="641032"/>
                  </a:lnTo>
                  <a:lnTo>
                    <a:pt x="86677" y="651510"/>
                  </a:lnTo>
                  <a:lnTo>
                    <a:pt x="95250" y="662940"/>
                  </a:lnTo>
                  <a:lnTo>
                    <a:pt x="104775" y="673418"/>
                  </a:lnTo>
                  <a:lnTo>
                    <a:pt x="114300" y="683895"/>
                  </a:lnTo>
                  <a:lnTo>
                    <a:pt x="123825" y="694372"/>
                  </a:lnTo>
                  <a:lnTo>
                    <a:pt x="134302" y="703898"/>
                  </a:lnTo>
                  <a:lnTo>
                    <a:pt x="144780" y="712470"/>
                  </a:lnTo>
                  <a:lnTo>
                    <a:pt x="155257" y="721995"/>
                  </a:lnTo>
                  <a:lnTo>
                    <a:pt x="166688" y="730568"/>
                  </a:lnTo>
                  <a:lnTo>
                    <a:pt x="179070" y="738187"/>
                  </a:lnTo>
                  <a:lnTo>
                    <a:pt x="190500" y="745807"/>
                  </a:lnTo>
                  <a:lnTo>
                    <a:pt x="201930" y="753428"/>
                  </a:lnTo>
                  <a:lnTo>
                    <a:pt x="214312" y="760095"/>
                  </a:lnTo>
                  <a:lnTo>
                    <a:pt x="226695" y="766762"/>
                  </a:lnTo>
                  <a:lnTo>
                    <a:pt x="240030" y="772478"/>
                  </a:lnTo>
                  <a:lnTo>
                    <a:pt x="252412" y="778193"/>
                  </a:lnTo>
                  <a:lnTo>
                    <a:pt x="266700" y="782955"/>
                  </a:lnTo>
                  <a:lnTo>
                    <a:pt x="279082" y="787718"/>
                  </a:lnTo>
                  <a:lnTo>
                    <a:pt x="292417" y="791528"/>
                  </a:lnTo>
                  <a:lnTo>
                    <a:pt x="306705" y="795337"/>
                  </a:lnTo>
                  <a:lnTo>
                    <a:pt x="320040" y="798195"/>
                  </a:lnTo>
                  <a:lnTo>
                    <a:pt x="334327" y="801052"/>
                  </a:lnTo>
                  <a:lnTo>
                    <a:pt x="347662" y="802957"/>
                  </a:lnTo>
                  <a:lnTo>
                    <a:pt x="361950" y="804862"/>
                  </a:lnTo>
                  <a:lnTo>
                    <a:pt x="376238" y="806768"/>
                  </a:lnTo>
                  <a:lnTo>
                    <a:pt x="390525" y="806768"/>
                  </a:lnTo>
                  <a:lnTo>
                    <a:pt x="389572" y="80676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8441055" y="2447925"/>
              <a:ext cx="9525" cy="42862"/>
            </a:xfrm>
            <a:custGeom>
              <a:avLst/>
              <a:gdLst/>
              <a:ahLst/>
              <a:cxnLst/>
              <a:rect l="l" t="t" r="r" b="b"/>
              <a:pathLst>
                <a:path w="9525" h="42862">
                  <a:moveTo>
                    <a:pt x="0" y="0"/>
                  </a:moveTo>
                  <a:lnTo>
                    <a:pt x="0" y="4286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8393430" y="24907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8441055" y="3638550"/>
              <a:ext cx="808672" cy="806767"/>
            </a:xfrm>
            <a:custGeom>
              <a:avLst/>
              <a:gdLst/>
              <a:ahLst/>
              <a:cxnLst/>
              <a:rect l="l" t="t" r="r" b="b"/>
              <a:pathLst>
                <a:path w="808672" h="806767">
                  <a:moveTo>
                    <a:pt x="389572" y="0"/>
                  </a:moveTo>
                  <a:lnTo>
                    <a:pt x="390525" y="0"/>
                  </a:lnTo>
                  <a:lnTo>
                    <a:pt x="376238" y="0"/>
                  </a:lnTo>
                  <a:lnTo>
                    <a:pt x="361950" y="1905"/>
                  </a:lnTo>
                  <a:lnTo>
                    <a:pt x="347662" y="3810"/>
                  </a:lnTo>
                  <a:lnTo>
                    <a:pt x="334327" y="5715"/>
                  </a:lnTo>
                  <a:lnTo>
                    <a:pt x="320040" y="8572"/>
                  </a:lnTo>
                  <a:lnTo>
                    <a:pt x="306705" y="11430"/>
                  </a:lnTo>
                  <a:lnTo>
                    <a:pt x="292417" y="15240"/>
                  </a:lnTo>
                  <a:lnTo>
                    <a:pt x="279082" y="19050"/>
                  </a:lnTo>
                  <a:lnTo>
                    <a:pt x="266700" y="23812"/>
                  </a:lnTo>
                  <a:lnTo>
                    <a:pt x="252412" y="28575"/>
                  </a:lnTo>
                  <a:lnTo>
                    <a:pt x="240030" y="34290"/>
                  </a:lnTo>
                  <a:lnTo>
                    <a:pt x="226695" y="40005"/>
                  </a:lnTo>
                  <a:lnTo>
                    <a:pt x="214312" y="46672"/>
                  </a:lnTo>
                  <a:lnTo>
                    <a:pt x="201930" y="53340"/>
                  </a:lnTo>
                  <a:lnTo>
                    <a:pt x="190500" y="60960"/>
                  </a:lnTo>
                  <a:lnTo>
                    <a:pt x="179070" y="68580"/>
                  </a:lnTo>
                  <a:lnTo>
                    <a:pt x="166688" y="76200"/>
                  </a:lnTo>
                  <a:lnTo>
                    <a:pt x="155257" y="84772"/>
                  </a:lnTo>
                  <a:lnTo>
                    <a:pt x="144780" y="94297"/>
                  </a:lnTo>
                  <a:lnTo>
                    <a:pt x="134302" y="102870"/>
                  </a:lnTo>
                  <a:lnTo>
                    <a:pt x="123825" y="112395"/>
                  </a:lnTo>
                  <a:lnTo>
                    <a:pt x="114300" y="122872"/>
                  </a:lnTo>
                  <a:lnTo>
                    <a:pt x="104775" y="133350"/>
                  </a:lnTo>
                  <a:lnTo>
                    <a:pt x="95250" y="143828"/>
                  </a:lnTo>
                  <a:lnTo>
                    <a:pt x="86677" y="155258"/>
                  </a:lnTo>
                  <a:lnTo>
                    <a:pt x="77152" y="165735"/>
                  </a:lnTo>
                  <a:lnTo>
                    <a:pt x="69532" y="178117"/>
                  </a:lnTo>
                  <a:lnTo>
                    <a:pt x="61912" y="189547"/>
                  </a:lnTo>
                  <a:lnTo>
                    <a:pt x="55245" y="201930"/>
                  </a:lnTo>
                  <a:lnTo>
                    <a:pt x="47625" y="214312"/>
                  </a:lnTo>
                  <a:lnTo>
                    <a:pt x="40957" y="225742"/>
                  </a:lnTo>
                  <a:lnTo>
                    <a:pt x="35242" y="239078"/>
                  </a:lnTo>
                  <a:lnTo>
                    <a:pt x="30480" y="252412"/>
                  </a:lnTo>
                  <a:lnTo>
                    <a:pt x="24765" y="264795"/>
                  </a:lnTo>
                  <a:lnTo>
                    <a:pt x="20955" y="278130"/>
                  </a:lnTo>
                  <a:lnTo>
                    <a:pt x="16192" y="292417"/>
                  </a:lnTo>
                  <a:lnTo>
                    <a:pt x="12382" y="305753"/>
                  </a:lnTo>
                  <a:lnTo>
                    <a:pt x="9525" y="319088"/>
                  </a:lnTo>
                  <a:lnTo>
                    <a:pt x="6667" y="333375"/>
                  </a:lnTo>
                  <a:lnTo>
                    <a:pt x="3810" y="347662"/>
                  </a:lnTo>
                  <a:lnTo>
                    <a:pt x="2857" y="360997"/>
                  </a:lnTo>
                  <a:lnTo>
                    <a:pt x="952" y="375285"/>
                  </a:lnTo>
                  <a:lnTo>
                    <a:pt x="952" y="388620"/>
                  </a:lnTo>
                  <a:lnTo>
                    <a:pt x="0" y="403860"/>
                  </a:lnTo>
                  <a:lnTo>
                    <a:pt x="952" y="417195"/>
                  </a:lnTo>
                  <a:lnTo>
                    <a:pt x="952" y="431483"/>
                  </a:lnTo>
                  <a:lnTo>
                    <a:pt x="2857" y="445770"/>
                  </a:lnTo>
                  <a:lnTo>
                    <a:pt x="3810" y="460058"/>
                  </a:lnTo>
                  <a:lnTo>
                    <a:pt x="6667" y="473392"/>
                  </a:lnTo>
                  <a:lnTo>
                    <a:pt x="9525" y="487680"/>
                  </a:lnTo>
                  <a:lnTo>
                    <a:pt x="12382" y="501015"/>
                  </a:lnTo>
                  <a:lnTo>
                    <a:pt x="16192" y="514350"/>
                  </a:lnTo>
                  <a:lnTo>
                    <a:pt x="20955" y="527685"/>
                  </a:lnTo>
                  <a:lnTo>
                    <a:pt x="24765" y="541020"/>
                  </a:lnTo>
                  <a:lnTo>
                    <a:pt x="30480" y="554355"/>
                  </a:lnTo>
                  <a:lnTo>
                    <a:pt x="35242" y="567690"/>
                  </a:lnTo>
                  <a:lnTo>
                    <a:pt x="40957" y="580072"/>
                  </a:lnTo>
                  <a:lnTo>
                    <a:pt x="47625" y="592455"/>
                  </a:lnTo>
                  <a:lnTo>
                    <a:pt x="55245" y="605790"/>
                  </a:lnTo>
                  <a:lnTo>
                    <a:pt x="61912" y="617220"/>
                  </a:lnTo>
                  <a:lnTo>
                    <a:pt x="69532" y="629603"/>
                  </a:lnTo>
                  <a:lnTo>
                    <a:pt x="77152" y="640080"/>
                  </a:lnTo>
                  <a:lnTo>
                    <a:pt x="86677" y="652462"/>
                  </a:lnTo>
                  <a:lnTo>
                    <a:pt x="95250" y="662940"/>
                  </a:lnTo>
                  <a:lnTo>
                    <a:pt x="104775" y="673417"/>
                  </a:lnTo>
                  <a:lnTo>
                    <a:pt x="114300" y="683895"/>
                  </a:lnTo>
                  <a:lnTo>
                    <a:pt x="123825" y="693420"/>
                  </a:lnTo>
                  <a:lnTo>
                    <a:pt x="134302" y="702945"/>
                  </a:lnTo>
                  <a:lnTo>
                    <a:pt x="144780" y="712470"/>
                  </a:lnTo>
                  <a:lnTo>
                    <a:pt x="155257" y="721995"/>
                  </a:lnTo>
                  <a:lnTo>
                    <a:pt x="166688" y="729615"/>
                  </a:lnTo>
                  <a:lnTo>
                    <a:pt x="179070" y="738188"/>
                  </a:lnTo>
                  <a:lnTo>
                    <a:pt x="190500" y="745808"/>
                  </a:lnTo>
                  <a:lnTo>
                    <a:pt x="201930" y="752475"/>
                  </a:lnTo>
                  <a:lnTo>
                    <a:pt x="214312" y="760095"/>
                  </a:lnTo>
                  <a:lnTo>
                    <a:pt x="226695" y="765810"/>
                  </a:lnTo>
                  <a:lnTo>
                    <a:pt x="240030" y="772478"/>
                  </a:lnTo>
                  <a:lnTo>
                    <a:pt x="252412" y="778192"/>
                  </a:lnTo>
                  <a:lnTo>
                    <a:pt x="266700" y="782955"/>
                  </a:lnTo>
                  <a:lnTo>
                    <a:pt x="279082" y="786765"/>
                  </a:lnTo>
                  <a:lnTo>
                    <a:pt x="292417" y="791528"/>
                  </a:lnTo>
                  <a:lnTo>
                    <a:pt x="306705" y="795338"/>
                  </a:lnTo>
                  <a:lnTo>
                    <a:pt x="320040" y="798195"/>
                  </a:lnTo>
                  <a:lnTo>
                    <a:pt x="334327" y="801053"/>
                  </a:lnTo>
                  <a:lnTo>
                    <a:pt x="347662" y="802958"/>
                  </a:lnTo>
                  <a:lnTo>
                    <a:pt x="361950" y="804862"/>
                  </a:lnTo>
                  <a:lnTo>
                    <a:pt x="376238" y="805815"/>
                  </a:lnTo>
                  <a:lnTo>
                    <a:pt x="390525" y="806767"/>
                  </a:lnTo>
                  <a:lnTo>
                    <a:pt x="403860" y="806767"/>
                  </a:lnTo>
                  <a:lnTo>
                    <a:pt x="418147" y="806767"/>
                  </a:lnTo>
                  <a:lnTo>
                    <a:pt x="432435" y="805815"/>
                  </a:lnTo>
                  <a:lnTo>
                    <a:pt x="446722" y="804862"/>
                  </a:lnTo>
                  <a:lnTo>
                    <a:pt x="460057" y="802958"/>
                  </a:lnTo>
                  <a:lnTo>
                    <a:pt x="474345" y="801053"/>
                  </a:lnTo>
                  <a:lnTo>
                    <a:pt x="487680" y="798195"/>
                  </a:lnTo>
                  <a:lnTo>
                    <a:pt x="501967" y="795338"/>
                  </a:lnTo>
                  <a:lnTo>
                    <a:pt x="515302" y="791528"/>
                  </a:lnTo>
                  <a:lnTo>
                    <a:pt x="529590" y="786765"/>
                  </a:lnTo>
                  <a:lnTo>
                    <a:pt x="541972" y="782955"/>
                  </a:lnTo>
                  <a:lnTo>
                    <a:pt x="555307" y="778192"/>
                  </a:lnTo>
                  <a:lnTo>
                    <a:pt x="568642" y="772478"/>
                  </a:lnTo>
                  <a:lnTo>
                    <a:pt x="581025" y="765810"/>
                  </a:lnTo>
                  <a:lnTo>
                    <a:pt x="593407" y="760095"/>
                  </a:lnTo>
                  <a:lnTo>
                    <a:pt x="605790" y="752475"/>
                  </a:lnTo>
                  <a:lnTo>
                    <a:pt x="618172" y="745808"/>
                  </a:lnTo>
                  <a:lnTo>
                    <a:pt x="629602" y="738188"/>
                  </a:lnTo>
                  <a:lnTo>
                    <a:pt x="641985" y="729615"/>
                  </a:lnTo>
                  <a:lnTo>
                    <a:pt x="652462" y="721995"/>
                  </a:lnTo>
                  <a:lnTo>
                    <a:pt x="663892" y="712470"/>
                  </a:lnTo>
                  <a:lnTo>
                    <a:pt x="674370" y="702945"/>
                  </a:lnTo>
                  <a:lnTo>
                    <a:pt x="684847" y="693420"/>
                  </a:lnTo>
                  <a:lnTo>
                    <a:pt x="694372" y="683895"/>
                  </a:lnTo>
                  <a:lnTo>
                    <a:pt x="703897" y="673417"/>
                  </a:lnTo>
                  <a:lnTo>
                    <a:pt x="713422" y="662940"/>
                  </a:lnTo>
                  <a:lnTo>
                    <a:pt x="721995" y="652462"/>
                  </a:lnTo>
                  <a:lnTo>
                    <a:pt x="731520" y="640080"/>
                  </a:lnTo>
                  <a:lnTo>
                    <a:pt x="739140" y="629603"/>
                  </a:lnTo>
                  <a:lnTo>
                    <a:pt x="746760" y="617220"/>
                  </a:lnTo>
                  <a:lnTo>
                    <a:pt x="753427" y="605790"/>
                  </a:lnTo>
                  <a:lnTo>
                    <a:pt x="761047" y="592455"/>
                  </a:lnTo>
                  <a:lnTo>
                    <a:pt x="766762" y="580072"/>
                  </a:lnTo>
                  <a:lnTo>
                    <a:pt x="773430" y="567690"/>
                  </a:lnTo>
                  <a:lnTo>
                    <a:pt x="778192" y="554355"/>
                  </a:lnTo>
                  <a:lnTo>
                    <a:pt x="783907" y="541020"/>
                  </a:lnTo>
                  <a:lnTo>
                    <a:pt x="787717" y="527685"/>
                  </a:lnTo>
                  <a:lnTo>
                    <a:pt x="792480" y="514350"/>
                  </a:lnTo>
                  <a:lnTo>
                    <a:pt x="796290" y="501015"/>
                  </a:lnTo>
                  <a:lnTo>
                    <a:pt x="799147" y="487680"/>
                  </a:lnTo>
                  <a:lnTo>
                    <a:pt x="802005" y="473392"/>
                  </a:lnTo>
                  <a:lnTo>
                    <a:pt x="803910" y="460058"/>
                  </a:lnTo>
                  <a:lnTo>
                    <a:pt x="805815" y="445770"/>
                  </a:lnTo>
                  <a:lnTo>
                    <a:pt x="806767" y="431483"/>
                  </a:lnTo>
                  <a:lnTo>
                    <a:pt x="807720" y="417195"/>
                  </a:lnTo>
                  <a:lnTo>
                    <a:pt x="808672" y="403860"/>
                  </a:lnTo>
                  <a:lnTo>
                    <a:pt x="807720" y="388620"/>
                  </a:lnTo>
                  <a:lnTo>
                    <a:pt x="806767" y="375285"/>
                  </a:lnTo>
                  <a:lnTo>
                    <a:pt x="805815" y="360997"/>
                  </a:lnTo>
                  <a:lnTo>
                    <a:pt x="803910" y="347662"/>
                  </a:lnTo>
                  <a:lnTo>
                    <a:pt x="802005" y="333375"/>
                  </a:lnTo>
                  <a:lnTo>
                    <a:pt x="799147" y="319088"/>
                  </a:lnTo>
                  <a:lnTo>
                    <a:pt x="796290" y="305753"/>
                  </a:lnTo>
                  <a:lnTo>
                    <a:pt x="792480" y="292417"/>
                  </a:lnTo>
                  <a:lnTo>
                    <a:pt x="787717" y="278130"/>
                  </a:lnTo>
                  <a:lnTo>
                    <a:pt x="783907" y="264795"/>
                  </a:lnTo>
                  <a:lnTo>
                    <a:pt x="778192" y="252412"/>
                  </a:lnTo>
                  <a:lnTo>
                    <a:pt x="773430" y="239078"/>
                  </a:lnTo>
                  <a:lnTo>
                    <a:pt x="766762" y="225742"/>
                  </a:lnTo>
                  <a:lnTo>
                    <a:pt x="761047" y="214312"/>
                  </a:lnTo>
                  <a:lnTo>
                    <a:pt x="753427" y="201930"/>
                  </a:lnTo>
                  <a:lnTo>
                    <a:pt x="746760" y="189547"/>
                  </a:lnTo>
                  <a:lnTo>
                    <a:pt x="739140" y="178117"/>
                  </a:lnTo>
                  <a:lnTo>
                    <a:pt x="731520" y="165735"/>
                  </a:lnTo>
                  <a:lnTo>
                    <a:pt x="721995" y="155258"/>
                  </a:lnTo>
                  <a:lnTo>
                    <a:pt x="713422" y="143828"/>
                  </a:lnTo>
                  <a:lnTo>
                    <a:pt x="703897" y="133350"/>
                  </a:lnTo>
                  <a:lnTo>
                    <a:pt x="694372" y="122872"/>
                  </a:lnTo>
                  <a:lnTo>
                    <a:pt x="684847" y="112395"/>
                  </a:lnTo>
                  <a:lnTo>
                    <a:pt x="674370" y="102870"/>
                  </a:lnTo>
                  <a:lnTo>
                    <a:pt x="663892" y="94297"/>
                  </a:lnTo>
                  <a:lnTo>
                    <a:pt x="652462" y="84772"/>
                  </a:lnTo>
                  <a:lnTo>
                    <a:pt x="641985" y="76200"/>
                  </a:lnTo>
                  <a:lnTo>
                    <a:pt x="629602" y="68580"/>
                  </a:lnTo>
                  <a:lnTo>
                    <a:pt x="618172" y="60960"/>
                  </a:lnTo>
                  <a:lnTo>
                    <a:pt x="605790" y="53340"/>
                  </a:lnTo>
                  <a:lnTo>
                    <a:pt x="593407" y="46672"/>
                  </a:lnTo>
                  <a:lnTo>
                    <a:pt x="581025" y="40005"/>
                  </a:lnTo>
                  <a:lnTo>
                    <a:pt x="568642" y="34290"/>
                  </a:lnTo>
                  <a:lnTo>
                    <a:pt x="555307" y="28575"/>
                  </a:lnTo>
                  <a:lnTo>
                    <a:pt x="541972" y="23812"/>
                  </a:lnTo>
                  <a:lnTo>
                    <a:pt x="529590" y="19050"/>
                  </a:lnTo>
                  <a:lnTo>
                    <a:pt x="515302" y="15240"/>
                  </a:lnTo>
                  <a:lnTo>
                    <a:pt x="501967" y="11430"/>
                  </a:lnTo>
                  <a:lnTo>
                    <a:pt x="487680" y="8572"/>
                  </a:lnTo>
                  <a:lnTo>
                    <a:pt x="474345" y="5715"/>
                  </a:lnTo>
                  <a:lnTo>
                    <a:pt x="460057" y="3810"/>
                  </a:lnTo>
                  <a:lnTo>
                    <a:pt x="446722" y="1905"/>
                  </a:lnTo>
                  <a:lnTo>
                    <a:pt x="432435" y="0"/>
                  </a:lnTo>
                  <a:lnTo>
                    <a:pt x="418147" y="0"/>
                  </a:lnTo>
                  <a:lnTo>
                    <a:pt x="418147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8441055" y="4068128"/>
              <a:ext cx="9525" cy="42862"/>
            </a:xfrm>
            <a:custGeom>
              <a:avLst/>
              <a:gdLst/>
              <a:ahLst/>
              <a:cxnLst/>
              <a:rect l="l" t="t" r="r" b="b"/>
              <a:pathLst>
                <a:path w="9525" h="42862">
                  <a:moveTo>
                    <a:pt x="0" y="4286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8393430" y="39728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8601075" y="2343150"/>
              <a:ext cx="488632" cy="489585"/>
            </a:xfrm>
            <a:custGeom>
              <a:avLst/>
              <a:gdLst/>
              <a:ahLst/>
              <a:cxnLst/>
              <a:rect l="l" t="t" r="r" b="b"/>
              <a:pathLst>
                <a:path w="488632" h="489585">
                  <a:moveTo>
                    <a:pt x="258128" y="489585"/>
                  </a:moveTo>
                  <a:lnTo>
                    <a:pt x="252412" y="489585"/>
                  </a:lnTo>
                  <a:lnTo>
                    <a:pt x="260985" y="488633"/>
                  </a:lnTo>
                  <a:lnTo>
                    <a:pt x="269557" y="487680"/>
                  </a:lnTo>
                  <a:lnTo>
                    <a:pt x="278130" y="486728"/>
                  </a:lnTo>
                  <a:lnTo>
                    <a:pt x="286703" y="485775"/>
                  </a:lnTo>
                  <a:lnTo>
                    <a:pt x="295275" y="483870"/>
                  </a:lnTo>
                  <a:lnTo>
                    <a:pt x="302895" y="481965"/>
                  </a:lnTo>
                  <a:lnTo>
                    <a:pt x="311468" y="480060"/>
                  </a:lnTo>
                  <a:lnTo>
                    <a:pt x="320040" y="477203"/>
                  </a:lnTo>
                  <a:lnTo>
                    <a:pt x="327660" y="474345"/>
                  </a:lnTo>
                  <a:lnTo>
                    <a:pt x="336232" y="471488"/>
                  </a:lnTo>
                  <a:lnTo>
                    <a:pt x="343853" y="468630"/>
                  </a:lnTo>
                  <a:lnTo>
                    <a:pt x="351472" y="464820"/>
                  </a:lnTo>
                  <a:lnTo>
                    <a:pt x="359093" y="461010"/>
                  </a:lnTo>
                  <a:lnTo>
                    <a:pt x="366712" y="456247"/>
                  </a:lnTo>
                  <a:lnTo>
                    <a:pt x="373380" y="452438"/>
                  </a:lnTo>
                  <a:lnTo>
                    <a:pt x="381000" y="447675"/>
                  </a:lnTo>
                  <a:lnTo>
                    <a:pt x="387668" y="442912"/>
                  </a:lnTo>
                  <a:lnTo>
                    <a:pt x="394335" y="437197"/>
                  </a:lnTo>
                  <a:lnTo>
                    <a:pt x="401003" y="432435"/>
                  </a:lnTo>
                  <a:lnTo>
                    <a:pt x="407670" y="426720"/>
                  </a:lnTo>
                  <a:lnTo>
                    <a:pt x="414338" y="421005"/>
                  </a:lnTo>
                  <a:lnTo>
                    <a:pt x="420053" y="414338"/>
                  </a:lnTo>
                  <a:lnTo>
                    <a:pt x="425768" y="408622"/>
                  </a:lnTo>
                  <a:lnTo>
                    <a:pt x="431482" y="401955"/>
                  </a:lnTo>
                  <a:lnTo>
                    <a:pt x="436245" y="395288"/>
                  </a:lnTo>
                  <a:lnTo>
                    <a:pt x="441960" y="388620"/>
                  </a:lnTo>
                  <a:lnTo>
                    <a:pt x="446722" y="381953"/>
                  </a:lnTo>
                  <a:lnTo>
                    <a:pt x="451485" y="374333"/>
                  </a:lnTo>
                  <a:lnTo>
                    <a:pt x="456247" y="366712"/>
                  </a:lnTo>
                  <a:lnTo>
                    <a:pt x="460057" y="360045"/>
                  </a:lnTo>
                  <a:lnTo>
                    <a:pt x="463868" y="352425"/>
                  </a:lnTo>
                  <a:lnTo>
                    <a:pt x="467678" y="344805"/>
                  </a:lnTo>
                  <a:lnTo>
                    <a:pt x="470535" y="336233"/>
                  </a:lnTo>
                  <a:lnTo>
                    <a:pt x="473393" y="328612"/>
                  </a:lnTo>
                  <a:lnTo>
                    <a:pt x="476250" y="320040"/>
                  </a:lnTo>
                  <a:lnTo>
                    <a:pt x="479107" y="312420"/>
                  </a:lnTo>
                  <a:lnTo>
                    <a:pt x="481965" y="303847"/>
                  </a:lnTo>
                  <a:lnTo>
                    <a:pt x="482918" y="295275"/>
                  </a:lnTo>
                  <a:lnTo>
                    <a:pt x="484822" y="287655"/>
                  </a:lnTo>
                  <a:lnTo>
                    <a:pt x="485775" y="279083"/>
                  </a:lnTo>
                  <a:lnTo>
                    <a:pt x="487680" y="270510"/>
                  </a:lnTo>
                  <a:lnTo>
                    <a:pt x="487680" y="261938"/>
                  </a:lnTo>
                  <a:lnTo>
                    <a:pt x="488632" y="253365"/>
                  </a:lnTo>
                  <a:lnTo>
                    <a:pt x="488632" y="244792"/>
                  </a:lnTo>
                  <a:lnTo>
                    <a:pt x="488632" y="236220"/>
                  </a:lnTo>
                  <a:lnTo>
                    <a:pt x="487680" y="227647"/>
                  </a:lnTo>
                  <a:lnTo>
                    <a:pt x="487680" y="219075"/>
                  </a:lnTo>
                  <a:lnTo>
                    <a:pt x="485775" y="210503"/>
                  </a:lnTo>
                  <a:lnTo>
                    <a:pt x="484822" y="202883"/>
                  </a:lnTo>
                  <a:lnTo>
                    <a:pt x="482918" y="194310"/>
                  </a:lnTo>
                  <a:lnTo>
                    <a:pt x="481965" y="185738"/>
                  </a:lnTo>
                  <a:lnTo>
                    <a:pt x="479107" y="177165"/>
                  </a:lnTo>
                  <a:lnTo>
                    <a:pt x="476250" y="169545"/>
                  </a:lnTo>
                  <a:lnTo>
                    <a:pt x="473393" y="160972"/>
                  </a:lnTo>
                  <a:lnTo>
                    <a:pt x="470535" y="153353"/>
                  </a:lnTo>
                  <a:lnTo>
                    <a:pt x="467678" y="145733"/>
                  </a:lnTo>
                  <a:lnTo>
                    <a:pt x="463868" y="137160"/>
                  </a:lnTo>
                  <a:lnTo>
                    <a:pt x="460057" y="130492"/>
                  </a:lnTo>
                  <a:lnTo>
                    <a:pt x="456247" y="122872"/>
                  </a:lnTo>
                  <a:lnTo>
                    <a:pt x="451485" y="115253"/>
                  </a:lnTo>
                  <a:lnTo>
                    <a:pt x="446722" y="107633"/>
                  </a:lnTo>
                  <a:lnTo>
                    <a:pt x="441960" y="100965"/>
                  </a:lnTo>
                  <a:lnTo>
                    <a:pt x="436245" y="94298"/>
                  </a:lnTo>
                  <a:lnTo>
                    <a:pt x="431482" y="87630"/>
                  </a:lnTo>
                  <a:lnTo>
                    <a:pt x="425768" y="80962"/>
                  </a:lnTo>
                  <a:lnTo>
                    <a:pt x="420053" y="75248"/>
                  </a:lnTo>
                  <a:lnTo>
                    <a:pt x="414338" y="69533"/>
                  </a:lnTo>
                  <a:lnTo>
                    <a:pt x="407670" y="62865"/>
                  </a:lnTo>
                  <a:lnTo>
                    <a:pt x="401003" y="57150"/>
                  </a:lnTo>
                  <a:lnTo>
                    <a:pt x="394335" y="52388"/>
                  </a:lnTo>
                  <a:lnTo>
                    <a:pt x="387668" y="46673"/>
                  </a:lnTo>
                  <a:lnTo>
                    <a:pt x="381000" y="41910"/>
                  </a:lnTo>
                  <a:lnTo>
                    <a:pt x="373380" y="37148"/>
                  </a:lnTo>
                  <a:lnTo>
                    <a:pt x="366712" y="33338"/>
                  </a:lnTo>
                  <a:lnTo>
                    <a:pt x="359093" y="29527"/>
                  </a:lnTo>
                  <a:lnTo>
                    <a:pt x="351472" y="24765"/>
                  </a:lnTo>
                  <a:lnTo>
                    <a:pt x="343853" y="21908"/>
                  </a:lnTo>
                  <a:lnTo>
                    <a:pt x="336232" y="18098"/>
                  </a:lnTo>
                  <a:lnTo>
                    <a:pt x="327660" y="15240"/>
                  </a:lnTo>
                  <a:lnTo>
                    <a:pt x="320040" y="12383"/>
                  </a:lnTo>
                  <a:lnTo>
                    <a:pt x="311468" y="9525"/>
                  </a:lnTo>
                  <a:lnTo>
                    <a:pt x="302895" y="7620"/>
                  </a:lnTo>
                  <a:lnTo>
                    <a:pt x="295275" y="5715"/>
                  </a:lnTo>
                  <a:lnTo>
                    <a:pt x="286703" y="3810"/>
                  </a:lnTo>
                  <a:lnTo>
                    <a:pt x="278130" y="2858"/>
                  </a:lnTo>
                  <a:lnTo>
                    <a:pt x="269557" y="1905"/>
                  </a:lnTo>
                  <a:lnTo>
                    <a:pt x="260985" y="952"/>
                  </a:lnTo>
                  <a:lnTo>
                    <a:pt x="252412" y="952"/>
                  </a:lnTo>
                  <a:lnTo>
                    <a:pt x="243840" y="0"/>
                  </a:lnTo>
                  <a:lnTo>
                    <a:pt x="236220" y="952"/>
                  </a:lnTo>
                  <a:lnTo>
                    <a:pt x="227647" y="952"/>
                  </a:lnTo>
                  <a:lnTo>
                    <a:pt x="219075" y="1905"/>
                  </a:lnTo>
                  <a:lnTo>
                    <a:pt x="210503" y="2858"/>
                  </a:lnTo>
                  <a:lnTo>
                    <a:pt x="201930" y="3810"/>
                  </a:lnTo>
                  <a:lnTo>
                    <a:pt x="193357" y="5715"/>
                  </a:lnTo>
                  <a:lnTo>
                    <a:pt x="184785" y="7620"/>
                  </a:lnTo>
                  <a:lnTo>
                    <a:pt x="177165" y="9525"/>
                  </a:lnTo>
                  <a:lnTo>
                    <a:pt x="168593" y="12383"/>
                  </a:lnTo>
                  <a:lnTo>
                    <a:pt x="160020" y="15240"/>
                  </a:lnTo>
                  <a:lnTo>
                    <a:pt x="152400" y="18098"/>
                  </a:lnTo>
                  <a:lnTo>
                    <a:pt x="144780" y="21908"/>
                  </a:lnTo>
                  <a:lnTo>
                    <a:pt x="137160" y="24765"/>
                  </a:lnTo>
                  <a:lnTo>
                    <a:pt x="129540" y="29527"/>
                  </a:lnTo>
                  <a:lnTo>
                    <a:pt x="121920" y="33338"/>
                  </a:lnTo>
                  <a:lnTo>
                    <a:pt x="115253" y="37148"/>
                  </a:lnTo>
                  <a:lnTo>
                    <a:pt x="107632" y="41910"/>
                  </a:lnTo>
                  <a:lnTo>
                    <a:pt x="100965" y="46673"/>
                  </a:lnTo>
                  <a:lnTo>
                    <a:pt x="94297" y="52388"/>
                  </a:lnTo>
                  <a:lnTo>
                    <a:pt x="87630" y="57150"/>
                  </a:lnTo>
                  <a:lnTo>
                    <a:pt x="80962" y="62865"/>
                  </a:lnTo>
                  <a:lnTo>
                    <a:pt x="74295" y="69533"/>
                  </a:lnTo>
                  <a:lnTo>
                    <a:pt x="68580" y="75248"/>
                  </a:lnTo>
                  <a:lnTo>
                    <a:pt x="62865" y="80962"/>
                  </a:lnTo>
                  <a:lnTo>
                    <a:pt x="57150" y="87630"/>
                  </a:lnTo>
                  <a:lnTo>
                    <a:pt x="51435" y="94298"/>
                  </a:lnTo>
                  <a:lnTo>
                    <a:pt x="45720" y="100965"/>
                  </a:lnTo>
                  <a:lnTo>
                    <a:pt x="41910" y="107633"/>
                  </a:lnTo>
                  <a:lnTo>
                    <a:pt x="37147" y="115253"/>
                  </a:lnTo>
                  <a:lnTo>
                    <a:pt x="32385" y="122872"/>
                  </a:lnTo>
                  <a:lnTo>
                    <a:pt x="28575" y="130492"/>
                  </a:lnTo>
                  <a:lnTo>
                    <a:pt x="23812" y="137160"/>
                  </a:lnTo>
                  <a:lnTo>
                    <a:pt x="20955" y="145733"/>
                  </a:lnTo>
                  <a:lnTo>
                    <a:pt x="17145" y="153353"/>
                  </a:lnTo>
                  <a:lnTo>
                    <a:pt x="14288" y="160972"/>
                  </a:lnTo>
                  <a:lnTo>
                    <a:pt x="11430" y="169545"/>
                  </a:lnTo>
                  <a:lnTo>
                    <a:pt x="8572" y="177165"/>
                  </a:lnTo>
                  <a:lnTo>
                    <a:pt x="6668" y="185738"/>
                  </a:lnTo>
                  <a:lnTo>
                    <a:pt x="4762" y="194310"/>
                  </a:lnTo>
                  <a:lnTo>
                    <a:pt x="3810" y="202883"/>
                  </a:lnTo>
                  <a:lnTo>
                    <a:pt x="1905" y="210503"/>
                  </a:lnTo>
                  <a:lnTo>
                    <a:pt x="953" y="219075"/>
                  </a:lnTo>
                  <a:lnTo>
                    <a:pt x="953" y="227647"/>
                  </a:lnTo>
                  <a:lnTo>
                    <a:pt x="0" y="236220"/>
                  </a:lnTo>
                  <a:lnTo>
                    <a:pt x="0" y="244792"/>
                  </a:lnTo>
                  <a:lnTo>
                    <a:pt x="0" y="253365"/>
                  </a:lnTo>
                  <a:lnTo>
                    <a:pt x="953" y="261938"/>
                  </a:lnTo>
                  <a:lnTo>
                    <a:pt x="953" y="270510"/>
                  </a:lnTo>
                  <a:lnTo>
                    <a:pt x="1905" y="279083"/>
                  </a:lnTo>
                  <a:lnTo>
                    <a:pt x="3810" y="287655"/>
                  </a:lnTo>
                  <a:lnTo>
                    <a:pt x="4762" y="295275"/>
                  </a:lnTo>
                  <a:lnTo>
                    <a:pt x="6668" y="303847"/>
                  </a:lnTo>
                  <a:lnTo>
                    <a:pt x="8572" y="312420"/>
                  </a:lnTo>
                  <a:lnTo>
                    <a:pt x="11430" y="320040"/>
                  </a:lnTo>
                  <a:lnTo>
                    <a:pt x="14288" y="328612"/>
                  </a:lnTo>
                  <a:lnTo>
                    <a:pt x="17145" y="336233"/>
                  </a:lnTo>
                  <a:lnTo>
                    <a:pt x="20955" y="344805"/>
                  </a:lnTo>
                  <a:lnTo>
                    <a:pt x="23812" y="352425"/>
                  </a:lnTo>
                  <a:lnTo>
                    <a:pt x="28575" y="360045"/>
                  </a:lnTo>
                  <a:lnTo>
                    <a:pt x="32385" y="366712"/>
                  </a:lnTo>
                  <a:lnTo>
                    <a:pt x="37147" y="374333"/>
                  </a:lnTo>
                  <a:lnTo>
                    <a:pt x="41910" y="381953"/>
                  </a:lnTo>
                  <a:lnTo>
                    <a:pt x="45720" y="388620"/>
                  </a:lnTo>
                  <a:lnTo>
                    <a:pt x="51435" y="395288"/>
                  </a:lnTo>
                  <a:lnTo>
                    <a:pt x="57150" y="401955"/>
                  </a:lnTo>
                  <a:lnTo>
                    <a:pt x="62865" y="408622"/>
                  </a:lnTo>
                  <a:lnTo>
                    <a:pt x="68580" y="414338"/>
                  </a:lnTo>
                  <a:lnTo>
                    <a:pt x="74295" y="421005"/>
                  </a:lnTo>
                  <a:lnTo>
                    <a:pt x="80962" y="426720"/>
                  </a:lnTo>
                  <a:lnTo>
                    <a:pt x="87630" y="432435"/>
                  </a:lnTo>
                  <a:lnTo>
                    <a:pt x="94297" y="437197"/>
                  </a:lnTo>
                  <a:lnTo>
                    <a:pt x="100965" y="442912"/>
                  </a:lnTo>
                  <a:lnTo>
                    <a:pt x="107632" y="447675"/>
                  </a:lnTo>
                  <a:lnTo>
                    <a:pt x="115253" y="452438"/>
                  </a:lnTo>
                  <a:lnTo>
                    <a:pt x="121920" y="456247"/>
                  </a:lnTo>
                  <a:lnTo>
                    <a:pt x="129540" y="461010"/>
                  </a:lnTo>
                  <a:lnTo>
                    <a:pt x="137160" y="464820"/>
                  </a:lnTo>
                  <a:lnTo>
                    <a:pt x="144780" y="468630"/>
                  </a:lnTo>
                  <a:lnTo>
                    <a:pt x="152400" y="471488"/>
                  </a:lnTo>
                  <a:lnTo>
                    <a:pt x="160020" y="474345"/>
                  </a:lnTo>
                  <a:lnTo>
                    <a:pt x="168593" y="477203"/>
                  </a:lnTo>
                  <a:lnTo>
                    <a:pt x="177165" y="480060"/>
                  </a:lnTo>
                  <a:lnTo>
                    <a:pt x="184785" y="481965"/>
                  </a:lnTo>
                  <a:lnTo>
                    <a:pt x="193357" y="483870"/>
                  </a:lnTo>
                  <a:lnTo>
                    <a:pt x="201930" y="485775"/>
                  </a:lnTo>
                  <a:lnTo>
                    <a:pt x="210503" y="486728"/>
                  </a:lnTo>
                  <a:lnTo>
                    <a:pt x="219075" y="487680"/>
                  </a:lnTo>
                  <a:lnTo>
                    <a:pt x="227647" y="488633"/>
                  </a:lnTo>
                  <a:lnTo>
                    <a:pt x="236220" y="489585"/>
                  </a:lnTo>
                  <a:lnTo>
                    <a:pt x="229553" y="48958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8601075" y="2519362"/>
              <a:ext cx="9525" cy="42862"/>
            </a:xfrm>
            <a:custGeom>
              <a:avLst/>
              <a:gdLst/>
              <a:ahLst/>
              <a:cxnLst/>
              <a:rect l="l" t="t" r="r" b="b"/>
              <a:pathLst>
                <a:path w="9525" h="42862">
                  <a:moveTo>
                    <a:pt x="0" y="0"/>
                  </a:moveTo>
                  <a:lnTo>
                    <a:pt x="0" y="4286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8553450" y="25622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75" name="Freeform 75"/>
            <p:cNvSpPr/>
            <p:nvPr/>
          </p:nvSpPr>
          <p:spPr>
            <a:xfrm>
              <a:off x="8601075" y="3726180"/>
              <a:ext cx="488632" cy="489585"/>
            </a:xfrm>
            <a:custGeom>
              <a:avLst/>
              <a:gdLst/>
              <a:ahLst/>
              <a:cxnLst/>
              <a:rect l="l" t="t" r="r" b="b"/>
              <a:pathLst>
                <a:path w="488632" h="489585">
                  <a:moveTo>
                    <a:pt x="229553" y="0"/>
                  </a:moveTo>
                  <a:lnTo>
                    <a:pt x="236220" y="0"/>
                  </a:lnTo>
                  <a:lnTo>
                    <a:pt x="227647" y="953"/>
                  </a:lnTo>
                  <a:lnTo>
                    <a:pt x="219075" y="1905"/>
                  </a:lnTo>
                  <a:lnTo>
                    <a:pt x="210503" y="2858"/>
                  </a:lnTo>
                  <a:lnTo>
                    <a:pt x="201930" y="3810"/>
                  </a:lnTo>
                  <a:lnTo>
                    <a:pt x="193357" y="5715"/>
                  </a:lnTo>
                  <a:lnTo>
                    <a:pt x="184785" y="7620"/>
                  </a:lnTo>
                  <a:lnTo>
                    <a:pt x="177165" y="9525"/>
                  </a:lnTo>
                  <a:lnTo>
                    <a:pt x="168593" y="12383"/>
                  </a:lnTo>
                  <a:lnTo>
                    <a:pt x="160020" y="15240"/>
                  </a:lnTo>
                  <a:lnTo>
                    <a:pt x="152400" y="18098"/>
                  </a:lnTo>
                  <a:lnTo>
                    <a:pt x="144780" y="20955"/>
                  </a:lnTo>
                  <a:lnTo>
                    <a:pt x="137160" y="24765"/>
                  </a:lnTo>
                  <a:lnTo>
                    <a:pt x="129540" y="28575"/>
                  </a:lnTo>
                  <a:lnTo>
                    <a:pt x="121920" y="33338"/>
                  </a:lnTo>
                  <a:lnTo>
                    <a:pt x="115253" y="37148"/>
                  </a:lnTo>
                  <a:lnTo>
                    <a:pt x="107632" y="41910"/>
                  </a:lnTo>
                  <a:lnTo>
                    <a:pt x="100965" y="46673"/>
                  </a:lnTo>
                  <a:lnTo>
                    <a:pt x="94297" y="52388"/>
                  </a:lnTo>
                  <a:lnTo>
                    <a:pt x="87630" y="57150"/>
                  </a:lnTo>
                  <a:lnTo>
                    <a:pt x="80962" y="62865"/>
                  </a:lnTo>
                  <a:lnTo>
                    <a:pt x="74295" y="68580"/>
                  </a:lnTo>
                  <a:lnTo>
                    <a:pt x="68580" y="75248"/>
                  </a:lnTo>
                  <a:lnTo>
                    <a:pt x="62865" y="80962"/>
                  </a:lnTo>
                  <a:lnTo>
                    <a:pt x="57150" y="87630"/>
                  </a:lnTo>
                  <a:lnTo>
                    <a:pt x="51435" y="94298"/>
                  </a:lnTo>
                  <a:lnTo>
                    <a:pt x="45720" y="100965"/>
                  </a:lnTo>
                  <a:lnTo>
                    <a:pt x="41910" y="107633"/>
                  </a:lnTo>
                  <a:lnTo>
                    <a:pt x="37147" y="115253"/>
                  </a:lnTo>
                  <a:lnTo>
                    <a:pt x="32385" y="122873"/>
                  </a:lnTo>
                  <a:lnTo>
                    <a:pt x="28575" y="129540"/>
                  </a:lnTo>
                  <a:lnTo>
                    <a:pt x="23812" y="137160"/>
                  </a:lnTo>
                  <a:lnTo>
                    <a:pt x="20955" y="144780"/>
                  </a:lnTo>
                  <a:lnTo>
                    <a:pt x="17145" y="153353"/>
                  </a:lnTo>
                  <a:lnTo>
                    <a:pt x="14288" y="160973"/>
                  </a:lnTo>
                  <a:lnTo>
                    <a:pt x="11430" y="169545"/>
                  </a:lnTo>
                  <a:lnTo>
                    <a:pt x="8572" y="177165"/>
                  </a:lnTo>
                  <a:lnTo>
                    <a:pt x="6668" y="185738"/>
                  </a:lnTo>
                  <a:lnTo>
                    <a:pt x="4762" y="194310"/>
                  </a:lnTo>
                  <a:lnTo>
                    <a:pt x="3810" y="201930"/>
                  </a:lnTo>
                  <a:lnTo>
                    <a:pt x="1905" y="210503"/>
                  </a:lnTo>
                  <a:lnTo>
                    <a:pt x="953" y="219075"/>
                  </a:lnTo>
                  <a:lnTo>
                    <a:pt x="953" y="227648"/>
                  </a:lnTo>
                  <a:lnTo>
                    <a:pt x="0" y="236220"/>
                  </a:lnTo>
                  <a:lnTo>
                    <a:pt x="0" y="244792"/>
                  </a:lnTo>
                  <a:lnTo>
                    <a:pt x="0" y="253365"/>
                  </a:lnTo>
                  <a:lnTo>
                    <a:pt x="953" y="261938"/>
                  </a:lnTo>
                  <a:lnTo>
                    <a:pt x="953" y="270510"/>
                  </a:lnTo>
                  <a:lnTo>
                    <a:pt x="1905" y="279083"/>
                  </a:lnTo>
                  <a:lnTo>
                    <a:pt x="3810" y="286703"/>
                  </a:lnTo>
                  <a:lnTo>
                    <a:pt x="4762" y="295275"/>
                  </a:lnTo>
                  <a:lnTo>
                    <a:pt x="6668" y="303848"/>
                  </a:lnTo>
                  <a:lnTo>
                    <a:pt x="8572" y="312420"/>
                  </a:lnTo>
                  <a:lnTo>
                    <a:pt x="11430" y="320040"/>
                  </a:lnTo>
                  <a:lnTo>
                    <a:pt x="14288" y="328612"/>
                  </a:lnTo>
                  <a:lnTo>
                    <a:pt x="17145" y="336233"/>
                  </a:lnTo>
                  <a:lnTo>
                    <a:pt x="20955" y="343853"/>
                  </a:lnTo>
                  <a:lnTo>
                    <a:pt x="23812" y="352425"/>
                  </a:lnTo>
                  <a:lnTo>
                    <a:pt x="28575" y="359092"/>
                  </a:lnTo>
                  <a:lnTo>
                    <a:pt x="32385" y="366712"/>
                  </a:lnTo>
                  <a:lnTo>
                    <a:pt x="37147" y="374333"/>
                  </a:lnTo>
                  <a:lnTo>
                    <a:pt x="41910" y="381953"/>
                  </a:lnTo>
                  <a:lnTo>
                    <a:pt x="45720" y="388620"/>
                  </a:lnTo>
                  <a:lnTo>
                    <a:pt x="51435" y="395288"/>
                  </a:lnTo>
                  <a:lnTo>
                    <a:pt x="57150" y="401955"/>
                  </a:lnTo>
                  <a:lnTo>
                    <a:pt x="62865" y="408623"/>
                  </a:lnTo>
                  <a:lnTo>
                    <a:pt x="68580" y="414338"/>
                  </a:lnTo>
                  <a:lnTo>
                    <a:pt x="74295" y="420053"/>
                  </a:lnTo>
                  <a:lnTo>
                    <a:pt x="80962" y="426720"/>
                  </a:lnTo>
                  <a:lnTo>
                    <a:pt x="87630" y="432435"/>
                  </a:lnTo>
                  <a:lnTo>
                    <a:pt x="94297" y="437198"/>
                  </a:lnTo>
                  <a:lnTo>
                    <a:pt x="100965" y="442912"/>
                  </a:lnTo>
                  <a:lnTo>
                    <a:pt x="107632" y="447675"/>
                  </a:lnTo>
                  <a:lnTo>
                    <a:pt x="115253" y="452438"/>
                  </a:lnTo>
                  <a:lnTo>
                    <a:pt x="121920" y="456248"/>
                  </a:lnTo>
                  <a:lnTo>
                    <a:pt x="129540" y="460058"/>
                  </a:lnTo>
                  <a:lnTo>
                    <a:pt x="137160" y="464820"/>
                  </a:lnTo>
                  <a:lnTo>
                    <a:pt x="144780" y="467678"/>
                  </a:lnTo>
                  <a:lnTo>
                    <a:pt x="152400" y="471488"/>
                  </a:lnTo>
                  <a:lnTo>
                    <a:pt x="160020" y="474345"/>
                  </a:lnTo>
                  <a:lnTo>
                    <a:pt x="168593" y="477203"/>
                  </a:lnTo>
                  <a:lnTo>
                    <a:pt x="177165" y="480060"/>
                  </a:lnTo>
                  <a:lnTo>
                    <a:pt x="184785" y="481965"/>
                  </a:lnTo>
                  <a:lnTo>
                    <a:pt x="193357" y="483870"/>
                  </a:lnTo>
                  <a:lnTo>
                    <a:pt x="201930" y="485775"/>
                  </a:lnTo>
                  <a:lnTo>
                    <a:pt x="210503" y="486728"/>
                  </a:lnTo>
                  <a:lnTo>
                    <a:pt x="219075" y="487680"/>
                  </a:lnTo>
                  <a:lnTo>
                    <a:pt x="227647" y="488633"/>
                  </a:lnTo>
                  <a:lnTo>
                    <a:pt x="236220" y="488633"/>
                  </a:lnTo>
                  <a:lnTo>
                    <a:pt x="243840" y="489585"/>
                  </a:lnTo>
                  <a:lnTo>
                    <a:pt x="252412" y="488633"/>
                  </a:lnTo>
                  <a:lnTo>
                    <a:pt x="260985" y="488633"/>
                  </a:lnTo>
                  <a:lnTo>
                    <a:pt x="269557" y="487680"/>
                  </a:lnTo>
                  <a:lnTo>
                    <a:pt x="278130" y="486728"/>
                  </a:lnTo>
                  <a:lnTo>
                    <a:pt x="286703" y="485775"/>
                  </a:lnTo>
                  <a:lnTo>
                    <a:pt x="295275" y="483870"/>
                  </a:lnTo>
                  <a:lnTo>
                    <a:pt x="302895" y="481965"/>
                  </a:lnTo>
                  <a:lnTo>
                    <a:pt x="311468" y="480060"/>
                  </a:lnTo>
                  <a:lnTo>
                    <a:pt x="320040" y="477203"/>
                  </a:lnTo>
                  <a:lnTo>
                    <a:pt x="327660" y="474345"/>
                  </a:lnTo>
                  <a:lnTo>
                    <a:pt x="336232" y="471488"/>
                  </a:lnTo>
                  <a:lnTo>
                    <a:pt x="343853" y="467678"/>
                  </a:lnTo>
                  <a:lnTo>
                    <a:pt x="351472" y="464820"/>
                  </a:lnTo>
                  <a:lnTo>
                    <a:pt x="359093" y="460058"/>
                  </a:lnTo>
                  <a:lnTo>
                    <a:pt x="366712" y="456248"/>
                  </a:lnTo>
                  <a:lnTo>
                    <a:pt x="373380" y="452438"/>
                  </a:lnTo>
                  <a:lnTo>
                    <a:pt x="381000" y="447675"/>
                  </a:lnTo>
                  <a:lnTo>
                    <a:pt x="387668" y="442912"/>
                  </a:lnTo>
                  <a:lnTo>
                    <a:pt x="394335" y="437198"/>
                  </a:lnTo>
                  <a:lnTo>
                    <a:pt x="401003" y="432435"/>
                  </a:lnTo>
                  <a:lnTo>
                    <a:pt x="407670" y="426720"/>
                  </a:lnTo>
                  <a:lnTo>
                    <a:pt x="414338" y="420053"/>
                  </a:lnTo>
                  <a:lnTo>
                    <a:pt x="420053" y="414338"/>
                  </a:lnTo>
                  <a:lnTo>
                    <a:pt x="425768" y="408623"/>
                  </a:lnTo>
                  <a:lnTo>
                    <a:pt x="431482" y="401955"/>
                  </a:lnTo>
                  <a:lnTo>
                    <a:pt x="436245" y="395288"/>
                  </a:lnTo>
                  <a:lnTo>
                    <a:pt x="441960" y="388620"/>
                  </a:lnTo>
                  <a:lnTo>
                    <a:pt x="446722" y="381953"/>
                  </a:lnTo>
                  <a:lnTo>
                    <a:pt x="451485" y="374333"/>
                  </a:lnTo>
                  <a:lnTo>
                    <a:pt x="456247" y="366712"/>
                  </a:lnTo>
                  <a:lnTo>
                    <a:pt x="460057" y="359092"/>
                  </a:lnTo>
                  <a:lnTo>
                    <a:pt x="463868" y="352425"/>
                  </a:lnTo>
                  <a:lnTo>
                    <a:pt x="467678" y="343853"/>
                  </a:lnTo>
                  <a:lnTo>
                    <a:pt x="470535" y="336233"/>
                  </a:lnTo>
                  <a:lnTo>
                    <a:pt x="473393" y="328612"/>
                  </a:lnTo>
                  <a:lnTo>
                    <a:pt x="476250" y="320040"/>
                  </a:lnTo>
                  <a:lnTo>
                    <a:pt x="479107" y="312420"/>
                  </a:lnTo>
                  <a:lnTo>
                    <a:pt x="481965" y="303848"/>
                  </a:lnTo>
                  <a:lnTo>
                    <a:pt x="482918" y="295275"/>
                  </a:lnTo>
                  <a:lnTo>
                    <a:pt x="484822" y="286703"/>
                  </a:lnTo>
                  <a:lnTo>
                    <a:pt x="485775" y="279083"/>
                  </a:lnTo>
                  <a:lnTo>
                    <a:pt x="487680" y="270510"/>
                  </a:lnTo>
                  <a:lnTo>
                    <a:pt x="487680" y="261938"/>
                  </a:lnTo>
                  <a:lnTo>
                    <a:pt x="488632" y="253365"/>
                  </a:lnTo>
                  <a:lnTo>
                    <a:pt x="488632" y="244792"/>
                  </a:lnTo>
                  <a:lnTo>
                    <a:pt x="488632" y="236220"/>
                  </a:lnTo>
                  <a:lnTo>
                    <a:pt x="487680" y="227648"/>
                  </a:lnTo>
                  <a:lnTo>
                    <a:pt x="487680" y="219075"/>
                  </a:lnTo>
                  <a:lnTo>
                    <a:pt x="485775" y="210503"/>
                  </a:lnTo>
                  <a:lnTo>
                    <a:pt x="484822" y="201930"/>
                  </a:lnTo>
                  <a:lnTo>
                    <a:pt x="482918" y="194310"/>
                  </a:lnTo>
                  <a:lnTo>
                    <a:pt x="481965" y="185738"/>
                  </a:lnTo>
                  <a:lnTo>
                    <a:pt x="479107" y="177165"/>
                  </a:lnTo>
                  <a:lnTo>
                    <a:pt x="476250" y="169545"/>
                  </a:lnTo>
                  <a:lnTo>
                    <a:pt x="473393" y="160973"/>
                  </a:lnTo>
                  <a:lnTo>
                    <a:pt x="470535" y="153353"/>
                  </a:lnTo>
                  <a:lnTo>
                    <a:pt x="467678" y="144780"/>
                  </a:lnTo>
                  <a:lnTo>
                    <a:pt x="463868" y="137160"/>
                  </a:lnTo>
                  <a:lnTo>
                    <a:pt x="460057" y="129540"/>
                  </a:lnTo>
                  <a:lnTo>
                    <a:pt x="456247" y="122873"/>
                  </a:lnTo>
                  <a:lnTo>
                    <a:pt x="451485" y="115253"/>
                  </a:lnTo>
                  <a:lnTo>
                    <a:pt x="446722" y="107633"/>
                  </a:lnTo>
                  <a:lnTo>
                    <a:pt x="441960" y="100965"/>
                  </a:lnTo>
                  <a:lnTo>
                    <a:pt x="436245" y="94298"/>
                  </a:lnTo>
                  <a:lnTo>
                    <a:pt x="431482" y="87630"/>
                  </a:lnTo>
                  <a:lnTo>
                    <a:pt x="425768" y="80962"/>
                  </a:lnTo>
                  <a:lnTo>
                    <a:pt x="420053" y="75248"/>
                  </a:lnTo>
                  <a:lnTo>
                    <a:pt x="414338" y="68580"/>
                  </a:lnTo>
                  <a:lnTo>
                    <a:pt x="407670" y="62865"/>
                  </a:lnTo>
                  <a:lnTo>
                    <a:pt x="401003" y="57150"/>
                  </a:lnTo>
                  <a:lnTo>
                    <a:pt x="394335" y="52388"/>
                  </a:lnTo>
                  <a:lnTo>
                    <a:pt x="387668" y="46673"/>
                  </a:lnTo>
                  <a:lnTo>
                    <a:pt x="381000" y="41910"/>
                  </a:lnTo>
                  <a:lnTo>
                    <a:pt x="373380" y="37148"/>
                  </a:lnTo>
                  <a:lnTo>
                    <a:pt x="366712" y="33338"/>
                  </a:lnTo>
                  <a:lnTo>
                    <a:pt x="359093" y="28575"/>
                  </a:lnTo>
                  <a:lnTo>
                    <a:pt x="351472" y="24765"/>
                  </a:lnTo>
                  <a:lnTo>
                    <a:pt x="343853" y="20955"/>
                  </a:lnTo>
                  <a:lnTo>
                    <a:pt x="336232" y="18098"/>
                  </a:lnTo>
                  <a:lnTo>
                    <a:pt x="327660" y="15240"/>
                  </a:lnTo>
                  <a:lnTo>
                    <a:pt x="320040" y="12383"/>
                  </a:lnTo>
                  <a:lnTo>
                    <a:pt x="311468" y="9525"/>
                  </a:lnTo>
                  <a:lnTo>
                    <a:pt x="302895" y="7620"/>
                  </a:lnTo>
                  <a:lnTo>
                    <a:pt x="295275" y="5715"/>
                  </a:lnTo>
                  <a:lnTo>
                    <a:pt x="286703" y="3810"/>
                  </a:lnTo>
                  <a:lnTo>
                    <a:pt x="278130" y="2858"/>
                  </a:lnTo>
                  <a:lnTo>
                    <a:pt x="269557" y="1905"/>
                  </a:lnTo>
                  <a:lnTo>
                    <a:pt x="260985" y="953"/>
                  </a:lnTo>
                  <a:lnTo>
                    <a:pt x="252412" y="0"/>
                  </a:lnTo>
                  <a:lnTo>
                    <a:pt x="258128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8601075" y="3996690"/>
              <a:ext cx="9525" cy="42862"/>
            </a:xfrm>
            <a:custGeom>
              <a:avLst/>
              <a:gdLst/>
              <a:ahLst/>
              <a:cxnLst/>
              <a:rect l="l" t="t" r="r" b="b"/>
              <a:pathLst>
                <a:path w="9525" h="42862">
                  <a:moveTo>
                    <a:pt x="0" y="4286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8553450" y="39014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78" name="Freeform 78"/>
            <p:cNvSpPr/>
            <p:nvPr/>
          </p:nvSpPr>
          <p:spPr>
            <a:xfrm>
              <a:off x="6204585" y="3279458"/>
              <a:ext cx="5281613" cy="9525"/>
            </a:xfrm>
            <a:custGeom>
              <a:avLst/>
              <a:gdLst/>
              <a:ahLst/>
              <a:cxnLst/>
              <a:rect l="l" t="t" r="r" b="b"/>
              <a:pathLst>
                <a:path w="5281613" h="9525">
                  <a:moveTo>
                    <a:pt x="0" y="0"/>
                  </a:moveTo>
                  <a:lnTo>
                    <a:pt x="5281613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11034712" y="3279458"/>
              <a:ext cx="60007" cy="9525"/>
            </a:xfrm>
            <a:custGeom>
              <a:avLst/>
              <a:gdLst/>
              <a:ahLst/>
              <a:cxnLst/>
              <a:rect l="l" t="t" r="r" b="b"/>
              <a:pathLst>
                <a:path w="60007" h="9525">
                  <a:moveTo>
                    <a:pt x="0" y="0"/>
                  </a:moveTo>
                  <a:lnTo>
                    <a:pt x="60007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11094720" y="32318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81" name="Freeform 81"/>
            <p:cNvSpPr/>
            <p:nvPr/>
          </p:nvSpPr>
          <p:spPr>
            <a:xfrm>
              <a:off x="8742998" y="2530792"/>
              <a:ext cx="201930" cy="203835"/>
            </a:xfrm>
            <a:custGeom>
              <a:avLst/>
              <a:gdLst/>
              <a:ahLst/>
              <a:cxnLst/>
              <a:rect l="l" t="t" r="r" b="b"/>
              <a:pathLst>
                <a:path w="201930" h="203835">
                  <a:moveTo>
                    <a:pt x="201930" y="87630"/>
                  </a:moveTo>
                  <a:lnTo>
                    <a:pt x="200978" y="79058"/>
                  </a:lnTo>
                  <a:lnTo>
                    <a:pt x="194310" y="58103"/>
                  </a:lnTo>
                  <a:lnTo>
                    <a:pt x="181928" y="38100"/>
                  </a:lnTo>
                  <a:lnTo>
                    <a:pt x="165735" y="22860"/>
                  </a:lnTo>
                  <a:lnTo>
                    <a:pt x="145733" y="10478"/>
                  </a:lnTo>
                  <a:lnTo>
                    <a:pt x="124778" y="2858"/>
                  </a:lnTo>
                  <a:lnTo>
                    <a:pt x="101918" y="0"/>
                  </a:lnTo>
                  <a:lnTo>
                    <a:pt x="80010" y="2858"/>
                  </a:lnTo>
                  <a:lnTo>
                    <a:pt x="58103" y="10478"/>
                  </a:lnTo>
                  <a:lnTo>
                    <a:pt x="39053" y="22860"/>
                  </a:lnTo>
                  <a:lnTo>
                    <a:pt x="22860" y="38100"/>
                  </a:lnTo>
                  <a:lnTo>
                    <a:pt x="10478" y="58103"/>
                  </a:lnTo>
                  <a:lnTo>
                    <a:pt x="2858" y="79058"/>
                  </a:lnTo>
                  <a:lnTo>
                    <a:pt x="0" y="101917"/>
                  </a:lnTo>
                  <a:lnTo>
                    <a:pt x="2858" y="124778"/>
                  </a:lnTo>
                  <a:lnTo>
                    <a:pt x="10478" y="145733"/>
                  </a:lnTo>
                  <a:lnTo>
                    <a:pt x="22860" y="164783"/>
                  </a:lnTo>
                  <a:lnTo>
                    <a:pt x="39053" y="180975"/>
                  </a:lnTo>
                  <a:lnTo>
                    <a:pt x="58103" y="193358"/>
                  </a:lnTo>
                  <a:lnTo>
                    <a:pt x="80010" y="200978"/>
                  </a:lnTo>
                  <a:lnTo>
                    <a:pt x="101918" y="203835"/>
                  </a:lnTo>
                  <a:lnTo>
                    <a:pt x="124778" y="200978"/>
                  </a:lnTo>
                  <a:lnTo>
                    <a:pt x="145733" y="193358"/>
                  </a:lnTo>
                  <a:lnTo>
                    <a:pt x="165735" y="180975"/>
                  </a:lnTo>
                  <a:lnTo>
                    <a:pt x="181928" y="164783"/>
                  </a:lnTo>
                  <a:lnTo>
                    <a:pt x="194310" y="145733"/>
                  </a:lnTo>
                  <a:lnTo>
                    <a:pt x="200978" y="124778"/>
                  </a:lnTo>
                  <a:lnTo>
                    <a:pt x="201930" y="116205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8742998" y="3824288"/>
              <a:ext cx="201930" cy="203835"/>
            </a:xfrm>
            <a:custGeom>
              <a:avLst/>
              <a:gdLst/>
              <a:ahLst/>
              <a:cxnLst/>
              <a:rect l="l" t="t" r="r" b="b"/>
              <a:pathLst>
                <a:path w="201930" h="203835">
                  <a:moveTo>
                    <a:pt x="201930" y="87630"/>
                  </a:moveTo>
                  <a:lnTo>
                    <a:pt x="200978" y="79058"/>
                  </a:lnTo>
                  <a:lnTo>
                    <a:pt x="194310" y="58103"/>
                  </a:lnTo>
                  <a:lnTo>
                    <a:pt x="181928" y="39053"/>
                  </a:lnTo>
                  <a:lnTo>
                    <a:pt x="165735" y="22860"/>
                  </a:lnTo>
                  <a:lnTo>
                    <a:pt x="145733" y="10478"/>
                  </a:lnTo>
                  <a:lnTo>
                    <a:pt x="124778" y="2858"/>
                  </a:lnTo>
                  <a:lnTo>
                    <a:pt x="101918" y="0"/>
                  </a:lnTo>
                  <a:lnTo>
                    <a:pt x="80010" y="2858"/>
                  </a:lnTo>
                  <a:lnTo>
                    <a:pt x="58103" y="10478"/>
                  </a:lnTo>
                  <a:lnTo>
                    <a:pt x="39053" y="22860"/>
                  </a:lnTo>
                  <a:lnTo>
                    <a:pt x="22860" y="39053"/>
                  </a:lnTo>
                  <a:lnTo>
                    <a:pt x="10478" y="58103"/>
                  </a:lnTo>
                  <a:lnTo>
                    <a:pt x="2858" y="79058"/>
                  </a:lnTo>
                  <a:lnTo>
                    <a:pt x="0" y="101917"/>
                  </a:lnTo>
                  <a:lnTo>
                    <a:pt x="2858" y="124778"/>
                  </a:lnTo>
                  <a:lnTo>
                    <a:pt x="10478" y="145733"/>
                  </a:lnTo>
                  <a:lnTo>
                    <a:pt x="22860" y="165735"/>
                  </a:lnTo>
                  <a:lnTo>
                    <a:pt x="39053" y="180975"/>
                  </a:lnTo>
                  <a:lnTo>
                    <a:pt x="58103" y="193358"/>
                  </a:lnTo>
                  <a:lnTo>
                    <a:pt x="80010" y="200978"/>
                  </a:lnTo>
                  <a:lnTo>
                    <a:pt x="101918" y="203835"/>
                  </a:lnTo>
                  <a:lnTo>
                    <a:pt x="124778" y="200978"/>
                  </a:lnTo>
                  <a:lnTo>
                    <a:pt x="145733" y="193358"/>
                  </a:lnTo>
                  <a:lnTo>
                    <a:pt x="165735" y="180975"/>
                  </a:lnTo>
                  <a:lnTo>
                    <a:pt x="181928" y="165735"/>
                  </a:lnTo>
                  <a:lnTo>
                    <a:pt x="194310" y="145733"/>
                  </a:lnTo>
                  <a:lnTo>
                    <a:pt x="200978" y="124778"/>
                  </a:lnTo>
                  <a:lnTo>
                    <a:pt x="201930" y="116205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8785860" y="386715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10">
                  <a:moveTo>
                    <a:pt x="0" y="0"/>
                  </a:moveTo>
                  <a:lnTo>
                    <a:pt x="118110" y="11811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8785860" y="386715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10">
                  <a:moveTo>
                    <a:pt x="0" y="118110"/>
                  </a:moveTo>
                  <a:lnTo>
                    <a:pt x="11811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8988742" y="2632710"/>
              <a:ext cx="1024890" cy="9525"/>
            </a:xfrm>
            <a:custGeom>
              <a:avLst/>
              <a:gdLst/>
              <a:ahLst/>
              <a:cxnLst/>
              <a:rect l="l" t="t" r="r" b="b"/>
              <a:pathLst>
                <a:path w="1024890" h="9525">
                  <a:moveTo>
                    <a:pt x="0" y="0"/>
                  </a:moveTo>
                  <a:lnTo>
                    <a:pt x="1024890" y="0"/>
                  </a:lnTo>
                </a:path>
              </a:pathLst>
            </a:custGeom>
            <a:noFill/>
            <a:ln w="9525">
              <a:solidFill>
                <a:srgbClr val="B42318"/>
              </a:solidFill>
              <a:custDash>
                <a:ds d="600000" sp="400000"/>
              </a:custDash>
            </a:ln>
          </p:spPr>
        </p:sp>
        <p:sp>
          <p:nvSpPr>
            <p:cNvPr id="86" name="Freeform 86"/>
            <p:cNvSpPr/>
            <p:nvPr/>
          </p:nvSpPr>
          <p:spPr>
            <a:xfrm>
              <a:off x="8988742" y="3926205"/>
              <a:ext cx="1024890" cy="9525"/>
            </a:xfrm>
            <a:custGeom>
              <a:avLst/>
              <a:gdLst/>
              <a:ahLst/>
              <a:cxnLst/>
              <a:rect l="l" t="t" r="r" b="b"/>
              <a:pathLst>
                <a:path w="1024890" h="9525">
                  <a:moveTo>
                    <a:pt x="0" y="0"/>
                  </a:moveTo>
                  <a:lnTo>
                    <a:pt x="1024890" y="0"/>
                  </a:lnTo>
                </a:path>
              </a:pathLst>
            </a:custGeom>
            <a:noFill/>
            <a:ln w="9525">
              <a:solidFill>
                <a:srgbClr val="B42318"/>
              </a:solidFill>
              <a:custDash>
                <a:ds d="600000" sp="400000"/>
              </a:custDash>
            </a:ln>
          </p:spPr>
        </p:sp>
        <p:sp>
          <p:nvSpPr>
            <p:cNvPr id="87" name="Ellipse 87"/>
            <p:cNvSpPr/>
            <p:nvPr/>
          </p:nvSpPr>
          <p:spPr>
            <a:xfrm>
              <a:off x="8840152" y="26279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8840152" y="39214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8840152" y="31013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9891712" y="16002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7789545" y="16002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8840152" y="31013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7721918" y="18992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7721918" y="20659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8840152" y="34480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7789545" y="494919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9891712" y="494919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8840152" y="34480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7721918" y="46501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7721918" y="44834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8840152" y="30518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9348788" y="1576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8332470" y="1576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8840152" y="30518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8015288" y="21431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8015288" y="2309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7" name="Ellipse 107"/>
            <p:cNvSpPr/>
            <p:nvPr/>
          </p:nvSpPr>
          <p:spPr>
            <a:xfrm>
              <a:off x="8840152" y="34975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8" name="Ellipse 108"/>
            <p:cNvSpPr/>
            <p:nvPr/>
          </p:nvSpPr>
          <p:spPr>
            <a:xfrm>
              <a:off x="8332470" y="49730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9" name="Ellipse 109"/>
            <p:cNvSpPr/>
            <p:nvPr/>
          </p:nvSpPr>
          <p:spPr>
            <a:xfrm>
              <a:off x="9348788" y="49730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8840152" y="34975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8015288" y="44062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8015288" y="42395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8840152" y="29889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4" name="Ellipse 114"/>
            <p:cNvSpPr/>
            <p:nvPr/>
          </p:nvSpPr>
          <p:spPr>
            <a:xfrm>
              <a:off x="8840152" y="29889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5" name="Ellipse 115"/>
            <p:cNvSpPr/>
            <p:nvPr/>
          </p:nvSpPr>
          <p:spPr>
            <a:xfrm>
              <a:off x="8252460" y="23174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6" name="Ellipse 116"/>
            <p:cNvSpPr/>
            <p:nvPr/>
          </p:nvSpPr>
          <p:spPr>
            <a:xfrm>
              <a:off x="8252460" y="248412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7" name="Ellipse 117"/>
            <p:cNvSpPr/>
            <p:nvPr/>
          </p:nvSpPr>
          <p:spPr>
            <a:xfrm>
              <a:off x="8840152" y="35604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8" name="Ellipse 118"/>
            <p:cNvSpPr/>
            <p:nvPr/>
          </p:nvSpPr>
          <p:spPr>
            <a:xfrm>
              <a:off x="8840152" y="35604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9" name="Ellipse 119"/>
            <p:cNvSpPr/>
            <p:nvPr/>
          </p:nvSpPr>
          <p:spPr>
            <a:xfrm>
              <a:off x="8252460" y="42319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0" name="Ellipse 120"/>
            <p:cNvSpPr/>
            <p:nvPr/>
          </p:nvSpPr>
          <p:spPr>
            <a:xfrm>
              <a:off x="8252460" y="40652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1" name="Ellipse 121"/>
            <p:cNvSpPr/>
            <p:nvPr/>
          </p:nvSpPr>
          <p:spPr>
            <a:xfrm>
              <a:off x="8840152" y="29156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8840152" y="29156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3" name="Ellipse 123"/>
            <p:cNvSpPr/>
            <p:nvPr/>
          </p:nvSpPr>
          <p:spPr>
            <a:xfrm>
              <a:off x="8436292" y="24288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4" name="Ellipse 124"/>
            <p:cNvSpPr/>
            <p:nvPr/>
          </p:nvSpPr>
          <p:spPr>
            <a:xfrm>
              <a:off x="8436292" y="25955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5" name="Ellipse 125"/>
            <p:cNvSpPr/>
            <p:nvPr/>
          </p:nvSpPr>
          <p:spPr>
            <a:xfrm>
              <a:off x="8840152" y="36337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6" name="Ellipse 126"/>
            <p:cNvSpPr/>
            <p:nvPr/>
          </p:nvSpPr>
          <p:spPr>
            <a:xfrm>
              <a:off x="8840152" y="36337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8436292" y="41205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8436292" y="39538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8840152" y="28279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0" name="Ellipse 130"/>
            <p:cNvSpPr/>
            <p:nvPr/>
          </p:nvSpPr>
          <p:spPr>
            <a:xfrm>
              <a:off x="8840152" y="28279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1" name="Ellipse 131"/>
            <p:cNvSpPr/>
            <p:nvPr/>
          </p:nvSpPr>
          <p:spPr>
            <a:xfrm>
              <a:off x="8596312" y="25003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2" name="Ellipse 132"/>
            <p:cNvSpPr/>
            <p:nvPr/>
          </p:nvSpPr>
          <p:spPr>
            <a:xfrm>
              <a:off x="8596312" y="26670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3" name="Ellipse 133"/>
            <p:cNvSpPr/>
            <p:nvPr/>
          </p:nvSpPr>
          <p:spPr>
            <a:xfrm>
              <a:off x="8840152" y="37214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4" name="Ellipse 134"/>
            <p:cNvSpPr/>
            <p:nvPr/>
          </p:nvSpPr>
          <p:spPr>
            <a:xfrm>
              <a:off x="8840152" y="37214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5" name="Ellipse 135"/>
            <p:cNvSpPr/>
            <p:nvPr/>
          </p:nvSpPr>
          <p:spPr>
            <a:xfrm>
              <a:off x="8596312" y="40490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6" name="Ellipse 136"/>
            <p:cNvSpPr/>
            <p:nvPr/>
          </p:nvSpPr>
          <p:spPr>
            <a:xfrm>
              <a:off x="8596312" y="388239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7" name="Ellipse 137"/>
            <p:cNvSpPr/>
            <p:nvPr/>
          </p:nvSpPr>
          <p:spPr>
            <a:xfrm>
              <a:off x="6185535" y="32746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8" name="Ellipse 138"/>
            <p:cNvSpPr/>
            <p:nvPr/>
          </p:nvSpPr>
          <p:spPr>
            <a:xfrm>
              <a:off x="11495722" y="32746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9" name="Ellipse 139"/>
            <p:cNvSpPr/>
            <p:nvPr/>
          </p:nvSpPr>
          <p:spPr>
            <a:xfrm>
              <a:off x="11015662" y="32746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0" name="Ellipse 140"/>
            <p:cNvSpPr/>
            <p:nvPr/>
          </p:nvSpPr>
          <p:spPr>
            <a:xfrm>
              <a:off x="11199495" y="32746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1" name="Ellipse 141"/>
            <p:cNvSpPr/>
            <p:nvPr/>
          </p:nvSpPr>
          <p:spPr>
            <a:xfrm>
              <a:off x="8942070" y="26279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2" name="Ellipse 142"/>
            <p:cNvSpPr/>
            <p:nvPr/>
          </p:nvSpPr>
          <p:spPr>
            <a:xfrm>
              <a:off x="8942070" y="26279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3" name="Ellipse 143"/>
            <p:cNvSpPr/>
            <p:nvPr/>
          </p:nvSpPr>
          <p:spPr>
            <a:xfrm>
              <a:off x="8814435" y="260223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4" name="Ellipse 144"/>
            <p:cNvSpPr/>
            <p:nvPr/>
          </p:nvSpPr>
          <p:spPr>
            <a:xfrm>
              <a:off x="8942070" y="39214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5" name="Ellipse 145"/>
            <p:cNvSpPr/>
            <p:nvPr/>
          </p:nvSpPr>
          <p:spPr>
            <a:xfrm>
              <a:off x="8942070" y="39214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6" name="Ellipse 146"/>
            <p:cNvSpPr/>
            <p:nvPr/>
          </p:nvSpPr>
          <p:spPr>
            <a:xfrm>
              <a:off x="8771572" y="38519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7" name="Ellipse 147"/>
            <p:cNvSpPr/>
            <p:nvPr/>
          </p:nvSpPr>
          <p:spPr>
            <a:xfrm>
              <a:off x="8909685" y="39909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8" name="Ellipse 148"/>
            <p:cNvSpPr/>
            <p:nvPr/>
          </p:nvSpPr>
          <p:spPr>
            <a:xfrm>
              <a:off x="8771572" y="39909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9" name="Ellipse 149"/>
            <p:cNvSpPr/>
            <p:nvPr/>
          </p:nvSpPr>
          <p:spPr>
            <a:xfrm>
              <a:off x="8909685" y="38519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0" name="Ellipse 150"/>
            <p:cNvSpPr/>
            <p:nvPr/>
          </p:nvSpPr>
          <p:spPr>
            <a:xfrm>
              <a:off x="8969692" y="26279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1" name="Ellipse 151"/>
            <p:cNvSpPr/>
            <p:nvPr/>
          </p:nvSpPr>
          <p:spPr>
            <a:xfrm>
              <a:off x="10023158" y="26279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2" name="Ellipse 152"/>
            <p:cNvSpPr/>
            <p:nvPr/>
          </p:nvSpPr>
          <p:spPr>
            <a:xfrm>
              <a:off x="8969692" y="39214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3" name="Ellipse 153"/>
            <p:cNvSpPr/>
            <p:nvPr/>
          </p:nvSpPr>
          <p:spPr>
            <a:xfrm>
              <a:off x="10023158" y="39214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10078212" y="256841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电流流出纸面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10078212" y="386191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电流流入纸面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11067377" y="33808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轴线</a:t>
              </a:r>
            </a:p>
          </p:txBody>
        </p:sp>
      </p:grpSp>
      <p:grpSp>
        <p:nvGrpSpPr>
          <p:cNvPr id="159" name="c2-text-2"/>
          <p:cNvGrpSpPr/>
          <p:nvPr/>
        </p:nvGrpSpPr>
        <p:grpSpPr>
          <a:xfrm>
            <a:off x="6026086" y="5239702"/>
            <a:ext cx="5346192" cy="470916"/>
            <a:chOff x="6026086" y="5239702"/>
            <a:chExt cx="5346192" cy="470916"/>
          </a:xfrm>
        </p:grpSpPr>
        <p:sp>
          <p:nvSpPr>
            <p:cNvPr id="158" name="TextBox 158"/>
            <p:cNvSpPr txBox="1"/>
            <p:nvPr/>
          </p:nvSpPr>
          <p:spPr>
            <a:xfrm>
              <a:off x="6026086" y="5239702"/>
              <a:ext cx="534619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圆电流过轴线截面上的磁感应线示意（按一对反向长直电流画出，形状与圆电流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相近）。每条线都绕着导线闭合，轴线上的一条从左穿到右。</a:t>
              </a:r>
            </a:p>
          </p:txBody>
        </p:sp>
      </p:grpSp>
      <p:grpSp>
        <p:nvGrpSpPr>
          <p:cNvPr id="1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0" name="TextBox 16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磁通量与磁场的高斯定理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磁通量与高斯定理：穿进闭合曲面的磁感应线都会穿出去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539365"/>
            <a:chOff x="533400" y="1524000"/>
            <a:chExt cx="5410200" cy="25393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39365"/>
            </a:xfrm>
            <a:prstGeom prst="roundRect">
              <a:avLst>
                <a:gd name="adj" fmla="val 52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7266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磁通量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16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4953000" cy="5067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dS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Ellipse 12"/>
            <p:cNvSpPr/>
            <p:nvPr/>
          </p:nvSpPr>
          <p:spPr>
            <a:xfrm>
              <a:off x="786765" y="27755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12720"/>
              <a:ext cx="4368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通过给定曲面的磁感应线条数，单位韦伯（Wb），1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 = 1 T·m²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3966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333750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是 B 与面元法线 eₙ 的夹角；闭合曲面取外法线，穿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出为正、穿入为负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253865"/>
            <a:ext cx="5410200" cy="1316355"/>
            <a:chOff x="533400" y="4253865"/>
            <a:chExt cx="5410200" cy="1316355"/>
          </a:xfrm>
        </p:grpSpPr>
        <p:sp>
          <p:nvSpPr>
            <p:cNvPr id="17" name="Rectangle 17"/>
            <p:cNvSpPr/>
            <p:nvPr/>
          </p:nvSpPr>
          <p:spPr>
            <a:xfrm>
              <a:off x="533400" y="4253865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38721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4463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1258" y="4499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840605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匀强磁场 B = 0.5 T 穿过面积 0.02 m² 的平面，法线与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成 60°：Φₘ = BS cos60° = 5×10⁻³ Wb。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248400" y="1524000"/>
            <a:ext cx="5410200" cy="2105025"/>
            <a:chOff x="6248400" y="1524000"/>
            <a:chExt cx="5410200" cy="210502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2105025"/>
            </a:xfrm>
            <a:prstGeom prst="roundRect">
              <a:avLst>
                <a:gd name="adj" fmla="val 63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18383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65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磁场的高斯定理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17"/>
                <p:cNvSpPr txBox="1">
                  <a:spLocks noGrp="1"/>
                </p:cNvSpPr>
                <p:nvPr/>
              </p:nvSpPr>
              <p:spPr>
                <a:xfrm>
                  <a:off x="6496050" y="2085975"/>
                  <a:ext cx="4953000" cy="6934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∮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6488430" y="289941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磁感应线是闭合的，进入闭合曲面多少条就穿出多少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条，所以磁场是无源场。</a:t>
              </a:r>
            </a:p>
          </p:txBody>
        </p:sp>
      </p:grpSp>
      <p:grpSp>
        <p:nvGrpSpPr>
          <p:cNvPr id="46" name="c2-compare-2"/>
          <p:cNvGrpSpPr/>
          <p:nvPr/>
        </p:nvGrpSpPr>
        <p:grpSpPr>
          <a:xfrm>
            <a:off x="6248400" y="3819525"/>
            <a:ext cx="5410200" cy="1750695"/>
            <a:chOff x="6248400" y="3819525"/>
            <a:chExt cx="5410200" cy="1750695"/>
          </a:xfrm>
        </p:grpSpPr>
        <p:sp>
          <p:nvSpPr>
            <p:cNvPr id="30" name="Rectangle 30"/>
            <p:cNvSpPr/>
            <p:nvPr/>
          </p:nvSpPr>
          <p:spPr>
            <a:xfrm>
              <a:off x="6248400" y="3819525"/>
              <a:ext cx="2495550" cy="1750695"/>
            </a:xfrm>
            <a:prstGeom prst="roundRect">
              <a:avLst>
                <a:gd name="adj" fmla="val 76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3952875"/>
              <a:ext cx="47625" cy="14839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88430" y="40538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501765" y="44710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59880" y="4408170"/>
              <a:ext cx="14583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 E·dS = Σq/ε₀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501765" y="48063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59880" y="474345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有源场，电场线有起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点和终点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163050" y="3819525"/>
              <a:ext cx="2495550" cy="1750695"/>
            </a:xfrm>
            <a:prstGeom prst="roundRect">
              <a:avLst>
                <a:gd name="adj" fmla="val 76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172575" y="3952875"/>
              <a:ext cx="47625" cy="14839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03080" y="40538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稳恒磁场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9416415" y="44710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74530" y="4408170"/>
              <a:ext cx="10106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 B·dS = 0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9416415" y="48063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74530" y="474345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无源场，没有单独的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磁荷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8791575" y="453294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861915" y="462915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10313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等于零的是闭合曲面的磁通量。对不闭合的曲面，比如一个线圈围成的面，磁通量一般不为零，下一页就要算一个。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34710" cy="909257"/>
            <a:chOff x="520446" y="342900"/>
            <a:chExt cx="55347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磁通量与磁场的高斯定理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347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例5.1 长直电流旁矩形回路的磁通量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428750"/>
            <a:chOff x="533400" y="1524000"/>
            <a:chExt cx="4760595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例5.1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0606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无限长直导线通电流 I，旁边有一共面的矩形回路，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 l、宽 b，近边到导线的距离为 a。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24770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通过回路所围面积的磁通量。</a:t>
              </a:r>
            </a:p>
          </p:txBody>
        </p:sp>
      </p:grpSp>
      <p:grpSp>
        <p:nvGrpSpPr>
          <p:cNvPr id="67" name="g_ex51"/>
          <p:cNvGrpSpPr/>
          <p:nvPr/>
        </p:nvGrpSpPr>
        <p:grpSpPr>
          <a:xfrm>
            <a:off x="1160816" y="3161348"/>
            <a:ext cx="3073079" cy="1598771"/>
            <a:chOff x="1160816" y="3161348"/>
            <a:chExt cx="3073079" cy="1598771"/>
          </a:xfrm>
        </p:grpSpPr>
        <p:sp>
          <p:nvSpPr>
            <p:cNvPr id="14" name="Freeform 14"/>
            <p:cNvSpPr/>
            <p:nvPr/>
          </p:nvSpPr>
          <p:spPr>
            <a:xfrm>
              <a:off x="1335405" y="3275648"/>
              <a:ext cx="9525" cy="1414462"/>
            </a:xfrm>
            <a:custGeom>
              <a:avLst/>
              <a:gdLst/>
              <a:ahLst/>
              <a:cxnLst/>
              <a:rect l="l" t="t" r="r" b="b"/>
              <a:pathLst>
                <a:path w="9525" h="1414462">
                  <a:moveTo>
                    <a:pt x="0" y="1414462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287780" y="31803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306955" y="3408998"/>
              <a:ext cx="1538288" cy="922973"/>
            </a:xfrm>
            <a:custGeom>
              <a:avLst/>
              <a:gdLst/>
              <a:ahLst/>
              <a:cxnLst/>
              <a:rect l="l" t="t" r="r" b="b"/>
              <a:pathLst>
                <a:path w="1538288" h="922973">
                  <a:moveTo>
                    <a:pt x="14288" y="0"/>
                  </a:moveTo>
                  <a:lnTo>
                    <a:pt x="1538288" y="0"/>
                  </a:lnTo>
                  <a:lnTo>
                    <a:pt x="1538288" y="922973"/>
                  </a:lnTo>
                  <a:lnTo>
                    <a:pt x="0" y="922973"/>
                  </a:lnTo>
                  <a:lnTo>
                    <a:pt x="0" y="14288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011805" y="3423285"/>
              <a:ext cx="9525" cy="894398"/>
            </a:xfrm>
            <a:custGeom>
              <a:avLst/>
              <a:gdLst/>
              <a:ahLst/>
              <a:cxnLst/>
              <a:rect l="l" t="t" r="r" b="b"/>
              <a:pathLst>
                <a:path w="9525" h="894398">
                  <a:moveTo>
                    <a:pt x="0" y="0"/>
                  </a:moveTo>
                  <a:lnTo>
                    <a:pt x="0" y="894398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3125152" y="3423285"/>
              <a:ext cx="9525" cy="894398"/>
            </a:xfrm>
            <a:custGeom>
              <a:avLst/>
              <a:gdLst/>
              <a:ahLst/>
              <a:cxnLst/>
              <a:rect l="l" t="t" r="r" b="b"/>
              <a:pathLst>
                <a:path w="9525" h="894398">
                  <a:moveTo>
                    <a:pt x="0" y="0"/>
                  </a:moveTo>
                  <a:lnTo>
                    <a:pt x="0" y="894398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1444942" y="4558665"/>
              <a:ext cx="752475" cy="9525"/>
            </a:xfrm>
            <a:custGeom>
              <a:avLst/>
              <a:gdLst/>
              <a:ahLst/>
              <a:cxnLst/>
              <a:rect l="l" t="t" r="r" b="b"/>
              <a:pathLst>
                <a:path w="752475" h="9525">
                  <a:moveTo>
                    <a:pt x="0" y="0"/>
                  </a:moveTo>
                  <a:lnTo>
                    <a:pt x="75247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197418" y="45110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349692" y="45110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416492" y="4558665"/>
              <a:ext cx="1319212" cy="9525"/>
            </a:xfrm>
            <a:custGeom>
              <a:avLst/>
              <a:gdLst/>
              <a:ahLst/>
              <a:cxnLst/>
              <a:rect l="l" t="t" r="r" b="b"/>
              <a:pathLst>
                <a:path w="1319212" h="9525">
                  <a:moveTo>
                    <a:pt x="0" y="0"/>
                  </a:moveTo>
                  <a:lnTo>
                    <a:pt x="131921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735705" y="45110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2321242" y="45110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088130" y="3518535"/>
              <a:ext cx="9525" cy="703898"/>
            </a:xfrm>
            <a:custGeom>
              <a:avLst/>
              <a:gdLst/>
              <a:ahLst/>
              <a:cxnLst/>
              <a:rect l="l" t="t" r="r" b="b"/>
              <a:pathLst>
                <a:path w="9525" h="703898">
                  <a:moveTo>
                    <a:pt x="0" y="0"/>
                  </a:moveTo>
                  <a:lnTo>
                    <a:pt x="0" y="70389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040505" y="42224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040505" y="34232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2549842" y="3789998"/>
              <a:ext cx="160973" cy="161925"/>
            </a:xfrm>
            <a:custGeom>
              <a:avLst/>
              <a:gdLst/>
              <a:ahLst/>
              <a:cxnLst/>
              <a:rect l="l" t="t" r="r" b="b"/>
              <a:pathLst>
                <a:path w="160973" h="161925">
                  <a:moveTo>
                    <a:pt x="160973" y="66675"/>
                  </a:moveTo>
                  <a:lnTo>
                    <a:pt x="160020" y="62865"/>
                  </a:lnTo>
                  <a:lnTo>
                    <a:pt x="154305" y="45720"/>
                  </a:lnTo>
                  <a:lnTo>
                    <a:pt x="144780" y="30480"/>
                  </a:lnTo>
                  <a:lnTo>
                    <a:pt x="131445" y="17145"/>
                  </a:lnTo>
                  <a:lnTo>
                    <a:pt x="116205" y="7620"/>
                  </a:lnTo>
                  <a:lnTo>
                    <a:pt x="99060" y="1905"/>
                  </a:lnTo>
                  <a:lnTo>
                    <a:pt x="80962" y="0"/>
                  </a:lnTo>
                  <a:lnTo>
                    <a:pt x="62865" y="1905"/>
                  </a:lnTo>
                  <a:lnTo>
                    <a:pt x="45720" y="7620"/>
                  </a:lnTo>
                  <a:lnTo>
                    <a:pt x="30480" y="17145"/>
                  </a:lnTo>
                  <a:lnTo>
                    <a:pt x="18098" y="30480"/>
                  </a:lnTo>
                  <a:lnTo>
                    <a:pt x="8573" y="45720"/>
                  </a:lnTo>
                  <a:lnTo>
                    <a:pt x="1905" y="62865"/>
                  </a:lnTo>
                  <a:lnTo>
                    <a:pt x="0" y="80962"/>
                  </a:lnTo>
                  <a:lnTo>
                    <a:pt x="1905" y="99060"/>
                  </a:lnTo>
                  <a:lnTo>
                    <a:pt x="8573" y="116205"/>
                  </a:lnTo>
                  <a:lnTo>
                    <a:pt x="18098" y="131445"/>
                  </a:lnTo>
                  <a:lnTo>
                    <a:pt x="30480" y="143828"/>
                  </a:lnTo>
                  <a:lnTo>
                    <a:pt x="45720" y="153353"/>
                  </a:lnTo>
                  <a:lnTo>
                    <a:pt x="62865" y="160020"/>
                  </a:lnTo>
                  <a:lnTo>
                    <a:pt x="80962" y="161925"/>
                  </a:lnTo>
                  <a:lnTo>
                    <a:pt x="99060" y="160020"/>
                  </a:lnTo>
                  <a:lnTo>
                    <a:pt x="116205" y="153353"/>
                  </a:lnTo>
                  <a:lnTo>
                    <a:pt x="131445" y="143828"/>
                  </a:lnTo>
                  <a:lnTo>
                    <a:pt x="144780" y="131445"/>
                  </a:lnTo>
                  <a:lnTo>
                    <a:pt x="154305" y="116205"/>
                  </a:lnTo>
                  <a:lnTo>
                    <a:pt x="160020" y="99060"/>
                  </a:lnTo>
                  <a:lnTo>
                    <a:pt x="160973" y="9525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586038" y="3826192"/>
              <a:ext cx="90488" cy="89535"/>
            </a:xfrm>
            <a:custGeom>
              <a:avLst/>
              <a:gdLst/>
              <a:ahLst/>
              <a:cxnLst/>
              <a:rect l="l" t="t" r="r" b="b"/>
              <a:pathLst>
                <a:path w="90488" h="89535">
                  <a:moveTo>
                    <a:pt x="0" y="0"/>
                  </a:moveTo>
                  <a:lnTo>
                    <a:pt x="90488" y="8953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586038" y="3826192"/>
              <a:ext cx="90488" cy="89535"/>
            </a:xfrm>
            <a:custGeom>
              <a:avLst/>
              <a:gdLst/>
              <a:ahLst/>
              <a:cxnLst/>
              <a:rect l="l" t="t" r="r" b="b"/>
              <a:pathLst>
                <a:path w="90488" h="89535">
                  <a:moveTo>
                    <a:pt x="0" y="89535"/>
                  </a:moveTo>
                  <a:lnTo>
                    <a:pt x="90488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3400425" y="3789998"/>
              <a:ext cx="160020" cy="161925"/>
            </a:xfrm>
            <a:custGeom>
              <a:avLst/>
              <a:gdLst/>
              <a:ahLst/>
              <a:cxnLst/>
              <a:rect l="l" t="t" r="r" b="b"/>
              <a:pathLst>
                <a:path w="160020" h="161925">
                  <a:moveTo>
                    <a:pt x="160020" y="66675"/>
                  </a:moveTo>
                  <a:lnTo>
                    <a:pt x="160020" y="62865"/>
                  </a:lnTo>
                  <a:lnTo>
                    <a:pt x="153353" y="45720"/>
                  </a:lnTo>
                  <a:lnTo>
                    <a:pt x="143828" y="30480"/>
                  </a:lnTo>
                  <a:lnTo>
                    <a:pt x="131445" y="17145"/>
                  </a:lnTo>
                  <a:lnTo>
                    <a:pt x="116205" y="7620"/>
                  </a:lnTo>
                  <a:lnTo>
                    <a:pt x="99060" y="1905"/>
                  </a:lnTo>
                  <a:lnTo>
                    <a:pt x="80962" y="0"/>
                  </a:lnTo>
                  <a:lnTo>
                    <a:pt x="62865" y="1905"/>
                  </a:lnTo>
                  <a:lnTo>
                    <a:pt x="45720" y="7620"/>
                  </a:lnTo>
                  <a:lnTo>
                    <a:pt x="30480" y="17145"/>
                  </a:lnTo>
                  <a:lnTo>
                    <a:pt x="18097" y="30480"/>
                  </a:lnTo>
                  <a:lnTo>
                    <a:pt x="8572" y="45720"/>
                  </a:lnTo>
                  <a:lnTo>
                    <a:pt x="1905" y="62865"/>
                  </a:lnTo>
                  <a:lnTo>
                    <a:pt x="0" y="80962"/>
                  </a:lnTo>
                  <a:lnTo>
                    <a:pt x="1905" y="99060"/>
                  </a:lnTo>
                  <a:lnTo>
                    <a:pt x="8572" y="116205"/>
                  </a:lnTo>
                  <a:lnTo>
                    <a:pt x="18097" y="131445"/>
                  </a:lnTo>
                  <a:lnTo>
                    <a:pt x="30480" y="143828"/>
                  </a:lnTo>
                  <a:lnTo>
                    <a:pt x="45720" y="153353"/>
                  </a:lnTo>
                  <a:lnTo>
                    <a:pt x="62865" y="160020"/>
                  </a:lnTo>
                  <a:lnTo>
                    <a:pt x="80962" y="161925"/>
                  </a:lnTo>
                  <a:lnTo>
                    <a:pt x="99060" y="160020"/>
                  </a:lnTo>
                  <a:lnTo>
                    <a:pt x="116205" y="153353"/>
                  </a:lnTo>
                  <a:lnTo>
                    <a:pt x="131445" y="143828"/>
                  </a:lnTo>
                  <a:lnTo>
                    <a:pt x="143828" y="131445"/>
                  </a:lnTo>
                  <a:lnTo>
                    <a:pt x="153353" y="116205"/>
                  </a:lnTo>
                  <a:lnTo>
                    <a:pt x="160020" y="99060"/>
                  </a:lnTo>
                  <a:lnTo>
                    <a:pt x="160020" y="9525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3436620" y="3826192"/>
              <a:ext cx="89535" cy="89535"/>
            </a:xfrm>
            <a:custGeom>
              <a:avLst/>
              <a:gdLst/>
              <a:ahLst/>
              <a:cxnLst/>
              <a:rect l="l" t="t" r="r" b="b"/>
              <a:pathLst>
                <a:path w="89535" h="89535">
                  <a:moveTo>
                    <a:pt x="0" y="0"/>
                  </a:moveTo>
                  <a:lnTo>
                    <a:pt x="89535" y="8953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3436620" y="3826192"/>
              <a:ext cx="89535" cy="89535"/>
            </a:xfrm>
            <a:custGeom>
              <a:avLst/>
              <a:gdLst/>
              <a:ahLst/>
              <a:cxnLst/>
              <a:rect l="l" t="t" r="r" b="b"/>
              <a:pathLst>
                <a:path w="89535" h="89535">
                  <a:moveTo>
                    <a:pt x="0" y="89535"/>
                  </a:moveTo>
                  <a:lnTo>
                    <a:pt x="8953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330642" y="46996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330642" y="31613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302192" y="34042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302192" y="34042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007042" y="34042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007042" y="43272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3120390" y="34042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3120390" y="43272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330642" y="45539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302192" y="45539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2302192" y="45539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3840480" y="45539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4083368" y="34042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4083368" y="43272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2707005" y="38661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2707005" y="38661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2570798" y="38109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2681288" y="39214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2570798" y="39214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2681288" y="38109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3557588" y="38661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3557588" y="38661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3421380" y="38109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3530918" y="39214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3421380" y="39214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3530918" y="38109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60816" y="3221355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999491" y="3246596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dx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781433" y="43986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036828" y="43986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186205" y="3807142"/>
              <a:ext cx="47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032883" y="45981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592364" y="4031456"/>
              <a:ext cx="768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74" name="c1-callout-3"/>
          <p:cNvGrpSpPr/>
          <p:nvPr/>
        </p:nvGrpSpPr>
        <p:grpSpPr>
          <a:xfrm>
            <a:off x="533400" y="4901565"/>
            <a:ext cx="4760595" cy="702945"/>
            <a:chOff x="533400" y="4901565"/>
            <a:chExt cx="4760595" cy="702945"/>
          </a:xfrm>
        </p:grpSpPr>
        <p:sp>
          <p:nvSpPr>
            <p:cNvPr id="68" name="Rectangle 68"/>
            <p:cNvSpPr/>
            <p:nvPr/>
          </p:nvSpPr>
          <p:spPr>
            <a:xfrm>
              <a:off x="533400" y="4901565"/>
              <a:ext cx="4760595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26129" y="5149333"/>
              <a:ext cx="224134" cy="192560"/>
              <a:chOff x="726129" y="5149333"/>
              <a:chExt cx="224134" cy="19256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838200" y="52197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26129" y="51493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38200" y="52974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1273" y="5046821"/>
              <a:ext cx="35811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用中线 x = 0.15 m 处的 B 乘面积只得 2.67×10⁻⁷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Wb，偏小约 4%。B 不均匀时不能直接用 BS。</a:t>
              </a:r>
            </a:p>
          </p:txBody>
        </p:sp>
      </p:grpSp>
      <p:grpSp>
        <p:nvGrpSpPr>
          <p:cNvPr id="88" name="c2-steps-1"/>
          <p:cNvGrpSpPr/>
          <p:nvPr/>
        </p:nvGrpSpPr>
        <p:grpSpPr>
          <a:xfrm>
            <a:off x="5598795" y="1533525"/>
            <a:ext cx="5774809" cy="1596962"/>
            <a:chOff x="5598795" y="1533525"/>
            <a:chExt cx="5774809" cy="1596962"/>
          </a:xfrm>
        </p:grpSpPr>
        <p:sp>
          <p:nvSpPr>
            <p:cNvPr id="75" name="Rectangle 75"/>
            <p:cNvSpPr/>
            <p:nvPr/>
          </p:nvSpPr>
          <p:spPr>
            <a:xfrm>
              <a:off x="5732145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559879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69241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559879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69241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011418" y="15644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建坐标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012561" y="1818322"/>
              <a:ext cx="53610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以直导线为原点、向右为 x 轴，x 处 B = μ₀I/(2πx)，方向垂直纸面，与回路平面垂直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011418" y="21169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取面元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012561" y="2371725"/>
              <a:ext cx="3797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只随 x 变，取宽 dx、长 l 的窄条，dS = l dx，dΦₘ = B l dx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011418" y="26703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012561" y="2925128"/>
              <a:ext cx="1959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Φₘ = ∫(a→a+b) μ₀I l dx/(2πx)</a:t>
              </a:r>
            </a:p>
          </p:txBody>
        </p:sp>
      </p:grpSp>
      <p:grpSp>
        <p:nvGrpSpPr>
          <p:cNvPr id="95" name="c2-card-2"/>
          <p:cNvGrpSpPr/>
          <p:nvPr/>
        </p:nvGrpSpPr>
        <p:grpSpPr>
          <a:xfrm>
            <a:off x="5598795" y="3291840"/>
            <a:ext cx="6059805" cy="2312670"/>
            <a:chOff x="5598795" y="3291840"/>
            <a:chExt cx="6059805" cy="2312670"/>
          </a:xfrm>
        </p:grpSpPr>
        <p:sp>
          <p:nvSpPr>
            <p:cNvPr id="89" name="Rectangle 89"/>
            <p:cNvSpPr/>
            <p:nvPr/>
          </p:nvSpPr>
          <p:spPr>
            <a:xfrm>
              <a:off x="5598795" y="3291840"/>
              <a:ext cx="6059805" cy="2312670"/>
            </a:xfrm>
            <a:prstGeom prst="roundRect">
              <a:avLst>
                <a:gd name="adj" fmla="val 576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5779770" y="347281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876493" y="350567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formula124"/>
                <p:cNvSpPr txBox="1">
                  <a:spLocks noGrp="1"/>
                </p:cNvSpPr>
                <p:nvPr/>
              </p:nvSpPr>
              <p:spPr>
                <a:xfrm>
                  <a:off x="5779770" y="3791902"/>
                  <a:ext cx="5697855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Il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2π</m:t>
                            </m:r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num>
                              <m:den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den>
                            </m:f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93" name="TextBox 93"/>
            <p:cNvSpPr txBox="1"/>
            <p:nvPr/>
          </p:nvSpPr>
          <p:spPr>
            <a:xfrm>
              <a:off x="5773293" y="4407694"/>
              <a:ext cx="5206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 I = 10 A、l = 0.2 m、a = b = 0.1 m：Φₘ = 2×10⁻⁷ × 10 × 0.2 × ln2 ≈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2.77×10⁻⁷ Wb。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5774436" y="4932045"/>
              <a:ext cx="48859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回路法线取垂直纸面向里（与 B 同向）时 Φₘ 为正；法线反过来取，Φₘ 变号。</a:t>
              </a:r>
            </a:p>
          </p:txBody>
        </p:sp>
      </p:grpSp>
      <p:grpSp>
        <p:nvGrpSpPr>
          <p:cNvPr id="10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6" name="Rectangle 9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0" name="Group 100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1" name="TextBox 101"/>
            <p:cNvSpPr txBox="1"/>
            <p:nvPr/>
          </p:nvSpPr>
          <p:spPr>
            <a:xfrm>
              <a:off x="1041273" y="6039326"/>
              <a:ext cx="62533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变式：导线正好穿过矩形中间、两侧对称时，两边的 B 方向相反，总磁通量为零。</a:t>
              </a:r>
            </a:p>
          </p:txBody>
        </p:sp>
      </p:grpSp>
      <p:grpSp>
        <p:nvGrpSpPr>
          <p:cNvPr id="10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3" name="TextBox 10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24393" cy="3351847"/>
            <a:chOff x="667512" y="1835468"/>
            <a:chExt cx="512439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磁介质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14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5.5，物质放进磁场后会反过来改变磁场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磁介质的三类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顺磁质与抗磁质的磁化机制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3020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磁化强度 M 与磁场强度 H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铁磁质：磁饱和、磁滞与磁畴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99848" cy="909257"/>
            <a:chOff x="520446" y="342900"/>
            <a:chExt cx="74998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磁介质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998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磁介质按附加磁场 B′ 与外场 B₀ 的关系分成三类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760595" cy="1651635"/>
            <a:chOff x="533400" y="1524000"/>
            <a:chExt cx="4760595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磁介质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：在磁场中能够对磁场产生影响的物质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磁化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：原来不显磁性的物体在外磁场中获得磁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性的过程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126"/>
              <p:cNvSpPr txBox="1">
                <a:spLocks noGrp="1"/>
              </p:cNvSpPr>
              <p:nvPr/>
            </p:nvSpPr>
            <p:spPr>
              <a:xfrm>
                <a:off x="533400" y="3366135"/>
                <a:ext cx="476059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acc>
                            <m:accPr>
                              <m:chr m:val="⃗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acc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acc>
                            <m:accPr>
                              <m:chr m:val="⃗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acc>
                        </m:e>
                        <m: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22" name="c1-kv-3"/>
          <p:cNvGrpSpPr/>
          <p:nvPr/>
        </p:nvGrpSpPr>
        <p:grpSpPr>
          <a:xfrm>
            <a:off x="525780" y="4038600"/>
            <a:ext cx="4768215" cy="733425"/>
            <a:chOff x="525780" y="4038600"/>
            <a:chExt cx="4768215" cy="733425"/>
          </a:xfrm>
        </p:grpSpPr>
        <p:sp>
          <p:nvSpPr>
            <p:cNvPr id="17" name="TextBox 17"/>
            <p:cNvSpPr txBox="1"/>
            <p:nvPr/>
          </p:nvSpPr>
          <p:spPr>
            <a:xfrm>
              <a:off x="525780" y="403860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2982" y="40386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外加磁场，由传导电流产生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35864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5780" y="447865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2982" y="44786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介质磁化后产生的附加磁场</a:t>
              </a:r>
            </a:p>
          </p:txBody>
        </p:sp>
      </p:grpSp>
      <p:grpSp>
        <p:nvGrpSpPr>
          <p:cNvPr id="29" name="c1-callout-4"/>
          <p:cNvGrpSpPr/>
          <p:nvPr/>
        </p:nvGrpSpPr>
        <p:grpSpPr>
          <a:xfrm>
            <a:off x="533400" y="4903470"/>
            <a:ext cx="4760595" cy="1293495"/>
            <a:chOff x="533400" y="4903470"/>
            <a:chExt cx="4760595" cy="1293495"/>
          </a:xfrm>
        </p:grpSpPr>
        <p:sp>
          <p:nvSpPr>
            <p:cNvPr id="23" name="Rectangle 23"/>
            <p:cNvSpPr/>
            <p:nvPr/>
          </p:nvSpPr>
          <p:spPr>
            <a:xfrm>
              <a:off x="533400" y="4903470"/>
              <a:ext cx="4760595" cy="1293495"/>
            </a:xfrm>
            <a:prstGeom prst="roundRect">
              <a:avLst>
                <a:gd name="adj" fmla="val 883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450205"/>
              <a:ext cx="200026" cy="200025"/>
              <a:chOff x="738188" y="5450205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4502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54946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56057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5169218"/>
              <a:ext cx="3825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类比电介质：极化电荷的附加电场总是削弱外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场，磁介质的附加磁场却可能增强外场，也可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能削弱外场。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5598795" y="1524000"/>
            <a:ext cx="6059805" cy="2248852"/>
            <a:chOff x="5598795" y="1524000"/>
            <a:chExt cx="6059805" cy="2248852"/>
          </a:xfrm>
        </p:grpSpPr>
        <p:sp>
          <p:nvSpPr>
            <p:cNvPr id="30" name="Rectangle 30"/>
            <p:cNvSpPr/>
            <p:nvPr/>
          </p:nvSpPr>
          <p:spPr>
            <a:xfrm>
              <a:off x="5598795" y="1524000"/>
              <a:ext cx="6059805" cy="675322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65787" y="17730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38772" y="1773079"/>
              <a:ext cx="7205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B′ 与 B₀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61603" y="1659731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相对磁导率</a:t>
              </a:r>
              <a:br/>
              <a:r>
                <a:rPr lang="el-GR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μᵣ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398811" y="17730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常见例子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06618" y="233505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顺磁质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97230" y="2335054"/>
              <a:ext cx="13017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同方向，B′ 很小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15553" y="233505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略大于 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49053" y="233505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铝、铂、氧气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598795" y="264795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06618" y="27836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抗磁质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97230" y="2783681"/>
              <a:ext cx="13017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反方向，B′ 很小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15553" y="278368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略小于 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49053" y="278368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铜、铋、水、氢气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98795" y="3092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706618" y="334565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铁磁质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97230" y="3345656"/>
              <a:ext cx="1312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同方向，B′ ≫ B₀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517255" y="3107055"/>
              <a:ext cx="1314450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615553" y="3232309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很大且不是常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949053" y="334565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铁、钴、镍及其合金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98795" y="1524000"/>
              <a:ext cx="6059805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84645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502968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836468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5598795" y="3963352"/>
            <a:ext cx="6059805" cy="2233612"/>
            <a:chOff x="5598795" y="3963352"/>
            <a:chExt cx="6059805" cy="2233612"/>
          </a:xfrm>
        </p:grpSpPr>
        <p:sp>
          <p:nvSpPr>
            <p:cNvPr id="56" name="Rectangle 56"/>
            <p:cNvSpPr/>
            <p:nvPr/>
          </p:nvSpPr>
          <p:spPr>
            <a:xfrm>
              <a:off x="5598795" y="3963352"/>
              <a:ext cx="6059805" cy="2233612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608320" y="4096702"/>
              <a:ext cx="47625" cy="19669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846445" y="417290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937606" y="42086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量级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5852160" y="461295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10275" y="4550092"/>
              <a:ext cx="5101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顺磁质和抗磁质的 |μᵣ − 1| 通常只有 10⁻⁶～10⁻⁴，工程上常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近似取 μᵣ = 1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852160" y="523398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10275" y="5171122"/>
              <a:ext cx="5082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铁磁质的 μᵣ 可达 10²～10⁴ 甚至更高，放进线圈能把磁场放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大成百上千倍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839968" y="5787866"/>
              <a:ext cx="41556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μᵣ 的定义见后面 M 与 H 一页，这里先记住大小关系。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磁介质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顺磁质与抗磁质的区别在于分子有没有固有磁矩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544378" cy="1768792"/>
            <a:chOff x="533400" y="1524000"/>
            <a:chExt cx="4544378" cy="1768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分子磁矩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每个电子同时参与两种运动：绕核的轨道运动给出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轨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道磁矩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，自身的旋转给出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自旋磁矩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632710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分子中全部电子的轨道磁矩与自旋磁矩的矢量和叫分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子磁矩，可以用一个等效圆电流（分子电流）表示。</a:t>
              </a:r>
            </a:p>
          </p:txBody>
        </p:sp>
      </p:grpSp>
      <p:grpSp>
        <p:nvGrpSpPr>
          <p:cNvPr id="40" name="g_molecule"/>
          <p:cNvGrpSpPr/>
          <p:nvPr/>
        </p:nvGrpSpPr>
        <p:grpSpPr>
          <a:xfrm>
            <a:off x="1080135" y="3657600"/>
            <a:ext cx="2869882" cy="1421130"/>
            <a:chOff x="1080135" y="3657600"/>
            <a:chExt cx="2869882" cy="1421130"/>
          </a:xfrm>
        </p:grpSpPr>
        <p:sp>
          <p:nvSpPr>
            <p:cNvPr id="14" name="Freeform 14"/>
            <p:cNvSpPr/>
            <p:nvPr/>
          </p:nvSpPr>
          <p:spPr>
            <a:xfrm>
              <a:off x="1933575" y="3744278"/>
              <a:ext cx="555308" cy="1247775"/>
            </a:xfrm>
            <a:custGeom>
              <a:avLst/>
              <a:gdLst/>
              <a:ahLst/>
              <a:cxnLst/>
              <a:rect l="l" t="t" r="r" b="b"/>
              <a:pathLst>
                <a:path w="555308" h="1247775">
                  <a:moveTo>
                    <a:pt x="555308" y="609600"/>
                  </a:moveTo>
                  <a:lnTo>
                    <a:pt x="554355" y="562927"/>
                  </a:lnTo>
                  <a:lnTo>
                    <a:pt x="549592" y="501967"/>
                  </a:lnTo>
                  <a:lnTo>
                    <a:pt x="542925" y="442912"/>
                  </a:lnTo>
                  <a:lnTo>
                    <a:pt x="534353" y="384810"/>
                  </a:lnTo>
                  <a:lnTo>
                    <a:pt x="522922" y="329565"/>
                  </a:lnTo>
                  <a:lnTo>
                    <a:pt x="508635" y="277177"/>
                  </a:lnTo>
                  <a:lnTo>
                    <a:pt x="492442" y="228600"/>
                  </a:lnTo>
                  <a:lnTo>
                    <a:pt x="474345" y="182880"/>
                  </a:lnTo>
                  <a:lnTo>
                    <a:pt x="454342" y="141922"/>
                  </a:lnTo>
                  <a:lnTo>
                    <a:pt x="431483" y="104775"/>
                  </a:lnTo>
                  <a:lnTo>
                    <a:pt x="408623" y="73342"/>
                  </a:lnTo>
                  <a:lnTo>
                    <a:pt x="383858" y="47625"/>
                  </a:lnTo>
                  <a:lnTo>
                    <a:pt x="358140" y="26670"/>
                  </a:lnTo>
                  <a:lnTo>
                    <a:pt x="331470" y="12382"/>
                  </a:lnTo>
                  <a:lnTo>
                    <a:pt x="304800" y="2857"/>
                  </a:lnTo>
                  <a:lnTo>
                    <a:pt x="278130" y="0"/>
                  </a:lnTo>
                  <a:lnTo>
                    <a:pt x="250508" y="2857"/>
                  </a:lnTo>
                  <a:lnTo>
                    <a:pt x="223838" y="12382"/>
                  </a:lnTo>
                  <a:lnTo>
                    <a:pt x="197167" y="26670"/>
                  </a:lnTo>
                  <a:lnTo>
                    <a:pt x="171450" y="47625"/>
                  </a:lnTo>
                  <a:lnTo>
                    <a:pt x="147638" y="73342"/>
                  </a:lnTo>
                  <a:lnTo>
                    <a:pt x="123825" y="104775"/>
                  </a:lnTo>
                  <a:lnTo>
                    <a:pt x="101917" y="141922"/>
                  </a:lnTo>
                  <a:lnTo>
                    <a:pt x="81915" y="182880"/>
                  </a:lnTo>
                  <a:lnTo>
                    <a:pt x="63817" y="228600"/>
                  </a:lnTo>
                  <a:lnTo>
                    <a:pt x="47625" y="277177"/>
                  </a:lnTo>
                  <a:lnTo>
                    <a:pt x="33338" y="329565"/>
                  </a:lnTo>
                  <a:lnTo>
                    <a:pt x="20955" y="384810"/>
                  </a:lnTo>
                  <a:lnTo>
                    <a:pt x="12383" y="442912"/>
                  </a:lnTo>
                  <a:lnTo>
                    <a:pt x="5715" y="501967"/>
                  </a:lnTo>
                  <a:lnTo>
                    <a:pt x="1905" y="562927"/>
                  </a:lnTo>
                  <a:lnTo>
                    <a:pt x="0" y="623888"/>
                  </a:lnTo>
                  <a:lnTo>
                    <a:pt x="1905" y="684847"/>
                  </a:lnTo>
                  <a:lnTo>
                    <a:pt x="5715" y="745807"/>
                  </a:lnTo>
                  <a:lnTo>
                    <a:pt x="12383" y="804862"/>
                  </a:lnTo>
                  <a:lnTo>
                    <a:pt x="20955" y="862965"/>
                  </a:lnTo>
                  <a:lnTo>
                    <a:pt x="33338" y="918210"/>
                  </a:lnTo>
                  <a:lnTo>
                    <a:pt x="47625" y="970597"/>
                  </a:lnTo>
                  <a:lnTo>
                    <a:pt x="63817" y="1020127"/>
                  </a:lnTo>
                  <a:lnTo>
                    <a:pt x="81915" y="1064895"/>
                  </a:lnTo>
                  <a:lnTo>
                    <a:pt x="101917" y="1106805"/>
                  </a:lnTo>
                  <a:lnTo>
                    <a:pt x="123825" y="1143000"/>
                  </a:lnTo>
                  <a:lnTo>
                    <a:pt x="147638" y="1174432"/>
                  </a:lnTo>
                  <a:lnTo>
                    <a:pt x="171450" y="1200150"/>
                  </a:lnTo>
                  <a:lnTo>
                    <a:pt x="197167" y="1221105"/>
                  </a:lnTo>
                  <a:lnTo>
                    <a:pt x="223838" y="1236345"/>
                  </a:lnTo>
                  <a:lnTo>
                    <a:pt x="250508" y="1244917"/>
                  </a:lnTo>
                  <a:lnTo>
                    <a:pt x="278130" y="1247775"/>
                  </a:lnTo>
                  <a:lnTo>
                    <a:pt x="304800" y="1244917"/>
                  </a:lnTo>
                  <a:lnTo>
                    <a:pt x="331470" y="1236345"/>
                  </a:lnTo>
                  <a:lnTo>
                    <a:pt x="358140" y="1221105"/>
                  </a:lnTo>
                  <a:lnTo>
                    <a:pt x="383858" y="1200150"/>
                  </a:lnTo>
                  <a:lnTo>
                    <a:pt x="408623" y="1174432"/>
                  </a:lnTo>
                  <a:lnTo>
                    <a:pt x="431483" y="1143000"/>
                  </a:lnTo>
                  <a:lnTo>
                    <a:pt x="454342" y="1106805"/>
                  </a:lnTo>
                  <a:lnTo>
                    <a:pt x="474345" y="1064895"/>
                  </a:lnTo>
                  <a:lnTo>
                    <a:pt x="492442" y="1020127"/>
                  </a:lnTo>
                  <a:lnTo>
                    <a:pt x="508635" y="970597"/>
                  </a:lnTo>
                  <a:lnTo>
                    <a:pt x="522922" y="918210"/>
                  </a:lnTo>
                  <a:lnTo>
                    <a:pt x="534353" y="862965"/>
                  </a:lnTo>
                  <a:lnTo>
                    <a:pt x="542925" y="804862"/>
                  </a:lnTo>
                  <a:lnTo>
                    <a:pt x="549592" y="745807"/>
                  </a:lnTo>
                  <a:lnTo>
                    <a:pt x="554355" y="684847"/>
                  </a:lnTo>
                  <a:lnTo>
                    <a:pt x="555308" y="638175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125028" y="3657600"/>
              <a:ext cx="171450" cy="173355"/>
            </a:xfrm>
            <a:custGeom>
              <a:avLst/>
              <a:gdLst/>
              <a:ahLst/>
              <a:cxnLst/>
              <a:rect l="l" t="t" r="r" b="b"/>
              <a:pathLst>
                <a:path w="171450" h="173355">
                  <a:moveTo>
                    <a:pt x="171450" y="72390"/>
                  </a:moveTo>
                  <a:lnTo>
                    <a:pt x="170498" y="67628"/>
                  </a:lnTo>
                  <a:lnTo>
                    <a:pt x="164783" y="48578"/>
                  </a:lnTo>
                  <a:lnTo>
                    <a:pt x="154305" y="32385"/>
                  </a:lnTo>
                  <a:lnTo>
                    <a:pt x="140018" y="19050"/>
                  </a:lnTo>
                  <a:lnTo>
                    <a:pt x="123825" y="8572"/>
                  </a:lnTo>
                  <a:lnTo>
                    <a:pt x="105727" y="1905"/>
                  </a:lnTo>
                  <a:lnTo>
                    <a:pt x="86677" y="0"/>
                  </a:lnTo>
                  <a:lnTo>
                    <a:pt x="66675" y="1905"/>
                  </a:lnTo>
                  <a:lnTo>
                    <a:pt x="48577" y="8572"/>
                  </a:lnTo>
                  <a:lnTo>
                    <a:pt x="32385" y="19050"/>
                  </a:lnTo>
                  <a:lnTo>
                    <a:pt x="18098" y="32385"/>
                  </a:lnTo>
                  <a:lnTo>
                    <a:pt x="7620" y="48578"/>
                  </a:lnTo>
                  <a:lnTo>
                    <a:pt x="1905" y="67628"/>
                  </a:lnTo>
                  <a:lnTo>
                    <a:pt x="0" y="86678"/>
                  </a:lnTo>
                  <a:lnTo>
                    <a:pt x="1905" y="105728"/>
                  </a:lnTo>
                  <a:lnTo>
                    <a:pt x="7620" y="123825"/>
                  </a:lnTo>
                  <a:lnTo>
                    <a:pt x="18098" y="140970"/>
                  </a:lnTo>
                  <a:lnTo>
                    <a:pt x="32385" y="154305"/>
                  </a:lnTo>
                  <a:lnTo>
                    <a:pt x="48577" y="164783"/>
                  </a:lnTo>
                  <a:lnTo>
                    <a:pt x="66675" y="171450"/>
                  </a:lnTo>
                  <a:lnTo>
                    <a:pt x="86677" y="173355"/>
                  </a:lnTo>
                  <a:lnTo>
                    <a:pt x="105727" y="171450"/>
                  </a:lnTo>
                  <a:lnTo>
                    <a:pt x="123825" y="164783"/>
                  </a:lnTo>
                  <a:lnTo>
                    <a:pt x="140018" y="154305"/>
                  </a:lnTo>
                  <a:lnTo>
                    <a:pt x="154305" y="140970"/>
                  </a:lnTo>
                  <a:lnTo>
                    <a:pt x="164783" y="123825"/>
                  </a:lnTo>
                  <a:lnTo>
                    <a:pt x="170498" y="105728"/>
                  </a:lnTo>
                  <a:lnTo>
                    <a:pt x="171450" y="10096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125028" y="4905375"/>
              <a:ext cx="171450" cy="173355"/>
            </a:xfrm>
            <a:custGeom>
              <a:avLst/>
              <a:gdLst/>
              <a:ahLst/>
              <a:cxnLst/>
              <a:rect l="l" t="t" r="r" b="b"/>
              <a:pathLst>
                <a:path w="171450" h="173355">
                  <a:moveTo>
                    <a:pt x="171450" y="72390"/>
                  </a:moveTo>
                  <a:lnTo>
                    <a:pt x="170498" y="67628"/>
                  </a:lnTo>
                  <a:lnTo>
                    <a:pt x="164783" y="49530"/>
                  </a:lnTo>
                  <a:lnTo>
                    <a:pt x="154305" y="32385"/>
                  </a:lnTo>
                  <a:lnTo>
                    <a:pt x="140018" y="19050"/>
                  </a:lnTo>
                  <a:lnTo>
                    <a:pt x="123825" y="8572"/>
                  </a:lnTo>
                  <a:lnTo>
                    <a:pt x="105727" y="1905"/>
                  </a:lnTo>
                  <a:lnTo>
                    <a:pt x="86677" y="0"/>
                  </a:lnTo>
                  <a:lnTo>
                    <a:pt x="66675" y="1905"/>
                  </a:lnTo>
                  <a:lnTo>
                    <a:pt x="48577" y="8572"/>
                  </a:lnTo>
                  <a:lnTo>
                    <a:pt x="32385" y="19050"/>
                  </a:lnTo>
                  <a:lnTo>
                    <a:pt x="18098" y="32385"/>
                  </a:lnTo>
                  <a:lnTo>
                    <a:pt x="7620" y="49530"/>
                  </a:lnTo>
                  <a:lnTo>
                    <a:pt x="1905" y="67628"/>
                  </a:lnTo>
                  <a:lnTo>
                    <a:pt x="0" y="86678"/>
                  </a:lnTo>
                  <a:lnTo>
                    <a:pt x="1905" y="106680"/>
                  </a:lnTo>
                  <a:lnTo>
                    <a:pt x="7620" y="124778"/>
                  </a:lnTo>
                  <a:lnTo>
                    <a:pt x="18098" y="140970"/>
                  </a:lnTo>
                  <a:lnTo>
                    <a:pt x="32385" y="154305"/>
                  </a:lnTo>
                  <a:lnTo>
                    <a:pt x="48577" y="164782"/>
                  </a:lnTo>
                  <a:lnTo>
                    <a:pt x="66675" y="171450"/>
                  </a:lnTo>
                  <a:lnTo>
                    <a:pt x="86677" y="173355"/>
                  </a:lnTo>
                  <a:lnTo>
                    <a:pt x="105727" y="171450"/>
                  </a:lnTo>
                  <a:lnTo>
                    <a:pt x="123825" y="164782"/>
                  </a:lnTo>
                  <a:lnTo>
                    <a:pt x="140018" y="154305"/>
                  </a:lnTo>
                  <a:lnTo>
                    <a:pt x="154305" y="140970"/>
                  </a:lnTo>
                  <a:lnTo>
                    <a:pt x="164783" y="124778"/>
                  </a:lnTo>
                  <a:lnTo>
                    <a:pt x="170498" y="106680"/>
                  </a:lnTo>
                  <a:lnTo>
                    <a:pt x="171450" y="10096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163128" y="4943475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163128" y="4943475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97155"/>
                  </a:moveTo>
                  <a:lnTo>
                    <a:pt x="9715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099185" y="4368165"/>
              <a:ext cx="1098232" cy="9525"/>
            </a:xfrm>
            <a:custGeom>
              <a:avLst/>
              <a:gdLst/>
              <a:ahLst/>
              <a:cxnLst/>
              <a:rect l="l" t="t" r="r" b="b"/>
              <a:pathLst>
                <a:path w="1098232" h="9525">
                  <a:moveTo>
                    <a:pt x="0" y="0"/>
                  </a:moveTo>
                  <a:lnTo>
                    <a:pt x="109823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2225992" y="4368165"/>
              <a:ext cx="1609725" cy="9525"/>
            </a:xfrm>
            <a:custGeom>
              <a:avLst/>
              <a:gdLst/>
              <a:ahLst/>
              <a:cxnLst/>
              <a:rect l="l" t="t" r="r" b="b"/>
              <a:pathLst>
                <a:path w="1609725" h="9525">
                  <a:moveTo>
                    <a:pt x="0" y="0"/>
                  </a:moveTo>
                  <a:lnTo>
                    <a:pt x="1609725" y="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835718" y="43205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2484120" y="43634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484120" y="43634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293620" y="37395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293620" y="37395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181225" y="371379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293620" y="498729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293620" y="498729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147888" y="49282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2265998" y="50463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147888" y="50463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265998" y="49282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80135" y="43634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206942" y="43634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206942" y="43634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940492" y="43634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941910" y="3746659"/>
              <a:ext cx="53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84936" y="41405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pₘ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30855" y="4870132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等效圆电流</a:t>
              </a:r>
            </a:p>
          </p:txBody>
        </p:sp>
      </p:grpSp>
      <p:grpSp>
        <p:nvGrpSpPr>
          <p:cNvPr id="61" name="c2-compare-1"/>
          <p:cNvGrpSpPr/>
          <p:nvPr/>
        </p:nvGrpSpPr>
        <p:grpSpPr>
          <a:xfrm>
            <a:off x="5382578" y="1524000"/>
            <a:ext cx="6276022" cy="2057400"/>
            <a:chOff x="5382578" y="1524000"/>
            <a:chExt cx="6276022" cy="2057400"/>
          </a:xfrm>
        </p:grpSpPr>
        <p:sp>
          <p:nvSpPr>
            <p:cNvPr id="41" name="Rectangle 41"/>
            <p:cNvSpPr/>
            <p:nvPr/>
          </p:nvSpPr>
          <p:spPr>
            <a:xfrm>
              <a:off x="5382578" y="1524000"/>
              <a:ext cx="2927985" cy="205740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92102" y="1657350"/>
              <a:ext cx="47625" cy="17907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06224" y="173831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顺磁质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621655" y="211455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77674" y="205835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分子的固有磁矩不为零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621655" y="241744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777674" y="2361248"/>
              <a:ext cx="22425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无外场：热运动使磁矩取向杂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乱，对外不显磁性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621655" y="297656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777674" y="2920365"/>
              <a:ext cx="22425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有外场：磁矩受力矩作用转向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外场方向，介质内磁场增强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730615" y="1524000"/>
              <a:ext cx="2927985" cy="205740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740140" y="1657350"/>
              <a:ext cx="47625" cy="17907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954262" y="173831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抗磁质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8969692" y="211455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125712" y="205835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分子的固有磁矩为零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969692" y="241744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25712" y="236124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无外场：对外不显磁性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8969692" y="271938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125712" y="2663190"/>
              <a:ext cx="22425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有外场：电子的轨道运动产生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与外场反向的附加磁矩，介质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内磁场减弱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8359140" y="239077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435611" y="249221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5382578" y="3756660"/>
            <a:ext cx="6276022" cy="1511618"/>
            <a:chOff x="5382578" y="3756660"/>
            <a:chExt cx="6276022" cy="1511618"/>
          </a:xfrm>
        </p:grpSpPr>
        <p:sp>
          <p:nvSpPr>
            <p:cNvPr id="62" name="Rectangle 62"/>
            <p:cNvSpPr/>
            <p:nvPr/>
          </p:nvSpPr>
          <p:spPr>
            <a:xfrm>
              <a:off x="5382578" y="3756660"/>
              <a:ext cx="6276022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392102" y="3890010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613082" y="394906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684520" y="398335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抗磁性处处都有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5621655" y="436149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777674" y="4305300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附加磁矩在任何分子里都会出现，抗磁性是一切物质共有的；顺磁质里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固有磁矩转向的效果大得多，把它掩盖了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5621655" y="492156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777674" y="4865370"/>
              <a:ext cx="4520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超导体是理想的抗磁体，μᵣ = 0，能把磁场完全排出体外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1" name="Rectangle 7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892" y="6023610"/>
              <a:ext cx="8373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温度越高，热运动越剧烈，顺磁质的分子磁矩越难排齐，磁化越弱；抗磁质的附加磁矩几乎与温度无关。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磁介质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磁化的宏观表现：介质表面出现磁化电流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3" name="g_magcurrent"/>
          <p:cNvGrpSpPr/>
          <p:nvPr/>
        </p:nvGrpSpPr>
        <p:grpSpPr>
          <a:xfrm>
            <a:off x="1018222" y="1832610"/>
            <a:ext cx="3467100" cy="3226117"/>
            <a:chOff x="1018222" y="1832610"/>
            <a:chExt cx="3467100" cy="3226117"/>
          </a:xfrm>
        </p:grpSpPr>
        <p:sp>
          <p:nvSpPr>
            <p:cNvPr id="7" name="Freeform 7"/>
            <p:cNvSpPr/>
            <p:nvPr/>
          </p:nvSpPr>
          <p:spPr>
            <a:xfrm>
              <a:off x="1876425" y="1980248"/>
              <a:ext cx="2495550" cy="2495550"/>
            </a:xfrm>
            <a:custGeom>
              <a:avLst/>
              <a:gdLst/>
              <a:ahLst/>
              <a:cxnLst/>
              <a:rect l="l" t="t" r="r" b="b"/>
              <a:pathLst>
                <a:path w="2495550" h="2495550">
                  <a:moveTo>
                    <a:pt x="2495550" y="1233487"/>
                  </a:moveTo>
                  <a:lnTo>
                    <a:pt x="2494598" y="1176337"/>
                  </a:lnTo>
                  <a:lnTo>
                    <a:pt x="2488882" y="1105852"/>
                  </a:lnTo>
                  <a:lnTo>
                    <a:pt x="2478405" y="1034415"/>
                  </a:lnTo>
                  <a:lnTo>
                    <a:pt x="2464118" y="964882"/>
                  </a:lnTo>
                  <a:lnTo>
                    <a:pt x="2446020" y="896302"/>
                  </a:lnTo>
                  <a:lnTo>
                    <a:pt x="2424112" y="828675"/>
                  </a:lnTo>
                  <a:lnTo>
                    <a:pt x="2398395" y="762000"/>
                  </a:lnTo>
                  <a:lnTo>
                    <a:pt x="2368868" y="697230"/>
                  </a:lnTo>
                  <a:lnTo>
                    <a:pt x="2335530" y="634365"/>
                  </a:lnTo>
                  <a:lnTo>
                    <a:pt x="2298382" y="573405"/>
                  </a:lnTo>
                  <a:lnTo>
                    <a:pt x="2257425" y="514350"/>
                  </a:lnTo>
                  <a:lnTo>
                    <a:pt x="2214562" y="458152"/>
                  </a:lnTo>
                  <a:lnTo>
                    <a:pt x="2167890" y="403860"/>
                  </a:lnTo>
                  <a:lnTo>
                    <a:pt x="2118360" y="352425"/>
                  </a:lnTo>
                  <a:lnTo>
                    <a:pt x="2065972" y="304800"/>
                  </a:lnTo>
                  <a:lnTo>
                    <a:pt x="2010728" y="259080"/>
                  </a:lnTo>
                  <a:lnTo>
                    <a:pt x="1952625" y="217170"/>
                  </a:lnTo>
                  <a:lnTo>
                    <a:pt x="1892618" y="179070"/>
                  </a:lnTo>
                  <a:lnTo>
                    <a:pt x="1830705" y="143827"/>
                  </a:lnTo>
                  <a:lnTo>
                    <a:pt x="1766888" y="112395"/>
                  </a:lnTo>
                  <a:lnTo>
                    <a:pt x="1701165" y="84773"/>
                  </a:lnTo>
                  <a:lnTo>
                    <a:pt x="1634490" y="60960"/>
                  </a:lnTo>
                  <a:lnTo>
                    <a:pt x="1565910" y="40957"/>
                  </a:lnTo>
                  <a:lnTo>
                    <a:pt x="1496378" y="24765"/>
                  </a:lnTo>
                  <a:lnTo>
                    <a:pt x="1425892" y="12382"/>
                  </a:lnTo>
                  <a:lnTo>
                    <a:pt x="1355408" y="3810"/>
                  </a:lnTo>
                  <a:lnTo>
                    <a:pt x="1283970" y="0"/>
                  </a:lnTo>
                  <a:lnTo>
                    <a:pt x="1212532" y="0"/>
                  </a:lnTo>
                  <a:lnTo>
                    <a:pt x="1142047" y="3810"/>
                  </a:lnTo>
                  <a:lnTo>
                    <a:pt x="1070610" y="12382"/>
                  </a:lnTo>
                  <a:lnTo>
                    <a:pt x="1000125" y="24765"/>
                  </a:lnTo>
                  <a:lnTo>
                    <a:pt x="930592" y="40957"/>
                  </a:lnTo>
                  <a:lnTo>
                    <a:pt x="862965" y="60960"/>
                  </a:lnTo>
                  <a:lnTo>
                    <a:pt x="795338" y="84773"/>
                  </a:lnTo>
                  <a:lnTo>
                    <a:pt x="729615" y="112395"/>
                  </a:lnTo>
                  <a:lnTo>
                    <a:pt x="665797" y="143827"/>
                  </a:lnTo>
                  <a:lnTo>
                    <a:pt x="603885" y="179070"/>
                  </a:lnTo>
                  <a:lnTo>
                    <a:pt x="543878" y="217170"/>
                  </a:lnTo>
                  <a:lnTo>
                    <a:pt x="485775" y="259080"/>
                  </a:lnTo>
                  <a:lnTo>
                    <a:pt x="431483" y="304800"/>
                  </a:lnTo>
                  <a:lnTo>
                    <a:pt x="379095" y="352425"/>
                  </a:lnTo>
                  <a:lnTo>
                    <a:pt x="328612" y="403860"/>
                  </a:lnTo>
                  <a:lnTo>
                    <a:pt x="281940" y="458152"/>
                  </a:lnTo>
                  <a:lnTo>
                    <a:pt x="238125" y="514350"/>
                  </a:lnTo>
                  <a:lnTo>
                    <a:pt x="198120" y="573405"/>
                  </a:lnTo>
                  <a:lnTo>
                    <a:pt x="161925" y="634365"/>
                  </a:lnTo>
                  <a:lnTo>
                    <a:pt x="128588" y="697230"/>
                  </a:lnTo>
                  <a:lnTo>
                    <a:pt x="99060" y="762000"/>
                  </a:lnTo>
                  <a:lnTo>
                    <a:pt x="72390" y="828675"/>
                  </a:lnTo>
                  <a:lnTo>
                    <a:pt x="51435" y="896302"/>
                  </a:lnTo>
                  <a:lnTo>
                    <a:pt x="32385" y="964882"/>
                  </a:lnTo>
                  <a:lnTo>
                    <a:pt x="18098" y="1034415"/>
                  </a:lnTo>
                  <a:lnTo>
                    <a:pt x="8573" y="1105852"/>
                  </a:lnTo>
                  <a:lnTo>
                    <a:pt x="1905" y="1176337"/>
                  </a:lnTo>
                  <a:lnTo>
                    <a:pt x="0" y="1247775"/>
                  </a:lnTo>
                  <a:lnTo>
                    <a:pt x="1905" y="1319212"/>
                  </a:lnTo>
                  <a:lnTo>
                    <a:pt x="8573" y="1389698"/>
                  </a:lnTo>
                  <a:lnTo>
                    <a:pt x="18098" y="1461135"/>
                  </a:lnTo>
                  <a:lnTo>
                    <a:pt x="32385" y="1530668"/>
                  </a:lnTo>
                  <a:lnTo>
                    <a:pt x="51435" y="1599248"/>
                  </a:lnTo>
                  <a:lnTo>
                    <a:pt x="72390" y="1666875"/>
                  </a:lnTo>
                  <a:lnTo>
                    <a:pt x="99060" y="1733550"/>
                  </a:lnTo>
                  <a:lnTo>
                    <a:pt x="128588" y="1798320"/>
                  </a:lnTo>
                  <a:lnTo>
                    <a:pt x="161925" y="1861185"/>
                  </a:lnTo>
                  <a:lnTo>
                    <a:pt x="198120" y="1922145"/>
                  </a:lnTo>
                  <a:lnTo>
                    <a:pt x="238125" y="1981200"/>
                  </a:lnTo>
                  <a:lnTo>
                    <a:pt x="281940" y="2038350"/>
                  </a:lnTo>
                  <a:lnTo>
                    <a:pt x="328612" y="2091690"/>
                  </a:lnTo>
                  <a:lnTo>
                    <a:pt x="379095" y="2143125"/>
                  </a:lnTo>
                  <a:lnTo>
                    <a:pt x="431483" y="2190750"/>
                  </a:lnTo>
                  <a:lnTo>
                    <a:pt x="485775" y="2236470"/>
                  </a:lnTo>
                  <a:lnTo>
                    <a:pt x="543878" y="2278380"/>
                  </a:lnTo>
                  <a:lnTo>
                    <a:pt x="603885" y="2316480"/>
                  </a:lnTo>
                  <a:lnTo>
                    <a:pt x="665797" y="2351722"/>
                  </a:lnTo>
                  <a:lnTo>
                    <a:pt x="729615" y="2383155"/>
                  </a:lnTo>
                  <a:lnTo>
                    <a:pt x="795338" y="2410778"/>
                  </a:lnTo>
                  <a:lnTo>
                    <a:pt x="862965" y="2434590"/>
                  </a:lnTo>
                  <a:lnTo>
                    <a:pt x="930592" y="2455545"/>
                  </a:lnTo>
                  <a:lnTo>
                    <a:pt x="1000125" y="2470785"/>
                  </a:lnTo>
                  <a:lnTo>
                    <a:pt x="1070610" y="2483168"/>
                  </a:lnTo>
                  <a:lnTo>
                    <a:pt x="1142047" y="2491740"/>
                  </a:lnTo>
                  <a:lnTo>
                    <a:pt x="1212532" y="2495550"/>
                  </a:lnTo>
                  <a:lnTo>
                    <a:pt x="1283970" y="2495550"/>
                  </a:lnTo>
                  <a:lnTo>
                    <a:pt x="1355408" y="2491740"/>
                  </a:lnTo>
                  <a:lnTo>
                    <a:pt x="1425892" y="2483168"/>
                  </a:lnTo>
                  <a:lnTo>
                    <a:pt x="1496378" y="2470785"/>
                  </a:lnTo>
                  <a:lnTo>
                    <a:pt x="1565910" y="2455545"/>
                  </a:lnTo>
                  <a:lnTo>
                    <a:pt x="1634490" y="2434590"/>
                  </a:lnTo>
                  <a:lnTo>
                    <a:pt x="1701165" y="2410778"/>
                  </a:lnTo>
                  <a:lnTo>
                    <a:pt x="1766888" y="2383155"/>
                  </a:lnTo>
                  <a:lnTo>
                    <a:pt x="1830705" y="2351722"/>
                  </a:lnTo>
                  <a:lnTo>
                    <a:pt x="1892618" y="2316480"/>
                  </a:lnTo>
                  <a:lnTo>
                    <a:pt x="1952625" y="2278380"/>
                  </a:lnTo>
                  <a:lnTo>
                    <a:pt x="2010728" y="2236470"/>
                  </a:lnTo>
                  <a:lnTo>
                    <a:pt x="2065972" y="2190750"/>
                  </a:lnTo>
                  <a:lnTo>
                    <a:pt x="2118360" y="2143125"/>
                  </a:lnTo>
                  <a:lnTo>
                    <a:pt x="2167890" y="2091690"/>
                  </a:lnTo>
                  <a:lnTo>
                    <a:pt x="2214562" y="2038350"/>
                  </a:lnTo>
                  <a:lnTo>
                    <a:pt x="2257425" y="1981200"/>
                  </a:lnTo>
                  <a:lnTo>
                    <a:pt x="2298382" y="1922145"/>
                  </a:lnTo>
                  <a:lnTo>
                    <a:pt x="2335530" y="1861185"/>
                  </a:lnTo>
                  <a:lnTo>
                    <a:pt x="2368868" y="1798320"/>
                  </a:lnTo>
                  <a:lnTo>
                    <a:pt x="2398395" y="1733550"/>
                  </a:lnTo>
                  <a:lnTo>
                    <a:pt x="2424112" y="1666875"/>
                  </a:lnTo>
                  <a:lnTo>
                    <a:pt x="2446020" y="1599248"/>
                  </a:lnTo>
                  <a:lnTo>
                    <a:pt x="2464118" y="1530668"/>
                  </a:lnTo>
                  <a:lnTo>
                    <a:pt x="2478405" y="1461135"/>
                  </a:lnTo>
                  <a:lnTo>
                    <a:pt x="2488882" y="1389698"/>
                  </a:lnTo>
                  <a:lnTo>
                    <a:pt x="2494598" y="1319212"/>
                  </a:lnTo>
                  <a:lnTo>
                    <a:pt x="2495550" y="12620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955482" y="3046095"/>
              <a:ext cx="361950" cy="375285"/>
            </a:xfrm>
            <a:custGeom>
              <a:avLst/>
              <a:gdLst/>
              <a:ahLst/>
              <a:cxnLst/>
              <a:rect l="l" t="t" r="r" b="b"/>
              <a:pathLst>
                <a:path w="361950" h="375285">
                  <a:moveTo>
                    <a:pt x="327660" y="286702"/>
                  </a:moveTo>
                  <a:lnTo>
                    <a:pt x="347662" y="254317"/>
                  </a:lnTo>
                  <a:lnTo>
                    <a:pt x="361950" y="203835"/>
                  </a:lnTo>
                  <a:lnTo>
                    <a:pt x="360997" y="152400"/>
                  </a:lnTo>
                  <a:lnTo>
                    <a:pt x="344805" y="101917"/>
                  </a:lnTo>
                  <a:lnTo>
                    <a:pt x="315277" y="59055"/>
                  </a:lnTo>
                  <a:lnTo>
                    <a:pt x="274320" y="25717"/>
                  </a:lnTo>
                  <a:lnTo>
                    <a:pt x="226695" y="5715"/>
                  </a:lnTo>
                  <a:lnTo>
                    <a:pt x="175260" y="0"/>
                  </a:lnTo>
                  <a:lnTo>
                    <a:pt x="123825" y="9525"/>
                  </a:lnTo>
                  <a:lnTo>
                    <a:pt x="77152" y="32385"/>
                  </a:lnTo>
                  <a:lnTo>
                    <a:pt x="39052" y="68580"/>
                  </a:lnTo>
                  <a:lnTo>
                    <a:pt x="12382" y="114300"/>
                  </a:lnTo>
                  <a:lnTo>
                    <a:pt x="0" y="164783"/>
                  </a:lnTo>
                  <a:lnTo>
                    <a:pt x="2857" y="216217"/>
                  </a:lnTo>
                  <a:lnTo>
                    <a:pt x="20002" y="265747"/>
                  </a:lnTo>
                  <a:lnTo>
                    <a:pt x="50482" y="308610"/>
                  </a:lnTo>
                  <a:lnTo>
                    <a:pt x="91440" y="340042"/>
                  </a:lnTo>
                  <a:lnTo>
                    <a:pt x="140017" y="359092"/>
                  </a:lnTo>
                  <a:lnTo>
                    <a:pt x="192405" y="363855"/>
                  </a:lnTo>
                  <a:lnTo>
                    <a:pt x="136207" y="37528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082165" y="3374708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7622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449830" y="2551748"/>
              <a:ext cx="361950" cy="375285"/>
            </a:xfrm>
            <a:custGeom>
              <a:avLst/>
              <a:gdLst/>
              <a:ahLst/>
              <a:cxnLst/>
              <a:rect l="l" t="t" r="r" b="b"/>
              <a:pathLst>
                <a:path w="361950" h="375285">
                  <a:moveTo>
                    <a:pt x="327660" y="286703"/>
                  </a:moveTo>
                  <a:lnTo>
                    <a:pt x="347662" y="254318"/>
                  </a:lnTo>
                  <a:lnTo>
                    <a:pt x="361950" y="204788"/>
                  </a:lnTo>
                  <a:lnTo>
                    <a:pt x="360998" y="152400"/>
                  </a:lnTo>
                  <a:lnTo>
                    <a:pt x="344805" y="101918"/>
                  </a:lnTo>
                  <a:lnTo>
                    <a:pt x="315278" y="59055"/>
                  </a:lnTo>
                  <a:lnTo>
                    <a:pt x="275273" y="25718"/>
                  </a:lnTo>
                  <a:lnTo>
                    <a:pt x="226695" y="5715"/>
                  </a:lnTo>
                  <a:lnTo>
                    <a:pt x="174308" y="0"/>
                  </a:lnTo>
                  <a:lnTo>
                    <a:pt x="122873" y="9525"/>
                  </a:lnTo>
                  <a:lnTo>
                    <a:pt x="76200" y="33338"/>
                  </a:lnTo>
                  <a:lnTo>
                    <a:pt x="38100" y="68580"/>
                  </a:lnTo>
                  <a:lnTo>
                    <a:pt x="12383" y="114300"/>
                  </a:lnTo>
                  <a:lnTo>
                    <a:pt x="0" y="164783"/>
                  </a:lnTo>
                  <a:lnTo>
                    <a:pt x="1905" y="217170"/>
                  </a:lnTo>
                  <a:lnTo>
                    <a:pt x="19050" y="266700"/>
                  </a:lnTo>
                  <a:lnTo>
                    <a:pt x="49530" y="308610"/>
                  </a:lnTo>
                  <a:lnTo>
                    <a:pt x="91440" y="340995"/>
                  </a:lnTo>
                  <a:lnTo>
                    <a:pt x="140017" y="359093"/>
                  </a:lnTo>
                  <a:lnTo>
                    <a:pt x="191453" y="363855"/>
                  </a:lnTo>
                  <a:lnTo>
                    <a:pt x="136208" y="37528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576512" y="2880360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7623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2449830" y="3046095"/>
              <a:ext cx="361950" cy="375285"/>
            </a:xfrm>
            <a:custGeom>
              <a:avLst/>
              <a:gdLst/>
              <a:ahLst/>
              <a:cxnLst/>
              <a:rect l="l" t="t" r="r" b="b"/>
              <a:pathLst>
                <a:path w="361950" h="375285">
                  <a:moveTo>
                    <a:pt x="327660" y="286702"/>
                  </a:moveTo>
                  <a:lnTo>
                    <a:pt x="347662" y="254317"/>
                  </a:lnTo>
                  <a:lnTo>
                    <a:pt x="361950" y="203835"/>
                  </a:lnTo>
                  <a:lnTo>
                    <a:pt x="360998" y="152400"/>
                  </a:lnTo>
                  <a:lnTo>
                    <a:pt x="344805" y="101917"/>
                  </a:lnTo>
                  <a:lnTo>
                    <a:pt x="315278" y="59055"/>
                  </a:lnTo>
                  <a:lnTo>
                    <a:pt x="275273" y="25717"/>
                  </a:lnTo>
                  <a:lnTo>
                    <a:pt x="226695" y="5715"/>
                  </a:lnTo>
                  <a:lnTo>
                    <a:pt x="174308" y="0"/>
                  </a:lnTo>
                  <a:lnTo>
                    <a:pt x="122873" y="9525"/>
                  </a:lnTo>
                  <a:lnTo>
                    <a:pt x="76200" y="32385"/>
                  </a:lnTo>
                  <a:lnTo>
                    <a:pt x="38100" y="68580"/>
                  </a:lnTo>
                  <a:lnTo>
                    <a:pt x="12383" y="114300"/>
                  </a:lnTo>
                  <a:lnTo>
                    <a:pt x="0" y="164783"/>
                  </a:lnTo>
                  <a:lnTo>
                    <a:pt x="1905" y="216217"/>
                  </a:lnTo>
                  <a:lnTo>
                    <a:pt x="19050" y="265747"/>
                  </a:lnTo>
                  <a:lnTo>
                    <a:pt x="49530" y="308610"/>
                  </a:lnTo>
                  <a:lnTo>
                    <a:pt x="91440" y="340042"/>
                  </a:lnTo>
                  <a:lnTo>
                    <a:pt x="140017" y="359092"/>
                  </a:lnTo>
                  <a:lnTo>
                    <a:pt x="191453" y="363855"/>
                  </a:lnTo>
                  <a:lnTo>
                    <a:pt x="136208" y="37528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576512" y="3374708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7622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2449830" y="3540442"/>
              <a:ext cx="361950" cy="375285"/>
            </a:xfrm>
            <a:custGeom>
              <a:avLst/>
              <a:gdLst/>
              <a:ahLst/>
              <a:cxnLst/>
              <a:rect l="l" t="t" r="r" b="b"/>
              <a:pathLst>
                <a:path w="361950" h="375285">
                  <a:moveTo>
                    <a:pt x="327660" y="286703"/>
                  </a:moveTo>
                  <a:lnTo>
                    <a:pt x="347662" y="254317"/>
                  </a:lnTo>
                  <a:lnTo>
                    <a:pt x="361950" y="203835"/>
                  </a:lnTo>
                  <a:lnTo>
                    <a:pt x="360998" y="151448"/>
                  </a:lnTo>
                  <a:lnTo>
                    <a:pt x="344805" y="101917"/>
                  </a:lnTo>
                  <a:lnTo>
                    <a:pt x="315278" y="59055"/>
                  </a:lnTo>
                  <a:lnTo>
                    <a:pt x="275273" y="25717"/>
                  </a:lnTo>
                  <a:lnTo>
                    <a:pt x="226695" y="5715"/>
                  </a:lnTo>
                  <a:lnTo>
                    <a:pt x="174308" y="0"/>
                  </a:lnTo>
                  <a:lnTo>
                    <a:pt x="122873" y="9525"/>
                  </a:lnTo>
                  <a:lnTo>
                    <a:pt x="76200" y="32385"/>
                  </a:lnTo>
                  <a:lnTo>
                    <a:pt x="38100" y="68580"/>
                  </a:lnTo>
                  <a:lnTo>
                    <a:pt x="12383" y="113348"/>
                  </a:lnTo>
                  <a:lnTo>
                    <a:pt x="0" y="163830"/>
                  </a:lnTo>
                  <a:lnTo>
                    <a:pt x="1905" y="216217"/>
                  </a:lnTo>
                  <a:lnTo>
                    <a:pt x="19050" y="265748"/>
                  </a:lnTo>
                  <a:lnTo>
                    <a:pt x="49530" y="307658"/>
                  </a:lnTo>
                  <a:lnTo>
                    <a:pt x="91440" y="340042"/>
                  </a:lnTo>
                  <a:lnTo>
                    <a:pt x="140017" y="359092"/>
                  </a:lnTo>
                  <a:lnTo>
                    <a:pt x="191453" y="363855"/>
                  </a:lnTo>
                  <a:lnTo>
                    <a:pt x="136208" y="37528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576512" y="3869055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6670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943225" y="2058352"/>
              <a:ext cx="361950" cy="375285"/>
            </a:xfrm>
            <a:custGeom>
              <a:avLst/>
              <a:gdLst/>
              <a:ahLst/>
              <a:cxnLst/>
              <a:rect l="l" t="t" r="r" b="b"/>
              <a:pathLst>
                <a:path w="361950" h="375285">
                  <a:moveTo>
                    <a:pt x="328612" y="286702"/>
                  </a:moveTo>
                  <a:lnTo>
                    <a:pt x="348615" y="254318"/>
                  </a:lnTo>
                  <a:lnTo>
                    <a:pt x="361950" y="203835"/>
                  </a:lnTo>
                  <a:lnTo>
                    <a:pt x="360997" y="151448"/>
                  </a:lnTo>
                  <a:lnTo>
                    <a:pt x="344805" y="101918"/>
                  </a:lnTo>
                  <a:lnTo>
                    <a:pt x="316230" y="58102"/>
                  </a:lnTo>
                  <a:lnTo>
                    <a:pt x="275272" y="25718"/>
                  </a:lnTo>
                  <a:lnTo>
                    <a:pt x="226695" y="4762"/>
                  </a:lnTo>
                  <a:lnTo>
                    <a:pt x="175260" y="0"/>
                  </a:lnTo>
                  <a:lnTo>
                    <a:pt x="123825" y="8573"/>
                  </a:lnTo>
                  <a:lnTo>
                    <a:pt x="77153" y="32385"/>
                  </a:lnTo>
                  <a:lnTo>
                    <a:pt x="39053" y="68580"/>
                  </a:lnTo>
                  <a:lnTo>
                    <a:pt x="12383" y="113348"/>
                  </a:lnTo>
                  <a:lnTo>
                    <a:pt x="0" y="163830"/>
                  </a:lnTo>
                  <a:lnTo>
                    <a:pt x="2858" y="216218"/>
                  </a:lnTo>
                  <a:lnTo>
                    <a:pt x="20003" y="265748"/>
                  </a:lnTo>
                  <a:lnTo>
                    <a:pt x="50483" y="307658"/>
                  </a:lnTo>
                  <a:lnTo>
                    <a:pt x="92392" y="340043"/>
                  </a:lnTo>
                  <a:lnTo>
                    <a:pt x="140017" y="359093"/>
                  </a:lnTo>
                  <a:lnTo>
                    <a:pt x="192405" y="362902"/>
                  </a:lnTo>
                  <a:lnTo>
                    <a:pt x="136208" y="37528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069908" y="2386965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6670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943225" y="2551748"/>
              <a:ext cx="361950" cy="375285"/>
            </a:xfrm>
            <a:custGeom>
              <a:avLst/>
              <a:gdLst/>
              <a:ahLst/>
              <a:cxnLst/>
              <a:rect l="l" t="t" r="r" b="b"/>
              <a:pathLst>
                <a:path w="361950" h="375285">
                  <a:moveTo>
                    <a:pt x="328612" y="287655"/>
                  </a:moveTo>
                  <a:lnTo>
                    <a:pt x="348615" y="254318"/>
                  </a:lnTo>
                  <a:lnTo>
                    <a:pt x="361950" y="204788"/>
                  </a:lnTo>
                  <a:lnTo>
                    <a:pt x="360997" y="152400"/>
                  </a:lnTo>
                  <a:lnTo>
                    <a:pt x="344805" y="101918"/>
                  </a:lnTo>
                  <a:lnTo>
                    <a:pt x="316230" y="59055"/>
                  </a:lnTo>
                  <a:lnTo>
                    <a:pt x="275272" y="25718"/>
                  </a:lnTo>
                  <a:lnTo>
                    <a:pt x="226695" y="5715"/>
                  </a:lnTo>
                  <a:lnTo>
                    <a:pt x="175260" y="0"/>
                  </a:lnTo>
                  <a:lnTo>
                    <a:pt x="123825" y="9525"/>
                  </a:lnTo>
                  <a:lnTo>
                    <a:pt x="77153" y="33338"/>
                  </a:lnTo>
                  <a:lnTo>
                    <a:pt x="39053" y="68580"/>
                  </a:lnTo>
                  <a:lnTo>
                    <a:pt x="12383" y="114300"/>
                  </a:lnTo>
                  <a:lnTo>
                    <a:pt x="0" y="164783"/>
                  </a:lnTo>
                  <a:lnTo>
                    <a:pt x="2858" y="217170"/>
                  </a:lnTo>
                  <a:lnTo>
                    <a:pt x="20003" y="266700"/>
                  </a:lnTo>
                  <a:lnTo>
                    <a:pt x="50483" y="308610"/>
                  </a:lnTo>
                  <a:lnTo>
                    <a:pt x="92392" y="340995"/>
                  </a:lnTo>
                  <a:lnTo>
                    <a:pt x="140017" y="359093"/>
                  </a:lnTo>
                  <a:lnTo>
                    <a:pt x="192405" y="363855"/>
                  </a:lnTo>
                  <a:lnTo>
                    <a:pt x="136208" y="37528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069908" y="2880360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7623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943225" y="3046095"/>
              <a:ext cx="361950" cy="375285"/>
            </a:xfrm>
            <a:custGeom>
              <a:avLst/>
              <a:gdLst/>
              <a:ahLst/>
              <a:cxnLst/>
              <a:rect l="l" t="t" r="r" b="b"/>
              <a:pathLst>
                <a:path w="361950" h="375285">
                  <a:moveTo>
                    <a:pt x="328612" y="286702"/>
                  </a:moveTo>
                  <a:lnTo>
                    <a:pt x="348615" y="254317"/>
                  </a:lnTo>
                  <a:lnTo>
                    <a:pt x="361950" y="203835"/>
                  </a:lnTo>
                  <a:lnTo>
                    <a:pt x="360997" y="152400"/>
                  </a:lnTo>
                  <a:lnTo>
                    <a:pt x="344805" y="101917"/>
                  </a:lnTo>
                  <a:lnTo>
                    <a:pt x="316230" y="59055"/>
                  </a:lnTo>
                  <a:lnTo>
                    <a:pt x="275272" y="25717"/>
                  </a:lnTo>
                  <a:lnTo>
                    <a:pt x="226695" y="5715"/>
                  </a:lnTo>
                  <a:lnTo>
                    <a:pt x="175260" y="0"/>
                  </a:lnTo>
                  <a:lnTo>
                    <a:pt x="123825" y="9525"/>
                  </a:lnTo>
                  <a:lnTo>
                    <a:pt x="77153" y="32385"/>
                  </a:lnTo>
                  <a:lnTo>
                    <a:pt x="39053" y="68580"/>
                  </a:lnTo>
                  <a:lnTo>
                    <a:pt x="12383" y="114300"/>
                  </a:lnTo>
                  <a:lnTo>
                    <a:pt x="0" y="164783"/>
                  </a:lnTo>
                  <a:lnTo>
                    <a:pt x="2858" y="216217"/>
                  </a:lnTo>
                  <a:lnTo>
                    <a:pt x="20003" y="265747"/>
                  </a:lnTo>
                  <a:lnTo>
                    <a:pt x="50483" y="308610"/>
                  </a:lnTo>
                  <a:lnTo>
                    <a:pt x="92392" y="340042"/>
                  </a:lnTo>
                  <a:lnTo>
                    <a:pt x="140017" y="359092"/>
                  </a:lnTo>
                  <a:lnTo>
                    <a:pt x="192405" y="363855"/>
                  </a:lnTo>
                  <a:lnTo>
                    <a:pt x="136208" y="37528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069908" y="3374708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7622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943225" y="3540442"/>
              <a:ext cx="361950" cy="375285"/>
            </a:xfrm>
            <a:custGeom>
              <a:avLst/>
              <a:gdLst/>
              <a:ahLst/>
              <a:cxnLst/>
              <a:rect l="l" t="t" r="r" b="b"/>
              <a:pathLst>
                <a:path w="361950" h="375285">
                  <a:moveTo>
                    <a:pt x="328612" y="286703"/>
                  </a:moveTo>
                  <a:lnTo>
                    <a:pt x="348615" y="254317"/>
                  </a:lnTo>
                  <a:lnTo>
                    <a:pt x="361950" y="203835"/>
                  </a:lnTo>
                  <a:lnTo>
                    <a:pt x="360997" y="151448"/>
                  </a:lnTo>
                  <a:lnTo>
                    <a:pt x="344805" y="101917"/>
                  </a:lnTo>
                  <a:lnTo>
                    <a:pt x="316230" y="59055"/>
                  </a:lnTo>
                  <a:lnTo>
                    <a:pt x="275272" y="25717"/>
                  </a:lnTo>
                  <a:lnTo>
                    <a:pt x="226695" y="5715"/>
                  </a:lnTo>
                  <a:lnTo>
                    <a:pt x="175260" y="0"/>
                  </a:lnTo>
                  <a:lnTo>
                    <a:pt x="123825" y="9525"/>
                  </a:lnTo>
                  <a:lnTo>
                    <a:pt x="77153" y="32385"/>
                  </a:lnTo>
                  <a:lnTo>
                    <a:pt x="39053" y="68580"/>
                  </a:lnTo>
                  <a:lnTo>
                    <a:pt x="12383" y="113348"/>
                  </a:lnTo>
                  <a:lnTo>
                    <a:pt x="0" y="163830"/>
                  </a:lnTo>
                  <a:lnTo>
                    <a:pt x="2858" y="216217"/>
                  </a:lnTo>
                  <a:lnTo>
                    <a:pt x="20003" y="265748"/>
                  </a:lnTo>
                  <a:lnTo>
                    <a:pt x="50483" y="307658"/>
                  </a:lnTo>
                  <a:lnTo>
                    <a:pt x="92392" y="340042"/>
                  </a:lnTo>
                  <a:lnTo>
                    <a:pt x="140017" y="359092"/>
                  </a:lnTo>
                  <a:lnTo>
                    <a:pt x="192405" y="363855"/>
                  </a:lnTo>
                  <a:lnTo>
                    <a:pt x="136208" y="37528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069908" y="3869055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6670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2943225" y="4033838"/>
              <a:ext cx="361950" cy="376238"/>
            </a:xfrm>
            <a:custGeom>
              <a:avLst/>
              <a:gdLst/>
              <a:ahLst/>
              <a:cxnLst/>
              <a:rect l="l" t="t" r="r" b="b"/>
              <a:pathLst>
                <a:path w="361950" h="376238">
                  <a:moveTo>
                    <a:pt x="328612" y="286703"/>
                  </a:moveTo>
                  <a:lnTo>
                    <a:pt x="348615" y="254317"/>
                  </a:lnTo>
                  <a:lnTo>
                    <a:pt x="361950" y="204788"/>
                  </a:lnTo>
                  <a:lnTo>
                    <a:pt x="360997" y="152400"/>
                  </a:lnTo>
                  <a:lnTo>
                    <a:pt x="344805" y="102870"/>
                  </a:lnTo>
                  <a:lnTo>
                    <a:pt x="316230" y="59055"/>
                  </a:lnTo>
                  <a:lnTo>
                    <a:pt x="275272" y="26670"/>
                  </a:lnTo>
                  <a:lnTo>
                    <a:pt x="226695" y="5715"/>
                  </a:lnTo>
                  <a:lnTo>
                    <a:pt x="175260" y="0"/>
                  </a:lnTo>
                  <a:lnTo>
                    <a:pt x="123825" y="9525"/>
                  </a:lnTo>
                  <a:lnTo>
                    <a:pt x="77153" y="33338"/>
                  </a:lnTo>
                  <a:lnTo>
                    <a:pt x="39053" y="68580"/>
                  </a:lnTo>
                  <a:lnTo>
                    <a:pt x="12383" y="114300"/>
                  </a:lnTo>
                  <a:lnTo>
                    <a:pt x="0" y="164783"/>
                  </a:lnTo>
                  <a:lnTo>
                    <a:pt x="2858" y="217170"/>
                  </a:lnTo>
                  <a:lnTo>
                    <a:pt x="20003" y="266700"/>
                  </a:lnTo>
                  <a:lnTo>
                    <a:pt x="50483" y="308610"/>
                  </a:lnTo>
                  <a:lnTo>
                    <a:pt x="92392" y="340995"/>
                  </a:lnTo>
                  <a:lnTo>
                    <a:pt x="140017" y="360045"/>
                  </a:lnTo>
                  <a:lnTo>
                    <a:pt x="192405" y="363855"/>
                  </a:lnTo>
                  <a:lnTo>
                    <a:pt x="136208" y="37623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069908" y="4363402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6670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3437572" y="2551748"/>
              <a:ext cx="361950" cy="375285"/>
            </a:xfrm>
            <a:custGeom>
              <a:avLst/>
              <a:gdLst/>
              <a:ahLst/>
              <a:cxnLst/>
              <a:rect l="l" t="t" r="r" b="b"/>
              <a:pathLst>
                <a:path w="361950" h="375285">
                  <a:moveTo>
                    <a:pt x="328612" y="287655"/>
                  </a:moveTo>
                  <a:lnTo>
                    <a:pt x="348615" y="254318"/>
                  </a:lnTo>
                  <a:lnTo>
                    <a:pt x="361950" y="204788"/>
                  </a:lnTo>
                  <a:lnTo>
                    <a:pt x="360998" y="152400"/>
                  </a:lnTo>
                  <a:lnTo>
                    <a:pt x="344805" y="101918"/>
                  </a:lnTo>
                  <a:lnTo>
                    <a:pt x="315278" y="59055"/>
                  </a:lnTo>
                  <a:lnTo>
                    <a:pt x="275273" y="25718"/>
                  </a:lnTo>
                  <a:lnTo>
                    <a:pt x="226695" y="5715"/>
                  </a:lnTo>
                  <a:lnTo>
                    <a:pt x="174308" y="0"/>
                  </a:lnTo>
                  <a:lnTo>
                    <a:pt x="122873" y="9525"/>
                  </a:lnTo>
                  <a:lnTo>
                    <a:pt x="77153" y="33338"/>
                  </a:lnTo>
                  <a:lnTo>
                    <a:pt x="39053" y="68580"/>
                  </a:lnTo>
                  <a:lnTo>
                    <a:pt x="12383" y="114300"/>
                  </a:lnTo>
                  <a:lnTo>
                    <a:pt x="0" y="164783"/>
                  </a:lnTo>
                  <a:lnTo>
                    <a:pt x="2858" y="217170"/>
                  </a:lnTo>
                  <a:lnTo>
                    <a:pt x="20003" y="266700"/>
                  </a:lnTo>
                  <a:lnTo>
                    <a:pt x="50483" y="308610"/>
                  </a:lnTo>
                  <a:lnTo>
                    <a:pt x="91440" y="340995"/>
                  </a:lnTo>
                  <a:lnTo>
                    <a:pt x="140018" y="359093"/>
                  </a:lnTo>
                  <a:lnTo>
                    <a:pt x="192405" y="363855"/>
                  </a:lnTo>
                  <a:lnTo>
                    <a:pt x="136208" y="37528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564255" y="2880360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7623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3437572" y="3046095"/>
              <a:ext cx="361950" cy="375285"/>
            </a:xfrm>
            <a:custGeom>
              <a:avLst/>
              <a:gdLst/>
              <a:ahLst/>
              <a:cxnLst/>
              <a:rect l="l" t="t" r="r" b="b"/>
              <a:pathLst>
                <a:path w="361950" h="375285">
                  <a:moveTo>
                    <a:pt x="328612" y="286702"/>
                  </a:moveTo>
                  <a:lnTo>
                    <a:pt x="348615" y="254317"/>
                  </a:lnTo>
                  <a:lnTo>
                    <a:pt x="361950" y="203835"/>
                  </a:lnTo>
                  <a:lnTo>
                    <a:pt x="360998" y="152400"/>
                  </a:lnTo>
                  <a:lnTo>
                    <a:pt x="344805" y="101917"/>
                  </a:lnTo>
                  <a:lnTo>
                    <a:pt x="315278" y="59055"/>
                  </a:lnTo>
                  <a:lnTo>
                    <a:pt x="275273" y="25717"/>
                  </a:lnTo>
                  <a:lnTo>
                    <a:pt x="226695" y="5715"/>
                  </a:lnTo>
                  <a:lnTo>
                    <a:pt x="174308" y="0"/>
                  </a:lnTo>
                  <a:lnTo>
                    <a:pt x="122873" y="9525"/>
                  </a:lnTo>
                  <a:lnTo>
                    <a:pt x="77153" y="32385"/>
                  </a:lnTo>
                  <a:lnTo>
                    <a:pt x="39053" y="68580"/>
                  </a:lnTo>
                  <a:lnTo>
                    <a:pt x="12383" y="114300"/>
                  </a:lnTo>
                  <a:lnTo>
                    <a:pt x="0" y="164783"/>
                  </a:lnTo>
                  <a:lnTo>
                    <a:pt x="2858" y="216217"/>
                  </a:lnTo>
                  <a:lnTo>
                    <a:pt x="20003" y="265747"/>
                  </a:lnTo>
                  <a:lnTo>
                    <a:pt x="50483" y="308610"/>
                  </a:lnTo>
                  <a:lnTo>
                    <a:pt x="91440" y="340042"/>
                  </a:lnTo>
                  <a:lnTo>
                    <a:pt x="140018" y="359092"/>
                  </a:lnTo>
                  <a:lnTo>
                    <a:pt x="192405" y="363855"/>
                  </a:lnTo>
                  <a:lnTo>
                    <a:pt x="136208" y="37528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564255" y="3374708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7622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3437572" y="3540442"/>
              <a:ext cx="361950" cy="375285"/>
            </a:xfrm>
            <a:custGeom>
              <a:avLst/>
              <a:gdLst/>
              <a:ahLst/>
              <a:cxnLst/>
              <a:rect l="l" t="t" r="r" b="b"/>
              <a:pathLst>
                <a:path w="361950" h="375285">
                  <a:moveTo>
                    <a:pt x="328612" y="286703"/>
                  </a:moveTo>
                  <a:lnTo>
                    <a:pt x="348615" y="254317"/>
                  </a:lnTo>
                  <a:lnTo>
                    <a:pt x="361950" y="203835"/>
                  </a:lnTo>
                  <a:lnTo>
                    <a:pt x="360998" y="151448"/>
                  </a:lnTo>
                  <a:lnTo>
                    <a:pt x="344805" y="101917"/>
                  </a:lnTo>
                  <a:lnTo>
                    <a:pt x="315278" y="59055"/>
                  </a:lnTo>
                  <a:lnTo>
                    <a:pt x="275273" y="25717"/>
                  </a:lnTo>
                  <a:lnTo>
                    <a:pt x="226695" y="5715"/>
                  </a:lnTo>
                  <a:lnTo>
                    <a:pt x="174308" y="0"/>
                  </a:lnTo>
                  <a:lnTo>
                    <a:pt x="122873" y="9525"/>
                  </a:lnTo>
                  <a:lnTo>
                    <a:pt x="77153" y="32385"/>
                  </a:lnTo>
                  <a:lnTo>
                    <a:pt x="39053" y="68580"/>
                  </a:lnTo>
                  <a:lnTo>
                    <a:pt x="12383" y="113348"/>
                  </a:lnTo>
                  <a:lnTo>
                    <a:pt x="0" y="163830"/>
                  </a:lnTo>
                  <a:lnTo>
                    <a:pt x="2858" y="216217"/>
                  </a:lnTo>
                  <a:lnTo>
                    <a:pt x="20003" y="265748"/>
                  </a:lnTo>
                  <a:lnTo>
                    <a:pt x="50483" y="307658"/>
                  </a:lnTo>
                  <a:lnTo>
                    <a:pt x="91440" y="340042"/>
                  </a:lnTo>
                  <a:lnTo>
                    <a:pt x="140018" y="359092"/>
                  </a:lnTo>
                  <a:lnTo>
                    <a:pt x="192405" y="363855"/>
                  </a:lnTo>
                  <a:lnTo>
                    <a:pt x="136208" y="37528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3564255" y="3869055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6670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3931920" y="3046095"/>
              <a:ext cx="361950" cy="375285"/>
            </a:xfrm>
            <a:custGeom>
              <a:avLst/>
              <a:gdLst/>
              <a:ahLst/>
              <a:cxnLst/>
              <a:rect l="l" t="t" r="r" b="b"/>
              <a:pathLst>
                <a:path w="361950" h="375285">
                  <a:moveTo>
                    <a:pt x="327660" y="286702"/>
                  </a:moveTo>
                  <a:lnTo>
                    <a:pt x="347662" y="254317"/>
                  </a:lnTo>
                  <a:lnTo>
                    <a:pt x="361950" y="203835"/>
                  </a:lnTo>
                  <a:lnTo>
                    <a:pt x="360045" y="152400"/>
                  </a:lnTo>
                  <a:lnTo>
                    <a:pt x="344805" y="101917"/>
                  </a:lnTo>
                  <a:lnTo>
                    <a:pt x="315277" y="59055"/>
                  </a:lnTo>
                  <a:lnTo>
                    <a:pt x="274320" y="25717"/>
                  </a:lnTo>
                  <a:lnTo>
                    <a:pt x="226695" y="5715"/>
                  </a:lnTo>
                  <a:lnTo>
                    <a:pt x="175260" y="0"/>
                  </a:lnTo>
                  <a:lnTo>
                    <a:pt x="123825" y="9525"/>
                  </a:lnTo>
                  <a:lnTo>
                    <a:pt x="76200" y="32385"/>
                  </a:lnTo>
                  <a:lnTo>
                    <a:pt x="38100" y="68580"/>
                  </a:lnTo>
                  <a:lnTo>
                    <a:pt x="12383" y="114300"/>
                  </a:lnTo>
                  <a:lnTo>
                    <a:pt x="0" y="164783"/>
                  </a:lnTo>
                  <a:lnTo>
                    <a:pt x="1905" y="216217"/>
                  </a:lnTo>
                  <a:lnTo>
                    <a:pt x="19050" y="265747"/>
                  </a:lnTo>
                  <a:lnTo>
                    <a:pt x="50483" y="308610"/>
                  </a:lnTo>
                  <a:lnTo>
                    <a:pt x="91440" y="340042"/>
                  </a:lnTo>
                  <a:lnTo>
                    <a:pt x="140017" y="359092"/>
                  </a:lnTo>
                  <a:lnTo>
                    <a:pt x="192405" y="363855"/>
                  </a:lnTo>
                  <a:lnTo>
                    <a:pt x="136208" y="37528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4058602" y="3374708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7622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1764030" y="1866900"/>
              <a:ext cx="2721292" cy="2686050"/>
            </a:xfrm>
            <a:custGeom>
              <a:avLst/>
              <a:gdLst/>
              <a:ahLst/>
              <a:cxnLst/>
              <a:rect l="l" t="t" r="r" b="b"/>
              <a:pathLst>
                <a:path w="2721292" h="2686050">
                  <a:moveTo>
                    <a:pt x="2053590" y="2531745"/>
                  </a:moveTo>
                  <a:lnTo>
                    <a:pt x="2105978" y="2500312"/>
                  </a:lnTo>
                  <a:lnTo>
                    <a:pt x="2167890" y="2456498"/>
                  </a:lnTo>
                  <a:lnTo>
                    <a:pt x="2227898" y="2409825"/>
                  </a:lnTo>
                  <a:lnTo>
                    <a:pt x="2285048" y="2359342"/>
                  </a:lnTo>
                  <a:lnTo>
                    <a:pt x="2339340" y="2306955"/>
                  </a:lnTo>
                  <a:lnTo>
                    <a:pt x="2390775" y="2250758"/>
                  </a:lnTo>
                  <a:lnTo>
                    <a:pt x="2438400" y="2191702"/>
                  </a:lnTo>
                  <a:lnTo>
                    <a:pt x="2483168" y="2129790"/>
                  </a:lnTo>
                  <a:lnTo>
                    <a:pt x="2524125" y="2065972"/>
                  </a:lnTo>
                  <a:lnTo>
                    <a:pt x="2562225" y="2000250"/>
                  </a:lnTo>
                  <a:lnTo>
                    <a:pt x="2596515" y="1931670"/>
                  </a:lnTo>
                  <a:lnTo>
                    <a:pt x="2626042" y="1862138"/>
                  </a:lnTo>
                  <a:lnTo>
                    <a:pt x="2651760" y="1790700"/>
                  </a:lnTo>
                  <a:lnTo>
                    <a:pt x="2673668" y="1717358"/>
                  </a:lnTo>
                  <a:lnTo>
                    <a:pt x="2691765" y="1644015"/>
                  </a:lnTo>
                  <a:lnTo>
                    <a:pt x="2706052" y="1569720"/>
                  </a:lnTo>
                  <a:lnTo>
                    <a:pt x="2714625" y="1494472"/>
                  </a:lnTo>
                  <a:lnTo>
                    <a:pt x="2720340" y="1418272"/>
                  </a:lnTo>
                  <a:lnTo>
                    <a:pt x="2721292" y="1342072"/>
                  </a:lnTo>
                  <a:lnTo>
                    <a:pt x="2718435" y="1265872"/>
                  </a:lnTo>
                  <a:lnTo>
                    <a:pt x="2710815" y="1190625"/>
                  </a:lnTo>
                  <a:lnTo>
                    <a:pt x="2699385" y="1115378"/>
                  </a:lnTo>
                  <a:lnTo>
                    <a:pt x="2683192" y="1041083"/>
                  </a:lnTo>
                  <a:lnTo>
                    <a:pt x="2664142" y="967740"/>
                  </a:lnTo>
                  <a:lnTo>
                    <a:pt x="2639378" y="895350"/>
                  </a:lnTo>
                  <a:lnTo>
                    <a:pt x="2610802" y="824865"/>
                  </a:lnTo>
                  <a:lnTo>
                    <a:pt x="2579370" y="756285"/>
                  </a:lnTo>
                  <a:lnTo>
                    <a:pt x="2544128" y="688658"/>
                  </a:lnTo>
                  <a:lnTo>
                    <a:pt x="2505075" y="623888"/>
                  </a:lnTo>
                  <a:lnTo>
                    <a:pt x="2461260" y="561022"/>
                  </a:lnTo>
                  <a:lnTo>
                    <a:pt x="2415540" y="501015"/>
                  </a:lnTo>
                  <a:lnTo>
                    <a:pt x="2366010" y="443865"/>
                  </a:lnTo>
                  <a:lnTo>
                    <a:pt x="2312670" y="388620"/>
                  </a:lnTo>
                  <a:lnTo>
                    <a:pt x="2257425" y="337185"/>
                  </a:lnTo>
                  <a:lnTo>
                    <a:pt x="2198370" y="288608"/>
                  </a:lnTo>
                  <a:lnTo>
                    <a:pt x="2137410" y="243840"/>
                  </a:lnTo>
                  <a:lnTo>
                    <a:pt x="2073592" y="201930"/>
                  </a:lnTo>
                  <a:lnTo>
                    <a:pt x="2007870" y="163830"/>
                  </a:lnTo>
                  <a:lnTo>
                    <a:pt x="1940242" y="129540"/>
                  </a:lnTo>
                  <a:lnTo>
                    <a:pt x="1870710" y="99060"/>
                  </a:lnTo>
                  <a:lnTo>
                    <a:pt x="1799273" y="73342"/>
                  </a:lnTo>
                  <a:lnTo>
                    <a:pt x="1726882" y="50483"/>
                  </a:lnTo>
                  <a:lnTo>
                    <a:pt x="1652588" y="32385"/>
                  </a:lnTo>
                  <a:lnTo>
                    <a:pt x="1578292" y="18098"/>
                  </a:lnTo>
                  <a:lnTo>
                    <a:pt x="1503045" y="7620"/>
                  </a:lnTo>
                  <a:lnTo>
                    <a:pt x="1426845" y="1905"/>
                  </a:lnTo>
                  <a:lnTo>
                    <a:pt x="1351598" y="0"/>
                  </a:lnTo>
                  <a:lnTo>
                    <a:pt x="1275398" y="2858"/>
                  </a:lnTo>
                  <a:lnTo>
                    <a:pt x="1199198" y="9525"/>
                  </a:lnTo>
                  <a:lnTo>
                    <a:pt x="1123950" y="20955"/>
                  </a:lnTo>
                  <a:lnTo>
                    <a:pt x="1049655" y="36195"/>
                  </a:lnTo>
                  <a:lnTo>
                    <a:pt x="976312" y="56198"/>
                  </a:lnTo>
                  <a:lnTo>
                    <a:pt x="903923" y="79058"/>
                  </a:lnTo>
                  <a:lnTo>
                    <a:pt x="833438" y="106680"/>
                  </a:lnTo>
                  <a:lnTo>
                    <a:pt x="763905" y="138112"/>
                  </a:lnTo>
                  <a:lnTo>
                    <a:pt x="697230" y="173355"/>
                  </a:lnTo>
                  <a:lnTo>
                    <a:pt x="631508" y="212408"/>
                  </a:lnTo>
                  <a:lnTo>
                    <a:pt x="568643" y="254317"/>
                  </a:lnTo>
                  <a:lnTo>
                    <a:pt x="508635" y="300038"/>
                  </a:lnTo>
                  <a:lnTo>
                    <a:pt x="450533" y="349567"/>
                  </a:lnTo>
                  <a:lnTo>
                    <a:pt x="395288" y="401955"/>
                  </a:lnTo>
                  <a:lnTo>
                    <a:pt x="342900" y="457200"/>
                  </a:lnTo>
                  <a:lnTo>
                    <a:pt x="294323" y="516255"/>
                  </a:lnTo>
                  <a:lnTo>
                    <a:pt x="248603" y="576262"/>
                  </a:lnTo>
                  <a:lnTo>
                    <a:pt x="206693" y="640080"/>
                  </a:lnTo>
                  <a:lnTo>
                    <a:pt x="167640" y="705803"/>
                  </a:lnTo>
                  <a:lnTo>
                    <a:pt x="133350" y="773430"/>
                  </a:lnTo>
                  <a:lnTo>
                    <a:pt x="102870" y="842962"/>
                  </a:lnTo>
                  <a:lnTo>
                    <a:pt x="75248" y="913447"/>
                  </a:lnTo>
                  <a:lnTo>
                    <a:pt x="52388" y="985838"/>
                  </a:lnTo>
                  <a:lnTo>
                    <a:pt x="33338" y="1060132"/>
                  </a:lnTo>
                  <a:lnTo>
                    <a:pt x="19050" y="1134428"/>
                  </a:lnTo>
                  <a:lnTo>
                    <a:pt x="8573" y="1209675"/>
                  </a:lnTo>
                  <a:lnTo>
                    <a:pt x="1905" y="1284922"/>
                  </a:lnTo>
                  <a:lnTo>
                    <a:pt x="0" y="1361122"/>
                  </a:lnTo>
                  <a:lnTo>
                    <a:pt x="1905" y="1437322"/>
                  </a:lnTo>
                  <a:lnTo>
                    <a:pt x="8573" y="1512570"/>
                  </a:lnTo>
                  <a:lnTo>
                    <a:pt x="19050" y="1587818"/>
                  </a:lnTo>
                  <a:lnTo>
                    <a:pt x="33338" y="1662112"/>
                  </a:lnTo>
                  <a:lnTo>
                    <a:pt x="52388" y="1736408"/>
                  </a:lnTo>
                  <a:lnTo>
                    <a:pt x="75248" y="1808797"/>
                  </a:lnTo>
                  <a:lnTo>
                    <a:pt x="102870" y="1879282"/>
                  </a:lnTo>
                  <a:lnTo>
                    <a:pt x="133350" y="1948815"/>
                  </a:lnTo>
                  <a:lnTo>
                    <a:pt x="167640" y="2016442"/>
                  </a:lnTo>
                  <a:lnTo>
                    <a:pt x="206693" y="2082165"/>
                  </a:lnTo>
                  <a:lnTo>
                    <a:pt x="248603" y="2145982"/>
                  </a:lnTo>
                  <a:lnTo>
                    <a:pt x="294323" y="2205990"/>
                  </a:lnTo>
                  <a:lnTo>
                    <a:pt x="342900" y="2265045"/>
                  </a:lnTo>
                  <a:lnTo>
                    <a:pt x="395288" y="2320290"/>
                  </a:lnTo>
                  <a:lnTo>
                    <a:pt x="450533" y="2372678"/>
                  </a:lnTo>
                  <a:lnTo>
                    <a:pt x="508635" y="2421255"/>
                  </a:lnTo>
                  <a:lnTo>
                    <a:pt x="568643" y="2467928"/>
                  </a:lnTo>
                  <a:lnTo>
                    <a:pt x="631508" y="2509838"/>
                  </a:lnTo>
                  <a:lnTo>
                    <a:pt x="697230" y="2548890"/>
                  </a:lnTo>
                  <a:lnTo>
                    <a:pt x="763905" y="2584132"/>
                  </a:lnTo>
                  <a:lnTo>
                    <a:pt x="833438" y="2615565"/>
                  </a:lnTo>
                  <a:lnTo>
                    <a:pt x="903923" y="2643188"/>
                  </a:lnTo>
                  <a:lnTo>
                    <a:pt x="976312" y="2667000"/>
                  </a:lnTo>
                  <a:lnTo>
                    <a:pt x="1049655" y="2686050"/>
                  </a:lnTo>
                  <a:lnTo>
                    <a:pt x="1017270" y="2679382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2771775" y="4499610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65723"/>
                  </a:moveTo>
                  <a:lnTo>
                    <a:pt x="0" y="9334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1018222" y="1832610"/>
              <a:ext cx="189547" cy="190500"/>
            </a:xfrm>
            <a:custGeom>
              <a:avLst/>
              <a:gdLst/>
              <a:ahLst/>
              <a:cxnLst/>
              <a:rect l="l" t="t" r="r" b="b"/>
              <a:pathLst>
                <a:path w="189547" h="190500">
                  <a:moveTo>
                    <a:pt x="189547" y="80962"/>
                  </a:moveTo>
                  <a:lnTo>
                    <a:pt x="188595" y="74295"/>
                  </a:lnTo>
                  <a:lnTo>
                    <a:pt x="181927" y="53340"/>
                  </a:lnTo>
                  <a:lnTo>
                    <a:pt x="170497" y="36195"/>
                  </a:lnTo>
                  <a:lnTo>
                    <a:pt x="155257" y="20955"/>
                  </a:lnTo>
                  <a:lnTo>
                    <a:pt x="137160" y="9525"/>
                  </a:lnTo>
                  <a:lnTo>
                    <a:pt x="117157" y="2857"/>
                  </a:lnTo>
                  <a:lnTo>
                    <a:pt x="96202" y="0"/>
                  </a:lnTo>
                  <a:lnTo>
                    <a:pt x="74295" y="2857"/>
                  </a:lnTo>
                  <a:lnTo>
                    <a:pt x="54292" y="9525"/>
                  </a:lnTo>
                  <a:lnTo>
                    <a:pt x="36195" y="20955"/>
                  </a:lnTo>
                  <a:lnTo>
                    <a:pt x="20955" y="36195"/>
                  </a:lnTo>
                  <a:lnTo>
                    <a:pt x="9525" y="53340"/>
                  </a:lnTo>
                  <a:lnTo>
                    <a:pt x="2857" y="74295"/>
                  </a:lnTo>
                  <a:lnTo>
                    <a:pt x="0" y="95250"/>
                  </a:lnTo>
                  <a:lnTo>
                    <a:pt x="2857" y="116205"/>
                  </a:lnTo>
                  <a:lnTo>
                    <a:pt x="9525" y="137160"/>
                  </a:lnTo>
                  <a:lnTo>
                    <a:pt x="20955" y="154305"/>
                  </a:lnTo>
                  <a:lnTo>
                    <a:pt x="36195" y="169545"/>
                  </a:lnTo>
                  <a:lnTo>
                    <a:pt x="54292" y="180975"/>
                  </a:lnTo>
                  <a:lnTo>
                    <a:pt x="74295" y="187642"/>
                  </a:lnTo>
                  <a:lnTo>
                    <a:pt x="96202" y="190500"/>
                  </a:lnTo>
                  <a:lnTo>
                    <a:pt x="117157" y="187642"/>
                  </a:lnTo>
                  <a:lnTo>
                    <a:pt x="137160" y="180975"/>
                  </a:lnTo>
                  <a:lnTo>
                    <a:pt x="155257" y="169545"/>
                  </a:lnTo>
                  <a:lnTo>
                    <a:pt x="170497" y="154305"/>
                  </a:lnTo>
                  <a:lnTo>
                    <a:pt x="181927" y="137160"/>
                  </a:lnTo>
                  <a:lnTo>
                    <a:pt x="188595" y="116205"/>
                  </a:lnTo>
                  <a:lnTo>
                    <a:pt x="189547" y="10953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4368165" y="32232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4368165" y="32232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270760" y="33404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194560" y="33947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766060" y="28460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687955" y="29003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766060" y="33404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2687955" y="33947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2766060" y="3833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2687955" y="38881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3259455" y="23526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3182302" y="24060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3259455" y="28460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3182302" y="29003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3259455" y="33404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3182302" y="33947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3259455" y="3833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3182302" y="38881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3259455" y="43281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3182302" y="43824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3753802" y="28460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3675698" y="29003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3753802" y="33404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3675698" y="33947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3753802" y="3833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3675698" y="38881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4247198" y="33404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4170998" y="33947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3800475" y="44015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2883218" y="45634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1203960" y="19230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1203960" y="19230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1083945" y="189738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175153" y="4346734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Iₛ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281920" y="185642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B₀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271332" y="4882515"/>
              <a:ext cx="17057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顺磁质截面：分子电流同向排列</a:t>
              </a:r>
            </a:p>
          </p:txBody>
        </p:sp>
      </p:grpSp>
      <p:grpSp>
        <p:nvGrpSpPr>
          <p:cNvPr id="91" name="c2-steps-1"/>
          <p:cNvGrpSpPr/>
          <p:nvPr/>
        </p:nvGrpSpPr>
        <p:grpSpPr>
          <a:xfrm>
            <a:off x="6032182" y="1533525"/>
            <a:ext cx="5432801" cy="2279809"/>
            <a:chOff x="6032182" y="1533525"/>
            <a:chExt cx="5432801" cy="2279809"/>
          </a:xfrm>
        </p:grpSpPr>
        <p:sp>
          <p:nvSpPr>
            <p:cNvPr id="74" name="Rectangle 74"/>
            <p:cNvSpPr/>
            <p:nvPr/>
          </p:nvSpPr>
          <p:spPr>
            <a:xfrm>
              <a:off x="6165532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032182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125806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6032182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125806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6032182" y="32946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125806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444424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内部抵消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445567" y="183308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介质内部相邻两个分子电流在接触处方向相反，互相抵消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444424" y="2152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表面剩下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445567" y="2419826"/>
              <a:ext cx="5019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表面一圈分子电流的外侧没有邻居与它抵消，连成沿表面流动的磁化电流 Iₛ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444424" y="27393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顺磁质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445567" y="3006566"/>
              <a:ext cx="30701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Iₛ 与产生 B₀ 的传导电流同向，B′ 与 B₀ 同向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444424" y="332613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抗磁质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445567" y="3593306"/>
              <a:ext cx="23470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Iₛ 与传导电流反向，B′ 与 B₀ 反向</a:t>
              </a:r>
            </a:p>
          </p:txBody>
        </p:sp>
      </p:grpSp>
      <p:grpSp>
        <p:nvGrpSpPr>
          <p:cNvPr id="97" name="c2-card-2"/>
          <p:cNvGrpSpPr/>
          <p:nvPr/>
        </p:nvGrpSpPr>
        <p:grpSpPr>
          <a:xfrm>
            <a:off x="6032182" y="3982402"/>
            <a:ext cx="5626418" cy="1209675"/>
            <a:chOff x="6032182" y="3982402"/>
            <a:chExt cx="5626418" cy="1209675"/>
          </a:xfrm>
        </p:grpSpPr>
        <p:sp>
          <p:nvSpPr>
            <p:cNvPr id="92" name="Rectangle 92"/>
            <p:cNvSpPr/>
            <p:nvPr/>
          </p:nvSpPr>
          <p:spPr>
            <a:xfrm>
              <a:off x="6032182" y="3982402"/>
              <a:ext cx="5626418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6041708" y="4115752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262688" y="4174808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322124" y="420909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磁化电流不是传导电流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255830" y="4531995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它是大量分子电流的宏观效果，电荷并没有在介质里长距离移动，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不能用导线引出来，也不产生焦耳热，所以又叫束缚电流。</a:t>
              </a:r>
            </a:p>
          </p:txBody>
        </p:sp>
      </p:grpSp>
      <p:grpSp>
        <p:nvGrpSpPr>
          <p:cNvPr id="10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98" name="Rectangle 9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1040892" y="6023610"/>
              <a:ext cx="9100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长直螺线管里充满均匀介质时，表面磁化电流就像又绕了一层线圈：顺磁质这层与原线圈同向，抗磁质这层反向。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953302" cy="909257"/>
            <a:chOff x="520446" y="342900"/>
            <a:chExt cx="39533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磁介质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9533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磁化强度 M 与磁场强度 H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713548"/>
            <a:chOff x="533400" y="1524000"/>
            <a:chExt cx="5410200" cy="17135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13548"/>
            </a:xfrm>
            <a:prstGeom prst="roundRect">
              <a:avLst>
                <a:gd name="adj" fmla="val 77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4684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89058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518" y="1737836"/>
              <a:ext cx="7315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1. 磁化强度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51"/>
                <p:cNvSpPr txBox="1">
                  <a:spLocks noGrp="1"/>
                </p:cNvSpPr>
                <p:nvPr/>
              </p:nvSpPr>
              <p:spPr>
                <a:xfrm>
                  <a:off x="752475" y="2024062"/>
                  <a:ext cx="501015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n"/>
                                <m:supHide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45998" y="2615089"/>
              <a:ext cx="46702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单位体积内分子磁矩的矢量和，ΣPₘ 是体积 ΔV 内的分子磁矩矢量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和，单位 A/m。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402330"/>
            <a:ext cx="5410200" cy="2176462"/>
            <a:chOff x="533400" y="3402330"/>
            <a:chExt cx="5410200" cy="2176462"/>
          </a:xfrm>
        </p:grpSpPr>
        <p:sp>
          <p:nvSpPr>
            <p:cNvPr id="14" name="Rectangle 14"/>
            <p:cNvSpPr/>
            <p:nvPr/>
          </p:nvSpPr>
          <p:spPr>
            <a:xfrm>
              <a:off x="533400" y="3402330"/>
              <a:ext cx="5410200" cy="2176462"/>
            </a:xfrm>
            <a:prstGeom prst="roundRect">
              <a:avLst>
                <a:gd name="adj" fmla="val 61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535680"/>
              <a:ext cx="47625" cy="19097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583305"/>
              <a:ext cx="89058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1518" y="3616166"/>
              <a:ext cx="7315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2. 磁场强度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152"/>
                <p:cNvSpPr txBox="1">
                  <a:spLocks noGrp="1"/>
                </p:cNvSpPr>
                <p:nvPr/>
              </p:nvSpPr>
              <p:spPr>
                <a:xfrm>
                  <a:off x="752475" y="3902392"/>
                  <a:ext cx="5010150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⃗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acc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acc>
                          <m:accPr>
                            <m:chr m:val="⃗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acc>
                          <m:accPr>
                            <m:chr m:val="⃗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acc>
                          </m:num>
                          <m:den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TextBox 19"/>
            <p:cNvSpPr txBox="1"/>
            <p:nvPr/>
          </p:nvSpPr>
          <p:spPr>
            <a:xfrm>
              <a:off x="745998" y="4441984"/>
              <a:ext cx="47759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介质中的 B 由外加磁场和介质磁化共同决定。引入 H 之后，环路定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理里只需要出现传导电流（第六部分），H 的单位也是 A/m。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7141" y="4966335"/>
              <a:ext cx="473125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B′ = μ₀M 在长直螺线管内均匀磁化时严格成立，一般形状的介质要把它当作引入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 的动机来理解。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formula153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χ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formula154"/>
              <p:cNvSpPr txBox="1">
                <a:spLocks noGrp="1"/>
              </p:cNvSpPr>
              <p:nvPr/>
            </p:nvSpPr>
            <p:spPr>
              <a:xfrm>
                <a:off x="6248400" y="2050732"/>
                <a:ext cx="54102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  <m:acc>
                        <m:accPr>
                          <m:chr m:val="⃗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32" name="c2-kv-3"/>
          <p:cNvGrpSpPr/>
          <p:nvPr/>
        </p:nvGrpSpPr>
        <p:grpSpPr>
          <a:xfrm>
            <a:off x="6241923" y="2560796"/>
            <a:ext cx="5416677" cy="997077"/>
            <a:chOff x="6241923" y="2560796"/>
            <a:chExt cx="5416677" cy="997077"/>
          </a:xfrm>
        </p:grpSpPr>
        <p:sp>
          <p:nvSpPr>
            <p:cNvPr id="24" name="TextBox 24"/>
            <p:cNvSpPr txBox="1"/>
            <p:nvPr/>
          </p:nvSpPr>
          <p:spPr>
            <a:xfrm>
              <a:off x="6241923" y="256079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χₘ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84836" y="256079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磁化率，无量纲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48400" y="28327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41923" y="293417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μᵣ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84836" y="2934176"/>
              <a:ext cx="19170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相对磁导率，μᵣ = 1 + χₘ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48400" y="32061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41923" y="330850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84836" y="3308509"/>
              <a:ext cx="13742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磁导率，μ = μ₀μᵣ</a:t>
              </a:r>
            </a:p>
          </p:txBody>
        </p:sp>
      </p:grpSp>
      <p:grpSp>
        <p:nvGrpSpPr>
          <p:cNvPr id="57" name="c2-table-4"/>
          <p:cNvGrpSpPr/>
          <p:nvPr/>
        </p:nvGrpSpPr>
        <p:grpSpPr>
          <a:xfrm>
            <a:off x="6248400" y="3672840"/>
            <a:ext cx="5410200" cy="1906905"/>
            <a:chOff x="6248400" y="3672840"/>
            <a:chExt cx="5410200" cy="1906905"/>
          </a:xfrm>
        </p:grpSpPr>
        <p:sp>
          <p:nvSpPr>
            <p:cNvPr id="33" name="Rectangle 33"/>
            <p:cNvSpPr/>
            <p:nvPr/>
          </p:nvSpPr>
          <p:spPr>
            <a:xfrm>
              <a:off x="6248400" y="367284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13245" y="37899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介质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31281" y="378999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χₘ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24851" y="378999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μᵣ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43079" y="41709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74039" y="41709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67609" y="41709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44300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443484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3079" y="45529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顺磁质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13965" y="4552950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07535" y="4552950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48120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3079" y="49339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抗磁质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13965" y="4933950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607535" y="4933950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51930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519779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3079" y="53149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铁磁质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73656" y="5314950"/>
              <a:ext cx="889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很大，随 H 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67226" y="5314950"/>
              <a:ext cx="889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很大，随 H 变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3672840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866698" y="367284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760268" y="367284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8" name="Rectangle 5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1273" y="6039326"/>
              <a:ext cx="84581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χₘH 这个线性关系只对各向同性的非铁磁介质成立；铁磁质的 χₘ、μᵣ 数值很大，而且是 H 的非单值函数。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68131" cy="909257"/>
            <a:chOff x="520446" y="342900"/>
            <a:chExt cx="98681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磁介质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681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例：同一根无限长直电流放进不同介质，H 不变，B 按 μᵣ 倍变化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3841044" cy="1878615"/>
            <a:chOff x="533400" y="1533525"/>
            <a:chExt cx="3841044" cy="187861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真空中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12376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B₀ = μ₀I/(2πa)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充满均匀介质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16366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μI/(2πa) = μᵣB₀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68930"/>
              <a:ext cx="407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62776"/>
              <a:ext cx="3428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B/μ = I/(2πa)，与 μ 无关，单位 A·m⁻¹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590925"/>
            <a:ext cx="5410200" cy="1986915"/>
            <a:chOff x="533400" y="3590925"/>
            <a:chExt cx="5410200" cy="1986915"/>
          </a:xfrm>
        </p:grpSpPr>
        <p:sp>
          <p:nvSpPr>
            <p:cNvPr id="21" name="Rectangle 21"/>
            <p:cNvSpPr/>
            <p:nvPr/>
          </p:nvSpPr>
          <p:spPr>
            <a:xfrm>
              <a:off x="533400" y="3590925"/>
              <a:ext cx="5410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724275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380047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3359" y="3836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数值感受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3430" y="4177665"/>
              <a:ext cx="4110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10 A，a = 5 cm：H = 10/(2π × 0.05) ≈ 31.8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A/m，真空中 B₀ = μ₀H ≈ 4.0×10⁻⁵ T。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6765" y="486156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4798695"/>
              <a:ext cx="4487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换成铝（μᵣ ≈ 1 + 2×10⁻⁵），B 只增大十万分之二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6765" y="519684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4880" y="5133975"/>
              <a:ext cx="4487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换成铜（μᵣ ≈ 1 − 1×10⁻⁵），B 只减小十万分之一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248400" y="1524000"/>
            <a:ext cx="5410200" cy="1795462"/>
            <a:chOff x="6248400" y="1524000"/>
            <a:chExt cx="5410200" cy="1795462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34861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00022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由什么决定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88449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56223" y="210835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13461" y="210835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传导电流和磁化电流共同决定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75798" y="2108359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6223" y="255698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13461" y="255698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环流只由传导电流决定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75798" y="2556986"/>
              <a:ext cx="3407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A/m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56223" y="3005614"/>
              <a:ext cx="156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13461" y="30056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介质的磁化程度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75798" y="3005614"/>
              <a:ext cx="3407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A/m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00087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46321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llout-2"/>
          <p:cNvGrpSpPr/>
          <p:nvPr/>
        </p:nvGrpSpPr>
        <p:grpSpPr>
          <a:xfrm>
            <a:off x="6248400" y="3509962"/>
            <a:ext cx="5410200" cy="2067878"/>
            <a:chOff x="6248400" y="3509962"/>
            <a:chExt cx="5410200" cy="2067878"/>
          </a:xfrm>
        </p:grpSpPr>
        <p:sp>
          <p:nvSpPr>
            <p:cNvPr id="51" name="Rectangle 51"/>
            <p:cNvSpPr/>
            <p:nvPr/>
          </p:nvSpPr>
          <p:spPr>
            <a:xfrm>
              <a:off x="6248400" y="3509962"/>
              <a:ext cx="5410200" cy="2067878"/>
            </a:xfrm>
            <a:prstGeom prst="roundRect">
              <a:avLst>
                <a:gd name="adj" fmla="val 552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441129" y="4439721"/>
              <a:ext cx="224134" cy="192560"/>
              <a:chOff x="6441129" y="4439721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553200" y="451008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441129" y="443972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53200" y="45878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755130" y="4024312"/>
              <a:ext cx="43967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H 与介质无关，只在电流分布和介质都足够对称时成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立，比如本例的无限长直电流放在均匀无限大介质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中。一般情形下只有 H 的环流与介质无关，H 本身仍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会受介质影响。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8" name="Rectangle 5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130" y="5991225"/>
              <a:ext cx="8125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解题时的常规顺序：先由传导电流用环路定理求 H，再乘 μ 得到 B。这正是引入 H 的用处。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磁介质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铁磁质之一：磁导率很大，而且会饱和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g_initcurve"/>
          <p:cNvGrpSpPr/>
          <p:nvPr/>
        </p:nvGrpSpPr>
        <p:grpSpPr>
          <a:xfrm>
            <a:off x="1044016" y="1636395"/>
            <a:ext cx="4730991" cy="3512534"/>
            <a:chOff x="1044016" y="1636395"/>
            <a:chExt cx="4730991" cy="3512534"/>
          </a:xfrm>
        </p:grpSpPr>
        <p:sp>
          <p:nvSpPr>
            <p:cNvPr id="7" name="Freeform 7"/>
            <p:cNvSpPr/>
            <p:nvPr/>
          </p:nvSpPr>
          <p:spPr>
            <a:xfrm>
              <a:off x="1234440" y="4800600"/>
              <a:ext cx="4426267" cy="9525"/>
            </a:xfrm>
            <a:custGeom>
              <a:avLst/>
              <a:gdLst/>
              <a:ahLst/>
              <a:cxnLst/>
              <a:rect l="l" t="t" r="r" b="b"/>
              <a:pathLst>
                <a:path w="4426267" h="9525">
                  <a:moveTo>
                    <a:pt x="0" y="0"/>
                  </a:moveTo>
                  <a:lnTo>
                    <a:pt x="4426267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660708" y="4752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220152" y="1750695"/>
              <a:ext cx="9525" cy="3035618"/>
            </a:xfrm>
            <a:custGeom>
              <a:avLst/>
              <a:gdLst/>
              <a:ahLst/>
              <a:cxnLst/>
              <a:rect l="l" t="t" r="r" b="b"/>
              <a:pathLst>
                <a:path w="9525" h="3035618">
                  <a:moveTo>
                    <a:pt x="0" y="303561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72528" y="16554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231582" y="2161222"/>
              <a:ext cx="4308158" cy="2630805"/>
            </a:xfrm>
            <a:custGeom>
              <a:avLst/>
              <a:gdLst/>
              <a:ahLst/>
              <a:cxnLst/>
              <a:rect l="l" t="t" r="r" b="b"/>
              <a:pathLst>
                <a:path w="4308158" h="2630805">
                  <a:moveTo>
                    <a:pt x="0" y="2630805"/>
                  </a:moveTo>
                  <a:lnTo>
                    <a:pt x="31432" y="2607945"/>
                  </a:lnTo>
                  <a:lnTo>
                    <a:pt x="75247" y="2576512"/>
                  </a:lnTo>
                  <a:lnTo>
                    <a:pt x="118110" y="2544128"/>
                  </a:lnTo>
                  <a:lnTo>
                    <a:pt x="161925" y="2511743"/>
                  </a:lnTo>
                  <a:lnTo>
                    <a:pt x="204788" y="2478405"/>
                  </a:lnTo>
                  <a:lnTo>
                    <a:pt x="248602" y="2444115"/>
                  </a:lnTo>
                  <a:lnTo>
                    <a:pt x="291465" y="2407920"/>
                  </a:lnTo>
                  <a:lnTo>
                    <a:pt x="335280" y="2371725"/>
                  </a:lnTo>
                  <a:lnTo>
                    <a:pt x="378142" y="2333625"/>
                  </a:lnTo>
                  <a:lnTo>
                    <a:pt x="421957" y="2292668"/>
                  </a:lnTo>
                  <a:lnTo>
                    <a:pt x="465772" y="2250758"/>
                  </a:lnTo>
                  <a:lnTo>
                    <a:pt x="508635" y="2206942"/>
                  </a:lnTo>
                  <a:lnTo>
                    <a:pt x="552450" y="2161222"/>
                  </a:lnTo>
                  <a:lnTo>
                    <a:pt x="595312" y="2112645"/>
                  </a:lnTo>
                  <a:lnTo>
                    <a:pt x="639128" y="2061210"/>
                  </a:lnTo>
                  <a:lnTo>
                    <a:pt x="681990" y="2007870"/>
                  </a:lnTo>
                  <a:lnTo>
                    <a:pt x="725805" y="1952625"/>
                  </a:lnTo>
                  <a:lnTo>
                    <a:pt x="768667" y="1893570"/>
                  </a:lnTo>
                  <a:lnTo>
                    <a:pt x="811530" y="1832610"/>
                  </a:lnTo>
                  <a:lnTo>
                    <a:pt x="855345" y="1768793"/>
                  </a:lnTo>
                  <a:lnTo>
                    <a:pt x="898207" y="1703070"/>
                  </a:lnTo>
                  <a:lnTo>
                    <a:pt x="942022" y="1635443"/>
                  </a:lnTo>
                  <a:lnTo>
                    <a:pt x="984885" y="1564957"/>
                  </a:lnTo>
                  <a:lnTo>
                    <a:pt x="1028700" y="1492568"/>
                  </a:lnTo>
                  <a:lnTo>
                    <a:pt x="1071562" y="1418272"/>
                  </a:lnTo>
                  <a:lnTo>
                    <a:pt x="1115378" y="1343025"/>
                  </a:lnTo>
                  <a:lnTo>
                    <a:pt x="1158240" y="1266825"/>
                  </a:lnTo>
                  <a:lnTo>
                    <a:pt x="1202055" y="1189672"/>
                  </a:lnTo>
                  <a:lnTo>
                    <a:pt x="1244918" y="1112520"/>
                  </a:lnTo>
                  <a:lnTo>
                    <a:pt x="1288732" y="1035368"/>
                  </a:lnTo>
                  <a:lnTo>
                    <a:pt x="1331595" y="960120"/>
                  </a:lnTo>
                  <a:lnTo>
                    <a:pt x="1375410" y="885825"/>
                  </a:lnTo>
                  <a:lnTo>
                    <a:pt x="1418272" y="813435"/>
                  </a:lnTo>
                  <a:lnTo>
                    <a:pt x="1462088" y="742950"/>
                  </a:lnTo>
                  <a:lnTo>
                    <a:pt x="1504950" y="676275"/>
                  </a:lnTo>
                  <a:lnTo>
                    <a:pt x="1548765" y="612457"/>
                  </a:lnTo>
                  <a:lnTo>
                    <a:pt x="1591627" y="551498"/>
                  </a:lnTo>
                  <a:lnTo>
                    <a:pt x="1635442" y="495300"/>
                  </a:lnTo>
                  <a:lnTo>
                    <a:pt x="1678305" y="442912"/>
                  </a:lnTo>
                  <a:lnTo>
                    <a:pt x="1722120" y="395287"/>
                  </a:lnTo>
                  <a:lnTo>
                    <a:pt x="1764982" y="351473"/>
                  </a:lnTo>
                  <a:lnTo>
                    <a:pt x="1808797" y="312420"/>
                  </a:lnTo>
                  <a:lnTo>
                    <a:pt x="1851660" y="276225"/>
                  </a:lnTo>
                  <a:lnTo>
                    <a:pt x="1895475" y="245745"/>
                  </a:lnTo>
                  <a:lnTo>
                    <a:pt x="1938338" y="218123"/>
                  </a:lnTo>
                  <a:lnTo>
                    <a:pt x="1982152" y="193357"/>
                  </a:lnTo>
                  <a:lnTo>
                    <a:pt x="2025015" y="172402"/>
                  </a:lnTo>
                  <a:lnTo>
                    <a:pt x="2068830" y="155257"/>
                  </a:lnTo>
                  <a:lnTo>
                    <a:pt x="2111692" y="139065"/>
                  </a:lnTo>
                  <a:lnTo>
                    <a:pt x="2155508" y="126682"/>
                  </a:lnTo>
                  <a:lnTo>
                    <a:pt x="2199322" y="115252"/>
                  </a:lnTo>
                  <a:lnTo>
                    <a:pt x="2242185" y="105727"/>
                  </a:lnTo>
                  <a:lnTo>
                    <a:pt x="2286000" y="98107"/>
                  </a:lnTo>
                  <a:lnTo>
                    <a:pt x="2328862" y="91440"/>
                  </a:lnTo>
                  <a:lnTo>
                    <a:pt x="2372677" y="85725"/>
                  </a:lnTo>
                  <a:lnTo>
                    <a:pt x="2415540" y="80962"/>
                  </a:lnTo>
                  <a:lnTo>
                    <a:pt x="2459355" y="77152"/>
                  </a:lnTo>
                  <a:lnTo>
                    <a:pt x="2502218" y="73342"/>
                  </a:lnTo>
                  <a:lnTo>
                    <a:pt x="2546032" y="70485"/>
                  </a:lnTo>
                  <a:lnTo>
                    <a:pt x="2588895" y="67627"/>
                  </a:lnTo>
                  <a:lnTo>
                    <a:pt x="2631758" y="65723"/>
                  </a:lnTo>
                  <a:lnTo>
                    <a:pt x="2675572" y="63817"/>
                  </a:lnTo>
                  <a:lnTo>
                    <a:pt x="2718435" y="60960"/>
                  </a:lnTo>
                  <a:lnTo>
                    <a:pt x="2762250" y="59055"/>
                  </a:lnTo>
                  <a:lnTo>
                    <a:pt x="2805112" y="57150"/>
                  </a:lnTo>
                  <a:lnTo>
                    <a:pt x="2848927" y="55245"/>
                  </a:lnTo>
                  <a:lnTo>
                    <a:pt x="2891790" y="54292"/>
                  </a:lnTo>
                  <a:lnTo>
                    <a:pt x="2935605" y="52388"/>
                  </a:lnTo>
                  <a:lnTo>
                    <a:pt x="2978468" y="50482"/>
                  </a:lnTo>
                  <a:lnTo>
                    <a:pt x="3022282" y="48577"/>
                  </a:lnTo>
                  <a:lnTo>
                    <a:pt x="3065145" y="47625"/>
                  </a:lnTo>
                  <a:lnTo>
                    <a:pt x="3108960" y="45720"/>
                  </a:lnTo>
                  <a:lnTo>
                    <a:pt x="3151822" y="43815"/>
                  </a:lnTo>
                  <a:lnTo>
                    <a:pt x="3195638" y="41910"/>
                  </a:lnTo>
                  <a:lnTo>
                    <a:pt x="3238500" y="40957"/>
                  </a:lnTo>
                  <a:lnTo>
                    <a:pt x="3282315" y="39052"/>
                  </a:lnTo>
                  <a:lnTo>
                    <a:pt x="3325177" y="37148"/>
                  </a:lnTo>
                  <a:lnTo>
                    <a:pt x="3368992" y="35242"/>
                  </a:lnTo>
                  <a:lnTo>
                    <a:pt x="3411855" y="34290"/>
                  </a:lnTo>
                  <a:lnTo>
                    <a:pt x="3455670" y="32385"/>
                  </a:lnTo>
                  <a:lnTo>
                    <a:pt x="3498532" y="30480"/>
                  </a:lnTo>
                  <a:lnTo>
                    <a:pt x="3542348" y="29527"/>
                  </a:lnTo>
                  <a:lnTo>
                    <a:pt x="3585210" y="27623"/>
                  </a:lnTo>
                  <a:lnTo>
                    <a:pt x="3629025" y="25717"/>
                  </a:lnTo>
                  <a:lnTo>
                    <a:pt x="3671887" y="23812"/>
                  </a:lnTo>
                  <a:lnTo>
                    <a:pt x="3715702" y="22860"/>
                  </a:lnTo>
                  <a:lnTo>
                    <a:pt x="3758565" y="20955"/>
                  </a:lnTo>
                  <a:lnTo>
                    <a:pt x="3802380" y="19050"/>
                  </a:lnTo>
                  <a:lnTo>
                    <a:pt x="3845242" y="17145"/>
                  </a:lnTo>
                  <a:lnTo>
                    <a:pt x="3889058" y="16192"/>
                  </a:lnTo>
                  <a:lnTo>
                    <a:pt x="3931920" y="14288"/>
                  </a:lnTo>
                  <a:lnTo>
                    <a:pt x="3975735" y="12382"/>
                  </a:lnTo>
                  <a:lnTo>
                    <a:pt x="4019550" y="11430"/>
                  </a:lnTo>
                  <a:lnTo>
                    <a:pt x="4062412" y="9525"/>
                  </a:lnTo>
                  <a:lnTo>
                    <a:pt x="4106227" y="7620"/>
                  </a:lnTo>
                  <a:lnTo>
                    <a:pt x="4149090" y="5715"/>
                  </a:lnTo>
                  <a:lnTo>
                    <a:pt x="4192905" y="3810"/>
                  </a:lnTo>
                  <a:lnTo>
                    <a:pt x="4235768" y="2857"/>
                  </a:lnTo>
                  <a:lnTo>
                    <a:pt x="4279582" y="952"/>
                  </a:lnTo>
                  <a:lnTo>
                    <a:pt x="4308158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28725" y="3095625"/>
              <a:ext cx="4311015" cy="904875"/>
            </a:xfrm>
            <a:custGeom>
              <a:avLst/>
              <a:gdLst/>
              <a:ahLst/>
              <a:cxnLst/>
              <a:rect l="l" t="t" r="r" b="b"/>
              <a:pathLst>
                <a:path w="4311015" h="904875">
                  <a:moveTo>
                    <a:pt x="0" y="796290"/>
                  </a:moveTo>
                  <a:lnTo>
                    <a:pt x="34290" y="756285"/>
                  </a:lnTo>
                  <a:lnTo>
                    <a:pt x="78105" y="753428"/>
                  </a:lnTo>
                  <a:lnTo>
                    <a:pt x="120967" y="748665"/>
                  </a:lnTo>
                  <a:lnTo>
                    <a:pt x="164783" y="741997"/>
                  </a:lnTo>
                  <a:lnTo>
                    <a:pt x="207645" y="732472"/>
                  </a:lnTo>
                  <a:lnTo>
                    <a:pt x="251460" y="721995"/>
                  </a:lnTo>
                  <a:lnTo>
                    <a:pt x="294323" y="708660"/>
                  </a:lnTo>
                  <a:lnTo>
                    <a:pt x="338138" y="693420"/>
                  </a:lnTo>
                  <a:lnTo>
                    <a:pt x="381000" y="677228"/>
                  </a:lnTo>
                  <a:lnTo>
                    <a:pt x="424815" y="658178"/>
                  </a:lnTo>
                  <a:lnTo>
                    <a:pt x="468630" y="638175"/>
                  </a:lnTo>
                  <a:lnTo>
                    <a:pt x="511492" y="616267"/>
                  </a:lnTo>
                  <a:lnTo>
                    <a:pt x="555308" y="592455"/>
                  </a:lnTo>
                  <a:lnTo>
                    <a:pt x="598170" y="567690"/>
                  </a:lnTo>
                  <a:lnTo>
                    <a:pt x="641985" y="541020"/>
                  </a:lnTo>
                  <a:lnTo>
                    <a:pt x="684848" y="513397"/>
                  </a:lnTo>
                  <a:lnTo>
                    <a:pt x="728662" y="483870"/>
                  </a:lnTo>
                  <a:lnTo>
                    <a:pt x="771525" y="453390"/>
                  </a:lnTo>
                  <a:lnTo>
                    <a:pt x="814388" y="421958"/>
                  </a:lnTo>
                  <a:lnTo>
                    <a:pt x="858202" y="390525"/>
                  </a:lnTo>
                  <a:lnTo>
                    <a:pt x="901065" y="358140"/>
                  </a:lnTo>
                  <a:lnTo>
                    <a:pt x="944880" y="325755"/>
                  </a:lnTo>
                  <a:lnTo>
                    <a:pt x="987742" y="292417"/>
                  </a:lnTo>
                  <a:lnTo>
                    <a:pt x="1031558" y="260985"/>
                  </a:lnTo>
                  <a:lnTo>
                    <a:pt x="1074420" y="228600"/>
                  </a:lnTo>
                  <a:lnTo>
                    <a:pt x="1118235" y="198120"/>
                  </a:lnTo>
                  <a:lnTo>
                    <a:pt x="1161098" y="167640"/>
                  </a:lnTo>
                  <a:lnTo>
                    <a:pt x="1204912" y="140017"/>
                  </a:lnTo>
                  <a:lnTo>
                    <a:pt x="1247775" y="113347"/>
                  </a:lnTo>
                  <a:lnTo>
                    <a:pt x="1291590" y="89535"/>
                  </a:lnTo>
                  <a:lnTo>
                    <a:pt x="1334453" y="67628"/>
                  </a:lnTo>
                  <a:lnTo>
                    <a:pt x="1378268" y="48578"/>
                  </a:lnTo>
                  <a:lnTo>
                    <a:pt x="1421130" y="32385"/>
                  </a:lnTo>
                  <a:lnTo>
                    <a:pt x="1464945" y="19050"/>
                  </a:lnTo>
                  <a:lnTo>
                    <a:pt x="1507808" y="9525"/>
                  </a:lnTo>
                  <a:lnTo>
                    <a:pt x="1551622" y="2858"/>
                  </a:lnTo>
                  <a:lnTo>
                    <a:pt x="1594485" y="0"/>
                  </a:lnTo>
                  <a:lnTo>
                    <a:pt x="1638300" y="0"/>
                  </a:lnTo>
                  <a:lnTo>
                    <a:pt x="1681162" y="2858"/>
                  </a:lnTo>
                  <a:lnTo>
                    <a:pt x="1724978" y="9525"/>
                  </a:lnTo>
                  <a:lnTo>
                    <a:pt x="1767840" y="19050"/>
                  </a:lnTo>
                  <a:lnTo>
                    <a:pt x="1811655" y="30480"/>
                  </a:lnTo>
                  <a:lnTo>
                    <a:pt x="1854518" y="44767"/>
                  </a:lnTo>
                  <a:lnTo>
                    <a:pt x="1898332" y="60960"/>
                  </a:lnTo>
                  <a:lnTo>
                    <a:pt x="1941195" y="78105"/>
                  </a:lnTo>
                  <a:lnTo>
                    <a:pt x="1985010" y="98108"/>
                  </a:lnTo>
                  <a:lnTo>
                    <a:pt x="2027872" y="119062"/>
                  </a:lnTo>
                  <a:lnTo>
                    <a:pt x="2071688" y="140970"/>
                  </a:lnTo>
                  <a:lnTo>
                    <a:pt x="2114550" y="162878"/>
                  </a:lnTo>
                  <a:lnTo>
                    <a:pt x="2158365" y="186690"/>
                  </a:lnTo>
                  <a:lnTo>
                    <a:pt x="2202180" y="209550"/>
                  </a:lnTo>
                  <a:lnTo>
                    <a:pt x="2245042" y="232410"/>
                  </a:lnTo>
                  <a:lnTo>
                    <a:pt x="2288858" y="256222"/>
                  </a:lnTo>
                  <a:lnTo>
                    <a:pt x="2331720" y="279083"/>
                  </a:lnTo>
                  <a:lnTo>
                    <a:pt x="2375535" y="301942"/>
                  </a:lnTo>
                  <a:lnTo>
                    <a:pt x="2418398" y="324803"/>
                  </a:lnTo>
                  <a:lnTo>
                    <a:pt x="2462212" y="346710"/>
                  </a:lnTo>
                  <a:lnTo>
                    <a:pt x="2505075" y="368617"/>
                  </a:lnTo>
                  <a:lnTo>
                    <a:pt x="2548890" y="389572"/>
                  </a:lnTo>
                  <a:lnTo>
                    <a:pt x="2591752" y="409575"/>
                  </a:lnTo>
                  <a:lnTo>
                    <a:pt x="2634615" y="429578"/>
                  </a:lnTo>
                  <a:lnTo>
                    <a:pt x="2678430" y="449580"/>
                  </a:lnTo>
                  <a:lnTo>
                    <a:pt x="2721292" y="468630"/>
                  </a:lnTo>
                  <a:lnTo>
                    <a:pt x="2765108" y="486728"/>
                  </a:lnTo>
                  <a:lnTo>
                    <a:pt x="2807970" y="504825"/>
                  </a:lnTo>
                  <a:lnTo>
                    <a:pt x="2851785" y="521970"/>
                  </a:lnTo>
                  <a:lnTo>
                    <a:pt x="2894648" y="539115"/>
                  </a:lnTo>
                  <a:lnTo>
                    <a:pt x="2938462" y="555308"/>
                  </a:lnTo>
                  <a:lnTo>
                    <a:pt x="2981325" y="571500"/>
                  </a:lnTo>
                  <a:lnTo>
                    <a:pt x="3025140" y="586740"/>
                  </a:lnTo>
                  <a:lnTo>
                    <a:pt x="3068002" y="601980"/>
                  </a:lnTo>
                  <a:lnTo>
                    <a:pt x="3111818" y="616267"/>
                  </a:lnTo>
                  <a:lnTo>
                    <a:pt x="3154680" y="630555"/>
                  </a:lnTo>
                  <a:lnTo>
                    <a:pt x="3198495" y="644842"/>
                  </a:lnTo>
                  <a:lnTo>
                    <a:pt x="3241358" y="658178"/>
                  </a:lnTo>
                  <a:lnTo>
                    <a:pt x="3285172" y="670560"/>
                  </a:lnTo>
                  <a:lnTo>
                    <a:pt x="3328035" y="683895"/>
                  </a:lnTo>
                  <a:lnTo>
                    <a:pt x="3371850" y="696278"/>
                  </a:lnTo>
                  <a:lnTo>
                    <a:pt x="3414712" y="708660"/>
                  </a:lnTo>
                  <a:lnTo>
                    <a:pt x="3458528" y="720090"/>
                  </a:lnTo>
                  <a:lnTo>
                    <a:pt x="3501390" y="731520"/>
                  </a:lnTo>
                  <a:lnTo>
                    <a:pt x="3545205" y="742950"/>
                  </a:lnTo>
                  <a:lnTo>
                    <a:pt x="3588068" y="754380"/>
                  </a:lnTo>
                  <a:lnTo>
                    <a:pt x="3631882" y="764858"/>
                  </a:lnTo>
                  <a:lnTo>
                    <a:pt x="3674745" y="775335"/>
                  </a:lnTo>
                  <a:lnTo>
                    <a:pt x="3718560" y="784860"/>
                  </a:lnTo>
                  <a:lnTo>
                    <a:pt x="3761422" y="795338"/>
                  </a:lnTo>
                  <a:lnTo>
                    <a:pt x="3805238" y="804862"/>
                  </a:lnTo>
                  <a:lnTo>
                    <a:pt x="3848100" y="814388"/>
                  </a:lnTo>
                  <a:lnTo>
                    <a:pt x="3891915" y="823912"/>
                  </a:lnTo>
                  <a:lnTo>
                    <a:pt x="3934778" y="833438"/>
                  </a:lnTo>
                  <a:lnTo>
                    <a:pt x="3978593" y="842010"/>
                  </a:lnTo>
                  <a:lnTo>
                    <a:pt x="4022407" y="850583"/>
                  </a:lnTo>
                  <a:lnTo>
                    <a:pt x="4065270" y="859155"/>
                  </a:lnTo>
                  <a:lnTo>
                    <a:pt x="4109085" y="867728"/>
                  </a:lnTo>
                  <a:lnTo>
                    <a:pt x="4151948" y="875347"/>
                  </a:lnTo>
                  <a:lnTo>
                    <a:pt x="4195762" y="883920"/>
                  </a:lnTo>
                  <a:lnTo>
                    <a:pt x="4238625" y="891540"/>
                  </a:lnTo>
                  <a:lnTo>
                    <a:pt x="4282440" y="899160"/>
                  </a:lnTo>
                  <a:lnTo>
                    <a:pt x="4311015" y="904875"/>
                  </a:lnTo>
                </a:path>
              </a:pathLst>
            </a:custGeom>
            <a:noFill/>
            <a:ln w="20955">
              <a:solidFill>
                <a:srgbClr val="F26B3A"/>
              </a:solidFill>
              <a:custDash>
                <a:ds d="272727" sp="181818"/>
              </a:custDash>
            </a:ln>
          </p:spPr>
        </p:sp>
        <p:sp>
          <p:nvSpPr>
            <p:cNvPr id="13" name="Ellipse 13"/>
            <p:cNvSpPr/>
            <p:nvPr/>
          </p:nvSpPr>
          <p:spPr>
            <a:xfrm>
              <a:off x="1215390" y="47958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765482" y="47958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215390" y="47958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215390" y="16363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215390" y="47958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549265" y="21555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215390" y="389858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549265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692592" y="4320540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2732722" y="2726055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073015" y="2129790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38364" y="495823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13779" y="1681639"/>
              <a:ext cx="2985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B、μ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75250" y="412765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15380" y="25331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56625" y="19369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4016" y="4938712"/>
              <a:ext cx="1103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41250" y="2462212"/>
              <a:ext cx="9985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B–H 起始磁化曲线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00240" y="2953702"/>
              <a:ext cx="4517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μ = B/H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464618" y="1524000"/>
            <a:ext cx="5193982" cy="1209675"/>
            <a:chOff x="6464618" y="1524000"/>
            <a:chExt cx="5193982" cy="1209675"/>
          </a:xfrm>
        </p:grpSpPr>
        <p:sp>
          <p:nvSpPr>
            <p:cNvPr id="33" name="Rectangle 33"/>
            <p:cNvSpPr/>
            <p:nvPr/>
          </p:nvSpPr>
          <p:spPr>
            <a:xfrm>
              <a:off x="6464618" y="1524000"/>
              <a:ext cx="5193982" cy="1209675"/>
            </a:xfrm>
            <a:prstGeom prst="roundRect">
              <a:avLst>
                <a:gd name="adj" fmla="val 1102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57022" y="1716405"/>
              <a:ext cx="939165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34676" y="1750695"/>
              <a:ext cx="783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 磁导率大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0164" y="2072640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铁磁质的 μᵣ 可达 10²～10⁴ 甚至更高。电磁铁、变压器都把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线圈绕在铁芯上，就是为了用很小的电流得到很强的磁场。</a:t>
              </a:r>
            </a:p>
          </p:txBody>
        </p:sp>
      </p:grpSp>
      <p:grpSp>
        <p:nvGrpSpPr>
          <p:cNvPr id="51" name="c2-steps-2"/>
          <p:cNvGrpSpPr/>
          <p:nvPr/>
        </p:nvGrpSpPr>
        <p:grpSpPr>
          <a:xfrm>
            <a:off x="6464618" y="2918460"/>
            <a:ext cx="3306596" cy="1693069"/>
            <a:chOff x="6464618" y="2918460"/>
            <a:chExt cx="3306596" cy="1693069"/>
          </a:xfrm>
        </p:grpSpPr>
        <p:sp>
          <p:nvSpPr>
            <p:cNvPr id="38" name="Rectangle 38"/>
            <p:cNvSpPr/>
            <p:nvPr/>
          </p:nvSpPr>
          <p:spPr>
            <a:xfrm>
              <a:off x="6597968" y="306133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464618" y="291846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8241" y="29922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64618" y="35052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8241" y="35790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64618" y="40919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8241" y="41657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76860" y="2949892"/>
              <a:ext cx="509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Oa 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78002" y="3217069"/>
              <a:ext cx="2274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较小时，B 与 H 近似成线性关系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76860" y="3536632"/>
              <a:ext cx="462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 段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78002" y="3804761"/>
              <a:ext cx="16392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继续增大，B 急剧增大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76860" y="4123372"/>
              <a:ext cx="462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 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78002" y="4391501"/>
              <a:ext cx="2893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到某一值后 B 几乎不再增加，达到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磁饱和</a:t>
              </a:r>
            </a:p>
          </p:txBody>
        </p:sp>
      </p:grpSp>
      <p:grpSp>
        <p:nvGrpSpPr>
          <p:cNvPr id="58" name="c2-callout-3"/>
          <p:cNvGrpSpPr/>
          <p:nvPr/>
        </p:nvGrpSpPr>
        <p:grpSpPr>
          <a:xfrm>
            <a:off x="6464618" y="4780598"/>
            <a:ext cx="5193982" cy="729615"/>
            <a:chOff x="6464618" y="4780598"/>
            <a:chExt cx="5193982" cy="729615"/>
          </a:xfrm>
        </p:grpSpPr>
        <p:sp>
          <p:nvSpPr>
            <p:cNvPr id="52" name="Rectangle 52"/>
            <p:cNvSpPr/>
            <p:nvPr/>
          </p:nvSpPr>
          <p:spPr>
            <a:xfrm>
              <a:off x="6464618" y="4780598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657347" y="5040748"/>
              <a:ext cx="224134" cy="192560"/>
              <a:chOff x="6657347" y="5040748"/>
              <a:chExt cx="224134" cy="1925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769418" y="51111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657347" y="50407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69418" y="5188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972110" y="4926330"/>
              <a:ext cx="423995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μ = B/H 不是常数：沿起始磁化曲线先增大，到最大值后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随饱和而减小。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9" name="Rectangle 5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892" y="6023610"/>
              <a:ext cx="10525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测量时把样品做成圆环，绕上线圈通电流，由环路定理 H = NI/(2πr) 算出 H，另用一组线圈接磁通计测出 B，逐点画出 B–H 曲线。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09126" cy="909257"/>
            <a:chOff x="520446" y="342900"/>
            <a:chExt cx="65091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磁介质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091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铁磁质之二：磁滞回线，B 的变化落后于 H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g_hyst"/>
          <p:cNvGrpSpPr/>
          <p:nvPr/>
        </p:nvGrpSpPr>
        <p:grpSpPr>
          <a:xfrm>
            <a:off x="776288" y="1644015"/>
            <a:ext cx="4943475" cy="3924966"/>
            <a:chOff x="776288" y="1644015"/>
            <a:chExt cx="4943475" cy="3924966"/>
          </a:xfrm>
        </p:grpSpPr>
        <p:sp>
          <p:nvSpPr>
            <p:cNvPr id="7" name="Freeform 7"/>
            <p:cNvSpPr/>
            <p:nvPr/>
          </p:nvSpPr>
          <p:spPr>
            <a:xfrm>
              <a:off x="795338" y="3582352"/>
              <a:ext cx="4810125" cy="9525"/>
            </a:xfrm>
            <a:custGeom>
              <a:avLst/>
              <a:gdLst/>
              <a:ahLst/>
              <a:cxnLst/>
              <a:rect l="l" t="t" r="r" b="b"/>
              <a:pathLst>
                <a:path w="4810125" h="9525">
                  <a:moveTo>
                    <a:pt x="0" y="0"/>
                  </a:moveTo>
                  <a:lnTo>
                    <a:pt x="481012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605462" y="35347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238500" y="1758315"/>
              <a:ext cx="9525" cy="3717607"/>
            </a:xfrm>
            <a:custGeom>
              <a:avLst/>
              <a:gdLst/>
              <a:ahLst/>
              <a:cxnLst/>
              <a:rect l="l" t="t" r="r" b="b"/>
              <a:pathLst>
                <a:path w="9525" h="3717607">
                  <a:moveTo>
                    <a:pt x="0" y="371760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90875" y="16630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82040" y="1985962"/>
              <a:ext cx="4312920" cy="3180398"/>
            </a:xfrm>
            <a:custGeom>
              <a:avLst/>
              <a:gdLst/>
              <a:ahLst/>
              <a:cxnLst/>
              <a:rect l="l" t="t" r="r" b="b"/>
              <a:pathLst>
                <a:path w="4312920" h="3180398">
                  <a:moveTo>
                    <a:pt x="4312920" y="0"/>
                  </a:moveTo>
                  <a:lnTo>
                    <a:pt x="4273867" y="0"/>
                  </a:lnTo>
                  <a:lnTo>
                    <a:pt x="4219575" y="0"/>
                  </a:lnTo>
                  <a:lnTo>
                    <a:pt x="4164330" y="0"/>
                  </a:lnTo>
                  <a:lnTo>
                    <a:pt x="4110990" y="0"/>
                  </a:lnTo>
                  <a:lnTo>
                    <a:pt x="4056698" y="0"/>
                  </a:lnTo>
                  <a:lnTo>
                    <a:pt x="4001452" y="0"/>
                  </a:lnTo>
                  <a:lnTo>
                    <a:pt x="3948112" y="0"/>
                  </a:lnTo>
                  <a:lnTo>
                    <a:pt x="3893820" y="0"/>
                  </a:lnTo>
                  <a:lnTo>
                    <a:pt x="3838575" y="0"/>
                  </a:lnTo>
                  <a:lnTo>
                    <a:pt x="3785235" y="0"/>
                  </a:lnTo>
                  <a:lnTo>
                    <a:pt x="3730943" y="0"/>
                  </a:lnTo>
                  <a:lnTo>
                    <a:pt x="3676650" y="952"/>
                  </a:lnTo>
                  <a:lnTo>
                    <a:pt x="3622357" y="952"/>
                  </a:lnTo>
                  <a:lnTo>
                    <a:pt x="3568065" y="952"/>
                  </a:lnTo>
                  <a:lnTo>
                    <a:pt x="3513772" y="1905"/>
                  </a:lnTo>
                  <a:lnTo>
                    <a:pt x="3459480" y="1905"/>
                  </a:lnTo>
                  <a:lnTo>
                    <a:pt x="3405188" y="1905"/>
                  </a:lnTo>
                  <a:lnTo>
                    <a:pt x="3350895" y="2858"/>
                  </a:lnTo>
                  <a:lnTo>
                    <a:pt x="3296602" y="3810"/>
                  </a:lnTo>
                  <a:lnTo>
                    <a:pt x="3242310" y="4762"/>
                  </a:lnTo>
                  <a:lnTo>
                    <a:pt x="3188018" y="5715"/>
                  </a:lnTo>
                  <a:lnTo>
                    <a:pt x="3133725" y="7620"/>
                  </a:lnTo>
                  <a:lnTo>
                    <a:pt x="3079432" y="9525"/>
                  </a:lnTo>
                  <a:lnTo>
                    <a:pt x="3025140" y="11430"/>
                  </a:lnTo>
                  <a:lnTo>
                    <a:pt x="2970848" y="14288"/>
                  </a:lnTo>
                  <a:lnTo>
                    <a:pt x="2916555" y="17145"/>
                  </a:lnTo>
                  <a:lnTo>
                    <a:pt x="2862262" y="20955"/>
                  </a:lnTo>
                  <a:lnTo>
                    <a:pt x="2807970" y="25717"/>
                  </a:lnTo>
                  <a:lnTo>
                    <a:pt x="2753678" y="31433"/>
                  </a:lnTo>
                  <a:lnTo>
                    <a:pt x="2699385" y="38100"/>
                  </a:lnTo>
                  <a:lnTo>
                    <a:pt x="2645093" y="46673"/>
                  </a:lnTo>
                  <a:lnTo>
                    <a:pt x="2590800" y="57150"/>
                  </a:lnTo>
                  <a:lnTo>
                    <a:pt x="2536507" y="69533"/>
                  </a:lnTo>
                  <a:lnTo>
                    <a:pt x="2482215" y="84773"/>
                  </a:lnTo>
                  <a:lnTo>
                    <a:pt x="2427922" y="102870"/>
                  </a:lnTo>
                  <a:lnTo>
                    <a:pt x="2373630" y="124777"/>
                  </a:lnTo>
                  <a:lnTo>
                    <a:pt x="2319338" y="150495"/>
                  </a:lnTo>
                  <a:lnTo>
                    <a:pt x="2265045" y="182880"/>
                  </a:lnTo>
                  <a:lnTo>
                    <a:pt x="2210752" y="220027"/>
                  </a:lnTo>
                  <a:lnTo>
                    <a:pt x="2156460" y="264795"/>
                  </a:lnTo>
                  <a:lnTo>
                    <a:pt x="2102168" y="318135"/>
                  </a:lnTo>
                  <a:lnTo>
                    <a:pt x="2047875" y="380048"/>
                  </a:lnTo>
                  <a:lnTo>
                    <a:pt x="1993582" y="452438"/>
                  </a:lnTo>
                  <a:lnTo>
                    <a:pt x="1939290" y="535305"/>
                  </a:lnTo>
                  <a:lnTo>
                    <a:pt x="1884998" y="631508"/>
                  </a:lnTo>
                  <a:lnTo>
                    <a:pt x="1830705" y="739140"/>
                  </a:lnTo>
                  <a:lnTo>
                    <a:pt x="1776413" y="858203"/>
                  </a:lnTo>
                  <a:lnTo>
                    <a:pt x="1722120" y="989647"/>
                  </a:lnTo>
                  <a:lnTo>
                    <a:pt x="1667828" y="1130618"/>
                  </a:lnTo>
                  <a:lnTo>
                    <a:pt x="1613535" y="1281112"/>
                  </a:lnTo>
                  <a:lnTo>
                    <a:pt x="1559243" y="1436370"/>
                  </a:lnTo>
                  <a:lnTo>
                    <a:pt x="1504950" y="1596390"/>
                  </a:lnTo>
                  <a:lnTo>
                    <a:pt x="1450657" y="1755458"/>
                  </a:lnTo>
                  <a:lnTo>
                    <a:pt x="1396365" y="1911668"/>
                  </a:lnTo>
                  <a:lnTo>
                    <a:pt x="1342072" y="2061210"/>
                  </a:lnTo>
                  <a:lnTo>
                    <a:pt x="1287780" y="2203132"/>
                  </a:lnTo>
                  <a:lnTo>
                    <a:pt x="1233488" y="2333625"/>
                  </a:lnTo>
                  <a:lnTo>
                    <a:pt x="1179195" y="2453640"/>
                  </a:lnTo>
                  <a:lnTo>
                    <a:pt x="1124902" y="2561272"/>
                  </a:lnTo>
                  <a:lnTo>
                    <a:pt x="1070610" y="2656522"/>
                  </a:lnTo>
                  <a:lnTo>
                    <a:pt x="1016318" y="2739390"/>
                  </a:lnTo>
                  <a:lnTo>
                    <a:pt x="962025" y="2811780"/>
                  </a:lnTo>
                  <a:lnTo>
                    <a:pt x="907733" y="2873692"/>
                  </a:lnTo>
                  <a:lnTo>
                    <a:pt x="853440" y="2927032"/>
                  </a:lnTo>
                  <a:lnTo>
                    <a:pt x="799148" y="2971800"/>
                  </a:lnTo>
                  <a:lnTo>
                    <a:pt x="744855" y="3009900"/>
                  </a:lnTo>
                  <a:lnTo>
                    <a:pt x="690562" y="3041332"/>
                  </a:lnTo>
                  <a:lnTo>
                    <a:pt x="636270" y="3068002"/>
                  </a:lnTo>
                  <a:lnTo>
                    <a:pt x="581978" y="3088957"/>
                  </a:lnTo>
                  <a:lnTo>
                    <a:pt x="527685" y="3107055"/>
                  </a:lnTo>
                  <a:lnTo>
                    <a:pt x="474345" y="3122295"/>
                  </a:lnTo>
                  <a:lnTo>
                    <a:pt x="419100" y="3134678"/>
                  </a:lnTo>
                  <a:lnTo>
                    <a:pt x="364808" y="3145155"/>
                  </a:lnTo>
                  <a:lnTo>
                    <a:pt x="311468" y="3153728"/>
                  </a:lnTo>
                  <a:lnTo>
                    <a:pt x="256223" y="3161348"/>
                  </a:lnTo>
                  <a:lnTo>
                    <a:pt x="201930" y="3166110"/>
                  </a:lnTo>
                  <a:lnTo>
                    <a:pt x="148590" y="3170872"/>
                  </a:lnTo>
                  <a:lnTo>
                    <a:pt x="93345" y="3174682"/>
                  </a:lnTo>
                  <a:lnTo>
                    <a:pt x="39053" y="3178493"/>
                  </a:lnTo>
                  <a:lnTo>
                    <a:pt x="0" y="3180398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82040" y="1998345"/>
              <a:ext cx="4312920" cy="3180398"/>
            </a:xfrm>
            <a:custGeom>
              <a:avLst/>
              <a:gdLst/>
              <a:ahLst/>
              <a:cxnLst/>
              <a:rect l="l" t="t" r="r" b="b"/>
              <a:pathLst>
                <a:path w="4312920" h="3180398">
                  <a:moveTo>
                    <a:pt x="0" y="3180398"/>
                  </a:moveTo>
                  <a:lnTo>
                    <a:pt x="39053" y="3179445"/>
                  </a:lnTo>
                  <a:lnTo>
                    <a:pt x="93345" y="3179445"/>
                  </a:lnTo>
                  <a:lnTo>
                    <a:pt x="148590" y="3179445"/>
                  </a:lnTo>
                  <a:lnTo>
                    <a:pt x="201930" y="3179445"/>
                  </a:lnTo>
                  <a:lnTo>
                    <a:pt x="256223" y="3179445"/>
                  </a:lnTo>
                  <a:lnTo>
                    <a:pt x="311468" y="3179445"/>
                  </a:lnTo>
                  <a:lnTo>
                    <a:pt x="364808" y="3179445"/>
                  </a:lnTo>
                  <a:lnTo>
                    <a:pt x="419100" y="3179445"/>
                  </a:lnTo>
                  <a:lnTo>
                    <a:pt x="474345" y="3179445"/>
                  </a:lnTo>
                  <a:lnTo>
                    <a:pt x="527685" y="3179445"/>
                  </a:lnTo>
                  <a:lnTo>
                    <a:pt x="581978" y="3179445"/>
                  </a:lnTo>
                  <a:lnTo>
                    <a:pt x="636270" y="3179445"/>
                  </a:lnTo>
                  <a:lnTo>
                    <a:pt x="690562" y="3179445"/>
                  </a:lnTo>
                  <a:lnTo>
                    <a:pt x="744855" y="3178492"/>
                  </a:lnTo>
                  <a:lnTo>
                    <a:pt x="799148" y="3178492"/>
                  </a:lnTo>
                  <a:lnTo>
                    <a:pt x="853440" y="3177540"/>
                  </a:lnTo>
                  <a:lnTo>
                    <a:pt x="907733" y="3177540"/>
                  </a:lnTo>
                  <a:lnTo>
                    <a:pt x="962025" y="3176587"/>
                  </a:lnTo>
                  <a:lnTo>
                    <a:pt x="1016318" y="3175635"/>
                  </a:lnTo>
                  <a:lnTo>
                    <a:pt x="1070610" y="3174682"/>
                  </a:lnTo>
                  <a:lnTo>
                    <a:pt x="1124902" y="3173730"/>
                  </a:lnTo>
                  <a:lnTo>
                    <a:pt x="1179195" y="3172777"/>
                  </a:lnTo>
                  <a:lnTo>
                    <a:pt x="1233488" y="3170873"/>
                  </a:lnTo>
                  <a:lnTo>
                    <a:pt x="1287780" y="3168015"/>
                  </a:lnTo>
                  <a:lnTo>
                    <a:pt x="1342072" y="3166110"/>
                  </a:lnTo>
                  <a:lnTo>
                    <a:pt x="1396365" y="3162300"/>
                  </a:lnTo>
                  <a:lnTo>
                    <a:pt x="1450657" y="3158490"/>
                  </a:lnTo>
                  <a:lnTo>
                    <a:pt x="1504950" y="3153727"/>
                  </a:lnTo>
                  <a:lnTo>
                    <a:pt x="1559243" y="3148965"/>
                  </a:lnTo>
                  <a:lnTo>
                    <a:pt x="1613535" y="3141345"/>
                  </a:lnTo>
                  <a:lnTo>
                    <a:pt x="1667828" y="3132773"/>
                  </a:lnTo>
                  <a:lnTo>
                    <a:pt x="1722120" y="3122295"/>
                  </a:lnTo>
                  <a:lnTo>
                    <a:pt x="1776413" y="3109912"/>
                  </a:lnTo>
                  <a:lnTo>
                    <a:pt x="1830705" y="3094673"/>
                  </a:lnTo>
                  <a:lnTo>
                    <a:pt x="1884998" y="3076575"/>
                  </a:lnTo>
                  <a:lnTo>
                    <a:pt x="1939290" y="3055620"/>
                  </a:lnTo>
                  <a:lnTo>
                    <a:pt x="1993582" y="3028950"/>
                  </a:lnTo>
                  <a:lnTo>
                    <a:pt x="2047875" y="2997518"/>
                  </a:lnTo>
                  <a:lnTo>
                    <a:pt x="2102168" y="2959418"/>
                  </a:lnTo>
                  <a:lnTo>
                    <a:pt x="2156460" y="2914650"/>
                  </a:lnTo>
                  <a:lnTo>
                    <a:pt x="2210752" y="2861310"/>
                  </a:lnTo>
                  <a:lnTo>
                    <a:pt x="2265045" y="2799398"/>
                  </a:lnTo>
                  <a:lnTo>
                    <a:pt x="2319338" y="2727008"/>
                  </a:lnTo>
                  <a:lnTo>
                    <a:pt x="2373630" y="2644140"/>
                  </a:lnTo>
                  <a:lnTo>
                    <a:pt x="2427922" y="2548890"/>
                  </a:lnTo>
                  <a:lnTo>
                    <a:pt x="2482215" y="2441258"/>
                  </a:lnTo>
                  <a:lnTo>
                    <a:pt x="2536507" y="2321242"/>
                  </a:lnTo>
                  <a:lnTo>
                    <a:pt x="2590800" y="2190750"/>
                  </a:lnTo>
                  <a:lnTo>
                    <a:pt x="2645093" y="2048827"/>
                  </a:lnTo>
                  <a:lnTo>
                    <a:pt x="2699385" y="1899285"/>
                  </a:lnTo>
                  <a:lnTo>
                    <a:pt x="2753678" y="1743075"/>
                  </a:lnTo>
                  <a:lnTo>
                    <a:pt x="2807970" y="1584008"/>
                  </a:lnTo>
                  <a:lnTo>
                    <a:pt x="2862262" y="1423988"/>
                  </a:lnTo>
                  <a:lnTo>
                    <a:pt x="2916555" y="1268730"/>
                  </a:lnTo>
                  <a:lnTo>
                    <a:pt x="2970848" y="1118235"/>
                  </a:lnTo>
                  <a:lnTo>
                    <a:pt x="3025140" y="977265"/>
                  </a:lnTo>
                  <a:lnTo>
                    <a:pt x="3079432" y="845820"/>
                  </a:lnTo>
                  <a:lnTo>
                    <a:pt x="3133725" y="726758"/>
                  </a:lnTo>
                  <a:lnTo>
                    <a:pt x="3188018" y="619125"/>
                  </a:lnTo>
                  <a:lnTo>
                    <a:pt x="3242310" y="522922"/>
                  </a:lnTo>
                  <a:lnTo>
                    <a:pt x="3296602" y="440055"/>
                  </a:lnTo>
                  <a:lnTo>
                    <a:pt x="3350895" y="367665"/>
                  </a:lnTo>
                  <a:lnTo>
                    <a:pt x="3405188" y="305752"/>
                  </a:lnTo>
                  <a:lnTo>
                    <a:pt x="3459480" y="252412"/>
                  </a:lnTo>
                  <a:lnTo>
                    <a:pt x="3513772" y="207645"/>
                  </a:lnTo>
                  <a:lnTo>
                    <a:pt x="3568065" y="170497"/>
                  </a:lnTo>
                  <a:lnTo>
                    <a:pt x="3622357" y="138112"/>
                  </a:lnTo>
                  <a:lnTo>
                    <a:pt x="3676650" y="112395"/>
                  </a:lnTo>
                  <a:lnTo>
                    <a:pt x="3730943" y="90488"/>
                  </a:lnTo>
                  <a:lnTo>
                    <a:pt x="3785235" y="72390"/>
                  </a:lnTo>
                  <a:lnTo>
                    <a:pt x="3838575" y="57150"/>
                  </a:lnTo>
                  <a:lnTo>
                    <a:pt x="3893820" y="44767"/>
                  </a:lnTo>
                  <a:lnTo>
                    <a:pt x="3948112" y="34290"/>
                  </a:lnTo>
                  <a:lnTo>
                    <a:pt x="4001452" y="25717"/>
                  </a:lnTo>
                  <a:lnTo>
                    <a:pt x="4056698" y="19050"/>
                  </a:lnTo>
                  <a:lnTo>
                    <a:pt x="4110990" y="13335"/>
                  </a:lnTo>
                  <a:lnTo>
                    <a:pt x="4164330" y="8572"/>
                  </a:lnTo>
                  <a:lnTo>
                    <a:pt x="4219575" y="4762"/>
                  </a:lnTo>
                  <a:lnTo>
                    <a:pt x="4273867" y="1905"/>
                  </a:lnTo>
                  <a:lnTo>
                    <a:pt x="4312920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250882" y="2048828"/>
              <a:ext cx="2144077" cy="1526857"/>
            </a:xfrm>
            <a:custGeom>
              <a:avLst/>
              <a:gdLst/>
              <a:ahLst/>
              <a:cxnLst/>
              <a:rect l="l" t="t" r="r" b="b"/>
              <a:pathLst>
                <a:path w="2144077" h="1526857">
                  <a:moveTo>
                    <a:pt x="0" y="1526857"/>
                  </a:moveTo>
                  <a:lnTo>
                    <a:pt x="41910" y="1504950"/>
                  </a:lnTo>
                  <a:lnTo>
                    <a:pt x="96202" y="1463040"/>
                  </a:lnTo>
                  <a:lnTo>
                    <a:pt x="150495" y="1414463"/>
                  </a:lnTo>
                  <a:lnTo>
                    <a:pt x="204788" y="1360170"/>
                  </a:lnTo>
                  <a:lnTo>
                    <a:pt x="259080" y="1303020"/>
                  </a:lnTo>
                  <a:lnTo>
                    <a:pt x="313372" y="1243013"/>
                  </a:lnTo>
                  <a:lnTo>
                    <a:pt x="367665" y="1180148"/>
                  </a:lnTo>
                  <a:lnTo>
                    <a:pt x="421958" y="1116330"/>
                  </a:lnTo>
                  <a:lnTo>
                    <a:pt x="476250" y="1051560"/>
                  </a:lnTo>
                  <a:lnTo>
                    <a:pt x="530542" y="985838"/>
                  </a:lnTo>
                  <a:lnTo>
                    <a:pt x="584835" y="921068"/>
                  </a:lnTo>
                  <a:lnTo>
                    <a:pt x="639127" y="857250"/>
                  </a:lnTo>
                  <a:lnTo>
                    <a:pt x="693420" y="793432"/>
                  </a:lnTo>
                  <a:lnTo>
                    <a:pt x="747712" y="732472"/>
                  </a:lnTo>
                  <a:lnTo>
                    <a:pt x="802005" y="672465"/>
                  </a:lnTo>
                  <a:lnTo>
                    <a:pt x="856297" y="615315"/>
                  </a:lnTo>
                  <a:lnTo>
                    <a:pt x="910590" y="560070"/>
                  </a:lnTo>
                  <a:lnTo>
                    <a:pt x="964883" y="507682"/>
                  </a:lnTo>
                  <a:lnTo>
                    <a:pt x="1019175" y="458152"/>
                  </a:lnTo>
                  <a:lnTo>
                    <a:pt x="1073468" y="411480"/>
                  </a:lnTo>
                  <a:lnTo>
                    <a:pt x="1127760" y="368618"/>
                  </a:lnTo>
                  <a:lnTo>
                    <a:pt x="1182052" y="327660"/>
                  </a:lnTo>
                  <a:lnTo>
                    <a:pt x="1236345" y="290512"/>
                  </a:lnTo>
                  <a:lnTo>
                    <a:pt x="1290638" y="256223"/>
                  </a:lnTo>
                  <a:lnTo>
                    <a:pt x="1344930" y="224790"/>
                  </a:lnTo>
                  <a:lnTo>
                    <a:pt x="1399222" y="196215"/>
                  </a:lnTo>
                  <a:lnTo>
                    <a:pt x="1453515" y="170498"/>
                  </a:lnTo>
                  <a:lnTo>
                    <a:pt x="1507808" y="146685"/>
                  </a:lnTo>
                  <a:lnTo>
                    <a:pt x="1562100" y="124777"/>
                  </a:lnTo>
                  <a:lnTo>
                    <a:pt x="1616392" y="105727"/>
                  </a:lnTo>
                  <a:lnTo>
                    <a:pt x="1669732" y="88583"/>
                  </a:lnTo>
                  <a:lnTo>
                    <a:pt x="1724977" y="73343"/>
                  </a:lnTo>
                  <a:lnTo>
                    <a:pt x="1779270" y="60008"/>
                  </a:lnTo>
                  <a:lnTo>
                    <a:pt x="1832610" y="47625"/>
                  </a:lnTo>
                  <a:lnTo>
                    <a:pt x="1887855" y="36195"/>
                  </a:lnTo>
                  <a:lnTo>
                    <a:pt x="1942148" y="26670"/>
                  </a:lnTo>
                  <a:lnTo>
                    <a:pt x="1995487" y="18098"/>
                  </a:lnTo>
                  <a:lnTo>
                    <a:pt x="2050732" y="11430"/>
                  </a:lnTo>
                  <a:lnTo>
                    <a:pt x="2105025" y="4762"/>
                  </a:lnTo>
                  <a:lnTo>
                    <a:pt x="2144077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240405" y="2101215"/>
              <a:ext cx="247650" cy="175260"/>
            </a:xfrm>
            <a:custGeom>
              <a:avLst/>
              <a:gdLst/>
              <a:ahLst/>
              <a:cxnLst/>
              <a:rect l="l" t="t" r="r" b="b"/>
              <a:pathLst>
                <a:path w="247650" h="175260">
                  <a:moveTo>
                    <a:pt x="247650" y="0"/>
                  </a:moveTo>
                  <a:lnTo>
                    <a:pt x="0" y="17526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163252" y="2238375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0" y="93345"/>
                  </a:moveTo>
                  <a:lnTo>
                    <a:pt x="49530" y="0"/>
                  </a:lnTo>
                  <a:lnTo>
                    <a:pt x="104775" y="77152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988945" y="4887278"/>
              <a:ext cx="247650" cy="175260"/>
            </a:xfrm>
            <a:custGeom>
              <a:avLst/>
              <a:gdLst/>
              <a:ahLst/>
              <a:cxnLst/>
              <a:rect l="l" t="t" r="r" b="b"/>
              <a:pathLst>
                <a:path w="247650" h="175260">
                  <a:moveTo>
                    <a:pt x="0" y="175260"/>
                  </a:moveTo>
                  <a:lnTo>
                    <a:pt x="24765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208972" y="4832032"/>
              <a:ext cx="104775" cy="94298"/>
            </a:xfrm>
            <a:custGeom>
              <a:avLst/>
              <a:gdLst/>
              <a:ahLst/>
              <a:cxnLst/>
              <a:rect l="l" t="t" r="r" b="b"/>
              <a:pathLst>
                <a:path w="104775" h="94298">
                  <a:moveTo>
                    <a:pt x="104775" y="0"/>
                  </a:moveTo>
                  <a:lnTo>
                    <a:pt x="55245" y="94298"/>
                  </a:lnTo>
                  <a:lnTo>
                    <a:pt x="0" y="16192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776288" y="357759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710238" y="357759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3233738" y="54854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3233738" y="16440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404485" y="19802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62990" y="51615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62990" y="51739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404485" y="19926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233738" y="357759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404485" y="2043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494722" y="20878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147060" y="23355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2972752" y="50663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3320415" y="48186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190875" y="220313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190875" y="4865370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539365" y="353472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842385" y="353472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361622" y="1937385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20128" y="5131118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74148" y="375189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55776" y="16697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945391" y="2047875"/>
              <a:ext cx="178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Br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66335" y="5008245"/>
              <a:ext cx="2624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−Br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81450" y="3777615"/>
              <a:ext cx="2624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−Hc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75031" y="3328035"/>
              <a:ext cx="178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Hc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818802" y="1710214"/>
              <a:ext cx="8132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a（饱和 Bs）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3392" y="5378291"/>
              <a:ext cx="6611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a′（−Bs）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296222" y="3734752"/>
              <a:ext cx="1055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</p:grpSp>
      <p:grpSp>
        <p:nvGrpSpPr>
          <p:cNvPr id="65" name="c2-steps-1"/>
          <p:cNvGrpSpPr/>
          <p:nvPr/>
        </p:nvGrpSpPr>
        <p:grpSpPr>
          <a:xfrm>
            <a:off x="6248400" y="1533525"/>
            <a:ext cx="3930701" cy="2411159"/>
            <a:chOff x="6248400" y="1533525"/>
            <a:chExt cx="3930701" cy="2411159"/>
          </a:xfrm>
        </p:grpSpPr>
        <p:sp>
          <p:nvSpPr>
            <p:cNvPr id="48" name="Rectangle 48"/>
            <p:cNvSpPr/>
            <p:nvPr/>
          </p:nvSpPr>
          <p:spPr>
            <a:xfrm>
              <a:off x="6381750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248400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2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248400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2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248400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2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60261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磁化到饱和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61404" y="1846898"/>
              <a:ext cx="29646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O 沿起始磁化曲线（虚线）到饱和点 a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60261" y="2187416"/>
              <a:ext cx="5770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撤去 H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61404" y="2467927"/>
              <a:ext cx="26862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减到 0 时 B 不回到 0，留下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剩磁</a:t>
              </a: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Br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60261" y="2808446"/>
              <a:ext cx="7682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加反向 H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61404" y="3088957"/>
              <a:ext cx="2644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−Hc 时 B 才减到 0，Hc 叫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矫顽力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60261" y="342947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反复磁化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61404" y="3709988"/>
              <a:ext cx="3517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继续反向到饱和 a′ 再返回，得到闭合的磁滞回线</a:t>
              </a:r>
            </a:p>
          </p:txBody>
        </p:sp>
      </p:grpSp>
      <p:grpSp>
        <p:nvGrpSpPr>
          <p:cNvPr id="85" name="c2-table-2"/>
          <p:cNvGrpSpPr/>
          <p:nvPr/>
        </p:nvGrpSpPr>
        <p:grpSpPr>
          <a:xfrm>
            <a:off x="6248400" y="4120515"/>
            <a:ext cx="5410200" cy="1933575"/>
            <a:chOff x="6248400" y="4120515"/>
            <a:chExt cx="5410200" cy="1933575"/>
          </a:xfrm>
        </p:grpSpPr>
        <p:sp>
          <p:nvSpPr>
            <p:cNvPr id="66" name="Rectangle 66"/>
            <p:cNvSpPr/>
            <p:nvPr/>
          </p:nvSpPr>
          <p:spPr>
            <a:xfrm>
              <a:off x="6248400" y="4120515"/>
              <a:ext cx="5410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21780" y="4251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96569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回线形状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679876" y="4251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特点与用途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353747" y="478821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软磁材料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35786" y="4788217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窄而陡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626412" y="4681538"/>
              <a:ext cx="26639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Hc 小，容易磁化也容易退磁：变压器、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电机铁芯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51892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248400" y="5193982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53747" y="532542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硬磁材料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435786" y="532542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宽而胖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626412" y="5325428"/>
              <a:ext cx="1657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 和 Hc 都大：永磁体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248400" y="56197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353747" y="575595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矩磁材料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435786" y="575595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接近矩形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626412" y="5755958"/>
              <a:ext cx="28302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 ≈ Bs，两个稳定的剩磁状态：磁存储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248400" y="4120515"/>
              <a:ext cx="5410200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7325678" y="4120515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8516302" y="4120515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磁介质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铁磁性来自磁畴，温度超过居里点就消失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1104379" y="1524000"/>
            <a:ext cx="3835806" cy="3076289"/>
            <a:chOff x="1104379" y="1524000"/>
            <a:chExt cx="3835806" cy="3076289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5548" t="0" r="5548" b="0"/>
            <a:stretch>
              <a:fillRect/>
            </a:stretch>
          </p:blipFill>
          <p:spPr>
            <a:xfrm>
              <a:off x="1160145" y="1524000"/>
              <a:ext cx="3724275" cy="2792730"/>
            </a:xfrm>
            <a:prstGeom prst="roundRect">
              <a:avLst>
                <a:gd name="adj" fmla="val 4774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104379" y="4409599"/>
              <a:ext cx="38358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显微镜下的磁畴：每一块区域内磁矩排列整齐，相邻区域方向不同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745355"/>
            <a:ext cx="4977765" cy="1526858"/>
            <a:chOff x="533400" y="4745355"/>
            <a:chExt cx="4977765" cy="1526858"/>
          </a:xfrm>
        </p:grpSpPr>
        <p:sp>
          <p:nvSpPr>
            <p:cNvPr id="10" name="Rectangle 10"/>
            <p:cNvSpPr/>
            <p:nvPr/>
          </p:nvSpPr>
          <p:spPr>
            <a:xfrm>
              <a:off x="533400" y="4745355"/>
              <a:ext cx="4977765" cy="1526858"/>
            </a:xfrm>
            <a:prstGeom prst="roundRect">
              <a:avLst>
                <a:gd name="adj" fmla="val 748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5409248"/>
              <a:ext cx="200026" cy="200025"/>
              <a:chOff x="738188" y="5409248"/>
              <a:chExt cx="200026" cy="2000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38188" y="54092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7926" y="54536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12642" y="55648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1273" y="5303044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磁畴的线度一般在微米到毫米之间，每个磁畴包含大量分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子。</a:t>
              </a:r>
            </a:p>
          </p:txBody>
        </p:sp>
      </p:grpSp>
      <p:grpSp>
        <p:nvGrpSpPr>
          <p:cNvPr id="22" name="c2-card-1"/>
          <p:cNvGrpSpPr/>
          <p:nvPr/>
        </p:nvGrpSpPr>
        <p:grpSpPr>
          <a:xfrm>
            <a:off x="5815965" y="1524000"/>
            <a:ext cx="5842635" cy="1143952"/>
            <a:chOff x="5815965" y="1524000"/>
            <a:chExt cx="5842635" cy="1143952"/>
          </a:xfrm>
        </p:grpSpPr>
        <p:sp>
          <p:nvSpPr>
            <p:cNvPr id="17" name="Rectangle 17"/>
            <p:cNvSpPr/>
            <p:nvPr/>
          </p:nvSpPr>
          <p:spPr>
            <a:xfrm>
              <a:off x="5815965" y="1524000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825490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3504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26759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磁畴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28563" y="2045494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铁磁质内部分成许多自发磁化的小区域，叫磁畴，每个磁畴内分子磁矩排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列整齐。理论认为磁畴来源于电子自旋磁矩之间的相互作用。</a:t>
              </a:r>
            </a:p>
          </p:txBody>
        </p:sp>
      </p:grpSp>
      <p:grpSp>
        <p:nvGrpSpPr>
          <p:cNvPr id="36" name="c2-steps-2"/>
          <p:cNvGrpSpPr/>
          <p:nvPr/>
        </p:nvGrpSpPr>
        <p:grpSpPr>
          <a:xfrm>
            <a:off x="5815965" y="2842260"/>
            <a:ext cx="3943807" cy="1596961"/>
            <a:chOff x="5815965" y="2842260"/>
            <a:chExt cx="3943807" cy="1596961"/>
          </a:xfrm>
        </p:grpSpPr>
        <p:sp>
          <p:nvSpPr>
            <p:cNvPr id="23" name="Rectangle 23"/>
            <p:cNvSpPr/>
            <p:nvPr/>
          </p:nvSpPr>
          <p:spPr>
            <a:xfrm>
              <a:off x="5949315" y="2985135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815965" y="284226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09589" y="29160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815965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09589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815965" y="39481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09589" y="40219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28588" y="28732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无外场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29731" y="312801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各磁畴磁化方向杂乱，宏观上不显磁性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28588" y="34256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加外场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9731" y="3680460"/>
              <a:ext cx="35300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与外场方向接近的磁畴扩大，其他磁畴转向，B 迅速增大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28588" y="397906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饱和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9731" y="4233862"/>
              <a:ext cx="26819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所有磁畴都转到外场方向，B 不再明显增加</a:t>
              </a:r>
            </a:p>
          </p:txBody>
        </p:sp>
      </p:grpSp>
      <p:grpSp>
        <p:nvGrpSpPr>
          <p:cNvPr id="45" name="c2-card-3"/>
          <p:cNvGrpSpPr/>
          <p:nvPr/>
        </p:nvGrpSpPr>
        <p:grpSpPr>
          <a:xfrm>
            <a:off x="5815965" y="4600575"/>
            <a:ext cx="5842635" cy="1671638"/>
            <a:chOff x="5815965" y="4600575"/>
            <a:chExt cx="5842635" cy="1671638"/>
          </a:xfrm>
        </p:grpSpPr>
        <p:sp>
          <p:nvSpPr>
            <p:cNvPr id="37" name="Rectangle 37"/>
            <p:cNvSpPr/>
            <p:nvPr/>
          </p:nvSpPr>
          <p:spPr>
            <a:xfrm>
              <a:off x="5815965" y="4600575"/>
              <a:ext cx="584263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25490" y="4733925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35040" y="478155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01258" y="481441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磁滞损耗与居里温度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044565" y="517398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00013" y="5122069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磁畴壁移动和转向时有类似摩擦的阻碍，使 B 落后于 H，一部分磁化能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变成热，叫磁滞损耗，每个循环的损耗与回线面积成正比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044565" y="570166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00013" y="5649754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温度升到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居里温度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时，热运动瓦解磁畴，铁磁质变成顺磁质；纯铁的居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里温度约 770 °C（1043 K）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58024" cy="3351847"/>
            <a:chOff x="667512" y="1835468"/>
            <a:chExt cx="445802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安培环路定理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481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5.6，对称电流的磁场用它求最快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779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从长直电流看 H 的环流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定理的一般形式与电流正负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螺线管、环形螺线管、圆柱导体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例：圆柱面旁回路的磁通量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72784" cy="909257"/>
            <a:chOff x="520446" y="342900"/>
            <a:chExt cx="76727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安培环路定理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727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从长直电流看 H 的环流：只和回路包围的电流有关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g_ampere"/>
          <p:cNvGrpSpPr/>
          <p:nvPr/>
        </p:nvGrpSpPr>
        <p:grpSpPr>
          <a:xfrm>
            <a:off x="1150620" y="2041684"/>
            <a:ext cx="3892867" cy="2985610"/>
            <a:chOff x="1150620" y="2041684"/>
            <a:chExt cx="3892867" cy="2985610"/>
          </a:xfrm>
        </p:grpSpPr>
        <p:sp>
          <p:nvSpPr>
            <p:cNvPr id="7" name="Freeform 7"/>
            <p:cNvSpPr/>
            <p:nvPr/>
          </p:nvSpPr>
          <p:spPr>
            <a:xfrm>
              <a:off x="1181100" y="2118360"/>
              <a:ext cx="2323148" cy="2322195"/>
            </a:xfrm>
            <a:custGeom>
              <a:avLst/>
              <a:gdLst/>
              <a:ahLst/>
              <a:cxnLst/>
              <a:rect l="l" t="t" r="r" b="b"/>
              <a:pathLst>
                <a:path w="2323148" h="2322195">
                  <a:moveTo>
                    <a:pt x="2323148" y="1146810"/>
                  </a:moveTo>
                  <a:lnTo>
                    <a:pt x="2321242" y="1080135"/>
                  </a:lnTo>
                  <a:lnTo>
                    <a:pt x="2312670" y="999172"/>
                  </a:lnTo>
                  <a:lnTo>
                    <a:pt x="2299335" y="919162"/>
                  </a:lnTo>
                  <a:lnTo>
                    <a:pt x="2279332" y="841057"/>
                  </a:lnTo>
                  <a:lnTo>
                    <a:pt x="2254568" y="763905"/>
                  </a:lnTo>
                  <a:lnTo>
                    <a:pt x="2224088" y="688657"/>
                  </a:lnTo>
                  <a:lnTo>
                    <a:pt x="2187892" y="615315"/>
                  </a:lnTo>
                  <a:lnTo>
                    <a:pt x="2147888" y="544830"/>
                  </a:lnTo>
                  <a:lnTo>
                    <a:pt x="2102168" y="478155"/>
                  </a:lnTo>
                  <a:lnTo>
                    <a:pt x="2052638" y="414337"/>
                  </a:lnTo>
                  <a:lnTo>
                    <a:pt x="1998345" y="353377"/>
                  </a:lnTo>
                  <a:lnTo>
                    <a:pt x="1939290" y="297180"/>
                  </a:lnTo>
                  <a:lnTo>
                    <a:pt x="1877378" y="245745"/>
                  </a:lnTo>
                  <a:lnTo>
                    <a:pt x="1811655" y="197167"/>
                  </a:lnTo>
                  <a:lnTo>
                    <a:pt x="1743075" y="154305"/>
                  </a:lnTo>
                  <a:lnTo>
                    <a:pt x="1671638" y="117157"/>
                  </a:lnTo>
                  <a:lnTo>
                    <a:pt x="1597342" y="83820"/>
                  </a:lnTo>
                  <a:lnTo>
                    <a:pt x="1521142" y="56198"/>
                  </a:lnTo>
                  <a:lnTo>
                    <a:pt x="1443038" y="33338"/>
                  </a:lnTo>
                  <a:lnTo>
                    <a:pt x="1363980" y="16192"/>
                  </a:lnTo>
                  <a:lnTo>
                    <a:pt x="1283018" y="5715"/>
                  </a:lnTo>
                  <a:lnTo>
                    <a:pt x="1202055" y="0"/>
                  </a:lnTo>
                  <a:lnTo>
                    <a:pt x="1121092" y="0"/>
                  </a:lnTo>
                  <a:lnTo>
                    <a:pt x="1040130" y="5715"/>
                  </a:lnTo>
                  <a:lnTo>
                    <a:pt x="960120" y="16192"/>
                  </a:lnTo>
                  <a:lnTo>
                    <a:pt x="881062" y="33338"/>
                  </a:lnTo>
                  <a:lnTo>
                    <a:pt x="802958" y="56198"/>
                  </a:lnTo>
                  <a:lnTo>
                    <a:pt x="726758" y="83820"/>
                  </a:lnTo>
                  <a:lnTo>
                    <a:pt x="652462" y="117157"/>
                  </a:lnTo>
                  <a:lnTo>
                    <a:pt x="581025" y="154305"/>
                  </a:lnTo>
                  <a:lnTo>
                    <a:pt x="512445" y="197167"/>
                  </a:lnTo>
                  <a:lnTo>
                    <a:pt x="446723" y="245745"/>
                  </a:lnTo>
                  <a:lnTo>
                    <a:pt x="384810" y="297180"/>
                  </a:lnTo>
                  <a:lnTo>
                    <a:pt x="325755" y="353377"/>
                  </a:lnTo>
                  <a:lnTo>
                    <a:pt x="271462" y="414337"/>
                  </a:lnTo>
                  <a:lnTo>
                    <a:pt x="221933" y="478155"/>
                  </a:lnTo>
                  <a:lnTo>
                    <a:pt x="176212" y="544830"/>
                  </a:lnTo>
                  <a:lnTo>
                    <a:pt x="136208" y="615315"/>
                  </a:lnTo>
                  <a:lnTo>
                    <a:pt x="100012" y="688657"/>
                  </a:lnTo>
                  <a:lnTo>
                    <a:pt x="69533" y="763905"/>
                  </a:lnTo>
                  <a:lnTo>
                    <a:pt x="44767" y="841057"/>
                  </a:lnTo>
                  <a:lnTo>
                    <a:pt x="24765" y="919162"/>
                  </a:lnTo>
                  <a:lnTo>
                    <a:pt x="11430" y="999172"/>
                  </a:lnTo>
                  <a:lnTo>
                    <a:pt x="2857" y="1080135"/>
                  </a:lnTo>
                  <a:lnTo>
                    <a:pt x="0" y="1161098"/>
                  </a:lnTo>
                  <a:lnTo>
                    <a:pt x="2857" y="1242060"/>
                  </a:lnTo>
                  <a:lnTo>
                    <a:pt x="11430" y="1323022"/>
                  </a:lnTo>
                  <a:lnTo>
                    <a:pt x="24765" y="1403032"/>
                  </a:lnTo>
                  <a:lnTo>
                    <a:pt x="44767" y="1481137"/>
                  </a:lnTo>
                  <a:lnTo>
                    <a:pt x="69533" y="1558290"/>
                  </a:lnTo>
                  <a:lnTo>
                    <a:pt x="100012" y="1633537"/>
                  </a:lnTo>
                  <a:lnTo>
                    <a:pt x="136208" y="1706880"/>
                  </a:lnTo>
                  <a:lnTo>
                    <a:pt x="176212" y="1777365"/>
                  </a:lnTo>
                  <a:lnTo>
                    <a:pt x="221933" y="1844040"/>
                  </a:lnTo>
                  <a:lnTo>
                    <a:pt x="271462" y="1907857"/>
                  </a:lnTo>
                  <a:lnTo>
                    <a:pt x="325755" y="1967865"/>
                  </a:lnTo>
                  <a:lnTo>
                    <a:pt x="384810" y="2025015"/>
                  </a:lnTo>
                  <a:lnTo>
                    <a:pt x="446723" y="2076450"/>
                  </a:lnTo>
                  <a:lnTo>
                    <a:pt x="512445" y="2124075"/>
                  </a:lnTo>
                  <a:lnTo>
                    <a:pt x="581025" y="2167890"/>
                  </a:lnTo>
                  <a:lnTo>
                    <a:pt x="652462" y="2205990"/>
                  </a:lnTo>
                  <a:lnTo>
                    <a:pt x="726758" y="2238375"/>
                  </a:lnTo>
                  <a:lnTo>
                    <a:pt x="802958" y="2266950"/>
                  </a:lnTo>
                  <a:lnTo>
                    <a:pt x="881062" y="2288858"/>
                  </a:lnTo>
                  <a:lnTo>
                    <a:pt x="960120" y="2305050"/>
                  </a:lnTo>
                  <a:lnTo>
                    <a:pt x="1040130" y="2317432"/>
                  </a:lnTo>
                  <a:lnTo>
                    <a:pt x="1121092" y="2322195"/>
                  </a:lnTo>
                  <a:lnTo>
                    <a:pt x="1202055" y="2322195"/>
                  </a:lnTo>
                  <a:lnTo>
                    <a:pt x="1283018" y="2317432"/>
                  </a:lnTo>
                  <a:lnTo>
                    <a:pt x="1363980" y="2305050"/>
                  </a:lnTo>
                  <a:lnTo>
                    <a:pt x="1443038" y="2288858"/>
                  </a:lnTo>
                  <a:lnTo>
                    <a:pt x="1521142" y="2266950"/>
                  </a:lnTo>
                  <a:lnTo>
                    <a:pt x="1597342" y="2238375"/>
                  </a:lnTo>
                  <a:lnTo>
                    <a:pt x="1671638" y="2205990"/>
                  </a:lnTo>
                  <a:lnTo>
                    <a:pt x="1743075" y="2167890"/>
                  </a:lnTo>
                  <a:lnTo>
                    <a:pt x="1811655" y="2124075"/>
                  </a:lnTo>
                  <a:lnTo>
                    <a:pt x="1877378" y="2076450"/>
                  </a:lnTo>
                  <a:lnTo>
                    <a:pt x="1939290" y="2025015"/>
                  </a:lnTo>
                  <a:lnTo>
                    <a:pt x="1998345" y="1967865"/>
                  </a:lnTo>
                  <a:lnTo>
                    <a:pt x="2052638" y="1907857"/>
                  </a:lnTo>
                  <a:lnTo>
                    <a:pt x="2102168" y="1844040"/>
                  </a:lnTo>
                  <a:lnTo>
                    <a:pt x="2147888" y="1777365"/>
                  </a:lnTo>
                  <a:lnTo>
                    <a:pt x="2187892" y="1706880"/>
                  </a:lnTo>
                  <a:lnTo>
                    <a:pt x="2224088" y="1633537"/>
                  </a:lnTo>
                  <a:lnTo>
                    <a:pt x="2254568" y="1558290"/>
                  </a:lnTo>
                  <a:lnTo>
                    <a:pt x="2279332" y="1481137"/>
                  </a:lnTo>
                  <a:lnTo>
                    <a:pt x="2299335" y="1403032"/>
                  </a:lnTo>
                  <a:lnTo>
                    <a:pt x="2312670" y="1323022"/>
                  </a:lnTo>
                  <a:lnTo>
                    <a:pt x="2321242" y="1242060"/>
                  </a:lnTo>
                  <a:lnTo>
                    <a:pt x="2323148" y="1175385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81100" y="2992755"/>
              <a:ext cx="36195" cy="488633"/>
            </a:xfrm>
            <a:custGeom>
              <a:avLst/>
              <a:gdLst/>
              <a:ahLst/>
              <a:cxnLst/>
              <a:rect l="l" t="t" r="r" b="b"/>
              <a:pathLst>
                <a:path w="36195" h="488633">
                  <a:moveTo>
                    <a:pt x="36195" y="0"/>
                  </a:moveTo>
                  <a:lnTo>
                    <a:pt x="17145" y="84773"/>
                  </a:lnTo>
                  <a:lnTo>
                    <a:pt x="3810" y="185738"/>
                  </a:lnTo>
                  <a:lnTo>
                    <a:pt x="0" y="286703"/>
                  </a:lnTo>
                  <a:lnTo>
                    <a:pt x="3810" y="387667"/>
                  </a:lnTo>
                  <a:lnTo>
                    <a:pt x="17145" y="488633"/>
                  </a:lnTo>
                  <a:lnTo>
                    <a:pt x="15240" y="48101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150620" y="3463290"/>
              <a:ext cx="92393" cy="102870"/>
            </a:xfrm>
            <a:custGeom>
              <a:avLst/>
              <a:gdLst/>
              <a:ahLst/>
              <a:cxnLst/>
              <a:rect l="l" t="t" r="r" b="b"/>
              <a:pathLst>
                <a:path w="92393" h="102870">
                  <a:moveTo>
                    <a:pt x="66675" y="102870"/>
                  </a:moveTo>
                  <a:lnTo>
                    <a:pt x="0" y="20002"/>
                  </a:lnTo>
                  <a:lnTo>
                    <a:pt x="92393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3469005" y="3077528"/>
              <a:ext cx="36195" cy="488632"/>
            </a:xfrm>
            <a:custGeom>
              <a:avLst/>
              <a:gdLst/>
              <a:ahLst/>
              <a:cxnLst/>
              <a:rect l="l" t="t" r="r" b="b"/>
              <a:pathLst>
                <a:path w="36195" h="488632">
                  <a:moveTo>
                    <a:pt x="0" y="488632"/>
                  </a:moveTo>
                  <a:lnTo>
                    <a:pt x="19050" y="403860"/>
                  </a:lnTo>
                  <a:lnTo>
                    <a:pt x="32385" y="302895"/>
                  </a:lnTo>
                  <a:lnTo>
                    <a:pt x="36195" y="201930"/>
                  </a:lnTo>
                  <a:lnTo>
                    <a:pt x="32385" y="100965"/>
                  </a:lnTo>
                  <a:lnTo>
                    <a:pt x="19050" y="0"/>
                  </a:lnTo>
                  <a:lnTo>
                    <a:pt x="20003" y="857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443288" y="2992755"/>
              <a:ext cx="92392" cy="102870"/>
            </a:xfrm>
            <a:custGeom>
              <a:avLst/>
              <a:gdLst/>
              <a:ahLst/>
              <a:cxnLst/>
              <a:rect l="l" t="t" r="r" b="b"/>
              <a:pathLst>
                <a:path w="92392" h="102870">
                  <a:moveTo>
                    <a:pt x="25717" y="0"/>
                  </a:moveTo>
                  <a:lnTo>
                    <a:pt x="92392" y="82867"/>
                  </a:lnTo>
                  <a:lnTo>
                    <a:pt x="0" y="10287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2228850" y="3165158"/>
              <a:ext cx="226695" cy="228600"/>
            </a:xfrm>
            <a:custGeom>
              <a:avLst/>
              <a:gdLst/>
              <a:ahLst/>
              <a:cxnLst/>
              <a:rect l="l" t="t" r="r" b="b"/>
              <a:pathLst>
                <a:path w="226695" h="228600">
                  <a:moveTo>
                    <a:pt x="226695" y="100012"/>
                  </a:moveTo>
                  <a:lnTo>
                    <a:pt x="225742" y="88583"/>
                  </a:lnTo>
                  <a:lnTo>
                    <a:pt x="217170" y="64770"/>
                  </a:lnTo>
                  <a:lnTo>
                    <a:pt x="203835" y="42862"/>
                  </a:lnTo>
                  <a:lnTo>
                    <a:pt x="185738" y="24765"/>
                  </a:lnTo>
                  <a:lnTo>
                    <a:pt x="163830" y="11430"/>
                  </a:lnTo>
                  <a:lnTo>
                    <a:pt x="140017" y="2858"/>
                  </a:lnTo>
                  <a:lnTo>
                    <a:pt x="114300" y="0"/>
                  </a:lnTo>
                  <a:lnTo>
                    <a:pt x="88583" y="2858"/>
                  </a:lnTo>
                  <a:lnTo>
                    <a:pt x="64770" y="11430"/>
                  </a:lnTo>
                  <a:lnTo>
                    <a:pt x="42862" y="24765"/>
                  </a:lnTo>
                  <a:lnTo>
                    <a:pt x="24765" y="42862"/>
                  </a:lnTo>
                  <a:lnTo>
                    <a:pt x="11430" y="64770"/>
                  </a:lnTo>
                  <a:lnTo>
                    <a:pt x="2858" y="88583"/>
                  </a:lnTo>
                  <a:lnTo>
                    <a:pt x="0" y="114300"/>
                  </a:lnTo>
                  <a:lnTo>
                    <a:pt x="2858" y="140017"/>
                  </a:lnTo>
                  <a:lnTo>
                    <a:pt x="11430" y="163830"/>
                  </a:lnTo>
                  <a:lnTo>
                    <a:pt x="24765" y="185738"/>
                  </a:lnTo>
                  <a:lnTo>
                    <a:pt x="42862" y="203835"/>
                  </a:lnTo>
                  <a:lnTo>
                    <a:pt x="64770" y="217170"/>
                  </a:lnTo>
                  <a:lnTo>
                    <a:pt x="88583" y="225742"/>
                  </a:lnTo>
                  <a:lnTo>
                    <a:pt x="114300" y="228600"/>
                  </a:lnTo>
                  <a:lnTo>
                    <a:pt x="140017" y="225742"/>
                  </a:lnTo>
                  <a:lnTo>
                    <a:pt x="163830" y="217170"/>
                  </a:lnTo>
                  <a:lnTo>
                    <a:pt x="185738" y="203835"/>
                  </a:lnTo>
                  <a:lnTo>
                    <a:pt x="203835" y="185738"/>
                  </a:lnTo>
                  <a:lnTo>
                    <a:pt x="217170" y="163830"/>
                  </a:lnTo>
                  <a:lnTo>
                    <a:pt x="225742" y="140017"/>
                  </a:lnTo>
                  <a:lnTo>
                    <a:pt x="226695" y="128588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353628" y="2542222"/>
              <a:ext cx="868680" cy="727710"/>
            </a:xfrm>
            <a:custGeom>
              <a:avLst/>
              <a:gdLst/>
              <a:ahLst/>
              <a:cxnLst/>
              <a:rect l="l" t="t" r="r" b="b"/>
              <a:pathLst>
                <a:path w="868680" h="727710">
                  <a:moveTo>
                    <a:pt x="0" y="727710"/>
                  </a:moveTo>
                  <a:lnTo>
                    <a:pt x="8686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24175" y="2164080"/>
              <a:ext cx="300038" cy="357188"/>
            </a:xfrm>
            <a:custGeom>
              <a:avLst/>
              <a:gdLst/>
              <a:ahLst/>
              <a:cxnLst/>
              <a:rect l="l" t="t" r="r" b="b"/>
              <a:pathLst>
                <a:path w="300038" h="357188">
                  <a:moveTo>
                    <a:pt x="300038" y="357188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863215" y="2090738"/>
              <a:ext cx="97155" cy="103823"/>
            </a:xfrm>
            <a:custGeom>
              <a:avLst/>
              <a:gdLst/>
              <a:ahLst/>
              <a:cxnLst/>
              <a:rect l="l" t="t" r="r" b="b"/>
              <a:pathLst>
                <a:path w="97155" h="103823">
                  <a:moveTo>
                    <a:pt x="0" y="0"/>
                  </a:moveTo>
                  <a:lnTo>
                    <a:pt x="97155" y="42862"/>
                  </a:lnTo>
                  <a:lnTo>
                    <a:pt x="24765" y="103823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933825" y="3631882"/>
              <a:ext cx="1103947" cy="1104900"/>
            </a:xfrm>
            <a:custGeom>
              <a:avLst/>
              <a:gdLst/>
              <a:ahLst/>
              <a:cxnLst/>
              <a:rect l="l" t="t" r="r" b="b"/>
              <a:pathLst>
                <a:path w="1103947" h="1104900">
                  <a:moveTo>
                    <a:pt x="1103947" y="538162"/>
                  </a:moveTo>
                  <a:lnTo>
                    <a:pt x="1102043" y="494347"/>
                  </a:lnTo>
                  <a:lnTo>
                    <a:pt x="1092518" y="438150"/>
                  </a:lnTo>
                  <a:lnTo>
                    <a:pt x="1078230" y="381952"/>
                  </a:lnTo>
                  <a:lnTo>
                    <a:pt x="1057275" y="327660"/>
                  </a:lnTo>
                  <a:lnTo>
                    <a:pt x="1031557" y="276225"/>
                  </a:lnTo>
                  <a:lnTo>
                    <a:pt x="1000125" y="227647"/>
                  </a:lnTo>
                  <a:lnTo>
                    <a:pt x="962978" y="182880"/>
                  </a:lnTo>
                  <a:lnTo>
                    <a:pt x="922020" y="141922"/>
                  </a:lnTo>
                  <a:lnTo>
                    <a:pt x="877253" y="105727"/>
                  </a:lnTo>
                  <a:lnTo>
                    <a:pt x="828675" y="74295"/>
                  </a:lnTo>
                  <a:lnTo>
                    <a:pt x="777240" y="47625"/>
                  </a:lnTo>
                  <a:lnTo>
                    <a:pt x="723900" y="26670"/>
                  </a:lnTo>
                  <a:lnTo>
                    <a:pt x="667703" y="12383"/>
                  </a:lnTo>
                  <a:lnTo>
                    <a:pt x="610553" y="2858"/>
                  </a:lnTo>
                  <a:lnTo>
                    <a:pt x="552450" y="0"/>
                  </a:lnTo>
                  <a:lnTo>
                    <a:pt x="495300" y="2858"/>
                  </a:lnTo>
                  <a:lnTo>
                    <a:pt x="438150" y="12383"/>
                  </a:lnTo>
                  <a:lnTo>
                    <a:pt x="381953" y="26670"/>
                  </a:lnTo>
                  <a:lnTo>
                    <a:pt x="327660" y="47625"/>
                  </a:lnTo>
                  <a:lnTo>
                    <a:pt x="276225" y="74295"/>
                  </a:lnTo>
                  <a:lnTo>
                    <a:pt x="227647" y="105727"/>
                  </a:lnTo>
                  <a:lnTo>
                    <a:pt x="182880" y="141922"/>
                  </a:lnTo>
                  <a:lnTo>
                    <a:pt x="141922" y="182880"/>
                  </a:lnTo>
                  <a:lnTo>
                    <a:pt x="105728" y="227647"/>
                  </a:lnTo>
                  <a:lnTo>
                    <a:pt x="74295" y="276225"/>
                  </a:lnTo>
                  <a:lnTo>
                    <a:pt x="47625" y="327660"/>
                  </a:lnTo>
                  <a:lnTo>
                    <a:pt x="26670" y="381952"/>
                  </a:lnTo>
                  <a:lnTo>
                    <a:pt x="12383" y="438150"/>
                  </a:lnTo>
                  <a:lnTo>
                    <a:pt x="2858" y="494347"/>
                  </a:lnTo>
                  <a:lnTo>
                    <a:pt x="0" y="552450"/>
                  </a:lnTo>
                  <a:lnTo>
                    <a:pt x="2858" y="610552"/>
                  </a:lnTo>
                  <a:lnTo>
                    <a:pt x="12383" y="667702"/>
                  </a:lnTo>
                  <a:lnTo>
                    <a:pt x="26670" y="722947"/>
                  </a:lnTo>
                  <a:lnTo>
                    <a:pt x="47625" y="777240"/>
                  </a:lnTo>
                  <a:lnTo>
                    <a:pt x="74295" y="828675"/>
                  </a:lnTo>
                  <a:lnTo>
                    <a:pt x="105728" y="877252"/>
                  </a:lnTo>
                  <a:lnTo>
                    <a:pt x="141922" y="922020"/>
                  </a:lnTo>
                  <a:lnTo>
                    <a:pt x="182880" y="962977"/>
                  </a:lnTo>
                  <a:lnTo>
                    <a:pt x="227647" y="999172"/>
                  </a:lnTo>
                  <a:lnTo>
                    <a:pt x="276225" y="1030605"/>
                  </a:lnTo>
                  <a:lnTo>
                    <a:pt x="327660" y="1057275"/>
                  </a:lnTo>
                  <a:lnTo>
                    <a:pt x="381953" y="1078230"/>
                  </a:lnTo>
                  <a:lnTo>
                    <a:pt x="438150" y="1093470"/>
                  </a:lnTo>
                  <a:lnTo>
                    <a:pt x="495300" y="1102042"/>
                  </a:lnTo>
                  <a:lnTo>
                    <a:pt x="552450" y="1104900"/>
                  </a:lnTo>
                  <a:lnTo>
                    <a:pt x="610553" y="1102042"/>
                  </a:lnTo>
                  <a:lnTo>
                    <a:pt x="667703" y="1093470"/>
                  </a:lnTo>
                  <a:lnTo>
                    <a:pt x="723900" y="1078230"/>
                  </a:lnTo>
                  <a:lnTo>
                    <a:pt x="777240" y="1057275"/>
                  </a:lnTo>
                  <a:lnTo>
                    <a:pt x="828675" y="1030605"/>
                  </a:lnTo>
                  <a:lnTo>
                    <a:pt x="877253" y="999172"/>
                  </a:lnTo>
                  <a:lnTo>
                    <a:pt x="922020" y="962977"/>
                  </a:lnTo>
                  <a:lnTo>
                    <a:pt x="962978" y="922020"/>
                  </a:lnTo>
                  <a:lnTo>
                    <a:pt x="1000125" y="877252"/>
                  </a:lnTo>
                  <a:lnTo>
                    <a:pt x="1031557" y="828675"/>
                  </a:lnTo>
                  <a:lnTo>
                    <a:pt x="1057275" y="777240"/>
                  </a:lnTo>
                  <a:lnTo>
                    <a:pt x="1078230" y="722947"/>
                  </a:lnTo>
                  <a:lnTo>
                    <a:pt x="1092518" y="667702"/>
                  </a:lnTo>
                  <a:lnTo>
                    <a:pt x="1102043" y="610552"/>
                  </a:lnTo>
                  <a:lnTo>
                    <a:pt x="1103947" y="566738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4390072" y="3627120"/>
              <a:ext cx="224790" cy="20002"/>
            </a:xfrm>
            <a:custGeom>
              <a:avLst/>
              <a:gdLst/>
              <a:ahLst/>
              <a:cxnLst/>
              <a:rect l="l" t="t" r="r" b="b"/>
              <a:pathLst>
                <a:path w="224790" h="20002">
                  <a:moveTo>
                    <a:pt x="224790" y="20002"/>
                  </a:moveTo>
                  <a:lnTo>
                    <a:pt x="192405" y="13335"/>
                  </a:lnTo>
                  <a:lnTo>
                    <a:pt x="144780" y="6667"/>
                  </a:lnTo>
                  <a:lnTo>
                    <a:pt x="96203" y="4762"/>
                  </a:lnTo>
                  <a:lnTo>
                    <a:pt x="48578" y="6667"/>
                  </a:lnTo>
                  <a:lnTo>
                    <a:pt x="0" y="13335"/>
                  </a:lnTo>
                  <a:lnTo>
                    <a:pt x="6000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357688" y="3580448"/>
              <a:ext cx="102870" cy="92393"/>
            </a:xfrm>
            <a:custGeom>
              <a:avLst/>
              <a:gdLst/>
              <a:ahLst/>
              <a:cxnLst/>
              <a:rect l="l" t="t" r="r" b="b"/>
              <a:pathLst>
                <a:path w="102870" h="92393">
                  <a:moveTo>
                    <a:pt x="0" y="66675"/>
                  </a:moveTo>
                  <a:lnTo>
                    <a:pt x="81915" y="0"/>
                  </a:lnTo>
                  <a:lnTo>
                    <a:pt x="102870" y="92393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500438" y="32746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3500438" y="32746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215390" y="29737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215390" y="35756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461385" y="35756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461385" y="29737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452688" y="32746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452688" y="32746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312670" y="324897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338388" y="32746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228975" y="25279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228975" y="25279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848928" y="20754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033962" y="41795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033962" y="41795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4624388" y="36461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338638" y="36461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350444" y="3494246"/>
              <a:ext cx="61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39901" y="27936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762922" y="204168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00835" y="41609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88559" y="411337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L′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89006" y="4851082"/>
              <a:ext cx="7945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L′ 不包围电流</a:t>
              </a:r>
            </a:p>
          </p:txBody>
        </p:sp>
      </p:grpSp>
      <p:grpSp>
        <p:nvGrpSpPr>
          <p:cNvPr id="44" name="c2-text-1"/>
          <p:cNvGrpSpPr/>
          <p:nvPr/>
        </p:nvGrpSpPr>
        <p:grpSpPr>
          <a:xfrm>
            <a:off x="5591175" y="1548765"/>
            <a:ext cx="5654040" cy="588645"/>
            <a:chOff x="5591175" y="1548765"/>
            <a:chExt cx="5654040" cy="588645"/>
          </a:xfrm>
        </p:grpSpPr>
        <p:sp>
          <p:nvSpPr>
            <p:cNvPr id="43" name="TextBox 43"/>
            <p:cNvSpPr txBox="1"/>
            <p:nvPr/>
          </p:nvSpPr>
          <p:spPr>
            <a:xfrm>
              <a:off x="5591175" y="1548765"/>
              <a:ext cx="56540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静电场的环流 ∮E·dl = 0。磁场的环流 ∮H·dl 等于多少？先用无限长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直电流试算，H = I/(2πr)。</a:t>
              </a:r>
            </a:p>
          </p:txBody>
        </p:sp>
      </p:grpSp>
      <p:grpSp>
        <p:nvGrpSpPr>
          <p:cNvPr id="58" name="c2-steps-2"/>
          <p:cNvGrpSpPr/>
          <p:nvPr/>
        </p:nvGrpSpPr>
        <p:grpSpPr>
          <a:xfrm>
            <a:off x="5598795" y="2278380"/>
            <a:ext cx="5757545" cy="2112931"/>
            <a:chOff x="5598795" y="2278380"/>
            <a:chExt cx="5757545" cy="2112931"/>
          </a:xfrm>
        </p:grpSpPr>
        <p:sp>
          <p:nvSpPr>
            <p:cNvPr id="45" name="Rectangle 45"/>
            <p:cNvSpPr/>
            <p:nvPr/>
          </p:nvSpPr>
          <p:spPr>
            <a:xfrm>
              <a:off x="5732145" y="242125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5598795" y="22783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92419" y="23521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598795" y="29289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92419" y="3002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598795" y="357949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692419" y="36533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10275" y="2312670"/>
              <a:ext cx="1215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逆时针圆周 L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11418" y="2606516"/>
              <a:ext cx="50879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沿切向，与 dl 同向：∮H·dl = I/(2πr) · ∮dl = I/(2πr) · 2πr = I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10275" y="29632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顺时针圆周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11418" y="3257074"/>
              <a:ext cx="22488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与 dl 处处反向：∮H·dl = −I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10275" y="3613785"/>
              <a:ext cx="15404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不包围电流的 L′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11418" y="3907631"/>
              <a:ext cx="53449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H·dl = I dφ/(2π)，dφ 是 dl 对导线张的角；绕 L′ 一周 dφ 先增后减，总和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0，所以 ∮H·dl = 0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formula163"/>
              <p:cNvSpPr txBox="1">
                <a:spLocks noGrp="1"/>
              </p:cNvSpPr>
              <p:nvPr/>
            </p:nvSpPr>
            <p:spPr>
              <a:xfrm>
                <a:off x="5598795" y="4570095"/>
                <a:ext cx="6059805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∮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2πr</m:t>
                          </m:r>
                        </m:den>
                      </m:f>
                      <m:nary>
                        <m:naryPr>
                          <m:chr m:val="∮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  <m:sup/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dl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6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0" name="Rectangle 6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130" y="5991225"/>
              <a:ext cx="8294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环流的结果与圆的半径无关，这提示它与回路的形状也无关，只取决于回路套住了多少电流。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88372" cy="909257"/>
            <a:chOff x="520446" y="342900"/>
            <a:chExt cx="85883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安培环路定理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883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安培环路定理：H 的环流等于回路包围的传导电流代数和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g_multi"/>
          <p:cNvGrpSpPr/>
          <p:nvPr/>
        </p:nvGrpSpPr>
        <p:grpSpPr>
          <a:xfrm>
            <a:off x="1107758" y="1884045"/>
            <a:ext cx="4108677" cy="2556987"/>
            <a:chOff x="1107758" y="1884045"/>
            <a:chExt cx="4108677" cy="2556987"/>
          </a:xfrm>
        </p:grpSpPr>
        <p:sp>
          <p:nvSpPr>
            <p:cNvPr id="7" name="Freeform 7"/>
            <p:cNvSpPr/>
            <p:nvPr/>
          </p:nvSpPr>
          <p:spPr>
            <a:xfrm>
              <a:off x="1784985" y="2188845"/>
              <a:ext cx="2635568" cy="1847850"/>
            </a:xfrm>
            <a:custGeom>
              <a:avLst/>
              <a:gdLst/>
              <a:ahLst/>
              <a:cxnLst/>
              <a:rect l="l" t="t" r="r" b="b"/>
              <a:pathLst>
                <a:path w="2635568" h="1847850">
                  <a:moveTo>
                    <a:pt x="2614612" y="845820"/>
                  </a:moveTo>
                  <a:lnTo>
                    <a:pt x="2626043" y="798195"/>
                  </a:lnTo>
                  <a:lnTo>
                    <a:pt x="2634615" y="736283"/>
                  </a:lnTo>
                  <a:lnTo>
                    <a:pt x="2635568" y="672465"/>
                  </a:lnTo>
                  <a:lnTo>
                    <a:pt x="2628900" y="608647"/>
                  </a:lnTo>
                  <a:lnTo>
                    <a:pt x="2613660" y="544830"/>
                  </a:lnTo>
                  <a:lnTo>
                    <a:pt x="2589848" y="482917"/>
                  </a:lnTo>
                  <a:lnTo>
                    <a:pt x="2557462" y="422910"/>
                  </a:lnTo>
                  <a:lnTo>
                    <a:pt x="2516505" y="365760"/>
                  </a:lnTo>
                  <a:lnTo>
                    <a:pt x="2466975" y="311467"/>
                  </a:lnTo>
                  <a:lnTo>
                    <a:pt x="2409825" y="260985"/>
                  </a:lnTo>
                  <a:lnTo>
                    <a:pt x="2346960" y="215265"/>
                  </a:lnTo>
                  <a:lnTo>
                    <a:pt x="2277428" y="174307"/>
                  </a:lnTo>
                  <a:lnTo>
                    <a:pt x="2204085" y="138112"/>
                  </a:lnTo>
                  <a:lnTo>
                    <a:pt x="2125980" y="106680"/>
                  </a:lnTo>
                  <a:lnTo>
                    <a:pt x="2045970" y="80962"/>
                  </a:lnTo>
                  <a:lnTo>
                    <a:pt x="1964055" y="60007"/>
                  </a:lnTo>
                  <a:lnTo>
                    <a:pt x="1882140" y="41910"/>
                  </a:lnTo>
                  <a:lnTo>
                    <a:pt x="1799272" y="28575"/>
                  </a:lnTo>
                  <a:lnTo>
                    <a:pt x="1717357" y="19050"/>
                  </a:lnTo>
                  <a:lnTo>
                    <a:pt x="1635443" y="11430"/>
                  </a:lnTo>
                  <a:lnTo>
                    <a:pt x="1555432" y="6667"/>
                  </a:lnTo>
                  <a:lnTo>
                    <a:pt x="1475422" y="2857"/>
                  </a:lnTo>
                  <a:lnTo>
                    <a:pt x="1396365" y="952"/>
                  </a:lnTo>
                  <a:lnTo>
                    <a:pt x="1317307" y="0"/>
                  </a:lnTo>
                  <a:lnTo>
                    <a:pt x="1239202" y="952"/>
                  </a:lnTo>
                  <a:lnTo>
                    <a:pt x="1160145" y="2857"/>
                  </a:lnTo>
                  <a:lnTo>
                    <a:pt x="1080135" y="6667"/>
                  </a:lnTo>
                  <a:lnTo>
                    <a:pt x="1000125" y="11430"/>
                  </a:lnTo>
                  <a:lnTo>
                    <a:pt x="918210" y="19050"/>
                  </a:lnTo>
                  <a:lnTo>
                    <a:pt x="836295" y="28575"/>
                  </a:lnTo>
                  <a:lnTo>
                    <a:pt x="753428" y="41910"/>
                  </a:lnTo>
                  <a:lnTo>
                    <a:pt x="671512" y="60007"/>
                  </a:lnTo>
                  <a:lnTo>
                    <a:pt x="588645" y="80962"/>
                  </a:lnTo>
                  <a:lnTo>
                    <a:pt x="509588" y="106680"/>
                  </a:lnTo>
                  <a:lnTo>
                    <a:pt x="431482" y="138112"/>
                  </a:lnTo>
                  <a:lnTo>
                    <a:pt x="357188" y="174307"/>
                  </a:lnTo>
                  <a:lnTo>
                    <a:pt x="288607" y="215265"/>
                  </a:lnTo>
                  <a:lnTo>
                    <a:pt x="224790" y="260985"/>
                  </a:lnTo>
                  <a:lnTo>
                    <a:pt x="168592" y="311467"/>
                  </a:lnTo>
                  <a:lnTo>
                    <a:pt x="119062" y="365760"/>
                  </a:lnTo>
                  <a:lnTo>
                    <a:pt x="78105" y="422910"/>
                  </a:lnTo>
                  <a:lnTo>
                    <a:pt x="45720" y="482917"/>
                  </a:lnTo>
                  <a:lnTo>
                    <a:pt x="21907" y="544830"/>
                  </a:lnTo>
                  <a:lnTo>
                    <a:pt x="6667" y="608647"/>
                  </a:lnTo>
                  <a:lnTo>
                    <a:pt x="0" y="672465"/>
                  </a:lnTo>
                  <a:lnTo>
                    <a:pt x="952" y="736283"/>
                  </a:lnTo>
                  <a:lnTo>
                    <a:pt x="9525" y="798195"/>
                  </a:lnTo>
                  <a:lnTo>
                    <a:pt x="23812" y="859155"/>
                  </a:lnTo>
                  <a:lnTo>
                    <a:pt x="44767" y="919162"/>
                  </a:lnTo>
                  <a:lnTo>
                    <a:pt x="69532" y="977265"/>
                  </a:lnTo>
                  <a:lnTo>
                    <a:pt x="98107" y="1032510"/>
                  </a:lnTo>
                  <a:lnTo>
                    <a:pt x="130492" y="1086802"/>
                  </a:lnTo>
                  <a:lnTo>
                    <a:pt x="163830" y="1139190"/>
                  </a:lnTo>
                  <a:lnTo>
                    <a:pt x="200025" y="1190625"/>
                  </a:lnTo>
                  <a:lnTo>
                    <a:pt x="237173" y="1240155"/>
                  </a:lnTo>
                  <a:lnTo>
                    <a:pt x="276225" y="1289685"/>
                  </a:lnTo>
                  <a:lnTo>
                    <a:pt x="316230" y="1337310"/>
                  </a:lnTo>
                  <a:lnTo>
                    <a:pt x="358140" y="1385888"/>
                  </a:lnTo>
                  <a:lnTo>
                    <a:pt x="401955" y="1433512"/>
                  </a:lnTo>
                  <a:lnTo>
                    <a:pt x="448627" y="1481138"/>
                  </a:lnTo>
                  <a:lnTo>
                    <a:pt x="498157" y="1527810"/>
                  </a:lnTo>
                  <a:lnTo>
                    <a:pt x="551498" y="1573530"/>
                  </a:lnTo>
                  <a:lnTo>
                    <a:pt x="608648" y="1617345"/>
                  </a:lnTo>
                  <a:lnTo>
                    <a:pt x="671512" y="1659255"/>
                  </a:lnTo>
                  <a:lnTo>
                    <a:pt x="738187" y="1699260"/>
                  </a:lnTo>
                  <a:lnTo>
                    <a:pt x="809625" y="1736408"/>
                  </a:lnTo>
                  <a:lnTo>
                    <a:pt x="885825" y="1768792"/>
                  </a:lnTo>
                  <a:lnTo>
                    <a:pt x="966787" y="1796415"/>
                  </a:lnTo>
                  <a:lnTo>
                    <a:pt x="1050607" y="1818322"/>
                  </a:lnTo>
                  <a:lnTo>
                    <a:pt x="1138237" y="1834515"/>
                  </a:lnTo>
                  <a:lnTo>
                    <a:pt x="1226820" y="1844992"/>
                  </a:lnTo>
                  <a:lnTo>
                    <a:pt x="1317307" y="1847850"/>
                  </a:lnTo>
                  <a:lnTo>
                    <a:pt x="1407795" y="1844992"/>
                  </a:lnTo>
                  <a:lnTo>
                    <a:pt x="1497330" y="1834515"/>
                  </a:lnTo>
                  <a:lnTo>
                    <a:pt x="1584960" y="1818322"/>
                  </a:lnTo>
                  <a:lnTo>
                    <a:pt x="1668780" y="1796415"/>
                  </a:lnTo>
                  <a:lnTo>
                    <a:pt x="1749743" y="1768792"/>
                  </a:lnTo>
                  <a:lnTo>
                    <a:pt x="1825943" y="1736408"/>
                  </a:lnTo>
                  <a:lnTo>
                    <a:pt x="1897380" y="1699260"/>
                  </a:lnTo>
                  <a:lnTo>
                    <a:pt x="1964055" y="1659255"/>
                  </a:lnTo>
                  <a:lnTo>
                    <a:pt x="2026920" y="1617345"/>
                  </a:lnTo>
                  <a:lnTo>
                    <a:pt x="2084070" y="1573530"/>
                  </a:lnTo>
                  <a:lnTo>
                    <a:pt x="2137410" y="1527810"/>
                  </a:lnTo>
                  <a:lnTo>
                    <a:pt x="2186940" y="1481138"/>
                  </a:lnTo>
                  <a:lnTo>
                    <a:pt x="2233612" y="1433512"/>
                  </a:lnTo>
                  <a:lnTo>
                    <a:pt x="2277428" y="1385888"/>
                  </a:lnTo>
                  <a:lnTo>
                    <a:pt x="2319337" y="1337310"/>
                  </a:lnTo>
                  <a:lnTo>
                    <a:pt x="2359342" y="1289685"/>
                  </a:lnTo>
                  <a:lnTo>
                    <a:pt x="2397442" y="1240155"/>
                  </a:lnTo>
                  <a:lnTo>
                    <a:pt x="2435542" y="1190625"/>
                  </a:lnTo>
                  <a:lnTo>
                    <a:pt x="2470785" y="1139190"/>
                  </a:lnTo>
                  <a:lnTo>
                    <a:pt x="2505075" y="1086802"/>
                  </a:lnTo>
                  <a:lnTo>
                    <a:pt x="2536507" y="1032510"/>
                  </a:lnTo>
                  <a:lnTo>
                    <a:pt x="2566035" y="977265"/>
                  </a:lnTo>
                  <a:lnTo>
                    <a:pt x="2590800" y="919162"/>
                  </a:lnTo>
                  <a:lnTo>
                    <a:pt x="2606040" y="873442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81350" y="2189798"/>
              <a:ext cx="224790" cy="9525"/>
            </a:xfrm>
            <a:custGeom>
              <a:avLst/>
              <a:gdLst/>
              <a:ahLst/>
              <a:cxnLst/>
              <a:rect l="l" t="t" r="r" b="b"/>
              <a:pathLst>
                <a:path w="224790" h="9525">
                  <a:moveTo>
                    <a:pt x="224790" y="9525"/>
                  </a:moveTo>
                  <a:lnTo>
                    <a:pt x="159067" y="5715"/>
                  </a:lnTo>
                  <a:lnTo>
                    <a:pt x="79058" y="1905"/>
                  </a:lnTo>
                  <a:lnTo>
                    <a:pt x="0" y="0"/>
                  </a:lnTo>
                  <a:lnTo>
                    <a:pt x="3048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116580" y="2142172"/>
              <a:ext cx="96203" cy="95250"/>
            </a:xfrm>
            <a:custGeom>
              <a:avLst/>
              <a:gdLst/>
              <a:ahLst/>
              <a:cxnLst/>
              <a:rect l="l" t="t" r="r" b="b"/>
              <a:pathLst>
                <a:path w="96203" h="95250">
                  <a:moveTo>
                    <a:pt x="0" y="47625"/>
                  </a:moveTo>
                  <a:lnTo>
                    <a:pt x="96203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765108" y="3989070"/>
              <a:ext cx="246697" cy="44767"/>
            </a:xfrm>
            <a:custGeom>
              <a:avLst/>
              <a:gdLst/>
              <a:ahLst/>
              <a:cxnLst/>
              <a:rect l="l" t="t" r="r" b="b"/>
              <a:pathLst>
                <a:path w="246697" h="44767">
                  <a:moveTo>
                    <a:pt x="0" y="0"/>
                  </a:moveTo>
                  <a:lnTo>
                    <a:pt x="70485" y="18097"/>
                  </a:lnTo>
                  <a:lnTo>
                    <a:pt x="158115" y="34290"/>
                  </a:lnTo>
                  <a:lnTo>
                    <a:pt x="246697" y="44767"/>
                  </a:lnTo>
                  <a:lnTo>
                    <a:pt x="228600" y="4381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991802" y="3985260"/>
              <a:ext cx="96202" cy="95250"/>
            </a:xfrm>
            <a:custGeom>
              <a:avLst/>
              <a:gdLst/>
              <a:ahLst/>
              <a:cxnLst/>
              <a:rect l="l" t="t" r="r" b="b"/>
              <a:pathLst>
                <a:path w="96202" h="95250">
                  <a:moveTo>
                    <a:pt x="96202" y="51435"/>
                  </a:moveTo>
                  <a:lnTo>
                    <a:pt x="0" y="95250"/>
                  </a:lnTo>
                  <a:lnTo>
                    <a:pt x="2857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107758" y="1884045"/>
              <a:ext cx="200978" cy="203835"/>
            </a:xfrm>
            <a:custGeom>
              <a:avLst/>
              <a:gdLst/>
              <a:ahLst/>
              <a:cxnLst/>
              <a:rect l="l" t="t" r="r" b="b"/>
              <a:pathLst>
                <a:path w="200978" h="203835">
                  <a:moveTo>
                    <a:pt x="200978" y="87630"/>
                  </a:moveTo>
                  <a:lnTo>
                    <a:pt x="200025" y="79057"/>
                  </a:lnTo>
                  <a:lnTo>
                    <a:pt x="192405" y="58102"/>
                  </a:lnTo>
                  <a:lnTo>
                    <a:pt x="180022" y="38100"/>
                  </a:lnTo>
                  <a:lnTo>
                    <a:pt x="163830" y="22860"/>
                  </a:lnTo>
                  <a:lnTo>
                    <a:pt x="144780" y="10477"/>
                  </a:lnTo>
                  <a:lnTo>
                    <a:pt x="123825" y="2857"/>
                  </a:lnTo>
                  <a:lnTo>
                    <a:pt x="100965" y="0"/>
                  </a:lnTo>
                  <a:lnTo>
                    <a:pt x="78105" y="2857"/>
                  </a:lnTo>
                  <a:lnTo>
                    <a:pt x="57150" y="10477"/>
                  </a:lnTo>
                  <a:lnTo>
                    <a:pt x="38100" y="22860"/>
                  </a:lnTo>
                  <a:lnTo>
                    <a:pt x="21907" y="38100"/>
                  </a:lnTo>
                  <a:lnTo>
                    <a:pt x="9525" y="58102"/>
                  </a:lnTo>
                  <a:lnTo>
                    <a:pt x="1905" y="79057"/>
                  </a:lnTo>
                  <a:lnTo>
                    <a:pt x="0" y="101917"/>
                  </a:lnTo>
                  <a:lnTo>
                    <a:pt x="1905" y="124777"/>
                  </a:lnTo>
                  <a:lnTo>
                    <a:pt x="9525" y="145732"/>
                  </a:lnTo>
                  <a:lnTo>
                    <a:pt x="21907" y="165735"/>
                  </a:lnTo>
                  <a:lnTo>
                    <a:pt x="38100" y="180975"/>
                  </a:lnTo>
                  <a:lnTo>
                    <a:pt x="57150" y="193357"/>
                  </a:lnTo>
                  <a:lnTo>
                    <a:pt x="78105" y="200977"/>
                  </a:lnTo>
                  <a:lnTo>
                    <a:pt x="100965" y="203835"/>
                  </a:lnTo>
                  <a:lnTo>
                    <a:pt x="123825" y="200977"/>
                  </a:lnTo>
                  <a:lnTo>
                    <a:pt x="144780" y="193357"/>
                  </a:lnTo>
                  <a:lnTo>
                    <a:pt x="163830" y="180975"/>
                  </a:lnTo>
                  <a:lnTo>
                    <a:pt x="180022" y="165735"/>
                  </a:lnTo>
                  <a:lnTo>
                    <a:pt x="192405" y="145732"/>
                  </a:lnTo>
                  <a:lnTo>
                    <a:pt x="200025" y="124777"/>
                  </a:lnTo>
                  <a:lnTo>
                    <a:pt x="200978" y="116205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492692" y="3177540"/>
              <a:ext cx="201930" cy="203835"/>
            </a:xfrm>
            <a:custGeom>
              <a:avLst/>
              <a:gdLst/>
              <a:ahLst/>
              <a:cxnLst/>
              <a:rect l="l" t="t" r="r" b="b"/>
              <a:pathLst>
                <a:path w="201930" h="203835">
                  <a:moveTo>
                    <a:pt x="201930" y="87630"/>
                  </a:moveTo>
                  <a:lnTo>
                    <a:pt x="200978" y="79057"/>
                  </a:lnTo>
                  <a:lnTo>
                    <a:pt x="193358" y="58102"/>
                  </a:lnTo>
                  <a:lnTo>
                    <a:pt x="181928" y="39052"/>
                  </a:lnTo>
                  <a:lnTo>
                    <a:pt x="164783" y="22860"/>
                  </a:lnTo>
                  <a:lnTo>
                    <a:pt x="145733" y="10477"/>
                  </a:lnTo>
                  <a:lnTo>
                    <a:pt x="123825" y="2857"/>
                  </a:lnTo>
                  <a:lnTo>
                    <a:pt x="101917" y="0"/>
                  </a:lnTo>
                  <a:lnTo>
                    <a:pt x="79058" y="2857"/>
                  </a:lnTo>
                  <a:lnTo>
                    <a:pt x="57150" y="10477"/>
                  </a:lnTo>
                  <a:lnTo>
                    <a:pt x="39053" y="22860"/>
                  </a:lnTo>
                  <a:lnTo>
                    <a:pt x="21908" y="39052"/>
                  </a:lnTo>
                  <a:lnTo>
                    <a:pt x="10478" y="58102"/>
                  </a:lnTo>
                  <a:lnTo>
                    <a:pt x="2858" y="79057"/>
                  </a:lnTo>
                  <a:lnTo>
                    <a:pt x="0" y="101917"/>
                  </a:lnTo>
                  <a:lnTo>
                    <a:pt x="2858" y="124777"/>
                  </a:lnTo>
                  <a:lnTo>
                    <a:pt x="10478" y="145732"/>
                  </a:lnTo>
                  <a:lnTo>
                    <a:pt x="21908" y="164782"/>
                  </a:lnTo>
                  <a:lnTo>
                    <a:pt x="39053" y="180975"/>
                  </a:lnTo>
                  <a:lnTo>
                    <a:pt x="57150" y="193357"/>
                  </a:lnTo>
                  <a:lnTo>
                    <a:pt x="79058" y="200977"/>
                  </a:lnTo>
                  <a:lnTo>
                    <a:pt x="101917" y="203835"/>
                  </a:lnTo>
                  <a:lnTo>
                    <a:pt x="123825" y="200977"/>
                  </a:lnTo>
                  <a:lnTo>
                    <a:pt x="145733" y="193357"/>
                  </a:lnTo>
                  <a:lnTo>
                    <a:pt x="164783" y="180975"/>
                  </a:lnTo>
                  <a:lnTo>
                    <a:pt x="181928" y="164782"/>
                  </a:lnTo>
                  <a:lnTo>
                    <a:pt x="193358" y="145732"/>
                  </a:lnTo>
                  <a:lnTo>
                    <a:pt x="200978" y="124777"/>
                  </a:lnTo>
                  <a:lnTo>
                    <a:pt x="201930" y="116205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54730" y="2669858"/>
              <a:ext cx="202883" cy="202883"/>
            </a:xfrm>
            <a:custGeom>
              <a:avLst/>
              <a:gdLst/>
              <a:ahLst/>
              <a:cxnLst/>
              <a:rect l="l" t="t" r="r" b="b"/>
              <a:pathLst>
                <a:path w="202883" h="202883">
                  <a:moveTo>
                    <a:pt x="202883" y="87630"/>
                  </a:moveTo>
                  <a:lnTo>
                    <a:pt x="201930" y="79058"/>
                  </a:lnTo>
                  <a:lnTo>
                    <a:pt x="193358" y="57150"/>
                  </a:lnTo>
                  <a:lnTo>
                    <a:pt x="181928" y="38100"/>
                  </a:lnTo>
                  <a:lnTo>
                    <a:pt x="165735" y="21908"/>
                  </a:lnTo>
                  <a:lnTo>
                    <a:pt x="146685" y="9525"/>
                  </a:lnTo>
                  <a:lnTo>
                    <a:pt x="124778" y="1905"/>
                  </a:lnTo>
                  <a:lnTo>
                    <a:pt x="102870" y="0"/>
                  </a:lnTo>
                  <a:lnTo>
                    <a:pt x="80010" y="1905"/>
                  </a:lnTo>
                  <a:lnTo>
                    <a:pt x="58103" y="9525"/>
                  </a:lnTo>
                  <a:lnTo>
                    <a:pt x="39053" y="21908"/>
                  </a:lnTo>
                  <a:lnTo>
                    <a:pt x="22860" y="38100"/>
                  </a:lnTo>
                  <a:lnTo>
                    <a:pt x="10478" y="57150"/>
                  </a:lnTo>
                  <a:lnTo>
                    <a:pt x="2858" y="79058"/>
                  </a:lnTo>
                  <a:lnTo>
                    <a:pt x="0" y="101917"/>
                  </a:lnTo>
                  <a:lnTo>
                    <a:pt x="2858" y="123825"/>
                  </a:lnTo>
                  <a:lnTo>
                    <a:pt x="10478" y="145733"/>
                  </a:lnTo>
                  <a:lnTo>
                    <a:pt x="22860" y="164783"/>
                  </a:lnTo>
                  <a:lnTo>
                    <a:pt x="39053" y="180975"/>
                  </a:lnTo>
                  <a:lnTo>
                    <a:pt x="58103" y="193358"/>
                  </a:lnTo>
                  <a:lnTo>
                    <a:pt x="80010" y="200977"/>
                  </a:lnTo>
                  <a:lnTo>
                    <a:pt x="102870" y="202883"/>
                  </a:lnTo>
                  <a:lnTo>
                    <a:pt x="124778" y="200977"/>
                  </a:lnTo>
                  <a:lnTo>
                    <a:pt x="146685" y="193358"/>
                  </a:lnTo>
                  <a:lnTo>
                    <a:pt x="165735" y="180975"/>
                  </a:lnTo>
                  <a:lnTo>
                    <a:pt x="181928" y="164783"/>
                  </a:lnTo>
                  <a:lnTo>
                    <a:pt x="193358" y="145733"/>
                  </a:lnTo>
                  <a:lnTo>
                    <a:pt x="201930" y="123825"/>
                  </a:lnTo>
                  <a:lnTo>
                    <a:pt x="202883" y="115252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802505" y="4148138"/>
              <a:ext cx="201930" cy="202883"/>
            </a:xfrm>
            <a:custGeom>
              <a:avLst/>
              <a:gdLst/>
              <a:ahLst/>
              <a:cxnLst/>
              <a:rect l="l" t="t" r="r" b="b"/>
              <a:pathLst>
                <a:path w="201930" h="202883">
                  <a:moveTo>
                    <a:pt x="201930" y="86678"/>
                  </a:moveTo>
                  <a:lnTo>
                    <a:pt x="200977" y="79058"/>
                  </a:lnTo>
                  <a:lnTo>
                    <a:pt x="193358" y="57150"/>
                  </a:lnTo>
                  <a:lnTo>
                    <a:pt x="180975" y="38100"/>
                  </a:lnTo>
                  <a:lnTo>
                    <a:pt x="164783" y="21908"/>
                  </a:lnTo>
                  <a:lnTo>
                    <a:pt x="145733" y="9525"/>
                  </a:lnTo>
                  <a:lnTo>
                    <a:pt x="124777" y="1905"/>
                  </a:lnTo>
                  <a:lnTo>
                    <a:pt x="101917" y="0"/>
                  </a:lnTo>
                  <a:lnTo>
                    <a:pt x="79058" y="1905"/>
                  </a:lnTo>
                  <a:lnTo>
                    <a:pt x="58103" y="9525"/>
                  </a:lnTo>
                  <a:lnTo>
                    <a:pt x="38100" y="21908"/>
                  </a:lnTo>
                  <a:lnTo>
                    <a:pt x="22860" y="38100"/>
                  </a:lnTo>
                  <a:lnTo>
                    <a:pt x="9525" y="57150"/>
                  </a:lnTo>
                  <a:lnTo>
                    <a:pt x="2858" y="79058"/>
                  </a:lnTo>
                  <a:lnTo>
                    <a:pt x="0" y="100965"/>
                  </a:lnTo>
                  <a:lnTo>
                    <a:pt x="2858" y="123825"/>
                  </a:lnTo>
                  <a:lnTo>
                    <a:pt x="9525" y="145733"/>
                  </a:lnTo>
                  <a:lnTo>
                    <a:pt x="22860" y="164783"/>
                  </a:lnTo>
                  <a:lnTo>
                    <a:pt x="38100" y="180975"/>
                  </a:lnTo>
                  <a:lnTo>
                    <a:pt x="58103" y="193358"/>
                  </a:lnTo>
                  <a:lnTo>
                    <a:pt x="79058" y="200025"/>
                  </a:lnTo>
                  <a:lnTo>
                    <a:pt x="101917" y="202883"/>
                  </a:lnTo>
                  <a:lnTo>
                    <a:pt x="124777" y="200025"/>
                  </a:lnTo>
                  <a:lnTo>
                    <a:pt x="145733" y="193358"/>
                  </a:lnTo>
                  <a:lnTo>
                    <a:pt x="164783" y="180975"/>
                  </a:lnTo>
                  <a:lnTo>
                    <a:pt x="180975" y="164783"/>
                  </a:lnTo>
                  <a:lnTo>
                    <a:pt x="193358" y="145733"/>
                  </a:lnTo>
                  <a:lnTo>
                    <a:pt x="200977" y="123825"/>
                  </a:lnTo>
                  <a:lnTo>
                    <a:pt x="201930" y="115253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391025" y="3043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391025" y="3043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415665" y="21955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097530" y="218408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747010" y="39804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3097530" y="40319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305878" y="19812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305878" y="19812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178242" y="195548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691765" y="32746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691765" y="32746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564130" y="324897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753802" y="2767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753802" y="2767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627120" y="27412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000625" y="42443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000625" y="42443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873942" y="421862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76770" y="1953578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62658" y="3247073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24695" y="2738438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72470" y="4217670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58185" y="422100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formula168"/>
              <p:cNvSpPr txBox="1">
                <a:spLocks noGrp="1"/>
              </p:cNvSpPr>
              <p:nvPr/>
            </p:nvSpPr>
            <p:spPr>
              <a:xfrm>
                <a:off x="533400" y="4758690"/>
                <a:ext cx="4977765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∮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  <m:sup/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H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H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H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H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formula169"/>
              <p:cNvSpPr txBox="1">
                <a:spLocks noGrp="1"/>
              </p:cNvSpPr>
              <p:nvPr/>
            </p:nvSpPr>
            <p:spPr>
              <a:xfrm>
                <a:off x="5815965" y="1524000"/>
                <a:ext cx="5842635" cy="785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∮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r>
                            <m:rPr>
                              <m:nor m:val="on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内</m:t>
                          </m:r>
                        </m:sub>
                        <m:sup/>
                        <m:e>
                          <m:sSub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52" name="c2-card-2"/>
          <p:cNvGrpSpPr/>
          <p:nvPr/>
        </p:nvGrpSpPr>
        <p:grpSpPr>
          <a:xfrm>
            <a:off x="5815965" y="2495550"/>
            <a:ext cx="5842635" cy="1643062"/>
            <a:chOff x="5815965" y="2495550"/>
            <a:chExt cx="5842635" cy="1643062"/>
          </a:xfrm>
        </p:grpSpPr>
        <p:sp>
          <p:nvSpPr>
            <p:cNvPr id="42" name="Rectangle 42"/>
            <p:cNvSpPr/>
            <p:nvPr/>
          </p:nvSpPr>
          <p:spPr>
            <a:xfrm>
              <a:off x="5815965" y="2495550"/>
              <a:ext cx="5842635" cy="1643062"/>
            </a:xfrm>
            <a:prstGeom prst="roundRect">
              <a:avLst>
                <a:gd name="adj" fmla="val 8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25490" y="2628900"/>
              <a:ext cx="47625" cy="13763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57900" y="269938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18555" y="273510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从直电流推广到一般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065520" y="313182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22111" y="3072289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载流线可以是弯曲的，回路可以是包围电流的任意闭合曲线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065520" y="345186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22111" y="3392329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可以有任意磁介质，可以有多根载流线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065520" y="377190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22111" y="3712369"/>
              <a:ext cx="38090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回路不包围电流时，该电流对环流的贡献为 0</a:t>
              </a:r>
            </a:p>
          </p:txBody>
        </p:sp>
      </p:grpSp>
      <p:grpSp>
        <p:nvGrpSpPr>
          <p:cNvPr id="61" name="c2-card-3"/>
          <p:cNvGrpSpPr/>
          <p:nvPr/>
        </p:nvGrpSpPr>
        <p:grpSpPr>
          <a:xfrm>
            <a:off x="5815965" y="4324350"/>
            <a:ext cx="5842635" cy="1323022"/>
            <a:chOff x="5815965" y="4324350"/>
            <a:chExt cx="5842635" cy="1323022"/>
          </a:xfrm>
        </p:grpSpPr>
        <p:sp>
          <p:nvSpPr>
            <p:cNvPr id="53" name="Rectangle 53"/>
            <p:cNvSpPr/>
            <p:nvPr/>
          </p:nvSpPr>
          <p:spPr>
            <a:xfrm>
              <a:off x="5815965" y="4324350"/>
              <a:ext cx="5842635" cy="1323022"/>
            </a:xfrm>
            <a:prstGeom prst="roundRect">
              <a:avLst>
                <a:gd name="adj" fmla="val 100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825490" y="4457700"/>
              <a:ext cx="47625" cy="105632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57900" y="452818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26455" y="456390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两边的量不一样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065520" y="496062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22111" y="4901089"/>
              <a:ext cx="38788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左边的 H 是环路内外全部传导电流共同产生的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065520" y="528066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22111" y="5221129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右边只计入穿过环路的传导电流，按代数和计算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2" name="Rectangle 6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511" y="6004084"/>
              <a:ext cx="84255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磁场的环流一般不为零，所以稳恒磁场是涡旋场，也叫非保守场；静电场的环流恒为零，是保守场。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安培环路定理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用环路定理之前先想清楚三件事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545908"/>
            <a:chOff x="533400" y="1524000"/>
            <a:chExt cx="5410200" cy="15459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129665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697" y="1763554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1. 电流的正负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电流方向与回路绕行方向满足右手螺旋关系（四指沿绕行方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向，拇指指向电流）时取正，相反时取负；不穿过回路的电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流不计入。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255645"/>
            <a:ext cx="5410200" cy="1628775"/>
            <a:chOff x="533400" y="3255645"/>
            <a:chExt cx="5410200" cy="1628775"/>
          </a:xfrm>
        </p:grpSpPr>
        <p:sp>
          <p:nvSpPr>
            <p:cNvPr id="13" name="Rectangle 13"/>
            <p:cNvSpPr/>
            <p:nvPr/>
          </p:nvSpPr>
          <p:spPr>
            <a:xfrm>
              <a:off x="533400" y="3255645"/>
              <a:ext cx="5410200" cy="1628775"/>
            </a:xfrm>
            <a:prstGeom prst="roundRect">
              <a:avLst>
                <a:gd name="adj" fmla="val 818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3459480"/>
              <a:ext cx="1159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042" y="3495199"/>
              <a:ext cx="1028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 回路绕 N 圈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172"/>
                <p:cNvSpPr txBox="1">
                  <a:spLocks noGrp="1"/>
                </p:cNvSpPr>
                <p:nvPr/>
              </p:nvSpPr>
              <p:spPr>
                <a:xfrm>
                  <a:off x="737235" y="3809048"/>
                  <a:ext cx="500253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∮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NI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29996" y="4458176"/>
              <a:ext cx="39199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回路绕同一电流 N 圈，这个电流被计入 N 次。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5070158"/>
            <a:ext cx="5410200" cy="1274445"/>
            <a:chOff x="533400" y="5070158"/>
            <a:chExt cx="5410200" cy="1274445"/>
          </a:xfrm>
        </p:grpSpPr>
        <p:sp>
          <p:nvSpPr>
            <p:cNvPr id="19" name="Rectangle 19"/>
            <p:cNvSpPr/>
            <p:nvPr/>
          </p:nvSpPr>
          <p:spPr>
            <a:xfrm>
              <a:off x="533400" y="5070158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5203508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75335" y="5273992"/>
              <a:ext cx="229743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6687" y="5309711"/>
              <a:ext cx="2234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3. 代数和为零不等于 H 处处为零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8096" y="5646896"/>
              <a:ext cx="464019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∮H·dl = 0 只说明 H 沿回路的积分为零。回路不包围电流、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旁边却有电流经过时，回路上各点的 H 都不为零。</a:t>
              </a:r>
            </a:p>
          </p:txBody>
        </p:sp>
      </p:grpSp>
      <p:grpSp>
        <p:nvGrpSpPr>
          <p:cNvPr id="42" name="c2-steps-1"/>
          <p:cNvGrpSpPr/>
          <p:nvPr/>
        </p:nvGrpSpPr>
        <p:grpSpPr>
          <a:xfrm>
            <a:off x="6248400" y="1533525"/>
            <a:ext cx="5017922" cy="2632139"/>
            <a:chOff x="6248400" y="1533525"/>
            <a:chExt cx="5017922" cy="2632139"/>
          </a:xfrm>
        </p:grpSpPr>
        <p:sp>
          <p:nvSpPr>
            <p:cNvPr id="25" name="Rectangle 25"/>
            <p:cNvSpPr/>
            <p:nvPr/>
          </p:nvSpPr>
          <p:spPr>
            <a:xfrm>
              <a:off x="6381750" y="1676400"/>
              <a:ext cx="19050" cy="20831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248400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2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48400" y="29965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2024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48400" y="361664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2024" y="3690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0261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分析对称性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1404" y="1846898"/>
              <a:ext cx="4604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 H 线的形状（同心圆、平行直线），找出 H 大小不变的路径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0261" y="218741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选回路定方向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1404" y="2467927"/>
              <a:ext cx="45765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每段路径要么与 H 线平行（H 大小不变），要么与 H 线垂直（H·dl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0261" y="302942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数电流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1404" y="3309938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按右手关系定出包围电流的正负，求代数和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0261" y="3650456"/>
              <a:ext cx="10121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H 再求 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1404" y="3930968"/>
              <a:ext cx="3026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H × 回路长度 = ΣI 解出 H，再用 B = μH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248400" y="4341495"/>
            <a:ext cx="5410200" cy="2003108"/>
            <a:chOff x="6248400" y="4341495"/>
            <a:chExt cx="5410200" cy="2003108"/>
          </a:xfrm>
        </p:grpSpPr>
        <p:sp>
          <p:nvSpPr>
            <p:cNvPr id="43" name="Rectangle 43"/>
            <p:cNvSpPr/>
            <p:nvPr/>
          </p:nvSpPr>
          <p:spPr>
            <a:xfrm>
              <a:off x="6248400" y="4341495"/>
              <a:ext cx="5410200" cy="2003108"/>
            </a:xfrm>
            <a:prstGeom prst="roundRect">
              <a:avLst>
                <a:gd name="adj" fmla="val 570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5243513"/>
              <a:ext cx="200026" cy="200025"/>
              <a:chOff x="6453188" y="5243513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52435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92926" y="52879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27642" y="53990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511" y="4981099"/>
              <a:ext cx="452297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只有电流分布足够对称（无限长直线、圆柱、长直螺线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管、环形螺线管、无限大平面）时，环路定理才能直接解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出 H；一般情形仍要用毕奥-萨伐尔定律。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安培环路定理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练习：数一数每个回路包围了多少电流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g_abc"/>
          <p:cNvGrpSpPr/>
          <p:nvPr/>
        </p:nvGrpSpPr>
        <p:grpSpPr>
          <a:xfrm>
            <a:off x="1100138" y="1589722"/>
            <a:ext cx="3860482" cy="1418273"/>
            <a:chOff x="1100138" y="1589722"/>
            <a:chExt cx="3860482" cy="1418273"/>
          </a:xfrm>
        </p:grpSpPr>
        <p:sp>
          <p:nvSpPr>
            <p:cNvPr id="7" name="Freeform 7"/>
            <p:cNvSpPr/>
            <p:nvPr/>
          </p:nvSpPr>
          <p:spPr>
            <a:xfrm>
              <a:off x="1100138" y="1632585"/>
              <a:ext cx="3854768" cy="1375410"/>
            </a:xfrm>
            <a:custGeom>
              <a:avLst/>
              <a:gdLst/>
              <a:ahLst/>
              <a:cxnLst/>
              <a:rect l="l" t="t" r="r" b="b"/>
              <a:pathLst>
                <a:path w="3854768" h="1375410">
                  <a:moveTo>
                    <a:pt x="3854768" y="673417"/>
                  </a:moveTo>
                  <a:lnTo>
                    <a:pt x="3851910" y="642938"/>
                  </a:lnTo>
                  <a:lnTo>
                    <a:pt x="3839528" y="598170"/>
                  </a:lnTo>
                  <a:lnTo>
                    <a:pt x="3818572" y="553402"/>
                  </a:lnTo>
                  <a:lnTo>
                    <a:pt x="3789998" y="509588"/>
                  </a:lnTo>
                  <a:lnTo>
                    <a:pt x="3753802" y="466725"/>
                  </a:lnTo>
                  <a:lnTo>
                    <a:pt x="3709035" y="424815"/>
                  </a:lnTo>
                  <a:lnTo>
                    <a:pt x="3656648" y="383857"/>
                  </a:lnTo>
                  <a:lnTo>
                    <a:pt x="3597592" y="343852"/>
                  </a:lnTo>
                  <a:lnTo>
                    <a:pt x="3530918" y="305752"/>
                  </a:lnTo>
                  <a:lnTo>
                    <a:pt x="3457575" y="269557"/>
                  </a:lnTo>
                  <a:lnTo>
                    <a:pt x="3377565" y="234315"/>
                  </a:lnTo>
                  <a:lnTo>
                    <a:pt x="3290888" y="201930"/>
                  </a:lnTo>
                  <a:lnTo>
                    <a:pt x="3199448" y="170498"/>
                  </a:lnTo>
                  <a:lnTo>
                    <a:pt x="3101340" y="142875"/>
                  </a:lnTo>
                  <a:lnTo>
                    <a:pt x="2999422" y="116205"/>
                  </a:lnTo>
                  <a:lnTo>
                    <a:pt x="2891790" y="92392"/>
                  </a:lnTo>
                  <a:lnTo>
                    <a:pt x="2780348" y="71438"/>
                  </a:lnTo>
                  <a:lnTo>
                    <a:pt x="2666048" y="52388"/>
                  </a:lnTo>
                  <a:lnTo>
                    <a:pt x="2547938" y="37148"/>
                  </a:lnTo>
                  <a:lnTo>
                    <a:pt x="2426970" y="23812"/>
                  </a:lnTo>
                  <a:lnTo>
                    <a:pt x="2304098" y="13335"/>
                  </a:lnTo>
                  <a:lnTo>
                    <a:pt x="2179320" y="6667"/>
                  </a:lnTo>
                  <a:lnTo>
                    <a:pt x="2053590" y="1905"/>
                  </a:lnTo>
                  <a:lnTo>
                    <a:pt x="1927860" y="0"/>
                  </a:lnTo>
                  <a:lnTo>
                    <a:pt x="1802130" y="1905"/>
                  </a:lnTo>
                  <a:lnTo>
                    <a:pt x="1676400" y="6667"/>
                  </a:lnTo>
                  <a:lnTo>
                    <a:pt x="1552575" y="13335"/>
                  </a:lnTo>
                  <a:lnTo>
                    <a:pt x="1428750" y="23812"/>
                  </a:lnTo>
                  <a:lnTo>
                    <a:pt x="1307782" y="37148"/>
                  </a:lnTo>
                  <a:lnTo>
                    <a:pt x="1190625" y="52388"/>
                  </a:lnTo>
                  <a:lnTo>
                    <a:pt x="1075372" y="71438"/>
                  </a:lnTo>
                  <a:lnTo>
                    <a:pt x="963930" y="92392"/>
                  </a:lnTo>
                  <a:lnTo>
                    <a:pt x="857250" y="116205"/>
                  </a:lnTo>
                  <a:lnTo>
                    <a:pt x="754380" y="142875"/>
                  </a:lnTo>
                  <a:lnTo>
                    <a:pt x="657225" y="170498"/>
                  </a:lnTo>
                  <a:lnTo>
                    <a:pt x="564833" y="201930"/>
                  </a:lnTo>
                  <a:lnTo>
                    <a:pt x="478155" y="234315"/>
                  </a:lnTo>
                  <a:lnTo>
                    <a:pt x="399098" y="269557"/>
                  </a:lnTo>
                  <a:lnTo>
                    <a:pt x="324802" y="305752"/>
                  </a:lnTo>
                  <a:lnTo>
                    <a:pt x="258127" y="343852"/>
                  </a:lnTo>
                  <a:lnTo>
                    <a:pt x="199073" y="383857"/>
                  </a:lnTo>
                  <a:lnTo>
                    <a:pt x="146685" y="424815"/>
                  </a:lnTo>
                  <a:lnTo>
                    <a:pt x="102870" y="466725"/>
                  </a:lnTo>
                  <a:lnTo>
                    <a:pt x="65723" y="509588"/>
                  </a:lnTo>
                  <a:lnTo>
                    <a:pt x="37148" y="553402"/>
                  </a:lnTo>
                  <a:lnTo>
                    <a:pt x="16193" y="598170"/>
                  </a:lnTo>
                  <a:lnTo>
                    <a:pt x="3810" y="642938"/>
                  </a:lnTo>
                  <a:lnTo>
                    <a:pt x="0" y="687705"/>
                  </a:lnTo>
                  <a:lnTo>
                    <a:pt x="3810" y="732472"/>
                  </a:lnTo>
                  <a:lnTo>
                    <a:pt x="16193" y="777240"/>
                  </a:lnTo>
                  <a:lnTo>
                    <a:pt x="37148" y="822007"/>
                  </a:lnTo>
                  <a:lnTo>
                    <a:pt x="65723" y="865822"/>
                  </a:lnTo>
                  <a:lnTo>
                    <a:pt x="102870" y="908685"/>
                  </a:lnTo>
                  <a:lnTo>
                    <a:pt x="146685" y="950595"/>
                  </a:lnTo>
                  <a:lnTo>
                    <a:pt x="199073" y="991552"/>
                  </a:lnTo>
                  <a:lnTo>
                    <a:pt x="258127" y="1031557"/>
                  </a:lnTo>
                  <a:lnTo>
                    <a:pt x="324802" y="1069657"/>
                  </a:lnTo>
                  <a:lnTo>
                    <a:pt x="399098" y="1105852"/>
                  </a:lnTo>
                  <a:lnTo>
                    <a:pt x="478155" y="1141095"/>
                  </a:lnTo>
                  <a:lnTo>
                    <a:pt x="564833" y="1173480"/>
                  </a:lnTo>
                  <a:lnTo>
                    <a:pt x="657225" y="1204912"/>
                  </a:lnTo>
                  <a:lnTo>
                    <a:pt x="754380" y="1232535"/>
                  </a:lnTo>
                  <a:lnTo>
                    <a:pt x="857250" y="1259205"/>
                  </a:lnTo>
                  <a:lnTo>
                    <a:pt x="963930" y="1283018"/>
                  </a:lnTo>
                  <a:lnTo>
                    <a:pt x="1075372" y="1303972"/>
                  </a:lnTo>
                  <a:lnTo>
                    <a:pt x="1190625" y="1323022"/>
                  </a:lnTo>
                  <a:lnTo>
                    <a:pt x="1307782" y="1338262"/>
                  </a:lnTo>
                  <a:lnTo>
                    <a:pt x="1428750" y="1351598"/>
                  </a:lnTo>
                  <a:lnTo>
                    <a:pt x="1552575" y="1362075"/>
                  </a:lnTo>
                  <a:lnTo>
                    <a:pt x="1676400" y="1368743"/>
                  </a:lnTo>
                  <a:lnTo>
                    <a:pt x="1802130" y="1373505"/>
                  </a:lnTo>
                  <a:lnTo>
                    <a:pt x="1927860" y="1375410"/>
                  </a:lnTo>
                  <a:lnTo>
                    <a:pt x="2053590" y="1373505"/>
                  </a:lnTo>
                  <a:lnTo>
                    <a:pt x="2179320" y="1368743"/>
                  </a:lnTo>
                  <a:lnTo>
                    <a:pt x="2304098" y="1362075"/>
                  </a:lnTo>
                  <a:lnTo>
                    <a:pt x="2426970" y="1351598"/>
                  </a:lnTo>
                  <a:lnTo>
                    <a:pt x="2547938" y="1338262"/>
                  </a:lnTo>
                  <a:lnTo>
                    <a:pt x="2666048" y="1323022"/>
                  </a:lnTo>
                  <a:lnTo>
                    <a:pt x="2780348" y="1303972"/>
                  </a:lnTo>
                  <a:lnTo>
                    <a:pt x="2891790" y="1283018"/>
                  </a:lnTo>
                  <a:lnTo>
                    <a:pt x="2999422" y="1259205"/>
                  </a:lnTo>
                  <a:lnTo>
                    <a:pt x="3101340" y="1232535"/>
                  </a:lnTo>
                  <a:lnTo>
                    <a:pt x="3199448" y="1204912"/>
                  </a:lnTo>
                  <a:lnTo>
                    <a:pt x="3290888" y="1173480"/>
                  </a:lnTo>
                  <a:lnTo>
                    <a:pt x="3377565" y="1141095"/>
                  </a:lnTo>
                  <a:lnTo>
                    <a:pt x="3457575" y="1105852"/>
                  </a:lnTo>
                  <a:lnTo>
                    <a:pt x="3530918" y="1069657"/>
                  </a:lnTo>
                  <a:lnTo>
                    <a:pt x="3597592" y="1031557"/>
                  </a:lnTo>
                  <a:lnTo>
                    <a:pt x="3656648" y="991552"/>
                  </a:lnTo>
                  <a:lnTo>
                    <a:pt x="3709035" y="950595"/>
                  </a:lnTo>
                  <a:lnTo>
                    <a:pt x="3753802" y="908685"/>
                  </a:lnTo>
                  <a:lnTo>
                    <a:pt x="3789998" y="865822"/>
                  </a:lnTo>
                  <a:lnTo>
                    <a:pt x="3818572" y="822007"/>
                  </a:lnTo>
                  <a:lnTo>
                    <a:pt x="3839528" y="777240"/>
                  </a:lnTo>
                  <a:lnTo>
                    <a:pt x="3851910" y="732472"/>
                  </a:lnTo>
                  <a:lnTo>
                    <a:pt x="3854768" y="701992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03208" y="1632585"/>
              <a:ext cx="545783" cy="10477"/>
            </a:xfrm>
            <a:custGeom>
              <a:avLst/>
              <a:gdLst/>
              <a:ahLst/>
              <a:cxnLst/>
              <a:rect l="l" t="t" r="r" b="b"/>
              <a:pathLst>
                <a:path w="545783" h="10477">
                  <a:moveTo>
                    <a:pt x="545783" y="10477"/>
                  </a:moveTo>
                  <a:lnTo>
                    <a:pt x="448627" y="4762"/>
                  </a:lnTo>
                  <a:lnTo>
                    <a:pt x="337185" y="1905"/>
                  </a:lnTo>
                  <a:lnTo>
                    <a:pt x="224790" y="0"/>
                  </a:lnTo>
                  <a:lnTo>
                    <a:pt x="112395" y="1905"/>
                  </a:lnTo>
                  <a:lnTo>
                    <a:pt x="952" y="4762"/>
                  </a:lnTo>
                  <a:lnTo>
                    <a:pt x="0" y="47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707958" y="1589722"/>
              <a:ext cx="97155" cy="95250"/>
            </a:xfrm>
            <a:custGeom>
              <a:avLst/>
              <a:gdLst/>
              <a:ahLst/>
              <a:cxnLst/>
              <a:rect l="l" t="t" r="r" b="b"/>
              <a:pathLst>
                <a:path w="97155" h="95250">
                  <a:moveTo>
                    <a:pt x="0" y="53340"/>
                  </a:moveTo>
                  <a:lnTo>
                    <a:pt x="92392" y="0"/>
                  </a:lnTo>
                  <a:lnTo>
                    <a:pt x="97155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720215" y="1951672"/>
              <a:ext cx="737235" cy="737235"/>
            </a:xfrm>
            <a:custGeom>
              <a:avLst/>
              <a:gdLst/>
              <a:ahLst/>
              <a:cxnLst/>
              <a:rect l="l" t="t" r="r" b="b"/>
              <a:pathLst>
                <a:path w="737235" h="737235">
                  <a:moveTo>
                    <a:pt x="737235" y="354330"/>
                  </a:moveTo>
                  <a:lnTo>
                    <a:pt x="735330" y="320992"/>
                  </a:lnTo>
                  <a:lnTo>
                    <a:pt x="725805" y="273367"/>
                  </a:lnTo>
                  <a:lnTo>
                    <a:pt x="709612" y="227648"/>
                  </a:lnTo>
                  <a:lnTo>
                    <a:pt x="688658" y="183832"/>
                  </a:lnTo>
                  <a:lnTo>
                    <a:pt x="661988" y="143827"/>
                  </a:lnTo>
                  <a:lnTo>
                    <a:pt x="629602" y="107632"/>
                  </a:lnTo>
                  <a:lnTo>
                    <a:pt x="593408" y="76200"/>
                  </a:lnTo>
                  <a:lnTo>
                    <a:pt x="553402" y="49530"/>
                  </a:lnTo>
                  <a:lnTo>
                    <a:pt x="510540" y="27623"/>
                  </a:lnTo>
                  <a:lnTo>
                    <a:pt x="464820" y="12382"/>
                  </a:lnTo>
                  <a:lnTo>
                    <a:pt x="417195" y="2857"/>
                  </a:lnTo>
                  <a:lnTo>
                    <a:pt x="369570" y="0"/>
                  </a:lnTo>
                  <a:lnTo>
                    <a:pt x="320993" y="2857"/>
                  </a:lnTo>
                  <a:lnTo>
                    <a:pt x="273368" y="12382"/>
                  </a:lnTo>
                  <a:lnTo>
                    <a:pt x="228600" y="27623"/>
                  </a:lnTo>
                  <a:lnTo>
                    <a:pt x="184785" y="49530"/>
                  </a:lnTo>
                  <a:lnTo>
                    <a:pt x="144780" y="76200"/>
                  </a:lnTo>
                  <a:lnTo>
                    <a:pt x="108585" y="107632"/>
                  </a:lnTo>
                  <a:lnTo>
                    <a:pt x="76200" y="143827"/>
                  </a:lnTo>
                  <a:lnTo>
                    <a:pt x="50483" y="183832"/>
                  </a:lnTo>
                  <a:lnTo>
                    <a:pt x="28575" y="227648"/>
                  </a:lnTo>
                  <a:lnTo>
                    <a:pt x="13335" y="273367"/>
                  </a:lnTo>
                  <a:lnTo>
                    <a:pt x="3810" y="320992"/>
                  </a:lnTo>
                  <a:lnTo>
                    <a:pt x="0" y="368617"/>
                  </a:lnTo>
                  <a:lnTo>
                    <a:pt x="3810" y="416242"/>
                  </a:lnTo>
                  <a:lnTo>
                    <a:pt x="13335" y="463867"/>
                  </a:lnTo>
                  <a:lnTo>
                    <a:pt x="28575" y="509587"/>
                  </a:lnTo>
                  <a:lnTo>
                    <a:pt x="50483" y="553402"/>
                  </a:lnTo>
                  <a:lnTo>
                    <a:pt x="76200" y="593407"/>
                  </a:lnTo>
                  <a:lnTo>
                    <a:pt x="108585" y="629602"/>
                  </a:lnTo>
                  <a:lnTo>
                    <a:pt x="144780" y="661035"/>
                  </a:lnTo>
                  <a:lnTo>
                    <a:pt x="184785" y="687705"/>
                  </a:lnTo>
                  <a:lnTo>
                    <a:pt x="228600" y="709612"/>
                  </a:lnTo>
                  <a:lnTo>
                    <a:pt x="273368" y="724852"/>
                  </a:lnTo>
                  <a:lnTo>
                    <a:pt x="320993" y="734378"/>
                  </a:lnTo>
                  <a:lnTo>
                    <a:pt x="369570" y="737235"/>
                  </a:lnTo>
                  <a:lnTo>
                    <a:pt x="417195" y="734378"/>
                  </a:lnTo>
                  <a:lnTo>
                    <a:pt x="464820" y="724852"/>
                  </a:lnTo>
                  <a:lnTo>
                    <a:pt x="510540" y="709612"/>
                  </a:lnTo>
                  <a:lnTo>
                    <a:pt x="553402" y="687705"/>
                  </a:lnTo>
                  <a:lnTo>
                    <a:pt x="593408" y="661035"/>
                  </a:lnTo>
                  <a:lnTo>
                    <a:pt x="629602" y="629602"/>
                  </a:lnTo>
                  <a:lnTo>
                    <a:pt x="661988" y="593407"/>
                  </a:lnTo>
                  <a:lnTo>
                    <a:pt x="688658" y="553402"/>
                  </a:lnTo>
                  <a:lnTo>
                    <a:pt x="709612" y="509587"/>
                  </a:lnTo>
                  <a:lnTo>
                    <a:pt x="725805" y="463867"/>
                  </a:lnTo>
                  <a:lnTo>
                    <a:pt x="735330" y="416242"/>
                  </a:lnTo>
                  <a:lnTo>
                    <a:pt x="737235" y="382905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039302" y="1942148"/>
              <a:ext cx="92393" cy="12382"/>
            </a:xfrm>
            <a:custGeom>
              <a:avLst/>
              <a:gdLst/>
              <a:ahLst/>
              <a:cxnLst/>
              <a:rect l="l" t="t" r="r" b="b"/>
              <a:pathLst>
                <a:path w="92393" h="12382">
                  <a:moveTo>
                    <a:pt x="0" y="12382"/>
                  </a:moveTo>
                  <a:lnTo>
                    <a:pt x="7620" y="11430"/>
                  </a:lnTo>
                  <a:lnTo>
                    <a:pt x="28575" y="9525"/>
                  </a:lnTo>
                  <a:lnTo>
                    <a:pt x="50483" y="9525"/>
                  </a:lnTo>
                  <a:lnTo>
                    <a:pt x="71438" y="9525"/>
                  </a:lnTo>
                  <a:lnTo>
                    <a:pt x="92393" y="11430"/>
                  </a:lnTo>
                  <a:lnTo>
                    <a:pt x="571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038350" y="1894522"/>
              <a:ext cx="100965" cy="94298"/>
            </a:xfrm>
            <a:custGeom>
              <a:avLst/>
              <a:gdLst/>
              <a:ahLst/>
              <a:cxnLst/>
              <a:rect l="l" t="t" r="r" b="b"/>
              <a:pathLst>
                <a:path w="100965" h="94298">
                  <a:moveTo>
                    <a:pt x="100965" y="60960"/>
                  </a:moveTo>
                  <a:lnTo>
                    <a:pt x="0" y="94298"/>
                  </a:lnTo>
                  <a:lnTo>
                    <a:pt x="13335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980248" y="2211705"/>
              <a:ext cx="216217" cy="217170"/>
            </a:xfrm>
            <a:custGeom>
              <a:avLst/>
              <a:gdLst/>
              <a:ahLst/>
              <a:cxnLst/>
              <a:rect l="l" t="t" r="r" b="b"/>
              <a:pathLst>
                <a:path w="216217" h="217170">
                  <a:moveTo>
                    <a:pt x="216217" y="94298"/>
                  </a:moveTo>
                  <a:lnTo>
                    <a:pt x="215265" y="84773"/>
                  </a:lnTo>
                  <a:lnTo>
                    <a:pt x="206692" y="60960"/>
                  </a:lnTo>
                  <a:lnTo>
                    <a:pt x="194310" y="40958"/>
                  </a:lnTo>
                  <a:lnTo>
                    <a:pt x="177165" y="23812"/>
                  </a:lnTo>
                  <a:lnTo>
                    <a:pt x="156210" y="10478"/>
                  </a:lnTo>
                  <a:lnTo>
                    <a:pt x="133350" y="1905"/>
                  </a:lnTo>
                  <a:lnTo>
                    <a:pt x="109538" y="0"/>
                  </a:lnTo>
                  <a:lnTo>
                    <a:pt x="84773" y="1905"/>
                  </a:lnTo>
                  <a:lnTo>
                    <a:pt x="61912" y="10478"/>
                  </a:lnTo>
                  <a:lnTo>
                    <a:pt x="40957" y="23812"/>
                  </a:lnTo>
                  <a:lnTo>
                    <a:pt x="23812" y="40958"/>
                  </a:lnTo>
                  <a:lnTo>
                    <a:pt x="11430" y="60960"/>
                  </a:lnTo>
                  <a:lnTo>
                    <a:pt x="2857" y="84773"/>
                  </a:lnTo>
                  <a:lnTo>
                    <a:pt x="0" y="108585"/>
                  </a:lnTo>
                  <a:lnTo>
                    <a:pt x="2857" y="132398"/>
                  </a:lnTo>
                  <a:lnTo>
                    <a:pt x="11430" y="156210"/>
                  </a:lnTo>
                  <a:lnTo>
                    <a:pt x="23812" y="176212"/>
                  </a:lnTo>
                  <a:lnTo>
                    <a:pt x="40957" y="193358"/>
                  </a:lnTo>
                  <a:lnTo>
                    <a:pt x="61912" y="206693"/>
                  </a:lnTo>
                  <a:lnTo>
                    <a:pt x="84773" y="215265"/>
                  </a:lnTo>
                  <a:lnTo>
                    <a:pt x="109538" y="217170"/>
                  </a:lnTo>
                  <a:lnTo>
                    <a:pt x="133350" y="215265"/>
                  </a:lnTo>
                  <a:lnTo>
                    <a:pt x="156210" y="206693"/>
                  </a:lnTo>
                  <a:lnTo>
                    <a:pt x="177165" y="193358"/>
                  </a:lnTo>
                  <a:lnTo>
                    <a:pt x="194310" y="176212"/>
                  </a:lnTo>
                  <a:lnTo>
                    <a:pt x="206692" y="156210"/>
                  </a:lnTo>
                  <a:lnTo>
                    <a:pt x="215265" y="132398"/>
                  </a:lnTo>
                  <a:lnTo>
                    <a:pt x="216217" y="122873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025015" y="2256472"/>
              <a:ext cx="128588" cy="127635"/>
            </a:xfrm>
            <a:custGeom>
              <a:avLst/>
              <a:gdLst/>
              <a:ahLst/>
              <a:cxnLst/>
              <a:rect l="l" t="t" r="r" b="b"/>
              <a:pathLst>
                <a:path w="128588" h="127635">
                  <a:moveTo>
                    <a:pt x="0" y="0"/>
                  </a:moveTo>
                  <a:lnTo>
                    <a:pt x="128588" y="127635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025015" y="2256472"/>
              <a:ext cx="128588" cy="127635"/>
            </a:xfrm>
            <a:custGeom>
              <a:avLst/>
              <a:gdLst/>
              <a:ahLst/>
              <a:cxnLst/>
              <a:rect l="l" t="t" r="r" b="b"/>
              <a:pathLst>
                <a:path w="128588" h="127635">
                  <a:moveTo>
                    <a:pt x="0" y="127635"/>
                  </a:moveTo>
                  <a:lnTo>
                    <a:pt x="128588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597592" y="1951672"/>
              <a:ext cx="737235" cy="737235"/>
            </a:xfrm>
            <a:custGeom>
              <a:avLst/>
              <a:gdLst/>
              <a:ahLst/>
              <a:cxnLst/>
              <a:rect l="l" t="t" r="r" b="b"/>
              <a:pathLst>
                <a:path w="737235" h="737235">
                  <a:moveTo>
                    <a:pt x="737235" y="354330"/>
                  </a:moveTo>
                  <a:lnTo>
                    <a:pt x="735330" y="320992"/>
                  </a:lnTo>
                  <a:lnTo>
                    <a:pt x="725805" y="273367"/>
                  </a:lnTo>
                  <a:lnTo>
                    <a:pt x="710565" y="227648"/>
                  </a:lnTo>
                  <a:lnTo>
                    <a:pt x="688658" y="183832"/>
                  </a:lnTo>
                  <a:lnTo>
                    <a:pt x="661988" y="143827"/>
                  </a:lnTo>
                  <a:lnTo>
                    <a:pt x="629603" y="107632"/>
                  </a:lnTo>
                  <a:lnTo>
                    <a:pt x="593408" y="76200"/>
                  </a:lnTo>
                  <a:lnTo>
                    <a:pt x="553403" y="49530"/>
                  </a:lnTo>
                  <a:lnTo>
                    <a:pt x="510540" y="27623"/>
                  </a:lnTo>
                  <a:lnTo>
                    <a:pt x="464820" y="12382"/>
                  </a:lnTo>
                  <a:lnTo>
                    <a:pt x="417195" y="2857"/>
                  </a:lnTo>
                  <a:lnTo>
                    <a:pt x="369570" y="0"/>
                  </a:lnTo>
                  <a:lnTo>
                    <a:pt x="320992" y="2857"/>
                  </a:lnTo>
                  <a:lnTo>
                    <a:pt x="273367" y="12382"/>
                  </a:lnTo>
                  <a:lnTo>
                    <a:pt x="228600" y="27623"/>
                  </a:lnTo>
                  <a:lnTo>
                    <a:pt x="184785" y="49530"/>
                  </a:lnTo>
                  <a:lnTo>
                    <a:pt x="144780" y="76200"/>
                  </a:lnTo>
                  <a:lnTo>
                    <a:pt x="108585" y="107632"/>
                  </a:lnTo>
                  <a:lnTo>
                    <a:pt x="76200" y="143827"/>
                  </a:lnTo>
                  <a:lnTo>
                    <a:pt x="49530" y="183832"/>
                  </a:lnTo>
                  <a:lnTo>
                    <a:pt x="28575" y="227648"/>
                  </a:lnTo>
                  <a:lnTo>
                    <a:pt x="12383" y="273367"/>
                  </a:lnTo>
                  <a:lnTo>
                    <a:pt x="3810" y="320992"/>
                  </a:lnTo>
                  <a:lnTo>
                    <a:pt x="0" y="368617"/>
                  </a:lnTo>
                  <a:lnTo>
                    <a:pt x="3810" y="416242"/>
                  </a:lnTo>
                  <a:lnTo>
                    <a:pt x="12383" y="463867"/>
                  </a:lnTo>
                  <a:lnTo>
                    <a:pt x="28575" y="509587"/>
                  </a:lnTo>
                  <a:lnTo>
                    <a:pt x="49530" y="553402"/>
                  </a:lnTo>
                  <a:lnTo>
                    <a:pt x="76200" y="593407"/>
                  </a:lnTo>
                  <a:lnTo>
                    <a:pt x="108585" y="629602"/>
                  </a:lnTo>
                  <a:lnTo>
                    <a:pt x="144780" y="661035"/>
                  </a:lnTo>
                  <a:lnTo>
                    <a:pt x="184785" y="687705"/>
                  </a:lnTo>
                  <a:lnTo>
                    <a:pt x="228600" y="709612"/>
                  </a:lnTo>
                  <a:lnTo>
                    <a:pt x="273367" y="724852"/>
                  </a:lnTo>
                  <a:lnTo>
                    <a:pt x="320992" y="734378"/>
                  </a:lnTo>
                  <a:lnTo>
                    <a:pt x="369570" y="737235"/>
                  </a:lnTo>
                  <a:lnTo>
                    <a:pt x="417195" y="734378"/>
                  </a:lnTo>
                  <a:lnTo>
                    <a:pt x="464820" y="724852"/>
                  </a:lnTo>
                  <a:lnTo>
                    <a:pt x="510540" y="709612"/>
                  </a:lnTo>
                  <a:lnTo>
                    <a:pt x="553403" y="687705"/>
                  </a:lnTo>
                  <a:lnTo>
                    <a:pt x="593408" y="661035"/>
                  </a:lnTo>
                  <a:lnTo>
                    <a:pt x="629603" y="629602"/>
                  </a:lnTo>
                  <a:lnTo>
                    <a:pt x="661988" y="593407"/>
                  </a:lnTo>
                  <a:lnTo>
                    <a:pt x="688658" y="553402"/>
                  </a:lnTo>
                  <a:lnTo>
                    <a:pt x="710565" y="509587"/>
                  </a:lnTo>
                  <a:lnTo>
                    <a:pt x="725805" y="463867"/>
                  </a:lnTo>
                  <a:lnTo>
                    <a:pt x="735330" y="416242"/>
                  </a:lnTo>
                  <a:lnTo>
                    <a:pt x="737235" y="382905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924300" y="1942148"/>
              <a:ext cx="92392" cy="13335"/>
            </a:xfrm>
            <a:custGeom>
              <a:avLst/>
              <a:gdLst/>
              <a:ahLst/>
              <a:cxnLst/>
              <a:rect l="l" t="t" r="r" b="b"/>
              <a:pathLst>
                <a:path w="92392" h="13335">
                  <a:moveTo>
                    <a:pt x="92392" y="13335"/>
                  </a:moveTo>
                  <a:lnTo>
                    <a:pt x="85725" y="11430"/>
                  </a:lnTo>
                  <a:lnTo>
                    <a:pt x="63817" y="9525"/>
                  </a:lnTo>
                  <a:lnTo>
                    <a:pt x="42862" y="9525"/>
                  </a:lnTo>
                  <a:lnTo>
                    <a:pt x="20955" y="9525"/>
                  </a:lnTo>
                  <a:lnTo>
                    <a:pt x="0" y="11430"/>
                  </a:lnTo>
                  <a:lnTo>
                    <a:pt x="86678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916680" y="1894522"/>
              <a:ext cx="100965" cy="94298"/>
            </a:xfrm>
            <a:custGeom>
              <a:avLst/>
              <a:gdLst/>
              <a:ahLst/>
              <a:cxnLst/>
              <a:rect l="l" t="t" r="r" b="b"/>
              <a:pathLst>
                <a:path w="100965" h="94298">
                  <a:moveTo>
                    <a:pt x="0" y="60960"/>
                  </a:moveTo>
                  <a:lnTo>
                    <a:pt x="87630" y="0"/>
                  </a:lnTo>
                  <a:lnTo>
                    <a:pt x="100965" y="94298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857625" y="2211705"/>
              <a:ext cx="216217" cy="217170"/>
            </a:xfrm>
            <a:custGeom>
              <a:avLst/>
              <a:gdLst/>
              <a:ahLst/>
              <a:cxnLst/>
              <a:rect l="l" t="t" r="r" b="b"/>
              <a:pathLst>
                <a:path w="216217" h="217170">
                  <a:moveTo>
                    <a:pt x="216217" y="94298"/>
                  </a:moveTo>
                  <a:lnTo>
                    <a:pt x="215265" y="84773"/>
                  </a:lnTo>
                  <a:lnTo>
                    <a:pt x="207645" y="60960"/>
                  </a:lnTo>
                  <a:lnTo>
                    <a:pt x="194310" y="40958"/>
                  </a:lnTo>
                  <a:lnTo>
                    <a:pt x="177165" y="23812"/>
                  </a:lnTo>
                  <a:lnTo>
                    <a:pt x="156210" y="10478"/>
                  </a:lnTo>
                  <a:lnTo>
                    <a:pt x="133350" y="1905"/>
                  </a:lnTo>
                  <a:lnTo>
                    <a:pt x="109538" y="0"/>
                  </a:lnTo>
                  <a:lnTo>
                    <a:pt x="84772" y="1905"/>
                  </a:lnTo>
                  <a:lnTo>
                    <a:pt x="61912" y="10478"/>
                  </a:lnTo>
                  <a:lnTo>
                    <a:pt x="41910" y="23812"/>
                  </a:lnTo>
                  <a:lnTo>
                    <a:pt x="23812" y="40958"/>
                  </a:lnTo>
                  <a:lnTo>
                    <a:pt x="11430" y="60960"/>
                  </a:lnTo>
                  <a:lnTo>
                    <a:pt x="2858" y="84773"/>
                  </a:lnTo>
                  <a:lnTo>
                    <a:pt x="0" y="108585"/>
                  </a:lnTo>
                  <a:lnTo>
                    <a:pt x="2858" y="132398"/>
                  </a:lnTo>
                  <a:lnTo>
                    <a:pt x="11430" y="156210"/>
                  </a:lnTo>
                  <a:lnTo>
                    <a:pt x="23812" y="176212"/>
                  </a:lnTo>
                  <a:lnTo>
                    <a:pt x="41910" y="193358"/>
                  </a:lnTo>
                  <a:lnTo>
                    <a:pt x="61912" y="206693"/>
                  </a:lnTo>
                  <a:lnTo>
                    <a:pt x="84772" y="215265"/>
                  </a:lnTo>
                  <a:lnTo>
                    <a:pt x="109538" y="217170"/>
                  </a:lnTo>
                  <a:lnTo>
                    <a:pt x="133350" y="215265"/>
                  </a:lnTo>
                  <a:lnTo>
                    <a:pt x="156210" y="206693"/>
                  </a:lnTo>
                  <a:lnTo>
                    <a:pt x="177165" y="193358"/>
                  </a:lnTo>
                  <a:lnTo>
                    <a:pt x="194310" y="176212"/>
                  </a:lnTo>
                  <a:lnTo>
                    <a:pt x="207645" y="156210"/>
                  </a:lnTo>
                  <a:lnTo>
                    <a:pt x="215265" y="132398"/>
                  </a:lnTo>
                  <a:lnTo>
                    <a:pt x="216217" y="122873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951095" y="23155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951095" y="23155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358515" y="16383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688908" y="16383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453640" y="23155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453640" y="23155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021205" y="19526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148840" y="19526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193608" y="23155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193608" y="23155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2010728" y="22412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158365" y="23898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010728" y="23898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158365" y="22412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4331018" y="23155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331018" y="23155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4026218" y="19526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897630" y="19526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4070985" y="23155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4070985" y="23155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3936682" y="228981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292358" y="16416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09528" y="22874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86905" y="22874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253638" y="2444115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131015" y="2444115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I₂</a:t>
              </a:r>
            </a:p>
          </p:txBody>
        </p:sp>
      </p:grpSp>
      <p:grpSp>
        <p:nvGrpSpPr>
          <p:cNvPr id="88" name="g_circ"/>
          <p:cNvGrpSpPr/>
          <p:nvPr/>
        </p:nvGrpSpPr>
        <p:grpSpPr>
          <a:xfrm>
            <a:off x="1330642" y="3600450"/>
            <a:ext cx="3366135" cy="1498949"/>
            <a:chOff x="1330642" y="3600450"/>
            <a:chExt cx="3366135" cy="1498949"/>
          </a:xfrm>
        </p:grpSpPr>
        <p:sp>
          <p:nvSpPr>
            <p:cNvPr id="47" name="Freeform 47"/>
            <p:cNvSpPr/>
            <p:nvPr/>
          </p:nvSpPr>
          <p:spPr>
            <a:xfrm>
              <a:off x="1349692" y="3785235"/>
              <a:ext cx="3323273" cy="9525"/>
            </a:xfrm>
            <a:custGeom>
              <a:avLst/>
              <a:gdLst/>
              <a:ahLst/>
              <a:cxnLst/>
              <a:rect l="l" t="t" r="r" b="b"/>
              <a:pathLst>
                <a:path w="3323273" h="9525">
                  <a:moveTo>
                    <a:pt x="0" y="0"/>
                  </a:moveTo>
                  <a:lnTo>
                    <a:pt x="3323273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349692" y="4288155"/>
              <a:ext cx="3323273" cy="9525"/>
            </a:xfrm>
            <a:custGeom>
              <a:avLst/>
              <a:gdLst/>
              <a:ahLst/>
              <a:cxnLst/>
              <a:rect l="l" t="t" r="r" b="b"/>
              <a:pathLst>
                <a:path w="3323273" h="9525">
                  <a:moveTo>
                    <a:pt x="0" y="0"/>
                  </a:moveTo>
                  <a:lnTo>
                    <a:pt x="3323273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349692" y="4808220"/>
              <a:ext cx="1094423" cy="9525"/>
            </a:xfrm>
            <a:custGeom>
              <a:avLst/>
              <a:gdLst/>
              <a:ahLst/>
              <a:cxnLst/>
              <a:rect l="l" t="t" r="r" b="b"/>
              <a:pathLst>
                <a:path w="1094423" h="9525">
                  <a:moveTo>
                    <a:pt x="0" y="0"/>
                  </a:moveTo>
                  <a:lnTo>
                    <a:pt x="1094423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2606992" y="4808220"/>
              <a:ext cx="2065973" cy="9525"/>
            </a:xfrm>
            <a:custGeom>
              <a:avLst/>
              <a:gdLst/>
              <a:ahLst/>
              <a:cxnLst/>
              <a:rect l="l" t="t" r="r" b="b"/>
              <a:pathLst>
                <a:path w="2065973" h="9525">
                  <a:moveTo>
                    <a:pt x="0" y="0"/>
                  </a:moveTo>
                  <a:lnTo>
                    <a:pt x="2065973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335405" y="3799522"/>
              <a:ext cx="9525" cy="994410"/>
            </a:xfrm>
            <a:custGeom>
              <a:avLst/>
              <a:gdLst/>
              <a:ahLst/>
              <a:cxnLst/>
              <a:rect l="l" t="t" r="r" b="b"/>
              <a:pathLst>
                <a:path w="9525" h="994410">
                  <a:moveTo>
                    <a:pt x="0" y="0"/>
                  </a:moveTo>
                  <a:lnTo>
                    <a:pt x="0" y="99441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4687252" y="3799522"/>
              <a:ext cx="9525" cy="994410"/>
            </a:xfrm>
            <a:custGeom>
              <a:avLst/>
              <a:gdLst/>
              <a:ahLst/>
              <a:cxnLst/>
              <a:rect l="l" t="t" r="r" b="b"/>
              <a:pathLst>
                <a:path w="9525" h="994410">
                  <a:moveTo>
                    <a:pt x="0" y="0"/>
                  </a:moveTo>
                  <a:lnTo>
                    <a:pt x="0" y="99441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2458402" y="4654868"/>
              <a:ext cx="9525" cy="306705"/>
            </a:xfrm>
            <a:custGeom>
              <a:avLst/>
              <a:gdLst/>
              <a:ahLst/>
              <a:cxnLst/>
              <a:rect l="l" t="t" r="r" b="b"/>
              <a:pathLst>
                <a:path w="9525" h="306705">
                  <a:moveTo>
                    <a:pt x="0" y="0"/>
                  </a:moveTo>
                  <a:lnTo>
                    <a:pt x="0" y="306705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2592705" y="4738688"/>
              <a:ext cx="9525" cy="139065"/>
            </a:xfrm>
            <a:custGeom>
              <a:avLst/>
              <a:gdLst/>
              <a:ahLst/>
              <a:cxnLst/>
              <a:rect l="l" t="t" r="r" b="b"/>
              <a:pathLst>
                <a:path w="9525" h="139065">
                  <a:moveTo>
                    <a:pt x="0" y="0"/>
                  </a:moveTo>
                  <a:lnTo>
                    <a:pt x="0" y="139065"/>
                  </a:lnTo>
                </a:path>
              </a:pathLst>
            </a:custGeom>
            <a:noFill/>
            <a:ln w="57150">
              <a:solidFill>
                <a:srgbClr val="1F293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1696402" y="480822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295275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1601152" y="47605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3740468" y="3600450"/>
              <a:ext cx="217170" cy="369570"/>
            </a:xfrm>
            <a:custGeom>
              <a:avLst/>
              <a:gdLst/>
              <a:ahLst/>
              <a:cxnLst/>
              <a:rect l="l" t="t" r="r" b="b"/>
              <a:pathLst>
                <a:path w="217170" h="369570">
                  <a:moveTo>
                    <a:pt x="217170" y="170497"/>
                  </a:moveTo>
                  <a:lnTo>
                    <a:pt x="217170" y="156210"/>
                  </a:lnTo>
                  <a:lnTo>
                    <a:pt x="213360" y="127635"/>
                  </a:lnTo>
                  <a:lnTo>
                    <a:pt x="205740" y="100965"/>
                  </a:lnTo>
                  <a:lnTo>
                    <a:pt x="197167" y="76200"/>
                  </a:lnTo>
                  <a:lnTo>
                    <a:pt x="185738" y="54292"/>
                  </a:lnTo>
                  <a:lnTo>
                    <a:pt x="173355" y="35242"/>
                  </a:lnTo>
                  <a:lnTo>
                    <a:pt x="159067" y="20003"/>
                  </a:lnTo>
                  <a:lnTo>
                    <a:pt x="142875" y="9525"/>
                  </a:lnTo>
                  <a:lnTo>
                    <a:pt x="126683" y="2858"/>
                  </a:lnTo>
                  <a:lnTo>
                    <a:pt x="108585" y="0"/>
                  </a:lnTo>
                  <a:lnTo>
                    <a:pt x="92392" y="2858"/>
                  </a:lnTo>
                  <a:lnTo>
                    <a:pt x="75248" y="9525"/>
                  </a:lnTo>
                  <a:lnTo>
                    <a:pt x="60008" y="20003"/>
                  </a:lnTo>
                  <a:lnTo>
                    <a:pt x="44767" y="35242"/>
                  </a:lnTo>
                  <a:lnTo>
                    <a:pt x="32385" y="54292"/>
                  </a:lnTo>
                  <a:lnTo>
                    <a:pt x="20955" y="76200"/>
                  </a:lnTo>
                  <a:lnTo>
                    <a:pt x="11430" y="100965"/>
                  </a:lnTo>
                  <a:lnTo>
                    <a:pt x="5715" y="127635"/>
                  </a:lnTo>
                  <a:lnTo>
                    <a:pt x="953" y="156210"/>
                  </a:lnTo>
                  <a:lnTo>
                    <a:pt x="0" y="184785"/>
                  </a:lnTo>
                  <a:lnTo>
                    <a:pt x="953" y="213360"/>
                  </a:lnTo>
                  <a:lnTo>
                    <a:pt x="5715" y="241935"/>
                  </a:lnTo>
                  <a:lnTo>
                    <a:pt x="11430" y="268605"/>
                  </a:lnTo>
                  <a:lnTo>
                    <a:pt x="20955" y="293370"/>
                  </a:lnTo>
                  <a:lnTo>
                    <a:pt x="32385" y="315278"/>
                  </a:lnTo>
                  <a:lnTo>
                    <a:pt x="44767" y="334328"/>
                  </a:lnTo>
                  <a:lnTo>
                    <a:pt x="60008" y="348615"/>
                  </a:lnTo>
                  <a:lnTo>
                    <a:pt x="75248" y="360045"/>
                  </a:lnTo>
                  <a:lnTo>
                    <a:pt x="92392" y="366712"/>
                  </a:lnTo>
                  <a:lnTo>
                    <a:pt x="108585" y="369570"/>
                  </a:lnTo>
                  <a:lnTo>
                    <a:pt x="126683" y="366712"/>
                  </a:lnTo>
                  <a:lnTo>
                    <a:pt x="142875" y="360045"/>
                  </a:lnTo>
                  <a:lnTo>
                    <a:pt x="159067" y="348615"/>
                  </a:lnTo>
                  <a:lnTo>
                    <a:pt x="173355" y="334328"/>
                  </a:lnTo>
                  <a:lnTo>
                    <a:pt x="185738" y="315278"/>
                  </a:lnTo>
                  <a:lnTo>
                    <a:pt x="197167" y="293370"/>
                  </a:lnTo>
                  <a:lnTo>
                    <a:pt x="205740" y="268605"/>
                  </a:lnTo>
                  <a:lnTo>
                    <a:pt x="213360" y="241935"/>
                  </a:lnTo>
                  <a:lnTo>
                    <a:pt x="217170" y="213360"/>
                  </a:lnTo>
                  <a:lnTo>
                    <a:pt x="217170" y="199072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58" name="Freeform 58"/>
            <p:cNvSpPr/>
            <p:nvPr/>
          </p:nvSpPr>
          <p:spPr>
            <a:xfrm>
              <a:off x="3740468" y="4623435"/>
              <a:ext cx="217170" cy="368618"/>
            </a:xfrm>
            <a:custGeom>
              <a:avLst/>
              <a:gdLst/>
              <a:ahLst/>
              <a:cxnLst/>
              <a:rect l="l" t="t" r="r" b="b"/>
              <a:pathLst>
                <a:path w="217170" h="368618">
                  <a:moveTo>
                    <a:pt x="217170" y="170498"/>
                  </a:moveTo>
                  <a:lnTo>
                    <a:pt x="217170" y="155258"/>
                  </a:lnTo>
                  <a:lnTo>
                    <a:pt x="213360" y="127635"/>
                  </a:lnTo>
                  <a:lnTo>
                    <a:pt x="205740" y="100965"/>
                  </a:lnTo>
                  <a:lnTo>
                    <a:pt x="197167" y="76200"/>
                  </a:lnTo>
                  <a:lnTo>
                    <a:pt x="185738" y="54293"/>
                  </a:lnTo>
                  <a:lnTo>
                    <a:pt x="173355" y="35243"/>
                  </a:lnTo>
                  <a:lnTo>
                    <a:pt x="159067" y="20003"/>
                  </a:lnTo>
                  <a:lnTo>
                    <a:pt x="142875" y="8573"/>
                  </a:lnTo>
                  <a:lnTo>
                    <a:pt x="126683" y="1905"/>
                  </a:lnTo>
                  <a:lnTo>
                    <a:pt x="108585" y="0"/>
                  </a:lnTo>
                  <a:lnTo>
                    <a:pt x="92392" y="1905"/>
                  </a:lnTo>
                  <a:lnTo>
                    <a:pt x="75248" y="8573"/>
                  </a:lnTo>
                  <a:lnTo>
                    <a:pt x="60008" y="20003"/>
                  </a:lnTo>
                  <a:lnTo>
                    <a:pt x="44767" y="35243"/>
                  </a:lnTo>
                  <a:lnTo>
                    <a:pt x="32385" y="54293"/>
                  </a:lnTo>
                  <a:lnTo>
                    <a:pt x="20955" y="76200"/>
                  </a:lnTo>
                  <a:lnTo>
                    <a:pt x="11430" y="100965"/>
                  </a:lnTo>
                  <a:lnTo>
                    <a:pt x="5715" y="127635"/>
                  </a:lnTo>
                  <a:lnTo>
                    <a:pt x="953" y="155258"/>
                  </a:lnTo>
                  <a:lnTo>
                    <a:pt x="0" y="184785"/>
                  </a:lnTo>
                  <a:lnTo>
                    <a:pt x="953" y="213360"/>
                  </a:lnTo>
                  <a:lnTo>
                    <a:pt x="5715" y="240983"/>
                  </a:lnTo>
                  <a:lnTo>
                    <a:pt x="11430" y="268605"/>
                  </a:lnTo>
                  <a:lnTo>
                    <a:pt x="20955" y="293370"/>
                  </a:lnTo>
                  <a:lnTo>
                    <a:pt x="32385" y="315278"/>
                  </a:lnTo>
                  <a:lnTo>
                    <a:pt x="44767" y="333375"/>
                  </a:lnTo>
                  <a:lnTo>
                    <a:pt x="60008" y="348615"/>
                  </a:lnTo>
                  <a:lnTo>
                    <a:pt x="75248" y="360045"/>
                  </a:lnTo>
                  <a:lnTo>
                    <a:pt x="92392" y="366712"/>
                  </a:lnTo>
                  <a:lnTo>
                    <a:pt x="108585" y="368618"/>
                  </a:lnTo>
                  <a:lnTo>
                    <a:pt x="126683" y="366712"/>
                  </a:lnTo>
                  <a:lnTo>
                    <a:pt x="142875" y="360045"/>
                  </a:lnTo>
                  <a:lnTo>
                    <a:pt x="159067" y="348615"/>
                  </a:lnTo>
                  <a:lnTo>
                    <a:pt x="173355" y="333375"/>
                  </a:lnTo>
                  <a:lnTo>
                    <a:pt x="185738" y="315278"/>
                  </a:lnTo>
                  <a:lnTo>
                    <a:pt x="197167" y="293370"/>
                  </a:lnTo>
                  <a:lnTo>
                    <a:pt x="205740" y="268605"/>
                  </a:lnTo>
                  <a:lnTo>
                    <a:pt x="213360" y="240983"/>
                  </a:lnTo>
                  <a:lnTo>
                    <a:pt x="217170" y="213360"/>
                  </a:lnTo>
                  <a:lnTo>
                    <a:pt x="217170" y="199073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59" name="Ellipse 59"/>
            <p:cNvSpPr/>
            <p:nvPr/>
          </p:nvSpPr>
          <p:spPr>
            <a:xfrm>
              <a:off x="1330642" y="37804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4682490" y="37804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1330642" y="42833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4682490" y="42833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1330642" y="48034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2453640" y="48034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2587942" y="48034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4682490" y="48034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1330642" y="37804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1330642" y="48034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4682490" y="37804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4682490" y="48034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2282190" y="3675698"/>
              <a:ext cx="452438" cy="218122"/>
            </a:xfrm>
            <a:prstGeom prst="roundRect">
              <a:avLst>
                <a:gd name="adj" fmla="val 43668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2282190" y="4179570"/>
              <a:ext cx="452438" cy="218122"/>
            </a:xfrm>
            <a:prstGeom prst="roundRect">
              <a:avLst>
                <a:gd name="adj" fmla="val 43668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2453640" y="46358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2453640" y="49710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2587942" y="4719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2587942" y="48872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2001202" y="48034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1582102" y="48034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3953828" y="37804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3953828" y="37804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3953828" y="48034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3953828" y="48034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2467158" y="372903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2467158" y="423195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769507" y="4908709"/>
              <a:ext cx="53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4064683" y="370713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L₁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4064683" y="473011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L₂</a:t>
              </a:r>
            </a:p>
          </p:txBody>
        </p:sp>
      </p:grpSp>
      <p:grpSp>
        <p:nvGrpSpPr>
          <p:cNvPr id="117" name="c2-table-1"/>
          <p:cNvGrpSpPr/>
          <p:nvPr/>
        </p:nvGrpSpPr>
        <p:grpSpPr>
          <a:xfrm>
            <a:off x="5815965" y="1524000"/>
            <a:ext cx="5842635" cy="2400300"/>
            <a:chOff x="5815965" y="1524000"/>
            <a:chExt cx="5842635" cy="2400300"/>
          </a:xfrm>
        </p:grpSpPr>
        <p:sp>
          <p:nvSpPr>
            <p:cNvPr id="89" name="Rectangle 89"/>
            <p:cNvSpPr/>
            <p:nvPr/>
          </p:nvSpPr>
          <p:spPr>
            <a:xfrm>
              <a:off x="5815965" y="1524000"/>
              <a:ext cx="5842635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18525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回路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179371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包围的电流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80107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环流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915558" y="2045494"/>
              <a:ext cx="852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a（顺时针）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964680" y="2045494"/>
              <a:ext cx="1099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I₁ 垂直纸面向里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884139" y="2045494"/>
              <a:ext cx="146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I₁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5815965" y="2319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5815965" y="23241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5915558" y="2445544"/>
              <a:ext cx="852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b（逆时针）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964680" y="2445544"/>
              <a:ext cx="1099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I₂ 垂直纸面向外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0884139" y="2445544"/>
              <a:ext cx="146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I₂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5815965" y="27193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5915558" y="2845594"/>
              <a:ext cx="852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c（逆时针）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964680" y="2845594"/>
              <a:ext cx="1179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同时包围 I₁ 和 I₂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0724830" y="2845594"/>
              <a:ext cx="465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I₂ − I₁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5815965" y="31194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5815965" y="31242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244029" y="32456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L₁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964680" y="324564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两个等值电阻并联，套住一条支路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0840329" y="3245644"/>
              <a:ext cx="23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I/2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5815965" y="35194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6244029" y="364569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L₂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6964680" y="364569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套住干路，绕向与电流成左手关系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884139" y="3645694"/>
              <a:ext cx="146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−I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5815965" y="1524000"/>
              <a:ext cx="584263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686276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1025175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8" name="c2-card-2"/>
          <p:cNvGrpSpPr/>
          <p:nvPr/>
        </p:nvGrpSpPr>
        <p:grpSpPr>
          <a:xfrm>
            <a:off x="5815965" y="4093845"/>
            <a:ext cx="5842635" cy="1785938"/>
            <a:chOff x="5815965" y="4093845"/>
            <a:chExt cx="5842635" cy="1785938"/>
          </a:xfrm>
        </p:grpSpPr>
        <p:sp>
          <p:nvSpPr>
            <p:cNvPr id="118" name="Rectangle 118"/>
            <p:cNvSpPr/>
            <p:nvPr/>
          </p:nvSpPr>
          <p:spPr>
            <a:xfrm>
              <a:off x="5815965" y="4093845"/>
              <a:ext cx="5842635" cy="1785938"/>
            </a:xfrm>
            <a:prstGeom prst="roundRect">
              <a:avLst>
                <a:gd name="adj" fmla="val 7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5825490" y="4227195"/>
              <a:ext cx="47625" cy="15192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6040755" y="428053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6118174" y="431339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怎么判断正负</a:t>
              </a:r>
            </a:p>
          </p:txBody>
        </p:sp>
        <p:sp>
          <p:nvSpPr>
            <p:cNvPr id="122" name="Ellipse 122"/>
            <p:cNvSpPr/>
            <p:nvPr/>
          </p:nvSpPr>
          <p:spPr>
            <a:xfrm>
              <a:off x="6049328" y="46815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6205347" y="4625340"/>
              <a:ext cx="49171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回路 a 顺时针：右手四指顺时针弯，拇指指向纸内，与 I₁ 同向，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取正</a:t>
              </a:r>
            </a:p>
          </p:txBody>
        </p:sp>
        <p:sp>
          <p:nvSpPr>
            <p:cNvPr id="124" name="Ellipse 124"/>
            <p:cNvSpPr/>
            <p:nvPr/>
          </p:nvSpPr>
          <p:spPr>
            <a:xfrm>
              <a:off x="6049328" y="523875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6205347" y="5182552"/>
              <a:ext cx="3935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回路 c 逆时针：拇指指向纸外，I₂ 取正，I₁ 取负</a:t>
              </a:r>
            </a:p>
          </p:txBody>
        </p:sp>
        <p:sp>
          <p:nvSpPr>
            <p:cNvPr id="126" name="Ellipse 126"/>
            <p:cNvSpPr/>
            <p:nvPr/>
          </p:nvSpPr>
          <p:spPr>
            <a:xfrm>
              <a:off x="6049328" y="553878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6205347" y="5482590"/>
              <a:ext cx="4692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并联的两个支路电阻相等，干路电流 I 平分，每条支路 I/2</a:t>
              </a:r>
            </a:p>
          </p:txBody>
        </p:sp>
      </p:grpSp>
      <p:grpSp>
        <p:nvGrpSpPr>
          <p:cNvPr id="1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9" name="TextBox 12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15504" cy="909257"/>
            <a:chOff x="520446" y="342900"/>
            <a:chExt cx="68155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安培环路定理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155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应用一：长直螺线管内部是匀强磁场，H = nI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6" name="g_solenoid"/>
          <p:cNvGrpSpPr/>
          <p:nvPr/>
        </p:nvGrpSpPr>
        <p:grpSpPr>
          <a:xfrm>
            <a:off x="1080135" y="1912620"/>
            <a:ext cx="4098608" cy="1870424"/>
            <a:chOff x="1080135" y="1912620"/>
            <a:chExt cx="4098608" cy="1870424"/>
          </a:xfrm>
        </p:grpSpPr>
        <p:sp>
          <p:nvSpPr>
            <p:cNvPr id="7" name="Freeform 7"/>
            <p:cNvSpPr/>
            <p:nvPr/>
          </p:nvSpPr>
          <p:spPr>
            <a:xfrm>
              <a:off x="1311592" y="1912620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2405" y="75247"/>
                  </a:lnTo>
                  <a:lnTo>
                    <a:pt x="184785" y="55245"/>
                  </a:lnTo>
                  <a:lnTo>
                    <a:pt x="173355" y="36195"/>
                  </a:lnTo>
                  <a:lnTo>
                    <a:pt x="158115" y="20955"/>
                  </a:lnTo>
                  <a:lnTo>
                    <a:pt x="140018" y="9525"/>
                  </a:lnTo>
                  <a:lnTo>
                    <a:pt x="119062" y="2857"/>
                  </a:lnTo>
                  <a:lnTo>
                    <a:pt x="97155" y="0"/>
                  </a:lnTo>
                  <a:lnTo>
                    <a:pt x="75248" y="2857"/>
                  </a:lnTo>
                  <a:lnTo>
                    <a:pt x="55245" y="9525"/>
                  </a:lnTo>
                  <a:lnTo>
                    <a:pt x="37148" y="20955"/>
                  </a:lnTo>
                  <a:lnTo>
                    <a:pt x="20955" y="36195"/>
                  </a:lnTo>
                  <a:lnTo>
                    <a:pt x="9525" y="55245"/>
                  </a:lnTo>
                  <a:lnTo>
                    <a:pt x="2858" y="75247"/>
                  </a:lnTo>
                  <a:lnTo>
                    <a:pt x="0" y="97155"/>
                  </a:lnTo>
                  <a:lnTo>
                    <a:pt x="2858" y="119062"/>
                  </a:lnTo>
                  <a:lnTo>
                    <a:pt x="9525" y="139065"/>
                  </a:lnTo>
                  <a:lnTo>
                    <a:pt x="20955" y="158115"/>
                  </a:lnTo>
                  <a:lnTo>
                    <a:pt x="37148" y="173355"/>
                  </a:lnTo>
                  <a:lnTo>
                    <a:pt x="55245" y="184785"/>
                  </a:lnTo>
                  <a:lnTo>
                    <a:pt x="75248" y="192405"/>
                  </a:lnTo>
                  <a:lnTo>
                    <a:pt x="97155" y="194310"/>
                  </a:lnTo>
                  <a:lnTo>
                    <a:pt x="119062" y="192405"/>
                  </a:lnTo>
                  <a:lnTo>
                    <a:pt x="140018" y="184785"/>
                  </a:lnTo>
                  <a:lnTo>
                    <a:pt x="158115" y="173355"/>
                  </a:lnTo>
                  <a:lnTo>
                    <a:pt x="173355" y="158115"/>
                  </a:lnTo>
                  <a:lnTo>
                    <a:pt x="184785" y="139065"/>
                  </a:lnTo>
                  <a:lnTo>
                    <a:pt x="192405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11592" y="3046095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2405" y="75247"/>
                  </a:lnTo>
                  <a:lnTo>
                    <a:pt x="184785" y="55245"/>
                  </a:lnTo>
                  <a:lnTo>
                    <a:pt x="173355" y="36195"/>
                  </a:lnTo>
                  <a:lnTo>
                    <a:pt x="158115" y="20955"/>
                  </a:lnTo>
                  <a:lnTo>
                    <a:pt x="140018" y="9525"/>
                  </a:lnTo>
                  <a:lnTo>
                    <a:pt x="119062" y="2858"/>
                  </a:lnTo>
                  <a:lnTo>
                    <a:pt x="97155" y="0"/>
                  </a:lnTo>
                  <a:lnTo>
                    <a:pt x="75248" y="2858"/>
                  </a:lnTo>
                  <a:lnTo>
                    <a:pt x="55245" y="9525"/>
                  </a:lnTo>
                  <a:lnTo>
                    <a:pt x="37148" y="20955"/>
                  </a:lnTo>
                  <a:lnTo>
                    <a:pt x="20955" y="36195"/>
                  </a:lnTo>
                  <a:lnTo>
                    <a:pt x="9525" y="55245"/>
                  </a:lnTo>
                  <a:lnTo>
                    <a:pt x="2858" y="75247"/>
                  </a:lnTo>
                  <a:lnTo>
                    <a:pt x="0" y="97155"/>
                  </a:lnTo>
                  <a:lnTo>
                    <a:pt x="2858" y="119062"/>
                  </a:lnTo>
                  <a:lnTo>
                    <a:pt x="9525" y="139065"/>
                  </a:lnTo>
                  <a:lnTo>
                    <a:pt x="20955" y="158115"/>
                  </a:lnTo>
                  <a:lnTo>
                    <a:pt x="37148" y="173355"/>
                  </a:lnTo>
                  <a:lnTo>
                    <a:pt x="55245" y="184785"/>
                  </a:lnTo>
                  <a:lnTo>
                    <a:pt x="75248" y="192405"/>
                  </a:lnTo>
                  <a:lnTo>
                    <a:pt x="97155" y="194310"/>
                  </a:lnTo>
                  <a:lnTo>
                    <a:pt x="119062" y="192405"/>
                  </a:lnTo>
                  <a:lnTo>
                    <a:pt x="140018" y="184785"/>
                  </a:lnTo>
                  <a:lnTo>
                    <a:pt x="158115" y="173355"/>
                  </a:lnTo>
                  <a:lnTo>
                    <a:pt x="173355" y="158115"/>
                  </a:lnTo>
                  <a:lnTo>
                    <a:pt x="184785" y="139065"/>
                  </a:lnTo>
                  <a:lnTo>
                    <a:pt x="192405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352550" y="3087052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0"/>
                  </a:moveTo>
                  <a:lnTo>
                    <a:pt x="112395" y="11239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52550" y="3087052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112395"/>
                  </a:moveTo>
                  <a:lnTo>
                    <a:pt x="11239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660208" y="1912620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1452" y="75247"/>
                  </a:lnTo>
                  <a:lnTo>
                    <a:pt x="183832" y="55245"/>
                  </a:lnTo>
                  <a:lnTo>
                    <a:pt x="172402" y="36195"/>
                  </a:lnTo>
                  <a:lnTo>
                    <a:pt x="157162" y="20955"/>
                  </a:lnTo>
                  <a:lnTo>
                    <a:pt x="139065" y="9525"/>
                  </a:lnTo>
                  <a:lnTo>
                    <a:pt x="118110" y="2857"/>
                  </a:lnTo>
                  <a:lnTo>
                    <a:pt x="97155" y="0"/>
                  </a:lnTo>
                  <a:lnTo>
                    <a:pt x="75247" y="2857"/>
                  </a:lnTo>
                  <a:lnTo>
                    <a:pt x="55245" y="9525"/>
                  </a:lnTo>
                  <a:lnTo>
                    <a:pt x="36195" y="20955"/>
                  </a:lnTo>
                  <a:lnTo>
                    <a:pt x="20955" y="36195"/>
                  </a:lnTo>
                  <a:lnTo>
                    <a:pt x="9525" y="55245"/>
                  </a:lnTo>
                  <a:lnTo>
                    <a:pt x="1905" y="75247"/>
                  </a:lnTo>
                  <a:lnTo>
                    <a:pt x="0" y="97155"/>
                  </a:lnTo>
                  <a:lnTo>
                    <a:pt x="1905" y="119062"/>
                  </a:lnTo>
                  <a:lnTo>
                    <a:pt x="9525" y="139065"/>
                  </a:lnTo>
                  <a:lnTo>
                    <a:pt x="20955" y="158115"/>
                  </a:lnTo>
                  <a:lnTo>
                    <a:pt x="36195" y="173355"/>
                  </a:lnTo>
                  <a:lnTo>
                    <a:pt x="55245" y="184785"/>
                  </a:lnTo>
                  <a:lnTo>
                    <a:pt x="75247" y="192405"/>
                  </a:lnTo>
                  <a:lnTo>
                    <a:pt x="97155" y="194310"/>
                  </a:lnTo>
                  <a:lnTo>
                    <a:pt x="118110" y="192405"/>
                  </a:lnTo>
                  <a:lnTo>
                    <a:pt x="139065" y="184785"/>
                  </a:lnTo>
                  <a:lnTo>
                    <a:pt x="157162" y="173355"/>
                  </a:lnTo>
                  <a:lnTo>
                    <a:pt x="172402" y="158115"/>
                  </a:lnTo>
                  <a:lnTo>
                    <a:pt x="183832" y="139065"/>
                  </a:lnTo>
                  <a:lnTo>
                    <a:pt x="191452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60208" y="3046095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1452" y="75247"/>
                  </a:lnTo>
                  <a:lnTo>
                    <a:pt x="183832" y="55245"/>
                  </a:lnTo>
                  <a:lnTo>
                    <a:pt x="172402" y="36195"/>
                  </a:lnTo>
                  <a:lnTo>
                    <a:pt x="157162" y="20955"/>
                  </a:lnTo>
                  <a:lnTo>
                    <a:pt x="139065" y="9525"/>
                  </a:lnTo>
                  <a:lnTo>
                    <a:pt x="118110" y="2858"/>
                  </a:lnTo>
                  <a:lnTo>
                    <a:pt x="97155" y="0"/>
                  </a:lnTo>
                  <a:lnTo>
                    <a:pt x="75247" y="2858"/>
                  </a:lnTo>
                  <a:lnTo>
                    <a:pt x="55245" y="9525"/>
                  </a:lnTo>
                  <a:lnTo>
                    <a:pt x="36195" y="20955"/>
                  </a:lnTo>
                  <a:lnTo>
                    <a:pt x="20955" y="36195"/>
                  </a:lnTo>
                  <a:lnTo>
                    <a:pt x="9525" y="55245"/>
                  </a:lnTo>
                  <a:lnTo>
                    <a:pt x="1905" y="75247"/>
                  </a:lnTo>
                  <a:lnTo>
                    <a:pt x="0" y="97155"/>
                  </a:lnTo>
                  <a:lnTo>
                    <a:pt x="1905" y="119062"/>
                  </a:lnTo>
                  <a:lnTo>
                    <a:pt x="9525" y="139065"/>
                  </a:lnTo>
                  <a:lnTo>
                    <a:pt x="20955" y="158115"/>
                  </a:lnTo>
                  <a:lnTo>
                    <a:pt x="36195" y="173355"/>
                  </a:lnTo>
                  <a:lnTo>
                    <a:pt x="55245" y="184785"/>
                  </a:lnTo>
                  <a:lnTo>
                    <a:pt x="75247" y="192405"/>
                  </a:lnTo>
                  <a:lnTo>
                    <a:pt x="97155" y="194310"/>
                  </a:lnTo>
                  <a:lnTo>
                    <a:pt x="118110" y="192405"/>
                  </a:lnTo>
                  <a:lnTo>
                    <a:pt x="139065" y="184785"/>
                  </a:lnTo>
                  <a:lnTo>
                    <a:pt x="157162" y="173355"/>
                  </a:lnTo>
                  <a:lnTo>
                    <a:pt x="172402" y="158115"/>
                  </a:lnTo>
                  <a:lnTo>
                    <a:pt x="183832" y="139065"/>
                  </a:lnTo>
                  <a:lnTo>
                    <a:pt x="191452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701165" y="3087052"/>
              <a:ext cx="111443" cy="112395"/>
            </a:xfrm>
            <a:custGeom>
              <a:avLst/>
              <a:gdLst/>
              <a:ahLst/>
              <a:cxnLst/>
              <a:rect l="l" t="t" r="r" b="b"/>
              <a:pathLst>
                <a:path w="111443" h="112395">
                  <a:moveTo>
                    <a:pt x="0" y="0"/>
                  </a:moveTo>
                  <a:lnTo>
                    <a:pt x="111443" y="11239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701165" y="3087052"/>
              <a:ext cx="111443" cy="112395"/>
            </a:xfrm>
            <a:custGeom>
              <a:avLst/>
              <a:gdLst/>
              <a:ahLst/>
              <a:cxnLst/>
              <a:rect l="l" t="t" r="r" b="b"/>
              <a:pathLst>
                <a:path w="111443" h="112395">
                  <a:moveTo>
                    <a:pt x="0" y="112395"/>
                  </a:moveTo>
                  <a:lnTo>
                    <a:pt x="111443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007870" y="1912620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1452" y="75247"/>
                  </a:lnTo>
                  <a:lnTo>
                    <a:pt x="184785" y="55245"/>
                  </a:lnTo>
                  <a:lnTo>
                    <a:pt x="173355" y="36195"/>
                  </a:lnTo>
                  <a:lnTo>
                    <a:pt x="158115" y="20955"/>
                  </a:lnTo>
                  <a:lnTo>
                    <a:pt x="139065" y="9525"/>
                  </a:lnTo>
                  <a:lnTo>
                    <a:pt x="119062" y="2857"/>
                  </a:lnTo>
                  <a:lnTo>
                    <a:pt x="97155" y="0"/>
                  </a:lnTo>
                  <a:lnTo>
                    <a:pt x="75247" y="2857"/>
                  </a:lnTo>
                  <a:lnTo>
                    <a:pt x="55245" y="9525"/>
                  </a:lnTo>
                  <a:lnTo>
                    <a:pt x="36195" y="20955"/>
                  </a:lnTo>
                  <a:lnTo>
                    <a:pt x="20955" y="36195"/>
                  </a:lnTo>
                  <a:lnTo>
                    <a:pt x="9525" y="55245"/>
                  </a:lnTo>
                  <a:lnTo>
                    <a:pt x="2857" y="75247"/>
                  </a:lnTo>
                  <a:lnTo>
                    <a:pt x="0" y="97155"/>
                  </a:lnTo>
                  <a:lnTo>
                    <a:pt x="2857" y="119062"/>
                  </a:lnTo>
                  <a:lnTo>
                    <a:pt x="9525" y="139065"/>
                  </a:lnTo>
                  <a:lnTo>
                    <a:pt x="20955" y="158115"/>
                  </a:lnTo>
                  <a:lnTo>
                    <a:pt x="36195" y="173355"/>
                  </a:lnTo>
                  <a:lnTo>
                    <a:pt x="55245" y="184785"/>
                  </a:lnTo>
                  <a:lnTo>
                    <a:pt x="75247" y="192405"/>
                  </a:lnTo>
                  <a:lnTo>
                    <a:pt x="97155" y="194310"/>
                  </a:lnTo>
                  <a:lnTo>
                    <a:pt x="119062" y="192405"/>
                  </a:lnTo>
                  <a:lnTo>
                    <a:pt x="139065" y="184785"/>
                  </a:lnTo>
                  <a:lnTo>
                    <a:pt x="158115" y="173355"/>
                  </a:lnTo>
                  <a:lnTo>
                    <a:pt x="173355" y="158115"/>
                  </a:lnTo>
                  <a:lnTo>
                    <a:pt x="184785" y="139065"/>
                  </a:lnTo>
                  <a:lnTo>
                    <a:pt x="191452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007870" y="3046095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1452" y="75247"/>
                  </a:lnTo>
                  <a:lnTo>
                    <a:pt x="184785" y="55245"/>
                  </a:lnTo>
                  <a:lnTo>
                    <a:pt x="173355" y="36195"/>
                  </a:lnTo>
                  <a:lnTo>
                    <a:pt x="158115" y="20955"/>
                  </a:lnTo>
                  <a:lnTo>
                    <a:pt x="139065" y="9525"/>
                  </a:lnTo>
                  <a:lnTo>
                    <a:pt x="119062" y="2858"/>
                  </a:lnTo>
                  <a:lnTo>
                    <a:pt x="97155" y="0"/>
                  </a:lnTo>
                  <a:lnTo>
                    <a:pt x="75247" y="2858"/>
                  </a:lnTo>
                  <a:lnTo>
                    <a:pt x="55245" y="9525"/>
                  </a:lnTo>
                  <a:lnTo>
                    <a:pt x="36195" y="20955"/>
                  </a:lnTo>
                  <a:lnTo>
                    <a:pt x="20955" y="36195"/>
                  </a:lnTo>
                  <a:lnTo>
                    <a:pt x="9525" y="55245"/>
                  </a:lnTo>
                  <a:lnTo>
                    <a:pt x="2857" y="75247"/>
                  </a:lnTo>
                  <a:lnTo>
                    <a:pt x="0" y="97155"/>
                  </a:lnTo>
                  <a:lnTo>
                    <a:pt x="2857" y="119062"/>
                  </a:lnTo>
                  <a:lnTo>
                    <a:pt x="9525" y="139065"/>
                  </a:lnTo>
                  <a:lnTo>
                    <a:pt x="20955" y="158115"/>
                  </a:lnTo>
                  <a:lnTo>
                    <a:pt x="36195" y="173355"/>
                  </a:lnTo>
                  <a:lnTo>
                    <a:pt x="55245" y="184785"/>
                  </a:lnTo>
                  <a:lnTo>
                    <a:pt x="75247" y="192405"/>
                  </a:lnTo>
                  <a:lnTo>
                    <a:pt x="97155" y="194310"/>
                  </a:lnTo>
                  <a:lnTo>
                    <a:pt x="119062" y="192405"/>
                  </a:lnTo>
                  <a:lnTo>
                    <a:pt x="139065" y="184785"/>
                  </a:lnTo>
                  <a:lnTo>
                    <a:pt x="158115" y="173355"/>
                  </a:lnTo>
                  <a:lnTo>
                    <a:pt x="173355" y="158115"/>
                  </a:lnTo>
                  <a:lnTo>
                    <a:pt x="184785" y="139065"/>
                  </a:lnTo>
                  <a:lnTo>
                    <a:pt x="191452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048828" y="3087052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0"/>
                  </a:moveTo>
                  <a:lnTo>
                    <a:pt x="112395" y="11239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048828" y="3087052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112395"/>
                  </a:moveTo>
                  <a:lnTo>
                    <a:pt x="11239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355532" y="1912620"/>
              <a:ext cx="193358" cy="194310"/>
            </a:xfrm>
            <a:custGeom>
              <a:avLst/>
              <a:gdLst/>
              <a:ahLst/>
              <a:cxnLst/>
              <a:rect l="l" t="t" r="r" b="b"/>
              <a:pathLst>
                <a:path w="193358" h="194310">
                  <a:moveTo>
                    <a:pt x="193358" y="82867"/>
                  </a:moveTo>
                  <a:lnTo>
                    <a:pt x="192405" y="75247"/>
                  </a:lnTo>
                  <a:lnTo>
                    <a:pt x="185738" y="55245"/>
                  </a:lnTo>
                  <a:lnTo>
                    <a:pt x="173355" y="36195"/>
                  </a:lnTo>
                  <a:lnTo>
                    <a:pt x="158115" y="20955"/>
                  </a:lnTo>
                  <a:lnTo>
                    <a:pt x="140017" y="9525"/>
                  </a:lnTo>
                  <a:lnTo>
                    <a:pt x="119062" y="2857"/>
                  </a:lnTo>
                  <a:lnTo>
                    <a:pt x="97155" y="0"/>
                  </a:lnTo>
                  <a:lnTo>
                    <a:pt x="76200" y="2857"/>
                  </a:lnTo>
                  <a:lnTo>
                    <a:pt x="55245" y="9525"/>
                  </a:lnTo>
                  <a:lnTo>
                    <a:pt x="37147" y="20955"/>
                  </a:lnTo>
                  <a:lnTo>
                    <a:pt x="21907" y="36195"/>
                  </a:lnTo>
                  <a:lnTo>
                    <a:pt x="10477" y="55245"/>
                  </a:lnTo>
                  <a:lnTo>
                    <a:pt x="2857" y="75247"/>
                  </a:lnTo>
                  <a:lnTo>
                    <a:pt x="0" y="97155"/>
                  </a:lnTo>
                  <a:lnTo>
                    <a:pt x="2857" y="119062"/>
                  </a:lnTo>
                  <a:lnTo>
                    <a:pt x="10477" y="139065"/>
                  </a:lnTo>
                  <a:lnTo>
                    <a:pt x="21907" y="158115"/>
                  </a:lnTo>
                  <a:lnTo>
                    <a:pt x="37147" y="173355"/>
                  </a:lnTo>
                  <a:lnTo>
                    <a:pt x="55245" y="184785"/>
                  </a:lnTo>
                  <a:lnTo>
                    <a:pt x="76200" y="192405"/>
                  </a:lnTo>
                  <a:lnTo>
                    <a:pt x="97155" y="194310"/>
                  </a:lnTo>
                  <a:lnTo>
                    <a:pt x="119062" y="192405"/>
                  </a:lnTo>
                  <a:lnTo>
                    <a:pt x="140017" y="184785"/>
                  </a:lnTo>
                  <a:lnTo>
                    <a:pt x="158115" y="173355"/>
                  </a:lnTo>
                  <a:lnTo>
                    <a:pt x="173355" y="158115"/>
                  </a:lnTo>
                  <a:lnTo>
                    <a:pt x="185738" y="139065"/>
                  </a:lnTo>
                  <a:lnTo>
                    <a:pt x="192405" y="119062"/>
                  </a:lnTo>
                  <a:lnTo>
                    <a:pt x="193358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355532" y="3046095"/>
              <a:ext cx="193358" cy="194310"/>
            </a:xfrm>
            <a:custGeom>
              <a:avLst/>
              <a:gdLst/>
              <a:ahLst/>
              <a:cxnLst/>
              <a:rect l="l" t="t" r="r" b="b"/>
              <a:pathLst>
                <a:path w="193358" h="194310">
                  <a:moveTo>
                    <a:pt x="193358" y="82867"/>
                  </a:moveTo>
                  <a:lnTo>
                    <a:pt x="192405" y="75247"/>
                  </a:lnTo>
                  <a:lnTo>
                    <a:pt x="185738" y="55245"/>
                  </a:lnTo>
                  <a:lnTo>
                    <a:pt x="173355" y="36195"/>
                  </a:lnTo>
                  <a:lnTo>
                    <a:pt x="158115" y="20955"/>
                  </a:lnTo>
                  <a:lnTo>
                    <a:pt x="140017" y="9525"/>
                  </a:lnTo>
                  <a:lnTo>
                    <a:pt x="119062" y="2858"/>
                  </a:lnTo>
                  <a:lnTo>
                    <a:pt x="97155" y="0"/>
                  </a:lnTo>
                  <a:lnTo>
                    <a:pt x="76200" y="2858"/>
                  </a:lnTo>
                  <a:lnTo>
                    <a:pt x="55245" y="9525"/>
                  </a:lnTo>
                  <a:lnTo>
                    <a:pt x="37147" y="20955"/>
                  </a:lnTo>
                  <a:lnTo>
                    <a:pt x="21907" y="36195"/>
                  </a:lnTo>
                  <a:lnTo>
                    <a:pt x="10477" y="55245"/>
                  </a:lnTo>
                  <a:lnTo>
                    <a:pt x="2857" y="75247"/>
                  </a:lnTo>
                  <a:lnTo>
                    <a:pt x="0" y="97155"/>
                  </a:lnTo>
                  <a:lnTo>
                    <a:pt x="2857" y="119062"/>
                  </a:lnTo>
                  <a:lnTo>
                    <a:pt x="10477" y="139065"/>
                  </a:lnTo>
                  <a:lnTo>
                    <a:pt x="21907" y="158115"/>
                  </a:lnTo>
                  <a:lnTo>
                    <a:pt x="37147" y="173355"/>
                  </a:lnTo>
                  <a:lnTo>
                    <a:pt x="55245" y="184785"/>
                  </a:lnTo>
                  <a:lnTo>
                    <a:pt x="76200" y="192405"/>
                  </a:lnTo>
                  <a:lnTo>
                    <a:pt x="97155" y="194310"/>
                  </a:lnTo>
                  <a:lnTo>
                    <a:pt x="119062" y="192405"/>
                  </a:lnTo>
                  <a:lnTo>
                    <a:pt x="140017" y="184785"/>
                  </a:lnTo>
                  <a:lnTo>
                    <a:pt x="158115" y="173355"/>
                  </a:lnTo>
                  <a:lnTo>
                    <a:pt x="173355" y="158115"/>
                  </a:lnTo>
                  <a:lnTo>
                    <a:pt x="185738" y="139065"/>
                  </a:lnTo>
                  <a:lnTo>
                    <a:pt x="192405" y="119062"/>
                  </a:lnTo>
                  <a:lnTo>
                    <a:pt x="193358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397442" y="3087052"/>
              <a:ext cx="111442" cy="112395"/>
            </a:xfrm>
            <a:custGeom>
              <a:avLst/>
              <a:gdLst/>
              <a:ahLst/>
              <a:cxnLst/>
              <a:rect l="l" t="t" r="r" b="b"/>
              <a:pathLst>
                <a:path w="111442" h="112395">
                  <a:moveTo>
                    <a:pt x="0" y="0"/>
                  </a:moveTo>
                  <a:lnTo>
                    <a:pt x="111442" y="11239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397442" y="3087052"/>
              <a:ext cx="111442" cy="112395"/>
            </a:xfrm>
            <a:custGeom>
              <a:avLst/>
              <a:gdLst/>
              <a:ahLst/>
              <a:cxnLst/>
              <a:rect l="l" t="t" r="r" b="b"/>
              <a:pathLst>
                <a:path w="111442" h="112395">
                  <a:moveTo>
                    <a:pt x="0" y="112395"/>
                  </a:moveTo>
                  <a:lnTo>
                    <a:pt x="111442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704148" y="1912620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1453" y="75247"/>
                  </a:lnTo>
                  <a:lnTo>
                    <a:pt x="184785" y="55245"/>
                  </a:lnTo>
                  <a:lnTo>
                    <a:pt x="173355" y="36195"/>
                  </a:lnTo>
                  <a:lnTo>
                    <a:pt x="157162" y="20955"/>
                  </a:lnTo>
                  <a:lnTo>
                    <a:pt x="139065" y="9525"/>
                  </a:lnTo>
                  <a:lnTo>
                    <a:pt x="119062" y="2857"/>
                  </a:lnTo>
                  <a:lnTo>
                    <a:pt x="97155" y="0"/>
                  </a:lnTo>
                  <a:lnTo>
                    <a:pt x="75248" y="2857"/>
                  </a:lnTo>
                  <a:lnTo>
                    <a:pt x="55245" y="9525"/>
                  </a:lnTo>
                  <a:lnTo>
                    <a:pt x="36195" y="20955"/>
                  </a:lnTo>
                  <a:lnTo>
                    <a:pt x="20955" y="36195"/>
                  </a:lnTo>
                  <a:lnTo>
                    <a:pt x="9525" y="55245"/>
                  </a:lnTo>
                  <a:lnTo>
                    <a:pt x="1905" y="75247"/>
                  </a:lnTo>
                  <a:lnTo>
                    <a:pt x="0" y="97155"/>
                  </a:lnTo>
                  <a:lnTo>
                    <a:pt x="1905" y="119062"/>
                  </a:lnTo>
                  <a:lnTo>
                    <a:pt x="9525" y="139065"/>
                  </a:lnTo>
                  <a:lnTo>
                    <a:pt x="20955" y="158115"/>
                  </a:lnTo>
                  <a:lnTo>
                    <a:pt x="36195" y="173355"/>
                  </a:lnTo>
                  <a:lnTo>
                    <a:pt x="55245" y="184785"/>
                  </a:lnTo>
                  <a:lnTo>
                    <a:pt x="75248" y="192405"/>
                  </a:lnTo>
                  <a:lnTo>
                    <a:pt x="97155" y="194310"/>
                  </a:lnTo>
                  <a:lnTo>
                    <a:pt x="119062" y="192405"/>
                  </a:lnTo>
                  <a:lnTo>
                    <a:pt x="139065" y="184785"/>
                  </a:lnTo>
                  <a:lnTo>
                    <a:pt x="157162" y="173355"/>
                  </a:lnTo>
                  <a:lnTo>
                    <a:pt x="173355" y="158115"/>
                  </a:lnTo>
                  <a:lnTo>
                    <a:pt x="184785" y="139065"/>
                  </a:lnTo>
                  <a:lnTo>
                    <a:pt x="191453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704148" y="3046095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1453" y="75247"/>
                  </a:lnTo>
                  <a:lnTo>
                    <a:pt x="184785" y="55245"/>
                  </a:lnTo>
                  <a:lnTo>
                    <a:pt x="173355" y="36195"/>
                  </a:lnTo>
                  <a:lnTo>
                    <a:pt x="157162" y="20955"/>
                  </a:lnTo>
                  <a:lnTo>
                    <a:pt x="139065" y="9525"/>
                  </a:lnTo>
                  <a:lnTo>
                    <a:pt x="119062" y="2858"/>
                  </a:lnTo>
                  <a:lnTo>
                    <a:pt x="97155" y="0"/>
                  </a:lnTo>
                  <a:lnTo>
                    <a:pt x="75248" y="2858"/>
                  </a:lnTo>
                  <a:lnTo>
                    <a:pt x="55245" y="9525"/>
                  </a:lnTo>
                  <a:lnTo>
                    <a:pt x="36195" y="20955"/>
                  </a:lnTo>
                  <a:lnTo>
                    <a:pt x="20955" y="36195"/>
                  </a:lnTo>
                  <a:lnTo>
                    <a:pt x="9525" y="55245"/>
                  </a:lnTo>
                  <a:lnTo>
                    <a:pt x="1905" y="75247"/>
                  </a:lnTo>
                  <a:lnTo>
                    <a:pt x="0" y="97155"/>
                  </a:lnTo>
                  <a:lnTo>
                    <a:pt x="1905" y="119062"/>
                  </a:lnTo>
                  <a:lnTo>
                    <a:pt x="9525" y="139065"/>
                  </a:lnTo>
                  <a:lnTo>
                    <a:pt x="20955" y="158115"/>
                  </a:lnTo>
                  <a:lnTo>
                    <a:pt x="36195" y="173355"/>
                  </a:lnTo>
                  <a:lnTo>
                    <a:pt x="55245" y="184785"/>
                  </a:lnTo>
                  <a:lnTo>
                    <a:pt x="75248" y="192405"/>
                  </a:lnTo>
                  <a:lnTo>
                    <a:pt x="97155" y="194310"/>
                  </a:lnTo>
                  <a:lnTo>
                    <a:pt x="119062" y="192405"/>
                  </a:lnTo>
                  <a:lnTo>
                    <a:pt x="139065" y="184785"/>
                  </a:lnTo>
                  <a:lnTo>
                    <a:pt x="157162" y="173355"/>
                  </a:lnTo>
                  <a:lnTo>
                    <a:pt x="173355" y="158115"/>
                  </a:lnTo>
                  <a:lnTo>
                    <a:pt x="184785" y="139065"/>
                  </a:lnTo>
                  <a:lnTo>
                    <a:pt x="191453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2745105" y="3087052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0"/>
                  </a:moveTo>
                  <a:lnTo>
                    <a:pt x="112395" y="11239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745105" y="3087052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112395"/>
                  </a:moveTo>
                  <a:lnTo>
                    <a:pt x="11239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052762" y="1912620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1453" y="75247"/>
                  </a:lnTo>
                  <a:lnTo>
                    <a:pt x="183833" y="55245"/>
                  </a:lnTo>
                  <a:lnTo>
                    <a:pt x="172403" y="36195"/>
                  </a:lnTo>
                  <a:lnTo>
                    <a:pt x="157162" y="20955"/>
                  </a:lnTo>
                  <a:lnTo>
                    <a:pt x="139065" y="9525"/>
                  </a:lnTo>
                  <a:lnTo>
                    <a:pt x="118110" y="2857"/>
                  </a:lnTo>
                  <a:lnTo>
                    <a:pt x="97155" y="0"/>
                  </a:lnTo>
                  <a:lnTo>
                    <a:pt x="75247" y="2857"/>
                  </a:lnTo>
                  <a:lnTo>
                    <a:pt x="54292" y="9525"/>
                  </a:lnTo>
                  <a:lnTo>
                    <a:pt x="36195" y="20955"/>
                  </a:lnTo>
                  <a:lnTo>
                    <a:pt x="20955" y="36195"/>
                  </a:lnTo>
                  <a:lnTo>
                    <a:pt x="8572" y="55245"/>
                  </a:lnTo>
                  <a:lnTo>
                    <a:pt x="1905" y="75247"/>
                  </a:lnTo>
                  <a:lnTo>
                    <a:pt x="0" y="97155"/>
                  </a:lnTo>
                  <a:lnTo>
                    <a:pt x="1905" y="119062"/>
                  </a:lnTo>
                  <a:lnTo>
                    <a:pt x="8572" y="139065"/>
                  </a:lnTo>
                  <a:lnTo>
                    <a:pt x="20955" y="158115"/>
                  </a:lnTo>
                  <a:lnTo>
                    <a:pt x="36195" y="173355"/>
                  </a:lnTo>
                  <a:lnTo>
                    <a:pt x="54292" y="184785"/>
                  </a:lnTo>
                  <a:lnTo>
                    <a:pt x="75247" y="192405"/>
                  </a:lnTo>
                  <a:lnTo>
                    <a:pt x="97155" y="194310"/>
                  </a:lnTo>
                  <a:lnTo>
                    <a:pt x="118110" y="192405"/>
                  </a:lnTo>
                  <a:lnTo>
                    <a:pt x="139065" y="184785"/>
                  </a:lnTo>
                  <a:lnTo>
                    <a:pt x="157162" y="173355"/>
                  </a:lnTo>
                  <a:lnTo>
                    <a:pt x="172403" y="158115"/>
                  </a:lnTo>
                  <a:lnTo>
                    <a:pt x="183833" y="139065"/>
                  </a:lnTo>
                  <a:lnTo>
                    <a:pt x="191453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3052762" y="3046095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1453" y="75247"/>
                  </a:lnTo>
                  <a:lnTo>
                    <a:pt x="183833" y="55245"/>
                  </a:lnTo>
                  <a:lnTo>
                    <a:pt x="172403" y="36195"/>
                  </a:lnTo>
                  <a:lnTo>
                    <a:pt x="157162" y="20955"/>
                  </a:lnTo>
                  <a:lnTo>
                    <a:pt x="139065" y="9525"/>
                  </a:lnTo>
                  <a:lnTo>
                    <a:pt x="118110" y="2858"/>
                  </a:lnTo>
                  <a:lnTo>
                    <a:pt x="97155" y="0"/>
                  </a:lnTo>
                  <a:lnTo>
                    <a:pt x="75247" y="2858"/>
                  </a:lnTo>
                  <a:lnTo>
                    <a:pt x="54292" y="9525"/>
                  </a:lnTo>
                  <a:lnTo>
                    <a:pt x="36195" y="20955"/>
                  </a:lnTo>
                  <a:lnTo>
                    <a:pt x="20955" y="36195"/>
                  </a:lnTo>
                  <a:lnTo>
                    <a:pt x="8572" y="55245"/>
                  </a:lnTo>
                  <a:lnTo>
                    <a:pt x="1905" y="75247"/>
                  </a:lnTo>
                  <a:lnTo>
                    <a:pt x="0" y="97155"/>
                  </a:lnTo>
                  <a:lnTo>
                    <a:pt x="1905" y="119062"/>
                  </a:lnTo>
                  <a:lnTo>
                    <a:pt x="8572" y="139065"/>
                  </a:lnTo>
                  <a:lnTo>
                    <a:pt x="20955" y="158115"/>
                  </a:lnTo>
                  <a:lnTo>
                    <a:pt x="36195" y="173355"/>
                  </a:lnTo>
                  <a:lnTo>
                    <a:pt x="54292" y="184785"/>
                  </a:lnTo>
                  <a:lnTo>
                    <a:pt x="75247" y="192405"/>
                  </a:lnTo>
                  <a:lnTo>
                    <a:pt x="97155" y="194310"/>
                  </a:lnTo>
                  <a:lnTo>
                    <a:pt x="118110" y="192405"/>
                  </a:lnTo>
                  <a:lnTo>
                    <a:pt x="139065" y="184785"/>
                  </a:lnTo>
                  <a:lnTo>
                    <a:pt x="157162" y="173355"/>
                  </a:lnTo>
                  <a:lnTo>
                    <a:pt x="172403" y="158115"/>
                  </a:lnTo>
                  <a:lnTo>
                    <a:pt x="183833" y="139065"/>
                  </a:lnTo>
                  <a:lnTo>
                    <a:pt x="191453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093720" y="3087052"/>
              <a:ext cx="111442" cy="112395"/>
            </a:xfrm>
            <a:custGeom>
              <a:avLst/>
              <a:gdLst/>
              <a:ahLst/>
              <a:cxnLst/>
              <a:rect l="l" t="t" r="r" b="b"/>
              <a:pathLst>
                <a:path w="111442" h="112395">
                  <a:moveTo>
                    <a:pt x="0" y="0"/>
                  </a:moveTo>
                  <a:lnTo>
                    <a:pt x="111442" y="11239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093720" y="3087052"/>
              <a:ext cx="111442" cy="112395"/>
            </a:xfrm>
            <a:custGeom>
              <a:avLst/>
              <a:gdLst/>
              <a:ahLst/>
              <a:cxnLst/>
              <a:rect l="l" t="t" r="r" b="b"/>
              <a:pathLst>
                <a:path w="111442" h="112395">
                  <a:moveTo>
                    <a:pt x="0" y="112395"/>
                  </a:moveTo>
                  <a:lnTo>
                    <a:pt x="111442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3400425" y="1912620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1453" y="75247"/>
                  </a:lnTo>
                  <a:lnTo>
                    <a:pt x="184785" y="55245"/>
                  </a:lnTo>
                  <a:lnTo>
                    <a:pt x="173355" y="36195"/>
                  </a:lnTo>
                  <a:lnTo>
                    <a:pt x="158115" y="20955"/>
                  </a:lnTo>
                  <a:lnTo>
                    <a:pt x="139065" y="9525"/>
                  </a:lnTo>
                  <a:lnTo>
                    <a:pt x="119062" y="2857"/>
                  </a:lnTo>
                  <a:lnTo>
                    <a:pt x="97155" y="0"/>
                  </a:lnTo>
                  <a:lnTo>
                    <a:pt x="75247" y="2857"/>
                  </a:lnTo>
                  <a:lnTo>
                    <a:pt x="55245" y="9525"/>
                  </a:lnTo>
                  <a:lnTo>
                    <a:pt x="36195" y="20955"/>
                  </a:lnTo>
                  <a:lnTo>
                    <a:pt x="20955" y="36195"/>
                  </a:lnTo>
                  <a:lnTo>
                    <a:pt x="9525" y="55245"/>
                  </a:lnTo>
                  <a:lnTo>
                    <a:pt x="2858" y="75247"/>
                  </a:lnTo>
                  <a:lnTo>
                    <a:pt x="0" y="97155"/>
                  </a:lnTo>
                  <a:lnTo>
                    <a:pt x="2858" y="119062"/>
                  </a:lnTo>
                  <a:lnTo>
                    <a:pt x="9525" y="139065"/>
                  </a:lnTo>
                  <a:lnTo>
                    <a:pt x="20955" y="158115"/>
                  </a:lnTo>
                  <a:lnTo>
                    <a:pt x="36195" y="173355"/>
                  </a:lnTo>
                  <a:lnTo>
                    <a:pt x="55245" y="184785"/>
                  </a:lnTo>
                  <a:lnTo>
                    <a:pt x="75247" y="192405"/>
                  </a:lnTo>
                  <a:lnTo>
                    <a:pt x="97155" y="194310"/>
                  </a:lnTo>
                  <a:lnTo>
                    <a:pt x="119062" y="192405"/>
                  </a:lnTo>
                  <a:lnTo>
                    <a:pt x="139065" y="184785"/>
                  </a:lnTo>
                  <a:lnTo>
                    <a:pt x="158115" y="173355"/>
                  </a:lnTo>
                  <a:lnTo>
                    <a:pt x="173355" y="158115"/>
                  </a:lnTo>
                  <a:lnTo>
                    <a:pt x="184785" y="139065"/>
                  </a:lnTo>
                  <a:lnTo>
                    <a:pt x="191453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3400425" y="3046095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1453" y="75247"/>
                  </a:lnTo>
                  <a:lnTo>
                    <a:pt x="184785" y="55245"/>
                  </a:lnTo>
                  <a:lnTo>
                    <a:pt x="173355" y="36195"/>
                  </a:lnTo>
                  <a:lnTo>
                    <a:pt x="158115" y="20955"/>
                  </a:lnTo>
                  <a:lnTo>
                    <a:pt x="139065" y="9525"/>
                  </a:lnTo>
                  <a:lnTo>
                    <a:pt x="119062" y="2858"/>
                  </a:lnTo>
                  <a:lnTo>
                    <a:pt x="97155" y="0"/>
                  </a:lnTo>
                  <a:lnTo>
                    <a:pt x="75247" y="2858"/>
                  </a:lnTo>
                  <a:lnTo>
                    <a:pt x="55245" y="9525"/>
                  </a:lnTo>
                  <a:lnTo>
                    <a:pt x="36195" y="20955"/>
                  </a:lnTo>
                  <a:lnTo>
                    <a:pt x="20955" y="36195"/>
                  </a:lnTo>
                  <a:lnTo>
                    <a:pt x="9525" y="55245"/>
                  </a:lnTo>
                  <a:lnTo>
                    <a:pt x="2858" y="75247"/>
                  </a:lnTo>
                  <a:lnTo>
                    <a:pt x="0" y="97155"/>
                  </a:lnTo>
                  <a:lnTo>
                    <a:pt x="2858" y="119062"/>
                  </a:lnTo>
                  <a:lnTo>
                    <a:pt x="9525" y="139065"/>
                  </a:lnTo>
                  <a:lnTo>
                    <a:pt x="20955" y="158115"/>
                  </a:lnTo>
                  <a:lnTo>
                    <a:pt x="36195" y="173355"/>
                  </a:lnTo>
                  <a:lnTo>
                    <a:pt x="55245" y="184785"/>
                  </a:lnTo>
                  <a:lnTo>
                    <a:pt x="75247" y="192405"/>
                  </a:lnTo>
                  <a:lnTo>
                    <a:pt x="97155" y="194310"/>
                  </a:lnTo>
                  <a:lnTo>
                    <a:pt x="119062" y="192405"/>
                  </a:lnTo>
                  <a:lnTo>
                    <a:pt x="139065" y="184785"/>
                  </a:lnTo>
                  <a:lnTo>
                    <a:pt x="158115" y="173355"/>
                  </a:lnTo>
                  <a:lnTo>
                    <a:pt x="173355" y="158115"/>
                  </a:lnTo>
                  <a:lnTo>
                    <a:pt x="184785" y="139065"/>
                  </a:lnTo>
                  <a:lnTo>
                    <a:pt x="191453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3441382" y="3087052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0"/>
                  </a:moveTo>
                  <a:lnTo>
                    <a:pt x="112395" y="11239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441382" y="3087052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112395"/>
                  </a:moveTo>
                  <a:lnTo>
                    <a:pt x="11239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3748088" y="1912620"/>
              <a:ext cx="193358" cy="194310"/>
            </a:xfrm>
            <a:custGeom>
              <a:avLst/>
              <a:gdLst/>
              <a:ahLst/>
              <a:cxnLst/>
              <a:rect l="l" t="t" r="r" b="b"/>
              <a:pathLst>
                <a:path w="193358" h="194310">
                  <a:moveTo>
                    <a:pt x="193358" y="82867"/>
                  </a:moveTo>
                  <a:lnTo>
                    <a:pt x="192405" y="75247"/>
                  </a:lnTo>
                  <a:lnTo>
                    <a:pt x="184785" y="55245"/>
                  </a:lnTo>
                  <a:lnTo>
                    <a:pt x="173355" y="36195"/>
                  </a:lnTo>
                  <a:lnTo>
                    <a:pt x="158115" y="20955"/>
                  </a:lnTo>
                  <a:lnTo>
                    <a:pt x="139065" y="9525"/>
                  </a:lnTo>
                  <a:lnTo>
                    <a:pt x="119062" y="2857"/>
                  </a:lnTo>
                  <a:lnTo>
                    <a:pt x="97155" y="0"/>
                  </a:lnTo>
                  <a:lnTo>
                    <a:pt x="76200" y="2857"/>
                  </a:lnTo>
                  <a:lnTo>
                    <a:pt x="55245" y="9525"/>
                  </a:lnTo>
                  <a:lnTo>
                    <a:pt x="37147" y="20955"/>
                  </a:lnTo>
                  <a:lnTo>
                    <a:pt x="21908" y="36195"/>
                  </a:lnTo>
                  <a:lnTo>
                    <a:pt x="10478" y="55245"/>
                  </a:lnTo>
                  <a:lnTo>
                    <a:pt x="2858" y="75247"/>
                  </a:lnTo>
                  <a:lnTo>
                    <a:pt x="0" y="97155"/>
                  </a:lnTo>
                  <a:lnTo>
                    <a:pt x="2858" y="119062"/>
                  </a:lnTo>
                  <a:lnTo>
                    <a:pt x="10478" y="139065"/>
                  </a:lnTo>
                  <a:lnTo>
                    <a:pt x="21908" y="158115"/>
                  </a:lnTo>
                  <a:lnTo>
                    <a:pt x="37147" y="173355"/>
                  </a:lnTo>
                  <a:lnTo>
                    <a:pt x="55245" y="184785"/>
                  </a:lnTo>
                  <a:lnTo>
                    <a:pt x="76200" y="192405"/>
                  </a:lnTo>
                  <a:lnTo>
                    <a:pt x="97155" y="194310"/>
                  </a:lnTo>
                  <a:lnTo>
                    <a:pt x="119062" y="192405"/>
                  </a:lnTo>
                  <a:lnTo>
                    <a:pt x="139065" y="184785"/>
                  </a:lnTo>
                  <a:lnTo>
                    <a:pt x="158115" y="173355"/>
                  </a:lnTo>
                  <a:lnTo>
                    <a:pt x="173355" y="158115"/>
                  </a:lnTo>
                  <a:lnTo>
                    <a:pt x="184785" y="139065"/>
                  </a:lnTo>
                  <a:lnTo>
                    <a:pt x="192405" y="119062"/>
                  </a:lnTo>
                  <a:lnTo>
                    <a:pt x="193358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748088" y="3046095"/>
              <a:ext cx="193358" cy="194310"/>
            </a:xfrm>
            <a:custGeom>
              <a:avLst/>
              <a:gdLst/>
              <a:ahLst/>
              <a:cxnLst/>
              <a:rect l="l" t="t" r="r" b="b"/>
              <a:pathLst>
                <a:path w="193358" h="194310">
                  <a:moveTo>
                    <a:pt x="193358" y="82867"/>
                  </a:moveTo>
                  <a:lnTo>
                    <a:pt x="192405" y="75247"/>
                  </a:lnTo>
                  <a:lnTo>
                    <a:pt x="184785" y="55245"/>
                  </a:lnTo>
                  <a:lnTo>
                    <a:pt x="173355" y="36195"/>
                  </a:lnTo>
                  <a:lnTo>
                    <a:pt x="158115" y="20955"/>
                  </a:lnTo>
                  <a:lnTo>
                    <a:pt x="139065" y="9525"/>
                  </a:lnTo>
                  <a:lnTo>
                    <a:pt x="119062" y="2858"/>
                  </a:lnTo>
                  <a:lnTo>
                    <a:pt x="97155" y="0"/>
                  </a:lnTo>
                  <a:lnTo>
                    <a:pt x="76200" y="2858"/>
                  </a:lnTo>
                  <a:lnTo>
                    <a:pt x="55245" y="9525"/>
                  </a:lnTo>
                  <a:lnTo>
                    <a:pt x="37147" y="20955"/>
                  </a:lnTo>
                  <a:lnTo>
                    <a:pt x="21908" y="36195"/>
                  </a:lnTo>
                  <a:lnTo>
                    <a:pt x="10478" y="55245"/>
                  </a:lnTo>
                  <a:lnTo>
                    <a:pt x="2858" y="75247"/>
                  </a:lnTo>
                  <a:lnTo>
                    <a:pt x="0" y="97155"/>
                  </a:lnTo>
                  <a:lnTo>
                    <a:pt x="2858" y="119062"/>
                  </a:lnTo>
                  <a:lnTo>
                    <a:pt x="10478" y="139065"/>
                  </a:lnTo>
                  <a:lnTo>
                    <a:pt x="21908" y="158115"/>
                  </a:lnTo>
                  <a:lnTo>
                    <a:pt x="37147" y="173355"/>
                  </a:lnTo>
                  <a:lnTo>
                    <a:pt x="55245" y="184785"/>
                  </a:lnTo>
                  <a:lnTo>
                    <a:pt x="76200" y="192405"/>
                  </a:lnTo>
                  <a:lnTo>
                    <a:pt x="97155" y="194310"/>
                  </a:lnTo>
                  <a:lnTo>
                    <a:pt x="119062" y="192405"/>
                  </a:lnTo>
                  <a:lnTo>
                    <a:pt x="139065" y="184785"/>
                  </a:lnTo>
                  <a:lnTo>
                    <a:pt x="158115" y="173355"/>
                  </a:lnTo>
                  <a:lnTo>
                    <a:pt x="173355" y="158115"/>
                  </a:lnTo>
                  <a:lnTo>
                    <a:pt x="184785" y="139065"/>
                  </a:lnTo>
                  <a:lnTo>
                    <a:pt x="192405" y="119062"/>
                  </a:lnTo>
                  <a:lnTo>
                    <a:pt x="193358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3789998" y="3087052"/>
              <a:ext cx="111443" cy="112395"/>
            </a:xfrm>
            <a:custGeom>
              <a:avLst/>
              <a:gdLst/>
              <a:ahLst/>
              <a:cxnLst/>
              <a:rect l="l" t="t" r="r" b="b"/>
              <a:pathLst>
                <a:path w="111443" h="112395">
                  <a:moveTo>
                    <a:pt x="0" y="0"/>
                  </a:moveTo>
                  <a:lnTo>
                    <a:pt x="111443" y="11239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3789998" y="3087052"/>
              <a:ext cx="111443" cy="112395"/>
            </a:xfrm>
            <a:custGeom>
              <a:avLst/>
              <a:gdLst/>
              <a:ahLst/>
              <a:cxnLst/>
              <a:rect l="l" t="t" r="r" b="b"/>
              <a:pathLst>
                <a:path w="111443" h="112395">
                  <a:moveTo>
                    <a:pt x="0" y="112395"/>
                  </a:moveTo>
                  <a:lnTo>
                    <a:pt x="111443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4096702" y="1912620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1452" y="75247"/>
                  </a:lnTo>
                  <a:lnTo>
                    <a:pt x="184785" y="55245"/>
                  </a:lnTo>
                  <a:lnTo>
                    <a:pt x="173355" y="36195"/>
                  </a:lnTo>
                  <a:lnTo>
                    <a:pt x="157162" y="20955"/>
                  </a:lnTo>
                  <a:lnTo>
                    <a:pt x="139065" y="9525"/>
                  </a:lnTo>
                  <a:lnTo>
                    <a:pt x="118110" y="2857"/>
                  </a:lnTo>
                  <a:lnTo>
                    <a:pt x="97155" y="0"/>
                  </a:lnTo>
                  <a:lnTo>
                    <a:pt x="75247" y="2857"/>
                  </a:lnTo>
                  <a:lnTo>
                    <a:pt x="54292" y="9525"/>
                  </a:lnTo>
                  <a:lnTo>
                    <a:pt x="36195" y="20955"/>
                  </a:lnTo>
                  <a:lnTo>
                    <a:pt x="20955" y="36195"/>
                  </a:lnTo>
                  <a:lnTo>
                    <a:pt x="9525" y="55245"/>
                  </a:lnTo>
                  <a:lnTo>
                    <a:pt x="1905" y="75247"/>
                  </a:lnTo>
                  <a:lnTo>
                    <a:pt x="0" y="97155"/>
                  </a:lnTo>
                  <a:lnTo>
                    <a:pt x="1905" y="119062"/>
                  </a:lnTo>
                  <a:lnTo>
                    <a:pt x="9525" y="139065"/>
                  </a:lnTo>
                  <a:lnTo>
                    <a:pt x="20955" y="158115"/>
                  </a:lnTo>
                  <a:lnTo>
                    <a:pt x="36195" y="173355"/>
                  </a:lnTo>
                  <a:lnTo>
                    <a:pt x="54292" y="184785"/>
                  </a:lnTo>
                  <a:lnTo>
                    <a:pt x="75247" y="192405"/>
                  </a:lnTo>
                  <a:lnTo>
                    <a:pt x="97155" y="194310"/>
                  </a:lnTo>
                  <a:lnTo>
                    <a:pt x="118110" y="192405"/>
                  </a:lnTo>
                  <a:lnTo>
                    <a:pt x="139065" y="184785"/>
                  </a:lnTo>
                  <a:lnTo>
                    <a:pt x="157162" y="173355"/>
                  </a:lnTo>
                  <a:lnTo>
                    <a:pt x="173355" y="158115"/>
                  </a:lnTo>
                  <a:lnTo>
                    <a:pt x="184785" y="139065"/>
                  </a:lnTo>
                  <a:lnTo>
                    <a:pt x="191452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4096702" y="3046095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1452" y="75247"/>
                  </a:lnTo>
                  <a:lnTo>
                    <a:pt x="184785" y="55245"/>
                  </a:lnTo>
                  <a:lnTo>
                    <a:pt x="173355" y="36195"/>
                  </a:lnTo>
                  <a:lnTo>
                    <a:pt x="157162" y="20955"/>
                  </a:lnTo>
                  <a:lnTo>
                    <a:pt x="139065" y="9525"/>
                  </a:lnTo>
                  <a:lnTo>
                    <a:pt x="118110" y="2858"/>
                  </a:lnTo>
                  <a:lnTo>
                    <a:pt x="97155" y="0"/>
                  </a:lnTo>
                  <a:lnTo>
                    <a:pt x="75247" y="2858"/>
                  </a:lnTo>
                  <a:lnTo>
                    <a:pt x="54292" y="9525"/>
                  </a:lnTo>
                  <a:lnTo>
                    <a:pt x="36195" y="20955"/>
                  </a:lnTo>
                  <a:lnTo>
                    <a:pt x="20955" y="36195"/>
                  </a:lnTo>
                  <a:lnTo>
                    <a:pt x="9525" y="55245"/>
                  </a:lnTo>
                  <a:lnTo>
                    <a:pt x="1905" y="75247"/>
                  </a:lnTo>
                  <a:lnTo>
                    <a:pt x="0" y="97155"/>
                  </a:lnTo>
                  <a:lnTo>
                    <a:pt x="1905" y="119062"/>
                  </a:lnTo>
                  <a:lnTo>
                    <a:pt x="9525" y="139065"/>
                  </a:lnTo>
                  <a:lnTo>
                    <a:pt x="20955" y="158115"/>
                  </a:lnTo>
                  <a:lnTo>
                    <a:pt x="36195" y="173355"/>
                  </a:lnTo>
                  <a:lnTo>
                    <a:pt x="54292" y="184785"/>
                  </a:lnTo>
                  <a:lnTo>
                    <a:pt x="75247" y="192405"/>
                  </a:lnTo>
                  <a:lnTo>
                    <a:pt x="97155" y="194310"/>
                  </a:lnTo>
                  <a:lnTo>
                    <a:pt x="118110" y="192405"/>
                  </a:lnTo>
                  <a:lnTo>
                    <a:pt x="139065" y="184785"/>
                  </a:lnTo>
                  <a:lnTo>
                    <a:pt x="157162" y="173355"/>
                  </a:lnTo>
                  <a:lnTo>
                    <a:pt x="173355" y="158115"/>
                  </a:lnTo>
                  <a:lnTo>
                    <a:pt x="184785" y="139065"/>
                  </a:lnTo>
                  <a:lnTo>
                    <a:pt x="191452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4137660" y="3087052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0"/>
                  </a:moveTo>
                  <a:lnTo>
                    <a:pt x="112395" y="11239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4137660" y="3087052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112395"/>
                  </a:moveTo>
                  <a:lnTo>
                    <a:pt x="11239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4445318" y="1912620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1453" y="75247"/>
                  </a:lnTo>
                  <a:lnTo>
                    <a:pt x="183833" y="55245"/>
                  </a:lnTo>
                  <a:lnTo>
                    <a:pt x="172403" y="36195"/>
                  </a:lnTo>
                  <a:lnTo>
                    <a:pt x="157162" y="20955"/>
                  </a:lnTo>
                  <a:lnTo>
                    <a:pt x="139065" y="9525"/>
                  </a:lnTo>
                  <a:lnTo>
                    <a:pt x="118110" y="2857"/>
                  </a:lnTo>
                  <a:lnTo>
                    <a:pt x="96203" y="0"/>
                  </a:lnTo>
                  <a:lnTo>
                    <a:pt x="75248" y="2857"/>
                  </a:lnTo>
                  <a:lnTo>
                    <a:pt x="54292" y="9525"/>
                  </a:lnTo>
                  <a:lnTo>
                    <a:pt x="36195" y="20955"/>
                  </a:lnTo>
                  <a:lnTo>
                    <a:pt x="20955" y="36195"/>
                  </a:lnTo>
                  <a:lnTo>
                    <a:pt x="8573" y="55245"/>
                  </a:lnTo>
                  <a:lnTo>
                    <a:pt x="1905" y="75247"/>
                  </a:lnTo>
                  <a:lnTo>
                    <a:pt x="0" y="97155"/>
                  </a:lnTo>
                  <a:lnTo>
                    <a:pt x="1905" y="119062"/>
                  </a:lnTo>
                  <a:lnTo>
                    <a:pt x="8573" y="139065"/>
                  </a:lnTo>
                  <a:lnTo>
                    <a:pt x="20955" y="158115"/>
                  </a:lnTo>
                  <a:lnTo>
                    <a:pt x="36195" y="173355"/>
                  </a:lnTo>
                  <a:lnTo>
                    <a:pt x="54292" y="184785"/>
                  </a:lnTo>
                  <a:lnTo>
                    <a:pt x="75248" y="192405"/>
                  </a:lnTo>
                  <a:lnTo>
                    <a:pt x="96203" y="194310"/>
                  </a:lnTo>
                  <a:lnTo>
                    <a:pt x="118110" y="192405"/>
                  </a:lnTo>
                  <a:lnTo>
                    <a:pt x="139065" y="184785"/>
                  </a:lnTo>
                  <a:lnTo>
                    <a:pt x="157162" y="173355"/>
                  </a:lnTo>
                  <a:lnTo>
                    <a:pt x="172403" y="158115"/>
                  </a:lnTo>
                  <a:lnTo>
                    <a:pt x="183833" y="139065"/>
                  </a:lnTo>
                  <a:lnTo>
                    <a:pt x="191453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4445318" y="3046095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1453" y="75247"/>
                  </a:lnTo>
                  <a:lnTo>
                    <a:pt x="183833" y="55245"/>
                  </a:lnTo>
                  <a:lnTo>
                    <a:pt x="172403" y="36195"/>
                  </a:lnTo>
                  <a:lnTo>
                    <a:pt x="157162" y="20955"/>
                  </a:lnTo>
                  <a:lnTo>
                    <a:pt x="139065" y="9525"/>
                  </a:lnTo>
                  <a:lnTo>
                    <a:pt x="118110" y="2858"/>
                  </a:lnTo>
                  <a:lnTo>
                    <a:pt x="96203" y="0"/>
                  </a:lnTo>
                  <a:lnTo>
                    <a:pt x="75248" y="2858"/>
                  </a:lnTo>
                  <a:lnTo>
                    <a:pt x="54292" y="9525"/>
                  </a:lnTo>
                  <a:lnTo>
                    <a:pt x="36195" y="20955"/>
                  </a:lnTo>
                  <a:lnTo>
                    <a:pt x="20955" y="36195"/>
                  </a:lnTo>
                  <a:lnTo>
                    <a:pt x="8573" y="55245"/>
                  </a:lnTo>
                  <a:lnTo>
                    <a:pt x="1905" y="75247"/>
                  </a:lnTo>
                  <a:lnTo>
                    <a:pt x="0" y="97155"/>
                  </a:lnTo>
                  <a:lnTo>
                    <a:pt x="1905" y="119062"/>
                  </a:lnTo>
                  <a:lnTo>
                    <a:pt x="8573" y="139065"/>
                  </a:lnTo>
                  <a:lnTo>
                    <a:pt x="20955" y="158115"/>
                  </a:lnTo>
                  <a:lnTo>
                    <a:pt x="36195" y="173355"/>
                  </a:lnTo>
                  <a:lnTo>
                    <a:pt x="54292" y="184785"/>
                  </a:lnTo>
                  <a:lnTo>
                    <a:pt x="75248" y="192405"/>
                  </a:lnTo>
                  <a:lnTo>
                    <a:pt x="96203" y="194310"/>
                  </a:lnTo>
                  <a:lnTo>
                    <a:pt x="118110" y="192405"/>
                  </a:lnTo>
                  <a:lnTo>
                    <a:pt x="139065" y="184785"/>
                  </a:lnTo>
                  <a:lnTo>
                    <a:pt x="157162" y="173355"/>
                  </a:lnTo>
                  <a:lnTo>
                    <a:pt x="172403" y="158115"/>
                  </a:lnTo>
                  <a:lnTo>
                    <a:pt x="183833" y="139065"/>
                  </a:lnTo>
                  <a:lnTo>
                    <a:pt x="191453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4486275" y="3087052"/>
              <a:ext cx="111442" cy="112395"/>
            </a:xfrm>
            <a:custGeom>
              <a:avLst/>
              <a:gdLst/>
              <a:ahLst/>
              <a:cxnLst/>
              <a:rect l="l" t="t" r="r" b="b"/>
              <a:pathLst>
                <a:path w="111442" h="112395">
                  <a:moveTo>
                    <a:pt x="0" y="0"/>
                  </a:moveTo>
                  <a:lnTo>
                    <a:pt x="111442" y="11239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4486275" y="3087052"/>
              <a:ext cx="111442" cy="112395"/>
            </a:xfrm>
            <a:custGeom>
              <a:avLst/>
              <a:gdLst/>
              <a:ahLst/>
              <a:cxnLst/>
              <a:rect l="l" t="t" r="r" b="b"/>
              <a:pathLst>
                <a:path w="111442" h="112395">
                  <a:moveTo>
                    <a:pt x="0" y="112395"/>
                  </a:moveTo>
                  <a:lnTo>
                    <a:pt x="111442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4792980" y="1912620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2405" y="75247"/>
                  </a:lnTo>
                  <a:lnTo>
                    <a:pt x="184785" y="55245"/>
                  </a:lnTo>
                  <a:lnTo>
                    <a:pt x="172402" y="36195"/>
                  </a:lnTo>
                  <a:lnTo>
                    <a:pt x="158115" y="20955"/>
                  </a:lnTo>
                  <a:lnTo>
                    <a:pt x="139065" y="9525"/>
                  </a:lnTo>
                  <a:lnTo>
                    <a:pt x="119063" y="2857"/>
                  </a:lnTo>
                  <a:lnTo>
                    <a:pt x="97155" y="0"/>
                  </a:lnTo>
                  <a:lnTo>
                    <a:pt x="75248" y="2857"/>
                  </a:lnTo>
                  <a:lnTo>
                    <a:pt x="55245" y="9525"/>
                  </a:lnTo>
                  <a:lnTo>
                    <a:pt x="37148" y="20955"/>
                  </a:lnTo>
                  <a:lnTo>
                    <a:pt x="20955" y="36195"/>
                  </a:lnTo>
                  <a:lnTo>
                    <a:pt x="9525" y="55245"/>
                  </a:lnTo>
                  <a:lnTo>
                    <a:pt x="2858" y="75247"/>
                  </a:lnTo>
                  <a:lnTo>
                    <a:pt x="0" y="97155"/>
                  </a:lnTo>
                  <a:lnTo>
                    <a:pt x="2858" y="119062"/>
                  </a:lnTo>
                  <a:lnTo>
                    <a:pt x="9525" y="139065"/>
                  </a:lnTo>
                  <a:lnTo>
                    <a:pt x="20955" y="158115"/>
                  </a:lnTo>
                  <a:lnTo>
                    <a:pt x="37148" y="173355"/>
                  </a:lnTo>
                  <a:lnTo>
                    <a:pt x="55245" y="184785"/>
                  </a:lnTo>
                  <a:lnTo>
                    <a:pt x="75248" y="192405"/>
                  </a:lnTo>
                  <a:lnTo>
                    <a:pt x="97155" y="194310"/>
                  </a:lnTo>
                  <a:lnTo>
                    <a:pt x="119063" y="192405"/>
                  </a:lnTo>
                  <a:lnTo>
                    <a:pt x="139065" y="184785"/>
                  </a:lnTo>
                  <a:lnTo>
                    <a:pt x="158115" y="173355"/>
                  </a:lnTo>
                  <a:lnTo>
                    <a:pt x="172402" y="158115"/>
                  </a:lnTo>
                  <a:lnTo>
                    <a:pt x="184785" y="139065"/>
                  </a:lnTo>
                  <a:lnTo>
                    <a:pt x="192405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4792980" y="3046095"/>
              <a:ext cx="192405" cy="194310"/>
            </a:xfrm>
            <a:custGeom>
              <a:avLst/>
              <a:gdLst/>
              <a:ahLst/>
              <a:cxnLst/>
              <a:rect l="l" t="t" r="r" b="b"/>
              <a:pathLst>
                <a:path w="192405" h="194310">
                  <a:moveTo>
                    <a:pt x="192405" y="82867"/>
                  </a:moveTo>
                  <a:lnTo>
                    <a:pt x="192405" y="75247"/>
                  </a:lnTo>
                  <a:lnTo>
                    <a:pt x="184785" y="55245"/>
                  </a:lnTo>
                  <a:lnTo>
                    <a:pt x="172402" y="36195"/>
                  </a:lnTo>
                  <a:lnTo>
                    <a:pt x="158115" y="20955"/>
                  </a:lnTo>
                  <a:lnTo>
                    <a:pt x="139065" y="9525"/>
                  </a:lnTo>
                  <a:lnTo>
                    <a:pt x="119063" y="2858"/>
                  </a:lnTo>
                  <a:lnTo>
                    <a:pt x="97155" y="0"/>
                  </a:lnTo>
                  <a:lnTo>
                    <a:pt x="75248" y="2858"/>
                  </a:lnTo>
                  <a:lnTo>
                    <a:pt x="55245" y="9525"/>
                  </a:lnTo>
                  <a:lnTo>
                    <a:pt x="37148" y="20955"/>
                  </a:lnTo>
                  <a:lnTo>
                    <a:pt x="20955" y="36195"/>
                  </a:lnTo>
                  <a:lnTo>
                    <a:pt x="9525" y="55245"/>
                  </a:lnTo>
                  <a:lnTo>
                    <a:pt x="2858" y="75247"/>
                  </a:lnTo>
                  <a:lnTo>
                    <a:pt x="0" y="97155"/>
                  </a:lnTo>
                  <a:lnTo>
                    <a:pt x="2858" y="119062"/>
                  </a:lnTo>
                  <a:lnTo>
                    <a:pt x="9525" y="139065"/>
                  </a:lnTo>
                  <a:lnTo>
                    <a:pt x="20955" y="158115"/>
                  </a:lnTo>
                  <a:lnTo>
                    <a:pt x="37148" y="173355"/>
                  </a:lnTo>
                  <a:lnTo>
                    <a:pt x="55245" y="184785"/>
                  </a:lnTo>
                  <a:lnTo>
                    <a:pt x="75248" y="192405"/>
                  </a:lnTo>
                  <a:lnTo>
                    <a:pt x="97155" y="194310"/>
                  </a:lnTo>
                  <a:lnTo>
                    <a:pt x="119063" y="192405"/>
                  </a:lnTo>
                  <a:lnTo>
                    <a:pt x="139065" y="184785"/>
                  </a:lnTo>
                  <a:lnTo>
                    <a:pt x="158115" y="173355"/>
                  </a:lnTo>
                  <a:lnTo>
                    <a:pt x="172402" y="158115"/>
                  </a:lnTo>
                  <a:lnTo>
                    <a:pt x="184785" y="139065"/>
                  </a:lnTo>
                  <a:lnTo>
                    <a:pt x="192405" y="119062"/>
                  </a:lnTo>
                  <a:lnTo>
                    <a:pt x="192405" y="1114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4833938" y="3087052"/>
              <a:ext cx="111443" cy="112395"/>
            </a:xfrm>
            <a:custGeom>
              <a:avLst/>
              <a:gdLst/>
              <a:ahLst/>
              <a:cxnLst/>
              <a:rect l="l" t="t" r="r" b="b"/>
              <a:pathLst>
                <a:path w="111443" h="112395">
                  <a:moveTo>
                    <a:pt x="0" y="0"/>
                  </a:moveTo>
                  <a:lnTo>
                    <a:pt x="111443" y="11239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4833938" y="3087052"/>
              <a:ext cx="111443" cy="112395"/>
            </a:xfrm>
            <a:custGeom>
              <a:avLst/>
              <a:gdLst/>
              <a:ahLst/>
              <a:cxnLst/>
              <a:rect l="l" t="t" r="r" b="b"/>
              <a:pathLst>
                <a:path w="111443" h="112395">
                  <a:moveTo>
                    <a:pt x="0" y="112395"/>
                  </a:moveTo>
                  <a:lnTo>
                    <a:pt x="111443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99185" y="2333625"/>
              <a:ext cx="3965258" cy="9525"/>
            </a:xfrm>
            <a:custGeom>
              <a:avLst/>
              <a:gdLst/>
              <a:ahLst/>
              <a:cxnLst/>
              <a:rect l="l" t="t" r="r" b="b"/>
              <a:pathLst>
                <a:path w="3965258" h="9525">
                  <a:moveTo>
                    <a:pt x="0" y="0"/>
                  </a:moveTo>
                  <a:lnTo>
                    <a:pt x="396525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5064442" y="2286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1099185" y="2819400"/>
              <a:ext cx="3965258" cy="9525"/>
            </a:xfrm>
            <a:custGeom>
              <a:avLst/>
              <a:gdLst/>
              <a:ahLst/>
              <a:cxnLst/>
              <a:rect l="l" t="t" r="r" b="b"/>
              <a:pathLst>
                <a:path w="3965258" h="9525">
                  <a:moveTo>
                    <a:pt x="0" y="0"/>
                  </a:moveTo>
                  <a:lnTo>
                    <a:pt x="396525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5064442" y="27717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2461260" y="2576512"/>
              <a:ext cx="1214438" cy="971550"/>
            </a:xfrm>
            <a:custGeom>
              <a:avLst/>
              <a:gdLst/>
              <a:ahLst/>
              <a:cxnLst/>
              <a:rect l="l" t="t" r="r" b="b"/>
              <a:pathLst>
                <a:path w="1214438" h="971550">
                  <a:moveTo>
                    <a:pt x="14288" y="0"/>
                  </a:moveTo>
                  <a:lnTo>
                    <a:pt x="1214438" y="0"/>
                  </a:lnTo>
                  <a:lnTo>
                    <a:pt x="1214438" y="971550"/>
                  </a:lnTo>
                  <a:lnTo>
                    <a:pt x="0" y="971550"/>
                  </a:lnTo>
                  <a:lnTo>
                    <a:pt x="0" y="14288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2880360" y="2576512"/>
              <a:ext cx="280988" cy="9525"/>
            </a:xfrm>
            <a:custGeom>
              <a:avLst/>
              <a:gdLst/>
              <a:ahLst/>
              <a:cxnLst/>
              <a:rect l="l" t="t" r="r" b="b"/>
              <a:pathLst>
                <a:path w="280988" h="9525">
                  <a:moveTo>
                    <a:pt x="0" y="0"/>
                  </a:moveTo>
                  <a:lnTo>
                    <a:pt x="280988" y="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3161348" y="25288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2975610" y="3548062"/>
              <a:ext cx="280988" cy="9525"/>
            </a:xfrm>
            <a:custGeom>
              <a:avLst/>
              <a:gdLst/>
              <a:ahLst/>
              <a:cxnLst/>
              <a:rect l="l" t="t" r="r" b="b"/>
              <a:pathLst>
                <a:path w="280988" h="9525">
                  <a:moveTo>
                    <a:pt x="280988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2880360" y="35004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1501140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1501140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1378268" y="19792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1501140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1501140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1338262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1470660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1338262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1470660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1849755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1849755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726882" y="19792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1849755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1849755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1685925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1818322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1685925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1818322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2197418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2197418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2074545" y="19792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2197418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2197418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2034540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2165985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2034540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2165985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2545080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2545080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2422208" y="19792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2545080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2545080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2382202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2514600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2382202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2514600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2893695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2893695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2770823" y="19792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2893695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2893695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2729865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2862262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2729865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2862262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3242310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3242310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7" name="Ellipse 107"/>
            <p:cNvSpPr/>
            <p:nvPr/>
          </p:nvSpPr>
          <p:spPr>
            <a:xfrm>
              <a:off x="3119438" y="19792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8" name="Ellipse 108"/>
            <p:cNvSpPr/>
            <p:nvPr/>
          </p:nvSpPr>
          <p:spPr>
            <a:xfrm>
              <a:off x="3242310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9" name="Ellipse 109"/>
            <p:cNvSpPr/>
            <p:nvPr/>
          </p:nvSpPr>
          <p:spPr>
            <a:xfrm>
              <a:off x="3242310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3078480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3210878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3078480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3210878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4" name="Ellipse 114"/>
            <p:cNvSpPr/>
            <p:nvPr/>
          </p:nvSpPr>
          <p:spPr>
            <a:xfrm>
              <a:off x="3589972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5" name="Ellipse 115"/>
            <p:cNvSpPr/>
            <p:nvPr/>
          </p:nvSpPr>
          <p:spPr>
            <a:xfrm>
              <a:off x="3589972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6" name="Ellipse 116"/>
            <p:cNvSpPr/>
            <p:nvPr/>
          </p:nvSpPr>
          <p:spPr>
            <a:xfrm>
              <a:off x="3467100" y="19792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7" name="Ellipse 117"/>
            <p:cNvSpPr/>
            <p:nvPr/>
          </p:nvSpPr>
          <p:spPr>
            <a:xfrm>
              <a:off x="3589972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8" name="Ellipse 118"/>
            <p:cNvSpPr/>
            <p:nvPr/>
          </p:nvSpPr>
          <p:spPr>
            <a:xfrm>
              <a:off x="3589972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9" name="Ellipse 119"/>
            <p:cNvSpPr/>
            <p:nvPr/>
          </p:nvSpPr>
          <p:spPr>
            <a:xfrm>
              <a:off x="3427095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0" name="Ellipse 120"/>
            <p:cNvSpPr/>
            <p:nvPr/>
          </p:nvSpPr>
          <p:spPr>
            <a:xfrm>
              <a:off x="3558540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1" name="Ellipse 121"/>
            <p:cNvSpPr/>
            <p:nvPr/>
          </p:nvSpPr>
          <p:spPr>
            <a:xfrm>
              <a:off x="3427095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3558540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3" name="Ellipse 123"/>
            <p:cNvSpPr/>
            <p:nvPr/>
          </p:nvSpPr>
          <p:spPr>
            <a:xfrm>
              <a:off x="3937635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4" name="Ellipse 124"/>
            <p:cNvSpPr/>
            <p:nvPr/>
          </p:nvSpPr>
          <p:spPr>
            <a:xfrm>
              <a:off x="3937635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5" name="Ellipse 125"/>
            <p:cNvSpPr/>
            <p:nvPr/>
          </p:nvSpPr>
          <p:spPr>
            <a:xfrm>
              <a:off x="3814762" y="19792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6" name="Ellipse 126"/>
            <p:cNvSpPr/>
            <p:nvPr/>
          </p:nvSpPr>
          <p:spPr>
            <a:xfrm>
              <a:off x="3937635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3937635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3774758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3907155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0" name="Ellipse 130"/>
            <p:cNvSpPr/>
            <p:nvPr/>
          </p:nvSpPr>
          <p:spPr>
            <a:xfrm>
              <a:off x="3774758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1" name="Ellipse 131"/>
            <p:cNvSpPr/>
            <p:nvPr/>
          </p:nvSpPr>
          <p:spPr>
            <a:xfrm>
              <a:off x="3907155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2" name="Ellipse 132"/>
            <p:cNvSpPr/>
            <p:nvPr/>
          </p:nvSpPr>
          <p:spPr>
            <a:xfrm>
              <a:off x="4286250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3" name="Ellipse 133"/>
            <p:cNvSpPr/>
            <p:nvPr/>
          </p:nvSpPr>
          <p:spPr>
            <a:xfrm>
              <a:off x="4286250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4" name="Ellipse 134"/>
            <p:cNvSpPr/>
            <p:nvPr/>
          </p:nvSpPr>
          <p:spPr>
            <a:xfrm>
              <a:off x="4163378" y="19792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5" name="Ellipse 135"/>
            <p:cNvSpPr/>
            <p:nvPr/>
          </p:nvSpPr>
          <p:spPr>
            <a:xfrm>
              <a:off x="4286250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6" name="Ellipse 136"/>
            <p:cNvSpPr/>
            <p:nvPr/>
          </p:nvSpPr>
          <p:spPr>
            <a:xfrm>
              <a:off x="4286250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7" name="Ellipse 137"/>
            <p:cNvSpPr/>
            <p:nvPr/>
          </p:nvSpPr>
          <p:spPr>
            <a:xfrm>
              <a:off x="4122420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8" name="Ellipse 138"/>
            <p:cNvSpPr/>
            <p:nvPr/>
          </p:nvSpPr>
          <p:spPr>
            <a:xfrm>
              <a:off x="4254818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9" name="Ellipse 139"/>
            <p:cNvSpPr/>
            <p:nvPr/>
          </p:nvSpPr>
          <p:spPr>
            <a:xfrm>
              <a:off x="4122420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0" name="Ellipse 140"/>
            <p:cNvSpPr/>
            <p:nvPr/>
          </p:nvSpPr>
          <p:spPr>
            <a:xfrm>
              <a:off x="4254818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1" name="Ellipse 141"/>
            <p:cNvSpPr/>
            <p:nvPr/>
          </p:nvSpPr>
          <p:spPr>
            <a:xfrm>
              <a:off x="4633912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2" name="Ellipse 142"/>
            <p:cNvSpPr/>
            <p:nvPr/>
          </p:nvSpPr>
          <p:spPr>
            <a:xfrm>
              <a:off x="4633912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3" name="Ellipse 143"/>
            <p:cNvSpPr/>
            <p:nvPr/>
          </p:nvSpPr>
          <p:spPr>
            <a:xfrm>
              <a:off x="4511040" y="19792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4" name="Ellipse 144"/>
            <p:cNvSpPr/>
            <p:nvPr/>
          </p:nvSpPr>
          <p:spPr>
            <a:xfrm>
              <a:off x="4633912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5" name="Ellipse 145"/>
            <p:cNvSpPr/>
            <p:nvPr/>
          </p:nvSpPr>
          <p:spPr>
            <a:xfrm>
              <a:off x="4633912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6" name="Ellipse 146"/>
            <p:cNvSpPr/>
            <p:nvPr/>
          </p:nvSpPr>
          <p:spPr>
            <a:xfrm>
              <a:off x="4471035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7" name="Ellipse 147"/>
            <p:cNvSpPr/>
            <p:nvPr/>
          </p:nvSpPr>
          <p:spPr>
            <a:xfrm>
              <a:off x="4603432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8" name="Ellipse 148"/>
            <p:cNvSpPr/>
            <p:nvPr/>
          </p:nvSpPr>
          <p:spPr>
            <a:xfrm>
              <a:off x="4471035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9" name="Ellipse 149"/>
            <p:cNvSpPr/>
            <p:nvPr/>
          </p:nvSpPr>
          <p:spPr>
            <a:xfrm>
              <a:off x="4603432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0" name="Ellipse 150"/>
            <p:cNvSpPr/>
            <p:nvPr/>
          </p:nvSpPr>
          <p:spPr>
            <a:xfrm>
              <a:off x="4982528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1" name="Ellipse 151"/>
            <p:cNvSpPr/>
            <p:nvPr/>
          </p:nvSpPr>
          <p:spPr>
            <a:xfrm>
              <a:off x="4982528" y="20050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2" name="Ellipse 152"/>
            <p:cNvSpPr/>
            <p:nvPr/>
          </p:nvSpPr>
          <p:spPr>
            <a:xfrm>
              <a:off x="4859655" y="197929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3" name="Ellipse 153"/>
            <p:cNvSpPr/>
            <p:nvPr/>
          </p:nvSpPr>
          <p:spPr>
            <a:xfrm>
              <a:off x="4982528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4" name="Ellipse 154"/>
            <p:cNvSpPr/>
            <p:nvPr/>
          </p:nvSpPr>
          <p:spPr>
            <a:xfrm>
              <a:off x="4982528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5" name="Ellipse 155"/>
            <p:cNvSpPr/>
            <p:nvPr/>
          </p:nvSpPr>
          <p:spPr>
            <a:xfrm>
              <a:off x="4819650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6" name="Ellipse 156"/>
            <p:cNvSpPr/>
            <p:nvPr/>
          </p:nvSpPr>
          <p:spPr>
            <a:xfrm>
              <a:off x="4951095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7" name="Ellipse 157"/>
            <p:cNvSpPr/>
            <p:nvPr/>
          </p:nvSpPr>
          <p:spPr>
            <a:xfrm>
              <a:off x="4819650" y="3204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8" name="Ellipse 158"/>
            <p:cNvSpPr/>
            <p:nvPr/>
          </p:nvSpPr>
          <p:spPr>
            <a:xfrm>
              <a:off x="4951095" y="30727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9" name="Ellipse 159"/>
            <p:cNvSpPr/>
            <p:nvPr/>
          </p:nvSpPr>
          <p:spPr>
            <a:xfrm>
              <a:off x="1080135" y="23288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0" name="Ellipse 160"/>
            <p:cNvSpPr/>
            <p:nvPr/>
          </p:nvSpPr>
          <p:spPr>
            <a:xfrm>
              <a:off x="5169218" y="23288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1" name="Ellipse 161"/>
            <p:cNvSpPr/>
            <p:nvPr/>
          </p:nvSpPr>
          <p:spPr>
            <a:xfrm>
              <a:off x="1080135" y="2814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2" name="Ellipse 162"/>
            <p:cNvSpPr/>
            <p:nvPr/>
          </p:nvSpPr>
          <p:spPr>
            <a:xfrm>
              <a:off x="5169218" y="2814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3" name="Ellipse 163"/>
            <p:cNvSpPr/>
            <p:nvPr/>
          </p:nvSpPr>
          <p:spPr>
            <a:xfrm>
              <a:off x="2456498" y="25717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4" name="Ellipse 164"/>
            <p:cNvSpPr/>
            <p:nvPr/>
          </p:nvSpPr>
          <p:spPr>
            <a:xfrm>
              <a:off x="2456498" y="25717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5" name="Ellipse 165"/>
            <p:cNvSpPr/>
            <p:nvPr/>
          </p:nvSpPr>
          <p:spPr>
            <a:xfrm>
              <a:off x="2861310" y="25717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6" name="Ellipse 166"/>
            <p:cNvSpPr/>
            <p:nvPr/>
          </p:nvSpPr>
          <p:spPr>
            <a:xfrm>
              <a:off x="3266122" y="25717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7" name="Ellipse 167"/>
            <p:cNvSpPr/>
            <p:nvPr/>
          </p:nvSpPr>
          <p:spPr>
            <a:xfrm>
              <a:off x="3266122" y="35433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8" name="Ellipse 168"/>
            <p:cNvSpPr/>
            <p:nvPr/>
          </p:nvSpPr>
          <p:spPr>
            <a:xfrm>
              <a:off x="2861310" y="35433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9" name="Ellipse 169"/>
            <p:cNvSpPr/>
            <p:nvPr/>
          </p:nvSpPr>
          <p:spPr>
            <a:xfrm>
              <a:off x="3021330" y="2528888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5050338" y="214026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2288673" y="24103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3762190" y="24103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3762190" y="35923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2288673" y="35923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3030514" y="2405539"/>
              <a:ext cx="768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</p:grpSp>
      <p:grpSp>
        <p:nvGrpSpPr>
          <p:cNvPr id="182" name="c1-card-2"/>
          <p:cNvGrpSpPr/>
          <p:nvPr/>
        </p:nvGrpSpPr>
        <p:grpSpPr>
          <a:xfrm>
            <a:off x="533400" y="3955732"/>
            <a:ext cx="5193982" cy="1686878"/>
            <a:chOff x="533400" y="3955732"/>
            <a:chExt cx="5193982" cy="1686878"/>
          </a:xfrm>
        </p:grpSpPr>
        <p:sp>
          <p:nvSpPr>
            <p:cNvPr id="177" name="Rectangle 177"/>
            <p:cNvSpPr/>
            <p:nvPr/>
          </p:nvSpPr>
          <p:spPr>
            <a:xfrm>
              <a:off x="533400" y="3955732"/>
              <a:ext cx="5193982" cy="1686878"/>
            </a:xfrm>
            <a:prstGeom prst="roundRect">
              <a:avLst>
                <a:gd name="adj" fmla="val 79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542925" y="4089082"/>
              <a:ext cx="47625" cy="14201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9" name="Rectangle 179"/>
            <p:cNvSpPr/>
            <p:nvPr/>
          </p:nvSpPr>
          <p:spPr>
            <a:xfrm>
              <a:off x="752475" y="41367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0" name="TextBox 180"/>
            <p:cNvSpPr txBox="1"/>
            <p:nvPr/>
          </p:nvSpPr>
          <p:spPr>
            <a:xfrm>
              <a:off x="845147" y="41695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181" name="TextBox 181"/>
            <p:cNvSpPr txBox="1"/>
            <p:nvPr/>
          </p:nvSpPr>
          <p:spPr>
            <a:xfrm>
              <a:off x="745998" y="4477226"/>
              <a:ext cx="44914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500 匝、长 l = 25 cm 的空心螺线管通 I = 1.5 A：n = 2000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m⁻¹，B = μ₀nI = 4π×10⁻⁷ × 2000 × 1.5 ≈ 3.8×10⁻³ T。</a:t>
              </a:r>
            </a:p>
          </p:txBody>
        </p:sp>
      </p:grpSp>
      <p:grpSp>
        <p:nvGrpSpPr>
          <p:cNvPr id="200" name="c2-steps-1"/>
          <p:cNvGrpSpPr/>
          <p:nvPr/>
        </p:nvGrpSpPr>
        <p:grpSpPr>
          <a:xfrm>
            <a:off x="6032182" y="1533525"/>
            <a:ext cx="4636694" cy="2149412"/>
            <a:chOff x="6032182" y="1533525"/>
            <a:chExt cx="4636694" cy="2149412"/>
          </a:xfrm>
        </p:grpSpPr>
        <p:sp>
          <p:nvSpPr>
            <p:cNvPr id="183" name="Rectangle 183"/>
            <p:cNvSpPr/>
            <p:nvPr/>
          </p:nvSpPr>
          <p:spPr>
            <a:xfrm>
              <a:off x="6165532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4" name="Ellipse 184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5" name="TextBox 185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6" name="Ellipse 186"/>
            <p:cNvSpPr/>
            <p:nvPr/>
          </p:nvSpPr>
          <p:spPr>
            <a:xfrm>
              <a:off x="6032182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7" name="TextBox 187"/>
            <p:cNvSpPr txBox="1"/>
            <p:nvPr/>
          </p:nvSpPr>
          <p:spPr>
            <a:xfrm>
              <a:off x="6125806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8" name="Ellipse 188"/>
            <p:cNvSpPr/>
            <p:nvPr/>
          </p:nvSpPr>
          <p:spPr>
            <a:xfrm>
              <a:off x="6032182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9" name="TextBox 189"/>
            <p:cNvSpPr txBox="1"/>
            <p:nvPr/>
          </p:nvSpPr>
          <p:spPr>
            <a:xfrm>
              <a:off x="6125806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0" name="Ellipse 190"/>
            <p:cNvSpPr/>
            <p:nvPr/>
          </p:nvSpPr>
          <p:spPr>
            <a:xfrm>
              <a:off x="6032182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1" name="TextBox 191"/>
            <p:cNvSpPr txBox="1"/>
            <p:nvPr/>
          </p:nvSpPr>
          <p:spPr>
            <a:xfrm>
              <a:off x="6125806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6444806" y="15644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对称性</a:t>
              </a:r>
            </a:p>
          </p:txBody>
        </p:sp>
        <p:sp>
          <p:nvSpPr>
            <p:cNvPr id="193" name="TextBox 193"/>
            <p:cNvSpPr txBox="1"/>
            <p:nvPr/>
          </p:nvSpPr>
          <p:spPr>
            <a:xfrm>
              <a:off x="6445948" y="1818322"/>
              <a:ext cx="25421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管内 H 线平行于轴线且均匀，管外 H ≈ 0</a:t>
              </a:r>
            </a:p>
          </p:txBody>
        </p:sp>
        <p:sp>
          <p:nvSpPr>
            <p:cNvPr id="194" name="TextBox 194"/>
            <p:cNvSpPr txBox="1"/>
            <p:nvPr/>
          </p:nvSpPr>
          <p:spPr>
            <a:xfrm>
              <a:off x="6444806" y="21169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选回路</a:t>
              </a:r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6445948" y="2371725"/>
              <a:ext cx="4222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矩形 abcd：ab 在管内平行于轴线，cd 在管外，bc、da 垂直于轴线</a:t>
              </a:r>
            </a:p>
          </p:txBody>
        </p:sp>
        <p:sp>
          <p:nvSpPr>
            <p:cNvPr id="196" name="TextBox 196"/>
            <p:cNvSpPr txBox="1"/>
            <p:nvPr/>
          </p:nvSpPr>
          <p:spPr>
            <a:xfrm>
              <a:off x="6444806" y="26703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算环流</a:t>
              </a:r>
            </a:p>
          </p:txBody>
        </p:sp>
        <p:sp>
          <p:nvSpPr>
            <p:cNvPr id="197" name="TextBox 197"/>
            <p:cNvSpPr txBox="1"/>
            <p:nvPr/>
          </p:nvSpPr>
          <p:spPr>
            <a:xfrm>
              <a:off x="6445948" y="2925128"/>
              <a:ext cx="3708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bc、da 上 H ⊥ dl，cd 上 H = 0，只剩 ab 段：∮H·dl = H·ab</a:t>
              </a:r>
            </a:p>
          </p:txBody>
        </p:sp>
        <p:sp>
          <p:nvSpPr>
            <p:cNvPr id="198" name="TextBox 198"/>
            <p:cNvSpPr txBox="1"/>
            <p:nvPr/>
          </p:nvSpPr>
          <p:spPr>
            <a:xfrm>
              <a:off x="6444806" y="322278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数电流</a:t>
              </a:r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6445948" y="3477578"/>
              <a:ext cx="3496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回路套住的匝数为 (N/l)·ab，ΣI = n·ab·I，所以 H = nI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formula179"/>
              <p:cNvSpPr txBox="1">
                <a:spLocks noGrp="1"/>
              </p:cNvSpPr>
              <p:nvPr/>
            </p:nvSpPr>
            <p:spPr>
              <a:xfrm>
                <a:off x="6032182" y="3844290"/>
                <a:ext cx="5626418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nI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μnI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07" name="c2-card-3"/>
          <p:cNvGrpSpPr/>
          <p:nvPr/>
        </p:nvGrpSpPr>
        <p:grpSpPr>
          <a:xfrm>
            <a:off x="6032182" y="4497705"/>
            <a:ext cx="5626418" cy="1143952"/>
            <a:chOff x="6032182" y="4497705"/>
            <a:chExt cx="5626418" cy="1143952"/>
          </a:xfrm>
        </p:grpSpPr>
        <p:sp>
          <p:nvSpPr>
            <p:cNvPr id="202" name="Rectangle 202"/>
            <p:cNvSpPr/>
            <p:nvPr/>
          </p:nvSpPr>
          <p:spPr>
            <a:xfrm>
              <a:off x="6032182" y="4497705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3" name="Rectangle 203"/>
            <p:cNvSpPr/>
            <p:nvPr/>
          </p:nvSpPr>
          <p:spPr>
            <a:xfrm>
              <a:off x="6041708" y="4631055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4" name="Rectangle 204"/>
            <p:cNvSpPr/>
            <p:nvPr/>
          </p:nvSpPr>
          <p:spPr>
            <a:xfrm>
              <a:off x="6251258" y="467868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5" name="TextBox 205"/>
            <p:cNvSpPr txBox="1"/>
            <p:nvPr/>
          </p:nvSpPr>
          <p:spPr>
            <a:xfrm>
              <a:off x="6339878" y="471154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管口处</a:t>
              </a:r>
            </a:p>
          </p:txBody>
        </p:sp>
        <p:sp>
          <p:nvSpPr>
            <p:cNvPr id="206" name="TextBox 206"/>
            <p:cNvSpPr txBox="1"/>
            <p:nvPr/>
          </p:nvSpPr>
          <p:spPr>
            <a:xfrm>
              <a:off x="6244780" y="5019199"/>
              <a:ext cx="4971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半无限长螺线管端口的轴线上 B = μnI/2，只有管内中部的一半：把一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根无限长螺线管从中间截开，两半在截面处的贡献相等。</a:t>
              </a:r>
            </a:p>
          </p:txBody>
        </p:sp>
      </p:grpSp>
      <p:grpSp>
        <p:nvGrpSpPr>
          <p:cNvPr id="21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208" name="Rectangle 20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2" name="Group 212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209" name="Freeform 209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0" name="Freeform 210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1" name="Freeform 211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13" name="TextBox 213"/>
            <p:cNvSpPr txBox="1"/>
            <p:nvPr/>
          </p:nvSpPr>
          <p:spPr>
            <a:xfrm>
              <a:off x="1041273" y="6039326"/>
              <a:ext cx="70575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结果与 ab 离轴线多远无关，说明管内各点磁场相同，是匀强磁场。nI 是单位长度上的电流。</a:t>
              </a:r>
            </a:p>
          </p:txBody>
        </p:sp>
      </p:grpSp>
      <p:grpSp>
        <p:nvGrpSpPr>
          <p:cNvPr id="2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5" name="TextBox 21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216" name="TextBox 2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安培环路定理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应用二：环形螺线管的磁场全部关在环内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3" name="g_toroid"/>
          <p:cNvGrpSpPr/>
          <p:nvPr/>
        </p:nvGrpSpPr>
        <p:grpSpPr>
          <a:xfrm>
            <a:off x="1717358" y="1810702"/>
            <a:ext cx="2609849" cy="2606041"/>
            <a:chOff x="1717358" y="1810702"/>
            <a:chExt cx="2609849" cy="2606041"/>
          </a:xfrm>
        </p:grpSpPr>
        <p:sp>
          <p:nvSpPr>
            <p:cNvPr id="7" name="Freeform 7"/>
            <p:cNvSpPr/>
            <p:nvPr/>
          </p:nvSpPr>
          <p:spPr>
            <a:xfrm>
              <a:off x="2483168" y="2577465"/>
              <a:ext cx="1071562" cy="1071562"/>
            </a:xfrm>
            <a:custGeom>
              <a:avLst/>
              <a:gdLst/>
              <a:ahLst/>
              <a:cxnLst/>
              <a:rect l="l" t="t" r="r" b="b"/>
              <a:pathLst>
                <a:path w="1071562" h="1071562">
                  <a:moveTo>
                    <a:pt x="1071562" y="521970"/>
                  </a:moveTo>
                  <a:lnTo>
                    <a:pt x="1070610" y="493395"/>
                  </a:lnTo>
                  <a:lnTo>
                    <a:pt x="1065848" y="452438"/>
                  </a:lnTo>
                  <a:lnTo>
                    <a:pt x="1057275" y="410527"/>
                  </a:lnTo>
                  <a:lnTo>
                    <a:pt x="1045845" y="370522"/>
                  </a:lnTo>
                  <a:lnTo>
                    <a:pt x="1031558" y="330517"/>
                  </a:lnTo>
                  <a:lnTo>
                    <a:pt x="1013460" y="292417"/>
                  </a:lnTo>
                  <a:lnTo>
                    <a:pt x="993458" y="256222"/>
                  </a:lnTo>
                  <a:lnTo>
                    <a:pt x="969645" y="220980"/>
                  </a:lnTo>
                  <a:lnTo>
                    <a:pt x="943928" y="187642"/>
                  </a:lnTo>
                  <a:lnTo>
                    <a:pt x="915353" y="157162"/>
                  </a:lnTo>
                  <a:lnTo>
                    <a:pt x="883920" y="128588"/>
                  </a:lnTo>
                  <a:lnTo>
                    <a:pt x="851535" y="101917"/>
                  </a:lnTo>
                  <a:lnTo>
                    <a:pt x="816292" y="79057"/>
                  </a:lnTo>
                  <a:lnTo>
                    <a:pt x="780098" y="58102"/>
                  </a:lnTo>
                  <a:lnTo>
                    <a:pt x="741045" y="40957"/>
                  </a:lnTo>
                  <a:lnTo>
                    <a:pt x="701992" y="25717"/>
                  </a:lnTo>
                  <a:lnTo>
                    <a:pt x="661035" y="14288"/>
                  </a:lnTo>
                  <a:lnTo>
                    <a:pt x="620078" y="6667"/>
                  </a:lnTo>
                  <a:lnTo>
                    <a:pt x="578167" y="1905"/>
                  </a:lnTo>
                  <a:lnTo>
                    <a:pt x="536258" y="0"/>
                  </a:lnTo>
                  <a:lnTo>
                    <a:pt x="494348" y="1905"/>
                  </a:lnTo>
                  <a:lnTo>
                    <a:pt x="452438" y="6667"/>
                  </a:lnTo>
                  <a:lnTo>
                    <a:pt x="411480" y="14288"/>
                  </a:lnTo>
                  <a:lnTo>
                    <a:pt x="370523" y="25717"/>
                  </a:lnTo>
                  <a:lnTo>
                    <a:pt x="331470" y="40957"/>
                  </a:lnTo>
                  <a:lnTo>
                    <a:pt x="293370" y="58102"/>
                  </a:lnTo>
                  <a:lnTo>
                    <a:pt x="256223" y="79057"/>
                  </a:lnTo>
                  <a:lnTo>
                    <a:pt x="220980" y="101917"/>
                  </a:lnTo>
                  <a:lnTo>
                    <a:pt x="188595" y="128588"/>
                  </a:lnTo>
                  <a:lnTo>
                    <a:pt x="158115" y="157162"/>
                  </a:lnTo>
                  <a:lnTo>
                    <a:pt x="128588" y="187642"/>
                  </a:lnTo>
                  <a:lnTo>
                    <a:pt x="102870" y="220980"/>
                  </a:lnTo>
                  <a:lnTo>
                    <a:pt x="79058" y="256222"/>
                  </a:lnTo>
                  <a:lnTo>
                    <a:pt x="59055" y="292417"/>
                  </a:lnTo>
                  <a:lnTo>
                    <a:pt x="40958" y="330517"/>
                  </a:lnTo>
                  <a:lnTo>
                    <a:pt x="26670" y="370522"/>
                  </a:lnTo>
                  <a:lnTo>
                    <a:pt x="15240" y="410527"/>
                  </a:lnTo>
                  <a:lnTo>
                    <a:pt x="7620" y="452438"/>
                  </a:lnTo>
                  <a:lnTo>
                    <a:pt x="1905" y="493395"/>
                  </a:lnTo>
                  <a:lnTo>
                    <a:pt x="0" y="536257"/>
                  </a:lnTo>
                  <a:lnTo>
                    <a:pt x="1905" y="578167"/>
                  </a:lnTo>
                  <a:lnTo>
                    <a:pt x="7620" y="620077"/>
                  </a:lnTo>
                  <a:lnTo>
                    <a:pt x="15240" y="661035"/>
                  </a:lnTo>
                  <a:lnTo>
                    <a:pt x="26670" y="701992"/>
                  </a:lnTo>
                  <a:lnTo>
                    <a:pt x="40958" y="741045"/>
                  </a:lnTo>
                  <a:lnTo>
                    <a:pt x="59055" y="779145"/>
                  </a:lnTo>
                  <a:lnTo>
                    <a:pt x="79058" y="816292"/>
                  </a:lnTo>
                  <a:lnTo>
                    <a:pt x="102870" y="851535"/>
                  </a:lnTo>
                  <a:lnTo>
                    <a:pt x="128588" y="883920"/>
                  </a:lnTo>
                  <a:lnTo>
                    <a:pt x="158115" y="914400"/>
                  </a:lnTo>
                  <a:lnTo>
                    <a:pt x="188595" y="943927"/>
                  </a:lnTo>
                  <a:lnTo>
                    <a:pt x="220980" y="969645"/>
                  </a:lnTo>
                  <a:lnTo>
                    <a:pt x="256223" y="992505"/>
                  </a:lnTo>
                  <a:lnTo>
                    <a:pt x="293370" y="1013460"/>
                  </a:lnTo>
                  <a:lnTo>
                    <a:pt x="331470" y="1031557"/>
                  </a:lnTo>
                  <a:lnTo>
                    <a:pt x="370523" y="1045845"/>
                  </a:lnTo>
                  <a:lnTo>
                    <a:pt x="411480" y="1057275"/>
                  </a:lnTo>
                  <a:lnTo>
                    <a:pt x="452438" y="1064895"/>
                  </a:lnTo>
                  <a:lnTo>
                    <a:pt x="494348" y="1069657"/>
                  </a:lnTo>
                  <a:lnTo>
                    <a:pt x="536258" y="1071562"/>
                  </a:lnTo>
                  <a:lnTo>
                    <a:pt x="578167" y="1069657"/>
                  </a:lnTo>
                  <a:lnTo>
                    <a:pt x="620078" y="1064895"/>
                  </a:lnTo>
                  <a:lnTo>
                    <a:pt x="661035" y="1057275"/>
                  </a:lnTo>
                  <a:lnTo>
                    <a:pt x="701992" y="1045845"/>
                  </a:lnTo>
                  <a:lnTo>
                    <a:pt x="741045" y="1031557"/>
                  </a:lnTo>
                  <a:lnTo>
                    <a:pt x="780098" y="1013460"/>
                  </a:lnTo>
                  <a:lnTo>
                    <a:pt x="816292" y="992505"/>
                  </a:lnTo>
                  <a:lnTo>
                    <a:pt x="851535" y="969645"/>
                  </a:lnTo>
                  <a:lnTo>
                    <a:pt x="883920" y="943927"/>
                  </a:lnTo>
                  <a:lnTo>
                    <a:pt x="915353" y="914400"/>
                  </a:lnTo>
                  <a:lnTo>
                    <a:pt x="943928" y="883920"/>
                  </a:lnTo>
                  <a:lnTo>
                    <a:pt x="969645" y="851535"/>
                  </a:lnTo>
                  <a:lnTo>
                    <a:pt x="993458" y="816292"/>
                  </a:lnTo>
                  <a:lnTo>
                    <a:pt x="1013460" y="779145"/>
                  </a:lnTo>
                  <a:lnTo>
                    <a:pt x="1031558" y="741045"/>
                  </a:lnTo>
                  <a:lnTo>
                    <a:pt x="1045845" y="701992"/>
                  </a:lnTo>
                  <a:lnTo>
                    <a:pt x="1057275" y="661035"/>
                  </a:lnTo>
                  <a:lnTo>
                    <a:pt x="1065848" y="620077"/>
                  </a:lnTo>
                  <a:lnTo>
                    <a:pt x="1070610" y="578167"/>
                  </a:lnTo>
                  <a:lnTo>
                    <a:pt x="1071562" y="550545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947862" y="2041208"/>
              <a:ext cx="2143125" cy="2144077"/>
            </a:xfrm>
            <a:custGeom>
              <a:avLst/>
              <a:gdLst/>
              <a:ahLst/>
              <a:cxnLst/>
              <a:rect l="l" t="t" r="r" b="b"/>
              <a:pathLst>
                <a:path w="2143125" h="2144077">
                  <a:moveTo>
                    <a:pt x="2143125" y="1058227"/>
                  </a:moveTo>
                  <a:lnTo>
                    <a:pt x="2141220" y="1004888"/>
                  </a:lnTo>
                  <a:lnTo>
                    <a:pt x="2134552" y="938212"/>
                  </a:lnTo>
                  <a:lnTo>
                    <a:pt x="2124075" y="871538"/>
                  </a:lnTo>
                  <a:lnTo>
                    <a:pt x="2109788" y="805815"/>
                  </a:lnTo>
                  <a:lnTo>
                    <a:pt x="2090738" y="741045"/>
                  </a:lnTo>
                  <a:lnTo>
                    <a:pt x="2067878" y="677227"/>
                  </a:lnTo>
                  <a:lnTo>
                    <a:pt x="2041208" y="615315"/>
                  </a:lnTo>
                  <a:lnTo>
                    <a:pt x="2010728" y="555308"/>
                  </a:lnTo>
                  <a:lnTo>
                    <a:pt x="1976438" y="498158"/>
                  </a:lnTo>
                  <a:lnTo>
                    <a:pt x="1938338" y="441960"/>
                  </a:lnTo>
                  <a:lnTo>
                    <a:pt x="1897380" y="388620"/>
                  </a:lnTo>
                  <a:lnTo>
                    <a:pt x="1852612" y="338138"/>
                  </a:lnTo>
                  <a:lnTo>
                    <a:pt x="1804988" y="290512"/>
                  </a:lnTo>
                  <a:lnTo>
                    <a:pt x="1754505" y="245745"/>
                  </a:lnTo>
                  <a:lnTo>
                    <a:pt x="1701165" y="204788"/>
                  </a:lnTo>
                  <a:lnTo>
                    <a:pt x="1645920" y="166688"/>
                  </a:lnTo>
                  <a:lnTo>
                    <a:pt x="1587818" y="132397"/>
                  </a:lnTo>
                  <a:lnTo>
                    <a:pt x="1527810" y="101917"/>
                  </a:lnTo>
                  <a:lnTo>
                    <a:pt x="1465897" y="75247"/>
                  </a:lnTo>
                  <a:lnTo>
                    <a:pt x="1403032" y="52388"/>
                  </a:lnTo>
                  <a:lnTo>
                    <a:pt x="1338262" y="34290"/>
                  </a:lnTo>
                  <a:lnTo>
                    <a:pt x="1272540" y="19050"/>
                  </a:lnTo>
                  <a:lnTo>
                    <a:pt x="1205865" y="8572"/>
                  </a:lnTo>
                  <a:lnTo>
                    <a:pt x="1139190" y="1905"/>
                  </a:lnTo>
                  <a:lnTo>
                    <a:pt x="1071562" y="0"/>
                  </a:lnTo>
                  <a:lnTo>
                    <a:pt x="1004888" y="1905"/>
                  </a:lnTo>
                  <a:lnTo>
                    <a:pt x="937260" y="8572"/>
                  </a:lnTo>
                  <a:lnTo>
                    <a:pt x="870585" y="19050"/>
                  </a:lnTo>
                  <a:lnTo>
                    <a:pt x="804862" y="34290"/>
                  </a:lnTo>
                  <a:lnTo>
                    <a:pt x="740092" y="52388"/>
                  </a:lnTo>
                  <a:lnTo>
                    <a:pt x="677228" y="75247"/>
                  </a:lnTo>
                  <a:lnTo>
                    <a:pt x="615315" y="101917"/>
                  </a:lnTo>
                  <a:lnTo>
                    <a:pt x="555308" y="132397"/>
                  </a:lnTo>
                  <a:lnTo>
                    <a:pt x="497205" y="166688"/>
                  </a:lnTo>
                  <a:lnTo>
                    <a:pt x="441960" y="204788"/>
                  </a:lnTo>
                  <a:lnTo>
                    <a:pt x="388620" y="245745"/>
                  </a:lnTo>
                  <a:lnTo>
                    <a:pt x="338138" y="290512"/>
                  </a:lnTo>
                  <a:lnTo>
                    <a:pt x="290512" y="338138"/>
                  </a:lnTo>
                  <a:lnTo>
                    <a:pt x="245745" y="388620"/>
                  </a:lnTo>
                  <a:lnTo>
                    <a:pt x="204788" y="441960"/>
                  </a:lnTo>
                  <a:lnTo>
                    <a:pt x="166688" y="498158"/>
                  </a:lnTo>
                  <a:lnTo>
                    <a:pt x="132398" y="555308"/>
                  </a:lnTo>
                  <a:lnTo>
                    <a:pt x="101917" y="615315"/>
                  </a:lnTo>
                  <a:lnTo>
                    <a:pt x="75248" y="677227"/>
                  </a:lnTo>
                  <a:lnTo>
                    <a:pt x="52388" y="741045"/>
                  </a:lnTo>
                  <a:lnTo>
                    <a:pt x="33338" y="805815"/>
                  </a:lnTo>
                  <a:lnTo>
                    <a:pt x="19050" y="871538"/>
                  </a:lnTo>
                  <a:lnTo>
                    <a:pt x="8573" y="938212"/>
                  </a:lnTo>
                  <a:lnTo>
                    <a:pt x="1905" y="1004888"/>
                  </a:lnTo>
                  <a:lnTo>
                    <a:pt x="0" y="1072515"/>
                  </a:lnTo>
                  <a:lnTo>
                    <a:pt x="1905" y="1139190"/>
                  </a:lnTo>
                  <a:lnTo>
                    <a:pt x="8573" y="1206818"/>
                  </a:lnTo>
                  <a:lnTo>
                    <a:pt x="19050" y="1272540"/>
                  </a:lnTo>
                  <a:lnTo>
                    <a:pt x="33338" y="1339215"/>
                  </a:lnTo>
                  <a:lnTo>
                    <a:pt x="52388" y="1403032"/>
                  </a:lnTo>
                  <a:lnTo>
                    <a:pt x="75248" y="1466850"/>
                  </a:lnTo>
                  <a:lnTo>
                    <a:pt x="101917" y="1528762"/>
                  </a:lnTo>
                  <a:lnTo>
                    <a:pt x="132398" y="1588770"/>
                  </a:lnTo>
                  <a:lnTo>
                    <a:pt x="166688" y="1646872"/>
                  </a:lnTo>
                  <a:lnTo>
                    <a:pt x="204788" y="1702118"/>
                  </a:lnTo>
                  <a:lnTo>
                    <a:pt x="245745" y="1755458"/>
                  </a:lnTo>
                  <a:lnTo>
                    <a:pt x="290512" y="1805940"/>
                  </a:lnTo>
                  <a:lnTo>
                    <a:pt x="338138" y="1853565"/>
                  </a:lnTo>
                  <a:lnTo>
                    <a:pt x="388620" y="1898332"/>
                  </a:lnTo>
                  <a:lnTo>
                    <a:pt x="441960" y="1939290"/>
                  </a:lnTo>
                  <a:lnTo>
                    <a:pt x="497205" y="1977390"/>
                  </a:lnTo>
                  <a:lnTo>
                    <a:pt x="555308" y="2011680"/>
                  </a:lnTo>
                  <a:lnTo>
                    <a:pt x="615315" y="2042160"/>
                  </a:lnTo>
                  <a:lnTo>
                    <a:pt x="677228" y="2068830"/>
                  </a:lnTo>
                  <a:lnTo>
                    <a:pt x="740092" y="2091690"/>
                  </a:lnTo>
                  <a:lnTo>
                    <a:pt x="804862" y="2110740"/>
                  </a:lnTo>
                  <a:lnTo>
                    <a:pt x="870585" y="2125027"/>
                  </a:lnTo>
                  <a:lnTo>
                    <a:pt x="937260" y="2135505"/>
                  </a:lnTo>
                  <a:lnTo>
                    <a:pt x="1004888" y="2142172"/>
                  </a:lnTo>
                  <a:lnTo>
                    <a:pt x="1071562" y="2144077"/>
                  </a:lnTo>
                  <a:lnTo>
                    <a:pt x="1139190" y="2142172"/>
                  </a:lnTo>
                  <a:lnTo>
                    <a:pt x="1205865" y="2135505"/>
                  </a:lnTo>
                  <a:lnTo>
                    <a:pt x="1272540" y="2125027"/>
                  </a:lnTo>
                  <a:lnTo>
                    <a:pt x="1338262" y="2110740"/>
                  </a:lnTo>
                  <a:lnTo>
                    <a:pt x="1403032" y="2091690"/>
                  </a:lnTo>
                  <a:lnTo>
                    <a:pt x="1465897" y="2068830"/>
                  </a:lnTo>
                  <a:lnTo>
                    <a:pt x="1527810" y="2042160"/>
                  </a:lnTo>
                  <a:lnTo>
                    <a:pt x="1587818" y="2011680"/>
                  </a:lnTo>
                  <a:lnTo>
                    <a:pt x="1645920" y="1977390"/>
                  </a:lnTo>
                  <a:lnTo>
                    <a:pt x="1701165" y="1939290"/>
                  </a:lnTo>
                  <a:lnTo>
                    <a:pt x="1754505" y="1898332"/>
                  </a:lnTo>
                  <a:lnTo>
                    <a:pt x="1804988" y="1853565"/>
                  </a:lnTo>
                  <a:lnTo>
                    <a:pt x="1852612" y="1805940"/>
                  </a:lnTo>
                  <a:lnTo>
                    <a:pt x="1897380" y="1755458"/>
                  </a:lnTo>
                  <a:lnTo>
                    <a:pt x="1938338" y="1702118"/>
                  </a:lnTo>
                  <a:lnTo>
                    <a:pt x="1976438" y="1646872"/>
                  </a:lnTo>
                  <a:lnTo>
                    <a:pt x="2010728" y="1588770"/>
                  </a:lnTo>
                  <a:lnTo>
                    <a:pt x="2041208" y="1528762"/>
                  </a:lnTo>
                  <a:lnTo>
                    <a:pt x="2067878" y="1466850"/>
                  </a:lnTo>
                  <a:lnTo>
                    <a:pt x="2090738" y="1403032"/>
                  </a:lnTo>
                  <a:lnTo>
                    <a:pt x="2109788" y="1339215"/>
                  </a:lnTo>
                  <a:lnTo>
                    <a:pt x="2124075" y="1272540"/>
                  </a:lnTo>
                  <a:lnTo>
                    <a:pt x="2134552" y="1206818"/>
                  </a:lnTo>
                  <a:lnTo>
                    <a:pt x="2141220" y="1139190"/>
                  </a:lnTo>
                  <a:lnTo>
                    <a:pt x="2143125" y="1086802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205990" y="2301240"/>
              <a:ext cx="1625918" cy="1624965"/>
            </a:xfrm>
            <a:custGeom>
              <a:avLst/>
              <a:gdLst/>
              <a:ahLst/>
              <a:cxnLst/>
              <a:rect l="l" t="t" r="r" b="b"/>
              <a:pathLst>
                <a:path w="1625918" h="1624965">
                  <a:moveTo>
                    <a:pt x="1625918" y="798195"/>
                  </a:moveTo>
                  <a:lnTo>
                    <a:pt x="1624013" y="755332"/>
                  </a:lnTo>
                  <a:lnTo>
                    <a:pt x="1618298" y="699135"/>
                  </a:lnTo>
                  <a:lnTo>
                    <a:pt x="1608772" y="642938"/>
                  </a:lnTo>
                  <a:lnTo>
                    <a:pt x="1595438" y="587693"/>
                  </a:lnTo>
                  <a:lnTo>
                    <a:pt x="1577340" y="534352"/>
                  </a:lnTo>
                  <a:lnTo>
                    <a:pt x="1556385" y="481965"/>
                  </a:lnTo>
                  <a:lnTo>
                    <a:pt x="1531620" y="430530"/>
                  </a:lnTo>
                  <a:lnTo>
                    <a:pt x="1503045" y="381000"/>
                  </a:lnTo>
                  <a:lnTo>
                    <a:pt x="1470660" y="334327"/>
                  </a:lnTo>
                  <a:lnTo>
                    <a:pt x="1436370" y="289560"/>
                  </a:lnTo>
                  <a:lnTo>
                    <a:pt x="1398270" y="247650"/>
                  </a:lnTo>
                  <a:lnTo>
                    <a:pt x="1357313" y="207645"/>
                  </a:lnTo>
                  <a:lnTo>
                    <a:pt x="1313498" y="171450"/>
                  </a:lnTo>
                  <a:lnTo>
                    <a:pt x="1267778" y="138113"/>
                  </a:lnTo>
                  <a:lnTo>
                    <a:pt x="1220152" y="107633"/>
                  </a:lnTo>
                  <a:lnTo>
                    <a:pt x="1169670" y="80962"/>
                  </a:lnTo>
                  <a:lnTo>
                    <a:pt x="1118235" y="58102"/>
                  </a:lnTo>
                  <a:lnTo>
                    <a:pt x="1064895" y="39052"/>
                  </a:lnTo>
                  <a:lnTo>
                    <a:pt x="1010602" y="22860"/>
                  </a:lnTo>
                  <a:lnTo>
                    <a:pt x="954405" y="11430"/>
                  </a:lnTo>
                  <a:lnTo>
                    <a:pt x="899160" y="3810"/>
                  </a:lnTo>
                  <a:lnTo>
                    <a:pt x="842010" y="0"/>
                  </a:lnTo>
                  <a:lnTo>
                    <a:pt x="784860" y="0"/>
                  </a:lnTo>
                  <a:lnTo>
                    <a:pt x="728663" y="3810"/>
                  </a:lnTo>
                  <a:lnTo>
                    <a:pt x="672465" y="11430"/>
                  </a:lnTo>
                  <a:lnTo>
                    <a:pt x="617220" y="22860"/>
                  </a:lnTo>
                  <a:lnTo>
                    <a:pt x="561975" y="39052"/>
                  </a:lnTo>
                  <a:lnTo>
                    <a:pt x="508635" y="58102"/>
                  </a:lnTo>
                  <a:lnTo>
                    <a:pt x="457200" y="80962"/>
                  </a:lnTo>
                  <a:lnTo>
                    <a:pt x="406718" y="107633"/>
                  </a:lnTo>
                  <a:lnTo>
                    <a:pt x="359093" y="138113"/>
                  </a:lnTo>
                  <a:lnTo>
                    <a:pt x="312420" y="171450"/>
                  </a:lnTo>
                  <a:lnTo>
                    <a:pt x="269557" y="207645"/>
                  </a:lnTo>
                  <a:lnTo>
                    <a:pt x="228600" y="247650"/>
                  </a:lnTo>
                  <a:lnTo>
                    <a:pt x="190500" y="289560"/>
                  </a:lnTo>
                  <a:lnTo>
                    <a:pt x="155258" y="334327"/>
                  </a:lnTo>
                  <a:lnTo>
                    <a:pt x="123825" y="381000"/>
                  </a:lnTo>
                  <a:lnTo>
                    <a:pt x="96202" y="430530"/>
                  </a:lnTo>
                  <a:lnTo>
                    <a:pt x="71438" y="481965"/>
                  </a:lnTo>
                  <a:lnTo>
                    <a:pt x="49530" y="534352"/>
                  </a:lnTo>
                  <a:lnTo>
                    <a:pt x="32385" y="587693"/>
                  </a:lnTo>
                  <a:lnTo>
                    <a:pt x="18098" y="642938"/>
                  </a:lnTo>
                  <a:lnTo>
                    <a:pt x="8573" y="699135"/>
                  </a:lnTo>
                  <a:lnTo>
                    <a:pt x="1905" y="755332"/>
                  </a:lnTo>
                  <a:lnTo>
                    <a:pt x="0" y="812482"/>
                  </a:lnTo>
                  <a:lnTo>
                    <a:pt x="1905" y="868680"/>
                  </a:lnTo>
                  <a:lnTo>
                    <a:pt x="8573" y="924878"/>
                  </a:lnTo>
                  <a:lnTo>
                    <a:pt x="18098" y="981075"/>
                  </a:lnTo>
                  <a:lnTo>
                    <a:pt x="32385" y="1036320"/>
                  </a:lnTo>
                  <a:lnTo>
                    <a:pt x="49530" y="1090613"/>
                  </a:lnTo>
                  <a:lnTo>
                    <a:pt x="71438" y="1143000"/>
                  </a:lnTo>
                  <a:lnTo>
                    <a:pt x="96202" y="1193482"/>
                  </a:lnTo>
                  <a:lnTo>
                    <a:pt x="123825" y="1243013"/>
                  </a:lnTo>
                  <a:lnTo>
                    <a:pt x="155258" y="1290638"/>
                  </a:lnTo>
                  <a:lnTo>
                    <a:pt x="190500" y="1334452"/>
                  </a:lnTo>
                  <a:lnTo>
                    <a:pt x="228600" y="1377315"/>
                  </a:lnTo>
                  <a:lnTo>
                    <a:pt x="269557" y="1416368"/>
                  </a:lnTo>
                  <a:lnTo>
                    <a:pt x="312420" y="1453515"/>
                  </a:lnTo>
                  <a:lnTo>
                    <a:pt x="359093" y="1485900"/>
                  </a:lnTo>
                  <a:lnTo>
                    <a:pt x="406718" y="1516380"/>
                  </a:lnTo>
                  <a:lnTo>
                    <a:pt x="457200" y="1543050"/>
                  </a:lnTo>
                  <a:lnTo>
                    <a:pt x="508635" y="1565910"/>
                  </a:lnTo>
                  <a:lnTo>
                    <a:pt x="561975" y="1584960"/>
                  </a:lnTo>
                  <a:lnTo>
                    <a:pt x="617220" y="1601152"/>
                  </a:lnTo>
                  <a:lnTo>
                    <a:pt x="672465" y="1613535"/>
                  </a:lnTo>
                  <a:lnTo>
                    <a:pt x="728663" y="1621155"/>
                  </a:lnTo>
                  <a:lnTo>
                    <a:pt x="784860" y="1624965"/>
                  </a:lnTo>
                  <a:lnTo>
                    <a:pt x="842010" y="1624965"/>
                  </a:lnTo>
                  <a:lnTo>
                    <a:pt x="899160" y="1621155"/>
                  </a:lnTo>
                  <a:lnTo>
                    <a:pt x="954405" y="1613535"/>
                  </a:lnTo>
                  <a:lnTo>
                    <a:pt x="1010602" y="1601152"/>
                  </a:lnTo>
                  <a:lnTo>
                    <a:pt x="1064895" y="1584960"/>
                  </a:lnTo>
                  <a:lnTo>
                    <a:pt x="1118235" y="1565910"/>
                  </a:lnTo>
                  <a:lnTo>
                    <a:pt x="1169670" y="1543050"/>
                  </a:lnTo>
                  <a:lnTo>
                    <a:pt x="1220152" y="1516380"/>
                  </a:lnTo>
                  <a:lnTo>
                    <a:pt x="1267778" y="1485900"/>
                  </a:lnTo>
                  <a:lnTo>
                    <a:pt x="1313498" y="1453515"/>
                  </a:lnTo>
                  <a:lnTo>
                    <a:pt x="1357313" y="1416368"/>
                  </a:lnTo>
                  <a:lnTo>
                    <a:pt x="1398270" y="1377315"/>
                  </a:lnTo>
                  <a:lnTo>
                    <a:pt x="1436370" y="1334452"/>
                  </a:lnTo>
                  <a:lnTo>
                    <a:pt x="1470660" y="1290638"/>
                  </a:lnTo>
                  <a:lnTo>
                    <a:pt x="1503045" y="1243013"/>
                  </a:lnTo>
                  <a:lnTo>
                    <a:pt x="1531620" y="1193482"/>
                  </a:lnTo>
                  <a:lnTo>
                    <a:pt x="1556385" y="1143000"/>
                  </a:lnTo>
                  <a:lnTo>
                    <a:pt x="1577340" y="1090613"/>
                  </a:lnTo>
                  <a:lnTo>
                    <a:pt x="1595438" y="1036320"/>
                  </a:lnTo>
                  <a:lnTo>
                    <a:pt x="1608772" y="981075"/>
                  </a:lnTo>
                  <a:lnTo>
                    <a:pt x="1618298" y="924878"/>
                  </a:lnTo>
                  <a:lnTo>
                    <a:pt x="1624013" y="868680"/>
                  </a:lnTo>
                  <a:lnTo>
                    <a:pt x="1625918" y="82677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2925128" y="2296478"/>
              <a:ext cx="220980" cy="14288"/>
            </a:xfrm>
            <a:custGeom>
              <a:avLst/>
              <a:gdLst/>
              <a:ahLst/>
              <a:cxnLst/>
              <a:rect l="l" t="t" r="r" b="b"/>
              <a:pathLst>
                <a:path w="220980" h="14288">
                  <a:moveTo>
                    <a:pt x="220980" y="14288"/>
                  </a:moveTo>
                  <a:lnTo>
                    <a:pt x="188595" y="9525"/>
                  </a:lnTo>
                  <a:lnTo>
                    <a:pt x="141922" y="4762"/>
                  </a:lnTo>
                  <a:lnTo>
                    <a:pt x="94297" y="3810"/>
                  </a:lnTo>
                  <a:lnTo>
                    <a:pt x="47625" y="4762"/>
                  </a:lnTo>
                  <a:lnTo>
                    <a:pt x="0" y="9525"/>
                  </a:lnTo>
                  <a:lnTo>
                    <a:pt x="61912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892742" y="2248852"/>
              <a:ext cx="100965" cy="94298"/>
            </a:xfrm>
            <a:custGeom>
              <a:avLst/>
              <a:gdLst/>
              <a:ahLst/>
              <a:cxnLst/>
              <a:rect l="l" t="t" r="r" b="b"/>
              <a:pathLst>
                <a:path w="100965" h="94298">
                  <a:moveTo>
                    <a:pt x="0" y="61912"/>
                  </a:moveTo>
                  <a:lnTo>
                    <a:pt x="86678" y="0"/>
                  </a:lnTo>
                  <a:lnTo>
                    <a:pt x="100965" y="94298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304222" y="2890838"/>
              <a:ext cx="146685" cy="147638"/>
            </a:xfrm>
            <a:custGeom>
              <a:avLst/>
              <a:gdLst/>
              <a:ahLst/>
              <a:cxnLst/>
              <a:rect l="l" t="t" r="r" b="b"/>
              <a:pathLst>
                <a:path w="146685" h="147638">
                  <a:moveTo>
                    <a:pt x="145733" y="60008"/>
                  </a:moveTo>
                  <a:lnTo>
                    <a:pt x="145733" y="58103"/>
                  </a:lnTo>
                  <a:lnTo>
                    <a:pt x="140018" y="41910"/>
                  </a:lnTo>
                  <a:lnTo>
                    <a:pt x="131445" y="27622"/>
                  </a:lnTo>
                  <a:lnTo>
                    <a:pt x="120015" y="16192"/>
                  </a:lnTo>
                  <a:lnTo>
                    <a:pt x="105728" y="7620"/>
                  </a:lnTo>
                  <a:lnTo>
                    <a:pt x="90488" y="1905"/>
                  </a:lnTo>
                  <a:lnTo>
                    <a:pt x="73343" y="0"/>
                  </a:lnTo>
                  <a:lnTo>
                    <a:pt x="57150" y="1905"/>
                  </a:lnTo>
                  <a:lnTo>
                    <a:pt x="41910" y="7620"/>
                  </a:lnTo>
                  <a:lnTo>
                    <a:pt x="27623" y="16192"/>
                  </a:lnTo>
                  <a:lnTo>
                    <a:pt x="16193" y="27622"/>
                  </a:lnTo>
                  <a:lnTo>
                    <a:pt x="6668" y="41910"/>
                  </a:lnTo>
                  <a:lnTo>
                    <a:pt x="1905" y="58103"/>
                  </a:lnTo>
                  <a:lnTo>
                    <a:pt x="0" y="74295"/>
                  </a:lnTo>
                  <a:lnTo>
                    <a:pt x="1905" y="90488"/>
                  </a:lnTo>
                  <a:lnTo>
                    <a:pt x="6668" y="105728"/>
                  </a:lnTo>
                  <a:lnTo>
                    <a:pt x="16193" y="120015"/>
                  </a:lnTo>
                  <a:lnTo>
                    <a:pt x="27623" y="132397"/>
                  </a:lnTo>
                  <a:lnTo>
                    <a:pt x="41910" y="140970"/>
                  </a:lnTo>
                  <a:lnTo>
                    <a:pt x="57150" y="145733"/>
                  </a:lnTo>
                  <a:lnTo>
                    <a:pt x="73343" y="147638"/>
                  </a:lnTo>
                  <a:lnTo>
                    <a:pt x="90488" y="145733"/>
                  </a:lnTo>
                  <a:lnTo>
                    <a:pt x="105728" y="140970"/>
                  </a:lnTo>
                  <a:lnTo>
                    <a:pt x="120015" y="132397"/>
                  </a:lnTo>
                  <a:lnTo>
                    <a:pt x="131445" y="120015"/>
                  </a:lnTo>
                  <a:lnTo>
                    <a:pt x="140018" y="105728"/>
                  </a:lnTo>
                  <a:lnTo>
                    <a:pt x="145733" y="90488"/>
                  </a:lnTo>
                  <a:lnTo>
                    <a:pt x="146685" y="88583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094672" y="2680335"/>
              <a:ext cx="145733" cy="148590"/>
            </a:xfrm>
            <a:custGeom>
              <a:avLst/>
              <a:gdLst/>
              <a:ahLst/>
              <a:cxnLst/>
              <a:rect l="l" t="t" r="r" b="b"/>
              <a:pathLst>
                <a:path w="145733" h="148590">
                  <a:moveTo>
                    <a:pt x="145733" y="60008"/>
                  </a:moveTo>
                  <a:lnTo>
                    <a:pt x="145733" y="58103"/>
                  </a:lnTo>
                  <a:lnTo>
                    <a:pt x="140018" y="42862"/>
                  </a:lnTo>
                  <a:lnTo>
                    <a:pt x="131445" y="28575"/>
                  </a:lnTo>
                  <a:lnTo>
                    <a:pt x="120015" y="17145"/>
                  </a:lnTo>
                  <a:lnTo>
                    <a:pt x="105728" y="7620"/>
                  </a:lnTo>
                  <a:lnTo>
                    <a:pt x="89535" y="1905"/>
                  </a:lnTo>
                  <a:lnTo>
                    <a:pt x="73343" y="0"/>
                  </a:lnTo>
                  <a:lnTo>
                    <a:pt x="57150" y="1905"/>
                  </a:lnTo>
                  <a:lnTo>
                    <a:pt x="40958" y="7620"/>
                  </a:lnTo>
                  <a:lnTo>
                    <a:pt x="27623" y="17145"/>
                  </a:lnTo>
                  <a:lnTo>
                    <a:pt x="15240" y="28575"/>
                  </a:lnTo>
                  <a:lnTo>
                    <a:pt x="6668" y="42862"/>
                  </a:lnTo>
                  <a:lnTo>
                    <a:pt x="953" y="58103"/>
                  </a:lnTo>
                  <a:lnTo>
                    <a:pt x="0" y="74295"/>
                  </a:lnTo>
                  <a:lnTo>
                    <a:pt x="953" y="90488"/>
                  </a:lnTo>
                  <a:lnTo>
                    <a:pt x="6668" y="106680"/>
                  </a:lnTo>
                  <a:lnTo>
                    <a:pt x="15240" y="120968"/>
                  </a:lnTo>
                  <a:lnTo>
                    <a:pt x="27623" y="132398"/>
                  </a:lnTo>
                  <a:lnTo>
                    <a:pt x="40958" y="140970"/>
                  </a:lnTo>
                  <a:lnTo>
                    <a:pt x="57150" y="146685"/>
                  </a:lnTo>
                  <a:lnTo>
                    <a:pt x="73343" y="148590"/>
                  </a:lnTo>
                  <a:lnTo>
                    <a:pt x="89535" y="146685"/>
                  </a:lnTo>
                  <a:lnTo>
                    <a:pt x="105728" y="140970"/>
                  </a:lnTo>
                  <a:lnTo>
                    <a:pt x="120015" y="132398"/>
                  </a:lnTo>
                  <a:lnTo>
                    <a:pt x="131445" y="120968"/>
                  </a:lnTo>
                  <a:lnTo>
                    <a:pt x="140018" y="106680"/>
                  </a:lnTo>
                  <a:lnTo>
                    <a:pt x="145733" y="90488"/>
                  </a:lnTo>
                  <a:lnTo>
                    <a:pt x="145733" y="88583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797492" y="2680335"/>
              <a:ext cx="145733" cy="148590"/>
            </a:xfrm>
            <a:custGeom>
              <a:avLst/>
              <a:gdLst/>
              <a:ahLst/>
              <a:cxnLst/>
              <a:rect l="l" t="t" r="r" b="b"/>
              <a:pathLst>
                <a:path w="145733" h="148590">
                  <a:moveTo>
                    <a:pt x="145733" y="60008"/>
                  </a:moveTo>
                  <a:lnTo>
                    <a:pt x="145733" y="58103"/>
                  </a:lnTo>
                  <a:lnTo>
                    <a:pt x="140017" y="42862"/>
                  </a:lnTo>
                  <a:lnTo>
                    <a:pt x="131445" y="28575"/>
                  </a:lnTo>
                  <a:lnTo>
                    <a:pt x="120015" y="17145"/>
                  </a:lnTo>
                  <a:lnTo>
                    <a:pt x="105728" y="7620"/>
                  </a:lnTo>
                  <a:lnTo>
                    <a:pt x="90488" y="1905"/>
                  </a:lnTo>
                  <a:lnTo>
                    <a:pt x="73342" y="0"/>
                  </a:lnTo>
                  <a:lnTo>
                    <a:pt x="57150" y="1905"/>
                  </a:lnTo>
                  <a:lnTo>
                    <a:pt x="40958" y="7620"/>
                  </a:lnTo>
                  <a:lnTo>
                    <a:pt x="27623" y="17145"/>
                  </a:lnTo>
                  <a:lnTo>
                    <a:pt x="15240" y="28575"/>
                  </a:lnTo>
                  <a:lnTo>
                    <a:pt x="6667" y="42862"/>
                  </a:lnTo>
                  <a:lnTo>
                    <a:pt x="1905" y="58103"/>
                  </a:lnTo>
                  <a:lnTo>
                    <a:pt x="0" y="74295"/>
                  </a:lnTo>
                  <a:lnTo>
                    <a:pt x="1905" y="90488"/>
                  </a:lnTo>
                  <a:lnTo>
                    <a:pt x="6667" y="106680"/>
                  </a:lnTo>
                  <a:lnTo>
                    <a:pt x="15240" y="120968"/>
                  </a:lnTo>
                  <a:lnTo>
                    <a:pt x="27623" y="132398"/>
                  </a:lnTo>
                  <a:lnTo>
                    <a:pt x="40958" y="140970"/>
                  </a:lnTo>
                  <a:lnTo>
                    <a:pt x="57150" y="146685"/>
                  </a:lnTo>
                  <a:lnTo>
                    <a:pt x="73342" y="148590"/>
                  </a:lnTo>
                  <a:lnTo>
                    <a:pt x="90488" y="146685"/>
                  </a:lnTo>
                  <a:lnTo>
                    <a:pt x="105728" y="140970"/>
                  </a:lnTo>
                  <a:lnTo>
                    <a:pt x="120015" y="132398"/>
                  </a:lnTo>
                  <a:lnTo>
                    <a:pt x="131445" y="120968"/>
                  </a:lnTo>
                  <a:lnTo>
                    <a:pt x="140017" y="106680"/>
                  </a:lnTo>
                  <a:lnTo>
                    <a:pt x="145733" y="90488"/>
                  </a:lnTo>
                  <a:lnTo>
                    <a:pt x="145733" y="88583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586990" y="2890838"/>
              <a:ext cx="145732" cy="147638"/>
            </a:xfrm>
            <a:custGeom>
              <a:avLst/>
              <a:gdLst/>
              <a:ahLst/>
              <a:cxnLst/>
              <a:rect l="l" t="t" r="r" b="b"/>
              <a:pathLst>
                <a:path w="145732" h="147638">
                  <a:moveTo>
                    <a:pt x="145732" y="60008"/>
                  </a:moveTo>
                  <a:lnTo>
                    <a:pt x="145732" y="58103"/>
                  </a:lnTo>
                  <a:lnTo>
                    <a:pt x="140017" y="41910"/>
                  </a:lnTo>
                  <a:lnTo>
                    <a:pt x="132397" y="27622"/>
                  </a:lnTo>
                  <a:lnTo>
                    <a:pt x="120015" y="16192"/>
                  </a:lnTo>
                  <a:lnTo>
                    <a:pt x="105727" y="7620"/>
                  </a:lnTo>
                  <a:lnTo>
                    <a:pt x="90488" y="1905"/>
                  </a:lnTo>
                  <a:lnTo>
                    <a:pt x="74295" y="0"/>
                  </a:lnTo>
                  <a:lnTo>
                    <a:pt x="58102" y="1905"/>
                  </a:lnTo>
                  <a:lnTo>
                    <a:pt x="41910" y="7620"/>
                  </a:lnTo>
                  <a:lnTo>
                    <a:pt x="27622" y="16192"/>
                  </a:lnTo>
                  <a:lnTo>
                    <a:pt x="16192" y="27622"/>
                  </a:lnTo>
                  <a:lnTo>
                    <a:pt x="7620" y="41910"/>
                  </a:lnTo>
                  <a:lnTo>
                    <a:pt x="1905" y="58103"/>
                  </a:lnTo>
                  <a:lnTo>
                    <a:pt x="0" y="74295"/>
                  </a:lnTo>
                  <a:lnTo>
                    <a:pt x="1905" y="90488"/>
                  </a:lnTo>
                  <a:lnTo>
                    <a:pt x="7620" y="105728"/>
                  </a:lnTo>
                  <a:lnTo>
                    <a:pt x="16192" y="120015"/>
                  </a:lnTo>
                  <a:lnTo>
                    <a:pt x="27622" y="132397"/>
                  </a:lnTo>
                  <a:lnTo>
                    <a:pt x="41910" y="140970"/>
                  </a:lnTo>
                  <a:lnTo>
                    <a:pt x="58102" y="145733"/>
                  </a:lnTo>
                  <a:lnTo>
                    <a:pt x="74295" y="147638"/>
                  </a:lnTo>
                  <a:lnTo>
                    <a:pt x="90488" y="145733"/>
                  </a:lnTo>
                  <a:lnTo>
                    <a:pt x="105727" y="140970"/>
                  </a:lnTo>
                  <a:lnTo>
                    <a:pt x="120015" y="132397"/>
                  </a:lnTo>
                  <a:lnTo>
                    <a:pt x="132397" y="120015"/>
                  </a:lnTo>
                  <a:lnTo>
                    <a:pt x="140017" y="105728"/>
                  </a:lnTo>
                  <a:lnTo>
                    <a:pt x="145732" y="90488"/>
                  </a:lnTo>
                  <a:lnTo>
                    <a:pt x="145732" y="88583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586990" y="3188018"/>
              <a:ext cx="145732" cy="147638"/>
            </a:xfrm>
            <a:custGeom>
              <a:avLst/>
              <a:gdLst/>
              <a:ahLst/>
              <a:cxnLst/>
              <a:rect l="l" t="t" r="r" b="b"/>
              <a:pathLst>
                <a:path w="145732" h="147638">
                  <a:moveTo>
                    <a:pt x="145732" y="60008"/>
                  </a:moveTo>
                  <a:lnTo>
                    <a:pt x="145732" y="57150"/>
                  </a:lnTo>
                  <a:lnTo>
                    <a:pt x="140017" y="41910"/>
                  </a:lnTo>
                  <a:lnTo>
                    <a:pt x="132397" y="27623"/>
                  </a:lnTo>
                  <a:lnTo>
                    <a:pt x="120015" y="16192"/>
                  </a:lnTo>
                  <a:lnTo>
                    <a:pt x="105727" y="7620"/>
                  </a:lnTo>
                  <a:lnTo>
                    <a:pt x="90488" y="1905"/>
                  </a:lnTo>
                  <a:lnTo>
                    <a:pt x="74295" y="0"/>
                  </a:lnTo>
                  <a:lnTo>
                    <a:pt x="58102" y="1905"/>
                  </a:lnTo>
                  <a:lnTo>
                    <a:pt x="41910" y="7620"/>
                  </a:lnTo>
                  <a:lnTo>
                    <a:pt x="27622" y="16192"/>
                  </a:lnTo>
                  <a:lnTo>
                    <a:pt x="16192" y="27623"/>
                  </a:lnTo>
                  <a:lnTo>
                    <a:pt x="7620" y="41910"/>
                  </a:lnTo>
                  <a:lnTo>
                    <a:pt x="1905" y="57150"/>
                  </a:lnTo>
                  <a:lnTo>
                    <a:pt x="0" y="74295"/>
                  </a:lnTo>
                  <a:lnTo>
                    <a:pt x="1905" y="90488"/>
                  </a:lnTo>
                  <a:lnTo>
                    <a:pt x="7620" y="105728"/>
                  </a:lnTo>
                  <a:lnTo>
                    <a:pt x="16192" y="120015"/>
                  </a:lnTo>
                  <a:lnTo>
                    <a:pt x="27622" y="131445"/>
                  </a:lnTo>
                  <a:lnTo>
                    <a:pt x="41910" y="140017"/>
                  </a:lnTo>
                  <a:lnTo>
                    <a:pt x="58102" y="145733"/>
                  </a:lnTo>
                  <a:lnTo>
                    <a:pt x="74295" y="147638"/>
                  </a:lnTo>
                  <a:lnTo>
                    <a:pt x="90488" y="145733"/>
                  </a:lnTo>
                  <a:lnTo>
                    <a:pt x="105727" y="140017"/>
                  </a:lnTo>
                  <a:lnTo>
                    <a:pt x="120015" y="131445"/>
                  </a:lnTo>
                  <a:lnTo>
                    <a:pt x="132397" y="120015"/>
                  </a:lnTo>
                  <a:lnTo>
                    <a:pt x="140017" y="105728"/>
                  </a:lnTo>
                  <a:lnTo>
                    <a:pt x="145732" y="90488"/>
                  </a:lnTo>
                  <a:lnTo>
                    <a:pt x="145732" y="8763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797492" y="3397568"/>
              <a:ext cx="145733" cy="148590"/>
            </a:xfrm>
            <a:custGeom>
              <a:avLst/>
              <a:gdLst/>
              <a:ahLst/>
              <a:cxnLst/>
              <a:rect l="l" t="t" r="r" b="b"/>
              <a:pathLst>
                <a:path w="145733" h="148590">
                  <a:moveTo>
                    <a:pt x="145733" y="60008"/>
                  </a:moveTo>
                  <a:lnTo>
                    <a:pt x="145733" y="58103"/>
                  </a:lnTo>
                  <a:lnTo>
                    <a:pt x="140017" y="42862"/>
                  </a:lnTo>
                  <a:lnTo>
                    <a:pt x="131445" y="28575"/>
                  </a:lnTo>
                  <a:lnTo>
                    <a:pt x="120015" y="16192"/>
                  </a:lnTo>
                  <a:lnTo>
                    <a:pt x="105728" y="7620"/>
                  </a:lnTo>
                  <a:lnTo>
                    <a:pt x="90488" y="1905"/>
                  </a:lnTo>
                  <a:lnTo>
                    <a:pt x="73342" y="0"/>
                  </a:lnTo>
                  <a:lnTo>
                    <a:pt x="57150" y="1905"/>
                  </a:lnTo>
                  <a:lnTo>
                    <a:pt x="40958" y="7620"/>
                  </a:lnTo>
                  <a:lnTo>
                    <a:pt x="27623" y="16192"/>
                  </a:lnTo>
                  <a:lnTo>
                    <a:pt x="15240" y="28575"/>
                  </a:lnTo>
                  <a:lnTo>
                    <a:pt x="6667" y="42862"/>
                  </a:lnTo>
                  <a:lnTo>
                    <a:pt x="1905" y="58103"/>
                  </a:lnTo>
                  <a:lnTo>
                    <a:pt x="0" y="74295"/>
                  </a:lnTo>
                  <a:lnTo>
                    <a:pt x="1905" y="90488"/>
                  </a:lnTo>
                  <a:lnTo>
                    <a:pt x="6667" y="106680"/>
                  </a:lnTo>
                  <a:lnTo>
                    <a:pt x="15240" y="120967"/>
                  </a:lnTo>
                  <a:lnTo>
                    <a:pt x="27623" y="132398"/>
                  </a:lnTo>
                  <a:lnTo>
                    <a:pt x="40958" y="140970"/>
                  </a:lnTo>
                  <a:lnTo>
                    <a:pt x="57150" y="146685"/>
                  </a:lnTo>
                  <a:lnTo>
                    <a:pt x="73342" y="148590"/>
                  </a:lnTo>
                  <a:lnTo>
                    <a:pt x="90488" y="146685"/>
                  </a:lnTo>
                  <a:lnTo>
                    <a:pt x="105728" y="140970"/>
                  </a:lnTo>
                  <a:lnTo>
                    <a:pt x="120015" y="132398"/>
                  </a:lnTo>
                  <a:lnTo>
                    <a:pt x="131445" y="120967"/>
                  </a:lnTo>
                  <a:lnTo>
                    <a:pt x="140017" y="106680"/>
                  </a:lnTo>
                  <a:lnTo>
                    <a:pt x="145733" y="90488"/>
                  </a:lnTo>
                  <a:lnTo>
                    <a:pt x="145733" y="88583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094672" y="3397568"/>
              <a:ext cx="145733" cy="148590"/>
            </a:xfrm>
            <a:custGeom>
              <a:avLst/>
              <a:gdLst/>
              <a:ahLst/>
              <a:cxnLst/>
              <a:rect l="l" t="t" r="r" b="b"/>
              <a:pathLst>
                <a:path w="145733" h="148590">
                  <a:moveTo>
                    <a:pt x="145733" y="60008"/>
                  </a:moveTo>
                  <a:lnTo>
                    <a:pt x="145733" y="58103"/>
                  </a:lnTo>
                  <a:lnTo>
                    <a:pt x="140018" y="42862"/>
                  </a:lnTo>
                  <a:lnTo>
                    <a:pt x="131445" y="28575"/>
                  </a:lnTo>
                  <a:lnTo>
                    <a:pt x="120015" y="16192"/>
                  </a:lnTo>
                  <a:lnTo>
                    <a:pt x="105728" y="7620"/>
                  </a:lnTo>
                  <a:lnTo>
                    <a:pt x="89535" y="1905"/>
                  </a:lnTo>
                  <a:lnTo>
                    <a:pt x="73343" y="0"/>
                  </a:lnTo>
                  <a:lnTo>
                    <a:pt x="57150" y="1905"/>
                  </a:lnTo>
                  <a:lnTo>
                    <a:pt x="40958" y="7620"/>
                  </a:lnTo>
                  <a:lnTo>
                    <a:pt x="27623" y="16192"/>
                  </a:lnTo>
                  <a:lnTo>
                    <a:pt x="15240" y="28575"/>
                  </a:lnTo>
                  <a:lnTo>
                    <a:pt x="6668" y="42862"/>
                  </a:lnTo>
                  <a:lnTo>
                    <a:pt x="953" y="58103"/>
                  </a:lnTo>
                  <a:lnTo>
                    <a:pt x="0" y="74295"/>
                  </a:lnTo>
                  <a:lnTo>
                    <a:pt x="953" y="90488"/>
                  </a:lnTo>
                  <a:lnTo>
                    <a:pt x="6668" y="106680"/>
                  </a:lnTo>
                  <a:lnTo>
                    <a:pt x="15240" y="120967"/>
                  </a:lnTo>
                  <a:lnTo>
                    <a:pt x="27623" y="132398"/>
                  </a:lnTo>
                  <a:lnTo>
                    <a:pt x="40958" y="140970"/>
                  </a:lnTo>
                  <a:lnTo>
                    <a:pt x="57150" y="146685"/>
                  </a:lnTo>
                  <a:lnTo>
                    <a:pt x="73343" y="148590"/>
                  </a:lnTo>
                  <a:lnTo>
                    <a:pt x="89535" y="146685"/>
                  </a:lnTo>
                  <a:lnTo>
                    <a:pt x="105728" y="140970"/>
                  </a:lnTo>
                  <a:lnTo>
                    <a:pt x="120015" y="132398"/>
                  </a:lnTo>
                  <a:lnTo>
                    <a:pt x="131445" y="120967"/>
                  </a:lnTo>
                  <a:lnTo>
                    <a:pt x="140018" y="106680"/>
                  </a:lnTo>
                  <a:lnTo>
                    <a:pt x="145733" y="90488"/>
                  </a:lnTo>
                  <a:lnTo>
                    <a:pt x="145733" y="88583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304222" y="3188018"/>
              <a:ext cx="146685" cy="147638"/>
            </a:xfrm>
            <a:custGeom>
              <a:avLst/>
              <a:gdLst/>
              <a:ahLst/>
              <a:cxnLst/>
              <a:rect l="l" t="t" r="r" b="b"/>
              <a:pathLst>
                <a:path w="146685" h="147638">
                  <a:moveTo>
                    <a:pt x="145733" y="60008"/>
                  </a:moveTo>
                  <a:lnTo>
                    <a:pt x="145733" y="57150"/>
                  </a:lnTo>
                  <a:lnTo>
                    <a:pt x="140018" y="41910"/>
                  </a:lnTo>
                  <a:lnTo>
                    <a:pt x="131445" y="27623"/>
                  </a:lnTo>
                  <a:lnTo>
                    <a:pt x="120015" y="16192"/>
                  </a:lnTo>
                  <a:lnTo>
                    <a:pt x="105728" y="7620"/>
                  </a:lnTo>
                  <a:lnTo>
                    <a:pt x="90488" y="1905"/>
                  </a:lnTo>
                  <a:lnTo>
                    <a:pt x="73343" y="0"/>
                  </a:lnTo>
                  <a:lnTo>
                    <a:pt x="57150" y="1905"/>
                  </a:lnTo>
                  <a:lnTo>
                    <a:pt x="41910" y="7620"/>
                  </a:lnTo>
                  <a:lnTo>
                    <a:pt x="27623" y="16192"/>
                  </a:lnTo>
                  <a:lnTo>
                    <a:pt x="16193" y="27623"/>
                  </a:lnTo>
                  <a:lnTo>
                    <a:pt x="6668" y="41910"/>
                  </a:lnTo>
                  <a:lnTo>
                    <a:pt x="1905" y="57150"/>
                  </a:lnTo>
                  <a:lnTo>
                    <a:pt x="0" y="74295"/>
                  </a:lnTo>
                  <a:lnTo>
                    <a:pt x="1905" y="90488"/>
                  </a:lnTo>
                  <a:lnTo>
                    <a:pt x="6668" y="105728"/>
                  </a:lnTo>
                  <a:lnTo>
                    <a:pt x="16193" y="120015"/>
                  </a:lnTo>
                  <a:lnTo>
                    <a:pt x="27623" y="131445"/>
                  </a:lnTo>
                  <a:lnTo>
                    <a:pt x="41910" y="140017"/>
                  </a:lnTo>
                  <a:lnTo>
                    <a:pt x="57150" y="145733"/>
                  </a:lnTo>
                  <a:lnTo>
                    <a:pt x="73343" y="147638"/>
                  </a:lnTo>
                  <a:lnTo>
                    <a:pt x="90488" y="145733"/>
                  </a:lnTo>
                  <a:lnTo>
                    <a:pt x="105728" y="140017"/>
                  </a:lnTo>
                  <a:lnTo>
                    <a:pt x="120015" y="131445"/>
                  </a:lnTo>
                  <a:lnTo>
                    <a:pt x="131445" y="120015"/>
                  </a:lnTo>
                  <a:lnTo>
                    <a:pt x="140018" y="105728"/>
                  </a:lnTo>
                  <a:lnTo>
                    <a:pt x="145733" y="90488"/>
                  </a:lnTo>
                  <a:lnTo>
                    <a:pt x="146685" y="8763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155758" y="3029902"/>
              <a:ext cx="164783" cy="166688"/>
            </a:xfrm>
            <a:custGeom>
              <a:avLst/>
              <a:gdLst/>
              <a:ahLst/>
              <a:cxnLst/>
              <a:rect l="l" t="t" r="r" b="b"/>
              <a:pathLst>
                <a:path w="164783" h="166688">
                  <a:moveTo>
                    <a:pt x="164783" y="69532"/>
                  </a:moveTo>
                  <a:lnTo>
                    <a:pt x="164783" y="64770"/>
                  </a:lnTo>
                  <a:lnTo>
                    <a:pt x="158115" y="47625"/>
                  </a:lnTo>
                  <a:lnTo>
                    <a:pt x="147638" y="31432"/>
                  </a:lnTo>
                  <a:lnTo>
                    <a:pt x="135255" y="18097"/>
                  </a:lnTo>
                  <a:lnTo>
                    <a:pt x="119062" y="8572"/>
                  </a:lnTo>
                  <a:lnTo>
                    <a:pt x="101917" y="2857"/>
                  </a:lnTo>
                  <a:lnTo>
                    <a:pt x="82867" y="0"/>
                  </a:lnTo>
                  <a:lnTo>
                    <a:pt x="64770" y="2857"/>
                  </a:lnTo>
                  <a:lnTo>
                    <a:pt x="46672" y="8572"/>
                  </a:lnTo>
                  <a:lnTo>
                    <a:pt x="31433" y="18097"/>
                  </a:lnTo>
                  <a:lnTo>
                    <a:pt x="18097" y="31432"/>
                  </a:lnTo>
                  <a:lnTo>
                    <a:pt x="8572" y="47625"/>
                  </a:lnTo>
                  <a:lnTo>
                    <a:pt x="1905" y="64770"/>
                  </a:lnTo>
                  <a:lnTo>
                    <a:pt x="0" y="83820"/>
                  </a:lnTo>
                  <a:lnTo>
                    <a:pt x="1905" y="101917"/>
                  </a:lnTo>
                  <a:lnTo>
                    <a:pt x="8572" y="119062"/>
                  </a:lnTo>
                  <a:lnTo>
                    <a:pt x="18097" y="135255"/>
                  </a:lnTo>
                  <a:lnTo>
                    <a:pt x="31433" y="148590"/>
                  </a:lnTo>
                  <a:lnTo>
                    <a:pt x="46672" y="158115"/>
                  </a:lnTo>
                  <a:lnTo>
                    <a:pt x="64770" y="164782"/>
                  </a:lnTo>
                  <a:lnTo>
                    <a:pt x="82867" y="166688"/>
                  </a:lnTo>
                  <a:lnTo>
                    <a:pt x="101917" y="164782"/>
                  </a:lnTo>
                  <a:lnTo>
                    <a:pt x="119062" y="158115"/>
                  </a:lnTo>
                  <a:lnTo>
                    <a:pt x="135255" y="148590"/>
                  </a:lnTo>
                  <a:lnTo>
                    <a:pt x="147638" y="135255"/>
                  </a:lnTo>
                  <a:lnTo>
                    <a:pt x="158115" y="119062"/>
                  </a:lnTo>
                  <a:lnTo>
                    <a:pt x="164783" y="101917"/>
                  </a:lnTo>
                  <a:lnTo>
                    <a:pt x="164783" y="9715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191952" y="3067050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0" y="0"/>
                  </a:moveTo>
                  <a:lnTo>
                    <a:pt x="93345" y="9334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191952" y="3067050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0" y="93345"/>
                  </a:moveTo>
                  <a:lnTo>
                    <a:pt x="9334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992880" y="2420302"/>
              <a:ext cx="163830" cy="166688"/>
            </a:xfrm>
            <a:custGeom>
              <a:avLst/>
              <a:gdLst/>
              <a:ahLst/>
              <a:cxnLst/>
              <a:rect l="l" t="t" r="r" b="b"/>
              <a:pathLst>
                <a:path w="163830" h="166688">
                  <a:moveTo>
                    <a:pt x="163830" y="69532"/>
                  </a:moveTo>
                  <a:lnTo>
                    <a:pt x="163830" y="64770"/>
                  </a:lnTo>
                  <a:lnTo>
                    <a:pt x="157162" y="47625"/>
                  </a:lnTo>
                  <a:lnTo>
                    <a:pt x="147638" y="31432"/>
                  </a:lnTo>
                  <a:lnTo>
                    <a:pt x="134303" y="18098"/>
                  </a:lnTo>
                  <a:lnTo>
                    <a:pt x="119062" y="8573"/>
                  </a:lnTo>
                  <a:lnTo>
                    <a:pt x="100965" y="1905"/>
                  </a:lnTo>
                  <a:lnTo>
                    <a:pt x="82867" y="0"/>
                  </a:lnTo>
                  <a:lnTo>
                    <a:pt x="63817" y="1905"/>
                  </a:lnTo>
                  <a:lnTo>
                    <a:pt x="46673" y="8573"/>
                  </a:lnTo>
                  <a:lnTo>
                    <a:pt x="30480" y="18098"/>
                  </a:lnTo>
                  <a:lnTo>
                    <a:pt x="18098" y="31432"/>
                  </a:lnTo>
                  <a:lnTo>
                    <a:pt x="7620" y="47625"/>
                  </a:lnTo>
                  <a:lnTo>
                    <a:pt x="1905" y="64770"/>
                  </a:lnTo>
                  <a:lnTo>
                    <a:pt x="0" y="82868"/>
                  </a:lnTo>
                  <a:lnTo>
                    <a:pt x="1905" y="101918"/>
                  </a:lnTo>
                  <a:lnTo>
                    <a:pt x="7620" y="119063"/>
                  </a:lnTo>
                  <a:lnTo>
                    <a:pt x="18098" y="135255"/>
                  </a:lnTo>
                  <a:lnTo>
                    <a:pt x="30480" y="148590"/>
                  </a:lnTo>
                  <a:lnTo>
                    <a:pt x="46673" y="158115"/>
                  </a:lnTo>
                  <a:lnTo>
                    <a:pt x="63817" y="163830"/>
                  </a:lnTo>
                  <a:lnTo>
                    <a:pt x="82867" y="166688"/>
                  </a:lnTo>
                  <a:lnTo>
                    <a:pt x="100965" y="163830"/>
                  </a:lnTo>
                  <a:lnTo>
                    <a:pt x="119062" y="158115"/>
                  </a:lnTo>
                  <a:lnTo>
                    <a:pt x="134303" y="148590"/>
                  </a:lnTo>
                  <a:lnTo>
                    <a:pt x="147638" y="135255"/>
                  </a:lnTo>
                  <a:lnTo>
                    <a:pt x="157162" y="119063"/>
                  </a:lnTo>
                  <a:lnTo>
                    <a:pt x="163830" y="101918"/>
                  </a:lnTo>
                  <a:lnTo>
                    <a:pt x="163830" y="9715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029075" y="2457450"/>
              <a:ext cx="92392" cy="92392"/>
            </a:xfrm>
            <a:custGeom>
              <a:avLst/>
              <a:gdLst/>
              <a:ahLst/>
              <a:cxnLst/>
              <a:rect l="l" t="t" r="r" b="b"/>
              <a:pathLst>
                <a:path w="92392" h="92392">
                  <a:moveTo>
                    <a:pt x="0" y="0"/>
                  </a:moveTo>
                  <a:lnTo>
                    <a:pt x="92392" y="9239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029075" y="2457450"/>
              <a:ext cx="92392" cy="92392"/>
            </a:xfrm>
            <a:custGeom>
              <a:avLst/>
              <a:gdLst/>
              <a:ahLst/>
              <a:cxnLst/>
              <a:rect l="l" t="t" r="r" b="b"/>
              <a:pathLst>
                <a:path w="92392" h="92392">
                  <a:moveTo>
                    <a:pt x="0" y="92392"/>
                  </a:moveTo>
                  <a:lnTo>
                    <a:pt x="92392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546158" y="1973580"/>
              <a:ext cx="164783" cy="166688"/>
            </a:xfrm>
            <a:custGeom>
              <a:avLst/>
              <a:gdLst/>
              <a:ahLst/>
              <a:cxnLst/>
              <a:rect l="l" t="t" r="r" b="b"/>
              <a:pathLst>
                <a:path w="164783" h="166688">
                  <a:moveTo>
                    <a:pt x="164783" y="69533"/>
                  </a:moveTo>
                  <a:lnTo>
                    <a:pt x="164783" y="64770"/>
                  </a:lnTo>
                  <a:lnTo>
                    <a:pt x="158115" y="47625"/>
                  </a:lnTo>
                  <a:lnTo>
                    <a:pt x="147638" y="31433"/>
                  </a:lnTo>
                  <a:lnTo>
                    <a:pt x="135255" y="18098"/>
                  </a:lnTo>
                  <a:lnTo>
                    <a:pt x="119062" y="8573"/>
                  </a:lnTo>
                  <a:lnTo>
                    <a:pt x="101917" y="2858"/>
                  </a:lnTo>
                  <a:lnTo>
                    <a:pt x="82867" y="0"/>
                  </a:lnTo>
                  <a:lnTo>
                    <a:pt x="64770" y="2858"/>
                  </a:lnTo>
                  <a:lnTo>
                    <a:pt x="46672" y="8573"/>
                  </a:lnTo>
                  <a:lnTo>
                    <a:pt x="31433" y="18098"/>
                  </a:lnTo>
                  <a:lnTo>
                    <a:pt x="18097" y="31433"/>
                  </a:lnTo>
                  <a:lnTo>
                    <a:pt x="7620" y="47625"/>
                  </a:lnTo>
                  <a:lnTo>
                    <a:pt x="1905" y="64770"/>
                  </a:lnTo>
                  <a:lnTo>
                    <a:pt x="0" y="83820"/>
                  </a:lnTo>
                  <a:lnTo>
                    <a:pt x="1905" y="101918"/>
                  </a:lnTo>
                  <a:lnTo>
                    <a:pt x="7620" y="119062"/>
                  </a:lnTo>
                  <a:lnTo>
                    <a:pt x="18097" y="135255"/>
                  </a:lnTo>
                  <a:lnTo>
                    <a:pt x="31433" y="148590"/>
                  </a:lnTo>
                  <a:lnTo>
                    <a:pt x="46672" y="158115"/>
                  </a:lnTo>
                  <a:lnTo>
                    <a:pt x="64770" y="164783"/>
                  </a:lnTo>
                  <a:lnTo>
                    <a:pt x="82867" y="166688"/>
                  </a:lnTo>
                  <a:lnTo>
                    <a:pt x="101917" y="164783"/>
                  </a:lnTo>
                  <a:lnTo>
                    <a:pt x="119062" y="158115"/>
                  </a:lnTo>
                  <a:lnTo>
                    <a:pt x="135255" y="148590"/>
                  </a:lnTo>
                  <a:lnTo>
                    <a:pt x="147638" y="135255"/>
                  </a:lnTo>
                  <a:lnTo>
                    <a:pt x="158115" y="119062"/>
                  </a:lnTo>
                  <a:lnTo>
                    <a:pt x="164783" y="101918"/>
                  </a:lnTo>
                  <a:lnTo>
                    <a:pt x="164783" y="9715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582352" y="2010728"/>
              <a:ext cx="93345" cy="92393"/>
            </a:xfrm>
            <a:custGeom>
              <a:avLst/>
              <a:gdLst/>
              <a:ahLst/>
              <a:cxnLst/>
              <a:rect l="l" t="t" r="r" b="b"/>
              <a:pathLst>
                <a:path w="93345" h="92393">
                  <a:moveTo>
                    <a:pt x="0" y="0"/>
                  </a:moveTo>
                  <a:lnTo>
                    <a:pt x="93345" y="92393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3582352" y="2010728"/>
              <a:ext cx="93345" cy="92393"/>
            </a:xfrm>
            <a:custGeom>
              <a:avLst/>
              <a:gdLst/>
              <a:ahLst/>
              <a:cxnLst/>
              <a:rect l="l" t="t" r="r" b="b"/>
              <a:pathLst>
                <a:path w="93345" h="92393">
                  <a:moveTo>
                    <a:pt x="0" y="92393"/>
                  </a:moveTo>
                  <a:lnTo>
                    <a:pt x="9334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936558" y="1810702"/>
              <a:ext cx="164783" cy="166688"/>
            </a:xfrm>
            <a:custGeom>
              <a:avLst/>
              <a:gdLst/>
              <a:ahLst/>
              <a:cxnLst/>
              <a:rect l="l" t="t" r="r" b="b"/>
              <a:pathLst>
                <a:path w="164783" h="166688">
                  <a:moveTo>
                    <a:pt x="164783" y="68580"/>
                  </a:moveTo>
                  <a:lnTo>
                    <a:pt x="163830" y="64770"/>
                  </a:lnTo>
                  <a:lnTo>
                    <a:pt x="158115" y="46673"/>
                  </a:lnTo>
                  <a:lnTo>
                    <a:pt x="147638" y="31433"/>
                  </a:lnTo>
                  <a:lnTo>
                    <a:pt x="135255" y="18098"/>
                  </a:lnTo>
                  <a:lnTo>
                    <a:pt x="119062" y="8573"/>
                  </a:lnTo>
                  <a:lnTo>
                    <a:pt x="101917" y="1905"/>
                  </a:lnTo>
                  <a:lnTo>
                    <a:pt x="82867" y="0"/>
                  </a:lnTo>
                  <a:lnTo>
                    <a:pt x="64770" y="1905"/>
                  </a:lnTo>
                  <a:lnTo>
                    <a:pt x="46672" y="8573"/>
                  </a:lnTo>
                  <a:lnTo>
                    <a:pt x="31433" y="18098"/>
                  </a:lnTo>
                  <a:lnTo>
                    <a:pt x="18097" y="31433"/>
                  </a:lnTo>
                  <a:lnTo>
                    <a:pt x="7620" y="46673"/>
                  </a:lnTo>
                  <a:lnTo>
                    <a:pt x="1905" y="64770"/>
                  </a:lnTo>
                  <a:lnTo>
                    <a:pt x="0" y="82868"/>
                  </a:lnTo>
                  <a:lnTo>
                    <a:pt x="1905" y="101918"/>
                  </a:lnTo>
                  <a:lnTo>
                    <a:pt x="7620" y="119062"/>
                  </a:lnTo>
                  <a:lnTo>
                    <a:pt x="18097" y="134302"/>
                  </a:lnTo>
                  <a:lnTo>
                    <a:pt x="31433" y="147638"/>
                  </a:lnTo>
                  <a:lnTo>
                    <a:pt x="46672" y="158115"/>
                  </a:lnTo>
                  <a:lnTo>
                    <a:pt x="64770" y="163830"/>
                  </a:lnTo>
                  <a:lnTo>
                    <a:pt x="82867" y="166688"/>
                  </a:lnTo>
                  <a:lnTo>
                    <a:pt x="101917" y="163830"/>
                  </a:lnTo>
                  <a:lnTo>
                    <a:pt x="119062" y="158115"/>
                  </a:lnTo>
                  <a:lnTo>
                    <a:pt x="135255" y="147638"/>
                  </a:lnTo>
                  <a:lnTo>
                    <a:pt x="147638" y="134302"/>
                  </a:lnTo>
                  <a:lnTo>
                    <a:pt x="158115" y="119062"/>
                  </a:lnTo>
                  <a:lnTo>
                    <a:pt x="163830" y="101918"/>
                  </a:lnTo>
                  <a:lnTo>
                    <a:pt x="164783" y="9715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972752" y="1846898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0" y="0"/>
                  </a:moveTo>
                  <a:lnTo>
                    <a:pt x="93345" y="9334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2972752" y="1846898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0" y="93345"/>
                  </a:moveTo>
                  <a:lnTo>
                    <a:pt x="9334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326958" y="1973580"/>
              <a:ext cx="164783" cy="166688"/>
            </a:xfrm>
            <a:custGeom>
              <a:avLst/>
              <a:gdLst/>
              <a:ahLst/>
              <a:cxnLst/>
              <a:rect l="l" t="t" r="r" b="b"/>
              <a:pathLst>
                <a:path w="164783" h="166688">
                  <a:moveTo>
                    <a:pt x="164783" y="69533"/>
                  </a:moveTo>
                  <a:lnTo>
                    <a:pt x="163830" y="64770"/>
                  </a:lnTo>
                  <a:lnTo>
                    <a:pt x="157162" y="47625"/>
                  </a:lnTo>
                  <a:lnTo>
                    <a:pt x="147638" y="31433"/>
                  </a:lnTo>
                  <a:lnTo>
                    <a:pt x="134302" y="18098"/>
                  </a:lnTo>
                  <a:lnTo>
                    <a:pt x="119062" y="8573"/>
                  </a:lnTo>
                  <a:lnTo>
                    <a:pt x="100965" y="2858"/>
                  </a:lnTo>
                  <a:lnTo>
                    <a:pt x="82867" y="0"/>
                  </a:lnTo>
                  <a:lnTo>
                    <a:pt x="64770" y="2858"/>
                  </a:lnTo>
                  <a:lnTo>
                    <a:pt x="46672" y="8573"/>
                  </a:lnTo>
                  <a:lnTo>
                    <a:pt x="31432" y="18098"/>
                  </a:lnTo>
                  <a:lnTo>
                    <a:pt x="18097" y="31433"/>
                  </a:lnTo>
                  <a:lnTo>
                    <a:pt x="7620" y="47625"/>
                  </a:lnTo>
                  <a:lnTo>
                    <a:pt x="1905" y="64770"/>
                  </a:lnTo>
                  <a:lnTo>
                    <a:pt x="0" y="83820"/>
                  </a:lnTo>
                  <a:lnTo>
                    <a:pt x="1905" y="101918"/>
                  </a:lnTo>
                  <a:lnTo>
                    <a:pt x="7620" y="119062"/>
                  </a:lnTo>
                  <a:lnTo>
                    <a:pt x="18097" y="135255"/>
                  </a:lnTo>
                  <a:lnTo>
                    <a:pt x="31432" y="148590"/>
                  </a:lnTo>
                  <a:lnTo>
                    <a:pt x="46672" y="158115"/>
                  </a:lnTo>
                  <a:lnTo>
                    <a:pt x="64770" y="164783"/>
                  </a:lnTo>
                  <a:lnTo>
                    <a:pt x="82867" y="166688"/>
                  </a:lnTo>
                  <a:lnTo>
                    <a:pt x="100965" y="164783"/>
                  </a:lnTo>
                  <a:lnTo>
                    <a:pt x="119062" y="158115"/>
                  </a:lnTo>
                  <a:lnTo>
                    <a:pt x="134302" y="148590"/>
                  </a:lnTo>
                  <a:lnTo>
                    <a:pt x="147638" y="135255"/>
                  </a:lnTo>
                  <a:lnTo>
                    <a:pt x="157162" y="119062"/>
                  </a:lnTo>
                  <a:lnTo>
                    <a:pt x="163830" y="101918"/>
                  </a:lnTo>
                  <a:lnTo>
                    <a:pt x="164783" y="9715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2363152" y="2010728"/>
              <a:ext cx="93345" cy="92393"/>
            </a:xfrm>
            <a:custGeom>
              <a:avLst/>
              <a:gdLst/>
              <a:ahLst/>
              <a:cxnLst/>
              <a:rect l="l" t="t" r="r" b="b"/>
              <a:pathLst>
                <a:path w="93345" h="92393">
                  <a:moveTo>
                    <a:pt x="0" y="0"/>
                  </a:moveTo>
                  <a:lnTo>
                    <a:pt x="93345" y="92393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2363152" y="2010728"/>
              <a:ext cx="93345" cy="92393"/>
            </a:xfrm>
            <a:custGeom>
              <a:avLst/>
              <a:gdLst/>
              <a:ahLst/>
              <a:cxnLst/>
              <a:rect l="l" t="t" r="r" b="b"/>
              <a:pathLst>
                <a:path w="93345" h="92393">
                  <a:moveTo>
                    <a:pt x="0" y="92393"/>
                  </a:moveTo>
                  <a:lnTo>
                    <a:pt x="9334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880235" y="2420302"/>
              <a:ext cx="164782" cy="166688"/>
            </a:xfrm>
            <a:custGeom>
              <a:avLst/>
              <a:gdLst/>
              <a:ahLst/>
              <a:cxnLst/>
              <a:rect l="l" t="t" r="r" b="b"/>
              <a:pathLst>
                <a:path w="164782" h="166688">
                  <a:moveTo>
                    <a:pt x="164782" y="68580"/>
                  </a:moveTo>
                  <a:lnTo>
                    <a:pt x="163830" y="64770"/>
                  </a:lnTo>
                  <a:lnTo>
                    <a:pt x="158115" y="47625"/>
                  </a:lnTo>
                  <a:lnTo>
                    <a:pt x="148590" y="31432"/>
                  </a:lnTo>
                  <a:lnTo>
                    <a:pt x="135255" y="18098"/>
                  </a:lnTo>
                  <a:lnTo>
                    <a:pt x="119062" y="8573"/>
                  </a:lnTo>
                  <a:lnTo>
                    <a:pt x="101917" y="1905"/>
                  </a:lnTo>
                  <a:lnTo>
                    <a:pt x="82867" y="0"/>
                  </a:lnTo>
                  <a:lnTo>
                    <a:pt x="64770" y="1905"/>
                  </a:lnTo>
                  <a:lnTo>
                    <a:pt x="47625" y="8573"/>
                  </a:lnTo>
                  <a:lnTo>
                    <a:pt x="31432" y="18098"/>
                  </a:lnTo>
                  <a:lnTo>
                    <a:pt x="18098" y="31432"/>
                  </a:lnTo>
                  <a:lnTo>
                    <a:pt x="7620" y="47625"/>
                  </a:lnTo>
                  <a:lnTo>
                    <a:pt x="1905" y="64770"/>
                  </a:lnTo>
                  <a:lnTo>
                    <a:pt x="0" y="82868"/>
                  </a:lnTo>
                  <a:lnTo>
                    <a:pt x="1905" y="101918"/>
                  </a:lnTo>
                  <a:lnTo>
                    <a:pt x="7620" y="119063"/>
                  </a:lnTo>
                  <a:lnTo>
                    <a:pt x="18098" y="135255"/>
                  </a:lnTo>
                  <a:lnTo>
                    <a:pt x="31432" y="148590"/>
                  </a:lnTo>
                  <a:lnTo>
                    <a:pt x="47625" y="158115"/>
                  </a:lnTo>
                  <a:lnTo>
                    <a:pt x="64770" y="163830"/>
                  </a:lnTo>
                  <a:lnTo>
                    <a:pt x="82867" y="166688"/>
                  </a:lnTo>
                  <a:lnTo>
                    <a:pt x="101917" y="163830"/>
                  </a:lnTo>
                  <a:lnTo>
                    <a:pt x="119062" y="158115"/>
                  </a:lnTo>
                  <a:lnTo>
                    <a:pt x="135255" y="148590"/>
                  </a:lnTo>
                  <a:lnTo>
                    <a:pt x="148590" y="135255"/>
                  </a:lnTo>
                  <a:lnTo>
                    <a:pt x="158115" y="119063"/>
                  </a:lnTo>
                  <a:lnTo>
                    <a:pt x="163830" y="101918"/>
                  </a:lnTo>
                  <a:lnTo>
                    <a:pt x="164782" y="9715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916430" y="2457450"/>
              <a:ext cx="93345" cy="92392"/>
            </a:xfrm>
            <a:custGeom>
              <a:avLst/>
              <a:gdLst/>
              <a:ahLst/>
              <a:cxnLst/>
              <a:rect l="l" t="t" r="r" b="b"/>
              <a:pathLst>
                <a:path w="93345" h="92392">
                  <a:moveTo>
                    <a:pt x="0" y="0"/>
                  </a:moveTo>
                  <a:lnTo>
                    <a:pt x="93345" y="9239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916430" y="2457450"/>
              <a:ext cx="93345" cy="92392"/>
            </a:xfrm>
            <a:custGeom>
              <a:avLst/>
              <a:gdLst/>
              <a:ahLst/>
              <a:cxnLst/>
              <a:rect l="l" t="t" r="r" b="b"/>
              <a:pathLst>
                <a:path w="93345" h="92392">
                  <a:moveTo>
                    <a:pt x="0" y="92392"/>
                  </a:moveTo>
                  <a:lnTo>
                    <a:pt x="9334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717358" y="3029902"/>
              <a:ext cx="164782" cy="166688"/>
            </a:xfrm>
            <a:custGeom>
              <a:avLst/>
              <a:gdLst/>
              <a:ahLst/>
              <a:cxnLst/>
              <a:rect l="l" t="t" r="r" b="b"/>
              <a:pathLst>
                <a:path w="164782" h="166688">
                  <a:moveTo>
                    <a:pt x="164782" y="69532"/>
                  </a:moveTo>
                  <a:lnTo>
                    <a:pt x="163830" y="64770"/>
                  </a:lnTo>
                  <a:lnTo>
                    <a:pt x="157162" y="47625"/>
                  </a:lnTo>
                  <a:lnTo>
                    <a:pt x="147638" y="31432"/>
                  </a:lnTo>
                  <a:lnTo>
                    <a:pt x="134302" y="18097"/>
                  </a:lnTo>
                  <a:lnTo>
                    <a:pt x="119062" y="8572"/>
                  </a:lnTo>
                  <a:lnTo>
                    <a:pt x="100965" y="2857"/>
                  </a:lnTo>
                  <a:lnTo>
                    <a:pt x="82867" y="0"/>
                  </a:lnTo>
                  <a:lnTo>
                    <a:pt x="64770" y="2857"/>
                  </a:lnTo>
                  <a:lnTo>
                    <a:pt x="46672" y="8572"/>
                  </a:lnTo>
                  <a:lnTo>
                    <a:pt x="31432" y="18097"/>
                  </a:lnTo>
                  <a:lnTo>
                    <a:pt x="17145" y="31432"/>
                  </a:lnTo>
                  <a:lnTo>
                    <a:pt x="7620" y="47625"/>
                  </a:lnTo>
                  <a:lnTo>
                    <a:pt x="1905" y="64770"/>
                  </a:lnTo>
                  <a:lnTo>
                    <a:pt x="0" y="83820"/>
                  </a:lnTo>
                  <a:lnTo>
                    <a:pt x="1905" y="101917"/>
                  </a:lnTo>
                  <a:lnTo>
                    <a:pt x="7620" y="119062"/>
                  </a:lnTo>
                  <a:lnTo>
                    <a:pt x="17145" y="135255"/>
                  </a:lnTo>
                  <a:lnTo>
                    <a:pt x="31432" y="148590"/>
                  </a:lnTo>
                  <a:lnTo>
                    <a:pt x="46672" y="158115"/>
                  </a:lnTo>
                  <a:lnTo>
                    <a:pt x="64770" y="164782"/>
                  </a:lnTo>
                  <a:lnTo>
                    <a:pt x="82867" y="166688"/>
                  </a:lnTo>
                  <a:lnTo>
                    <a:pt x="100965" y="164782"/>
                  </a:lnTo>
                  <a:lnTo>
                    <a:pt x="119062" y="158115"/>
                  </a:lnTo>
                  <a:lnTo>
                    <a:pt x="134302" y="148590"/>
                  </a:lnTo>
                  <a:lnTo>
                    <a:pt x="147638" y="135255"/>
                  </a:lnTo>
                  <a:lnTo>
                    <a:pt x="157162" y="119062"/>
                  </a:lnTo>
                  <a:lnTo>
                    <a:pt x="163830" y="101917"/>
                  </a:lnTo>
                  <a:lnTo>
                    <a:pt x="164782" y="9715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753552" y="3067050"/>
              <a:ext cx="92393" cy="93345"/>
            </a:xfrm>
            <a:custGeom>
              <a:avLst/>
              <a:gdLst/>
              <a:ahLst/>
              <a:cxnLst/>
              <a:rect l="l" t="t" r="r" b="b"/>
              <a:pathLst>
                <a:path w="92393" h="93345">
                  <a:moveTo>
                    <a:pt x="0" y="0"/>
                  </a:moveTo>
                  <a:lnTo>
                    <a:pt x="92393" y="9334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753552" y="3067050"/>
              <a:ext cx="92393" cy="93345"/>
            </a:xfrm>
            <a:custGeom>
              <a:avLst/>
              <a:gdLst/>
              <a:ahLst/>
              <a:cxnLst/>
              <a:rect l="l" t="t" r="r" b="b"/>
              <a:pathLst>
                <a:path w="92393" h="93345">
                  <a:moveTo>
                    <a:pt x="0" y="93345"/>
                  </a:moveTo>
                  <a:lnTo>
                    <a:pt x="92393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880235" y="3640455"/>
              <a:ext cx="164782" cy="165735"/>
            </a:xfrm>
            <a:custGeom>
              <a:avLst/>
              <a:gdLst/>
              <a:ahLst/>
              <a:cxnLst/>
              <a:rect l="l" t="t" r="r" b="b"/>
              <a:pathLst>
                <a:path w="164782" h="165735">
                  <a:moveTo>
                    <a:pt x="164782" y="68580"/>
                  </a:moveTo>
                  <a:lnTo>
                    <a:pt x="163830" y="64770"/>
                  </a:lnTo>
                  <a:lnTo>
                    <a:pt x="158115" y="46673"/>
                  </a:lnTo>
                  <a:lnTo>
                    <a:pt x="148590" y="31433"/>
                  </a:lnTo>
                  <a:lnTo>
                    <a:pt x="135255" y="18098"/>
                  </a:lnTo>
                  <a:lnTo>
                    <a:pt x="119062" y="7620"/>
                  </a:lnTo>
                  <a:lnTo>
                    <a:pt x="101917" y="1905"/>
                  </a:lnTo>
                  <a:lnTo>
                    <a:pt x="82867" y="0"/>
                  </a:lnTo>
                  <a:lnTo>
                    <a:pt x="64770" y="1905"/>
                  </a:lnTo>
                  <a:lnTo>
                    <a:pt x="47625" y="7620"/>
                  </a:lnTo>
                  <a:lnTo>
                    <a:pt x="31432" y="18098"/>
                  </a:lnTo>
                  <a:lnTo>
                    <a:pt x="18098" y="31433"/>
                  </a:lnTo>
                  <a:lnTo>
                    <a:pt x="7620" y="46673"/>
                  </a:lnTo>
                  <a:lnTo>
                    <a:pt x="1905" y="64770"/>
                  </a:lnTo>
                  <a:lnTo>
                    <a:pt x="0" y="82867"/>
                  </a:lnTo>
                  <a:lnTo>
                    <a:pt x="1905" y="100965"/>
                  </a:lnTo>
                  <a:lnTo>
                    <a:pt x="7620" y="119062"/>
                  </a:lnTo>
                  <a:lnTo>
                    <a:pt x="18098" y="134303"/>
                  </a:lnTo>
                  <a:lnTo>
                    <a:pt x="31432" y="147638"/>
                  </a:lnTo>
                  <a:lnTo>
                    <a:pt x="47625" y="158115"/>
                  </a:lnTo>
                  <a:lnTo>
                    <a:pt x="64770" y="163830"/>
                  </a:lnTo>
                  <a:lnTo>
                    <a:pt x="82867" y="165735"/>
                  </a:lnTo>
                  <a:lnTo>
                    <a:pt x="101917" y="163830"/>
                  </a:lnTo>
                  <a:lnTo>
                    <a:pt x="119062" y="158115"/>
                  </a:lnTo>
                  <a:lnTo>
                    <a:pt x="135255" y="147638"/>
                  </a:lnTo>
                  <a:lnTo>
                    <a:pt x="148590" y="134303"/>
                  </a:lnTo>
                  <a:lnTo>
                    <a:pt x="158115" y="119062"/>
                  </a:lnTo>
                  <a:lnTo>
                    <a:pt x="163830" y="100965"/>
                  </a:lnTo>
                  <a:lnTo>
                    <a:pt x="164782" y="9715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916430" y="3676650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0" y="0"/>
                  </a:moveTo>
                  <a:lnTo>
                    <a:pt x="93345" y="9334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916430" y="3676650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0" y="93345"/>
                  </a:moveTo>
                  <a:lnTo>
                    <a:pt x="9334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2326958" y="4086225"/>
              <a:ext cx="164783" cy="166688"/>
            </a:xfrm>
            <a:custGeom>
              <a:avLst/>
              <a:gdLst/>
              <a:ahLst/>
              <a:cxnLst/>
              <a:rect l="l" t="t" r="r" b="b"/>
              <a:pathLst>
                <a:path w="164783" h="166688">
                  <a:moveTo>
                    <a:pt x="164783" y="69533"/>
                  </a:moveTo>
                  <a:lnTo>
                    <a:pt x="163830" y="64770"/>
                  </a:lnTo>
                  <a:lnTo>
                    <a:pt x="157162" y="47625"/>
                  </a:lnTo>
                  <a:lnTo>
                    <a:pt x="147638" y="31433"/>
                  </a:lnTo>
                  <a:lnTo>
                    <a:pt x="134302" y="18097"/>
                  </a:lnTo>
                  <a:lnTo>
                    <a:pt x="119062" y="8572"/>
                  </a:lnTo>
                  <a:lnTo>
                    <a:pt x="100965" y="2858"/>
                  </a:lnTo>
                  <a:lnTo>
                    <a:pt x="82867" y="0"/>
                  </a:lnTo>
                  <a:lnTo>
                    <a:pt x="64770" y="2858"/>
                  </a:lnTo>
                  <a:lnTo>
                    <a:pt x="46672" y="8572"/>
                  </a:lnTo>
                  <a:lnTo>
                    <a:pt x="31432" y="18097"/>
                  </a:lnTo>
                  <a:lnTo>
                    <a:pt x="18097" y="31433"/>
                  </a:lnTo>
                  <a:lnTo>
                    <a:pt x="7620" y="47625"/>
                  </a:lnTo>
                  <a:lnTo>
                    <a:pt x="1905" y="64770"/>
                  </a:lnTo>
                  <a:lnTo>
                    <a:pt x="0" y="83820"/>
                  </a:lnTo>
                  <a:lnTo>
                    <a:pt x="1905" y="101917"/>
                  </a:lnTo>
                  <a:lnTo>
                    <a:pt x="7620" y="119062"/>
                  </a:lnTo>
                  <a:lnTo>
                    <a:pt x="18097" y="135255"/>
                  </a:lnTo>
                  <a:lnTo>
                    <a:pt x="31432" y="148590"/>
                  </a:lnTo>
                  <a:lnTo>
                    <a:pt x="46672" y="158115"/>
                  </a:lnTo>
                  <a:lnTo>
                    <a:pt x="64770" y="164783"/>
                  </a:lnTo>
                  <a:lnTo>
                    <a:pt x="82867" y="166688"/>
                  </a:lnTo>
                  <a:lnTo>
                    <a:pt x="100965" y="164783"/>
                  </a:lnTo>
                  <a:lnTo>
                    <a:pt x="119062" y="158115"/>
                  </a:lnTo>
                  <a:lnTo>
                    <a:pt x="134302" y="148590"/>
                  </a:lnTo>
                  <a:lnTo>
                    <a:pt x="147638" y="135255"/>
                  </a:lnTo>
                  <a:lnTo>
                    <a:pt x="157162" y="119062"/>
                  </a:lnTo>
                  <a:lnTo>
                    <a:pt x="163830" y="101917"/>
                  </a:lnTo>
                  <a:lnTo>
                    <a:pt x="164783" y="9810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2363152" y="4123372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0" y="0"/>
                  </a:moveTo>
                  <a:lnTo>
                    <a:pt x="93345" y="9334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2363152" y="4123372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0" y="93345"/>
                  </a:moveTo>
                  <a:lnTo>
                    <a:pt x="9334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2936558" y="4250055"/>
              <a:ext cx="164783" cy="166688"/>
            </a:xfrm>
            <a:custGeom>
              <a:avLst/>
              <a:gdLst/>
              <a:ahLst/>
              <a:cxnLst/>
              <a:rect l="l" t="t" r="r" b="b"/>
              <a:pathLst>
                <a:path w="164783" h="166688">
                  <a:moveTo>
                    <a:pt x="164783" y="68580"/>
                  </a:moveTo>
                  <a:lnTo>
                    <a:pt x="163830" y="64770"/>
                  </a:lnTo>
                  <a:lnTo>
                    <a:pt x="158115" y="46673"/>
                  </a:lnTo>
                  <a:lnTo>
                    <a:pt x="147638" y="31433"/>
                  </a:lnTo>
                  <a:lnTo>
                    <a:pt x="135255" y="18098"/>
                  </a:lnTo>
                  <a:lnTo>
                    <a:pt x="119062" y="8573"/>
                  </a:lnTo>
                  <a:lnTo>
                    <a:pt x="101917" y="1905"/>
                  </a:lnTo>
                  <a:lnTo>
                    <a:pt x="82867" y="0"/>
                  </a:lnTo>
                  <a:lnTo>
                    <a:pt x="64770" y="1905"/>
                  </a:lnTo>
                  <a:lnTo>
                    <a:pt x="46672" y="8573"/>
                  </a:lnTo>
                  <a:lnTo>
                    <a:pt x="31433" y="18098"/>
                  </a:lnTo>
                  <a:lnTo>
                    <a:pt x="18097" y="31433"/>
                  </a:lnTo>
                  <a:lnTo>
                    <a:pt x="7620" y="46673"/>
                  </a:lnTo>
                  <a:lnTo>
                    <a:pt x="1905" y="64770"/>
                  </a:lnTo>
                  <a:lnTo>
                    <a:pt x="0" y="82867"/>
                  </a:lnTo>
                  <a:lnTo>
                    <a:pt x="1905" y="101917"/>
                  </a:lnTo>
                  <a:lnTo>
                    <a:pt x="7620" y="119062"/>
                  </a:lnTo>
                  <a:lnTo>
                    <a:pt x="18097" y="135255"/>
                  </a:lnTo>
                  <a:lnTo>
                    <a:pt x="31433" y="148590"/>
                  </a:lnTo>
                  <a:lnTo>
                    <a:pt x="46672" y="158115"/>
                  </a:lnTo>
                  <a:lnTo>
                    <a:pt x="64770" y="163830"/>
                  </a:lnTo>
                  <a:lnTo>
                    <a:pt x="82867" y="166688"/>
                  </a:lnTo>
                  <a:lnTo>
                    <a:pt x="101917" y="163830"/>
                  </a:lnTo>
                  <a:lnTo>
                    <a:pt x="119062" y="158115"/>
                  </a:lnTo>
                  <a:lnTo>
                    <a:pt x="135255" y="148590"/>
                  </a:lnTo>
                  <a:lnTo>
                    <a:pt x="147638" y="135255"/>
                  </a:lnTo>
                  <a:lnTo>
                    <a:pt x="158115" y="119062"/>
                  </a:lnTo>
                  <a:lnTo>
                    <a:pt x="163830" y="101917"/>
                  </a:lnTo>
                  <a:lnTo>
                    <a:pt x="164783" y="9715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2972752" y="4286250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0" y="0"/>
                  </a:moveTo>
                  <a:lnTo>
                    <a:pt x="93345" y="9334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2972752" y="4286250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0" y="93345"/>
                  </a:moveTo>
                  <a:lnTo>
                    <a:pt x="9334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3546158" y="4086225"/>
              <a:ext cx="164783" cy="166688"/>
            </a:xfrm>
            <a:custGeom>
              <a:avLst/>
              <a:gdLst/>
              <a:ahLst/>
              <a:cxnLst/>
              <a:rect l="l" t="t" r="r" b="b"/>
              <a:pathLst>
                <a:path w="164783" h="166688">
                  <a:moveTo>
                    <a:pt x="164783" y="69533"/>
                  </a:moveTo>
                  <a:lnTo>
                    <a:pt x="164783" y="64770"/>
                  </a:lnTo>
                  <a:lnTo>
                    <a:pt x="158115" y="47625"/>
                  </a:lnTo>
                  <a:lnTo>
                    <a:pt x="147638" y="31433"/>
                  </a:lnTo>
                  <a:lnTo>
                    <a:pt x="135255" y="18097"/>
                  </a:lnTo>
                  <a:lnTo>
                    <a:pt x="119062" y="8572"/>
                  </a:lnTo>
                  <a:lnTo>
                    <a:pt x="101917" y="2858"/>
                  </a:lnTo>
                  <a:lnTo>
                    <a:pt x="82867" y="0"/>
                  </a:lnTo>
                  <a:lnTo>
                    <a:pt x="64770" y="2858"/>
                  </a:lnTo>
                  <a:lnTo>
                    <a:pt x="46672" y="8572"/>
                  </a:lnTo>
                  <a:lnTo>
                    <a:pt x="31433" y="18097"/>
                  </a:lnTo>
                  <a:lnTo>
                    <a:pt x="18097" y="31433"/>
                  </a:lnTo>
                  <a:lnTo>
                    <a:pt x="7620" y="47625"/>
                  </a:lnTo>
                  <a:lnTo>
                    <a:pt x="1905" y="64770"/>
                  </a:lnTo>
                  <a:lnTo>
                    <a:pt x="0" y="83820"/>
                  </a:lnTo>
                  <a:lnTo>
                    <a:pt x="1905" y="101917"/>
                  </a:lnTo>
                  <a:lnTo>
                    <a:pt x="7620" y="119062"/>
                  </a:lnTo>
                  <a:lnTo>
                    <a:pt x="18097" y="135255"/>
                  </a:lnTo>
                  <a:lnTo>
                    <a:pt x="31433" y="148590"/>
                  </a:lnTo>
                  <a:lnTo>
                    <a:pt x="46672" y="158115"/>
                  </a:lnTo>
                  <a:lnTo>
                    <a:pt x="64770" y="164783"/>
                  </a:lnTo>
                  <a:lnTo>
                    <a:pt x="82867" y="166688"/>
                  </a:lnTo>
                  <a:lnTo>
                    <a:pt x="101917" y="164783"/>
                  </a:lnTo>
                  <a:lnTo>
                    <a:pt x="119062" y="158115"/>
                  </a:lnTo>
                  <a:lnTo>
                    <a:pt x="135255" y="148590"/>
                  </a:lnTo>
                  <a:lnTo>
                    <a:pt x="147638" y="135255"/>
                  </a:lnTo>
                  <a:lnTo>
                    <a:pt x="158115" y="119062"/>
                  </a:lnTo>
                  <a:lnTo>
                    <a:pt x="164783" y="101917"/>
                  </a:lnTo>
                  <a:lnTo>
                    <a:pt x="164783" y="9810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3582352" y="4123372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0" y="0"/>
                  </a:moveTo>
                  <a:lnTo>
                    <a:pt x="93345" y="9334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3582352" y="4123372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0" y="93345"/>
                  </a:moveTo>
                  <a:lnTo>
                    <a:pt x="9334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3992880" y="3640455"/>
              <a:ext cx="163830" cy="165735"/>
            </a:xfrm>
            <a:custGeom>
              <a:avLst/>
              <a:gdLst/>
              <a:ahLst/>
              <a:cxnLst/>
              <a:rect l="l" t="t" r="r" b="b"/>
              <a:pathLst>
                <a:path w="163830" h="165735">
                  <a:moveTo>
                    <a:pt x="163830" y="68580"/>
                  </a:moveTo>
                  <a:lnTo>
                    <a:pt x="163830" y="64770"/>
                  </a:lnTo>
                  <a:lnTo>
                    <a:pt x="157162" y="46673"/>
                  </a:lnTo>
                  <a:lnTo>
                    <a:pt x="147638" y="31433"/>
                  </a:lnTo>
                  <a:lnTo>
                    <a:pt x="134303" y="18098"/>
                  </a:lnTo>
                  <a:lnTo>
                    <a:pt x="119062" y="7620"/>
                  </a:lnTo>
                  <a:lnTo>
                    <a:pt x="100965" y="1905"/>
                  </a:lnTo>
                  <a:lnTo>
                    <a:pt x="82867" y="0"/>
                  </a:lnTo>
                  <a:lnTo>
                    <a:pt x="63817" y="1905"/>
                  </a:lnTo>
                  <a:lnTo>
                    <a:pt x="46673" y="7620"/>
                  </a:lnTo>
                  <a:lnTo>
                    <a:pt x="30480" y="18098"/>
                  </a:lnTo>
                  <a:lnTo>
                    <a:pt x="18098" y="31433"/>
                  </a:lnTo>
                  <a:lnTo>
                    <a:pt x="7620" y="46673"/>
                  </a:lnTo>
                  <a:lnTo>
                    <a:pt x="1905" y="64770"/>
                  </a:lnTo>
                  <a:lnTo>
                    <a:pt x="0" y="82867"/>
                  </a:lnTo>
                  <a:lnTo>
                    <a:pt x="1905" y="100965"/>
                  </a:lnTo>
                  <a:lnTo>
                    <a:pt x="7620" y="119062"/>
                  </a:lnTo>
                  <a:lnTo>
                    <a:pt x="18098" y="134303"/>
                  </a:lnTo>
                  <a:lnTo>
                    <a:pt x="30480" y="147638"/>
                  </a:lnTo>
                  <a:lnTo>
                    <a:pt x="46673" y="158115"/>
                  </a:lnTo>
                  <a:lnTo>
                    <a:pt x="63817" y="163830"/>
                  </a:lnTo>
                  <a:lnTo>
                    <a:pt x="82867" y="165735"/>
                  </a:lnTo>
                  <a:lnTo>
                    <a:pt x="100965" y="163830"/>
                  </a:lnTo>
                  <a:lnTo>
                    <a:pt x="119062" y="158115"/>
                  </a:lnTo>
                  <a:lnTo>
                    <a:pt x="134303" y="147638"/>
                  </a:lnTo>
                  <a:lnTo>
                    <a:pt x="147638" y="134303"/>
                  </a:lnTo>
                  <a:lnTo>
                    <a:pt x="157162" y="119062"/>
                  </a:lnTo>
                  <a:lnTo>
                    <a:pt x="163830" y="100965"/>
                  </a:lnTo>
                  <a:lnTo>
                    <a:pt x="163830" y="9715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4029075" y="3676650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0" y="0"/>
                  </a:moveTo>
                  <a:lnTo>
                    <a:pt x="93345" y="9334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4029075" y="3676650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0" y="93345"/>
                  </a:moveTo>
                  <a:lnTo>
                    <a:pt x="9334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2497455" y="3113722"/>
              <a:ext cx="507683" cy="9525"/>
            </a:xfrm>
            <a:custGeom>
              <a:avLst/>
              <a:gdLst/>
              <a:ahLst/>
              <a:cxnLst/>
              <a:rect l="l" t="t" r="r" b="b"/>
              <a:pathLst>
                <a:path w="507683" h="9525">
                  <a:moveTo>
                    <a:pt x="507683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3030855" y="3122295"/>
              <a:ext cx="600075" cy="504825"/>
            </a:xfrm>
            <a:custGeom>
              <a:avLst/>
              <a:gdLst/>
              <a:ahLst/>
              <a:cxnLst/>
              <a:rect l="l" t="t" r="r" b="b"/>
              <a:pathLst>
                <a:path w="600075" h="504825">
                  <a:moveTo>
                    <a:pt x="0" y="0"/>
                  </a:moveTo>
                  <a:lnTo>
                    <a:pt x="600075" y="5048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2746058" y="3127058"/>
              <a:ext cx="269558" cy="1007745"/>
            </a:xfrm>
            <a:custGeom>
              <a:avLst/>
              <a:gdLst/>
              <a:ahLst/>
              <a:cxnLst/>
              <a:rect l="l" t="t" r="r" b="b"/>
              <a:pathLst>
                <a:path w="269558" h="1007745">
                  <a:moveTo>
                    <a:pt x="269558" y="0"/>
                  </a:moveTo>
                  <a:lnTo>
                    <a:pt x="0" y="10077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3549968" y="31089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3549968" y="31089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4086225" y="31089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4086225" y="31089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3828098" y="31089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3828098" y="31089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3155632" y="23079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2873692" y="23079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3447098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3447098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3347085" y="293465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3237548" y="27498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3237548" y="27498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3137535" y="272415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2940368" y="27498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2940368" y="27498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2840355" y="272415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2729865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2729865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2630805" y="293465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2729865" y="32575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2729865" y="32575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2630805" y="323183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2940368" y="34671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2940368" y="34671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2840355" y="344138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3237548" y="34671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3237548" y="34671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3137535" y="344138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3447098" y="32575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3447098" y="32575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3347085" y="323183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4317682" y="31089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4317682" y="31089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4177665" y="30518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4291012" y="31651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4177665" y="31651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4291012" y="30518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4153852" y="24984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4153852" y="24984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4013835" y="2442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4127182" y="25555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4013835" y="25555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4127182" y="2442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3708082" y="2052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3708082" y="2052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3568065" y="1995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3680460" y="21088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7" name="Ellipse 107"/>
            <p:cNvSpPr/>
            <p:nvPr/>
          </p:nvSpPr>
          <p:spPr>
            <a:xfrm>
              <a:off x="3568065" y="21088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8" name="Ellipse 108"/>
            <p:cNvSpPr/>
            <p:nvPr/>
          </p:nvSpPr>
          <p:spPr>
            <a:xfrm>
              <a:off x="3680460" y="1995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9" name="Ellipse 109"/>
            <p:cNvSpPr/>
            <p:nvPr/>
          </p:nvSpPr>
          <p:spPr>
            <a:xfrm>
              <a:off x="3097530" y="18888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3097530" y="18888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2958465" y="18326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3070860" y="19450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2958465" y="19450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4" name="Ellipse 114"/>
            <p:cNvSpPr/>
            <p:nvPr/>
          </p:nvSpPr>
          <p:spPr>
            <a:xfrm>
              <a:off x="3070860" y="18326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5" name="Ellipse 115"/>
            <p:cNvSpPr/>
            <p:nvPr/>
          </p:nvSpPr>
          <p:spPr>
            <a:xfrm>
              <a:off x="2487930" y="2052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6" name="Ellipse 116"/>
            <p:cNvSpPr/>
            <p:nvPr/>
          </p:nvSpPr>
          <p:spPr>
            <a:xfrm>
              <a:off x="2487930" y="2052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7" name="Ellipse 117"/>
            <p:cNvSpPr/>
            <p:nvPr/>
          </p:nvSpPr>
          <p:spPr>
            <a:xfrm>
              <a:off x="2347912" y="1995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8" name="Ellipse 118"/>
            <p:cNvSpPr/>
            <p:nvPr/>
          </p:nvSpPr>
          <p:spPr>
            <a:xfrm>
              <a:off x="2461260" y="21088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9" name="Ellipse 119"/>
            <p:cNvSpPr/>
            <p:nvPr/>
          </p:nvSpPr>
          <p:spPr>
            <a:xfrm>
              <a:off x="2347912" y="21088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0" name="Ellipse 120"/>
            <p:cNvSpPr/>
            <p:nvPr/>
          </p:nvSpPr>
          <p:spPr>
            <a:xfrm>
              <a:off x="2461260" y="1995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1" name="Ellipse 121"/>
            <p:cNvSpPr/>
            <p:nvPr/>
          </p:nvSpPr>
          <p:spPr>
            <a:xfrm>
              <a:off x="2042160" y="24984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2042160" y="24984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3" name="Ellipse 123"/>
            <p:cNvSpPr/>
            <p:nvPr/>
          </p:nvSpPr>
          <p:spPr>
            <a:xfrm>
              <a:off x="1902142" y="2442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4" name="Ellipse 124"/>
            <p:cNvSpPr/>
            <p:nvPr/>
          </p:nvSpPr>
          <p:spPr>
            <a:xfrm>
              <a:off x="2015490" y="25555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5" name="Ellipse 125"/>
            <p:cNvSpPr/>
            <p:nvPr/>
          </p:nvSpPr>
          <p:spPr>
            <a:xfrm>
              <a:off x="1902142" y="25555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6" name="Ellipse 126"/>
            <p:cNvSpPr/>
            <p:nvPr/>
          </p:nvSpPr>
          <p:spPr>
            <a:xfrm>
              <a:off x="2015490" y="24422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1878330" y="31089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1878330" y="31089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1738312" y="30518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0" name="Ellipse 130"/>
            <p:cNvSpPr/>
            <p:nvPr/>
          </p:nvSpPr>
          <p:spPr>
            <a:xfrm>
              <a:off x="1851660" y="31651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1" name="Ellipse 131"/>
            <p:cNvSpPr/>
            <p:nvPr/>
          </p:nvSpPr>
          <p:spPr>
            <a:xfrm>
              <a:off x="1738312" y="31651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2" name="Ellipse 132"/>
            <p:cNvSpPr/>
            <p:nvPr/>
          </p:nvSpPr>
          <p:spPr>
            <a:xfrm>
              <a:off x="1851660" y="30518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3" name="Ellipse 133"/>
            <p:cNvSpPr/>
            <p:nvPr/>
          </p:nvSpPr>
          <p:spPr>
            <a:xfrm>
              <a:off x="2042160" y="37185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4" name="Ellipse 134"/>
            <p:cNvSpPr/>
            <p:nvPr/>
          </p:nvSpPr>
          <p:spPr>
            <a:xfrm>
              <a:off x="2042160" y="37185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5" name="Ellipse 135"/>
            <p:cNvSpPr/>
            <p:nvPr/>
          </p:nvSpPr>
          <p:spPr>
            <a:xfrm>
              <a:off x="1902142" y="36623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6" name="Ellipse 136"/>
            <p:cNvSpPr/>
            <p:nvPr/>
          </p:nvSpPr>
          <p:spPr>
            <a:xfrm>
              <a:off x="2015490" y="37747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7" name="Ellipse 137"/>
            <p:cNvSpPr/>
            <p:nvPr/>
          </p:nvSpPr>
          <p:spPr>
            <a:xfrm>
              <a:off x="1902142" y="37747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8" name="Ellipse 138"/>
            <p:cNvSpPr/>
            <p:nvPr/>
          </p:nvSpPr>
          <p:spPr>
            <a:xfrm>
              <a:off x="2015490" y="36623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9" name="Ellipse 139"/>
            <p:cNvSpPr/>
            <p:nvPr/>
          </p:nvSpPr>
          <p:spPr>
            <a:xfrm>
              <a:off x="2487930" y="416528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0" name="Ellipse 140"/>
            <p:cNvSpPr/>
            <p:nvPr/>
          </p:nvSpPr>
          <p:spPr>
            <a:xfrm>
              <a:off x="2487930" y="416528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1" name="Ellipse 141"/>
            <p:cNvSpPr/>
            <p:nvPr/>
          </p:nvSpPr>
          <p:spPr>
            <a:xfrm>
              <a:off x="2347912" y="41081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2" name="Ellipse 142"/>
            <p:cNvSpPr/>
            <p:nvPr/>
          </p:nvSpPr>
          <p:spPr>
            <a:xfrm>
              <a:off x="2461260" y="42214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3" name="Ellipse 143"/>
            <p:cNvSpPr/>
            <p:nvPr/>
          </p:nvSpPr>
          <p:spPr>
            <a:xfrm>
              <a:off x="2347912" y="42214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4" name="Ellipse 144"/>
            <p:cNvSpPr/>
            <p:nvPr/>
          </p:nvSpPr>
          <p:spPr>
            <a:xfrm>
              <a:off x="2461260" y="41081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5" name="Ellipse 145"/>
            <p:cNvSpPr/>
            <p:nvPr/>
          </p:nvSpPr>
          <p:spPr>
            <a:xfrm>
              <a:off x="3097530" y="43281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6" name="Ellipse 146"/>
            <p:cNvSpPr/>
            <p:nvPr/>
          </p:nvSpPr>
          <p:spPr>
            <a:xfrm>
              <a:off x="3097530" y="43281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7" name="Ellipse 147"/>
            <p:cNvSpPr/>
            <p:nvPr/>
          </p:nvSpPr>
          <p:spPr>
            <a:xfrm>
              <a:off x="2958465" y="42719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8" name="Ellipse 148"/>
            <p:cNvSpPr/>
            <p:nvPr/>
          </p:nvSpPr>
          <p:spPr>
            <a:xfrm>
              <a:off x="3070860" y="43853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9" name="Ellipse 149"/>
            <p:cNvSpPr/>
            <p:nvPr/>
          </p:nvSpPr>
          <p:spPr>
            <a:xfrm>
              <a:off x="2958465" y="43853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0" name="Ellipse 150"/>
            <p:cNvSpPr/>
            <p:nvPr/>
          </p:nvSpPr>
          <p:spPr>
            <a:xfrm>
              <a:off x="3070860" y="42719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1" name="Ellipse 151"/>
            <p:cNvSpPr/>
            <p:nvPr/>
          </p:nvSpPr>
          <p:spPr>
            <a:xfrm>
              <a:off x="3708082" y="416528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2" name="Ellipse 152"/>
            <p:cNvSpPr/>
            <p:nvPr/>
          </p:nvSpPr>
          <p:spPr>
            <a:xfrm>
              <a:off x="3708082" y="416528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3" name="Ellipse 153"/>
            <p:cNvSpPr/>
            <p:nvPr/>
          </p:nvSpPr>
          <p:spPr>
            <a:xfrm>
              <a:off x="3568065" y="41081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4" name="Ellipse 154"/>
            <p:cNvSpPr/>
            <p:nvPr/>
          </p:nvSpPr>
          <p:spPr>
            <a:xfrm>
              <a:off x="3680460" y="42214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5" name="Ellipse 155"/>
            <p:cNvSpPr/>
            <p:nvPr/>
          </p:nvSpPr>
          <p:spPr>
            <a:xfrm>
              <a:off x="3568065" y="42214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6" name="Ellipse 156"/>
            <p:cNvSpPr/>
            <p:nvPr/>
          </p:nvSpPr>
          <p:spPr>
            <a:xfrm>
              <a:off x="3680460" y="41081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7" name="Ellipse 157"/>
            <p:cNvSpPr/>
            <p:nvPr/>
          </p:nvSpPr>
          <p:spPr>
            <a:xfrm>
              <a:off x="4153852" y="37185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8" name="Ellipse 158"/>
            <p:cNvSpPr/>
            <p:nvPr/>
          </p:nvSpPr>
          <p:spPr>
            <a:xfrm>
              <a:off x="4153852" y="37185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9" name="Ellipse 159"/>
            <p:cNvSpPr/>
            <p:nvPr/>
          </p:nvSpPr>
          <p:spPr>
            <a:xfrm>
              <a:off x="4013835" y="36623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0" name="Ellipse 160"/>
            <p:cNvSpPr/>
            <p:nvPr/>
          </p:nvSpPr>
          <p:spPr>
            <a:xfrm>
              <a:off x="4127182" y="37747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1" name="Ellipse 161"/>
            <p:cNvSpPr/>
            <p:nvPr/>
          </p:nvSpPr>
          <p:spPr>
            <a:xfrm>
              <a:off x="4013835" y="37747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2" name="Ellipse 162"/>
            <p:cNvSpPr/>
            <p:nvPr/>
          </p:nvSpPr>
          <p:spPr>
            <a:xfrm>
              <a:off x="4127182" y="36623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3" name="Ellipse 163"/>
            <p:cNvSpPr/>
            <p:nvPr/>
          </p:nvSpPr>
          <p:spPr>
            <a:xfrm>
              <a:off x="3014662" y="31089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4" name="Ellipse 164"/>
            <p:cNvSpPr/>
            <p:nvPr/>
          </p:nvSpPr>
          <p:spPr>
            <a:xfrm>
              <a:off x="2478405" y="31089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5" name="Ellipse 165"/>
            <p:cNvSpPr/>
            <p:nvPr/>
          </p:nvSpPr>
          <p:spPr>
            <a:xfrm>
              <a:off x="3014662" y="31089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6" name="Ellipse 166"/>
            <p:cNvSpPr/>
            <p:nvPr/>
          </p:nvSpPr>
          <p:spPr>
            <a:xfrm>
              <a:off x="3637598" y="36309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7" name="Ellipse 167"/>
            <p:cNvSpPr/>
            <p:nvPr/>
          </p:nvSpPr>
          <p:spPr>
            <a:xfrm>
              <a:off x="3014662" y="31089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8" name="Ellipse 168"/>
            <p:cNvSpPr/>
            <p:nvPr/>
          </p:nvSpPr>
          <p:spPr>
            <a:xfrm>
              <a:off x="2737485" y="41443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9" name="TextBox 169"/>
            <p:cNvSpPr txBox="1"/>
            <p:nvPr/>
          </p:nvSpPr>
          <p:spPr>
            <a:xfrm>
              <a:off x="2365831" y="295608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r₁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3521208" y="33370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2801124" y="381333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r₂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2805231" y="21202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</p:grpSp>
      <p:grpSp>
        <p:nvGrpSpPr>
          <p:cNvPr id="180" name="c1-callout-2"/>
          <p:cNvGrpSpPr/>
          <p:nvPr/>
        </p:nvGrpSpPr>
        <p:grpSpPr>
          <a:xfrm>
            <a:off x="533400" y="4896802"/>
            <a:ext cx="4977765" cy="1300162"/>
            <a:chOff x="533400" y="4896802"/>
            <a:chExt cx="4977765" cy="1300162"/>
          </a:xfrm>
        </p:grpSpPr>
        <p:sp>
          <p:nvSpPr>
            <p:cNvPr id="174" name="Rectangle 174"/>
            <p:cNvSpPr/>
            <p:nvPr/>
          </p:nvSpPr>
          <p:spPr>
            <a:xfrm>
              <a:off x="533400" y="4896802"/>
              <a:ext cx="4977765" cy="1300162"/>
            </a:xfrm>
            <a:prstGeom prst="roundRect">
              <a:avLst>
                <a:gd name="adj" fmla="val 8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8" name="Group 178"/>
            <p:cNvGrpSpPr/>
            <p:nvPr/>
          </p:nvGrpSpPr>
          <p:grpSpPr>
            <a:xfrm>
              <a:off x="738188" y="5447348"/>
              <a:ext cx="200026" cy="200025"/>
              <a:chOff x="738188" y="5447348"/>
              <a:chExt cx="200026" cy="200025"/>
            </a:xfrm>
          </p:grpSpPr>
          <p:sp>
            <p:nvSpPr>
              <p:cNvPr id="175" name="Freeform 175"/>
              <p:cNvSpPr/>
              <p:nvPr/>
            </p:nvSpPr>
            <p:spPr>
              <a:xfrm>
                <a:off x="738188" y="54473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6" name="Freeform 176"/>
              <p:cNvSpPr/>
              <p:nvPr/>
            </p:nvSpPr>
            <p:spPr>
              <a:xfrm>
                <a:off x="777926" y="54917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7" name="Freeform 177"/>
              <p:cNvSpPr/>
              <p:nvPr/>
            </p:nvSpPr>
            <p:spPr>
              <a:xfrm>
                <a:off x="812642" y="56029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79" name="TextBox 179"/>
            <p:cNvSpPr txBox="1"/>
            <p:nvPr/>
          </p:nvSpPr>
          <p:spPr>
            <a:xfrm>
              <a:off x="1040511" y="5316379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电流在环的内侧流出纸面，外侧流入纸面，所以环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 H 线沿逆时针方向。</a:t>
              </a:r>
            </a:p>
          </p:txBody>
        </p:sp>
      </p:grpSp>
      <p:grpSp>
        <p:nvGrpSpPr>
          <p:cNvPr id="194" name="c2-steps-1"/>
          <p:cNvGrpSpPr/>
          <p:nvPr/>
        </p:nvGrpSpPr>
        <p:grpSpPr>
          <a:xfrm>
            <a:off x="5815965" y="1533525"/>
            <a:ext cx="5614416" cy="2011108"/>
            <a:chOff x="5815965" y="1533525"/>
            <a:chExt cx="5614416" cy="2011108"/>
          </a:xfrm>
        </p:grpSpPr>
        <p:sp>
          <p:nvSpPr>
            <p:cNvPr id="181" name="Rectangle 181"/>
            <p:cNvSpPr/>
            <p:nvPr/>
          </p:nvSpPr>
          <p:spPr>
            <a:xfrm>
              <a:off x="5949315" y="167640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2" name="Ellipse 182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4" name="Ellipse 184"/>
            <p:cNvSpPr/>
            <p:nvPr/>
          </p:nvSpPr>
          <p:spPr>
            <a:xfrm>
              <a:off x="5815965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5" name="TextBox 185"/>
            <p:cNvSpPr txBox="1"/>
            <p:nvPr/>
          </p:nvSpPr>
          <p:spPr>
            <a:xfrm>
              <a:off x="5909589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6" name="Ellipse 186"/>
            <p:cNvSpPr/>
            <p:nvPr/>
          </p:nvSpPr>
          <p:spPr>
            <a:xfrm>
              <a:off x="5815965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7" name="TextBox 187"/>
            <p:cNvSpPr txBox="1"/>
            <p:nvPr/>
          </p:nvSpPr>
          <p:spPr>
            <a:xfrm>
              <a:off x="5909589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8" name="TextBox 188"/>
            <p:cNvSpPr txBox="1"/>
            <p:nvPr/>
          </p:nvSpPr>
          <p:spPr>
            <a:xfrm>
              <a:off x="6227826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对称性</a:t>
              </a:r>
            </a:p>
          </p:txBody>
        </p:sp>
        <p:sp>
          <p:nvSpPr>
            <p:cNvPr id="189" name="TextBox 189"/>
            <p:cNvSpPr txBox="1"/>
            <p:nvPr/>
          </p:nvSpPr>
          <p:spPr>
            <a:xfrm>
              <a:off x="6228969" y="1846898"/>
              <a:ext cx="32613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线是与环同心的圆，同一个圆上 H 大小相同</a:t>
              </a:r>
            </a:p>
          </p:txBody>
        </p:sp>
        <p:sp>
          <p:nvSpPr>
            <p:cNvPr id="190" name="TextBox 190"/>
            <p:cNvSpPr txBox="1"/>
            <p:nvPr/>
          </p:nvSpPr>
          <p:spPr>
            <a:xfrm>
              <a:off x="6227826" y="2187416"/>
              <a:ext cx="14706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环内 r₁ &lt; r &lt; r₂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6228969" y="2467927"/>
              <a:ext cx="3610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取半径 r 的圆为回路，套住 N 根导线：H·2πr = NI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6227826" y="28084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环外</a:t>
              </a:r>
            </a:p>
          </p:txBody>
        </p:sp>
        <p:sp>
          <p:nvSpPr>
            <p:cNvPr id="193" name="TextBox 193"/>
            <p:cNvSpPr txBox="1"/>
            <p:nvPr/>
          </p:nvSpPr>
          <p:spPr>
            <a:xfrm>
              <a:off x="6228969" y="3088957"/>
              <a:ext cx="52014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&lt; r₁ 时回路里没有电流；r &gt; r₂ 时 N 根向上、N 根向下，代数和为 0。两种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 H 都为 0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formula182"/>
              <p:cNvSpPr txBox="1">
                <a:spLocks noGrp="1"/>
              </p:cNvSpPr>
              <p:nvPr/>
            </p:nvSpPr>
            <p:spPr>
              <a:xfrm>
                <a:off x="5815965" y="3720465"/>
                <a:ext cx="5842635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NI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2πr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μNI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2πr</m:t>
                          </m:r>
                        </m:den>
                      </m:f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02" name="c2-card-3"/>
          <p:cNvGrpSpPr/>
          <p:nvPr/>
        </p:nvGrpSpPr>
        <p:grpSpPr>
          <a:xfrm>
            <a:off x="5815965" y="4420552"/>
            <a:ext cx="5842635" cy="1777365"/>
            <a:chOff x="5815965" y="4420552"/>
            <a:chExt cx="5842635" cy="1777365"/>
          </a:xfrm>
        </p:grpSpPr>
        <p:sp>
          <p:nvSpPr>
            <p:cNvPr id="196" name="Rectangle 196"/>
            <p:cNvSpPr/>
            <p:nvPr/>
          </p:nvSpPr>
          <p:spPr>
            <a:xfrm>
              <a:off x="5815965" y="4420552"/>
              <a:ext cx="5842635" cy="1777365"/>
            </a:xfrm>
            <a:prstGeom prst="roundRect">
              <a:avLst>
                <a:gd name="adj" fmla="val 75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7" name="Rectangle 197"/>
            <p:cNvSpPr/>
            <p:nvPr/>
          </p:nvSpPr>
          <p:spPr>
            <a:xfrm>
              <a:off x="5825490" y="4553902"/>
              <a:ext cx="47625" cy="15106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8" name="Rectangle 198"/>
            <p:cNvSpPr/>
            <p:nvPr/>
          </p:nvSpPr>
          <p:spPr>
            <a:xfrm>
              <a:off x="6057900" y="462438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9" name="TextBox 199"/>
            <p:cNvSpPr txBox="1"/>
            <p:nvPr/>
          </p:nvSpPr>
          <p:spPr>
            <a:xfrm>
              <a:off x="6139256" y="46601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细环近似</a:t>
              </a:r>
            </a:p>
          </p:txBody>
        </p:sp>
        <p:sp>
          <p:nvSpPr>
            <p:cNvPr id="200" name="TextBox 200"/>
            <p:cNvSpPr txBox="1"/>
            <p:nvPr/>
          </p:nvSpPr>
          <p:spPr>
            <a:xfrm>
              <a:off x="6050661" y="4997291"/>
              <a:ext cx="508203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环的截面很细时，环内各处 r 近似相同，2πr 就是环的平均周长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l：B = μNI/l = μnI，与长直螺线管相同。</a:t>
              </a:r>
            </a:p>
          </p:txBody>
        </p:sp>
        <p:sp>
          <p:nvSpPr>
            <p:cNvPr id="201" name="TextBox 201"/>
            <p:cNvSpPr txBox="1"/>
            <p:nvPr/>
          </p:nvSpPr>
          <p:spPr>
            <a:xfrm>
              <a:off x="6051804" y="5585460"/>
              <a:ext cx="50413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小例：N = 800、I = 2 A，真空中 r = 10 cm 处 B = μ₀NI/(2πr) = 3.2×10⁻³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T。</a:t>
              </a:r>
            </a:p>
          </p:txBody>
        </p:sp>
      </p:grpSp>
      <p:grpSp>
        <p:nvGrpSpPr>
          <p:cNvPr id="20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03" name="TextBox 20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204" name="TextBox 20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安培环路定理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应用三：无限长载流圆柱导体内外的磁场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201869" cy="2632139"/>
            <a:chOff x="533400" y="1533525"/>
            <a:chExt cx="5201869" cy="263213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0831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61664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690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47888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线是以轴为圆心的同心圆，取半径 r 的圆为回路：∮H·dl = H·2πr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7416"/>
              <a:ext cx="4788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&gt; 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7927"/>
              <a:ext cx="32422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包围全部电流：H = I/(2πr)，B = μ₀I/(2πr)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808446"/>
              <a:ext cx="4788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&lt; 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088957"/>
              <a:ext cx="42793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电流在截面上均匀分布，包围 I·πr²/(πR²) = Ir²/R²，所以 H =</a:t>
              </a:r>
              <a:br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Ir/(2πR²)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650456"/>
              <a:ext cx="9593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导体内的 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930968"/>
              <a:ext cx="43895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μIr/(2πR²)，μ 是导体材料的磁导率，一般导体取 μ ≈ μ₀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341495"/>
            <a:ext cx="5410200" cy="1088708"/>
            <a:chOff x="533400" y="4341495"/>
            <a:chExt cx="5410200" cy="1088708"/>
          </a:xfrm>
        </p:grpSpPr>
        <p:sp>
          <p:nvSpPr>
            <p:cNvPr id="25" name="Rectangle 25"/>
            <p:cNvSpPr/>
            <p:nvPr/>
          </p:nvSpPr>
          <p:spPr>
            <a:xfrm>
              <a:off x="533400" y="4341495"/>
              <a:ext cx="5410200" cy="1088708"/>
            </a:xfrm>
            <a:prstGeom prst="roundRect">
              <a:avLst>
                <a:gd name="adj" fmla="val 104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4786315"/>
              <a:ext cx="200023" cy="200023"/>
              <a:chOff x="738188" y="4786315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7863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48529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511" y="4655344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圆柱外的磁场与电流全部集中在轴线上时一样；圆柱内的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磁场与 r 成正比，轴线上为零。</a:t>
              </a:r>
            </a:p>
          </p:txBody>
        </p:sp>
      </p:grpSp>
      <p:grpSp>
        <p:nvGrpSpPr>
          <p:cNvPr id="55" name="g_cylbr"/>
          <p:cNvGrpSpPr/>
          <p:nvPr/>
        </p:nvGrpSpPr>
        <p:grpSpPr>
          <a:xfrm>
            <a:off x="6417659" y="1611630"/>
            <a:ext cx="5044726" cy="2108454"/>
            <a:chOff x="6417659" y="1611630"/>
            <a:chExt cx="5044726" cy="2108454"/>
          </a:xfrm>
        </p:grpSpPr>
        <p:sp>
          <p:nvSpPr>
            <p:cNvPr id="31" name="Freeform 31"/>
            <p:cNvSpPr/>
            <p:nvPr/>
          </p:nvSpPr>
          <p:spPr>
            <a:xfrm>
              <a:off x="6805612" y="3418522"/>
              <a:ext cx="4542473" cy="9525"/>
            </a:xfrm>
            <a:custGeom>
              <a:avLst/>
              <a:gdLst/>
              <a:ahLst/>
              <a:cxnLst/>
              <a:rect l="l" t="t" r="r" b="b"/>
              <a:pathLst>
                <a:path w="4542473" h="9525">
                  <a:moveTo>
                    <a:pt x="0" y="0"/>
                  </a:moveTo>
                  <a:lnTo>
                    <a:pt x="4542473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1348085" y="33708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791325" y="1725930"/>
              <a:ext cx="9525" cy="1678305"/>
            </a:xfrm>
            <a:custGeom>
              <a:avLst/>
              <a:gdLst/>
              <a:ahLst/>
              <a:cxnLst/>
              <a:rect l="l" t="t" r="r" b="b"/>
              <a:pathLst>
                <a:path w="9525" h="1678305">
                  <a:moveTo>
                    <a:pt x="0" y="167830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743700" y="1630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799898" y="1940242"/>
              <a:ext cx="4411980" cy="1466850"/>
            </a:xfrm>
            <a:custGeom>
              <a:avLst/>
              <a:gdLst/>
              <a:ahLst/>
              <a:cxnLst/>
              <a:rect l="l" t="t" r="r" b="b"/>
              <a:pathLst>
                <a:path w="4411980" h="1466850">
                  <a:moveTo>
                    <a:pt x="0" y="1466850"/>
                  </a:moveTo>
                  <a:lnTo>
                    <a:pt x="28575" y="1428750"/>
                  </a:lnTo>
                  <a:lnTo>
                    <a:pt x="65722" y="1379220"/>
                  </a:lnTo>
                  <a:lnTo>
                    <a:pt x="102870" y="1329690"/>
                  </a:lnTo>
                  <a:lnTo>
                    <a:pt x="139065" y="1281112"/>
                  </a:lnTo>
                  <a:lnTo>
                    <a:pt x="176212" y="1231582"/>
                  </a:lnTo>
                  <a:lnTo>
                    <a:pt x="213360" y="1182053"/>
                  </a:lnTo>
                  <a:lnTo>
                    <a:pt x="250508" y="1132523"/>
                  </a:lnTo>
                  <a:lnTo>
                    <a:pt x="286703" y="1083945"/>
                  </a:lnTo>
                  <a:lnTo>
                    <a:pt x="324803" y="1034415"/>
                  </a:lnTo>
                  <a:lnTo>
                    <a:pt x="360997" y="984885"/>
                  </a:lnTo>
                  <a:lnTo>
                    <a:pt x="398145" y="935355"/>
                  </a:lnTo>
                  <a:lnTo>
                    <a:pt x="435293" y="886778"/>
                  </a:lnTo>
                  <a:lnTo>
                    <a:pt x="472440" y="837248"/>
                  </a:lnTo>
                  <a:lnTo>
                    <a:pt x="508635" y="787717"/>
                  </a:lnTo>
                  <a:lnTo>
                    <a:pt x="545783" y="738188"/>
                  </a:lnTo>
                  <a:lnTo>
                    <a:pt x="582930" y="689610"/>
                  </a:lnTo>
                  <a:lnTo>
                    <a:pt x="620078" y="640080"/>
                  </a:lnTo>
                  <a:lnTo>
                    <a:pt x="656272" y="590550"/>
                  </a:lnTo>
                  <a:lnTo>
                    <a:pt x="694372" y="541020"/>
                  </a:lnTo>
                  <a:lnTo>
                    <a:pt x="730568" y="492443"/>
                  </a:lnTo>
                  <a:lnTo>
                    <a:pt x="767715" y="442912"/>
                  </a:lnTo>
                  <a:lnTo>
                    <a:pt x="804862" y="393383"/>
                  </a:lnTo>
                  <a:lnTo>
                    <a:pt x="842010" y="344805"/>
                  </a:lnTo>
                  <a:lnTo>
                    <a:pt x="878205" y="295275"/>
                  </a:lnTo>
                  <a:lnTo>
                    <a:pt x="915353" y="245745"/>
                  </a:lnTo>
                  <a:lnTo>
                    <a:pt x="952500" y="196215"/>
                  </a:lnTo>
                  <a:lnTo>
                    <a:pt x="989647" y="147638"/>
                  </a:lnTo>
                  <a:lnTo>
                    <a:pt x="1026795" y="98108"/>
                  </a:lnTo>
                  <a:lnTo>
                    <a:pt x="1062990" y="48578"/>
                  </a:lnTo>
                  <a:lnTo>
                    <a:pt x="1100138" y="0"/>
                  </a:lnTo>
                  <a:lnTo>
                    <a:pt x="1137285" y="47625"/>
                  </a:lnTo>
                  <a:lnTo>
                    <a:pt x="1174433" y="92393"/>
                  </a:lnTo>
                  <a:lnTo>
                    <a:pt x="1211580" y="134303"/>
                  </a:lnTo>
                  <a:lnTo>
                    <a:pt x="1247775" y="173355"/>
                  </a:lnTo>
                  <a:lnTo>
                    <a:pt x="1284922" y="210503"/>
                  </a:lnTo>
                  <a:lnTo>
                    <a:pt x="1322070" y="245745"/>
                  </a:lnTo>
                  <a:lnTo>
                    <a:pt x="1359218" y="279083"/>
                  </a:lnTo>
                  <a:lnTo>
                    <a:pt x="1396365" y="310515"/>
                  </a:lnTo>
                  <a:lnTo>
                    <a:pt x="1432560" y="340995"/>
                  </a:lnTo>
                  <a:lnTo>
                    <a:pt x="1469708" y="369570"/>
                  </a:lnTo>
                  <a:lnTo>
                    <a:pt x="1506855" y="396240"/>
                  </a:lnTo>
                  <a:lnTo>
                    <a:pt x="1544003" y="421958"/>
                  </a:lnTo>
                  <a:lnTo>
                    <a:pt x="1580197" y="446723"/>
                  </a:lnTo>
                  <a:lnTo>
                    <a:pt x="1618297" y="469583"/>
                  </a:lnTo>
                  <a:lnTo>
                    <a:pt x="1654493" y="492443"/>
                  </a:lnTo>
                  <a:lnTo>
                    <a:pt x="1691640" y="513398"/>
                  </a:lnTo>
                  <a:lnTo>
                    <a:pt x="1728788" y="534353"/>
                  </a:lnTo>
                  <a:lnTo>
                    <a:pt x="1765935" y="554355"/>
                  </a:lnTo>
                  <a:lnTo>
                    <a:pt x="1802130" y="572453"/>
                  </a:lnTo>
                  <a:lnTo>
                    <a:pt x="1839278" y="590550"/>
                  </a:lnTo>
                  <a:lnTo>
                    <a:pt x="1876425" y="608648"/>
                  </a:lnTo>
                  <a:lnTo>
                    <a:pt x="1913572" y="624840"/>
                  </a:lnTo>
                  <a:lnTo>
                    <a:pt x="1949768" y="641033"/>
                  </a:lnTo>
                  <a:lnTo>
                    <a:pt x="1987868" y="656273"/>
                  </a:lnTo>
                  <a:lnTo>
                    <a:pt x="2024062" y="671512"/>
                  </a:lnTo>
                  <a:lnTo>
                    <a:pt x="2061210" y="685800"/>
                  </a:lnTo>
                  <a:lnTo>
                    <a:pt x="2098358" y="700088"/>
                  </a:lnTo>
                  <a:lnTo>
                    <a:pt x="2135505" y="713423"/>
                  </a:lnTo>
                  <a:lnTo>
                    <a:pt x="2171700" y="725805"/>
                  </a:lnTo>
                  <a:lnTo>
                    <a:pt x="2208848" y="738188"/>
                  </a:lnTo>
                  <a:lnTo>
                    <a:pt x="2245995" y="750570"/>
                  </a:lnTo>
                  <a:lnTo>
                    <a:pt x="2283143" y="762953"/>
                  </a:lnTo>
                  <a:lnTo>
                    <a:pt x="2319338" y="773430"/>
                  </a:lnTo>
                  <a:lnTo>
                    <a:pt x="2357438" y="784860"/>
                  </a:lnTo>
                  <a:lnTo>
                    <a:pt x="2393633" y="795338"/>
                  </a:lnTo>
                  <a:lnTo>
                    <a:pt x="2430780" y="805815"/>
                  </a:lnTo>
                  <a:lnTo>
                    <a:pt x="2467928" y="816292"/>
                  </a:lnTo>
                  <a:lnTo>
                    <a:pt x="2505075" y="825817"/>
                  </a:lnTo>
                  <a:lnTo>
                    <a:pt x="2541270" y="835342"/>
                  </a:lnTo>
                  <a:lnTo>
                    <a:pt x="2578418" y="843915"/>
                  </a:lnTo>
                  <a:lnTo>
                    <a:pt x="2615565" y="853440"/>
                  </a:lnTo>
                  <a:lnTo>
                    <a:pt x="2652712" y="862012"/>
                  </a:lnTo>
                  <a:lnTo>
                    <a:pt x="2688908" y="870585"/>
                  </a:lnTo>
                  <a:lnTo>
                    <a:pt x="2727008" y="878205"/>
                  </a:lnTo>
                  <a:lnTo>
                    <a:pt x="2763202" y="886778"/>
                  </a:lnTo>
                  <a:lnTo>
                    <a:pt x="2800350" y="894398"/>
                  </a:lnTo>
                  <a:lnTo>
                    <a:pt x="2837498" y="902017"/>
                  </a:lnTo>
                  <a:lnTo>
                    <a:pt x="2874645" y="909638"/>
                  </a:lnTo>
                  <a:lnTo>
                    <a:pt x="2910840" y="916305"/>
                  </a:lnTo>
                  <a:lnTo>
                    <a:pt x="2947988" y="923925"/>
                  </a:lnTo>
                  <a:lnTo>
                    <a:pt x="2985135" y="930592"/>
                  </a:lnTo>
                  <a:lnTo>
                    <a:pt x="3022283" y="937260"/>
                  </a:lnTo>
                  <a:lnTo>
                    <a:pt x="3059430" y="943928"/>
                  </a:lnTo>
                  <a:lnTo>
                    <a:pt x="3095625" y="949642"/>
                  </a:lnTo>
                  <a:lnTo>
                    <a:pt x="3132772" y="956310"/>
                  </a:lnTo>
                  <a:lnTo>
                    <a:pt x="3169920" y="962025"/>
                  </a:lnTo>
                  <a:lnTo>
                    <a:pt x="3207067" y="967740"/>
                  </a:lnTo>
                  <a:lnTo>
                    <a:pt x="3244215" y="973455"/>
                  </a:lnTo>
                  <a:lnTo>
                    <a:pt x="3280410" y="979170"/>
                  </a:lnTo>
                  <a:lnTo>
                    <a:pt x="3317558" y="984885"/>
                  </a:lnTo>
                  <a:lnTo>
                    <a:pt x="3354705" y="990600"/>
                  </a:lnTo>
                  <a:lnTo>
                    <a:pt x="3391852" y="995362"/>
                  </a:lnTo>
                  <a:lnTo>
                    <a:pt x="3429000" y="1001078"/>
                  </a:lnTo>
                  <a:lnTo>
                    <a:pt x="3465195" y="1005840"/>
                  </a:lnTo>
                  <a:lnTo>
                    <a:pt x="3502342" y="1010603"/>
                  </a:lnTo>
                  <a:lnTo>
                    <a:pt x="3539490" y="1015365"/>
                  </a:lnTo>
                  <a:lnTo>
                    <a:pt x="3576638" y="1021080"/>
                  </a:lnTo>
                  <a:lnTo>
                    <a:pt x="3612833" y="1024890"/>
                  </a:lnTo>
                  <a:lnTo>
                    <a:pt x="3650933" y="1029653"/>
                  </a:lnTo>
                  <a:lnTo>
                    <a:pt x="3687128" y="1034415"/>
                  </a:lnTo>
                  <a:lnTo>
                    <a:pt x="3724275" y="1038225"/>
                  </a:lnTo>
                  <a:lnTo>
                    <a:pt x="3761422" y="1042988"/>
                  </a:lnTo>
                  <a:lnTo>
                    <a:pt x="3798570" y="1046798"/>
                  </a:lnTo>
                  <a:lnTo>
                    <a:pt x="3834765" y="1051560"/>
                  </a:lnTo>
                  <a:lnTo>
                    <a:pt x="3871913" y="1055370"/>
                  </a:lnTo>
                  <a:lnTo>
                    <a:pt x="3909060" y="1059180"/>
                  </a:lnTo>
                  <a:lnTo>
                    <a:pt x="3946208" y="1062990"/>
                  </a:lnTo>
                  <a:lnTo>
                    <a:pt x="3982402" y="1066800"/>
                  </a:lnTo>
                  <a:lnTo>
                    <a:pt x="4020502" y="1070610"/>
                  </a:lnTo>
                  <a:lnTo>
                    <a:pt x="4056698" y="1074420"/>
                  </a:lnTo>
                  <a:lnTo>
                    <a:pt x="4093845" y="1078230"/>
                  </a:lnTo>
                  <a:lnTo>
                    <a:pt x="4130992" y="1082040"/>
                  </a:lnTo>
                  <a:lnTo>
                    <a:pt x="4168140" y="1085850"/>
                  </a:lnTo>
                  <a:lnTo>
                    <a:pt x="4204335" y="1088708"/>
                  </a:lnTo>
                  <a:lnTo>
                    <a:pt x="4241483" y="1092518"/>
                  </a:lnTo>
                  <a:lnTo>
                    <a:pt x="4278630" y="1095375"/>
                  </a:lnTo>
                  <a:lnTo>
                    <a:pt x="4315778" y="1098232"/>
                  </a:lnTo>
                  <a:lnTo>
                    <a:pt x="4351972" y="1102042"/>
                  </a:lnTo>
                  <a:lnTo>
                    <a:pt x="4390072" y="1104900"/>
                  </a:lnTo>
                  <a:lnTo>
                    <a:pt x="4411980" y="1106805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805612" y="3389948"/>
              <a:ext cx="1080135" cy="9525"/>
            </a:xfrm>
            <a:custGeom>
              <a:avLst/>
              <a:gdLst/>
              <a:ahLst/>
              <a:cxnLst/>
              <a:rect l="l" t="t" r="r" b="b"/>
              <a:pathLst>
                <a:path w="1080135" h="9525">
                  <a:moveTo>
                    <a:pt x="0" y="0"/>
                  </a:moveTo>
                  <a:lnTo>
                    <a:pt x="1080135" y="0"/>
                  </a:lnTo>
                </a:path>
              </a:pathLst>
            </a:custGeom>
            <a:noFill/>
            <a:ln w="38100">
              <a:solidFill>
                <a:srgbClr val="F26B3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900035" y="1954530"/>
              <a:ext cx="9525" cy="1421130"/>
            </a:xfrm>
            <a:custGeom>
              <a:avLst/>
              <a:gdLst/>
              <a:ahLst/>
              <a:cxnLst/>
              <a:rect l="l" t="t" r="r" b="b"/>
              <a:pathLst>
                <a:path w="9525" h="1421130">
                  <a:moveTo>
                    <a:pt x="0" y="142113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38" name="Ellipse 38"/>
            <p:cNvSpPr/>
            <p:nvPr/>
          </p:nvSpPr>
          <p:spPr>
            <a:xfrm>
              <a:off x="6786562" y="34137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452860" y="34137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786562" y="34137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786562" y="16116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786562" y="34137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221402" y="3043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6786562" y="33851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7895272" y="33851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7895272" y="33851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7895272" y="19354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1346703" y="35147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90503" y="162115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51576" y="351472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24622" y="1782604"/>
              <a:ext cx="6793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μ₀I/(2πR)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17659" y="2471738"/>
              <a:ext cx="8956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实心圆柱：B ∝ 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69568" y="3191828"/>
              <a:ext cx="12594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圆柱面：r &lt; R 时 B = 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77671" y="2324100"/>
              <a:ext cx="15099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&gt; R：两者都是 μ₀I/(2πr)</a:t>
              </a:r>
            </a:p>
          </p:txBody>
        </p:sp>
      </p:grpSp>
      <p:grpSp>
        <p:nvGrpSpPr>
          <p:cNvPr id="71" name="c2-table-2"/>
          <p:cNvGrpSpPr/>
          <p:nvPr/>
        </p:nvGrpSpPr>
        <p:grpSpPr>
          <a:xfrm>
            <a:off x="6248400" y="3927158"/>
            <a:ext cx="5410200" cy="1503998"/>
            <a:chOff x="6248400" y="3927158"/>
            <a:chExt cx="5410200" cy="1503998"/>
          </a:xfrm>
        </p:grpSpPr>
        <p:sp>
          <p:nvSpPr>
            <p:cNvPr id="56" name="Rectangle 56"/>
            <p:cNvSpPr/>
            <p:nvPr/>
          </p:nvSpPr>
          <p:spPr>
            <a:xfrm>
              <a:off x="6248400" y="3927158"/>
              <a:ext cx="5410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62800" y="40576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21689" y="4057650"/>
              <a:ext cx="4046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&lt; 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644749" y="4057650"/>
              <a:ext cx="4046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&gt; R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353747" y="4488180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实心圆柱（电流均匀分布在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截面上）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784260" y="4594860"/>
              <a:ext cx="879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μIr/(2πR²)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455973" y="4594860"/>
              <a:ext cx="7821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μ₀I/(2πr)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49958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48400" y="500062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53747" y="513207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圆柱面（电流只在表面）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173489" y="513207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455973" y="5132070"/>
              <a:ext cx="7821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μ₀I/(2πr)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3927158"/>
              <a:ext cx="5410200" cy="15039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407718" y="3927158"/>
              <a:ext cx="9525" cy="1503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10030778" y="3927158"/>
              <a:ext cx="9525" cy="1503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72" name="Rectangle 72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511" y="5753576"/>
              <a:ext cx="985202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同样的方法可以求圆管、同轴电缆等共轴组合：同轴电缆内外导体电流等值反向，两导体之间 B = μ₀I/(2πr)，外导体以外 B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= 0。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安培环路定理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例：无限长载流圆柱面旁矩形回路的磁通量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768792"/>
            <a:chOff x="533400" y="1524000"/>
            <a:chExt cx="4760595" cy="1768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9346" y="17506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05993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半径 R 的无限长圆柱面，电流 I 沿轴向均匀分布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在表面上。矩形回路长 l，平面通过轴线，一边在轴线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上，另一边到轴线的距离为 2R。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889885"/>
              <a:ext cx="2249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通过矩形回路的磁通量。</a:t>
              </a:r>
            </a:p>
          </p:txBody>
        </p:sp>
      </p:grpSp>
      <p:grpSp>
        <p:nvGrpSpPr>
          <p:cNvPr id="78" name="g_cylflux"/>
          <p:cNvGrpSpPr/>
          <p:nvPr/>
        </p:nvGrpSpPr>
        <p:grpSpPr>
          <a:xfrm>
            <a:off x="1505902" y="3515678"/>
            <a:ext cx="2024077" cy="2072639"/>
            <a:chOff x="1505902" y="3515678"/>
            <a:chExt cx="2024077" cy="2072639"/>
          </a:xfrm>
        </p:grpSpPr>
        <p:sp>
          <p:nvSpPr>
            <p:cNvPr id="14" name="Freeform 14"/>
            <p:cNvSpPr/>
            <p:nvPr/>
          </p:nvSpPr>
          <p:spPr>
            <a:xfrm>
              <a:off x="2047875" y="3534728"/>
              <a:ext cx="9525" cy="2034540"/>
            </a:xfrm>
            <a:custGeom>
              <a:avLst/>
              <a:gdLst/>
              <a:ahLst/>
              <a:cxnLst/>
              <a:rect l="l" t="t" r="r" b="b"/>
              <a:pathLst>
                <a:path w="9525" h="2034540">
                  <a:moveTo>
                    <a:pt x="0" y="0"/>
                  </a:moveTo>
                  <a:lnTo>
                    <a:pt x="0" y="203454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1510665" y="3676650"/>
              <a:ext cx="1071563" cy="241935"/>
            </a:xfrm>
            <a:custGeom>
              <a:avLst/>
              <a:gdLst/>
              <a:ahLst/>
              <a:cxnLst/>
              <a:rect l="l" t="t" r="r" b="b"/>
              <a:pathLst>
                <a:path w="1071563" h="241935">
                  <a:moveTo>
                    <a:pt x="1071563" y="106680"/>
                  </a:moveTo>
                  <a:lnTo>
                    <a:pt x="1071563" y="108585"/>
                  </a:lnTo>
                  <a:lnTo>
                    <a:pt x="1062990" y="96203"/>
                  </a:lnTo>
                  <a:lnTo>
                    <a:pt x="1047750" y="83820"/>
                  </a:lnTo>
                  <a:lnTo>
                    <a:pt x="1027748" y="71438"/>
                  </a:lnTo>
                  <a:lnTo>
                    <a:pt x="1002030" y="60008"/>
                  </a:lnTo>
                  <a:lnTo>
                    <a:pt x="971550" y="49530"/>
                  </a:lnTo>
                  <a:lnTo>
                    <a:pt x="936307" y="40005"/>
                  </a:lnTo>
                  <a:lnTo>
                    <a:pt x="896302" y="30480"/>
                  </a:lnTo>
                  <a:lnTo>
                    <a:pt x="852488" y="22860"/>
                  </a:lnTo>
                  <a:lnTo>
                    <a:pt x="805815" y="16192"/>
                  </a:lnTo>
                  <a:lnTo>
                    <a:pt x="755333" y="10478"/>
                  </a:lnTo>
                  <a:lnTo>
                    <a:pt x="702945" y="5715"/>
                  </a:lnTo>
                  <a:lnTo>
                    <a:pt x="648652" y="1905"/>
                  </a:lnTo>
                  <a:lnTo>
                    <a:pt x="593408" y="0"/>
                  </a:lnTo>
                  <a:lnTo>
                    <a:pt x="537210" y="0"/>
                  </a:lnTo>
                  <a:lnTo>
                    <a:pt x="481012" y="0"/>
                  </a:lnTo>
                  <a:lnTo>
                    <a:pt x="425768" y="1905"/>
                  </a:lnTo>
                  <a:lnTo>
                    <a:pt x="371475" y="5715"/>
                  </a:lnTo>
                  <a:lnTo>
                    <a:pt x="319088" y="10478"/>
                  </a:lnTo>
                  <a:lnTo>
                    <a:pt x="268605" y="16192"/>
                  </a:lnTo>
                  <a:lnTo>
                    <a:pt x="220980" y="22860"/>
                  </a:lnTo>
                  <a:lnTo>
                    <a:pt x="177165" y="30480"/>
                  </a:lnTo>
                  <a:lnTo>
                    <a:pt x="138112" y="40005"/>
                  </a:lnTo>
                  <a:lnTo>
                    <a:pt x="101918" y="49530"/>
                  </a:lnTo>
                  <a:lnTo>
                    <a:pt x="71438" y="60008"/>
                  </a:lnTo>
                  <a:lnTo>
                    <a:pt x="45720" y="71438"/>
                  </a:lnTo>
                  <a:lnTo>
                    <a:pt x="25718" y="83820"/>
                  </a:lnTo>
                  <a:lnTo>
                    <a:pt x="11430" y="96203"/>
                  </a:lnTo>
                  <a:lnTo>
                    <a:pt x="2858" y="108585"/>
                  </a:lnTo>
                  <a:lnTo>
                    <a:pt x="0" y="120967"/>
                  </a:lnTo>
                  <a:lnTo>
                    <a:pt x="2858" y="133350"/>
                  </a:lnTo>
                  <a:lnTo>
                    <a:pt x="11430" y="145733"/>
                  </a:lnTo>
                  <a:lnTo>
                    <a:pt x="25718" y="158115"/>
                  </a:lnTo>
                  <a:lnTo>
                    <a:pt x="45720" y="170497"/>
                  </a:lnTo>
                  <a:lnTo>
                    <a:pt x="71438" y="181928"/>
                  </a:lnTo>
                  <a:lnTo>
                    <a:pt x="101918" y="192405"/>
                  </a:lnTo>
                  <a:lnTo>
                    <a:pt x="138112" y="201930"/>
                  </a:lnTo>
                  <a:lnTo>
                    <a:pt x="177165" y="211455"/>
                  </a:lnTo>
                  <a:lnTo>
                    <a:pt x="220980" y="219075"/>
                  </a:lnTo>
                  <a:lnTo>
                    <a:pt x="268605" y="225742"/>
                  </a:lnTo>
                  <a:lnTo>
                    <a:pt x="319088" y="231458"/>
                  </a:lnTo>
                  <a:lnTo>
                    <a:pt x="371475" y="236220"/>
                  </a:lnTo>
                  <a:lnTo>
                    <a:pt x="425768" y="240030"/>
                  </a:lnTo>
                  <a:lnTo>
                    <a:pt x="481012" y="241935"/>
                  </a:lnTo>
                  <a:lnTo>
                    <a:pt x="537210" y="241935"/>
                  </a:lnTo>
                  <a:lnTo>
                    <a:pt x="593408" y="241935"/>
                  </a:lnTo>
                  <a:lnTo>
                    <a:pt x="648652" y="240030"/>
                  </a:lnTo>
                  <a:lnTo>
                    <a:pt x="702945" y="236220"/>
                  </a:lnTo>
                  <a:lnTo>
                    <a:pt x="755333" y="231458"/>
                  </a:lnTo>
                  <a:lnTo>
                    <a:pt x="805815" y="225742"/>
                  </a:lnTo>
                  <a:lnTo>
                    <a:pt x="852488" y="219075"/>
                  </a:lnTo>
                  <a:lnTo>
                    <a:pt x="896302" y="211455"/>
                  </a:lnTo>
                  <a:lnTo>
                    <a:pt x="936307" y="201930"/>
                  </a:lnTo>
                  <a:lnTo>
                    <a:pt x="971550" y="192405"/>
                  </a:lnTo>
                  <a:lnTo>
                    <a:pt x="1002030" y="181928"/>
                  </a:lnTo>
                  <a:lnTo>
                    <a:pt x="1027748" y="170497"/>
                  </a:lnTo>
                  <a:lnTo>
                    <a:pt x="1047750" y="158115"/>
                  </a:lnTo>
                  <a:lnTo>
                    <a:pt x="1062990" y="145733"/>
                  </a:lnTo>
                  <a:lnTo>
                    <a:pt x="1071563" y="133350"/>
                  </a:lnTo>
                  <a:lnTo>
                    <a:pt x="1071563" y="135255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513522" y="5405438"/>
              <a:ext cx="1068705" cy="108585"/>
            </a:xfrm>
            <a:custGeom>
              <a:avLst/>
              <a:gdLst/>
              <a:ahLst/>
              <a:cxnLst/>
              <a:rect l="l" t="t" r="r" b="b"/>
              <a:pathLst>
                <a:path w="1068705" h="108585">
                  <a:moveTo>
                    <a:pt x="0" y="953"/>
                  </a:moveTo>
                  <a:lnTo>
                    <a:pt x="0" y="0"/>
                  </a:lnTo>
                  <a:lnTo>
                    <a:pt x="8573" y="12382"/>
                  </a:lnTo>
                  <a:lnTo>
                    <a:pt x="22860" y="24765"/>
                  </a:lnTo>
                  <a:lnTo>
                    <a:pt x="42862" y="36195"/>
                  </a:lnTo>
                  <a:lnTo>
                    <a:pt x="68580" y="47625"/>
                  </a:lnTo>
                  <a:lnTo>
                    <a:pt x="99060" y="58103"/>
                  </a:lnTo>
                  <a:lnTo>
                    <a:pt x="135255" y="68580"/>
                  </a:lnTo>
                  <a:lnTo>
                    <a:pt x="174307" y="77153"/>
                  </a:lnTo>
                  <a:lnTo>
                    <a:pt x="218123" y="84772"/>
                  </a:lnTo>
                  <a:lnTo>
                    <a:pt x="265748" y="92393"/>
                  </a:lnTo>
                  <a:lnTo>
                    <a:pt x="316230" y="98107"/>
                  </a:lnTo>
                  <a:lnTo>
                    <a:pt x="368617" y="102870"/>
                  </a:lnTo>
                  <a:lnTo>
                    <a:pt x="422910" y="105728"/>
                  </a:lnTo>
                  <a:lnTo>
                    <a:pt x="478155" y="107632"/>
                  </a:lnTo>
                  <a:lnTo>
                    <a:pt x="534352" y="108585"/>
                  </a:lnTo>
                  <a:lnTo>
                    <a:pt x="590550" y="107632"/>
                  </a:lnTo>
                  <a:lnTo>
                    <a:pt x="645795" y="105728"/>
                  </a:lnTo>
                  <a:lnTo>
                    <a:pt x="700088" y="102870"/>
                  </a:lnTo>
                  <a:lnTo>
                    <a:pt x="752475" y="98107"/>
                  </a:lnTo>
                  <a:lnTo>
                    <a:pt x="802957" y="92393"/>
                  </a:lnTo>
                  <a:lnTo>
                    <a:pt x="849630" y="84772"/>
                  </a:lnTo>
                  <a:lnTo>
                    <a:pt x="893445" y="77153"/>
                  </a:lnTo>
                  <a:lnTo>
                    <a:pt x="933450" y="68580"/>
                  </a:lnTo>
                  <a:lnTo>
                    <a:pt x="968693" y="58103"/>
                  </a:lnTo>
                  <a:lnTo>
                    <a:pt x="999172" y="47625"/>
                  </a:lnTo>
                  <a:lnTo>
                    <a:pt x="1024890" y="36195"/>
                  </a:lnTo>
                  <a:lnTo>
                    <a:pt x="1044893" y="24765"/>
                  </a:lnTo>
                  <a:lnTo>
                    <a:pt x="1060132" y="12382"/>
                  </a:lnTo>
                  <a:lnTo>
                    <a:pt x="1068705" y="0"/>
                  </a:lnTo>
                  <a:lnTo>
                    <a:pt x="1068705" y="953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513522" y="5271135"/>
              <a:ext cx="1068705" cy="108585"/>
            </a:xfrm>
            <a:custGeom>
              <a:avLst/>
              <a:gdLst/>
              <a:ahLst/>
              <a:cxnLst/>
              <a:rect l="l" t="t" r="r" b="b"/>
              <a:pathLst>
                <a:path w="1068705" h="108585">
                  <a:moveTo>
                    <a:pt x="1068705" y="107633"/>
                  </a:moveTo>
                  <a:lnTo>
                    <a:pt x="1068705" y="108585"/>
                  </a:lnTo>
                  <a:lnTo>
                    <a:pt x="1060132" y="96203"/>
                  </a:lnTo>
                  <a:lnTo>
                    <a:pt x="1044893" y="83820"/>
                  </a:lnTo>
                  <a:lnTo>
                    <a:pt x="1024890" y="72390"/>
                  </a:lnTo>
                  <a:lnTo>
                    <a:pt x="999172" y="60960"/>
                  </a:lnTo>
                  <a:lnTo>
                    <a:pt x="968693" y="50483"/>
                  </a:lnTo>
                  <a:lnTo>
                    <a:pt x="933450" y="40005"/>
                  </a:lnTo>
                  <a:lnTo>
                    <a:pt x="893445" y="31433"/>
                  </a:lnTo>
                  <a:lnTo>
                    <a:pt x="849630" y="22860"/>
                  </a:lnTo>
                  <a:lnTo>
                    <a:pt x="802957" y="16193"/>
                  </a:lnTo>
                  <a:lnTo>
                    <a:pt x="752475" y="10478"/>
                  </a:lnTo>
                  <a:lnTo>
                    <a:pt x="700088" y="5715"/>
                  </a:lnTo>
                  <a:lnTo>
                    <a:pt x="645795" y="2858"/>
                  </a:lnTo>
                  <a:lnTo>
                    <a:pt x="590550" y="953"/>
                  </a:lnTo>
                  <a:lnTo>
                    <a:pt x="534352" y="0"/>
                  </a:lnTo>
                  <a:lnTo>
                    <a:pt x="478155" y="953"/>
                  </a:lnTo>
                  <a:lnTo>
                    <a:pt x="422910" y="2858"/>
                  </a:lnTo>
                  <a:lnTo>
                    <a:pt x="368617" y="5715"/>
                  </a:lnTo>
                  <a:lnTo>
                    <a:pt x="316230" y="10478"/>
                  </a:lnTo>
                  <a:lnTo>
                    <a:pt x="265748" y="16193"/>
                  </a:lnTo>
                  <a:lnTo>
                    <a:pt x="218123" y="22860"/>
                  </a:lnTo>
                  <a:lnTo>
                    <a:pt x="174307" y="31433"/>
                  </a:lnTo>
                  <a:lnTo>
                    <a:pt x="135255" y="40005"/>
                  </a:lnTo>
                  <a:lnTo>
                    <a:pt x="99060" y="50483"/>
                  </a:lnTo>
                  <a:lnTo>
                    <a:pt x="68580" y="60960"/>
                  </a:lnTo>
                  <a:lnTo>
                    <a:pt x="42862" y="72390"/>
                  </a:lnTo>
                  <a:lnTo>
                    <a:pt x="22860" y="83820"/>
                  </a:lnTo>
                  <a:lnTo>
                    <a:pt x="8573" y="96203"/>
                  </a:lnTo>
                  <a:lnTo>
                    <a:pt x="0" y="108585"/>
                  </a:lnTo>
                  <a:lnTo>
                    <a:pt x="0" y="107633"/>
                  </a:lnTo>
                </a:path>
              </a:pathLst>
            </a:custGeom>
            <a:noFill/>
            <a:ln w="17145">
              <a:solidFill>
                <a:srgbClr val="2F4B9A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1510665" y="3811905"/>
              <a:ext cx="9525" cy="1565910"/>
            </a:xfrm>
            <a:custGeom>
              <a:avLst/>
              <a:gdLst/>
              <a:ahLst/>
              <a:cxnLst/>
              <a:rect l="l" t="t" r="r" b="b"/>
              <a:pathLst>
                <a:path w="9525" h="1565910">
                  <a:moveTo>
                    <a:pt x="0" y="0"/>
                  </a:moveTo>
                  <a:lnTo>
                    <a:pt x="0" y="1565910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585085" y="3811905"/>
              <a:ext cx="9525" cy="1565910"/>
            </a:xfrm>
            <a:custGeom>
              <a:avLst/>
              <a:gdLst/>
              <a:ahLst/>
              <a:cxnLst/>
              <a:rect l="l" t="t" r="r" b="b"/>
              <a:pathLst>
                <a:path w="9525" h="1565910">
                  <a:moveTo>
                    <a:pt x="0" y="0"/>
                  </a:moveTo>
                  <a:lnTo>
                    <a:pt x="0" y="1565910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062162" y="3743325"/>
              <a:ext cx="361950" cy="52388"/>
            </a:xfrm>
            <a:custGeom>
              <a:avLst/>
              <a:gdLst/>
              <a:ahLst/>
              <a:cxnLst/>
              <a:rect l="l" t="t" r="r" b="b"/>
              <a:pathLst>
                <a:path w="361950" h="52388">
                  <a:moveTo>
                    <a:pt x="0" y="52388"/>
                  </a:moveTo>
                  <a:lnTo>
                    <a:pt x="3619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417445" y="3696652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100965" y="33338"/>
                  </a:moveTo>
                  <a:lnTo>
                    <a:pt x="14288" y="94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741295" y="4010978"/>
              <a:ext cx="9525" cy="222885"/>
            </a:xfrm>
            <a:custGeom>
              <a:avLst/>
              <a:gdLst/>
              <a:ahLst/>
              <a:cxnLst/>
              <a:rect l="l" t="t" r="r" b="b"/>
              <a:pathLst>
                <a:path w="9525" h="222885">
                  <a:moveTo>
                    <a:pt x="0" y="222885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693670" y="39157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2047875" y="4334828"/>
              <a:ext cx="1074420" cy="606742"/>
            </a:xfrm>
            <a:custGeom>
              <a:avLst/>
              <a:gdLst/>
              <a:ahLst/>
              <a:cxnLst/>
              <a:rect l="l" t="t" r="r" b="b"/>
              <a:pathLst>
                <a:path w="1074420" h="606742">
                  <a:moveTo>
                    <a:pt x="14288" y="0"/>
                  </a:moveTo>
                  <a:lnTo>
                    <a:pt x="1074420" y="0"/>
                  </a:lnTo>
                  <a:lnTo>
                    <a:pt x="1074420" y="606742"/>
                  </a:lnTo>
                  <a:lnTo>
                    <a:pt x="0" y="606742"/>
                  </a:lnTo>
                  <a:lnTo>
                    <a:pt x="0" y="14288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2098358" y="4349115"/>
              <a:ext cx="132397" cy="579120"/>
            </a:xfrm>
            <a:custGeom>
              <a:avLst/>
              <a:gdLst/>
              <a:ahLst/>
              <a:cxnLst/>
              <a:rect l="l" t="t" r="r" b="b"/>
              <a:pathLst>
                <a:path w="132397" h="579120">
                  <a:moveTo>
                    <a:pt x="0" y="579120"/>
                  </a:moveTo>
                  <a:lnTo>
                    <a:pt x="132397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232660" y="4349115"/>
              <a:ext cx="132398" cy="579120"/>
            </a:xfrm>
            <a:custGeom>
              <a:avLst/>
              <a:gdLst/>
              <a:ahLst/>
              <a:cxnLst/>
              <a:rect l="l" t="t" r="r" b="b"/>
              <a:pathLst>
                <a:path w="132398" h="579120">
                  <a:moveTo>
                    <a:pt x="0" y="579120"/>
                  </a:moveTo>
                  <a:lnTo>
                    <a:pt x="132398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2366962" y="4349115"/>
              <a:ext cx="132397" cy="579120"/>
            </a:xfrm>
            <a:custGeom>
              <a:avLst/>
              <a:gdLst/>
              <a:ahLst/>
              <a:cxnLst/>
              <a:rect l="l" t="t" r="r" b="b"/>
              <a:pathLst>
                <a:path w="132397" h="579120">
                  <a:moveTo>
                    <a:pt x="0" y="579120"/>
                  </a:moveTo>
                  <a:lnTo>
                    <a:pt x="132397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502218" y="4349115"/>
              <a:ext cx="131445" cy="579120"/>
            </a:xfrm>
            <a:custGeom>
              <a:avLst/>
              <a:gdLst/>
              <a:ahLst/>
              <a:cxnLst/>
              <a:rect l="l" t="t" r="r" b="b"/>
              <a:pathLst>
                <a:path w="131445" h="579120">
                  <a:moveTo>
                    <a:pt x="0" y="579120"/>
                  </a:moveTo>
                  <a:lnTo>
                    <a:pt x="131445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636520" y="4349115"/>
              <a:ext cx="131445" cy="579120"/>
            </a:xfrm>
            <a:custGeom>
              <a:avLst/>
              <a:gdLst/>
              <a:ahLst/>
              <a:cxnLst/>
              <a:rect l="l" t="t" r="r" b="b"/>
              <a:pathLst>
                <a:path w="131445" h="579120">
                  <a:moveTo>
                    <a:pt x="0" y="579120"/>
                  </a:moveTo>
                  <a:lnTo>
                    <a:pt x="131445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770822" y="4349115"/>
              <a:ext cx="131445" cy="579120"/>
            </a:xfrm>
            <a:custGeom>
              <a:avLst/>
              <a:gdLst/>
              <a:ahLst/>
              <a:cxnLst/>
              <a:rect l="l" t="t" r="r" b="b"/>
              <a:pathLst>
                <a:path w="131445" h="579120">
                  <a:moveTo>
                    <a:pt x="0" y="579120"/>
                  </a:moveTo>
                  <a:lnTo>
                    <a:pt x="131445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2905125" y="4349115"/>
              <a:ext cx="131445" cy="579120"/>
            </a:xfrm>
            <a:custGeom>
              <a:avLst/>
              <a:gdLst/>
              <a:ahLst/>
              <a:cxnLst/>
              <a:rect l="l" t="t" r="r" b="b"/>
              <a:pathLst>
                <a:path w="131445" h="579120">
                  <a:moveTo>
                    <a:pt x="0" y="579120"/>
                  </a:moveTo>
                  <a:lnTo>
                    <a:pt x="131445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157412" y="5132070"/>
              <a:ext cx="855345" cy="9525"/>
            </a:xfrm>
            <a:custGeom>
              <a:avLst/>
              <a:gdLst/>
              <a:ahLst/>
              <a:cxnLst/>
              <a:rect l="l" t="t" r="r" b="b"/>
              <a:pathLst>
                <a:path w="855345" h="9525">
                  <a:moveTo>
                    <a:pt x="0" y="0"/>
                  </a:moveTo>
                  <a:lnTo>
                    <a:pt x="85534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3012758" y="50844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2062162" y="50844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383280" y="4444365"/>
              <a:ext cx="9525" cy="387667"/>
            </a:xfrm>
            <a:custGeom>
              <a:avLst/>
              <a:gdLst/>
              <a:ahLst/>
              <a:cxnLst/>
              <a:rect l="l" t="t" r="r" b="b"/>
              <a:pathLst>
                <a:path w="9525" h="387667">
                  <a:moveTo>
                    <a:pt x="0" y="0"/>
                  </a:moveTo>
                  <a:lnTo>
                    <a:pt x="0" y="387667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335655" y="48320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3335655" y="43491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2043112" y="35156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043112" y="55787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580322" y="379285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580322" y="379285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505902" y="53873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580322" y="53873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2580322" y="53873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505902" y="53873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505902" y="379285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505902" y="53873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2580322" y="379285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2580322" y="53873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2043112" y="379285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2527935" y="37233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2736532" y="4243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2736532" y="38966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2043112" y="43300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2043112" y="43300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2090738" y="49368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2228850" y="43300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2225040" y="49368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2363152" y="43300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2359342" y="49368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2498408" y="43300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2493645" y="49368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2632710" y="43300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2627948" y="49368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2767012" y="43300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2762250" y="49368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2901315" y="43300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2896552" y="49368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3035618" y="43300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2043112" y="51273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3117532" y="51273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3378518" y="43300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3378518" y="49368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2262704" y="35923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835355" y="3956209"/>
              <a:ext cx="53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2499631" y="518683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2R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478516" y="4580096"/>
              <a:ext cx="51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</p:grpSp>
      <p:grpSp>
        <p:nvGrpSpPr>
          <p:cNvPr id="92" name="c2-steps-1"/>
          <p:cNvGrpSpPr/>
          <p:nvPr/>
        </p:nvGrpSpPr>
        <p:grpSpPr>
          <a:xfrm>
            <a:off x="5598795" y="1533525"/>
            <a:ext cx="5479911" cy="1693069"/>
            <a:chOff x="5598795" y="1533525"/>
            <a:chExt cx="5479911" cy="1693069"/>
          </a:xfrm>
        </p:grpSpPr>
        <p:sp>
          <p:nvSpPr>
            <p:cNvPr id="79" name="Rectangle 79"/>
            <p:cNvSpPr/>
            <p:nvPr/>
          </p:nvSpPr>
          <p:spPr>
            <a:xfrm>
              <a:off x="5732145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5598795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69241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5598795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69241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011037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分段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012180" y="1833086"/>
              <a:ext cx="38935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&lt; r &lt; R 这一段在圆柱面内部，B = 0，对磁通量没有贡献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011037" y="21526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取面元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012180" y="2419826"/>
              <a:ext cx="5066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&lt; r &lt; 2R 段 B = μ₀I/(2πr)，垂直于回路平面；取宽 dr 的窄条，dS = l dr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011037" y="27393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012180" y="3006566"/>
              <a:ext cx="3141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Φₘ = ∫(R→2R) μ₀I l dr/(2πr) = μ₀Il ln2/(2π)</a:t>
              </a:r>
            </a:p>
          </p:txBody>
        </p:sp>
      </p:grpSp>
      <p:grpSp>
        <p:nvGrpSpPr>
          <p:cNvPr id="98" name="c2-card-2"/>
          <p:cNvGrpSpPr/>
          <p:nvPr/>
        </p:nvGrpSpPr>
        <p:grpSpPr>
          <a:xfrm>
            <a:off x="5598795" y="3395662"/>
            <a:ext cx="6059805" cy="2239328"/>
            <a:chOff x="5598795" y="3395662"/>
            <a:chExt cx="6059805" cy="2239328"/>
          </a:xfrm>
        </p:grpSpPr>
        <p:sp>
          <p:nvSpPr>
            <p:cNvPr id="93" name="Rectangle 93"/>
            <p:cNvSpPr/>
            <p:nvPr/>
          </p:nvSpPr>
          <p:spPr>
            <a:xfrm>
              <a:off x="5598795" y="3395662"/>
              <a:ext cx="6059805" cy="2239328"/>
            </a:xfrm>
            <a:prstGeom prst="roundRect">
              <a:avLst>
                <a:gd name="adj" fmla="val 595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5791200" y="3588068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886641" y="362235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formula187"/>
                <p:cNvSpPr txBox="1">
                  <a:spLocks noGrp="1"/>
                </p:cNvSpPr>
                <p:nvPr/>
              </p:nvSpPr>
              <p:spPr>
                <a:xfrm>
                  <a:off x="5791200" y="3922395"/>
                  <a:ext cx="5674995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Il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2π</m:t>
                            </m:r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97" name="TextBox 97"/>
            <p:cNvSpPr txBox="1"/>
            <p:nvPr/>
          </p:nvSpPr>
          <p:spPr>
            <a:xfrm>
              <a:off x="5784342" y="4545330"/>
              <a:ext cx="53543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结果与 R 无关，因为积分上下限之比总是 2。取 I = 20 A、l = 0.1 m 得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Φₘ ≈ 2.8×10⁻⁷ Wb。</a:t>
              </a:r>
            </a:p>
          </p:txBody>
        </p:sp>
      </p:grpSp>
      <p:grpSp>
        <p:nvGrpSpPr>
          <p:cNvPr id="10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99" name="Rectangle 9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1040892" y="6023610"/>
              <a:ext cx="10163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变式：换成实心圆柱导体（μ = μ₀），r &lt; R 部分也有 B = μ₀Ir/(2πR²)，多出 μ₀Il/(4π)，总磁通量为 μ₀Il(1 + 2ln2)/(4π)。</a:t>
              </a:r>
            </a:p>
          </p:txBody>
        </p:sp>
      </p:grpSp>
      <p:grpSp>
        <p:nvGrpSpPr>
          <p:cNvPr id="10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6" name="TextBox 10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882896" cy="3351847"/>
            <a:chOff x="667512" y="1835468"/>
            <a:chExt cx="488289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磁场对载流导线的作用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038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5.7，安培力与线圈的磁力矩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742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安培力 dF = Idl × B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匀强磁场中线圈受的力矩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磁矩与平衡的稳定性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例5.2 与例5.3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90051" cy="909257"/>
            <a:chOff x="520446" y="342900"/>
            <a:chExt cx="64900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磁场对载流导线的作用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900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安培力：磁场对电流元的作用 dF = Idl × B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90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Id</m:t>
                      </m:r>
                      <m:acc>
                        <m:accPr>
                          <m:chr m:val="⃗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acc>
                        <m:accPr>
                          <m:chr m:val="⃗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  <m:sup/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Id</m:t>
                          </m:r>
                          <m:acc>
                            <m:accPr>
                              <m:chr m:val="⃗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18" name="c1-card-2"/>
          <p:cNvGrpSpPr/>
          <p:nvPr/>
        </p:nvGrpSpPr>
        <p:grpSpPr>
          <a:xfrm>
            <a:off x="533400" y="2274570"/>
            <a:ext cx="5410200" cy="1986915"/>
            <a:chOff x="533400" y="2274570"/>
            <a:chExt cx="5410200" cy="1986915"/>
          </a:xfrm>
        </p:grpSpPr>
        <p:sp>
          <p:nvSpPr>
            <p:cNvPr id="8" name="Rectangle 8"/>
            <p:cNvSpPr/>
            <p:nvPr/>
          </p:nvSpPr>
          <p:spPr>
            <a:xfrm>
              <a:off x="533400" y="2274570"/>
              <a:ext cx="5410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40792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81050" y="248412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8457" y="251983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大小与方向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92417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861310"/>
              <a:ext cx="3865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 dF = I dl B sinθ，θ 是 Idl 与 B 的夹角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25945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196590"/>
              <a:ext cx="4472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方向：右手四指由 Idl 经小于 180° 的角转向 B，拇指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所指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8804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817620"/>
              <a:ext cx="3469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匀强磁场中长 l 的直导线：F = BIl sinθ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4451985"/>
            <a:ext cx="5410200" cy="1881188"/>
            <a:chOff x="533400" y="4451985"/>
            <a:chExt cx="5410200" cy="1881188"/>
          </a:xfrm>
        </p:grpSpPr>
        <p:sp>
          <p:nvSpPr>
            <p:cNvPr id="19" name="Rectangle 19"/>
            <p:cNvSpPr/>
            <p:nvPr/>
          </p:nvSpPr>
          <p:spPr>
            <a:xfrm>
              <a:off x="533400" y="4451985"/>
              <a:ext cx="5410200" cy="1881188"/>
            </a:xfrm>
            <a:prstGeom prst="roundRect">
              <a:avLst>
                <a:gd name="adj" fmla="val 607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26129" y="5288398"/>
              <a:ext cx="224134" cy="192560"/>
              <a:chOff x="726129" y="5288398"/>
              <a:chExt cx="224134" cy="1925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38200" y="535876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6129" y="528839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54365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5149215"/>
              <a:ext cx="4472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磁场不均匀或导线弯曲时，要先写出 dF，分解到坐标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轴后再积分，不能直接套 BIl sinθ。</a:t>
              </a:r>
            </a:p>
          </p:txBody>
        </p:sp>
      </p:grpSp>
      <p:grpSp>
        <p:nvGrpSpPr>
          <p:cNvPr id="63" name="g_parallel"/>
          <p:cNvGrpSpPr/>
          <p:nvPr/>
        </p:nvGrpSpPr>
        <p:grpSpPr>
          <a:xfrm>
            <a:off x="7581293" y="1633538"/>
            <a:ext cx="3197342" cy="2286666"/>
            <a:chOff x="7581293" y="1633538"/>
            <a:chExt cx="3197342" cy="2286666"/>
          </a:xfrm>
        </p:grpSpPr>
        <p:sp>
          <p:nvSpPr>
            <p:cNvPr id="26" name="Freeform 26"/>
            <p:cNvSpPr/>
            <p:nvPr/>
          </p:nvSpPr>
          <p:spPr>
            <a:xfrm>
              <a:off x="7867650" y="1747838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19050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820025" y="16525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963150" y="1747838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19050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915525" y="16525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881938" y="2667000"/>
              <a:ext cx="542925" cy="9525"/>
            </a:xfrm>
            <a:custGeom>
              <a:avLst/>
              <a:gdLst/>
              <a:ahLst/>
              <a:cxnLst/>
              <a:rect l="l" t="t" r="r" b="b"/>
              <a:pathLst>
                <a:path w="542925" h="9525">
                  <a:moveTo>
                    <a:pt x="0" y="0"/>
                  </a:moveTo>
                  <a:lnTo>
                    <a:pt x="542925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424862" y="2619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9405938" y="2667000"/>
              <a:ext cx="542925" cy="9525"/>
            </a:xfrm>
            <a:custGeom>
              <a:avLst/>
              <a:gdLst/>
              <a:ahLst/>
              <a:cxnLst/>
              <a:rect l="l" t="t" r="r" b="b"/>
              <a:pathLst>
                <a:path w="542925" h="9525">
                  <a:moveTo>
                    <a:pt x="542925" y="0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310688" y="2619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10287000" y="1990725"/>
              <a:ext cx="207645" cy="209550"/>
            </a:xfrm>
            <a:custGeom>
              <a:avLst/>
              <a:gdLst/>
              <a:ahLst/>
              <a:cxnLst/>
              <a:rect l="l" t="t" r="r" b="b"/>
              <a:pathLst>
                <a:path w="207645" h="209550">
                  <a:moveTo>
                    <a:pt x="207645" y="90488"/>
                  </a:moveTo>
                  <a:lnTo>
                    <a:pt x="206693" y="81915"/>
                  </a:lnTo>
                  <a:lnTo>
                    <a:pt x="199073" y="59055"/>
                  </a:lnTo>
                  <a:lnTo>
                    <a:pt x="186690" y="40005"/>
                  </a:lnTo>
                  <a:lnTo>
                    <a:pt x="169545" y="22860"/>
                  </a:lnTo>
                  <a:lnTo>
                    <a:pt x="149543" y="10477"/>
                  </a:lnTo>
                  <a:lnTo>
                    <a:pt x="128588" y="2858"/>
                  </a:lnTo>
                  <a:lnTo>
                    <a:pt x="104775" y="0"/>
                  </a:lnTo>
                  <a:lnTo>
                    <a:pt x="80962" y="2858"/>
                  </a:lnTo>
                  <a:lnTo>
                    <a:pt x="59055" y="10477"/>
                  </a:lnTo>
                  <a:lnTo>
                    <a:pt x="40005" y="22860"/>
                  </a:lnTo>
                  <a:lnTo>
                    <a:pt x="22860" y="40005"/>
                  </a:lnTo>
                  <a:lnTo>
                    <a:pt x="10477" y="59055"/>
                  </a:lnTo>
                  <a:lnTo>
                    <a:pt x="2857" y="81915"/>
                  </a:lnTo>
                  <a:lnTo>
                    <a:pt x="0" y="104775"/>
                  </a:lnTo>
                  <a:lnTo>
                    <a:pt x="2857" y="127635"/>
                  </a:lnTo>
                  <a:lnTo>
                    <a:pt x="10477" y="150495"/>
                  </a:lnTo>
                  <a:lnTo>
                    <a:pt x="22860" y="169545"/>
                  </a:lnTo>
                  <a:lnTo>
                    <a:pt x="40005" y="186690"/>
                  </a:lnTo>
                  <a:lnTo>
                    <a:pt x="59055" y="199073"/>
                  </a:lnTo>
                  <a:lnTo>
                    <a:pt x="80962" y="206692"/>
                  </a:lnTo>
                  <a:lnTo>
                    <a:pt x="104775" y="209550"/>
                  </a:lnTo>
                  <a:lnTo>
                    <a:pt x="128588" y="206692"/>
                  </a:lnTo>
                  <a:lnTo>
                    <a:pt x="149543" y="199073"/>
                  </a:lnTo>
                  <a:lnTo>
                    <a:pt x="169545" y="186690"/>
                  </a:lnTo>
                  <a:lnTo>
                    <a:pt x="186690" y="169545"/>
                  </a:lnTo>
                  <a:lnTo>
                    <a:pt x="199073" y="150495"/>
                  </a:lnTo>
                  <a:lnTo>
                    <a:pt x="206693" y="127635"/>
                  </a:lnTo>
                  <a:lnTo>
                    <a:pt x="207645" y="11906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330815" y="203454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121920" y="12192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330815" y="203454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121920"/>
                  </a:moveTo>
                  <a:lnTo>
                    <a:pt x="12192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977188" y="3429000"/>
              <a:ext cx="1876425" cy="9525"/>
            </a:xfrm>
            <a:custGeom>
              <a:avLst/>
              <a:gdLst/>
              <a:ahLst/>
              <a:cxnLst/>
              <a:rect l="l" t="t" r="r" b="b"/>
              <a:pathLst>
                <a:path w="1876425" h="9525">
                  <a:moveTo>
                    <a:pt x="0" y="0"/>
                  </a:moveTo>
                  <a:lnTo>
                    <a:pt x="187642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853612" y="3381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881938" y="3381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7862888" y="36623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7862888" y="16335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9958388" y="36623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9958388" y="16335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862888" y="2662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529638" y="2662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9958388" y="2662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9291638" y="2662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0491788" y="20907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0491788" y="20907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0315575" y="20193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10458450" y="21621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0315575" y="21621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10458450" y="20193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7862888" y="3424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9958388" y="3424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581293" y="1737836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76793" y="1737836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95441" y="24288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38441" y="24288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595465" y="202882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869251" y="32480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14664" y="372951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同向电流相吸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6248400" y="4095750"/>
            <a:ext cx="5410200" cy="2237422"/>
            <a:chOff x="6248400" y="4095750"/>
            <a:chExt cx="5410200" cy="2237422"/>
          </a:xfrm>
        </p:grpSpPr>
        <p:sp>
          <p:nvSpPr>
            <p:cNvPr id="64" name="Rectangle 64"/>
            <p:cNvSpPr/>
            <p:nvPr/>
          </p:nvSpPr>
          <p:spPr>
            <a:xfrm>
              <a:off x="6248400" y="4095750"/>
              <a:ext cx="5410200" cy="2237422"/>
            </a:xfrm>
            <a:prstGeom prst="roundRect">
              <a:avLst>
                <a:gd name="adj" fmla="val 596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57950" y="4305300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09753" y="434101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补充：两根平行长直导线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formula191"/>
                <p:cNvSpPr txBox="1">
                  <a:spLocks noGrp="1"/>
                </p:cNvSpPr>
                <p:nvPr/>
              </p:nvSpPr>
              <p:spPr>
                <a:xfrm>
                  <a:off x="6457950" y="4657725"/>
                  <a:ext cx="499110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2πd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8" name="TextBox 68"/>
            <p:cNvSpPr txBox="1"/>
            <p:nvPr/>
          </p:nvSpPr>
          <p:spPr>
            <a:xfrm>
              <a:off x="6450330" y="5317808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同向电流相吸，反向电流相斥。I₁ = I₂ = 1 A、d = 1 m 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每米受力 2×10⁻⁷ N，2019 年以前国际单位制就用这个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数定义安培。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磁场对载流导线的作用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匀强磁场中的矩形线圈：合力为零，但有力矩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g_coiltop"/>
          <p:cNvGrpSpPr/>
          <p:nvPr/>
        </p:nvGrpSpPr>
        <p:grpSpPr>
          <a:xfrm>
            <a:off x="719138" y="1622108"/>
            <a:ext cx="4629149" cy="2745771"/>
            <a:chOff x="719138" y="1622108"/>
            <a:chExt cx="4629149" cy="2745771"/>
          </a:xfrm>
        </p:grpSpPr>
        <p:sp>
          <p:nvSpPr>
            <p:cNvPr id="7" name="Freeform 7"/>
            <p:cNvSpPr/>
            <p:nvPr/>
          </p:nvSpPr>
          <p:spPr>
            <a:xfrm>
              <a:off x="738188" y="19050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233988" y="1857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38188" y="295275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233988" y="2905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38188" y="40005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233988" y="3952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588895" y="2325052"/>
              <a:ext cx="880110" cy="1255395"/>
            </a:xfrm>
            <a:custGeom>
              <a:avLst/>
              <a:gdLst/>
              <a:ahLst/>
              <a:cxnLst/>
              <a:rect l="l" t="t" r="r" b="b"/>
              <a:pathLst>
                <a:path w="880110" h="1255395">
                  <a:moveTo>
                    <a:pt x="0" y="1255395"/>
                  </a:moveTo>
                  <a:lnTo>
                    <a:pt x="880110" y="0"/>
                  </a:lnTo>
                </a:path>
              </a:pathLst>
            </a:custGeom>
            <a:noFill/>
            <a:ln w="6667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040380" y="2961322"/>
              <a:ext cx="757238" cy="529590"/>
            </a:xfrm>
            <a:custGeom>
              <a:avLst/>
              <a:gdLst/>
              <a:ahLst/>
              <a:cxnLst/>
              <a:rect l="l" t="t" r="r" b="b"/>
              <a:pathLst>
                <a:path w="757238" h="529590">
                  <a:moveTo>
                    <a:pt x="0" y="0"/>
                  </a:moveTo>
                  <a:lnTo>
                    <a:pt x="757238" y="52959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769995" y="3451860"/>
              <a:ext cx="105727" cy="93345"/>
            </a:xfrm>
            <a:custGeom>
              <a:avLst/>
              <a:gdLst/>
              <a:ahLst/>
              <a:cxnLst/>
              <a:rect l="l" t="t" r="r" b="b"/>
              <a:pathLst>
                <a:path w="105727" h="93345">
                  <a:moveTo>
                    <a:pt x="105727" y="93345"/>
                  </a:moveTo>
                  <a:lnTo>
                    <a:pt x="0" y="78105"/>
                  </a:lnTo>
                  <a:lnTo>
                    <a:pt x="54292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410902" y="2967038"/>
              <a:ext cx="75247" cy="236220"/>
            </a:xfrm>
            <a:custGeom>
              <a:avLst/>
              <a:gdLst/>
              <a:ahLst/>
              <a:cxnLst/>
              <a:rect l="l" t="t" r="r" b="b"/>
              <a:pathLst>
                <a:path w="75247" h="236220">
                  <a:moveTo>
                    <a:pt x="0" y="236220"/>
                  </a:moveTo>
                  <a:lnTo>
                    <a:pt x="7620" y="224790"/>
                  </a:lnTo>
                  <a:lnTo>
                    <a:pt x="21907" y="200025"/>
                  </a:lnTo>
                  <a:lnTo>
                    <a:pt x="34290" y="175260"/>
                  </a:lnTo>
                  <a:lnTo>
                    <a:pt x="44767" y="149542"/>
                  </a:lnTo>
                  <a:lnTo>
                    <a:pt x="54292" y="122872"/>
                  </a:lnTo>
                  <a:lnTo>
                    <a:pt x="61912" y="96203"/>
                  </a:lnTo>
                  <a:lnTo>
                    <a:pt x="67627" y="69533"/>
                  </a:lnTo>
                  <a:lnTo>
                    <a:pt x="71438" y="41910"/>
                  </a:lnTo>
                  <a:lnTo>
                    <a:pt x="74295" y="13335"/>
                  </a:lnTo>
                  <a:lnTo>
                    <a:pt x="752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371850" y="2207895"/>
              <a:ext cx="208597" cy="209550"/>
            </a:xfrm>
            <a:custGeom>
              <a:avLst/>
              <a:gdLst/>
              <a:ahLst/>
              <a:cxnLst/>
              <a:rect l="l" t="t" r="r" b="b"/>
              <a:pathLst>
                <a:path w="208597" h="209550">
                  <a:moveTo>
                    <a:pt x="208597" y="90488"/>
                  </a:moveTo>
                  <a:lnTo>
                    <a:pt x="207645" y="81915"/>
                  </a:lnTo>
                  <a:lnTo>
                    <a:pt x="199072" y="60007"/>
                  </a:lnTo>
                  <a:lnTo>
                    <a:pt x="186690" y="40005"/>
                  </a:lnTo>
                  <a:lnTo>
                    <a:pt x="170497" y="22860"/>
                  </a:lnTo>
                  <a:lnTo>
                    <a:pt x="150495" y="10477"/>
                  </a:lnTo>
                  <a:lnTo>
                    <a:pt x="128588" y="2857"/>
                  </a:lnTo>
                  <a:lnTo>
                    <a:pt x="104775" y="0"/>
                  </a:lnTo>
                  <a:lnTo>
                    <a:pt x="81915" y="2857"/>
                  </a:lnTo>
                  <a:lnTo>
                    <a:pt x="59055" y="10477"/>
                  </a:lnTo>
                  <a:lnTo>
                    <a:pt x="40005" y="22860"/>
                  </a:lnTo>
                  <a:lnTo>
                    <a:pt x="22860" y="40005"/>
                  </a:lnTo>
                  <a:lnTo>
                    <a:pt x="10478" y="60007"/>
                  </a:lnTo>
                  <a:lnTo>
                    <a:pt x="2858" y="81915"/>
                  </a:lnTo>
                  <a:lnTo>
                    <a:pt x="0" y="104775"/>
                  </a:lnTo>
                  <a:lnTo>
                    <a:pt x="2858" y="128588"/>
                  </a:lnTo>
                  <a:lnTo>
                    <a:pt x="10478" y="150495"/>
                  </a:lnTo>
                  <a:lnTo>
                    <a:pt x="22860" y="170497"/>
                  </a:lnTo>
                  <a:lnTo>
                    <a:pt x="40005" y="186690"/>
                  </a:lnTo>
                  <a:lnTo>
                    <a:pt x="59055" y="199072"/>
                  </a:lnTo>
                  <a:lnTo>
                    <a:pt x="81915" y="206692"/>
                  </a:lnTo>
                  <a:lnTo>
                    <a:pt x="104775" y="209550"/>
                  </a:lnTo>
                  <a:lnTo>
                    <a:pt x="128588" y="206692"/>
                  </a:lnTo>
                  <a:lnTo>
                    <a:pt x="150495" y="199072"/>
                  </a:lnTo>
                  <a:lnTo>
                    <a:pt x="170497" y="186690"/>
                  </a:lnTo>
                  <a:lnTo>
                    <a:pt x="186690" y="170497"/>
                  </a:lnTo>
                  <a:lnTo>
                    <a:pt x="199072" y="150495"/>
                  </a:lnTo>
                  <a:lnTo>
                    <a:pt x="207645" y="128588"/>
                  </a:lnTo>
                  <a:lnTo>
                    <a:pt x="208597" y="119062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476500" y="3488055"/>
              <a:ext cx="207645" cy="209550"/>
            </a:xfrm>
            <a:custGeom>
              <a:avLst/>
              <a:gdLst/>
              <a:ahLst/>
              <a:cxnLst/>
              <a:rect l="l" t="t" r="r" b="b"/>
              <a:pathLst>
                <a:path w="207645" h="209550">
                  <a:moveTo>
                    <a:pt x="207645" y="90488"/>
                  </a:moveTo>
                  <a:lnTo>
                    <a:pt x="206692" y="80962"/>
                  </a:lnTo>
                  <a:lnTo>
                    <a:pt x="199072" y="59055"/>
                  </a:lnTo>
                  <a:lnTo>
                    <a:pt x="186690" y="39053"/>
                  </a:lnTo>
                  <a:lnTo>
                    <a:pt x="169545" y="22860"/>
                  </a:lnTo>
                  <a:lnTo>
                    <a:pt x="149542" y="10478"/>
                  </a:lnTo>
                  <a:lnTo>
                    <a:pt x="127635" y="2858"/>
                  </a:lnTo>
                  <a:lnTo>
                    <a:pt x="104775" y="0"/>
                  </a:lnTo>
                  <a:lnTo>
                    <a:pt x="80962" y="2858"/>
                  </a:lnTo>
                  <a:lnTo>
                    <a:pt x="59055" y="10478"/>
                  </a:lnTo>
                  <a:lnTo>
                    <a:pt x="39053" y="22860"/>
                  </a:lnTo>
                  <a:lnTo>
                    <a:pt x="22860" y="39053"/>
                  </a:lnTo>
                  <a:lnTo>
                    <a:pt x="10478" y="59055"/>
                  </a:lnTo>
                  <a:lnTo>
                    <a:pt x="2858" y="80962"/>
                  </a:lnTo>
                  <a:lnTo>
                    <a:pt x="0" y="104775"/>
                  </a:lnTo>
                  <a:lnTo>
                    <a:pt x="2858" y="127635"/>
                  </a:lnTo>
                  <a:lnTo>
                    <a:pt x="10478" y="149542"/>
                  </a:lnTo>
                  <a:lnTo>
                    <a:pt x="22860" y="169545"/>
                  </a:lnTo>
                  <a:lnTo>
                    <a:pt x="39053" y="186690"/>
                  </a:lnTo>
                  <a:lnTo>
                    <a:pt x="59055" y="199073"/>
                  </a:lnTo>
                  <a:lnTo>
                    <a:pt x="80962" y="206692"/>
                  </a:lnTo>
                  <a:lnTo>
                    <a:pt x="104775" y="209550"/>
                  </a:lnTo>
                  <a:lnTo>
                    <a:pt x="127635" y="206692"/>
                  </a:lnTo>
                  <a:lnTo>
                    <a:pt x="149542" y="199073"/>
                  </a:lnTo>
                  <a:lnTo>
                    <a:pt x="169545" y="186690"/>
                  </a:lnTo>
                  <a:lnTo>
                    <a:pt x="186690" y="169545"/>
                  </a:lnTo>
                  <a:lnTo>
                    <a:pt x="199072" y="149542"/>
                  </a:lnTo>
                  <a:lnTo>
                    <a:pt x="206692" y="127635"/>
                  </a:lnTo>
                  <a:lnTo>
                    <a:pt x="207645" y="119062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520315" y="353187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121920" y="12192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520315" y="353187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121920"/>
                  </a:moveTo>
                  <a:lnTo>
                    <a:pt x="12192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476625" y="1736408"/>
              <a:ext cx="9525" cy="447675"/>
            </a:xfrm>
            <a:custGeom>
              <a:avLst/>
              <a:gdLst/>
              <a:ahLst/>
              <a:cxnLst/>
              <a:rect l="l" t="t" r="r" b="b"/>
              <a:pathLst>
                <a:path w="9525" h="447675">
                  <a:moveTo>
                    <a:pt x="0" y="447675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429000" y="16411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581275" y="3721418"/>
              <a:ext cx="9525" cy="447675"/>
            </a:xfrm>
            <a:custGeom>
              <a:avLst/>
              <a:gdLst/>
              <a:ahLst/>
              <a:cxnLst/>
              <a:rect l="l" t="t" r="r" b="b"/>
              <a:pathLst>
                <a:path w="9525" h="447675">
                  <a:moveTo>
                    <a:pt x="0" y="0"/>
                  </a:moveTo>
                  <a:lnTo>
                    <a:pt x="0" y="447675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533650" y="41690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71913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33876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719138" y="2947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338762" y="2947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719138" y="39957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338762" y="39957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576512" y="35880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471862" y="23079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024188" y="2947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882390" y="35490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398520" y="32099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481388" y="2947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576638" y="23079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576638" y="23079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446145" y="228219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681288" y="35880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681288" y="35880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505075" y="35166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647950" y="36585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2505075" y="36585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2647950" y="35166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3471862" y="21936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3471862" y="16221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2576512" y="37023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2576512" y="42738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196560" y="168068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963910" y="360473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eₙ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589299" y="30522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589565" y="1712595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F₂′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261090" y="405955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700296" y="2327434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d(c)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042946" y="3473291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a(b)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2056" y="417718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俯视图</a:t>
              </a:r>
            </a:p>
          </p:txBody>
        </p:sp>
      </p:grpSp>
      <p:grpSp>
        <p:nvGrpSpPr>
          <p:cNvPr id="65" name="c1-callout-2"/>
          <p:cNvGrpSpPr/>
          <p:nvPr/>
        </p:nvGrpSpPr>
        <p:grpSpPr>
          <a:xfrm>
            <a:off x="533400" y="4572000"/>
            <a:ext cx="4977765" cy="1179195"/>
            <a:chOff x="533400" y="4572000"/>
            <a:chExt cx="4977765" cy="1179195"/>
          </a:xfrm>
        </p:grpSpPr>
        <p:sp>
          <p:nvSpPr>
            <p:cNvPr id="59" name="Rectangle 59"/>
            <p:cNvSpPr/>
            <p:nvPr/>
          </p:nvSpPr>
          <p:spPr>
            <a:xfrm>
              <a:off x="533400" y="4572000"/>
              <a:ext cx="4977765" cy="1179195"/>
            </a:xfrm>
            <a:prstGeom prst="roundRect">
              <a:avLst>
                <a:gd name="adj" fmla="val 969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5061585"/>
              <a:ext cx="200026" cy="200025"/>
              <a:chOff x="738188" y="5061585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50615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77926" y="51060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12642" y="52171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130" y="4918710"/>
              <a:ext cx="4034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俯视时 ab 边缩成点 a(b)，dc 边缩成点 d(c)；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eₙ 是线圈法线，与电流绕向成右手关系。</a:t>
              </a:r>
            </a:p>
          </p:txBody>
        </p:sp>
      </p:grpSp>
      <p:grpSp>
        <p:nvGrpSpPr>
          <p:cNvPr id="79" name="c2-steps-1"/>
          <p:cNvGrpSpPr/>
          <p:nvPr/>
        </p:nvGrpSpPr>
        <p:grpSpPr>
          <a:xfrm>
            <a:off x="5815965" y="1533525"/>
            <a:ext cx="5635625" cy="2112930"/>
            <a:chOff x="5815965" y="1533525"/>
            <a:chExt cx="5635625" cy="2112930"/>
          </a:xfrm>
        </p:grpSpPr>
        <p:sp>
          <p:nvSpPr>
            <p:cNvPr id="66" name="Rectangle 66"/>
            <p:cNvSpPr/>
            <p:nvPr/>
          </p:nvSpPr>
          <p:spPr>
            <a:xfrm>
              <a:off x="5949315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5815965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90958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5815965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90958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227445" y="1567815"/>
              <a:ext cx="1151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ad、bc 两边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228588" y="1861661"/>
              <a:ext cx="51190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 l₁，F₁ = F₁′ = BIl₁ cosφ，方向相反且在同一直线上，互相抵消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227445" y="2218372"/>
              <a:ext cx="1151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ab、dc 两边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28588" y="2512219"/>
              <a:ext cx="52230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 l₂，与 B 垂直，F₂ = F₂′ = BIl₂，方向相反但不在同一直线上，组成力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偶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227445" y="310419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力偶矩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228588" y="3397091"/>
              <a:ext cx="41241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力臂 l₁ sinφ：M = F₂ l₁ sinφ = BIl₁l₂ sinφ = BIS sinφ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formula193"/>
              <p:cNvSpPr txBox="1">
                <a:spLocks noGrp="1"/>
              </p:cNvSpPr>
              <p:nvPr/>
            </p:nvSpPr>
            <p:spPr>
              <a:xfrm>
                <a:off x="5815965" y="3825240"/>
                <a:ext cx="584263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BIS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86" name="c2-card-3"/>
          <p:cNvGrpSpPr/>
          <p:nvPr/>
        </p:nvGrpSpPr>
        <p:grpSpPr>
          <a:xfrm>
            <a:off x="5815965" y="4434840"/>
            <a:ext cx="5842635" cy="1316355"/>
            <a:chOff x="5815965" y="4434840"/>
            <a:chExt cx="5842635" cy="1316355"/>
          </a:xfrm>
        </p:grpSpPr>
        <p:sp>
          <p:nvSpPr>
            <p:cNvPr id="81" name="Rectangle 81"/>
            <p:cNvSpPr/>
            <p:nvPr/>
          </p:nvSpPr>
          <p:spPr>
            <a:xfrm>
              <a:off x="5815965" y="4434840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5825490" y="456819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063615" y="464439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153823" y="46801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055995" y="5021580"/>
              <a:ext cx="5130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 是线圈法线 eₙ 与 B 的夹角。力矩沿竖直的 z 轴，使线圈绕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轴转动，把 eₙ 转向 B。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62000" cy="909257"/>
            <a:chOff x="520446" y="342900"/>
            <a:chExt cx="96620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磁场对载流导线的作用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620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磁矩 Pm 与磁力矩 M = Pm × B：线圈总想把 Pm 转到 B 的方向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96"/>
              <p:cNvSpPr txBox="1">
                <a:spLocks noGrp="1"/>
              </p:cNvSpPr>
              <p:nvPr/>
            </p:nvSpPr>
            <p:spPr>
              <a:xfrm>
                <a:off x="533400" y="1524000"/>
                <a:ext cx="5193982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⃗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acc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NIS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acc>
                            <m:accPr>
                              <m:chr m:val="⃗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acc>
                        <m:accPr>
                          <m:chr m:val="⃗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acc>
                            <m:accPr>
                              <m:chr m:val="⃗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acc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rd-2"/>
          <p:cNvGrpSpPr/>
          <p:nvPr/>
        </p:nvGrpSpPr>
        <p:grpSpPr>
          <a:xfrm>
            <a:off x="533400" y="2109788"/>
            <a:ext cx="5193982" cy="1594485"/>
            <a:chOff x="533400" y="2109788"/>
            <a:chExt cx="5193982" cy="1594485"/>
          </a:xfrm>
        </p:grpSpPr>
        <p:sp>
          <p:nvSpPr>
            <p:cNvPr id="8" name="Rectangle 8"/>
            <p:cNvSpPr/>
            <p:nvPr/>
          </p:nvSpPr>
          <p:spPr>
            <a:xfrm>
              <a:off x="533400" y="2109788"/>
              <a:ext cx="5193982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243138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75335" y="231362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5543" y="23493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磁矩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74605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686526"/>
              <a:ext cx="46398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 NIS，方向沿线圈法线 eₙ，与电流绕向成右手关系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306609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006566"/>
              <a:ext cx="428853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对任意形状的平面线圈都适用，S 是线圈面积；N 匝时</a:t>
              </a:r>
              <a:br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NBIS sinφ</a:t>
              </a:r>
            </a:p>
          </p:txBody>
        </p:sp>
      </p:grpSp>
      <p:grpSp>
        <p:nvGrpSpPr>
          <p:cNvPr id="22" name="c1-card-3"/>
          <p:cNvGrpSpPr/>
          <p:nvPr/>
        </p:nvGrpSpPr>
        <p:grpSpPr>
          <a:xfrm>
            <a:off x="533400" y="3890010"/>
            <a:ext cx="5193982" cy="1601152"/>
            <a:chOff x="533400" y="3890010"/>
            <a:chExt cx="5193982" cy="1601152"/>
          </a:xfrm>
        </p:grpSpPr>
        <p:sp>
          <p:nvSpPr>
            <p:cNvPr id="17" name="Rectangle 17"/>
            <p:cNvSpPr/>
            <p:nvPr/>
          </p:nvSpPr>
          <p:spPr>
            <a:xfrm>
              <a:off x="533400" y="3890010"/>
              <a:ext cx="5193982" cy="1601152"/>
            </a:xfrm>
            <a:prstGeom prst="roundRect">
              <a:avLst>
                <a:gd name="adj" fmla="val 83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023360"/>
              <a:ext cx="47625" cy="13344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75335" y="40938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5543" y="41295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8096" y="4466749"/>
              <a:ext cx="433362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100、I = 0.5 A、S = 4 cm² 的线圈：Pₘ = 100 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 × 4×10⁻⁴ = 0.02 A·m²；放在 B = 0.2 T 中，最大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磁力矩 M = PₘB = 4×10⁻³ N·m。</a:t>
              </a:r>
            </a:p>
          </p:txBody>
        </p:sp>
      </p:grpSp>
      <p:grpSp>
        <p:nvGrpSpPr>
          <p:cNvPr id="43" name="g_torque"/>
          <p:cNvGrpSpPr/>
          <p:nvPr/>
        </p:nvGrpSpPr>
        <p:grpSpPr>
          <a:xfrm>
            <a:off x="6475095" y="1570196"/>
            <a:ext cx="4820602" cy="1714024"/>
            <a:chOff x="6475095" y="1570196"/>
            <a:chExt cx="4820602" cy="1714024"/>
          </a:xfrm>
        </p:grpSpPr>
        <p:sp>
          <p:nvSpPr>
            <p:cNvPr id="23" name="Freeform 23"/>
            <p:cNvSpPr/>
            <p:nvPr/>
          </p:nvSpPr>
          <p:spPr>
            <a:xfrm>
              <a:off x="6546532" y="2447925"/>
              <a:ext cx="4634865" cy="9525"/>
            </a:xfrm>
            <a:custGeom>
              <a:avLst/>
              <a:gdLst/>
              <a:ahLst/>
              <a:cxnLst/>
              <a:rect l="l" t="t" r="r" b="b"/>
              <a:pathLst>
                <a:path w="4634865" h="9525">
                  <a:moveTo>
                    <a:pt x="0" y="0"/>
                  </a:moveTo>
                  <a:lnTo>
                    <a:pt x="463486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1181398" y="24003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532245" y="1725930"/>
              <a:ext cx="9525" cy="1539240"/>
            </a:xfrm>
            <a:custGeom>
              <a:avLst/>
              <a:gdLst/>
              <a:ahLst/>
              <a:cxnLst/>
              <a:rect l="l" t="t" r="r" b="b"/>
              <a:pathLst>
                <a:path w="9525" h="1539240">
                  <a:moveTo>
                    <a:pt x="0" y="153924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484620" y="1630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542722" y="1801178"/>
              <a:ext cx="4506278" cy="1293495"/>
            </a:xfrm>
            <a:custGeom>
              <a:avLst/>
              <a:gdLst/>
              <a:ahLst/>
              <a:cxnLst/>
              <a:rect l="l" t="t" r="r" b="b"/>
              <a:pathLst>
                <a:path w="4506278" h="1293495">
                  <a:moveTo>
                    <a:pt x="0" y="637222"/>
                  </a:moveTo>
                  <a:lnTo>
                    <a:pt x="27622" y="612458"/>
                  </a:lnTo>
                  <a:lnTo>
                    <a:pt x="64770" y="579120"/>
                  </a:lnTo>
                  <a:lnTo>
                    <a:pt x="102870" y="545783"/>
                  </a:lnTo>
                  <a:lnTo>
                    <a:pt x="140018" y="512445"/>
                  </a:lnTo>
                  <a:lnTo>
                    <a:pt x="178118" y="479108"/>
                  </a:lnTo>
                  <a:lnTo>
                    <a:pt x="215265" y="446723"/>
                  </a:lnTo>
                  <a:lnTo>
                    <a:pt x="253365" y="415290"/>
                  </a:lnTo>
                  <a:lnTo>
                    <a:pt x="291465" y="383858"/>
                  </a:lnTo>
                  <a:lnTo>
                    <a:pt x="328612" y="353377"/>
                  </a:lnTo>
                  <a:lnTo>
                    <a:pt x="366712" y="323850"/>
                  </a:lnTo>
                  <a:lnTo>
                    <a:pt x="404812" y="294323"/>
                  </a:lnTo>
                  <a:lnTo>
                    <a:pt x="441960" y="266700"/>
                  </a:lnTo>
                  <a:lnTo>
                    <a:pt x="480060" y="240030"/>
                  </a:lnTo>
                  <a:lnTo>
                    <a:pt x="518160" y="214312"/>
                  </a:lnTo>
                  <a:lnTo>
                    <a:pt x="555308" y="189548"/>
                  </a:lnTo>
                  <a:lnTo>
                    <a:pt x="593408" y="165735"/>
                  </a:lnTo>
                  <a:lnTo>
                    <a:pt x="630555" y="143827"/>
                  </a:lnTo>
                  <a:lnTo>
                    <a:pt x="668655" y="123825"/>
                  </a:lnTo>
                  <a:lnTo>
                    <a:pt x="706755" y="104775"/>
                  </a:lnTo>
                  <a:lnTo>
                    <a:pt x="743903" y="86677"/>
                  </a:lnTo>
                  <a:lnTo>
                    <a:pt x="782003" y="70485"/>
                  </a:lnTo>
                  <a:lnTo>
                    <a:pt x="819150" y="56198"/>
                  </a:lnTo>
                  <a:lnTo>
                    <a:pt x="857250" y="42862"/>
                  </a:lnTo>
                  <a:lnTo>
                    <a:pt x="894397" y="31433"/>
                  </a:lnTo>
                  <a:lnTo>
                    <a:pt x="933450" y="21908"/>
                  </a:lnTo>
                  <a:lnTo>
                    <a:pt x="970597" y="14288"/>
                  </a:lnTo>
                  <a:lnTo>
                    <a:pt x="1008697" y="7620"/>
                  </a:lnTo>
                  <a:lnTo>
                    <a:pt x="1045845" y="3810"/>
                  </a:lnTo>
                  <a:lnTo>
                    <a:pt x="1083945" y="952"/>
                  </a:lnTo>
                  <a:lnTo>
                    <a:pt x="1121093" y="0"/>
                  </a:lnTo>
                  <a:lnTo>
                    <a:pt x="1159193" y="952"/>
                  </a:lnTo>
                  <a:lnTo>
                    <a:pt x="1197293" y="3810"/>
                  </a:lnTo>
                  <a:lnTo>
                    <a:pt x="1234440" y="7620"/>
                  </a:lnTo>
                  <a:lnTo>
                    <a:pt x="1272540" y="14288"/>
                  </a:lnTo>
                  <a:lnTo>
                    <a:pt x="1309688" y="21908"/>
                  </a:lnTo>
                  <a:lnTo>
                    <a:pt x="1347788" y="31433"/>
                  </a:lnTo>
                  <a:lnTo>
                    <a:pt x="1385888" y="42862"/>
                  </a:lnTo>
                  <a:lnTo>
                    <a:pt x="1423035" y="56198"/>
                  </a:lnTo>
                  <a:lnTo>
                    <a:pt x="1461135" y="70485"/>
                  </a:lnTo>
                  <a:lnTo>
                    <a:pt x="1498283" y="86677"/>
                  </a:lnTo>
                  <a:lnTo>
                    <a:pt x="1536383" y="104775"/>
                  </a:lnTo>
                  <a:lnTo>
                    <a:pt x="1574483" y="123825"/>
                  </a:lnTo>
                  <a:lnTo>
                    <a:pt x="1612583" y="143827"/>
                  </a:lnTo>
                  <a:lnTo>
                    <a:pt x="1649730" y="165735"/>
                  </a:lnTo>
                  <a:lnTo>
                    <a:pt x="1687830" y="189548"/>
                  </a:lnTo>
                  <a:lnTo>
                    <a:pt x="1724978" y="214312"/>
                  </a:lnTo>
                  <a:lnTo>
                    <a:pt x="1763078" y="240030"/>
                  </a:lnTo>
                  <a:lnTo>
                    <a:pt x="1800225" y="266700"/>
                  </a:lnTo>
                  <a:lnTo>
                    <a:pt x="1838325" y="294323"/>
                  </a:lnTo>
                  <a:lnTo>
                    <a:pt x="1876425" y="323850"/>
                  </a:lnTo>
                  <a:lnTo>
                    <a:pt x="1913572" y="353377"/>
                  </a:lnTo>
                  <a:lnTo>
                    <a:pt x="1951672" y="383858"/>
                  </a:lnTo>
                  <a:lnTo>
                    <a:pt x="1988820" y="415290"/>
                  </a:lnTo>
                  <a:lnTo>
                    <a:pt x="2026920" y="446723"/>
                  </a:lnTo>
                  <a:lnTo>
                    <a:pt x="2065020" y="479108"/>
                  </a:lnTo>
                  <a:lnTo>
                    <a:pt x="2102168" y="512445"/>
                  </a:lnTo>
                  <a:lnTo>
                    <a:pt x="2140268" y="545783"/>
                  </a:lnTo>
                  <a:lnTo>
                    <a:pt x="2178368" y="579120"/>
                  </a:lnTo>
                  <a:lnTo>
                    <a:pt x="2215515" y="612458"/>
                  </a:lnTo>
                  <a:lnTo>
                    <a:pt x="2253615" y="646748"/>
                  </a:lnTo>
                  <a:lnTo>
                    <a:pt x="2291715" y="681038"/>
                  </a:lnTo>
                  <a:lnTo>
                    <a:pt x="2328862" y="714375"/>
                  </a:lnTo>
                  <a:lnTo>
                    <a:pt x="2366962" y="747713"/>
                  </a:lnTo>
                  <a:lnTo>
                    <a:pt x="2404110" y="781050"/>
                  </a:lnTo>
                  <a:lnTo>
                    <a:pt x="2442210" y="814388"/>
                  </a:lnTo>
                  <a:lnTo>
                    <a:pt x="2479358" y="846772"/>
                  </a:lnTo>
                  <a:lnTo>
                    <a:pt x="2517458" y="878205"/>
                  </a:lnTo>
                  <a:lnTo>
                    <a:pt x="2555558" y="909638"/>
                  </a:lnTo>
                  <a:lnTo>
                    <a:pt x="2592705" y="940118"/>
                  </a:lnTo>
                  <a:lnTo>
                    <a:pt x="2630805" y="969645"/>
                  </a:lnTo>
                  <a:lnTo>
                    <a:pt x="2667952" y="999172"/>
                  </a:lnTo>
                  <a:lnTo>
                    <a:pt x="2706052" y="1026795"/>
                  </a:lnTo>
                  <a:lnTo>
                    <a:pt x="2744152" y="1053465"/>
                  </a:lnTo>
                  <a:lnTo>
                    <a:pt x="2782252" y="1079182"/>
                  </a:lnTo>
                  <a:lnTo>
                    <a:pt x="2819400" y="1103948"/>
                  </a:lnTo>
                  <a:lnTo>
                    <a:pt x="2857500" y="1127760"/>
                  </a:lnTo>
                  <a:lnTo>
                    <a:pt x="2894648" y="1149668"/>
                  </a:lnTo>
                  <a:lnTo>
                    <a:pt x="2932748" y="1169670"/>
                  </a:lnTo>
                  <a:lnTo>
                    <a:pt x="2970848" y="1188720"/>
                  </a:lnTo>
                  <a:lnTo>
                    <a:pt x="3007995" y="1206818"/>
                  </a:lnTo>
                  <a:lnTo>
                    <a:pt x="3046095" y="1223010"/>
                  </a:lnTo>
                  <a:lnTo>
                    <a:pt x="3083243" y="1237298"/>
                  </a:lnTo>
                  <a:lnTo>
                    <a:pt x="3121343" y="1250632"/>
                  </a:lnTo>
                  <a:lnTo>
                    <a:pt x="3158490" y="1262063"/>
                  </a:lnTo>
                  <a:lnTo>
                    <a:pt x="3196590" y="1271588"/>
                  </a:lnTo>
                  <a:lnTo>
                    <a:pt x="3234690" y="1279207"/>
                  </a:lnTo>
                  <a:lnTo>
                    <a:pt x="3271838" y="1285875"/>
                  </a:lnTo>
                  <a:lnTo>
                    <a:pt x="3309938" y="1289685"/>
                  </a:lnTo>
                  <a:lnTo>
                    <a:pt x="3348038" y="1292543"/>
                  </a:lnTo>
                  <a:lnTo>
                    <a:pt x="3386138" y="1293495"/>
                  </a:lnTo>
                  <a:lnTo>
                    <a:pt x="3423285" y="1292543"/>
                  </a:lnTo>
                  <a:lnTo>
                    <a:pt x="3461385" y="1289685"/>
                  </a:lnTo>
                  <a:lnTo>
                    <a:pt x="3498533" y="1285875"/>
                  </a:lnTo>
                  <a:lnTo>
                    <a:pt x="3536633" y="1279207"/>
                  </a:lnTo>
                  <a:lnTo>
                    <a:pt x="3573780" y="1271588"/>
                  </a:lnTo>
                  <a:lnTo>
                    <a:pt x="3611880" y="1262063"/>
                  </a:lnTo>
                  <a:lnTo>
                    <a:pt x="3649980" y="1250632"/>
                  </a:lnTo>
                  <a:lnTo>
                    <a:pt x="3687128" y="1237298"/>
                  </a:lnTo>
                  <a:lnTo>
                    <a:pt x="3725228" y="1223010"/>
                  </a:lnTo>
                  <a:lnTo>
                    <a:pt x="3762375" y="1206818"/>
                  </a:lnTo>
                  <a:lnTo>
                    <a:pt x="3800475" y="1188720"/>
                  </a:lnTo>
                  <a:lnTo>
                    <a:pt x="3837622" y="1169670"/>
                  </a:lnTo>
                  <a:lnTo>
                    <a:pt x="3875722" y="1149668"/>
                  </a:lnTo>
                  <a:lnTo>
                    <a:pt x="3913822" y="1127760"/>
                  </a:lnTo>
                  <a:lnTo>
                    <a:pt x="3951922" y="1103948"/>
                  </a:lnTo>
                  <a:lnTo>
                    <a:pt x="3989070" y="1079182"/>
                  </a:lnTo>
                  <a:lnTo>
                    <a:pt x="4027170" y="1053465"/>
                  </a:lnTo>
                  <a:lnTo>
                    <a:pt x="4065270" y="1026795"/>
                  </a:lnTo>
                  <a:lnTo>
                    <a:pt x="4102417" y="999172"/>
                  </a:lnTo>
                  <a:lnTo>
                    <a:pt x="4140517" y="969645"/>
                  </a:lnTo>
                  <a:lnTo>
                    <a:pt x="4177665" y="940118"/>
                  </a:lnTo>
                  <a:lnTo>
                    <a:pt x="4215765" y="909638"/>
                  </a:lnTo>
                  <a:lnTo>
                    <a:pt x="4252913" y="878205"/>
                  </a:lnTo>
                  <a:lnTo>
                    <a:pt x="4291013" y="846772"/>
                  </a:lnTo>
                  <a:lnTo>
                    <a:pt x="4329113" y="814388"/>
                  </a:lnTo>
                  <a:lnTo>
                    <a:pt x="4366260" y="781050"/>
                  </a:lnTo>
                  <a:lnTo>
                    <a:pt x="4404360" y="747713"/>
                  </a:lnTo>
                  <a:lnTo>
                    <a:pt x="4441508" y="714375"/>
                  </a:lnTo>
                  <a:lnTo>
                    <a:pt x="4479608" y="681038"/>
                  </a:lnTo>
                  <a:lnTo>
                    <a:pt x="4506278" y="656272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527482" y="24431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1286172" y="24431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6527482" y="32746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527482" y="16116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527482" y="24431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1054715" y="24431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475095" y="2390775"/>
              <a:ext cx="114300" cy="11430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739188" y="2390775"/>
              <a:ext cx="114300" cy="1143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606665" y="1744028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170491" y="22307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34791" y="1621155"/>
              <a:ext cx="128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76522" y="2568416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稳定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34620" y="2568416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 不稳定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91874" y="1570196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π/2 最大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78336" y="25493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2π</a:t>
              </a:r>
            </a:p>
          </p:txBody>
        </p:sp>
      </p:grpSp>
      <p:grpSp>
        <p:nvGrpSpPr>
          <p:cNvPr id="68" name="c2-table-2"/>
          <p:cNvGrpSpPr/>
          <p:nvPr/>
        </p:nvGrpSpPr>
        <p:grpSpPr>
          <a:xfrm>
            <a:off x="6032182" y="3557588"/>
            <a:ext cx="5626418" cy="1933575"/>
            <a:chOff x="6032182" y="3557588"/>
            <a:chExt cx="5626418" cy="1933575"/>
          </a:xfrm>
        </p:grpSpPr>
        <p:sp>
          <p:nvSpPr>
            <p:cNvPr id="44" name="Rectangle 44"/>
            <p:cNvSpPr/>
            <p:nvPr/>
          </p:nvSpPr>
          <p:spPr>
            <a:xfrm>
              <a:off x="6032182" y="3557588"/>
              <a:ext cx="5626418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08458" y="3688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04456" y="3688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84958" y="3688080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22255" y="3688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137529" y="4225290"/>
              <a:ext cx="9538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Pₘ 与 B 同向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25359" y="42252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00682" y="42252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25584" y="4118610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稳定：稍偏转后力矩把它拉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32182" y="46262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32182" y="463105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37529" y="4762500"/>
              <a:ext cx="9538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Pₘ 与 B 反向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25359" y="476250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00682" y="476250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625584" y="476250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不稳定：稍偏转就翻转过来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032182" y="50558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137529" y="5192078"/>
              <a:ext cx="9538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Pₘ 与 B 垂直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25359" y="519207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π/2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00682" y="5192078"/>
              <a:ext cx="719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NBIS 最大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625584" y="519207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不平衡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032182" y="3557588"/>
              <a:ext cx="5626418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715250" y="3557588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390572" y="3557588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515475" y="3557588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9" name="Rectangle 6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511" y="6004084"/>
              <a:ext cx="85070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本章的 M 既表示磁力矩也表示磁化强度，看上下文区分。电流计、电动机都是靠这个磁力矩转动的。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64553" cy="909257"/>
            <a:chOff x="520446" y="342900"/>
            <a:chExt cx="65645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磁场对载流导线的作用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645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例5.2 长直电流旁一段水平导线受的安培力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671638"/>
            <a:chOff x="533400" y="1524000"/>
            <a:chExt cx="4760595" cy="1671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例5.2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1582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长直导线通电流 I₁，同一平面内有长 l、电流 I₂ 的水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平导线 AB，A 端到长直导线的距离为 a；B 端再接一段长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的竖直导线 BC。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816066"/>
              <a:ext cx="33755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AB 受的磁力 F，以及 BC 受的磁力 fBC。</a:t>
              </a:r>
            </a:p>
          </p:txBody>
        </p:sp>
      </p:grpSp>
      <p:grpSp>
        <p:nvGrpSpPr>
          <p:cNvPr id="76" name="g_ex52"/>
          <p:cNvGrpSpPr/>
          <p:nvPr/>
        </p:nvGrpSpPr>
        <p:grpSpPr>
          <a:xfrm>
            <a:off x="1025359" y="3420428"/>
            <a:ext cx="3797148" cy="1939289"/>
            <a:chOff x="1025359" y="3420428"/>
            <a:chExt cx="3797148" cy="1939289"/>
          </a:xfrm>
        </p:grpSpPr>
        <p:sp>
          <p:nvSpPr>
            <p:cNvPr id="14" name="Freeform 14"/>
            <p:cNvSpPr/>
            <p:nvPr/>
          </p:nvSpPr>
          <p:spPr>
            <a:xfrm>
              <a:off x="1254442" y="3534728"/>
              <a:ext cx="9525" cy="1754505"/>
            </a:xfrm>
            <a:custGeom>
              <a:avLst/>
              <a:gdLst/>
              <a:ahLst/>
              <a:cxnLst/>
              <a:rect l="l" t="t" r="r" b="b"/>
              <a:pathLst>
                <a:path w="9525" h="1754505">
                  <a:moveTo>
                    <a:pt x="0" y="175450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206818" y="34394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268730" y="5101590"/>
              <a:ext cx="3439478" cy="9525"/>
            </a:xfrm>
            <a:custGeom>
              <a:avLst/>
              <a:gdLst/>
              <a:ahLst/>
              <a:cxnLst/>
              <a:rect l="l" t="t" r="r" b="b"/>
              <a:pathLst>
                <a:path w="3439478" h="9525">
                  <a:moveTo>
                    <a:pt x="0" y="0"/>
                  </a:moveTo>
                  <a:lnTo>
                    <a:pt x="343947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708208" y="50539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119312" y="4493895"/>
              <a:ext cx="1738312" cy="9525"/>
            </a:xfrm>
            <a:custGeom>
              <a:avLst/>
              <a:gdLst/>
              <a:ahLst/>
              <a:cxnLst/>
              <a:rect l="l" t="t" r="r" b="b"/>
              <a:pathLst>
                <a:path w="1738312" h="9525">
                  <a:moveTo>
                    <a:pt x="0" y="0"/>
                  </a:moveTo>
                  <a:lnTo>
                    <a:pt x="1738312" y="0"/>
                  </a:lnTo>
                </a:path>
              </a:pathLst>
            </a:custGeom>
            <a:noFill/>
            <a:ln w="28575">
              <a:solidFill>
                <a:srgbClr val="B42318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857625" y="44462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967162" y="3793808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6858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B4231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919538" y="36985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914650" y="4508182"/>
              <a:ext cx="9525" cy="579120"/>
            </a:xfrm>
            <a:custGeom>
              <a:avLst/>
              <a:gdLst/>
              <a:ahLst/>
              <a:cxnLst/>
              <a:rect l="l" t="t" r="r" b="b"/>
              <a:pathLst>
                <a:path w="9525" h="579120">
                  <a:moveTo>
                    <a:pt x="0" y="0"/>
                  </a:moveTo>
                  <a:lnTo>
                    <a:pt x="0" y="57912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3" name="Freeform 23"/>
            <p:cNvSpPr/>
            <p:nvPr/>
          </p:nvSpPr>
          <p:spPr>
            <a:xfrm>
              <a:off x="3027998" y="4508182"/>
              <a:ext cx="9525" cy="579120"/>
            </a:xfrm>
            <a:custGeom>
              <a:avLst/>
              <a:gdLst/>
              <a:ahLst/>
              <a:cxnLst/>
              <a:rect l="l" t="t" r="r" b="b"/>
              <a:pathLst>
                <a:path w="9525" h="579120">
                  <a:moveTo>
                    <a:pt x="0" y="0"/>
                  </a:moveTo>
                  <a:lnTo>
                    <a:pt x="0" y="57912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4" name="Freeform 24"/>
            <p:cNvSpPr/>
            <p:nvPr/>
          </p:nvSpPr>
          <p:spPr>
            <a:xfrm>
              <a:off x="1363980" y="4801552"/>
              <a:ext cx="631508" cy="9525"/>
            </a:xfrm>
            <a:custGeom>
              <a:avLst/>
              <a:gdLst/>
              <a:ahLst/>
              <a:cxnLst/>
              <a:rect l="l" t="t" r="r" b="b"/>
              <a:pathLst>
                <a:path w="631508" h="9525">
                  <a:moveTo>
                    <a:pt x="0" y="0"/>
                  </a:moveTo>
                  <a:lnTo>
                    <a:pt x="63150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995488" y="47539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268730" y="47539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214562" y="4898708"/>
              <a:ext cx="1643062" cy="9525"/>
            </a:xfrm>
            <a:custGeom>
              <a:avLst/>
              <a:gdLst/>
              <a:ahLst/>
              <a:cxnLst/>
              <a:rect l="l" t="t" r="r" b="b"/>
              <a:pathLst>
                <a:path w="1643062" h="9525">
                  <a:moveTo>
                    <a:pt x="0" y="0"/>
                  </a:moveTo>
                  <a:lnTo>
                    <a:pt x="164306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3857625" y="48510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2119312" y="48510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2105025" y="3846195"/>
              <a:ext cx="160020" cy="161925"/>
            </a:xfrm>
            <a:custGeom>
              <a:avLst/>
              <a:gdLst/>
              <a:ahLst/>
              <a:cxnLst/>
              <a:rect l="l" t="t" r="r" b="b"/>
              <a:pathLst>
                <a:path w="160020" h="161925">
                  <a:moveTo>
                    <a:pt x="160020" y="66675"/>
                  </a:moveTo>
                  <a:lnTo>
                    <a:pt x="160020" y="62865"/>
                  </a:lnTo>
                  <a:lnTo>
                    <a:pt x="153352" y="45720"/>
                  </a:lnTo>
                  <a:lnTo>
                    <a:pt x="143827" y="30480"/>
                  </a:lnTo>
                  <a:lnTo>
                    <a:pt x="131445" y="18097"/>
                  </a:lnTo>
                  <a:lnTo>
                    <a:pt x="116205" y="8572"/>
                  </a:lnTo>
                  <a:lnTo>
                    <a:pt x="99060" y="2858"/>
                  </a:lnTo>
                  <a:lnTo>
                    <a:pt x="80962" y="0"/>
                  </a:lnTo>
                  <a:lnTo>
                    <a:pt x="62865" y="2858"/>
                  </a:lnTo>
                  <a:lnTo>
                    <a:pt x="45720" y="8572"/>
                  </a:lnTo>
                  <a:lnTo>
                    <a:pt x="30480" y="18097"/>
                  </a:lnTo>
                  <a:lnTo>
                    <a:pt x="17145" y="30480"/>
                  </a:lnTo>
                  <a:lnTo>
                    <a:pt x="7620" y="45720"/>
                  </a:lnTo>
                  <a:lnTo>
                    <a:pt x="1905" y="62865"/>
                  </a:lnTo>
                  <a:lnTo>
                    <a:pt x="0" y="80962"/>
                  </a:lnTo>
                  <a:lnTo>
                    <a:pt x="1905" y="99060"/>
                  </a:lnTo>
                  <a:lnTo>
                    <a:pt x="7620" y="116205"/>
                  </a:lnTo>
                  <a:lnTo>
                    <a:pt x="17145" y="131445"/>
                  </a:lnTo>
                  <a:lnTo>
                    <a:pt x="30480" y="144780"/>
                  </a:lnTo>
                  <a:lnTo>
                    <a:pt x="45720" y="154305"/>
                  </a:lnTo>
                  <a:lnTo>
                    <a:pt x="62865" y="160020"/>
                  </a:lnTo>
                  <a:lnTo>
                    <a:pt x="80962" y="161925"/>
                  </a:lnTo>
                  <a:lnTo>
                    <a:pt x="99060" y="160020"/>
                  </a:lnTo>
                  <a:lnTo>
                    <a:pt x="116205" y="154305"/>
                  </a:lnTo>
                  <a:lnTo>
                    <a:pt x="131445" y="144780"/>
                  </a:lnTo>
                  <a:lnTo>
                    <a:pt x="143827" y="131445"/>
                  </a:lnTo>
                  <a:lnTo>
                    <a:pt x="153352" y="116205"/>
                  </a:lnTo>
                  <a:lnTo>
                    <a:pt x="160020" y="99060"/>
                  </a:lnTo>
                  <a:lnTo>
                    <a:pt x="160020" y="9525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2141220" y="3882390"/>
              <a:ext cx="89535" cy="90488"/>
            </a:xfrm>
            <a:custGeom>
              <a:avLst/>
              <a:gdLst/>
              <a:ahLst/>
              <a:cxnLst/>
              <a:rect l="l" t="t" r="r" b="b"/>
              <a:pathLst>
                <a:path w="89535" h="90488">
                  <a:moveTo>
                    <a:pt x="0" y="0"/>
                  </a:moveTo>
                  <a:lnTo>
                    <a:pt x="89535" y="9048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141220" y="3882390"/>
              <a:ext cx="89535" cy="90488"/>
            </a:xfrm>
            <a:custGeom>
              <a:avLst/>
              <a:gdLst/>
              <a:ahLst/>
              <a:cxnLst/>
              <a:rect l="l" t="t" r="r" b="b"/>
              <a:pathLst>
                <a:path w="89535" h="90488">
                  <a:moveTo>
                    <a:pt x="0" y="90488"/>
                  </a:moveTo>
                  <a:lnTo>
                    <a:pt x="8953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2995612" y="3846195"/>
              <a:ext cx="160020" cy="161925"/>
            </a:xfrm>
            <a:custGeom>
              <a:avLst/>
              <a:gdLst/>
              <a:ahLst/>
              <a:cxnLst/>
              <a:rect l="l" t="t" r="r" b="b"/>
              <a:pathLst>
                <a:path w="160020" h="161925">
                  <a:moveTo>
                    <a:pt x="160020" y="67627"/>
                  </a:moveTo>
                  <a:lnTo>
                    <a:pt x="160020" y="62865"/>
                  </a:lnTo>
                  <a:lnTo>
                    <a:pt x="154305" y="45720"/>
                  </a:lnTo>
                  <a:lnTo>
                    <a:pt x="143828" y="30480"/>
                  </a:lnTo>
                  <a:lnTo>
                    <a:pt x="131445" y="18097"/>
                  </a:lnTo>
                  <a:lnTo>
                    <a:pt x="116205" y="8572"/>
                  </a:lnTo>
                  <a:lnTo>
                    <a:pt x="99060" y="2858"/>
                  </a:lnTo>
                  <a:lnTo>
                    <a:pt x="80962" y="0"/>
                  </a:lnTo>
                  <a:lnTo>
                    <a:pt x="62865" y="2858"/>
                  </a:lnTo>
                  <a:lnTo>
                    <a:pt x="45720" y="8572"/>
                  </a:lnTo>
                  <a:lnTo>
                    <a:pt x="30480" y="18097"/>
                  </a:lnTo>
                  <a:lnTo>
                    <a:pt x="18097" y="30480"/>
                  </a:lnTo>
                  <a:lnTo>
                    <a:pt x="7620" y="45720"/>
                  </a:lnTo>
                  <a:lnTo>
                    <a:pt x="1905" y="62865"/>
                  </a:lnTo>
                  <a:lnTo>
                    <a:pt x="0" y="80962"/>
                  </a:lnTo>
                  <a:lnTo>
                    <a:pt x="1905" y="99060"/>
                  </a:lnTo>
                  <a:lnTo>
                    <a:pt x="7620" y="116205"/>
                  </a:lnTo>
                  <a:lnTo>
                    <a:pt x="18097" y="131445"/>
                  </a:lnTo>
                  <a:lnTo>
                    <a:pt x="30480" y="144780"/>
                  </a:lnTo>
                  <a:lnTo>
                    <a:pt x="45720" y="154305"/>
                  </a:lnTo>
                  <a:lnTo>
                    <a:pt x="62865" y="160020"/>
                  </a:lnTo>
                  <a:lnTo>
                    <a:pt x="80962" y="161925"/>
                  </a:lnTo>
                  <a:lnTo>
                    <a:pt x="99060" y="160020"/>
                  </a:lnTo>
                  <a:lnTo>
                    <a:pt x="116205" y="154305"/>
                  </a:lnTo>
                  <a:lnTo>
                    <a:pt x="131445" y="144780"/>
                  </a:lnTo>
                  <a:lnTo>
                    <a:pt x="143828" y="131445"/>
                  </a:lnTo>
                  <a:lnTo>
                    <a:pt x="154305" y="116205"/>
                  </a:lnTo>
                  <a:lnTo>
                    <a:pt x="160020" y="99060"/>
                  </a:lnTo>
                  <a:lnTo>
                    <a:pt x="160020" y="9525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031808" y="3882390"/>
              <a:ext cx="89535" cy="90488"/>
            </a:xfrm>
            <a:custGeom>
              <a:avLst/>
              <a:gdLst/>
              <a:ahLst/>
              <a:cxnLst/>
              <a:rect l="l" t="t" r="r" b="b"/>
              <a:pathLst>
                <a:path w="89535" h="90488">
                  <a:moveTo>
                    <a:pt x="0" y="0"/>
                  </a:moveTo>
                  <a:lnTo>
                    <a:pt x="89535" y="9048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3031808" y="3882390"/>
              <a:ext cx="89535" cy="90488"/>
            </a:xfrm>
            <a:custGeom>
              <a:avLst/>
              <a:gdLst/>
              <a:ahLst/>
              <a:cxnLst/>
              <a:rect l="l" t="t" r="r" b="b"/>
              <a:pathLst>
                <a:path w="89535" h="90488">
                  <a:moveTo>
                    <a:pt x="0" y="90488"/>
                  </a:moveTo>
                  <a:lnTo>
                    <a:pt x="8953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249680" y="52987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249680" y="34204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249680" y="50968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4812982" y="50968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100262" y="44891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3962400" y="44891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3962400" y="44891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3962400" y="36795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2909888" y="44891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2909888" y="50968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3023235" y="44891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3023235" y="50968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249680" y="479679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2100262" y="479679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2100262" y="48939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3962400" y="48939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2262188" y="39223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2262188" y="39223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2125980" y="38681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2235518" y="39776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2125980" y="39776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2235518" y="38681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3152775" y="39223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3152775" y="39223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3016568" y="38681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3127058" y="39776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3016568" y="39776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3127058" y="38681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25359" y="3501866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720848" y="518350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90407" y="5189696"/>
              <a:ext cx="1013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968459" y="4295299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946474" y="429529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051499" y="44734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051499" y="364759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054975" y="404241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902336" y="5189696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dx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640463" y="46415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538505" y="4738688"/>
              <a:ext cx="47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250930" y="4110514"/>
              <a:ext cx="7597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B（I₁ 的磁场）</a:t>
              </a:r>
            </a:p>
          </p:txBody>
        </p:sp>
      </p:grpSp>
      <p:grpSp>
        <p:nvGrpSpPr>
          <p:cNvPr id="94" name="c2-steps-1"/>
          <p:cNvGrpSpPr/>
          <p:nvPr/>
        </p:nvGrpSpPr>
        <p:grpSpPr>
          <a:xfrm>
            <a:off x="5598795" y="1533525"/>
            <a:ext cx="6153417" cy="2149412"/>
            <a:chOff x="5598795" y="1533525"/>
            <a:chExt cx="6153417" cy="2149412"/>
          </a:xfrm>
        </p:grpSpPr>
        <p:sp>
          <p:nvSpPr>
            <p:cNvPr id="77" name="Rectangle 77"/>
            <p:cNvSpPr/>
            <p:nvPr/>
          </p:nvSpPr>
          <p:spPr>
            <a:xfrm>
              <a:off x="5732145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559879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69241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559879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69241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5598795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69241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011418" y="1564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012561" y="1818322"/>
              <a:ext cx="25923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处 B = μ₀I₁/(2πx)，方向垂直纸面向里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011418" y="21169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电流元受力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012561" y="2371725"/>
              <a:ext cx="3847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I₂dl 沿 +x 与 B 垂直：dF = I₂B dx，方向竖直向上，各段同向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011418" y="26703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012561" y="2925128"/>
              <a:ext cx="37664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∫(a→a+l) μ₀I₁I₂ dx/(2πx) = μ₀I₁I₂ ln[(a+l)/a]/(2π)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011418" y="3222784"/>
              <a:ext cx="452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 段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012561" y="3477578"/>
              <a:ext cx="5739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 上各点 x = a + l，B 相同，I₂ 向上与 B 垂直：fBC = μ₀I₁I₂L/[2π(a+l)]，指向长直导线</a:t>
              </a:r>
            </a:p>
          </p:txBody>
        </p:sp>
      </p:grpSp>
      <p:grpSp>
        <p:nvGrpSpPr>
          <p:cNvPr id="100" name="c2-card-2"/>
          <p:cNvGrpSpPr/>
          <p:nvPr/>
        </p:nvGrpSpPr>
        <p:grpSpPr>
          <a:xfrm>
            <a:off x="5598795" y="3844290"/>
            <a:ext cx="6059805" cy="1540192"/>
            <a:chOff x="5598795" y="3844290"/>
            <a:chExt cx="6059805" cy="1540192"/>
          </a:xfrm>
        </p:grpSpPr>
        <p:sp>
          <p:nvSpPr>
            <p:cNvPr id="95" name="Rectangle 95"/>
            <p:cNvSpPr/>
            <p:nvPr/>
          </p:nvSpPr>
          <p:spPr>
            <a:xfrm>
              <a:off x="5598795" y="3844290"/>
              <a:ext cx="6059805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5608320" y="3977640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5817870" y="40252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5910542" y="40581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5811393" y="4365784"/>
              <a:ext cx="534858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 fBC = μ₀I₁I₂ l/[2π(a+l)]。BC 的长度是 L，式中的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l 应为 L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课件也没有给出两个力的方向。</a:t>
              </a:r>
            </a:p>
          </p:txBody>
        </p:sp>
      </p:grpSp>
      <p:grpSp>
        <p:nvGrpSpPr>
          <p:cNvPr id="106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101" name="Rectangle 101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04863" y="598900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1041273" y="5805011"/>
              <a:ext cx="95796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检验：I₁ = 20 A、I₂ = 5 A、a = 5 cm、l = 10 cm、L = 8 cm 时 F = 2×10⁻⁷ × 100 × ln3 ≈ 2.2×10⁻⁵ N，fBC ≈ 1.07×10⁻⁵ N；用 AB 中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点的 B 估算只得 2.0×10⁻⁵ N，偏小约 9%。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21272" cy="909257"/>
            <a:chOff x="520446" y="342900"/>
            <a:chExt cx="62212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磁场对载流导线的作用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212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例5.3 匀强磁场中正三角形线圈的磁力矩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428750"/>
            <a:chOff x="533400" y="1524000"/>
            <a:chExt cx="4760595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例5.3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37924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边长 l 的正三角形线圈通电流 I，沿 a→b→c→a 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动；匀强磁场 B 沿纸面水平向右，与线圈平面平行。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16154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线圈受的磁力矩。</a:t>
              </a:r>
            </a:p>
          </p:txBody>
        </p:sp>
      </p:grpSp>
      <p:grpSp>
        <p:nvGrpSpPr>
          <p:cNvPr id="60" name="g_ex53"/>
          <p:cNvGrpSpPr/>
          <p:nvPr/>
        </p:nvGrpSpPr>
        <p:grpSpPr>
          <a:xfrm>
            <a:off x="1006792" y="3516154"/>
            <a:ext cx="3815715" cy="1865471"/>
            <a:chOff x="1006792" y="3516154"/>
            <a:chExt cx="3815715" cy="1865471"/>
          </a:xfrm>
        </p:grpSpPr>
        <p:sp>
          <p:nvSpPr>
            <p:cNvPr id="14" name="Freeform 14"/>
            <p:cNvSpPr/>
            <p:nvPr/>
          </p:nvSpPr>
          <p:spPr>
            <a:xfrm>
              <a:off x="1025842" y="3714750"/>
              <a:ext cx="3682365" cy="9525"/>
            </a:xfrm>
            <a:custGeom>
              <a:avLst/>
              <a:gdLst/>
              <a:ahLst/>
              <a:cxnLst/>
              <a:rect l="l" t="t" r="r" b="b"/>
              <a:pathLst>
                <a:path w="3682365" h="9525">
                  <a:moveTo>
                    <a:pt x="0" y="0"/>
                  </a:moveTo>
                  <a:lnTo>
                    <a:pt x="368236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708208" y="3667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025842" y="4119562"/>
              <a:ext cx="3682365" cy="9525"/>
            </a:xfrm>
            <a:custGeom>
              <a:avLst/>
              <a:gdLst/>
              <a:ahLst/>
              <a:cxnLst/>
              <a:rect l="l" t="t" r="r" b="b"/>
              <a:pathLst>
                <a:path w="3682365" h="9525">
                  <a:moveTo>
                    <a:pt x="0" y="0"/>
                  </a:moveTo>
                  <a:lnTo>
                    <a:pt x="368236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708208" y="40719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25842" y="4524375"/>
              <a:ext cx="3682365" cy="9525"/>
            </a:xfrm>
            <a:custGeom>
              <a:avLst/>
              <a:gdLst/>
              <a:ahLst/>
              <a:cxnLst/>
              <a:rect l="l" t="t" r="r" b="b"/>
              <a:pathLst>
                <a:path w="3682365" h="9525">
                  <a:moveTo>
                    <a:pt x="0" y="0"/>
                  </a:moveTo>
                  <a:lnTo>
                    <a:pt x="368236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708208" y="4476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025842" y="4929188"/>
              <a:ext cx="3682365" cy="9525"/>
            </a:xfrm>
            <a:custGeom>
              <a:avLst/>
              <a:gdLst/>
              <a:ahLst/>
              <a:cxnLst/>
              <a:rect l="l" t="t" r="r" b="b"/>
              <a:pathLst>
                <a:path w="3682365" h="9525">
                  <a:moveTo>
                    <a:pt x="0" y="0"/>
                  </a:moveTo>
                  <a:lnTo>
                    <a:pt x="368236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708208" y="48815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025842" y="5334000"/>
              <a:ext cx="3682365" cy="9525"/>
            </a:xfrm>
            <a:custGeom>
              <a:avLst/>
              <a:gdLst/>
              <a:ahLst/>
              <a:cxnLst/>
              <a:rect l="l" t="t" r="r" b="b"/>
              <a:pathLst>
                <a:path w="3682365" h="9525">
                  <a:moveTo>
                    <a:pt x="0" y="0"/>
                  </a:moveTo>
                  <a:lnTo>
                    <a:pt x="368236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708208" y="5286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2121218" y="3727132"/>
              <a:ext cx="1586865" cy="1362075"/>
            </a:xfrm>
            <a:custGeom>
              <a:avLst/>
              <a:gdLst/>
              <a:ahLst/>
              <a:cxnLst/>
              <a:rect l="l" t="t" r="r" b="b"/>
              <a:pathLst>
                <a:path w="1586865" h="1362075">
                  <a:moveTo>
                    <a:pt x="785812" y="0"/>
                  </a:moveTo>
                  <a:lnTo>
                    <a:pt x="0" y="1362075"/>
                  </a:lnTo>
                  <a:lnTo>
                    <a:pt x="1586865" y="1362075"/>
                  </a:lnTo>
                  <a:lnTo>
                    <a:pt x="800100" y="0"/>
                  </a:lnTo>
                </a:path>
              </a:pathLst>
            </a:custGeom>
            <a:noFill/>
            <a:ln w="26670">
              <a:solidFill>
                <a:srgbClr val="2F4B9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2508885" y="4345305"/>
              <a:ext cx="40958" cy="71438"/>
            </a:xfrm>
            <a:custGeom>
              <a:avLst/>
              <a:gdLst/>
              <a:ahLst/>
              <a:cxnLst/>
              <a:rect l="l" t="t" r="r" b="b"/>
              <a:pathLst>
                <a:path w="40958" h="71438">
                  <a:moveTo>
                    <a:pt x="40958" y="0"/>
                  </a:moveTo>
                  <a:lnTo>
                    <a:pt x="0" y="71438"/>
                  </a:lnTo>
                </a:path>
              </a:pathLst>
            </a:custGeom>
            <a:noFill/>
            <a:ln w="26670">
              <a:solidFill>
                <a:srgbClr val="2F4B9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461260" y="4392930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0" y="106680"/>
                  </a:moveTo>
                  <a:lnTo>
                    <a:pt x="6668" y="0"/>
                  </a:lnTo>
                  <a:lnTo>
                    <a:pt x="89535" y="47625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849880" y="5089208"/>
              <a:ext cx="81915" cy="9525"/>
            </a:xfrm>
            <a:custGeom>
              <a:avLst/>
              <a:gdLst/>
              <a:ahLst/>
              <a:cxnLst/>
              <a:rect l="l" t="t" r="r" b="b"/>
              <a:pathLst>
                <a:path w="81915" h="9525">
                  <a:moveTo>
                    <a:pt x="0" y="0"/>
                  </a:moveTo>
                  <a:lnTo>
                    <a:pt x="81915" y="0"/>
                  </a:lnTo>
                </a:path>
              </a:pathLst>
            </a:custGeom>
            <a:noFill/>
            <a:ln w="26670">
              <a:solidFill>
                <a:srgbClr val="2F4B9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931795" y="50415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3302318" y="4387215"/>
              <a:ext cx="41910" cy="71438"/>
            </a:xfrm>
            <a:custGeom>
              <a:avLst/>
              <a:gdLst/>
              <a:ahLst/>
              <a:cxnLst/>
              <a:rect l="l" t="t" r="r" b="b"/>
              <a:pathLst>
                <a:path w="41910" h="71438">
                  <a:moveTo>
                    <a:pt x="41910" y="71438"/>
                  </a:moveTo>
                  <a:lnTo>
                    <a:pt x="0" y="0"/>
                  </a:lnTo>
                </a:path>
              </a:pathLst>
            </a:custGeom>
            <a:noFill/>
            <a:ln w="26670">
              <a:solidFill>
                <a:srgbClr val="2F4B9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254692" y="4304348"/>
              <a:ext cx="88583" cy="106680"/>
            </a:xfrm>
            <a:custGeom>
              <a:avLst/>
              <a:gdLst/>
              <a:ahLst/>
              <a:cxnLst/>
              <a:rect l="l" t="t" r="r" b="b"/>
              <a:pathLst>
                <a:path w="88583" h="106680">
                  <a:moveTo>
                    <a:pt x="0" y="0"/>
                  </a:moveTo>
                  <a:lnTo>
                    <a:pt x="88583" y="59055"/>
                  </a:lnTo>
                  <a:lnTo>
                    <a:pt x="6667" y="10668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2825115" y="4542472"/>
              <a:ext cx="177165" cy="178118"/>
            </a:xfrm>
            <a:custGeom>
              <a:avLst/>
              <a:gdLst/>
              <a:ahLst/>
              <a:cxnLst/>
              <a:rect l="l" t="t" r="r" b="b"/>
              <a:pathLst>
                <a:path w="177165" h="178118">
                  <a:moveTo>
                    <a:pt x="177165" y="74295"/>
                  </a:moveTo>
                  <a:lnTo>
                    <a:pt x="176212" y="68580"/>
                  </a:lnTo>
                  <a:lnTo>
                    <a:pt x="169545" y="50483"/>
                  </a:lnTo>
                  <a:lnTo>
                    <a:pt x="159067" y="33338"/>
                  </a:lnTo>
                  <a:lnTo>
                    <a:pt x="144780" y="19050"/>
                  </a:lnTo>
                  <a:lnTo>
                    <a:pt x="128588" y="8573"/>
                  </a:lnTo>
                  <a:lnTo>
                    <a:pt x="109538" y="1905"/>
                  </a:lnTo>
                  <a:lnTo>
                    <a:pt x="89535" y="0"/>
                  </a:lnTo>
                  <a:lnTo>
                    <a:pt x="69532" y="1905"/>
                  </a:lnTo>
                  <a:lnTo>
                    <a:pt x="50482" y="8573"/>
                  </a:lnTo>
                  <a:lnTo>
                    <a:pt x="34290" y="19050"/>
                  </a:lnTo>
                  <a:lnTo>
                    <a:pt x="20002" y="33338"/>
                  </a:lnTo>
                  <a:lnTo>
                    <a:pt x="9525" y="50483"/>
                  </a:lnTo>
                  <a:lnTo>
                    <a:pt x="2857" y="68580"/>
                  </a:lnTo>
                  <a:lnTo>
                    <a:pt x="0" y="88583"/>
                  </a:lnTo>
                  <a:lnTo>
                    <a:pt x="2857" y="108585"/>
                  </a:lnTo>
                  <a:lnTo>
                    <a:pt x="9525" y="127635"/>
                  </a:lnTo>
                  <a:lnTo>
                    <a:pt x="20002" y="143828"/>
                  </a:lnTo>
                  <a:lnTo>
                    <a:pt x="34290" y="158115"/>
                  </a:lnTo>
                  <a:lnTo>
                    <a:pt x="50482" y="168593"/>
                  </a:lnTo>
                  <a:lnTo>
                    <a:pt x="69532" y="175260"/>
                  </a:lnTo>
                  <a:lnTo>
                    <a:pt x="89535" y="178118"/>
                  </a:lnTo>
                  <a:lnTo>
                    <a:pt x="109538" y="175260"/>
                  </a:lnTo>
                  <a:lnTo>
                    <a:pt x="128588" y="168593"/>
                  </a:lnTo>
                  <a:lnTo>
                    <a:pt x="144780" y="158115"/>
                  </a:lnTo>
                  <a:lnTo>
                    <a:pt x="159067" y="143828"/>
                  </a:lnTo>
                  <a:lnTo>
                    <a:pt x="169545" y="127635"/>
                  </a:lnTo>
                  <a:lnTo>
                    <a:pt x="176212" y="108585"/>
                  </a:lnTo>
                  <a:lnTo>
                    <a:pt x="177165" y="10287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006792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812982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006792" y="41148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812982" y="41148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06792" y="45196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4812982" y="45196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06792" y="49244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4812982" y="49244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06792" y="5329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4812982" y="5329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909888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909888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2552700" y="43281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2449830" y="45072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2830830" y="50844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3036570" y="50844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3346132" y="44662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3243262" y="42872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2998470" y="46262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2998470" y="46262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2884170" y="460057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691579" y="35161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871603" y="35485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964823" y="508492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778383" y="508492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321005" y="4212431"/>
              <a:ext cx="53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890805" y="5154930"/>
              <a:ext cx="47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066614" y="453580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pₘ</a:t>
              </a:r>
            </a:p>
          </p:txBody>
        </p:sp>
      </p:grpSp>
      <p:grpSp>
        <p:nvGrpSpPr>
          <p:cNvPr id="78" name="c2-steps-1"/>
          <p:cNvGrpSpPr/>
          <p:nvPr/>
        </p:nvGrpSpPr>
        <p:grpSpPr>
          <a:xfrm>
            <a:off x="5598795" y="1533525"/>
            <a:ext cx="4384849" cy="2149412"/>
            <a:chOff x="5598795" y="1533525"/>
            <a:chExt cx="4384849" cy="2149412"/>
          </a:xfrm>
        </p:grpSpPr>
        <p:sp>
          <p:nvSpPr>
            <p:cNvPr id="61" name="Rectangle 61"/>
            <p:cNvSpPr/>
            <p:nvPr/>
          </p:nvSpPr>
          <p:spPr>
            <a:xfrm>
              <a:off x="5732145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559879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69241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559879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69241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5598795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69241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011418" y="1564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面积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12561" y="1818322"/>
              <a:ext cx="1886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(1/2)l² sin60° = √3 l²/4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011418" y="21169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磁矩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12561" y="2371725"/>
              <a:ext cx="3971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pₘ = IS = √3 Il²/4；电流 a→b→c→a 为逆时针，pₘ 垂直纸面向外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011418" y="26703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力矩大小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012561" y="2925128"/>
              <a:ext cx="34903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pₘ 与 B 垂直，φ = π/2：M = pₘB sin(π/2) = √3 BIl²/4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011418" y="32227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力矩方向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012561" y="3477578"/>
              <a:ext cx="2721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pₘ × B：纸外 × 向右 = 纸面内竖直向上</a:t>
              </a:r>
            </a:p>
          </p:txBody>
        </p:sp>
      </p:grpSp>
      <p:grpSp>
        <p:nvGrpSpPr>
          <p:cNvPr id="83" name="c2-card-2"/>
          <p:cNvGrpSpPr/>
          <p:nvPr/>
        </p:nvGrpSpPr>
        <p:grpSpPr>
          <a:xfrm>
            <a:off x="5598795" y="3844290"/>
            <a:ext cx="6059805" cy="1143952"/>
            <a:chOff x="5598795" y="3844290"/>
            <a:chExt cx="6059805" cy="1143952"/>
          </a:xfrm>
        </p:grpSpPr>
        <p:sp>
          <p:nvSpPr>
            <p:cNvPr id="79" name="Rectangle 79"/>
            <p:cNvSpPr/>
            <p:nvPr/>
          </p:nvSpPr>
          <p:spPr>
            <a:xfrm>
              <a:off x="5598795" y="3844290"/>
              <a:ext cx="6059805" cy="1143952"/>
            </a:xfrm>
            <a:prstGeom prst="roundRect">
              <a:avLst>
                <a:gd name="adj" fmla="val 1165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5779770" y="402526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876493" y="405812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773293" y="4365784"/>
              <a:ext cx="53449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 = √3 BIl²/4，方向沿纸面竖直向上，线圈绕竖直轴转动，直到 pₘ 转到与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同向。</a:t>
              </a:r>
            </a:p>
          </p:txBody>
        </p:sp>
      </p:grpSp>
      <p:grpSp>
        <p:nvGrpSpPr>
          <p:cNvPr id="89" name="c2-card-3"/>
          <p:cNvGrpSpPr/>
          <p:nvPr/>
        </p:nvGrpSpPr>
        <p:grpSpPr>
          <a:xfrm>
            <a:off x="5598795" y="5153978"/>
            <a:ext cx="6059805" cy="1143952"/>
            <a:chOff x="5598795" y="5153978"/>
            <a:chExt cx="6059805" cy="1143952"/>
          </a:xfrm>
        </p:grpSpPr>
        <p:sp>
          <p:nvSpPr>
            <p:cNvPr id="84" name="Rectangle 84"/>
            <p:cNvSpPr/>
            <p:nvPr/>
          </p:nvSpPr>
          <p:spPr>
            <a:xfrm>
              <a:off x="5598795" y="5153978"/>
              <a:ext cx="605980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5608320" y="5287328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5817870" y="533495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910542" y="53678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811393" y="5674519"/>
              <a:ext cx="51579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逐边写 dF = Idl × B 再求 r × dF 之和，数值积分（l = 0.1 m、I = 2 A、B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0.5 T）得 4.33×10⁻³ N·m、沿纸面向上，与公式一致。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68639" cy="3351847"/>
            <a:chOff x="667512" y="1835468"/>
            <a:chExt cx="556863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第八部分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磁场对运动电荷的作用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58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5.8，洛伦兹力、带电粒子的运动与霍尔效应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洛伦兹力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圆周运动与螺旋运动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磁聚焦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霍尔效应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97506" cy="909257"/>
            <a:chOff x="520446" y="342900"/>
            <a:chExt cx="72975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磁场对运动电荷的作用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975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洛伦兹力：运动电荷在磁场中受的力 F = qv × B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01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⃗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</m:acc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</m:t>
                      </m:r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</m:d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vB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rd-2"/>
          <p:cNvGrpSpPr/>
          <p:nvPr/>
        </p:nvGrpSpPr>
        <p:grpSpPr>
          <a:xfrm>
            <a:off x="533400" y="2080260"/>
            <a:ext cx="5410200" cy="1254442"/>
            <a:chOff x="533400" y="2080260"/>
            <a:chExt cx="5410200" cy="1254442"/>
          </a:xfrm>
        </p:grpSpPr>
        <p:sp>
          <p:nvSpPr>
            <p:cNvPr id="8" name="Rectangle 8"/>
            <p:cNvSpPr/>
            <p:nvPr/>
          </p:nvSpPr>
          <p:spPr>
            <a:xfrm>
              <a:off x="533400" y="208026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213610"/>
              <a:ext cx="47625" cy="98774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3905" y="227266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5345" y="23069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68509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628900"/>
              <a:ext cx="33081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&gt; 0：与 v×B 同向；q &lt; 0：与 v×B 反向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98799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931795"/>
              <a:ext cx="34199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Fₘ 同时垂直于 v 和 B，θ 是 v 与 B 的夹角</a:t>
              </a:r>
            </a:p>
          </p:txBody>
        </p:sp>
      </p:grpSp>
      <p:grpSp>
        <p:nvGrpSpPr>
          <p:cNvPr id="21" name="c1-card-3"/>
          <p:cNvGrpSpPr/>
          <p:nvPr/>
        </p:nvGrpSpPr>
        <p:grpSpPr>
          <a:xfrm>
            <a:off x="533400" y="3509962"/>
            <a:ext cx="5410200" cy="1466850"/>
            <a:chOff x="533400" y="3509962"/>
            <a:chExt cx="5410200" cy="1466850"/>
          </a:xfrm>
        </p:grpSpPr>
        <p:sp>
          <p:nvSpPr>
            <p:cNvPr id="17" name="Rectangle 17"/>
            <p:cNvSpPr/>
            <p:nvPr/>
          </p:nvSpPr>
          <p:spPr>
            <a:xfrm>
              <a:off x="533400" y="3509962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5805" y="3702368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7242" y="373665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与安培力的关系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8947" y="4058602"/>
              <a:ext cx="478002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电流元 Idl = J dS dl = nqv dS dl = Nqv，所以 dF = Idl × B = N ·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qv × B，平均到每个载流子就是 qv × B。安培力是导体中大量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载流子所受洛伦兹力的宏观表现。</a:t>
              </a:r>
            </a:p>
          </p:txBody>
        </p:sp>
      </p:grpSp>
      <p:grpSp>
        <p:nvGrpSpPr>
          <p:cNvPr id="27" name="c1-card-4"/>
          <p:cNvGrpSpPr/>
          <p:nvPr/>
        </p:nvGrpSpPr>
        <p:grpSpPr>
          <a:xfrm>
            <a:off x="533400" y="5152072"/>
            <a:ext cx="5410200" cy="1209675"/>
            <a:chOff x="533400" y="5152072"/>
            <a:chExt cx="5410200" cy="1209675"/>
          </a:xfrm>
        </p:grpSpPr>
        <p:sp>
          <p:nvSpPr>
            <p:cNvPr id="22" name="Rectangle 22"/>
            <p:cNvSpPr/>
            <p:nvPr/>
          </p:nvSpPr>
          <p:spPr>
            <a:xfrm>
              <a:off x="533400" y="5152072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5285422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3905" y="534447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5345" y="53787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7047" y="5700712"/>
              <a:ext cx="44799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质子以 v = 1.0×10⁶ m/s 垂直射入 B = 0.5 T 的磁场：Fₘ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evB = 1.6×10⁻¹⁹ × 10⁶ × 0.5 = 8.0×10⁻¹⁴ N。</a:t>
              </a:r>
            </a:p>
          </p:txBody>
        </p:sp>
      </p:grpSp>
      <p:grpSp>
        <p:nvGrpSpPr>
          <p:cNvPr id="50" name="g_lorentz"/>
          <p:cNvGrpSpPr/>
          <p:nvPr/>
        </p:nvGrpSpPr>
        <p:grpSpPr>
          <a:xfrm>
            <a:off x="7159942" y="1870710"/>
            <a:ext cx="3410903" cy="2238375"/>
            <a:chOff x="7159942" y="1870710"/>
            <a:chExt cx="3410903" cy="2238375"/>
          </a:xfrm>
        </p:grpSpPr>
        <p:sp>
          <p:nvSpPr>
            <p:cNvPr id="28" name="Freeform 28"/>
            <p:cNvSpPr/>
            <p:nvPr/>
          </p:nvSpPr>
          <p:spPr>
            <a:xfrm>
              <a:off x="7806690" y="3300412"/>
              <a:ext cx="2649855" cy="9525"/>
            </a:xfrm>
            <a:custGeom>
              <a:avLst/>
              <a:gdLst/>
              <a:ahLst/>
              <a:cxnLst/>
              <a:rect l="l" t="t" r="r" b="b"/>
              <a:pathLst>
                <a:path w="2649855" h="9525">
                  <a:moveTo>
                    <a:pt x="0" y="0"/>
                  </a:moveTo>
                  <a:lnTo>
                    <a:pt x="2649855" y="0"/>
                  </a:lnTo>
                </a:path>
              </a:pathLst>
            </a:custGeom>
            <a:noFill/>
            <a:ln w="26670">
              <a:solidFill>
                <a:srgbClr val="F26B3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0456545" y="32527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802880" y="1978342"/>
              <a:ext cx="1564957" cy="1313498"/>
            </a:xfrm>
            <a:custGeom>
              <a:avLst/>
              <a:gdLst/>
              <a:ahLst/>
              <a:cxnLst/>
              <a:rect l="l" t="t" r="r" b="b"/>
              <a:pathLst>
                <a:path w="1564957" h="1313498">
                  <a:moveTo>
                    <a:pt x="0" y="1313498"/>
                  </a:moveTo>
                  <a:lnTo>
                    <a:pt x="1564957" y="0"/>
                  </a:lnTo>
                </a:path>
              </a:pathLst>
            </a:custGeom>
            <a:noFill/>
            <a:ln w="26670">
              <a:solidFill>
                <a:srgbClr val="2F4B9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337358" y="1917382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103823" y="0"/>
                  </a:moveTo>
                  <a:lnTo>
                    <a:pt x="60960" y="97155"/>
                  </a:lnTo>
                  <a:lnTo>
                    <a:pt x="0" y="24765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199120" y="2977515"/>
              <a:ext cx="112395" cy="308610"/>
            </a:xfrm>
            <a:custGeom>
              <a:avLst/>
              <a:gdLst/>
              <a:ahLst/>
              <a:cxnLst/>
              <a:rect l="l" t="t" r="r" b="b"/>
              <a:pathLst>
                <a:path w="112395" h="308610">
                  <a:moveTo>
                    <a:pt x="112395" y="308610"/>
                  </a:moveTo>
                  <a:lnTo>
                    <a:pt x="111443" y="286702"/>
                  </a:lnTo>
                  <a:lnTo>
                    <a:pt x="107633" y="251460"/>
                  </a:lnTo>
                  <a:lnTo>
                    <a:pt x="100965" y="215265"/>
                  </a:lnTo>
                  <a:lnTo>
                    <a:pt x="92393" y="180022"/>
                  </a:lnTo>
                  <a:lnTo>
                    <a:pt x="80962" y="145732"/>
                  </a:lnTo>
                  <a:lnTo>
                    <a:pt x="67628" y="111442"/>
                  </a:lnTo>
                  <a:lnTo>
                    <a:pt x="52388" y="79057"/>
                  </a:lnTo>
                  <a:lnTo>
                    <a:pt x="33338" y="47625"/>
                  </a:lnTo>
                  <a:lnTo>
                    <a:pt x="13335" y="18097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159942" y="2581275"/>
              <a:ext cx="222885" cy="225742"/>
            </a:xfrm>
            <a:custGeom>
              <a:avLst/>
              <a:gdLst/>
              <a:ahLst/>
              <a:cxnLst/>
              <a:rect l="l" t="t" r="r" b="b"/>
              <a:pathLst>
                <a:path w="222885" h="225742">
                  <a:moveTo>
                    <a:pt x="222885" y="99060"/>
                  </a:moveTo>
                  <a:lnTo>
                    <a:pt x="221932" y="87630"/>
                  </a:lnTo>
                  <a:lnTo>
                    <a:pt x="213360" y="63817"/>
                  </a:lnTo>
                  <a:lnTo>
                    <a:pt x="200025" y="42862"/>
                  </a:lnTo>
                  <a:lnTo>
                    <a:pt x="181927" y="24765"/>
                  </a:lnTo>
                  <a:lnTo>
                    <a:pt x="160972" y="11430"/>
                  </a:lnTo>
                  <a:lnTo>
                    <a:pt x="137160" y="2858"/>
                  </a:lnTo>
                  <a:lnTo>
                    <a:pt x="112395" y="0"/>
                  </a:lnTo>
                  <a:lnTo>
                    <a:pt x="87630" y="2858"/>
                  </a:lnTo>
                  <a:lnTo>
                    <a:pt x="63817" y="11430"/>
                  </a:lnTo>
                  <a:lnTo>
                    <a:pt x="41910" y="24765"/>
                  </a:lnTo>
                  <a:lnTo>
                    <a:pt x="23812" y="42862"/>
                  </a:lnTo>
                  <a:lnTo>
                    <a:pt x="10477" y="63817"/>
                  </a:lnTo>
                  <a:lnTo>
                    <a:pt x="1905" y="87630"/>
                  </a:lnTo>
                  <a:lnTo>
                    <a:pt x="0" y="113347"/>
                  </a:lnTo>
                  <a:lnTo>
                    <a:pt x="1905" y="138112"/>
                  </a:lnTo>
                  <a:lnTo>
                    <a:pt x="10477" y="161925"/>
                  </a:lnTo>
                  <a:lnTo>
                    <a:pt x="23812" y="182880"/>
                  </a:lnTo>
                  <a:lnTo>
                    <a:pt x="41910" y="200978"/>
                  </a:lnTo>
                  <a:lnTo>
                    <a:pt x="63817" y="214312"/>
                  </a:lnTo>
                  <a:lnTo>
                    <a:pt x="87630" y="222885"/>
                  </a:lnTo>
                  <a:lnTo>
                    <a:pt x="112395" y="225742"/>
                  </a:lnTo>
                  <a:lnTo>
                    <a:pt x="137160" y="222885"/>
                  </a:lnTo>
                  <a:lnTo>
                    <a:pt x="160972" y="214312"/>
                  </a:lnTo>
                  <a:lnTo>
                    <a:pt x="181927" y="200978"/>
                  </a:lnTo>
                  <a:lnTo>
                    <a:pt x="200025" y="182880"/>
                  </a:lnTo>
                  <a:lnTo>
                    <a:pt x="213360" y="161925"/>
                  </a:lnTo>
                  <a:lnTo>
                    <a:pt x="221932" y="138112"/>
                  </a:lnTo>
                  <a:lnTo>
                    <a:pt x="222885" y="126683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7787640" y="32956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0561320" y="32956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787640" y="32956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446895" y="19030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06752" y="32956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185785" y="29622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7716202" y="3224212"/>
              <a:ext cx="152400" cy="1524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7379970" y="26898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7379970" y="26898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241858" y="266414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433256" y="34023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42263" y="187071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22528" y="30384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90043" y="34023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80753" y="236220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94253" y="3932873"/>
              <a:ext cx="17947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q &gt; 0：Fₘ 沿 v×B，垂直纸面向外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248400" y="4299585"/>
            <a:ext cx="5410200" cy="2062162"/>
            <a:chOff x="6248400" y="4299585"/>
            <a:chExt cx="5410200" cy="2062162"/>
          </a:xfrm>
        </p:grpSpPr>
        <p:sp>
          <p:nvSpPr>
            <p:cNvPr id="51" name="Rectangle 51"/>
            <p:cNvSpPr/>
            <p:nvPr/>
          </p:nvSpPr>
          <p:spPr>
            <a:xfrm>
              <a:off x="6248400" y="4299585"/>
              <a:ext cx="5410200" cy="2062162"/>
            </a:xfrm>
            <a:prstGeom prst="roundRect">
              <a:avLst>
                <a:gd name="adj" fmla="val 6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4432935"/>
              <a:ext cx="47625" cy="17954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8905" y="449199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50342" y="452628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洛伦兹力不做功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72047" y="4848225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Fₘ ⊥ v，功率 Fₘ·v = 0。它只改变速度的方向，不改变速率和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动能。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73190" y="5404009"/>
              <a:ext cx="4705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所以磁场不能用来给带电粒子加速，回旋加速器里真正做功的是两盒间的电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场。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98978" cy="909257"/>
            <a:chOff x="520446" y="342900"/>
            <a:chExt cx="75989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磁场对运动电荷的作用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989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带电粒子在匀强磁场中怎么动，看 v₀ 与 B 的夹角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410200" cy="2022158"/>
            <a:chOff x="533400" y="1524000"/>
            <a:chExt cx="5410200" cy="20221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4398" y="1659731"/>
              <a:ext cx="6010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v₀ 与 B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7881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洛伦兹力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4469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09844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平行（θ = 0 或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64283" y="22217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12146" y="22217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匀速直线运动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308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垂直（θ = π/2）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64283" y="2783681"/>
              <a:ext cx="17107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|q|v₀B，始终指向圆心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12146" y="278368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匀速率圆周运动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32309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成任意角 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64283" y="323230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只由垂直分量产生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12146" y="32323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螺旋运动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151698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99560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204"/>
              <p:cNvSpPr txBox="1">
                <a:spLocks noGrp="1"/>
              </p:cNvSpPr>
              <p:nvPr/>
            </p:nvSpPr>
            <p:spPr>
              <a:xfrm>
                <a:off x="533400" y="3736658"/>
                <a:ext cx="541020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</m:d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205"/>
              <p:cNvSpPr txBox="1">
                <a:spLocks noGrp="1"/>
              </p:cNvSpPr>
              <p:nvPr/>
            </p:nvSpPr>
            <p:spPr>
              <a:xfrm>
                <a:off x="533400" y="4467225"/>
                <a:ext cx="541020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</m:d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2πR</m:t>
                          </m:r>
                        </m:num>
                        <m:den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2πm</m:t>
                          </m:r>
                        </m:num>
                        <m:den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</m:d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4" name="c1-callout-4"/>
          <p:cNvGrpSpPr/>
          <p:nvPr/>
        </p:nvGrpSpPr>
        <p:grpSpPr>
          <a:xfrm>
            <a:off x="533400" y="5197792"/>
            <a:ext cx="5410200" cy="782955"/>
            <a:chOff x="533400" y="5197792"/>
            <a:chExt cx="5410200" cy="782955"/>
          </a:xfrm>
        </p:grpSpPr>
        <p:sp>
          <p:nvSpPr>
            <p:cNvPr id="29" name="Rectangle 29"/>
            <p:cNvSpPr/>
            <p:nvPr/>
          </p:nvSpPr>
          <p:spPr>
            <a:xfrm>
              <a:off x="533400" y="519779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489260"/>
              <a:ext cx="200023" cy="200023"/>
              <a:chOff x="738188" y="5489260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4892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55559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346382"/>
              <a:ext cx="4415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与 v₀ 成正比，T 却与 v₀ 无关：快的粒子走大圆，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慢的走小圆，转一圈用的时间相同。</a:t>
              </a:r>
            </a:p>
          </p:txBody>
        </p:sp>
      </p:grpSp>
      <p:grpSp>
        <p:nvGrpSpPr>
          <p:cNvPr id="123" name="g_gyro"/>
          <p:cNvGrpSpPr/>
          <p:nvPr/>
        </p:nvGrpSpPr>
        <p:grpSpPr>
          <a:xfrm>
            <a:off x="6489944" y="1989772"/>
            <a:ext cx="4889011" cy="3682079"/>
            <a:chOff x="6489944" y="1989772"/>
            <a:chExt cx="4889011" cy="3682079"/>
          </a:xfrm>
        </p:grpSpPr>
        <p:sp>
          <p:nvSpPr>
            <p:cNvPr id="35" name="Freeform 35"/>
            <p:cNvSpPr/>
            <p:nvPr/>
          </p:nvSpPr>
          <p:spPr>
            <a:xfrm>
              <a:off x="7762875" y="2466975"/>
              <a:ext cx="2381250" cy="2380298"/>
            </a:xfrm>
            <a:custGeom>
              <a:avLst/>
              <a:gdLst/>
              <a:ahLst/>
              <a:cxnLst/>
              <a:rect l="l" t="t" r="r" b="b"/>
              <a:pathLst>
                <a:path w="2381250" h="2380298">
                  <a:moveTo>
                    <a:pt x="2381250" y="1175385"/>
                  </a:moveTo>
                  <a:lnTo>
                    <a:pt x="2378393" y="1115378"/>
                  </a:lnTo>
                  <a:lnTo>
                    <a:pt x="2371725" y="1041083"/>
                  </a:lnTo>
                  <a:lnTo>
                    <a:pt x="2360295" y="966788"/>
                  </a:lnTo>
                  <a:lnTo>
                    <a:pt x="2344102" y="894397"/>
                  </a:lnTo>
                  <a:lnTo>
                    <a:pt x="2323148" y="822008"/>
                  </a:lnTo>
                  <a:lnTo>
                    <a:pt x="2297430" y="751522"/>
                  </a:lnTo>
                  <a:lnTo>
                    <a:pt x="2267902" y="682942"/>
                  </a:lnTo>
                  <a:lnTo>
                    <a:pt x="2233612" y="616267"/>
                  </a:lnTo>
                  <a:lnTo>
                    <a:pt x="2195512" y="552450"/>
                  </a:lnTo>
                  <a:lnTo>
                    <a:pt x="2153602" y="490538"/>
                  </a:lnTo>
                  <a:lnTo>
                    <a:pt x="2107882" y="430530"/>
                  </a:lnTo>
                  <a:lnTo>
                    <a:pt x="2058352" y="375285"/>
                  </a:lnTo>
                  <a:lnTo>
                    <a:pt x="2005012" y="321945"/>
                  </a:lnTo>
                  <a:lnTo>
                    <a:pt x="1949768" y="272415"/>
                  </a:lnTo>
                  <a:lnTo>
                    <a:pt x="1890712" y="226695"/>
                  </a:lnTo>
                  <a:lnTo>
                    <a:pt x="1828800" y="184785"/>
                  </a:lnTo>
                  <a:lnTo>
                    <a:pt x="1764030" y="146685"/>
                  </a:lnTo>
                  <a:lnTo>
                    <a:pt x="1697355" y="112395"/>
                  </a:lnTo>
                  <a:lnTo>
                    <a:pt x="1628775" y="82867"/>
                  </a:lnTo>
                  <a:lnTo>
                    <a:pt x="1558290" y="58103"/>
                  </a:lnTo>
                  <a:lnTo>
                    <a:pt x="1486853" y="37147"/>
                  </a:lnTo>
                  <a:lnTo>
                    <a:pt x="1413510" y="20955"/>
                  </a:lnTo>
                  <a:lnTo>
                    <a:pt x="1340168" y="8572"/>
                  </a:lnTo>
                  <a:lnTo>
                    <a:pt x="1264920" y="1905"/>
                  </a:lnTo>
                  <a:lnTo>
                    <a:pt x="1190625" y="0"/>
                  </a:lnTo>
                  <a:lnTo>
                    <a:pt x="1116330" y="1905"/>
                  </a:lnTo>
                  <a:lnTo>
                    <a:pt x="1041082" y="8572"/>
                  </a:lnTo>
                  <a:lnTo>
                    <a:pt x="967740" y="20955"/>
                  </a:lnTo>
                  <a:lnTo>
                    <a:pt x="894397" y="37147"/>
                  </a:lnTo>
                  <a:lnTo>
                    <a:pt x="822960" y="58103"/>
                  </a:lnTo>
                  <a:lnTo>
                    <a:pt x="752475" y="82867"/>
                  </a:lnTo>
                  <a:lnTo>
                    <a:pt x="683895" y="112395"/>
                  </a:lnTo>
                  <a:lnTo>
                    <a:pt x="617220" y="146685"/>
                  </a:lnTo>
                  <a:lnTo>
                    <a:pt x="552450" y="184785"/>
                  </a:lnTo>
                  <a:lnTo>
                    <a:pt x="490538" y="226695"/>
                  </a:lnTo>
                  <a:lnTo>
                    <a:pt x="431482" y="272415"/>
                  </a:lnTo>
                  <a:lnTo>
                    <a:pt x="376238" y="321945"/>
                  </a:lnTo>
                  <a:lnTo>
                    <a:pt x="322897" y="375285"/>
                  </a:lnTo>
                  <a:lnTo>
                    <a:pt x="273368" y="430530"/>
                  </a:lnTo>
                  <a:lnTo>
                    <a:pt x="227647" y="490538"/>
                  </a:lnTo>
                  <a:lnTo>
                    <a:pt x="185738" y="552450"/>
                  </a:lnTo>
                  <a:lnTo>
                    <a:pt x="147638" y="616267"/>
                  </a:lnTo>
                  <a:lnTo>
                    <a:pt x="113347" y="682942"/>
                  </a:lnTo>
                  <a:lnTo>
                    <a:pt x="83820" y="751522"/>
                  </a:lnTo>
                  <a:lnTo>
                    <a:pt x="58103" y="822008"/>
                  </a:lnTo>
                  <a:lnTo>
                    <a:pt x="37147" y="894397"/>
                  </a:lnTo>
                  <a:lnTo>
                    <a:pt x="20955" y="966788"/>
                  </a:lnTo>
                  <a:lnTo>
                    <a:pt x="9525" y="1041083"/>
                  </a:lnTo>
                  <a:lnTo>
                    <a:pt x="2857" y="1115378"/>
                  </a:lnTo>
                  <a:lnTo>
                    <a:pt x="0" y="1189672"/>
                  </a:lnTo>
                  <a:lnTo>
                    <a:pt x="2857" y="1264920"/>
                  </a:lnTo>
                  <a:lnTo>
                    <a:pt x="9525" y="1339215"/>
                  </a:lnTo>
                  <a:lnTo>
                    <a:pt x="20955" y="1413510"/>
                  </a:lnTo>
                  <a:lnTo>
                    <a:pt x="37147" y="1485900"/>
                  </a:lnTo>
                  <a:lnTo>
                    <a:pt x="58103" y="1558290"/>
                  </a:lnTo>
                  <a:lnTo>
                    <a:pt x="83820" y="1628775"/>
                  </a:lnTo>
                  <a:lnTo>
                    <a:pt x="113347" y="1697355"/>
                  </a:lnTo>
                  <a:lnTo>
                    <a:pt x="147638" y="1763078"/>
                  </a:lnTo>
                  <a:lnTo>
                    <a:pt x="185738" y="1827847"/>
                  </a:lnTo>
                  <a:lnTo>
                    <a:pt x="227647" y="1889760"/>
                  </a:lnTo>
                  <a:lnTo>
                    <a:pt x="273368" y="1948815"/>
                  </a:lnTo>
                  <a:lnTo>
                    <a:pt x="322897" y="2005012"/>
                  </a:lnTo>
                  <a:lnTo>
                    <a:pt x="376238" y="2058353"/>
                  </a:lnTo>
                  <a:lnTo>
                    <a:pt x="431482" y="2107882"/>
                  </a:lnTo>
                  <a:lnTo>
                    <a:pt x="490538" y="2153602"/>
                  </a:lnTo>
                  <a:lnTo>
                    <a:pt x="552450" y="2195512"/>
                  </a:lnTo>
                  <a:lnTo>
                    <a:pt x="617220" y="2233612"/>
                  </a:lnTo>
                  <a:lnTo>
                    <a:pt x="683895" y="2267902"/>
                  </a:lnTo>
                  <a:lnTo>
                    <a:pt x="752475" y="2296478"/>
                  </a:lnTo>
                  <a:lnTo>
                    <a:pt x="822960" y="2322195"/>
                  </a:lnTo>
                  <a:lnTo>
                    <a:pt x="894397" y="2343150"/>
                  </a:lnTo>
                  <a:lnTo>
                    <a:pt x="967740" y="2359342"/>
                  </a:lnTo>
                  <a:lnTo>
                    <a:pt x="1041082" y="2371725"/>
                  </a:lnTo>
                  <a:lnTo>
                    <a:pt x="1116330" y="2378392"/>
                  </a:lnTo>
                  <a:lnTo>
                    <a:pt x="1190625" y="2380298"/>
                  </a:lnTo>
                  <a:lnTo>
                    <a:pt x="1264920" y="2378392"/>
                  </a:lnTo>
                  <a:lnTo>
                    <a:pt x="1340168" y="2371725"/>
                  </a:lnTo>
                  <a:lnTo>
                    <a:pt x="1413510" y="2359342"/>
                  </a:lnTo>
                  <a:lnTo>
                    <a:pt x="1486853" y="2343150"/>
                  </a:lnTo>
                  <a:lnTo>
                    <a:pt x="1558290" y="2322195"/>
                  </a:lnTo>
                  <a:lnTo>
                    <a:pt x="1628775" y="2296478"/>
                  </a:lnTo>
                  <a:lnTo>
                    <a:pt x="1697355" y="2267902"/>
                  </a:lnTo>
                  <a:lnTo>
                    <a:pt x="1764030" y="2233612"/>
                  </a:lnTo>
                  <a:lnTo>
                    <a:pt x="1828800" y="2195512"/>
                  </a:lnTo>
                  <a:lnTo>
                    <a:pt x="1890712" y="2153602"/>
                  </a:lnTo>
                  <a:lnTo>
                    <a:pt x="1949768" y="2107882"/>
                  </a:lnTo>
                  <a:lnTo>
                    <a:pt x="2005012" y="2058353"/>
                  </a:lnTo>
                  <a:lnTo>
                    <a:pt x="2058352" y="2005012"/>
                  </a:lnTo>
                  <a:lnTo>
                    <a:pt x="2107882" y="1948815"/>
                  </a:lnTo>
                  <a:lnTo>
                    <a:pt x="2153602" y="1889760"/>
                  </a:lnTo>
                  <a:lnTo>
                    <a:pt x="2195512" y="1827847"/>
                  </a:lnTo>
                  <a:lnTo>
                    <a:pt x="2233612" y="1763078"/>
                  </a:lnTo>
                  <a:lnTo>
                    <a:pt x="2267902" y="1697355"/>
                  </a:lnTo>
                  <a:lnTo>
                    <a:pt x="2297430" y="1628775"/>
                  </a:lnTo>
                  <a:lnTo>
                    <a:pt x="2323148" y="1558290"/>
                  </a:lnTo>
                  <a:lnTo>
                    <a:pt x="2344102" y="1485900"/>
                  </a:lnTo>
                  <a:lnTo>
                    <a:pt x="2360295" y="1413510"/>
                  </a:lnTo>
                  <a:lnTo>
                    <a:pt x="2371725" y="1339215"/>
                  </a:lnTo>
                  <a:lnTo>
                    <a:pt x="2378393" y="1264920"/>
                  </a:lnTo>
                  <a:lnTo>
                    <a:pt x="2381250" y="120396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762875" y="3464242"/>
              <a:ext cx="21907" cy="416242"/>
            </a:xfrm>
            <a:custGeom>
              <a:avLst/>
              <a:gdLst/>
              <a:ahLst/>
              <a:cxnLst/>
              <a:rect l="l" t="t" r="r" b="b"/>
              <a:pathLst>
                <a:path w="21907" h="416242">
                  <a:moveTo>
                    <a:pt x="16193" y="0"/>
                  </a:moveTo>
                  <a:lnTo>
                    <a:pt x="6668" y="71438"/>
                  </a:lnTo>
                  <a:lnTo>
                    <a:pt x="0" y="158115"/>
                  </a:lnTo>
                  <a:lnTo>
                    <a:pt x="953" y="244792"/>
                  </a:lnTo>
                  <a:lnTo>
                    <a:pt x="7620" y="330517"/>
                  </a:lnTo>
                  <a:lnTo>
                    <a:pt x="21907" y="416242"/>
                  </a:lnTo>
                  <a:lnTo>
                    <a:pt x="16193" y="39433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733348" y="3848100"/>
              <a:ext cx="92393" cy="102870"/>
            </a:xfrm>
            <a:custGeom>
              <a:avLst/>
              <a:gdLst/>
              <a:ahLst/>
              <a:cxnLst/>
              <a:rect l="l" t="t" r="r" b="b"/>
              <a:pathLst>
                <a:path w="92393" h="102870">
                  <a:moveTo>
                    <a:pt x="66675" y="102870"/>
                  </a:moveTo>
                  <a:lnTo>
                    <a:pt x="0" y="20955"/>
                  </a:lnTo>
                  <a:lnTo>
                    <a:pt x="92393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0122218" y="3432810"/>
              <a:ext cx="21907" cy="417195"/>
            </a:xfrm>
            <a:custGeom>
              <a:avLst/>
              <a:gdLst/>
              <a:ahLst/>
              <a:cxnLst/>
              <a:rect l="l" t="t" r="r" b="b"/>
              <a:pathLst>
                <a:path w="21907" h="417195">
                  <a:moveTo>
                    <a:pt x="5715" y="417195"/>
                  </a:moveTo>
                  <a:lnTo>
                    <a:pt x="15240" y="345758"/>
                  </a:lnTo>
                  <a:lnTo>
                    <a:pt x="21907" y="259080"/>
                  </a:lnTo>
                  <a:lnTo>
                    <a:pt x="20955" y="172403"/>
                  </a:lnTo>
                  <a:lnTo>
                    <a:pt x="14288" y="85725"/>
                  </a:lnTo>
                  <a:lnTo>
                    <a:pt x="0" y="0"/>
                  </a:lnTo>
                  <a:lnTo>
                    <a:pt x="5715" y="2286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081260" y="3363278"/>
              <a:ext cx="93345" cy="102870"/>
            </a:xfrm>
            <a:custGeom>
              <a:avLst/>
              <a:gdLst/>
              <a:ahLst/>
              <a:cxnLst/>
              <a:rect l="l" t="t" r="r" b="b"/>
              <a:pathLst>
                <a:path w="93345" h="102870">
                  <a:moveTo>
                    <a:pt x="25717" y="0"/>
                  </a:moveTo>
                  <a:lnTo>
                    <a:pt x="93345" y="81915"/>
                  </a:lnTo>
                  <a:lnTo>
                    <a:pt x="0" y="10287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224838" y="246697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714375" y="0"/>
                  </a:moveTo>
                  <a:lnTo>
                    <a:pt x="0" y="0"/>
                  </a:lnTo>
                </a:path>
              </a:pathLst>
            </a:custGeom>
            <a:noFill/>
            <a:ln w="26670">
              <a:solidFill>
                <a:srgbClr val="2F4B9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129588" y="2419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953500" y="2481262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26670">
              <a:solidFill>
                <a:srgbClr val="B42318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905875" y="29479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963978" y="3666172"/>
              <a:ext cx="890587" cy="746760"/>
            </a:xfrm>
            <a:custGeom>
              <a:avLst/>
              <a:gdLst/>
              <a:ahLst/>
              <a:cxnLst/>
              <a:rect l="l" t="t" r="r" b="b"/>
              <a:pathLst>
                <a:path w="890587" h="746760">
                  <a:moveTo>
                    <a:pt x="0" y="0"/>
                  </a:moveTo>
                  <a:lnTo>
                    <a:pt x="890587" y="7467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0139362" y="36518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0139362" y="36518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7776210" y="34451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7798118" y="39604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0121265" y="38585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0099358" y="33442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948738" y="24622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8110538" y="24622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8948738" y="24622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8948738" y="30527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8886825" y="2400300"/>
              <a:ext cx="133350" cy="1333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8924925" y="362807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8948738" y="36518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9861232" y="44176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89944" y="19897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89944" y="24860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89944" y="29803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89944" y="34766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89944" y="39709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89944" y="44662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89944" y="49625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23344" y="19897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23344" y="24860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023344" y="29803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23344" y="34766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23344" y="39709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023344" y="44662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023344" y="49625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556744" y="19897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556744" y="24860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556744" y="29803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556744" y="39709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56744" y="44662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556744" y="49625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090144" y="19897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090144" y="34766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090144" y="39709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090144" y="49625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623544" y="19897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623544" y="29803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623544" y="34766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623544" y="39709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623544" y="44662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623544" y="49625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156944" y="19897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156944" y="29803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156944" y="34766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156944" y="39709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156944" y="44662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156944" y="49625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690344" y="19897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690344" y="29803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690344" y="34766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690344" y="39709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690344" y="49625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0223744" y="19897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223744" y="24860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223744" y="29803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223744" y="44662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0223744" y="49625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0757144" y="19897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757144" y="24860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757144" y="29803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0757144" y="34766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0757144" y="39709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757144" y="44662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0757144" y="49625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290544" y="19897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290544" y="24860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290544" y="29803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290544" y="34766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290544" y="397097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290544" y="446627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290544" y="49625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8237499" y="22426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9054185" y="28141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9400341" y="381857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7949320" y="5481161"/>
              <a:ext cx="20083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垂直纸面向里，q &gt; 0，逆时针转</a:t>
              </a:r>
            </a:p>
          </p:txBody>
        </p:sp>
      </p:grpSp>
      <p:grpSp>
        <p:nvGrpSpPr>
          <p:cNvPr id="1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4" name="TextBox 12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磁场对运动电荷的作用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圆周运动的数值感受：半径随速度变，周期不随速度变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1038034" y="1524000"/>
            <a:ext cx="3968496" cy="2899029"/>
            <a:chOff x="1038034" y="1524000"/>
            <a:chExt cx="3968496" cy="2899029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5000" r="0" b="5000"/>
            <a:stretch>
              <a:fillRect/>
            </a:stretch>
          </p:blipFill>
          <p:spPr>
            <a:xfrm>
              <a:off x="1288732" y="1524000"/>
              <a:ext cx="3467100" cy="2600325"/>
            </a:xfrm>
            <a:prstGeom prst="roundRect">
              <a:avLst>
                <a:gd name="adj" fmla="val 5128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038034" y="4217670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荷质比实验：电子束在线圈产生的匀强磁场里绕成一个发光的圆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575810"/>
            <a:ext cx="4977765" cy="1670685"/>
            <a:chOff x="533400" y="4575810"/>
            <a:chExt cx="4977765" cy="1670685"/>
          </a:xfrm>
        </p:grpSpPr>
        <p:sp>
          <p:nvSpPr>
            <p:cNvPr id="10" name="Rectangle 10"/>
            <p:cNvSpPr/>
            <p:nvPr/>
          </p:nvSpPr>
          <p:spPr>
            <a:xfrm>
              <a:off x="533400" y="4575810"/>
              <a:ext cx="4977765" cy="1670685"/>
            </a:xfrm>
            <a:prstGeom prst="roundRect">
              <a:avLst>
                <a:gd name="adj" fmla="val 684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5311140"/>
              <a:ext cx="200026" cy="200025"/>
              <a:chOff x="738188" y="5311140"/>
              <a:chExt cx="200026" cy="2000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38188" y="53111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7926" y="53555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12642" y="54667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892" y="5193030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改变加速电压，电子速度变了，圆的大小跟着变；改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变线圈电流，B 变了，圆也跟着变。</a:t>
              </a:r>
            </a:p>
          </p:txBody>
        </p:sp>
      </p:grpSp>
      <p:grpSp>
        <p:nvGrpSpPr>
          <p:cNvPr id="22" name="c2-card-1"/>
          <p:cNvGrpSpPr/>
          <p:nvPr/>
        </p:nvGrpSpPr>
        <p:grpSpPr>
          <a:xfrm>
            <a:off x="5815965" y="1524000"/>
            <a:ext cx="5842635" cy="1209675"/>
            <a:chOff x="5815965" y="1524000"/>
            <a:chExt cx="5842635" cy="1209675"/>
          </a:xfrm>
        </p:grpSpPr>
        <p:sp>
          <p:nvSpPr>
            <p:cNvPr id="17" name="Rectangle 17"/>
            <p:cNvSpPr/>
            <p:nvPr/>
          </p:nvSpPr>
          <p:spPr>
            <a:xfrm>
              <a:off x="5815965" y="1524000"/>
              <a:ext cx="584263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825490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46470" y="171640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41911" y="17506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39612" y="2072640"/>
              <a:ext cx="50114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电子以 v = 1.0×10⁷ m/s 垂直射入 B = 1.0×10⁻³ T 的匀强磁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场。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轨道半径和周期。</a:t>
              </a:r>
            </a:p>
          </p:txBody>
        </p:sp>
      </p:grpSp>
      <p:grpSp>
        <p:nvGrpSpPr>
          <p:cNvPr id="36" name="c2-steps-2"/>
          <p:cNvGrpSpPr/>
          <p:nvPr/>
        </p:nvGrpSpPr>
        <p:grpSpPr>
          <a:xfrm>
            <a:off x="5815965" y="2918460"/>
            <a:ext cx="5302225" cy="1693069"/>
            <a:chOff x="5815965" y="2918460"/>
            <a:chExt cx="5302225" cy="1693069"/>
          </a:xfrm>
        </p:grpSpPr>
        <p:sp>
          <p:nvSpPr>
            <p:cNvPr id="23" name="Rectangle 23"/>
            <p:cNvSpPr/>
            <p:nvPr/>
          </p:nvSpPr>
          <p:spPr>
            <a:xfrm>
              <a:off x="5949315" y="306133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815965" y="291846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09589" y="29922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815965" y="35052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09589" y="35790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815965" y="40919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09589" y="41657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28207" y="29498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29350" y="3217069"/>
              <a:ext cx="48888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mv/(eB) = 9.11×10⁻³¹ × 10⁷/(1.6×10⁻¹⁹ × 10⁻³) ≈ 5.7×10⁻² 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28207" y="353663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9350" y="3804761"/>
              <a:ext cx="4845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2πm/(eB) = 2π × 9.11×10⁻³¹/(1.6×10⁻¹⁹ × 10⁻³) ≈ 3.6×10⁻⁸ 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28207" y="412337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速度加倍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9350" y="4391501"/>
              <a:ext cx="2491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变为 11.4 cm，T 仍是 3.6×10⁻⁸ s</a:t>
              </a:r>
            </a:p>
          </p:txBody>
        </p:sp>
      </p:grpSp>
      <p:grpSp>
        <p:nvGrpSpPr>
          <p:cNvPr id="41" name="c2-card-3"/>
          <p:cNvGrpSpPr/>
          <p:nvPr/>
        </p:nvGrpSpPr>
        <p:grpSpPr>
          <a:xfrm>
            <a:off x="5815965" y="4780598"/>
            <a:ext cx="5842635" cy="1466850"/>
            <a:chOff x="5815965" y="4780598"/>
            <a:chExt cx="5842635" cy="1466850"/>
          </a:xfrm>
        </p:grpSpPr>
        <p:sp>
          <p:nvSpPr>
            <p:cNvPr id="37" name="Rectangle 37"/>
            <p:cNvSpPr/>
            <p:nvPr/>
          </p:nvSpPr>
          <p:spPr>
            <a:xfrm>
              <a:off x="5815965" y="4780598"/>
              <a:ext cx="5842635" cy="1466850"/>
            </a:xfrm>
            <a:prstGeom prst="roundRect">
              <a:avLst>
                <a:gd name="adj" fmla="val 909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08370" y="4973002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75807" y="500729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应用：回旋加速器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01512" y="5329238"/>
              <a:ext cx="524294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粒子在 D 形盒里每转半圈用时 T/2，与速度无关，所以两盒间的交变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电压用固定频率 f = |q|B/(2πm) 就能每半圈加速一次（速度远小于光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速时）。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磁场对运动电荷的作用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螺旋运动：平行分量匀速前进，垂直分量绕圈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7" name="g_helix"/>
          <p:cNvGrpSpPr/>
          <p:nvPr/>
        </p:nvGrpSpPr>
        <p:grpSpPr>
          <a:xfrm>
            <a:off x="758011" y="1800701"/>
            <a:ext cx="5177016" cy="3175159"/>
            <a:chOff x="758011" y="1800701"/>
            <a:chExt cx="5177016" cy="3175159"/>
          </a:xfrm>
        </p:grpSpPr>
        <p:sp>
          <p:nvSpPr>
            <p:cNvPr id="7" name="Freeform 7"/>
            <p:cNvSpPr/>
            <p:nvPr/>
          </p:nvSpPr>
          <p:spPr>
            <a:xfrm>
              <a:off x="816292" y="3285172"/>
              <a:ext cx="5099685" cy="9525"/>
            </a:xfrm>
            <a:custGeom>
              <a:avLst/>
              <a:gdLst/>
              <a:ahLst/>
              <a:cxnLst/>
              <a:rect l="l" t="t" r="r" b="b"/>
              <a:pathLst>
                <a:path w="5099685" h="9525">
                  <a:moveTo>
                    <a:pt x="0" y="0"/>
                  </a:moveTo>
                  <a:lnTo>
                    <a:pt x="509968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909638" y="4928235"/>
              <a:ext cx="4865370" cy="9525"/>
            </a:xfrm>
            <a:custGeom>
              <a:avLst/>
              <a:gdLst/>
              <a:ahLst/>
              <a:cxnLst/>
              <a:rect l="l" t="t" r="r" b="b"/>
              <a:pathLst>
                <a:path w="4865370" h="9525">
                  <a:moveTo>
                    <a:pt x="0" y="0"/>
                  </a:moveTo>
                  <a:lnTo>
                    <a:pt x="4865370" y="0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775008" y="48806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018348" y="2376488"/>
              <a:ext cx="608648" cy="1817370"/>
            </a:xfrm>
            <a:custGeom>
              <a:avLst/>
              <a:gdLst/>
              <a:ahLst/>
              <a:cxnLst/>
              <a:rect l="l" t="t" r="r" b="b"/>
              <a:pathLst>
                <a:path w="608648" h="1817370">
                  <a:moveTo>
                    <a:pt x="0" y="0"/>
                  </a:moveTo>
                  <a:lnTo>
                    <a:pt x="2857" y="0"/>
                  </a:lnTo>
                  <a:lnTo>
                    <a:pt x="20955" y="1905"/>
                  </a:lnTo>
                  <a:lnTo>
                    <a:pt x="38100" y="6667"/>
                  </a:lnTo>
                  <a:lnTo>
                    <a:pt x="56198" y="13335"/>
                  </a:lnTo>
                  <a:lnTo>
                    <a:pt x="73342" y="21908"/>
                  </a:lnTo>
                  <a:lnTo>
                    <a:pt x="91440" y="32385"/>
                  </a:lnTo>
                  <a:lnTo>
                    <a:pt x="107632" y="44767"/>
                  </a:lnTo>
                  <a:lnTo>
                    <a:pt x="125730" y="59055"/>
                  </a:lnTo>
                  <a:lnTo>
                    <a:pt x="141923" y="74295"/>
                  </a:lnTo>
                  <a:lnTo>
                    <a:pt x="159067" y="91440"/>
                  </a:lnTo>
                  <a:lnTo>
                    <a:pt x="176212" y="110490"/>
                  </a:lnTo>
                  <a:lnTo>
                    <a:pt x="192405" y="131445"/>
                  </a:lnTo>
                  <a:lnTo>
                    <a:pt x="208598" y="154305"/>
                  </a:lnTo>
                  <a:lnTo>
                    <a:pt x="224790" y="178117"/>
                  </a:lnTo>
                  <a:lnTo>
                    <a:pt x="240982" y="203835"/>
                  </a:lnTo>
                  <a:lnTo>
                    <a:pt x="256223" y="230505"/>
                  </a:lnTo>
                  <a:lnTo>
                    <a:pt x="271462" y="259080"/>
                  </a:lnTo>
                  <a:lnTo>
                    <a:pt x="286702" y="289560"/>
                  </a:lnTo>
                  <a:lnTo>
                    <a:pt x="301942" y="320040"/>
                  </a:lnTo>
                  <a:lnTo>
                    <a:pt x="316230" y="352425"/>
                  </a:lnTo>
                  <a:lnTo>
                    <a:pt x="330517" y="385762"/>
                  </a:lnTo>
                  <a:lnTo>
                    <a:pt x="343852" y="421005"/>
                  </a:lnTo>
                  <a:lnTo>
                    <a:pt x="358140" y="456247"/>
                  </a:lnTo>
                  <a:lnTo>
                    <a:pt x="371475" y="492442"/>
                  </a:lnTo>
                  <a:lnTo>
                    <a:pt x="383857" y="529590"/>
                  </a:lnTo>
                  <a:lnTo>
                    <a:pt x="396240" y="567690"/>
                  </a:lnTo>
                  <a:lnTo>
                    <a:pt x="408623" y="606742"/>
                  </a:lnTo>
                  <a:lnTo>
                    <a:pt x="420052" y="646747"/>
                  </a:lnTo>
                  <a:lnTo>
                    <a:pt x="431482" y="686753"/>
                  </a:lnTo>
                  <a:lnTo>
                    <a:pt x="442912" y="726758"/>
                  </a:lnTo>
                  <a:lnTo>
                    <a:pt x="453390" y="767715"/>
                  </a:lnTo>
                  <a:lnTo>
                    <a:pt x="463868" y="808672"/>
                  </a:lnTo>
                  <a:lnTo>
                    <a:pt x="473393" y="850583"/>
                  </a:lnTo>
                  <a:lnTo>
                    <a:pt x="482918" y="892492"/>
                  </a:lnTo>
                  <a:lnTo>
                    <a:pt x="491490" y="933450"/>
                  </a:lnTo>
                  <a:lnTo>
                    <a:pt x="500062" y="975360"/>
                  </a:lnTo>
                  <a:lnTo>
                    <a:pt x="508635" y="1016317"/>
                  </a:lnTo>
                  <a:lnTo>
                    <a:pt x="516255" y="1057275"/>
                  </a:lnTo>
                  <a:lnTo>
                    <a:pt x="523875" y="1098232"/>
                  </a:lnTo>
                  <a:lnTo>
                    <a:pt x="531495" y="1139190"/>
                  </a:lnTo>
                  <a:lnTo>
                    <a:pt x="537210" y="1179195"/>
                  </a:lnTo>
                  <a:lnTo>
                    <a:pt x="543878" y="1218247"/>
                  </a:lnTo>
                  <a:lnTo>
                    <a:pt x="549593" y="1257300"/>
                  </a:lnTo>
                  <a:lnTo>
                    <a:pt x="555307" y="1294447"/>
                  </a:lnTo>
                  <a:lnTo>
                    <a:pt x="560070" y="1332547"/>
                  </a:lnTo>
                  <a:lnTo>
                    <a:pt x="565785" y="1368742"/>
                  </a:lnTo>
                  <a:lnTo>
                    <a:pt x="569595" y="1403985"/>
                  </a:lnTo>
                  <a:lnTo>
                    <a:pt x="574357" y="1438275"/>
                  </a:lnTo>
                  <a:lnTo>
                    <a:pt x="578168" y="1471612"/>
                  </a:lnTo>
                  <a:lnTo>
                    <a:pt x="581978" y="1503045"/>
                  </a:lnTo>
                  <a:lnTo>
                    <a:pt x="584835" y="1534478"/>
                  </a:lnTo>
                  <a:lnTo>
                    <a:pt x="587693" y="1564005"/>
                  </a:lnTo>
                  <a:lnTo>
                    <a:pt x="590550" y="1591628"/>
                  </a:lnTo>
                  <a:lnTo>
                    <a:pt x="593407" y="1618297"/>
                  </a:lnTo>
                  <a:lnTo>
                    <a:pt x="595312" y="1644015"/>
                  </a:lnTo>
                  <a:lnTo>
                    <a:pt x="597218" y="1667828"/>
                  </a:lnTo>
                  <a:lnTo>
                    <a:pt x="599122" y="1689735"/>
                  </a:lnTo>
                  <a:lnTo>
                    <a:pt x="601028" y="1709738"/>
                  </a:lnTo>
                  <a:lnTo>
                    <a:pt x="601980" y="1728788"/>
                  </a:lnTo>
                  <a:lnTo>
                    <a:pt x="602932" y="1745932"/>
                  </a:lnTo>
                  <a:lnTo>
                    <a:pt x="603885" y="1761172"/>
                  </a:lnTo>
                  <a:lnTo>
                    <a:pt x="605790" y="1775460"/>
                  </a:lnTo>
                  <a:lnTo>
                    <a:pt x="605790" y="1786890"/>
                  </a:lnTo>
                  <a:lnTo>
                    <a:pt x="606743" y="1796415"/>
                  </a:lnTo>
                  <a:lnTo>
                    <a:pt x="606743" y="1804988"/>
                  </a:lnTo>
                  <a:lnTo>
                    <a:pt x="607695" y="1810703"/>
                  </a:lnTo>
                  <a:lnTo>
                    <a:pt x="607695" y="1815465"/>
                  </a:lnTo>
                  <a:lnTo>
                    <a:pt x="608648" y="1817370"/>
                  </a:lnTo>
                  <a:lnTo>
                    <a:pt x="601028" y="1806892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627948" y="2375535"/>
              <a:ext cx="616268" cy="1818322"/>
            </a:xfrm>
            <a:custGeom>
              <a:avLst/>
              <a:gdLst/>
              <a:ahLst/>
              <a:cxnLst/>
              <a:rect l="l" t="t" r="r" b="b"/>
              <a:pathLst>
                <a:path w="616268" h="1818322">
                  <a:moveTo>
                    <a:pt x="0" y="1804987"/>
                  </a:moveTo>
                  <a:lnTo>
                    <a:pt x="0" y="1818322"/>
                  </a:lnTo>
                  <a:lnTo>
                    <a:pt x="0" y="1814512"/>
                  </a:lnTo>
                  <a:lnTo>
                    <a:pt x="953" y="1809750"/>
                  </a:lnTo>
                  <a:lnTo>
                    <a:pt x="953" y="1802130"/>
                  </a:lnTo>
                  <a:lnTo>
                    <a:pt x="1905" y="1793557"/>
                  </a:lnTo>
                  <a:lnTo>
                    <a:pt x="2858" y="1783080"/>
                  </a:lnTo>
                  <a:lnTo>
                    <a:pt x="3810" y="1770698"/>
                  </a:lnTo>
                  <a:lnTo>
                    <a:pt x="4762" y="1756410"/>
                  </a:lnTo>
                  <a:lnTo>
                    <a:pt x="5715" y="1740218"/>
                  </a:lnTo>
                  <a:lnTo>
                    <a:pt x="6668" y="1722120"/>
                  </a:lnTo>
                  <a:lnTo>
                    <a:pt x="8573" y="1703070"/>
                  </a:lnTo>
                  <a:lnTo>
                    <a:pt x="9525" y="1682115"/>
                  </a:lnTo>
                  <a:lnTo>
                    <a:pt x="12383" y="1658302"/>
                  </a:lnTo>
                  <a:lnTo>
                    <a:pt x="13335" y="1634490"/>
                  </a:lnTo>
                  <a:lnTo>
                    <a:pt x="16193" y="1608772"/>
                  </a:lnTo>
                  <a:lnTo>
                    <a:pt x="19050" y="1581150"/>
                  </a:lnTo>
                  <a:lnTo>
                    <a:pt x="21908" y="1552575"/>
                  </a:lnTo>
                  <a:lnTo>
                    <a:pt x="24765" y="1522095"/>
                  </a:lnTo>
                  <a:lnTo>
                    <a:pt x="28575" y="1491615"/>
                  </a:lnTo>
                  <a:lnTo>
                    <a:pt x="31433" y="1458278"/>
                  </a:lnTo>
                  <a:lnTo>
                    <a:pt x="35243" y="1424940"/>
                  </a:lnTo>
                  <a:lnTo>
                    <a:pt x="40005" y="1389698"/>
                  </a:lnTo>
                  <a:lnTo>
                    <a:pt x="44768" y="1354455"/>
                  </a:lnTo>
                  <a:lnTo>
                    <a:pt x="49530" y="1318260"/>
                  </a:lnTo>
                  <a:lnTo>
                    <a:pt x="55245" y="1280160"/>
                  </a:lnTo>
                  <a:lnTo>
                    <a:pt x="60960" y="1242060"/>
                  </a:lnTo>
                  <a:lnTo>
                    <a:pt x="67628" y="1203007"/>
                  </a:lnTo>
                  <a:lnTo>
                    <a:pt x="73343" y="1163002"/>
                  </a:lnTo>
                  <a:lnTo>
                    <a:pt x="80010" y="1122998"/>
                  </a:lnTo>
                  <a:lnTo>
                    <a:pt x="87630" y="1082993"/>
                  </a:lnTo>
                  <a:lnTo>
                    <a:pt x="95250" y="1042035"/>
                  </a:lnTo>
                  <a:lnTo>
                    <a:pt x="102870" y="1000125"/>
                  </a:lnTo>
                  <a:lnTo>
                    <a:pt x="111443" y="959168"/>
                  </a:lnTo>
                  <a:lnTo>
                    <a:pt x="120968" y="917257"/>
                  </a:lnTo>
                  <a:lnTo>
                    <a:pt x="129540" y="875348"/>
                  </a:lnTo>
                  <a:lnTo>
                    <a:pt x="139065" y="834390"/>
                  </a:lnTo>
                  <a:lnTo>
                    <a:pt x="149543" y="793432"/>
                  </a:lnTo>
                  <a:lnTo>
                    <a:pt x="159068" y="752475"/>
                  </a:lnTo>
                  <a:lnTo>
                    <a:pt x="170498" y="711518"/>
                  </a:lnTo>
                  <a:lnTo>
                    <a:pt x="180975" y="670560"/>
                  </a:lnTo>
                  <a:lnTo>
                    <a:pt x="193358" y="631507"/>
                  </a:lnTo>
                  <a:lnTo>
                    <a:pt x="204788" y="591502"/>
                  </a:lnTo>
                  <a:lnTo>
                    <a:pt x="217170" y="553402"/>
                  </a:lnTo>
                  <a:lnTo>
                    <a:pt x="229553" y="515302"/>
                  </a:lnTo>
                  <a:lnTo>
                    <a:pt x="242888" y="478155"/>
                  </a:lnTo>
                  <a:lnTo>
                    <a:pt x="256223" y="441960"/>
                  </a:lnTo>
                  <a:lnTo>
                    <a:pt x="269558" y="407670"/>
                  </a:lnTo>
                  <a:lnTo>
                    <a:pt x="283845" y="373380"/>
                  </a:lnTo>
                  <a:lnTo>
                    <a:pt x="298133" y="340043"/>
                  </a:lnTo>
                  <a:lnTo>
                    <a:pt x="312420" y="308610"/>
                  </a:lnTo>
                  <a:lnTo>
                    <a:pt x="327660" y="278130"/>
                  </a:lnTo>
                  <a:lnTo>
                    <a:pt x="342900" y="248602"/>
                  </a:lnTo>
                  <a:lnTo>
                    <a:pt x="358140" y="220027"/>
                  </a:lnTo>
                  <a:lnTo>
                    <a:pt x="373380" y="194310"/>
                  </a:lnTo>
                  <a:lnTo>
                    <a:pt x="390525" y="169545"/>
                  </a:lnTo>
                  <a:lnTo>
                    <a:pt x="405765" y="145732"/>
                  </a:lnTo>
                  <a:lnTo>
                    <a:pt x="422910" y="123825"/>
                  </a:lnTo>
                  <a:lnTo>
                    <a:pt x="439103" y="103823"/>
                  </a:lnTo>
                  <a:lnTo>
                    <a:pt x="456248" y="85725"/>
                  </a:lnTo>
                  <a:lnTo>
                    <a:pt x="472440" y="68580"/>
                  </a:lnTo>
                  <a:lnTo>
                    <a:pt x="490538" y="53340"/>
                  </a:lnTo>
                  <a:lnTo>
                    <a:pt x="506730" y="40005"/>
                  </a:lnTo>
                  <a:lnTo>
                    <a:pt x="524828" y="28575"/>
                  </a:lnTo>
                  <a:lnTo>
                    <a:pt x="541973" y="19050"/>
                  </a:lnTo>
                  <a:lnTo>
                    <a:pt x="559118" y="11430"/>
                  </a:lnTo>
                  <a:lnTo>
                    <a:pt x="577215" y="5715"/>
                  </a:lnTo>
                  <a:lnTo>
                    <a:pt x="595312" y="1905"/>
                  </a:lnTo>
                  <a:lnTo>
                    <a:pt x="612458" y="0"/>
                  </a:lnTo>
                  <a:lnTo>
                    <a:pt x="61626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272790" y="2376488"/>
              <a:ext cx="601980" cy="1825942"/>
            </a:xfrm>
            <a:custGeom>
              <a:avLst/>
              <a:gdLst/>
              <a:ahLst/>
              <a:cxnLst/>
              <a:rect l="l" t="t" r="r" b="b"/>
              <a:pathLst>
                <a:path w="601980" h="1825942">
                  <a:moveTo>
                    <a:pt x="0" y="0"/>
                  </a:moveTo>
                  <a:lnTo>
                    <a:pt x="2857" y="952"/>
                  </a:lnTo>
                  <a:lnTo>
                    <a:pt x="20955" y="3810"/>
                  </a:lnTo>
                  <a:lnTo>
                    <a:pt x="38100" y="9525"/>
                  </a:lnTo>
                  <a:lnTo>
                    <a:pt x="56197" y="17145"/>
                  </a:lnTo>
                  <a:lnTo>
                    <a:pt x="73342" y="26670"/>
                  </a:lnTo>
                  <a:lnTo>
                    <a:pt x="90488" y="37148"/>
                  </a:lnTo>
                  <a:lnTo>
                    <a:pt x="108585" y="50483"/>
                  </a:lnTo>
                  <a:lnTo>
                    <a:pt x="124777" y="64770"/>
                  </a:lnTo>
                  <a:lnTo>
                    <a:pt x="142875" y="81915"/>
                  </a:lnTo>
                  <a:lnTo>
                    <a:pt x="159067" y="100012"/>
                  </a:lnTo>
                  <a:lnTo>
                    <a:pt x="176212" y="119062"/>
                  </a:lnTo>
                  <a:lnTo>
                    <a:pt x="192405" y="140970"/>
                  </a:lnTo>
                  <a:lnTo>
                    <a:pt x="208597" y="163830"/>
                  </a:lnTo>
                  <a:lnTo>
                    <a:pt x="224790" y="188595"/>
                  </a:lnTo>
                  <a:lnTo>
                    <a:pt x="240030" y="214312"/>
                  </a:lnTo>
                  <a:lnTo>
                    <a:pt x="255270" y="242888"/>
                  </a:lnTo>
                  <a:lnTo>
                    <a:pt x="270510" y="271462"/>
                  </a:lnTo>
                  <a:lnTo>
                    <a:pt x="285750" y="301942"/>
                  </a:lnTo>
                  <a:lnTo>
                    <a:pt x="300990" y="333375"/>
                  </a:lnTo>
                  <a:lnTo>
                    <a:pt x="315277" y="366712"/>
                  </a:lnTo>
                  <a:lnTo>
                    <a:pt x="329565" y="400050"/>
                  </a:lnTo>
                  <a:lnTo>
                    <a:pt x="342900" y="435292"/>
                  </a:lnTo>
                  <a:lnTo>
                    <a:pt x="356235" y="471488"/>
                  </a:lnTo>
                  <a:lnTo>
                    <a:pt x="369570" y="507683"/>
                  </a:lnTo>
                  <a:lnTo>
                    <a:pt x="381952" y="545783"/>
                  </a:lnTo>
                  <a:lnTo>
                    <a:pt x="394335" y="583883"/>
                  </a:lnTo>
                  <a:lnTo>
                    <a:pt x="406717" y="623888"/>
                  </a:lnTo>
                  <a:lnTo>
                    <a:pt x="418147" y="662940"/>
                  </a:lnTo>
                  <a:lnTo>
                    <a:pt x="428625" y="703897"/>
                  </a:lnTo>
                  <a:lnTo>
                    <a:pt x="440055" y="743903"/>
                  </a:lnTo>
                  <a:lnTo>
                    <a:pt x="450532" y="784860"/>
                  </a:lnTo>
                  <a:lnTo>
                    <a:pt x="460057" y="826770"/>
                  </a:lnTo>
                  <a:lnTo>
                    <a:pt x="469582" y="867728"/>
                  </a:lnTo>
                  <a:lnTo>
                    <a:pt x="479107" y="909638"/>
                  </a:lnTo>
                  <a:lnTo>
                    <a:pt x="487680" y="950595"/>
                  </a:lnTo>
                  <a:lnTo>
                    <a:pt x="496252" y="992505"/>
                  </a:lnTo>
                  <a:lnTo>
                    <a:pt x="504825" y="1033462"/>
                  </a:lnTo>
                  <a:lnTo>
                    <a:pt x="512445" y="1074420"/>
                  </a:lnTo>
                  <a:lnTo>
                    <a:pt x="519112" y="1115378"/>
                  </a:lnTo>
                  <a:lnTo>
                    <a:pt x="526732" y="1155382"/>
                  </a:lnTo>
                  <a:lnTo>
                    <a:pt x="533400" y="1195388"/>
                  </a:lnTo>
                  <a:lnTo>
                    <a:pt x="539115" y="1234440"/>
                  </a:lnTo>
                  <a:lnTo>
                    <a:pt x="544830" y="1272540"/>
                  </a:lnTo>
                  <a:lnTo>
                    <a:pt x="550545" y="1310640"/>
                  </a:lnTo>
                  <a:lnTo>
                    <a:pt x="555307" y="1347788"/>
                  </a:lnTo>
                  <a:lnTo>
                    <a:pt x="560070" y="1383030"/>
                  </a:lnTo>
                  <a:lnTo>
                    <a:pt x="564832" y="1418272"/>
                  </a:lnTo>
                  <a:lnTo>
                    <a:pt x="568642" y="1451610"/>
                  </a:lnTo>
                  <a:lnTo>
                    <a:pt x="572452" y="1484947"/>
                  </a:lnTo>
                  <a:lnTo>
                    <a:pt x="576262" y="1516380"/>
                  </a:lnTo>
                  <a:lnTo>
                    <a:pt x="579120" y="1546860"/>
                  </a:lnTo>
                  <a:lnTo>
                    <a:pt x="581977" y="1575435"/>
                  </a:lnTo>
                  <a:lnTo>
                    <a:pt x="584835" y="1603058"/>
                  </a:lnTo>
                  <a:lnTo>
                    <a:pt x="586740" y="1628775"/>
                  </a:lnTo>
                  <a:lnTo>
                    <a:pt x="588645" y="1653540"/>
                  </a:lnTo>
                  <a:lnTo>
                    <a:pt x="590550" y="1676400"/>
                  </a:lnTo>
                  <a:lnTo>
                    <a:pt x="592455" y="1698308"/>
                  </a:lnTo>
                  <a:lnTo>
                    <a:pt x="593407" y="1718310"/>
                  </a:lnTo>
                  <a:lnTo>
                    <a:pt x="595312" y="1736408"/>
                  </a:lnTo>
                  <a:lnTo>
                    <a:pt x="596265" y="1752600"/>
                  </a:lnTo>
                  <a:lnTo>
                    <a:pt x="597217" y="1767840"/>
                  </a:lnTo>
                  <a:lnTo>
                    <a:pt x="598170" y="1780222"/>
                  </a:lnTo>
                  <a:lnTo>
                    <a:pt x="599122" y="1791653"/>
                  </a:lnTo>
                  <a:lnTo>
                    <a:pt x="599122" y="1800225"/>
                  </a:lnTo>
                  <a:lnTo>
                    <a:pt x="600075" y="1807845"/>
                  </a:lnTo>
                  <a:lnTo>
                    <a:pt x="601027" y="1812608"/>
                  </a:lnTo>
                  <a:lnTo>
                    <a:pt x="601027" y="1816418"/>
                  </a:lnTo>
                  <a:lnTo>
                    <a:pt x="601980" y="1818322"/>
                  </a:lnTo>
                  <a:lnTo>
                    <a:pt x="590550" y="1825942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875722" y="2375535"/>
              <a:ext cx="622935" cy="1816418"/>
            </a:xfrm>
            <a:custGeom>
              <a:avLst/>
              <a:gdLst/>
              <a:ahLst/>
              <a:cxnLst/>
              <a:rect l="l" t="t" r="r" b="b"/>
              <a:pathLst>
                <a:path w="622935" h="1816418">
                  <a:moveTo>
                    <a:pt x="2858" y="1804987"/>
                  </a:moveTo>
                  <a:lnTo>
                    <a:pt x="0" y="1816418"/>
                  </a:lnTo>
                  <a:lnTo>
                    <a:pt x="0" y="1812607"/>
                  </a:lnTo>
                  <a:lnTo>
                    <a:pt x="0" y="1806893"/>
                  </a:lnTo>
                  <a:lnTo>
                    <a:pt x="953" y="1799272"/>
                  </a:lnTo>
                  <a:lnTo>
                    <a:pt x="1905" y="1789748"/>
                  </a:lnTo>
                  <a:lnTo>
                    <a:pt x="2858" y="1778318"/>
                  </a:lnTo>
                  <a:lnTo>
                    <a:pt x="2858" y="1764982"/>
                  </a:lnTo>
                  <a:lnTo>
                    <a:pt x="4762" y="1749743"/>
                  </a:lnTo>
                  <a:lnTo>
                    <a:pt x="5715" y="1732598"/>
                  </a:lnTo>
                  <a:lnTo>
                    <a:pt x="7620" y="1714500"/>
                  </a:lnTo>
                  <a:lnTo>
                    <a:pt x="8573" y="1694498"/>
                  </a:lnTo>
                  <a:lnTo>
                    <a:pt x="10478" y="1672590"/>
                  </a:lnTo>
                  <a:lnTo>
                    <a:pt x="12383" y="1648778"/>
                  </a:lnTo>
                  <a:lnTo>
                    <a:pt x="14288" y="1624012"/>
                  </a:lnTo>
                  <a:lnTo>
                    <a:pt x="17145" y="1597343"/>
                  </a:lnTo>
                  <a:lnTo>
                    <a:pt x="20003" y="1569720"/>
                  </a:lnTo>
                  <a:lnTo>
                    <a:pt x="22860" y="1540193"/>
                  </a:lnTo>
                  <a:lnTo>
                    <a:pt x="25718" y="1509712"/>
                  </a:lnTo>
                  <a:lnTo>
                    <a:pt x="29528" y="1478280"/>
                  </a:lnTo>
                  <a:lnTo>
                    <a:pt x="33338" y="1444943"/>
                  </a:lnTo>
                  <a:lnTo>
                    <a:pt x="37148" y="1410652"/>
                  </a:lnTo>
                  <a:lnTo>
                    <a:pt x="41910" y="1375410"/>
                  </a:lnTo>
                  <a:lnTo>
                    <a:pt x="46673" y="1339215"/>
                  </a:lnTo>
                  <a:lnTo>
                    <a:pt x="51435" y="1302068"/>
                  </a:lnTo>
                  <a:lnTo>
                    <a:pt x="57150" y="1264920"/>
                  </a:lnTo>
                  <a:lnTo>
                    <a:pt x="62865" y="1225868"/>
                  </a:lnTo>
                  <a:lnTo>
                    <a:pt x="69533" y="1186815"/>
                  </a:lnTo>
                  <a:lnTo>
                    <a:pt x="76200" y="1146810"/>
                  </a:lnTo>
                  <a:lnTo>
                    <a:pt x="82868" y="1106805"/>
                  </a:lnTo>
                  <a:lnTo>
                    <a:pt x="90488" y="1065848"/>
                  </a:lnTo>
                  <a:lnTo>
                    <a:pt x="98108" y="1024890"/>
                  </a:lnTo>
                  <a:lnTo>
                    <a:pt x="106680" y="982980"/>
                  </a:lnTo>
                  <a:lnTo>
                    <a:pt x="114300" y="942022"/>
                  </a:lnTo>
                  <a:lnTo>
                    <a:pt x="123825" y="900112"/>
                  </a:lnTo>
                  <a:lnTo>
                    <a:pt x="133350" y="858202"/>
                  </a:lnTo>
                  <a:lnTo>
                    <a:pt x="142875" y="817245"/>
                  </a:lnTo>
                  <a:lnTo>
                    <a:pt x="153353" y="776287"/>
                  </a:lnTo>
                  <a:lnTo>
                    <a:pt x="163830" y="735330"/>
                  </a:lnTo>
                  <a:lnTo>
                    <a:pt x="174308" y="694372"/>
                  </a:lnTo>
                  <a:lnTo>
                    <a:pt x="185738" y="654368"/>
                  </a:lnTo>
                  <a:lnTo>
                    <a:pt x="197168" y="615315"/>
                  </a:lnTo>
                  <a:lnTo>
                    <a:pt x="209550" y="575310"/>
                  </a:lnTo>
                  <a:lnTo>
                    <a:pt x="221933" y="537210"/>
                  </a:lnTo>
                  <a:lnTo>
                    <a:pt x="234315" y="500062"/>
                  </a:lnTo>
                  <a:lnTo>
                    <a:pt x="247650" y="462915"/>
                  </a:lnTo>
                  <a:lnTo>
                    <a:pt x="260985" y="427673"/>
                  </a:lnTo>
                  <a:lnTo>
                    <a:pt x="275273" y="393382"/>
                  </a:lnTo>
                  <a:lnTo>
                    <a:pt x="289560" y="359093"/>
                  </a:lnTo>
                  <a:lnTo>
                    <a:pt x="303848" y="326707"/>
                  </a:lnTo>
                  <a:lnTo>
                    <a:pt x="318135" y="295275"/>
                  </a:lnTo>
                  <a:lnTo>
                    <a:pt x="333375" y="264795"/>
                  </a:lnTo>
                  <a:lnTo>
                    <a:pt x="348615" y="236220"/>
                  </a:lnTo>
                  <a:lnTo>
                    <a:pt x="364808" y="209550"/>
                  </a:lnTo>
                  <a:lnTo>
                    <a:pt x="380048" y="183832"/>
                  </a:lnTo>
                  <a:lnTo>
                    <a:pt x="396240" y="159068"/>
                  </a:lnTo>
                  <a:lnTo>
                    <a:pt x="412433" y="136207"/>
                  </a:lnTo>
                  <a:lnTo>
                    <a:pt x="429578" y="115252"/>
                  </a:lnTo>
                  <a:lnTo>
                    <a:pt x="445770" y="96202"/>
                  </a:lnTo>
                  <a:lnTo>
                    <a:pt x="461962" y="78105"/>
                  </a:lnTo>
                  <a:lnTo>
                    <a:pt x="479108" y="61912"/>
                  </a:lnTo>
                  <a:lnTo>
                    <a:pt x="496253" y="47625"/>
                  </a:lnTo>
                  <a:lnTo>
                    <a:pt x="514350" y="35242"/>
                  </a:lnTo>
                  <a:lnTo>
                    <a:pt x="531495" y="24765"/>
                  </a:lnTo>
                  <a:lnTo>
                    <a:pt x="548640" y="16192"/>
                  </a:lnTo>
                  <a:lnTo>
                    <a:pt x="566738" y="9525"/>
                  </a:lnTo>
                  <a:lnTo>
                    <a:pt x="583883" y="3810"/>
                  </a:lnTo>
                  <a:lnTo>
                    <a:pt x="601980" y="952"/>
                  </a:lnTo>
                  <a:lnTo>
                    <a:pt x="619125" y="0"/>
                  </a:lnTo>
                  <a:lnTo>
                    <a:pt x="62293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527232" y="2378392"/>
              <a:ext cx="594360" cy="1815465"/>
            </a:xfrm>
            <a:custGeom>
              <a:avLst/>
              <a:gdLst/>
              <a:ahLst/>
              <a:cxnLst/>
              <a:rect l="l" t="t" r="r" b="b"/>
              <a:pathLst>
                <a:path w="594360" h="1815465">
                  <a:moveTo>
                    <a:pt x="0" y="0"/>
                  </a:moveTo>
                  <a:lnTo>
                    <a:pt x="2858" y="0"/>
                  </a:lnTo>
                  <a:lnTo>
                    <a:pt x="20955" y="4762"/>
                  </a:lnTo>
                  <a:lnTo>
                    <a:pt x="39052" y="10478"/>
                  </a:lnTo>
                  <a:lnTo>
                    <a:pt x="56197" y="19050"/>
                  </a:lnTo>
                  <a:lnTo>
                    <a:pt x="73342" y="28575"/>
                  </a:lnTo>
                  <a:lnTo>
                    <a:pt x="91440" y="40958"/>
                  </a:lnTo>
                  <a:lnTo>
                    <a:pt x="107633" y="54293"/>
                  </a:lnTo>
                  <a:lnTo>
                    <a:pt x="125730" y="69533"/>
                  </a:lnTo>
                  <a:lnTo>
                    <a:pt x="141922" y="86678"/>
                  </a:lnTo>
                  <a:lnTo>
                    <a:pt x="159067" y="105728"/>
                  </a:lnTo>
                  <a:lnTo>
                    <a:pt x="175260" y="126683"/>
                  </a:lnTo>
                  <a:lnTo>
                    <a:pt x="191452" y="148590"/>
                  </a:lnTo>
                  <a:lnTo>
                    <a:pt x="207645" y="172403"/>
                  </a:lnTo>
                  <a:lnTo>
                    <a:pt x="223838" y="197167"/>
                  </a:lnTo>
                  <a:lnTo>
                    <a:pt x="240030" y="223838"/>
                  </a:lnTo>
                  <a:lnTo>
                    <a:pt x="255270" y="252412"/>
                  </a:lnTo>
                  <a:lnTo>
                    <a:pt x="269558" y="281940"/>
                  </a:lnTo>
                  <a:lnTo>
                    <a:pt x="284797" y="313373"/>
                  </a:lnTo>
                  <a:lnTo>
                    <a:pt x="299085" y="344805"/>
                  </a:lnTo>
                  <a:lnTo>
                    <a:pt x="314325" y="378142"/>
                  </a:lnTo>
                  <a:lnTo>
                    <a:pt x="327660" y="412433"/>
                  </a:lnTo>
                  <a:lnTo>
                    <a:pt x="340995" y="447675"/>
                  </a:lnTo>
                  <a:lnTo>
                    <a:pt x="354330" y="484823"/>
                  </a:lnTo>
                  <a:lnTo>
                    <a:pt x="367665" y="521017"/>
                  </a:lnTo>
                  <a:lnTo>
                    <a:pt x="380048" y="559117"/>
                  </a:lnTo>
                  <a:lnTo>
                    <a:pt x="392430" y="598170"/>
                  </a:lnTo>
                  <a:lnTo>
                    <a:pt x="403860" y="638175"/>
                  </a:lnTo>
                  <a:lnTo>
                    <a:pt x="415290" y="678180"/>
                  </a:lnTo>
                  <a:lnTo>
                    <a:pt x="426720" y="718185"/>
                  </a:lnTo>
                  <a:lnTo>
                    <a:pt x="437198" y="759142"/>
                  </a:lnTo>
                  <a:lnTo>
                    <a:pt x="447675" y="800100"/>
                  </a:lnTo>
                  <a:lnTo>
                    <a:pt x="457200" y="841058"/>
                  </a:lnTo>
                  <a:lnTo>
                    <a:pt x="466725" y="882967"/>
                  </a:lnTo>
                  <a:lnTo>
                    <a:pt x="476250" y="924878"/>
                  </a:lnTo>
                  <a:lnTo>
                    <a:pt x="484823" y="965835"/>
                  </a:lnTo>
                  <a:lnTo>
                    <a:pt x="492442" y="1007745"/>
                  </a:lnTo>
                  <a:lnTo>
                    <a:pt x="501015" y="1048703"/>
                  </a:lnTo>
                  <a:lnTo>
                    <a:pt x="507683" y="1089660"/>
                  </a:lnTo>
                  <a:lnTo>
                    <a:pt x="515302" y="1129665"/>
                  </a:lnTo>
                  <a:lnTo>
                    <a:pt x="521970" y="1169670"/>
                  </a:lnTo>
                  <a:lnTo>
                    <a:pt x="528637" y="1209675"/>
                  </a:lnTo>
                  <a:lnTo>
                    <a:pt x="534352" y="1247775"/>
                  </a:lnTo>
                  <a:lnTo>
                    <a:pt x="540067" y="1286828"/>
                  </a:lnTo>
                  <a:lnTo>
                    <a:pt x="544830" y="1323975"/>
                  </a:lnTo>
                  <a:lnTo>
                    <a:pt x="550545" y="1360170"/>
                  </a:lnTo>
                  <a:lnTo>
                    <a:pt x="554355" y="1395412"/>
                  </a:lnTo>
                  <a:lnTo>
                    <a:pt x="559117" y="1430655"/>
                  </a:lnTo>
                  <a:lnTo>
                    <a:pt x="562927" y="1463992"/>
                  </a:lnTo>
                  <a:lnTo>
                    <a:pt x="566737" y="1496378"/>
                  </a:lnTo>
                  <a:lnTo>
                    <a:pt x="569595" y="1526858"/>
                  </a:lnTo>
                  <a:lnTo>
                    <a:pt x="573405" y="1556385"/>
                  </a:lnTo>
                  <a:lnTo>
                    <a:pt x="576262" y="1584960"/>
                  </a:lnTo>
                  <a:lnTo>
                    <a:pt x="578167" y="1612582"/>
                  </a:lnTo>
                  <a:lnTo>
                    <a:pt x="581025" y="1637348"/>
                  </a:lnTo>
                  <a:lnTo>
                    <a:pt x="582930" y="1662112"/>
                  </a:lnTo>
                  <a:lnTo>
                    <a:pt x="584835" y="1684020"/>
                  </a:lnTo>
                  <a:lnTo>
                    <a:pt x="585787" y="1704975"/>
                  </a:lnTo>
                  <a:lnTo>
                    <a:pt x="587692" y="1724025"/>
                  </a:lnTo>
                  <a:lnTo>
                    <a:pt x="588645" y="1741170"/>
                  </a:lnTo>
                  <a:lnTo>
                    <a:pt x="589598" y="1757362"/>
                  </a:lnTo>
                  <a:lnTo>
                    <a:pt x="590550" y="1770698"/>
                  </a:lnTo>
                  <a:lnTo>
                    <a:pt x="591502" y="1783080"/>
                  </a:lnTo>
                  <a:lnTo>
                    <a:pt x="592455" y="1793558"/>
                  </a:lnTo>
                  <a:lnTo>
                    <a:pt x="593408" y="1801178"/>
                  </a:lnTo>
                  <a:lnTo>
                    <a:pt x="593408" y="1807845"/>
                  </a:lnTo>
                  <a:lnTo>
                    <a:pt x="594360" y="1812608"/>
                  </a:lnTo>
                  <a:lnTo>
                    <a:pt x="594360" y="1815465"/>
                  </a:lnTo>
                  <a:lnTo>
                    <a:pt x="585787" y="1804988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122545" y="2561272"/>
              <a:ext cx="379095" cy="1632585"/>
            </a:xfrm>
            <a:custGeom>
              <a:avLst/>
              <a:gdLst/>
              <a:ahLst/>
              <a:cxnLst/>
              <a:rect l="l" t="t" r="r" b="b"/>
              <a:pathLst>
                <a:path w="379095" h="1632585">
                  <a:moveTo>
                    <a:pt x="5715" y="1621155"/>
                  </a:moveTo>
                  <a:lnTo>
                    <a:pt x="0" y="1632585"/>
                  </a:lnTo>
                  <a:lnTo>
                    <a:pt x="953" y="1629728"/>
                  </a:lnTo>
                  <a:lnTo>
                    <a:pt x="953" y="1624965"/>
                  </a:lnTo>
                  <a:lnTo>
                    <a:pt x="1905" y="1618298"/>
                  </a:lnTo>
                  <a:lnTo>
                    <a:pt x="1905" y="1609725"/>
                  </a:lnTo>
                  <a:lnTo>
                    <a:pt x="2858" y="1599248"/>
                  </a:lnTo>
                  <a:lnTo>
                    <a:pt x="2858" y="1586865"/>
                  </a:lnTo>
                  <a:lnTo>
                    <a:pt x="4762" y="1573530"/>
                  </a:lnTo>
                  <a:lnTo>
                    <a:pt x="5715" y="1557338"/>
                  </a:lnTo>
                  <a:lnTo>
                    <a:pt x="6668" y="1540193"/>
                  </a:lnTo>
                  <a:lnTo>
                    <a:pt x="8573" y="1520190"/>
                  </a:lnTo>
                  <a:lnTo>
                    <a:pt x="9525" y="1500188"/>
                  </a:lnTo>
                  <a:lnTo>
                    <a:pt x="11430" y="1477328"/>
                  </a:lnTo>
                  <a:lnTo>
                    <a:pt x="13335" y="1453515"/>
                  </a:lnTo>
                  <a:lnTo>
                    <a:pt x="15240" y="1427798"/>
                  </a:lnTo>
                  <a:lnTo>
                    <a:pt x="18098" y="1400175"/>
                  </a:lnTo>
                  <a:lnTo>
                    <a:pt x="20955" y="1371600"/>
                  </a:lnTo>
                  <a:lnTo>
                    <a:pt x="23812" y="1342073"/>
                  </a:lnTo>
                  <a:lnTo>
                    <a:pt x="27623" y="1311593"/>
                  </a:lnTo>
                  <a:lnTo>
                    <a:pt x="31433" y="1278255"/>
                  </a:lnTo>
                  <a:lnTo>
                    <a:pt x="35243" y="1244918"/>
                  </a:lnTo>
                  <a:lnTo>
                    <a:pt x="39053" y="1210628"/>
                  </a:lnTo>
                  <a:lnTo>
                    <a:pt x="43815" y="1175385"/>
                  </a:lnTo>
                  <a:lnTo>
                    <a:pt x="48578" y="1138238"/>
                  </a:lnTo>
                  <a:lnTo>
                    <a:pt x="54293" y="1101090"/>
                  </a:lnTo>
                  <a:lnTo>
                    <a:pt x="60008" y="1062990"/>
                  </a:lnTo>
                  <a:lnTo>
                    <a:pt x="65723" y="1023938"/>
                  </a:lnTo>
                  <a:lnTo>
                    <a:pt x="72390" y="983933"/>
                  </a:lnTo>
                  <a:lnTo>
                    <a:pt x="79058" y="943928"/>
                  </a:lnTo>
                  <a:lnTo>
                    <a:pt x="86678" y="903923"/>
                  </a:lnTo>
                  <a:lnTo>
                    <a:pt x="94298" y="862965"/>
                  </a:lnTo>
                  <a:lnTo>
                    <a:pt x="101918" y="822008"/>
                  </a:lnTo>
                  <a:lnTo>
                    <a:pt x="110490" y="780098"/>
                  </a:lnTo>
                  <a:lnTo>
                    <a:pt x="119062" y="739140"/>
                  </a:lnTo>
                  <a:lnTo>
                    <a:pt x="128588" y="697230"/>
                  </a:lnTo>
                  <a:lnTo>
                    <a:pt x="138112" y="656273"/>
                  </a:lnTo>
                  <a:lnTo>
                    <a:pt x="147638" y="614362"/>
                  </a:lnTo>
                  <a:lnTo>
                    <a:pt x="158115" y="573405"/>
                  </a:lnTo>
                  <a:lnTo>
                    <a:pt x="168593" y="532448"/>
                  </a:lnTo>
                  <a:lnTo>
                    <a:pt x="179070" y="492443"/>
                  </a:lnTo>
                  <a:lnTo>
                    <a:pt x="191453" y="452438"/>
                  </a:lnTo>
                  <a:lnTo>
                    <a:pt x="202883" y="412433"/>
                  </a:lnTo>
                  <a:lnTo>
                    <a:pt x="215265" y="374333"/>
                  </a:lnTo>
                  <a:lnTo>
                    <a:pt x="227648" y="336233"/>
                  </a:lnTo>
                  <a:lnTo>
                    <a:pt x="240983" y="299085"/>
                  </a:lnTo>
                  <a:lnTo>
                    <a:pt x="253365" y="262890"/>
                  </a:lnTo>
                  <a:lnTo>
                    <a:pt x="267653" y="227648"/>
                  </a:lnTo>
                  <a:lnTo>
                    <a:pt x="280988" y="193358"/>
                  </a:lnTo>
                  <a:lnTo>
                    <a:pt x="295275" y="160020"/>
                  </a:lnTo>
                  <a:lnTo>
                    <a:pt x="309562" y="127635"/>
                  </a:lnTo>
                  <a:lnTo>
                    <a:pt x="324803" y="97155"/>
                  </a:lnTo>
                  <a:lnTo>
                    <a:pt x="340043" y="67628"/>
                  </a:lnTo>
                  <a:lnTo>
                    <a:pt x="355283" y="40005"/>
                  </a:lnTo>
                  <a:lnTo>
                    <a:pt x="371475" y="12383"/>
                  </a:lnTo>
                  <a:lnTo>
                    <a:pt x="37909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2113598" y="2052638"/>
              <a:ext cx="1027748" cy="9525"/>
            </a:xfrm>
            <a:custGeom>
              <a:avLst/>
              <a:gdLst/>
              <a:ahLst/>
              <a:cxnLst/>
              <a:rect l="l" t="t" r="r" b="b"/>
              <a:pathLst>
                <a:path w="1027748" h="9525">
                  <a:moveTo>
                    <a:pt x="0" y="0"/>
                  </a:moveTo>
                  <a:lnTo>
                    <a:pt x="10277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141345" y="20050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018348" y="20050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004060" y="1978342"/>
              <a:ext cx="9525" cy="382905"/>
            </a:xfrm>
            <a:custGeom>
              <a:avLst/>
              <a:gdLst/>
              <a:ahLst/>
              <a:cxnLst/>
              <a:rect l="l" t="t" r="r" b="b"/>
              <a:pathLst>
                <a:path w="9525" h="382905">
                  <a:moveTo>
                    <a:pt x="0" y="38290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250882" y="1978342"/>
              <a:ext cx="9525" cy="382905"/>
            </a:xfrm>
            <a:custGeom>
              <a:avLst/>
              <a:gdLst/>
              <a:ahLst/>
              <a:cxnLst/>
              <a:rect l="l" t="t" r="r" b="b"/>
              <a:pathLst>
                <a:path w="9525" h="382905">
                  <a:moveTo>
                    <a:pt x="0" y="38290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572000" y="2485072"/>
              <a:ext cx="9525" cy="690562"/>
            </a:xfrm>
            <a:custGeom>
              <a:avLst/>
              <a:gdLst/>
              <a:ahLst/>
              <a:cxnLst/>
              <a:rect l="l" t="t" r="r" b="b"/>
              <a:pathLst>
                <a:path w="9525" h="690562">
                  <a:moveTo>
                    <a:pt x="0" y="69056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524375" y="23898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524375" y="31756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997268" y="3373755"/>
              <a:ext cx="636270" cy="707708"/>
            </a:xfrm>
            <a:custGeom>
              <a:avLst/>
              <a:gdLst/>
              <a:ahLst/>
              <a:cxnLst/>
              <a:rect l="l" t="t" r="r" b="b"/>
              <a:pathLst>
                <a:path w="636270" h="707708">
                  <a:moveTo>
                    <a:pt x="0" y="707708"/>
                  </a:moveTo>
                  <a:lnTo>
                    <a:pt x="636270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598295" y="3303270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99060" y="0"/>
                  </a:moveTo>
                  <a:lnTo>
                    <a:pt x="70485" y="102870"/>
                  </a:lnTo>
                  <a:lnTo>
                    <a:pt x="0" y="39052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002030" y="4091940"/>
              <a:ext cx="595312" cy="9525"/>
            </a:xfrm>
            <a:custGeom>
              <a:avLst/>
              <a:gdLst/>
              <a:ahLst/>
              <a:cxnLst/>
              <a:rect l="l" t="t" r="r" b="b"/>
              <a:pathLst>
                <a:path w="595312" h="9525">
                  <a:moveTo>
                    <a:pt x="0" y="0"/>
                  </a:moveTo>
                  <a:lnTo>
                    <a:pt x="595312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  <a:custDash>
                <a:ds d="333333" sp="222222"/>
              </a:custDash>
            </a:ln>
          </p:spPr>
        </p:sp>
        <p:sp>
          <p:nvSpPr>
            <p:cNvPr id="27" name="Freeform 27"/>
            <p:cNvSpPr/>
            <p:nvPr/>
          </p:nvSpPr>
          <p:spPr>
            <a:xfrm>
              <a:off x="1597342" y="40443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87742" y="3402330"/>
              <a:ext cx="9525" cy="675323"/>
            </a:xfrm>
            <a:custGeom>
              <a:avLst/>
              <a:gdLst/>
              <a:ahLst/>
              <a:cxnLst/>
              <a:rect l="l" t="t" r="r" b="b"/>
              <a:pathLst>
                <a:path w="9525" h="675323">
                  <a:moveTo>
                    <a:pt x="0" y="67532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  <a:custDash>
                <a:ds d="333333" sp="222222"/>
              </a:custDash>
            </a:ln>
          </p:spPr>
        </p:sp>
        <p:sp>
          <p:nvSpPr>
            <p:cNvPr id="29" name="Freeform 29"/>
            <p:cNvSpPr/>
            <p:nvPr/>
          </p:nvSpPr>
          <p:spPr>
            <a:xfrm>
              <a:off x="940118" y="33070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797242" y="32804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925502" y="32804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90588" y="49234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879782" y="49234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999298" y="23707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623185" y="41900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623185" y="41900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253740" y="23707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253740" y="23707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870008" y="41900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3870008" y="41900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4508182" y="23707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4508182" y="23707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5116830" y="41900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5116830" y="41900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5504498" y="25441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999298" y="20478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3246120" y="20478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999298" y="23707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999298" y="19592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3246120" y="23707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3246120" y="19592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4567238" y="32804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4567238" y="23707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982980" y="40871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1702118" y="32880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982980" y="40871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1702118" y="40871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982980" y="40871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982980" y="32880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743693" y="465010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577744" y="1800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672131" y="278606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730406" y="31613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v₀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700986" y="42867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v∥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8011" y="34942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v⊥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350460" y="38761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formula215"/>
              <p:cNvSpPr txBox="1">
                <a:spLocks noGrp="1"/>
              </p:cNvSpPr>
              <p:nvPr/>
            </p:nvSpPr>
            <p:spPr>
              <a:xfrm>
                <a:off x="533400" y="5377815"/>
                <a:ext cx="5626418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∥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⊥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formula216"/>
              <p:cNvSpPr txBox="1">
                <a:spLocks noGrp="1"/>
              </p:cNvSpPr>
              <p:nvPr/>
            </p:nvSpPr>
            <p:spPr>
              <a:xfrm>
                <a:off x="533400" y="5925502"/>
                <a:ext cx="5626418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func>
                        </m:num>
                        <m:den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</m:d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2πm</m:t>
                          </m:r>
                        </m:num>
                        <m:den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</m:d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∥</m:t>
                          </m:r>
                        </m:sub>
                      </m:sSub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2πm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func>
                        </m:num>
                        <m:den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</m:d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76" name="c2-card-1"/>
          <p:cNvGrpSpPr/>
          <p:nvPr/>
        </p:nvGrpSpPr>
        <p:grpSpPr>
          <a:xfrm>
            <a:off x="6464618" y="1524000"/>
            <a:ext cx="5193982" cy="1505902"/>
            <a:chOff x="6464618" y="1524000"/>
            <a:chExt cx="5193982" cy="1505902"/>
          </a:xfrm>
        </p:grpSpPr>
        <p:sp>
          <p:nvSpPr>
            <p:cNvPr id="70" name="Rectangle 70"/>
            <p:cNvSpPr/>
            <p:nvPr/>
          </p:nvSpPr>
          <p:spPr>
            <a:xfrm>
              <a:off x="6464618" y="1524000"/>
              <a:ext cx="5193982" cy="1505902"/>
            </a:xfrm>
            <a:prstGeom prst="roundRect">
              <a:avLst>
                <a:gd name="adj" fmla="val 88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74142" y="1657350"/>
              <a:ext cx="47625" cy="123920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706552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79771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螺距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99314" y="2100739"/>
              <a:ext cx="38501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粒子回转一周沿 B 方向前进的距离叫螺距 h。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700456" y="2417445"/>
              <a:ext cx="4431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垂直分量只决定圆的大小，平行分量不受力，两种运动互不干扰，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叠加起来就是螺旋线。</a:t>
              </a:r>
            </a:p>
          </p:txBody>
        </p:sp>
      </p:grpSp>
      <p:grpSp>
        <p:nvGrpSpPr>
          <p:cNvPr id="88" name="c2-card-2"/>
          <p:cNvGrpSpPr/>
          <p:nvPr/>
        </p:nvGrpSpPr>
        <p:grpSpPr>
          <a:xfrm>
            <a:off x="6464618" y="3214688"/>
            <a:ext cx="5193982" cy="1963102"/>
            <a:chOff x="6464618" y="3214688"/>
            <a:chExt cx="5193982" cy="1963102"/>
          </a:xfrm>
        </p:grpSpPr>
        <p:sp>
          <p:nvSpPr>
            <p:cNvPr id="77" name="Rectangle 77"/>
            <p:cNvSpPr/>
            <p:nvPr/>
          </p:nvSpPr>
          <p:spPr>
            <a:xfrm>
              <a:off x="6464618" y="3214688"/>
              <a:ext cx="5193982" cy="1963102"/>
            </a:xfrm>
            <a:prstGeom prst="roundRect">
              <a:avLst>
                <a:gd name="adj" fmla="val 67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474142" y="3348038"/>
              <a:ext cx="47625" cy="16964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706552" y="341852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797713" y="34542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699314" y="3791426"/>
              <a:ext cx="31619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上一页的电子改为与 B 成 30° 射入：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714172" y="417195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870764" y="4111466"/>
              <a:ext cx="45359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mv sin30°/(eB) ≈ 2.8 cm，是垂直射入时的一半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6714172" y="449199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870764" y="4431506"/>
              <a:ext cx="22029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不变，仍为 3.6×10⁻⁸ s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6714172" y="481203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870764" y="4751546"/>
              <a:ext cx="23173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v cos30° · T ≈ 0.31 m</a:t>
              </a:r>
            </a:p>
          </p:txBody>
        </p:sp>
      </p:grpSp>
      <p:grpSp>
        <p:nvGrpSpPr>
          <p:cNvPr id="95" name="c2-callout-3"/>
          <p:cNvGrpSpPr/>
          <p:nvPr/>
        </p:nvGrpSpPr>
        <p:grpSpPr>
          <a:xfrm>
            <a:off x="6464618" y="5363528"/>
            <a:ext cx="5193982" cy="756285"/>
            <a:chOff x="6464618" y="5363528"/>
            <a:chExt cx="5193982" cy="756285"/>
          </a:xfrm>
        </p:grpSpPr>
        <p:sp>
          <p:nvSpPr>
            <p:cNvPr id="89" name="Rectangle 89"/>
            <p:cNvSpPr/>
            <p:nvPr/>
          </p:nvSpPr>
          <p:spPr>
            <a:xfrm>
              <a:off x="6464618" y="5363528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6657347" y="5637966"/>
              <a:ext cx="224134" cy="192560"/>
              <a:chOff x="6657347" y="5637966"/>
              <a:chExt cx="224134" cy="19256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6769418" y="5708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6657347" y="5637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6769418" y="5786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6971729" y="5510689"/>
              <a:ext cx="431558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求 R 用垂直分量 v₀ sinθ，求 h 用平行分量 v₀ cosθ，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两者不要混用；T 与 θ 无关。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磁场对运动电荷的作用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磁聚焦：螺距相同的粒子转一圈后重新会聚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g_focus"/>
          <p:cNvGrpSpPr/>
          <p:nvPr/>
        </p:nvGrpSpPr>
        <p:grpSpPr>
          <a:xfrm>
            <a:off x="801052" y="1723072"/>
            <a:ext cx="5321618" cy="3704273"/>
            <a:chOff x="801052" y="1723072"/>
            <a:chExt cx="5321618" cy="3704273"/>
          </a:xfrm>
        </p:grpSpPr>
        <p:sp>
          <p:nvSpPr>
            <p:cNvPr id="7" name="Freeform 7"/>
            <p:cNvSpPr/>
            <p:nvPr/>
          </p:nvSpPr>
          <p:spPr>
            <a:xfrm>
              <a:off x="912495" y="1770698"/>
              <a:ext cx="5050155" cy="9525"/>
            </a:xfrm>
            <a:custGeom>
              <a:avLst/>
              <a:gdLst/>
              <a:ahLst/>
              <a:cxnLst/>
              <a:rect l="l" t="t" r="r" b="b"/>
              <a:pathLst>
                <a:path w="5050155" h="9525">
                  <a:moveTo>
                    <a:pt x="0" y="0"/>
                  </a:moveTo>
                  <a:lnTo>
                    <a:pt x="5050155" y="0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962650" y="17230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20102" y="3498532"/>
              <a:ext cx="5283517" cy="9525"/>
            </a:xfrm>
            <a:custGeom>
              <a:avLst/>
              <a:gdLst/>
              <a:ahLst/>
              <a:cxnLst/>
              <a:rect l="l" t="t" r="r" b="b"/>
              <a:pathLst>
                <a:path w="5283517" h="9525">
                  <a:moveTo>
                    <a:pt x="0" y="0"/>
                  </a:moveTo>
                  <a:lnTo>
                    <a:pt x="5283517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091565" y="2542222"/>
              <a:ext cx="4694872" cy="1912620"/>
            </a:xfrm>
            <a:custGeom>
              <a:avLst/>
              <a:gdLst/>
              <a:ahLst/>
              <a:cxnLst/>
              <a:rect l="l" t="t" r="r" b="b"/>
              <a:pathLst>
                <a:path w="4694872" h="1912620">
                  <a:moveTo>
                    <a:pt x="0" y="944880"/>
                  </a:moveTo>
                  <a:lnTo>
                    <a:pt x="30480" y="905828"/>
                  </a:lnTo>
                  <a:lnTo>
                    <a:pt x="69533" y="856298"/>
                  </a:lnTo>
                  <a:lnTo>
                    <a:pt x="109538" y="806768"/>
                  </a:lnTo>
                  <a:lnTo>
                    <a:pt x="148590" y="757238"/>
                  </a:lnTo>
                  <a:lnTo>
                    <a:pt x="187643" y="708660"/>
                  </a:lnTo>
                  <a:lnTo>
                    <a:pt x="226695" y="661035"/>
                  </a:lnTo>
                  <a:lnTo>
                    <a:pt x="266700" y="613410"/>
                  </a:lnTo>
                  <a:lnTo>
                    <a:pt x="305752" y="567690"/>
                  </a:lnTo>
                  <a:lnTo>
                    <a:pt x="344805" y="521970"/>
                  </a:lnTo>
                  <a:lnTo>
                    <a:pt x="383858" y="478155"/>
                  </a:lnTo>
                  <a:lnTo>
                    <a:pt x="423862" y="435293"/>
                  </a:lnTo>
                  <a:lnTo>
                    <a:pt x="462915" y="394335"/>
                  </a:lnTo>
                  <a:lnTo>
                    <a:pt x="501968" y="354330"/>
                  </a:lnTo>
                  <a:lnTo>
                    <a:pt x="541020" y="316230"/>
                  </a:lnTo>
                  <a:lnTo>
                    <a:pt x="581025" y="280035"/>
                  </a:lnTo>
                  <a:lnTo>
                    <a:pt x="620078" y="245745"/>
                  </a:lnTo>
                  <a:lnTo>
                    <a:pt x="659130" y="212408"/>
                  </a:lnTo>
                  <a:lnTo>
                    <a:pt x="698183" y="182880"/>
                  </a:lnTo>
                  <a:lnTo>
                    <a:pt x="737235" y="154305"/>
                  </a:lnTo>
                  <a:lnTo>
                    <a:pt x="777240" y="127635"/>
                  </a:lnTo>
                  <a:lnTo>
                    <a:pt x="816293" y="103823"/>
                  </a:lnTo>
                  <a:lnTo>
                    <a:pt x="855345" y="82868"/>
                  </a:lnTo>
                  <a:lnTo>
                    <a:pt x="894398" y="63818"/>
                  </a:lnTo>
                  <a:lnTo>
                    <a:pt x="933450" y="46673"/>
                  </a:lnTo>
                  <a:lnTo>
                    <a:pt x="973455" y="32385"/>
                  </a:lnTo>
                  <a:lnTo>
                    <a:pt x="1012508" y="20955"/>
                  </a:lnTo>
                  <a:lnTo>
                    <a:pt x="1051560" y="11430"/>
                  </a:lnTo>
                  <a:lnTo>
                    <a:pt x="1090612" y="4762"/>
                  </a:lnTo>
                  <a:lnTo>
                    <a:pt x="1130618" y="953"/>
                  </a:lnTo>
                  <a:lnTo>
                    <a:pt x="1169670" y="0"/>
                  </a:lnTo>
                  <a:lnTo>
                    <a:pt x="1208722" y="953"/>
                  </a:lnTo>
                  <a:lnTo>
                    <a:pt x="1247775" y="4762"/>
                  </a:lnTo>
                  <a:lnTo>
                    <a:pt x="1286828" y="11430"/>
                  </a:lnTo>
                  <a:lnTo>
                    <a:pt x="1326832" y="20955"/>
                  </a:lnTo>
                  <a:lnTo>
                    <a:pt x="1365885" y="32385"/>
                  </a:lnTo>
                  <a:lnTo>
                    <a:pt x="1404938" y="46673"/>
                  </a:lnTo>
                  <a:lnTo>
                    <a:pt x="1443990" y="63818"/>
                  </a:lnTo>
                  <a:lnTo>
                    <a:pt x="1483043" y="82868"/>
                  </a:lnTo>
                  <a:lnTo>
                    <a:pt x="1523048" y="103823"/>
                  </a:lnTo>
                  <a:lnTo>
                    <a:pt x="1562100" y="127635"/>
                  </a:lnTo>
                  <a:lnTo>
                    <a:pt x="1601152" y="154305"/>
                  </a:lnTo>
                  <a:lnTo>
                    <a:pt x="1640205" y="182880"/>
                  </a:lnTo>
                  <a:lnTo>
                    <a:pt x="1679257" y="212408"/>
                  </a:lnTo>
                  <a:lnTo>
                    <a:pt x="1719263" y="245745"/>
                  </a:lnTo>
                  <a:lnTo>
                    <a:pt x="1758315" y="280035"/>
                  </a:lnTo>
                  <a:lnTo>
                    <a:pt x="1797368" y="316230"/>
                  </a:lnTo>
                  <a:lnTo>
                    <a:pt x="1836420" y="354330"/>
                  </a:lnTo>
                  <a:lnTo>
                    <a:pt x="1876425" y="394335"/>
                  </a:lnTo>
                  <a:lnTo>
                    <a:pt x="1915478" y="435293"/>
                  </a:lnTo>
                  <a:lnTo>
                    <a:pt x="1954530" y="478155"/>
                  </a:lnTo>
                  <a:lnTo>
                    <a:pt x="1994535" y="521970"/>
                  </a:lnTo>
                  <a:lnTo>
                    <a:pt x="2033588" y="567690"/>
                  </a:lnTo>
                  <a:lnTo>
                    <a:pt x="2072640" y="613410"/>
                  </a:lnTo>
                  <a:lnTo>
                    <a:pt x="2111692" y="661035"/>
                  </a:lnTo>
                  <a:lnTo>
                    <a:pt x="2151698" y="708660"/>
                  </a:lnTo>
                  <a:lnTo>
                    <a:pt x="2190750" y="757238"/>
                  </a:lnTo>
                  <a:lnTo>
                    <a:pt x="2229802" y="806768"/>
                  </a:lnTo>
                  <a:lnTo>
                    <a:pt x="2268855" y="856298"/>
                  </a:lnTo>
                  <a:lnTo>
                    <a:pt x="2308860" y="905828"/>
                  </a:lnTo>
                  <a:lnTo>
                    <a:pt x="2347913" y="956310"/>
                  </a:lnTo>
                  <a:lnTo>
                    <a:pt x="2386965" y="1005840"/>
                  </a:lnTo>
                  <a:lnTo>
                    <a:pt x="2426018" y="1056323"/>
                  </a:lnTo>
                  <a:lnTo>
                    <a:pt x="2465070" y="1105853"/>
                  </a:lnTo>
                  <a:lnTo>
                    <a:pt x="2505075" y="1155382"/>
                  </a:lnTo>
                  <a:lnTo>
                    <a:pt x="2544128" y="1203960"/>
                  </a:lnTo>
                  <a:lnTo>
                    <a:pt x="2583180" y="1251585"/>
                  </a:lnTo>
                  <a:lnTo>
                    <a:pt x="2622232" y="1299210"/>
                  </a:lnTo>
                  <a:lnTo>
                    <a:pt x="2661285" y="1344930"/>
                  </a:lnTo>
                  <a:lnTo>
                    <a:pt x="2701290" y="1390650"/>
                  </a:lnTo>
                  <a:lnTo>
                    <a:pt x="2740343" y="1434465"/>
                  </a:lnTo>
                  <a:lnTo>
                    <a:pt x="2779395" y="1477328"/>
                  </a:lnTo>
                  <a:lnTo>
                    <a:pt x="2818448" y="1518285"/>
                  </a:lnTo>
                  <a:lnTo>
                    <a:pt x="2857500" y="1558290"/>
                  </a:lnTo>
                  <a:lnTo>
                    <a:pt x="2897505" y="1596390"/>
                  </a:lnTo>
                  <a:lnTo>
                    <a:pt x="2936557" y="1632585"/>
                  </a:lnTo>
                  <a:lnTo>
                    <a:pt x="2975610" y="1666875"/>
                  </a:lnTo>
                  <a:lnTo>
                    <a:pt x="3014662" y="1699260"/>
                  </a:lnTo>
                  <a:lnTo>
                    <a:pt x="3053715" y="1729740"/>
                  </a:lnTo>
                  <a:lnTo>
                    <a:pt x="3093720" y="1758315"/>
                  </a:lnTo>
                  <a:lnTo>
                    <a:pt x="3132772" y="1784032"/>
                  </a:lnTo>
                  <a:lnTo>
                    <a:pt x="3171825" y="1808798"/>
                  </a:lnTo>
                  <a:lnTo>
                    <a:pt x="3210878" y="1829753"/>
                  </a:lnTo>
                  <a:lnTo>
                    <a:pt x="3249930" y="1848803"/>
                  </a:lnTo>
                  <a:lnTo>
                    <a:pt x="3289935" y="1865948"/>
                  </a:lnTo>
                  <a:lnTo>
                    <a:pt x="3328988" y="1880235"/>
                  </a:lnTo>
                  <a:lnTo>
                    <a:pt x="3368040" y="1891665"/>
                  </a:lnTo>
                  <a:lnTo>
                    <a:pt x="3407093" y="1901190"/>
                  </a:lnTo>
                  <a:lnTo>
                    <a:pt x="3447098" y="1906905"/>
                  </a:lnTo>
                  <a:lnTo>
                    <a:pt x="3486150" y="1911668"/>
                  </a:lnTo>
                  <a:lnTo>
                    <a:pt x="3525202" y="1912620"/>
                  </a:lnTo>
                  <a:lnTo>
                    <a:pt x="3564255" y="1911668"/>
                  </a:lnTo>
                  <a:lnTo>
                    <a:pt x="3604260" y="1906905"/>
                  </a:lnTo>
                  <a:lnTo>
                    <a:pt x="3643312" y="1901190"/>
                  </a:lnTo>
                  <a:lnTo>
                    <a:pt x="3682365" y="1891665"/>
                  </a:lnTo>
                  <a:lnTo>
                    <a:pt x="3721418" y="1880235"/>
                  </a:lnTo>
                  <a:lnTo>
                    <a:pt x="3761422" y="1865948"/>
                  </a:lnTo>
                  <a:lnTo>
                    <a:pt x="3800475" y="1848803"/>
                  </a:lnTo>
                  <a:lnTo>
                    <a:pt x="3839528" y="1829753"/>
                  </a:lnTo>
                  <a:lnTo>
                    <a:pt x="3878580" y="1808798"/>
                  </a:lnTo>
                  <a:lnTo>
                    <a:pt x="3918585" y="1784032"/>
                  </a:lnTo>
                  <a:lnTo>
                    <a:pt x="3957638" y="1758315"/>
                  </a:lnTo>
                  <a:lnTo>
                    <a:pt x="3996690" y="1729740"/>
                  </a:lnTo>
                  <a:lnTo>
                    <a:pt x="4035742" y="1699260"/>
                  </a:lnTo>
                  <a:lnTo>
                    <a:pt x="4075748" y="1666875"/>
                  </a:lnTo>
                  <a:lnTo>
                    <a:pt x="4114800" y="1632585"/>
                  </a:lnTo>
                  <a:lnTo>
                    <a:pt x="4153852" y="1596390"/>
                  </a:lnTo>
                  <a:lnTo>
                    <a:pt x="4192905" y="1558290"/>
                  </a:lnTo>
                  <a:lnTo>
                    <a:pt x="4232910" y="1518285"/>
                  </a:lnTo>
                  <a:lnTo>
                    <a:pt x="4271962" y="1477328"/>
                  </a:lnTo>
                  <a:lnTo>
                    <a:pt x="4311015" y="1434465"/>
                  </a:lnTo>
                  <a:lnTo>
                    <a:pt x="4350067" y="1390650"/>
                  </a:lnTo>
                  <a:lnTo>
                    <a:pt x="4389120" y="1344930"/>
                  </a:lnTo>
                  <a:lnTo>
                    <a:pt x="4429125" y="1299210"/>
                  </a:lnTo>
                  <a:lnTo>
                    <a:pt x="4468178" y="1251585"/>
                  </a:lnTo>
                  <a:lnTo>
                    <a:pt x="4507230" y="1203960"/>
                  </a:lnTo>
                  <a:lnTo>
                    <a:pt x="4546282" y="1155382"/>
                  </a:lnTo>
                  <a:lnTo>
                    <a:pt x="4585335" y="1105853"/>
                  </a:lnTo>
                  <a:lnTo>
                    <a:pt x="4625340" y="1056323"/>
                  </a:lnTo>
                  <a:lnTo>
                    <a:pt x="4664392" y="1005840"/>
                  </a:lnTo>
                  <a:lnTo>
                    <a:pt x="4694872" y="96774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091565" y="2542222"/>
              <a:ext cx="4694872" cy="1912620"/>
            </a:xfrm>
            <a:custGeom>
              <a:avLst/>
              <a:gdLst/>
              <a:ahLst/>
              <a:cxnLst/>
              <a:rect l="l" t="t" r="r" b="b"/>
              <a:pathLst>
                <a:path w="4694872" h="1912620">
                  <a:moveTo>
                    <a:pt x="0" y="967740"/>
                  </a:moveTo>
                  <a:lnTo>
                    <a:pt x="30480" y="1005840"/>
                  </a:lnTo>
                  <a:lnTo>
                    <a:pt x="69533" y="1056323"/>
                  </a:lnTo>
                  <a:lnTo>
                    <a:pt x="109538" y="1105853"/>
                  </a:lnTo>
                  <a:lnTo>
                    <a:pt x="148590" y="1155382"/>
                  </a:lnTo>
                  <a:lnTo>
                    <a:pt x="187643" y="1203960"/>
                  </a:lnTo>
                  <a:lnTo>
                    <a:pt x="226695" y="1251585"/>
                  </a:lnTo>
                  <a:lnTo>
                    <a:pt x="266700" y="1299210"/>
                  </a:lnTo>
                  <a:lnTo>
                    <a:pt x="305752" y="1344930"/>
                  </a:lnTo>
                  <a:lnTo>
                    <a:pt x="344805" y="1390650"/>
                  </a:lnTo>
                  <a:lnTo>
                    <a:pt x="383858" y="1434465"/>
                  </a:lnTo>
                  <a:lnTo>
                    <a:pt x="423862" y="1477328"/>
                  </a:lnTo>
                  <a:lnTo>
                    <a:pt x="462915" y="1518285"/>
                  </a:lnTo>
                  <a:lnTo>
                    <a:pt x="501968" y="1558290"/>
                  </a:lnTo>
                  <a:lnTo>
                    <a:pt x="541020" y="1596390"/>
                  </a:lnTo>
                  <a:lnTo>
                    <a:pt x="581025" y="1632585"/>
                  </a:lnTo>
                  <a:lnTo>
                    <a:pt x="620078" y="1666875"/>
                  </a:lnTo>
                  <a:lnTo>
                    <a:pt x="659130" y="1699260"/>
                  </a:lnTo>
                  <a:lnTo>
                    <a:pt x="698183" y="1729740"/>
                  </a:lnTo>
                  <a:lnTo>
                    <a:pt x="737235" y="1758315"/>
                  </a:lnTo>
                  <a:lnTo>
                    <a:pt x="777240" y="1784032"/>
                  </a:lnTo>
                  <a:lnTo>
                    <a:pt x="816293" y="1808798"/>
                  </a:lnTo>
                  <a:lnTo>
                    <a:pt x="855345" y="1829753"/>
                  </a:lnTo>
                  <a:lnTo>
                    <a:pt x="894398" y="1848803"/>
                  </a:lnTo>
                  <a:lnTo>
                    <a:pt x="933450" y="1865948"/>
                  </a:lnTo>
                  <a:lnTo>
                    <a:pt x="973455" y="1880235"/>
                  </a:lnTo>
                  <a:lnTo>
                    <a:pt x="1012508" y="1891665"/>
                  </a:lnTo>
                  <a:lnTo>
                    <a:pt x="1051560" y="1901190"/>
                  </a:lnTo>
                  <a:lnTo>
                    <a:pt x="1090612" y="1906905"/>
                  </a:lnTo>
                  <a:lnTo>
                    <a:pt x="1130618" y="1911668"/>
                  </a:lnTo>
                  <a:lnTo>
                    <a:pt x="1169670" y="1912620"/>
                  </a:lnTo>
                  <a:lnTo>
                    <a:pt x="1208722" y="1911668"/>
                  </a:lnTo>
                  <a:lnTo>
                    <a:pt x="1247775" y="1906905"/>
                  </a:lnTo>
                  <a:lnTo>
                    <a:pt x="1286828" y="1901190"/>
                  </a:lnTo>
                  <a:lnTo>
                    <a:pt x="1326832" y="1891665"/>
                  </a:lnTo>
                  <a:lnTo>
                    <a:pt x="1365885" y="1880235"/>
                  </a:lnTo>
                  <a:lnTo>
                    <a:pt x="1404938" y="1865948"/>
                  </a:lnTo>
                  <a:lnTo>
                    <a:pt x="1443990" y="1848803"/>
                  </a:lnTo>
                  <a:lnTo>
                    <a:pt x="1483043" y="1829753"/>
                  </a:lnTo>
                  <a:lnTo>
                    <a:pt x="1523048" y="1808798"/>
                  </a:lnTo>
                  <a:lnTo>
                    <a:pt x="1562100" y="1784032"/>
                  </a:lnTo>
                  <a:lnTo>
                    <a:pt x="1601152" y="1758315"/>
                  </a:lnTo>
                  <a:lnTo>
                    <a:pt x="1640205" y="1729740"/>
                  </a:lnTo>
                  <a:lnTo>
                    <a:pt x="1679257" y="1699260"/>
                  </a:lnTo>
                  <a:lnTo>
                    <a:pt x="1719263" y="1666875"/>
                  </a:lnTo>
                  <a:lnTo>
                    <a:pt x="1758315" y="1632585"/>
                  </a:lnTo>
                  <a:lnTo>
                    <a:pt x="1797368" y="1596390"/>
                  </a:lnTo>
                  <a:lnTo>
                    <a:pt x="1836420" y="1558290"/>
                  </a:lnTo>
                  <a:lnTo>
                    <a:pt x="1876425" y="1518285"/>
                  </a:lnTo>
                  <a:lnTo>
                    <a:pt x="1915478" y="1477328"/>
                  </a:lnTo>
                  <a:lnTo>
                    <a:pt x="1954530" y="1434465"/>
                  </a:lnTo>
                  <a:lnTo>
                    <a:pt x="1994535" y="1390650"/>
                  </a:lnTo>
                  <a:lnTo>
                    <a:pt x="2033588" y="1344930"/>
                  </a:lnTo>
                  <a:lnTo>
                    <a:pt x="2072640" y="1299210"/>
                  </a:lnTo>
                  <a:lnTo>
                    <a:pt x="2111692" y="1251585"/>
                  </a:lnTo>
                  <a:lnTo>
                    <a:pt x="2151698" y="1203960"/>
                  </a:lnTo>
                  <a:lnTo>
                    <a:pt x="2190750" y="1155382"/>
                  </a:lnTo>
                  <a:lnTo>
                    <a:pt x="2229802" y="1105853"/>
                  </a:lnTo>
                  <a:lnTo>
                    <a:pt x="2268855" y="1056323"/>
                  </a:lnTo>
                  <a:lnTo>
                    <a:pt x="2308860" y="1005840"/>
                  </a:lnTo>
                  <a:lnTo>
                    <a:pt x="2347913" y="956310"/>
                  </a:lnTo>
                  <a:lnTo>
                    <a:pt x="2386965" y="905828"/>
                  </a:lnTo>
                  <a:lnTo>
                    <a:pt x="2426018" y="856298"/>
                  </a:lnTo>
                  <a:lnTo>
                    <a:pt x="2465070" y="806768"/>
                  </a:lnTo>
                  <a:lnTo>
                    <a:pt x="2505075" y="757238"/>
                  </a:lnTo>
                  <a:lnTo>
                    <a:pt x="2544128" y="708660"/>
                  </a:lnTo>
                  <a:lnTo>
                    <a:pt x="2583180" y="661035"/>
                  </a:lnTo>
                  <a:lnTo>
                    <a:pt x="2622232" y="613410"/>
                  </a:lnTo>
                  <a:lnTo>
                    <a:pt x="2661285" y="567690"/>
                  </a:lnTo>
                  <a:lnTo>
                    <a:pt x="2701290" y="521970"/>
                  </a:lnTo>
                  <a:lnTo>
                    <a:pt x="2740343" y="478155"/>
                  </a:lnTo>
                  <a:lnTo>
                    <a:pt x="2779395" y="435293"/>
                  </a:lnTo>
                  <a:lnTo>
                    <a:pt x="2818448" y="394335"/>
                  </a:lnTo>
                  <a:lnTo>
                    <a:pt x="2857500" y="354330"/>
                  </a:lnTo>
                  <a:lnTo>
                    <a:pt x="2897505" y="316230"/>
                  </a:lnTo>
                  <a:lnTo>
                    <a:pt x="2936557" y="280035"/>
                  </a:lnTo>
                  <a:lnTo>
                    <a:pt x="2975610" y="245745"/>
                  </a:lnTo>
                  <a:lnTo>
                    <a:pt x="3014662" y="212408"/>
                  </a:lnTo>
                  <a:lnTo>
                    <a:pt x="3053715" y="182880"/>
                  </a:lnTo>
                  <a:lnTo>
                    <a:pt x="3093720" y="154305"/>
                  </a:lnTo>
                  <a:lnTo>
                    <a:pt x="3132772" y="127635"/>
                  </a:lnTo>
                  <a:lnTo>
                    <a:pt x="3171825" y="103823"/>
                  </a:lnTo>
                  <a:lnTo>
                    <a:pt x="3210878" y="82868"/>
                  </a:lnTo>
                  <a:lnTo>
                    <a:pt x="3249930" y="63818"/>
                  </a:lnTo>
                  <a:lnTo>
                    <a:pt x="3289935" y="46673"/>
                  </a:lnTo>
                  <a:lnTo>
                    <a:pt x="3328988" y="32385"/>
                  </a:lnTo>
                  <a:lnTo>
                    <a:pt x="3368040" y="20955"/>
                  </a:lnTo>
                  <a:lnTo>
                    <a:pt x="3407093" y="11430"/>
                  </a:lnTo>
                  <a:lnTo>
                    <a:pt x="3447098" y="4762"/>
                  </a:lnTo>
                  <a:lnTo>
                    <a:pt x="3486150" y="953"/>
                  </a:lnTo>
                  <a:lnTo>
                    <a:pt x="3525202" y="0"/>
                  </a:lnTo>
                  <a:lnTo>
                    <a:pt x="3564255" y="953"/>
                  </a:lnTo>
                  <a:lnTo>
                    <a:pt x="3604260" y="4762"/>
                  </a:lnTo>
                  <a:lnTo>
                    <a:pt x="3643312" y="11430"/>
                  </a:lnTo>
                  <a:lnTo>
                    <a:pt x="3682365" y="20955"/>
                  </a:lnTo>
                  <a:lnTo>
                    <a:pt x="3721418" y="32385"/>
                  </a:lnTo>
                  <a:lnTo>
                    <a:pt x="3761422" y="46673"/>
                  </a:lnTo>
                  <a:lnTo>
                    <a:pt x="3800475" y="63818"/>
                  </a:lnTo>
                  <a:lnTo>
                    <a:pt x="3839528" y="82868"/>
                  </a:lnTo>
                  <a:lnTo>
                    <a:pt x="3878580" y="103823"/>
                  </a:lnTo>
                  <a:lnTo>
                    <a:pt x="3918585" y="127635"/>
                  </a:lnTo>
                  <a:lnTo>
                    <a:pt x="3957638" y="154305"/>
                  </a:lnTo>
                  <a:lnTo>
                    <a:pt x="3996690" y="182880"/>
                  </a:lnTo>
                  <a:lnTo>
                    <a:pt x="4035742" y="212408"/>
                  </a:lnTo>
                  <a:lnTo>
                    <a:pt x="4075748" y="245745"/>
                  </a:lnTo>
                  <a:lnTo>
                    <a:pt x="4114800" y="280035"/>
                  </a:lnTo>
                  <a:lnTo>
                    <a:pt x="4153852" y="316230"/>
                  </a:lnTo>
                  <a:lnTo>
                    <a:pt x="4192905" y="354330"/>
                  </a:lnTo>
                  <a:lnTo>
                    <a:pt x="4232910" y="394335"/>
                  </a:lnTo>
                  <a:lnTo>
                    <a:pt x="4271962" y="435293"/>
                  </a:lnTo>
                  <a:lnTo>
                    <a:pt x="4311015" y="478155"/>
                  </a:lnTo>
                  <a:lnTo>
                    <a:pt x="4350067" y="521970"/>
                  </a:lnTo>
                  <a:lnTo>
                    <a:pt x="4389120" y="567690"/>
                  </a:lnTo>
                  <a:lnTo>
                    <a:pt x="4429125" y="613410"/>
                  </a:lnTo>
                  <a:lnTo>
                    <a:pt x="4468178" y="661035"/>
                  </a:lnTo>
                  <a:lnTo>
                    <a:pt x="4507230" y="708660"/>
                  </a:lnTo>
                  <a:lnTo>
                    <a:pt x="4546282" y="757238"/>
                  </a:lnTo>
                  <a:lnTo>
                    <a:pt x="4585335" y="806768"/>
                  </a:lnTo>
                  <a:lnTo>
                    <a:pt x="4625340" y="856298"/>
                  </a:lnTo>
                  <a:lnTo>
                    <a:pt x="4664392" y="905828"/>
                  </a:lnTo>
                  <a:lnTo>
                    <a:pt x="4694872" y="94488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94422" y="2911792"/>
              <a:ext cx="4689158" cy="1172528"/>
            </a:xfrm>
            <a:custGeom>
              <a:avLst/>
              <a:gdLst/>
              <a:ahLst/>
              <a:cxnLst/>
              <a:rect l="l" t="t" r="r" b="b"/>
              <a:pathLst>
                <a:path w="4689158" h="1172528">
                  <a:moveTo>
                    <a:pt x="0" y="578167"/>
                  </a:moveTo>
                  <a:lnTo>
                    <a:pt x="27622" y="556260"/>
                  </a:lnTo>
                  <a:lnTo>
                    <a:pt x="66675" y="525780"/>
                  </a:lnTo>
                  <a:lnTo>
                    <a:pt x="106680" y="495300"/>
                  </a:lnTo>
                  <a:lnTo>
                    <a:pt x="145732" y="464820"/>
                  </a:lnTo>
                  <a:lnTo>
                    <a:pt x="184785" y="434340"/>
                  </a:lnTo>
                  <a:lnTo>
                    <a:pt x="223838" y="405765"/>
                  </a:lnTo>
                  <a:lnTo>
                    <a:pt x="263842" y="376238"/>
                  </a:lnTo>
                  <a:lnTo>
                    <a:pt x="302895" y="347662"/>
                  </a:lnTo>
                  <a:lnTo>
                    <a:pt x="341948" y="320992"/>
                  </a:lnTo>
                  <a:lnTo>
                    <a:pt x="381000" y="293370"/>
                  </a:lnTo>
                  <a:lnTo>
                    <a:pt x="421005" y="267653"/>
                  </a:lnTo>
                  <a:lnTo>
                    <a:pt x="460057" y="241935"/>
                  </a:lnTo>
                  <a:lnTo>
                    <a:pt x="499110" y="218123"/>
                  </a:lnTo>
                  <a:lnTo>
                    <a:pt x="538162" y="194310"/>
                  </a:lnTo>
                  <a:lnTo>
                    <a:pt x="578167" y="172403"/>
                  </a:lnTo>
                  <a:lnTo>
                    <a:pt x="617220" y="151448"/>
                  </a:lnTo>
                  <a:lnTo>
                    <a:pt x="656272" y="131445"/>
                  </a:lnTo>
                  <a:lnTo>
                    <a:pt x="695325" y="112395"/>
                  </a:lnTo>
                  <a:lnTo>
                    <a:pt x="734378" y="95250"/>
                  </a:lnTo>
                  <a:lnTo>
                    <a:pt x="774382" y="79058"/>
                  </a:lnTo>
                  <a:lnTo>
                    <a:pt x="813435" y="64770"/>
                  </a:lnTo>
                  <a:lnTo>
                    <a:pt x="852488" y="51435"/>
                  </a:lnTo>
                  <a:lnTo>
                    <a:pt x="891540" y="39053"/>
                  </a:lnTo>
                  <a:lnTo>
                    <a:pt x="930592" y="28575"/>
                  </a:lnTo>
                  <a:lnTo>
                    <a:pt x="970598" y="20003"/>
                  </a:lnTo>
                  <a:lnTo>
                    <a:pt x="1009650" y="13335"/>
                  </a:lnTo>
                  <a:lnTo>
                    <a:pt x="1048702" y="7620"/>
                  </a:lnTo>
                  <a:lnTo>
                    <a:pt x="1087755" y="3810"/>
                  </a:lnTo>
                  <a:lnTo>
                    <a:pt x="1127760" y="953"/>
                  </a:lnTo>
                  <a:lnTo>
                    <a:pt x="1166812" y="0"/>
                  </a:lnTo>
                  <a:lnTo>
                    <a:pt x="1205865" y="953"/>
                  </a:lnTo>
                  <a:lnTo>
                    <a:pt x="1244918" y="3810"/>
                  </a:lnTo>
                  <a:lnTo>
                    <a:pt x="1283970" y="7620"/>
                  </a:lnTo>
                  <a:lnTo>
                    <a:pt x="1323975" y="13335"/>
                  </a:lnTo>
                  <a:lnTo>
                    <a:pt x="1363028" y="20003"/>
                  </a:lnTo>
                  <a:lnTo>
                    <a:pt x="1402080" y="28575"/>
                  </a:lnTo>
                  <a:lnTo>
                    <a:pt x="1441132" y="39053"/>
                  </a:lnTo>
                  <a:lnTo>
                    <a:pt x="1480185" y="51435"/>
                  </a:lnTo>
                  <a:lnTo>
                    <a:pt x="1520190" y="64770"/>
                  </a:lnTo>
                  <a:lnTo>
                    <a:pt x="1559243" y="79058"/>
                  </a:lnTo>
                  <a:lnTo>
                    <a:pt x="1598295" y="95250"/>
                  </a:lnTo>
                  <a:lnTo>
                    <a:pt x="1637348" y="112395"/>
                  </a:lnTo>
                  <a:lnTo>
                    <a:pt x="1676400" y="131445"/>
                  </a:lnTo>
                  <a:lnTo>
                    <a:pt x="1716405" y="151448"/>
                  </a:lnTo>
                  <a:lnTo>
                    <a:pt x="1755457" y="172403"/>
                  </a:lnTo>
                  <a:lnTo>
                    <a:pt x="1794510" y="194310"/>
                  </a:lnTo>
                  <a:lnTo>
                    <a:pt x="1833562" y="218123"/>
                  </a:lnTo>
                  <a:lnTo>
                    <a:pt x="1873568" y="241935"/>
                  </a:lnTo>
                  <a:lnTo>
                    <a:pt x="1912620" y="267653"/>
                  </a:lnTo>
                  <a:lnTo>
                    <a:pt x="1951672" y="293370"/>
                  </a:lnTo>
                  <a:lnTo>
                    <a:pt x="1991678" y="320992"/>
                  </a:lnTo>
                  <a:lnTo>
                    <a:pt x="2030730" y="347662"/>
                  </a:lnTo>
                  <a:lnTo>
                    <a:pt x="2069782" y="376238"/>
                  </a:lnTo>
                  <a:lnTo>
                    <a:pt x="2108835" y="405765"/>
                  </a:lnTo>
                  <a:lnTo>
                    <a:pt x="2148840" y="434340"/>
                  </a:lnTo>
                  <a:lnTo>
                    <a:pt x="2187892" y="464820"/>
                  </a:lnTo>
                  <a:lnTo>
                    <a:pt x="2226945" y="495300"/>
                  </a:lnTo>
                  <a:lnTo>
                    <a:pt x="2265998" y="525780"/>
                  </a:lnTo>
                  <a:lnTo>
                    <a:pt x="2306002" y="556260"/>
                  </a:lnTo>
                  <a:lnTo>
                    <a:pt x="2345055" y="586740"/>
                  </a:lnTo>
                  <a:lnTo>
                    <a:pt x="2384108" y="617220"/>
                  </a:lnTo>
                  <a:lnTo>
                    <a:pt x="2423160" y="647700"/>
                  </a:lnTo>
                  <a:lnTo>
                    <a:pt x="2462212" y="678180"/>
                  </a:lnTo>
                  <a:lnTo>
                    <a:pt x="2502218" y="708660"/>
                  </a:lnTo>
                  <a:lnTo>
                    <a:pt x="2541270" y="738188"/>
                  </a:lnTo>
                  <a:lnTo>
                    <a:pt x="2580322" y="767715"/>
                  </a:lnTo>
                  <a:lnTo>
                    <a:pt x="2619375" y="796290"/>
                  </a:lnTo>
                  <a:lnTo>
                    <a:pt x="2658428" y="824865"/>
                  </a:lnTo>
                  <a:lnTo>
                    <a:pt x="2698432" y="852488"/>
                  </a:lnTo>
                  <a:lnTo>
                    <a:pt x="2737485" y="879158"/>
                  </a:lnTo>
                  <a:lnTo>
                    <a:pt x="2776538" y="905828"/>
                  </a:lnTo>
                  <a:lnTo>
                    <a:pt x="2815590" y="931545"/>
                  </a:lnTo>
                  <a:lnTo>
                    <a:pt x="2854643" y="955358"/>
                  </a:lnTo>
                  <a:lnTo>
                    <a:pt x="2894648" y="978217"/>
                  </a:lnTo>
                  <a:lnTo>
                    <a:pt x="2933700" y="1001078"/>
                  </a:lnTo>
                  <a:lnTo>
                    <a:pt x="2972752" y="1022033"/>
                  </a:lnTo>
                  <a:lnTo>
                    <a:pt x="3011805" y="1042035"/>
                  </a:lnTo>
                  <a:lnTo>
                    <a:pt x="3050857" y="1061085"/>
                  </a:lnTo>
                  <a:lnTo>
                    <a:pt x="3090862" y="1078230"/>
                  </a:lnTo>
                  <a:lnTo>
                    <a:pt x="3129915" y="1094423"/>
                  </a:lnTo>
                  <a:lnTo>
                    <a:pt x="3168968" y="1108710"/>
                  </a:lnTo>
                  <a:lnTo>
                    <a:pt x="3208020" y="1122045"/>
                  </a:lnTo>
                  <a:lnTo>
                    <a:pt x="3247072" y="1133475"/>
                  </a:lnTo>
                  <a:lnTo>
                    <a:pt x="3287078" y="1143953"/>
                  </a:lnTo>
                  <a:lnTo>
                    <a:pt x="3326130" y="1152525"/>
                  </a:lnTo>
                  <a:lnTo>
                    <a:pt x="3365182" y="1160145"/>
                  </a:lnTo>
                  <a:lnTo>
                    <a:pt x="3404235" y="1165860"/>
                  </a:lnTo>
                  <a:lnTo>
                    <a:pt x="3444240" y="1169670"/>
                  </a:lnTo>
                  <a:lnTo>
                    <a:pt x="3483293" y="1171575"/>
                  </a:lnTo>
                  <a:lnTo>
                    <a:pt x="3522345" y="1172528"/>
                  </a:lnTo>
                  <a:lnTo>
                    <a:pt x="3561398" y="1171575"/>
                  </a:lnTo>
                  <a:lnTo>
                    <a:pt x="3601402" y="1169670"/>
                  </a:lnTo>
                  <a:lnTo>
                    <a:pt x="3640455" y="1165860"/>
                  </a:lnTo>
                  <a:lnTo>
                    <a:pt x="3679507" y="1160145"/>
                  </a:lnTo>
                  <a:lnTo>
                    <a:pt x="3718560" y="1152525"/>
                  </a:lnTo>
                  <a:lnTo>
                    <a:pt x="3758565" y="1143953"/>
                  </a:lnTo>
                  <a:lnTo>
                    <a:pt x="3797618" y="1133475"/>
                  </a:lnTo>
                  <a:lnTo>
                    <a:pt x="3836670" y="1122045"/>
                  </a:lnTo>
                  <a:lnTo>
                    <a:pt x="3875722" y="1108710"/>
                  </a:lnTo>
                  <a:lnTo>
                    <a:pt x="3915728" y="1094423"/>
                  </a:lnTo>
                  <a:lnTo>
                    <a:pt x="3954780" y="1078230"/>
                  </a:lnTo>
                  <a:lnTo>
                    <a:pt x="3993833" y="1061085"/>
                  </a:lnTo>
                  <a:lnTo>
                    <a:pt x="4032885" y="1042035"/>
                  </a:lnTo>
                  <a:lnTo>
                    <a:pt x="4072890" y="1022033"/>
                  </a:lnTo>
                  <a:lnTo>
                    <a:pt x="4111943" y="1001078"/>
                  </a:lnTo>
                  <a:lnTo>
                    <a:pt x="4150995" y="978217"/>
                  </a:lnTo>
                  <a:lnTo>
                    <a:pt x="4190048" y="955358"/>
                  </a:lnTo>
                  <a:lnTo>
                    <a:pt x="4230052" y="931545"/>
                  </a:lnTo>
                  <a:lnTo>
                    <a:pt x="4269105" y="905828"/>
                  </a:lnTo>
                  <a:lnTo>
                    <a:pt x="4308158" y="879158"/>
                  </a:lnTo>
                  <a:lnTo>
                    <a:pt x="4347210" y="852488"/>
                  </a:lnTo>
                  <a:lnTo>
                    <a:pt x="4386262" y="824865"/>
                  </a:lnTo>
                  <a:lnTo>
                    <a:pt x="4426268" y="796290"/>
                  </a:lnTo>
                  <a:lnTo>
                    <a:pt x="4465320" y="767715"/>
                  </a:lnTo>
                  <a:lnTo>
                    <a:pt x="4504372" y="738188"/>
                  </a:lnTo>
                  <a:lnTo>
                    <a:pt x="4543425" y="708660"/>
                  </a:lnTo>
                  <a:lnTo>
                    <a:pt x="4582478" y="678180"/>
                  </a:lnTo>
                  <a:lnTo>
                    <a:pt x="4622483" y="647700"/>
                  </a:lnTo>
                  <a:lnTo>
                    <a:pt x="4661535" y="617220"/>
                  </a:lnTo>
                  <a:lnTo>
                    <a:pt x="4689158" y="595312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094422" y="2911792"/>
              <a:ext cx="4689158" cy="1172528"/>
            </a:xfrm>
            <a:custGeom>
              <a:avLst/>
              <a:gdLst/>
              <a:ahLst/>
              <a:cxnLst/>
              <a:rect l="l" t="t" r="r" b="b"/>
              <a:pathLst>
                <a:path w="4689158" h="1172528">
                  <a:moveTo>
                    <a:pt x="0" y="595312"/>
                  </a:moveTo>
                  <a:lnTo>
                    <a:pt x="27622" y="617220"/>
                  </a:lnTo>
                  <a:lnTo>
                    <a:pt x="66675" y="647700"/>
                  </a:lnTo>
                  <a:lnTo>
                    <a:pt x="106680" y="678180"/>
                  </a:lnTo>
                  <a:lnTo>
                    <a:pt x="145732" y="708660"/>
                  </a:lnTo>
                  <a:lnTo>
                    <a:pt x="184785" y="738188"/>
                  </a:lnTo>
                  <a:lnTo>
                    <a:pt x="223838" y="767715"/>
                  </a:lnTo>
                  <a:lnTo>
                    <a:pt x="263842" y="796290"/>
                  </a:lnTo>
                  <a:lnTo>
                    <a:pt x="302895" y="824865"/>
                  </a:lnTo>
                  <a:lnTo>
                    <a:pt x="341948" y="852488"/>
                  </a:lnTo>
                  <a:lnTo>
                    <a:pt x="381000" y="879158"/>
                  </a:lnTo>
                  <a:lnTo>
                    <a:pt x="421005" y="905828"/>
                  </a:lnTo>
                  <a:lnTo>
                    <a:pt x="460057" y="931545"/>
                  </a:lnTo>
                  <a:lnTo>
                    <a:pt x="499110" y="955358"/>
                  </a:lnTo>
                  <a:lnTo>
                    <a:pt x="538162" y="978217"/>
                  </a:lnTo>
                  <a:lnTo>
                    <a:pt x="578167" y="1001078"/>
                  </a:lnTo>
                  <a:lnTo>
                    <a:pt x="617220" y="1022033"/>
                  </a:lnTo>
                  <a:lnTo>
                    <a:pt x="656272" y="1042035"/>
                  </a:lnTo>
                  <a:lnTo>
                    <a:pt x="695325" y="1061085"/>
                  </a:lnTo>
                  <a:lnTo>
                    <a:pt x="734378" y="1078230"/>
                  </a:lnTo>
                  <a:lnTo>
                    <a:pt x="774382" y="1094423"/>
                  </a:lnTo>
                  <a:lnTo>
                    <a:pt x="813435" y="1108710"/>
                  </a:lnTo>
                  <a:lnTo>
                    <a:pt x="852488" y="1122045"/>
                  </a:lnTo>
                  <a:lnTo>
                    <a:pt x="891540" y="1133475"/>
                  </a:lnTo>
                  <a:lnTo>
                    <a:pt x="930592" y="1143953"/>
                  </a:lnTo>
                  <a:lnTo>
                    <a:pt x="970598" y="1152525"/>
                  </a:lnTo>
                  <a:lnTo>
                    <a:pt x="1009650" y="1160145"/>
                  </a:lnTo>
                  <a:lnTo>
                    <a:pt x="1048702" y="1165860"/>
                  </a:lnTo>
                  <a:lnTo>
                    <a:pt x="1087755" y="1169670"/>
                  </a:lnTo>
                  <a:lnTo>
                    <a:pt x="1127760" y="1171575"/>
                  </a:lnTo>
                  <a:lnTo>
                    <a:pt x="1166812" y="1172528"/>
                  </a:lnTo>
                  <a:lnTo>
                    <a:pt x="1205865" y="1171575"/>
                  </a:lnTo>
                  <a:lnTo>
                    <a:pt x="1244918" y="1169670"/>
                  </a:lnTo>
                  <a:lnTo>
                    <a:pt x="1283970" y="1165860"/>
                  </a:lnTo>
                  <a:lnTo>
                    <a:pt x="1323975" y="1160145"/>
                  </a:lnTo>
                  <a:lnTo>
                    <a:pt x="1363028" y="1152525"/>
                  </a:lnTo>
                  <a:lnTo>
                    <a:pt x="1402080" y="1143953"/>
                  </a:lnTo>
                  <a:lnTo>
                    <a:pt x="1441132" y="1133475"/>
                  </a:lnTo>
                  <a:lnTo>
                    <a:pt x="1480185" y="1122045"/>
                  </a:lnTo>
                  <a:lnTo>
                    <a:pt x="1520190" y="1108710"/>
                  </a:lnTo>
                  <a:lnTo>
                    <a:pt x="1559243" y="1094423"/>
                  </a:lnTo>
                  <a:lnTo>
                    <a:pt x="1598295" y="1078230"/>
                  </a:lnTo>
                  <a:lnTo>
                    <a:pt x="1637348" y="1061085"/>
                  </a:lnTo>
                  <a:lnTo>
                    <a:pt x="1676400" y="1042035"/>
                  </a:lnTo>
                  <a:lnTo>
                    <a:pt x="1716405" y="1022033"/>
                  </a:lnTo>
                  <a:lnTo>
                    <a:pt x="1755457" y="1001078"/>
                  </a:lnTo>
                  <a:lnTo>
                    <a:pt x="1794510" y="978217"/>
                  </a:lnTo>
                  <a:lnTo>
                    <a:pt x="1833562" y="955358"/>
                  </a:lnTo>
                  <a:lnTo>
                    <a:pt x="1873568" y="931545"/>
                  </a:lnTo>
                  <a:lnTo>
                    <a:pt x="1912620" y="905828"/>
                  </a:lnTo>
                  <a:lnTo>
                    <a:pt x="1951672" y="879158"/>
                  </a:lnTo>
                  <a:lnTo>
                    <a:pt x="1991678" y="852488"/>
                  </a:lnTo>
                  <a:lnTo>
                    <a:pt x="2030730" y="824865"/>
                  </a:lnTo>
                  <a:lnTo>
                    <a:pt x="2069782" y="796290"/>
                  </a:lnTo>
                  <a:lnTo>
                    <a:pt x="2108835" y="767715"/>
                  </a:lnTo>
                  <a:lnTo>
                    <a:pt x="2148840" y="738188"/>
                  </a:lnTo>
                  <a:lnTo>
                    <a:pt x="2187892" y="708660"/>
                  </a:lnTo>
                  <a:lnTo>
                    <a:pt x="2226945" y="678180"/>
                  </a:lnTo>
                  <a:lnTo>
                    <a:pt x="2265998" y="647700"/>
                  </a:lnTo>
                  <a:lnTo>
                    <a:pt x="2306002" y="617220"/>
                  </a:lnTo>
                  <a:lnTo>
                    <a:pt x="2345055" y="586740"/>
                  </a:lnTo>
                  <a:lnTo>
                    <a:pt x="2384108" y="556260"/>
                  </a:lnTo>
                  <a:lnTo>
                    <a:pt x="2423160" y="525780"/>
                  </a:lnTo>
                  <a:lnTo>
                    <a:pt x="2462212" y="495300"/>
                  </a:lnTo>
                  <a:lnTo>
                    <a:pt x="2502218" y="464820"/>
                  </a:lnTo>
                  <a:lnTo>
                    <a:pt x="2541270" y="434340"/>
                  </a:lnTo>
                  <a:lnTo>
                    <a:pt x="2580322" y="405765"/>
                  </a:lnTo>
                  <a:lnTo>
                    <a:pt x="2619375" y="376238"/>
                  </a:lnTo>
                  <a:lnTo>
                    <a:pt x="2658428" y="347662"/>
                  </a:lnTo>
                  <a:lnTo>
                    <a:pt x="2698432" y="320992"/>
                  </a:lnTo>
                  <a:lnTo>
                    <a:pt x="2737485" y="293370"/>
                  </a:lnTo>
                  <a:lnTo>
                    <a:pt x="2776538" y="267653"/>
                  </a:lnTo>
                  <a:lnTo>
                    <a:pt x="2815590" y="241935"/>
                  </a:lnTo>
                  <a:lnTo>
                    <a:pt x="2854643" y="218123"/>
                  </a:lnTo>
                  <a:lnTo>
                    <a:pt x="2894648" y="194310"/>
                  </a:lnTo>
                  <a:lnTo>
                    <a:pt x="2933700" y="172403"/>
                  </a:lnTo>
                  <a:lnTo>
                    <a:pt x="2972752" y="151448"/>
                  </a:lnTo>
                  <a:lnTo>
                    <a:pt x="3011805" y="131445"/>
                  </a:lnTo>
                  <a:lnTo>
                    <a:pt x="3050857" y="112395"/>
                  </a:lnTo>
                  <a:lnTo>
                    <a:pt x="3090862" y="95250"/>
                  </a:lnTo>
                  <a:lnTo>
                    <a:pt x="3129915" y="79058"/>
                  </a:lnTo>
                  <a:lnTo>
                    <a:pt x="3168968" y="64770"/>
                  </a:lnTo>
                  <a:lnTo>
                    <a:pt x="3208020" y="51435"/>
                  </a:lnTo>
                  <a:lnTo>
                    <a:pt x="3247072" y="39053"/>
                  </a:lnTo>
                  <a:lnTo>
                    <a:pt x="3287078" y="28575"/>
                  </a:lnTo>
                  <a:lnTo>
                    <a:pt x="3326130" y="20003"/>
                  </a:lnTo>
                  <a:lnTo>
                    <a:pt x="3365182" y="13335"/>
                  </a:lnTo>
                  <a:lnTo>
                    <a:pt x="3404235" y="7620"/>
                  </a:lnTo>
                  <a:lnTo>
                    <a:pt x="3444240" y="3810"/>
                  </a:lnTo>
                  <a:lnTo>
                    <a:pt x="3483293" y="953"/>
                  </a:lnTo>
                  <a:lnTo>
                    <a:pt x="3522345" y="0"/>
                  </a:lnTo>
                  <a:lnTo>
                    <a:pt x="3561398" y="953"/>
                  </a:lnTo>
                  <a:lnTo>
                    <a:pt x="3601402" y="3810"/>
                  </a:lnTo>
                  <a:lnTo>
                    <a:pt x="3640455" y="7620"/>
                  </a:lnTo>
                  <a:lnTo>
                    <a:pt x="3679507" y="13335"/>
                  </a:lnTo>
                  <a:lnTo>
                    <a:pt x="3718560" y="20003"/>
                  </a:lnTo>
                  <a:lnTo>
                    <a:pt x="3758565" y="28575"/>
                  </a:lnTo>
                  <a:lnTo>
                    <a:pt x="3797618" y="39053"/>
                  </a:lnTo>
                  <a:lnTo>
                    <a:pt x="3836670" y="51435"/>
                  </a:lnTo>
                  <a:lnTo>
                    <a:pt x="3875722" y="64770"/>
                  </a:lnTo>
                  <a:lnTo>
                    <a:pt x="3915728" y="79058"/>
                  </a:lnTo>
                  <a:lnTo>
                    <a:pt x="3954780" y="95250"/>
                  </a:lnTo>
                  <a:lnTo>
                    <a:pt x="3993833" y="112395"/>
                  </a:lnTo>
                  <a:lnTo>
                    <a:pt x="4032885" y="131445"/>
                  </a:lnTo>
                  <a:lnTo>
                    <a:pt x="4072890" y="151448"/>
                  </a:lnTo>
                  <a:lnTo>
                    <a:pt x="4111943" y="172403"/>
                  </a:lnTo>
                  <a:lnTo>
                    <a:pt x="4150995" y="194310"/>
                  </a:lnTo>
                  <a:lnTo>
                    <a:pt x="4190048" y="218123"/>
                  </a:lnTo>
                  <a:lnTo>
                    <a:pt x="4230052" y="241935"/>
                  </a:lnTo>
                  <a:lnTo>
                    <a:pt x="4269105" y="267653"/>
                  </a:lnTo>
                  <a:lnTo>
                    <a:pt x="4308158" y="293370"/>
                  </a:lnTo>
                  <a:lnTo>
                    <a:pt x="4347210" y="320992"/>
                  </a:lnTo>
                  <a:lnTo>
                    <a:pt x="4386262" y="347662"/>
                  </a:lnTo>
                  <a:lnTo>
                    <a:pt x="4426268" y="376238"/>
                  </a:lnTo>
                  <a:lnTo>
                    <a:pt x="4465320" y="405765"/>
                  </a:lnTo>
                  <a:lnTo>
                    <a:pt x="4504372" y="434340"/>
                  </a:lnTo>
                  <a:lnTo>
                    <a:pt x="4543425" y="464820"/>
                  </a:lnTo>
                  <a:lnTo>
                    <a:pt x="4582478" y="495300"/>
                  </a:lnTo>
                  <a:lnTo>
                    <a:pt x="4622483" y="525780"/>
                  </a:lnTo>
                  <a:lnTo>
                    <a:pt x="4661535" y="556260"/>
                  </a:lnTo>
                  <a:lnTo>
                    <a:pt x="4689158" y="578167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097280" y="2079308"/>
              <a:ext cx="4683442" cy="1418272"/>
            </a:xfrm>
            <a:custGeom>
              <a:avLst/>
              <a:gdLst/>
              <a:ahLst/>
              <a:cxnLst/>
              <a:rect l="l" t="t" r="r" b="b"/>
              <a:pathLst>
                <a:path w="4683442" h="1418272">
                  <a:moveTo>
                    <a:pt x="0" y="1418272"/>
                  </a:moveTo>
                  <a:lnTo>
                    <a:pt x="24765" y="1418272"/>
                  </a:lnTo>
                  <a:lnTo>
                    <a:pt x="63818" y="1415415"/>
                  </a:lnTo>
                  <a:lnTo>
                    <a:pt x="103822" y="1410652"/>
                  </a:lnTo>
                  <a:lnTo>
                    <a:pt x="142875" y="1403985"/>
                  </a:lnTo>
                  <a:lnTo>
                    <a:pt x="181928" y="1395412"/>
                  </a:lnTo>
                  <a:lnTo>
                    <a:pt x="220980" y="1383982"/>
                  </a:lnTo>
                  <a:lnTo>
                    <a:pt x="260985" y="1372552"/>
                  </a:lnTo>
                  <a:lnTo>
                    <a:pt x="300037" y="1357312"/>
                  </a:lnTo>
                  <a:lnTo>
                    <a:pt x="339090" y="1342072"/>
                  </a:lnTo>
                  <a:lnTo>
                    <a:pt x="378142" y="1323975"/>
                  </a:lnTo>
                  <a:lnTo>
                    <a:pt x="418147" y="1304925"/>
                  </a:lnTo>
                  <a:lnTo>
                    <a:pt x="457200" y="1283018"/>
                  </a:lnTo>
                  <a:lnTo>
                    <a:pt x="496253" y="1261110"/>
                  </a:lnTo>
                  <a:lnTo>
                    <a:pt x="535305" y="1236345"/>
                  </a:lnTo>
                  <a:lnTo>
                    <a:pt x="575310" y="1211580"/>
                  </a:lnTo>
                  <a:lnTo>
                    <a:pt x="614362" y="1183958"/>
                  </a:lnTo>
                  <a:lnTo>
                    <a:pt x="653415" y="1156335"/>
                  </a:lnTo>
                  <a:lnTo>
                    <a:pt x="692468" y="1126808"/>
                  </a:lnTo>
                  <a:lnTo>
                    <a:pt x="731520" y="1096327"/>
                  </a:lnTo>
                  <a:lnTo>
                    <a:pt x="771525" y="1063942"/>
                  </a:lnTo>
                  <a:lnTo>
                    <a:pt x="810578" y="1031558"/>
                  </a:lnTo>
                  <a:lnTo>
                    <a:pt x="849630" y="998220"/>
                  </a:lnTo>
                  <a:lnTo>
                    <a:pt x="888682" y="963930"/>
                  </a:lnTo>
                  <a:lnTo>
                    <a:pt x="927735" y="928688"/>
                  </a:lnTo>
                  <a:lnTo>
                    <a:pt x="967740" y="893445"/>
                  </a:lnTo>
                  <a:lnTo>
                    <a:pt x="1006792" y="857250"/>
                  </a:lnTo>
                  <a:lnTo>
                    <a:pt x="1045845" y="821055"/>
                  </a:lnTo>
                  <a:lnTo>
                    <a:pt x="1084898" y="783908"/>
                  </a:lnTo>
                  <a:lnTo>
                    <a:pt x="1124902" y="746760"/>
                  </a:lnTo>
                  <a:lnTo>
                    <a:pt x="1163955" y="709612"/>
                  </a:lnTo>
                  <a:lnTo>
                    <a:pt x="1203008" y="672465"/>
                  </a:lnTo>
                  <a:lnTo>
                    <a:pt x="1242060" y="635317"/>
                  </a:lnTo>
                  <a:lnTo>
                    <a:pt x="1281112" y="599122"/>
                  </a:lnTo>
                  <a:lnTo>
                    <a:pt x="1321118" y="561975"/>
                  </a:lnTo>
                  <a:lnTo>
                    <a:pt x="1360170" y="525780"/>
                  </a:lnTo>
                  <a:lnTo>
                    <a:pt x="1399223" y="490538"/>
                  </a:lnTo>
                  <a:lnTo>
                    <a:pt x="1438275" y="455295"/>
                  </a:lnTo>
                  <a:lnTo>
                    <a:pt x="1477328" y="421005"/>
                  </a:lnTo>
                  <a:lnTo>
                    <a:pt x="1517332" y="387667"/>
                  </a:lnTo>
                  <a:lnTo>
                    <a:pt x="1556385" y="354330"/>
                  </a:lnTo>
                  <a:lnTo>
                    <a:pt x="1595438" y="322897"/>
                  </a:lnTo>
                  <a:lnTo>
                    <a:pt x="1634490" y="292417"/>
                  </a:lnTo>
                  <a:lnTo>
                    <a:pt x="1673542" y="262890"/>
                  </a:lnTo>
                  <a:lnTo>
                    <a:pt x="1713548" y="234315"/>
                  </a:lnTo>
                  <a:lnTo>
                    <a:pt x="1752600" y="207645"/>
                  </a:lnTo>
                  <a:lnTo>
                    <a:pt x="1791653" y="181927"/>
                  </a:lnTo>
                  <a:lnTo>
                    <a:pt x="1830705" y="158115"/>
                  </a:lnTo>
                  <a:lnTo>
                    <a:pt x="1870710" y="135255"/>
                  </a:lnTo>
                  <a:lnTo>
                    <a:pt x="1909762" y="114300"/>
                  </a:lnTo>
                  <a:lnTo>
                    <a:pt x="1948815" y="95250"/>
                  </a:lnTo>
                  <a:lnTo>
                    <a:pt x="1988820" y="77152"/>
                  </a:lnTo>
                  <a:lnTo>
                    <a:pt x="2027873" y="61912"/>
                  </a:lnTo>
                  <a:lnTo>
                    <a:pt x="2066925" y="46672"/>
                  </a:lnTo>
                  <a:lnTo>
                    <a:pt x="2105978" y="35242"/>
                  </a:lnTo>
                  <a:lnTo>
                    <a:pt x="2145982" y="23812"/>
                  </a:lnTo>
                  <a:lnTo>
                    <a:pt x="2185035" y="15240"/>
                  </a:lnTo>
                  <a:lnTo>
                    <a:pt x="2224088" y="8572"/>
                  </a:lnTo>
                  <a:lnTo>
                    <a:pt x="2263140" y="3810"/>
                  </a:lnTo>
                  <a:lnTo>
                    <a:pt x="2303145" y="952"/>
                  </a:lnTo>
                  <a:lnTo>
                    <a:pt x="2342198" y="0"/>
                  </a:lnTo>
                  <a:lnTo>
                    <a:pt x="2381250" y="952"/>
                  </a:lnTo>
                  <a:lnTo>
                    <a:pt x="2420302" y="3810"/>
                  </a:lnTo>
                  <a:lnTo>
                    <a:pt x="2459355" y="8572"/>
                  </a:lnTo>
                  <a:lnTo>
                    <a:pt x="2499360" y="15240"/>
                  </a:lnTo>
                  <a:lnTo>
                    <a:pt x="2538412" y="23812"/>
                  </a:lnTo>
                  <a:lnTo>
                    <a:pt x="2577465" y="35242"/>
                  </a:lnTo>
                  <a:lnTo>
                    <a:pt x="2616518" y="46672"/>
                  </a:lnTo>
                  <a:lnTo>
                    <a:pt x="2655570" y="61912"/>
                  </a:lnTo>
                  <a:lnTo>
                    <a:pt x="2695575" y="77152"/>
                  </a:lnTo>
                  <a:lnTo>
                    <a:pt x="2734628" y="95250"/>
                  </a:lnTo>
                  <a:lnTo>
                    <a:pt x="2773680" y="114300"/>
                  </a:lnTo>
                  <a:lnTo>
                    <a:pt x="2812732" y="135255"/>
                  </a:lnTo>
                  <a:lnTo>
                    <a:pt x="2851785" y="158115"/>
                  </a:lnTo>
                  <a:lnTo>
                    <a:pt x="2891790" y="181927"/>
                  </a:lnTo>
                  <a:lnTo>
                    <a:pt x="2930842" y="207645"/>
                  </a:lnTo>
                  <a:lnTo>
                    <a:pt x="2969895" y="234315"/>
                  </a:lnTo>
                  <a:lnTo>
                    <a:pt x="3008948" y="262890"/>
                  </a:lnTo>
                  <a:lnTo>
                    <a:pt x="3048000" y="292417"/>
                  </a:lnTo>
                  <a:lnTo>
                    <a:pt x="3088005" y="322897"/>
                  </a:lnTo>
                  <a:lnTo>
                    <a:pt x="3127058" y="354330"/>
                  </a:lnTo>
                  <a:lnTo>
                    <a:pt x="3166110" y="387667"/>
                  </a:lnTo>
                  <a:lnTo>
                    <a:pt x="3205162" y="421005"/>
                  </a:lnTo>
                  <a:lnTo>
                    <a:pt x="3244215" y="455295"/>
                  </a:lnTo>
                  <a:lnTo>
                    <a:pt x="3284220" y="490538"/>
                  </a:lnTo>
                  <a:lnTo>
                    <a:pt x="3323273" y="525780"/>
                  </a:lnTo>
                  <a:lnTo>
                    <a:pt x="3362325" y="561975"/>
                  </a:lnTo>
                  <a:lnTo>
                    <a:pt x="3401378" y="599122"/>
                  </a:lnTo>
                  <a:lnTo>
                    <a:pt x="3441382" y="635317"/>
                  </a:lnTo>
                  <a:lnTo>
                    <a:pt x="3480435" y="672465"/>
                  </a:lnTo>
                  <a:lnTo>
                    <a:pt x="3519488" y="709612"/>
                  </a:lnTo>
                  <a:lnTo>
                    <a:pt x="3558540" y="746760"/>
                  </a:lnTo>
                  <a:lnTo>
                    <a:pt x="3598545" y="783908"/>
                  </a:lnTo>
                  <a:lnTo>
                    <a:pt x="3637598" y="821055"/>
                  </a:lnTo>
                  <a:lnTo>
                    <a:pt x="3676650" y="857250"/>
                  </a:lnTo>
                  <a:lnTo>
                    <a:pt x="3715702" y="893445"/>
                  </a:lnTo>
                  <a:lnTo>
                    <a:pt x="3755708" y="928688"/>
                  </a:lnTo>
                  <a:lnTo>
                    <a:pt x="3794760" y="963930"/>
                  </a:lnTo>
                  <a:lnTo>
                    <a:pt x="3833813" y="998220"/>
                  </a:lnTo>
                  <a:lnTo>
                    <a:pt x="3872865" y="1031558"/>
                  </a:lnTo>
                  <a:lnTo>
                    <a:pt x="3912870" y="1063942"/>
                  </a:lnTo>
                  <a:lnTo>
                    <a:pt x="3951923" y="1096327"/>
                  </a:lnTo>
                  <a:lnTo>
                    <a:pt x="3990975" y="1126808"/>
                  </a:lnTo>
                  <a:lnTo>
                    <a:pt x="4030027" y="1156335"/>
                  </a:lnTo>
                  <a:lnTo>
                    <a:pt x="4070032" y="1183958"/>
                  </a:lnTo>
                  <a:lnTo>
                    <a:pt x="4109085" y="1211580"/>
                  </a:lnTo>
                  <a:lnTo>
                    <a:pt x="4148138" y="1236345"/>
                  </a:lnTo>
                  <a:lnTo>
                    <a:pt x="4187190" y="1261110"/>
                  </a:lnTo>
                  <a:lnTo>
                    <a:pt x="4227195" y="1283018"/>
                  </a:lnTo>
                  <a:lnTo>
                    <a:pt x="4266248" y="1304925"/>
                  </a:lnTo>
                  <a:lnTo>
                    <a:pt x="4305300" y="1323975"/>
                  </a:lnTo>
                  <a:lnTo>
                    <a:pt x="4344352" y="1342072"/>
                  </a:lnTo>
                  <a:lnTo>
                    <a:pt x="4383405" y="1357312"/>
                  </a:lnTo>
                  <a:lnTo>
                    <a:pt x="4423410" y="1372552"/>
                  </a:lnTo>
                  <a:lnTo>
                    <a:pt x="4462463" y="1383982"/>
                  </a:lnTo>
                  <a:lnTo>
                    <a:pt x="4501515" y="1395412"/>
                  </a:lnTo>
                  <a:lnTo>
                    <a:pt x="4540568" y="1403985"/>
                  </a:lnTo>
                  <a:lnTo>
                    <a:pt x="4579620" y="1410652"/>
                  </a:lnTo>
                  <a:lnTo>
                    <a:pt x="4619625" y="1415415"/>
                  </a:lnTo>
                  <a:lnTo>
                    <a:pt x="4658678" y="1418272"/>
                  </a:lnTo>
                  <a:lnTo>
                    <a:pt x="4683442" y="1418272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97280" y="3498532"/>
              <a:ext cx="4683442" cy="1419225"/>
            </a:xfrm>
            <a:custGeom>
              <a:avLst/>
              <a:gdLst/>
              <a:ahLst/>
              <a:cxnLst/>
              <a:rect l="l" t="t" r="r" b="b"/>
              <a:pathLst>
                <a:path w="4683442" h="1419225">
                  <a:moveTo>
                    <a:pt x="0" y="0"/>
                  </a:moveTo>
                  <a:lnTo>
                    <a:pt x="24765" y="952"/>
                  </a:lnTo>
                  <a:lnTo>
                    <a:pt x="63818" y="3810"/>
                  </a:lnTo>
                  <a:lnTo>
                    <a:pt x="103822" y="8572"/>
                  </a:lnTo>
                  <a:lnTo>
                    <a:pt x="142875" y="15240"/>
                  </a:lnTo>
                  <a:lnTo>
                    <a:pt x="181928" y="23812"/>
                  </a:lnTo>
                  <a:lnTo>
                    <a:pt x="220980" y="34290"/>
                  </a:lnTo>
                  <a:lnTo>
                    <a:pt x="260985" y="46672"/>
                  </a:lnTo>
                  <a:lnTo>
                    <a:pt x="300037" y="60960"/>
                  </a:lnTo>
                  <a:lnTo>
                    <a:pt x="339090" y="77152"/>
                  </a:lnTo>
                  <a:lnTo>
                    <a:pt x="378142" y="95250"/>
                  </a:lnTo>
                  <a:lnTo>
                    <a:pt x="418147" y="114300"/>
                  </a:lnTo>
                  <a:lnTo>
                    <a:pt x="457200" y="135255"/>
                  </a:lnTo>
                  <a:lnTo>
                    <a:pt x="496253" y="158115"/>
                  </a:lnTo>
                  <a:lnTo>
                    <a:pt x="535305" y="181927"/>
                  </a:lnTo>
                  <a:lnTo>
                    <a:pt x="575310" y="207645"/>
                  </a:lnTo>
                  <a:lnTo>
                    <a:pt x="614362" y="234315"/>
                  </a:lnTo>
                  <a:lnTo>
                    <a:pt x="653415" y="262890"/>
                  </a:lnTo>
                  <a:lnTo>
                    <a:pt x="692468" y="292417"/>
                  </a:lnTo>
                  <a:lnTo>
                    <a:pt x="731520" y="322897"/>
                  </a:lnTo>
                  <a:lnTo>
                    <a:pt x="771525" y="354330"/>
                  </a:lnTo>
                  <a:lnTo>
                    <a:pt x="810578" y="387667"/>
                  </a:lnTo>
                  <a:lnTo>
                    <a:pt x="849630" y="421005"/>
                  </a:lnTo>
                  <a:lnTo>
                    <a:pt x="888682" y="455295"/>
                  </a:lnTo>
                  <a:lnTo>
                    <a:pt x="927735" y="490538"/>
                  </a:lnTo>
                  <a:lnTo>
                    <a:pt x="967740" y="525780"/>
                  </a:lnTo>
                  <a:lnTo>
                    <a:pt x="1006792" y="561975"/>
                  </a:lnTo>
                  <a:lnTo>
                    <a:pt x="1045845" y="598170"/>
                  </a:lnTo>
                  <a:lnTo>
                    <a:pt x="1084898" y="635317"/>
                  </a:lnTo>
                  <a:lnTo>
                    <a:pt x="1124902" y="672465"/>
                  </a:lnTo>
                  <a:lnTo>
                    <a:pt x="1163955" y="709612"/>
                  </a:lnTo>
                  <a:lnTo>
                    <a:pt x="1203008" y="746760"/>
                  </a:lnTo>
                  <a:lnTo>
                    <a:pt x="1242060" y="783908"/>
                  </a:lnTo>
                  <a:lnTo>
                    <a:pt x="1281112" y="820102"/>
                  </a:lnTo>
                  <a:lnTo>
                    <a:pt x="1321118" y="857250"/>
                  </a:lnTo>
                  <a:lnTo>
                    <a:pt x="1360170" y="892492"/>
                  </a:lnTo>
                  <a:lnTo>
                    <a:pt x="1399223" y="928688"/>
                  </a:lnTo>
                  <a:lnTo>
                    <a:pt x="1438275" y="963930"/>
                  </a:lnTo>
                  <a:lnTo>
                    <a:pt x="1477328" y="998220"/>
                  </a:lnTo>
                  <a:lnTo>
                    <a:pt x="1517332" y="1031558"/>
                  </a:lnTo>
                  <a:lnTo>
                    <a:pt x="1556385" y="1063942"/>
                  </a:lnTo>
                  <a:lnTo>
                    <a:pt x="1595438" y="1095375"/>
                  </a:lnTo>
                  <a:lnTo>
                    <a:pt x="1634490" y="1126808"/>
                  </a:lnTo>
                  <a:lnTo>
                    <a:pt x="1673542" y="1156335"/>
                  </a:lnTo>
                  <a:lnTo>
                    <a:pt x="1713548" y="1183958"/>
                  </a:lnTo>
                  <a:lnTo>
                    <a:pt x="1752600" y="1210627"/>
                  </a:lnTo>
                  <a:lnTo>
                    <a:pt x="1791653" y="1237297"/>
                  </a:lnTo>
                  <a:lnTo>
                    <a:pt x="1830705" y="1260158"/>
                  </a:lnTo>
                  <a:lnTo>
                    <a:pt x="1870710" y="1283970"/>
                  </a:lnTo>
                  <a:lnTo>
                    <a:pt x="1909762" y="1303972"/>
                  </a:lnTo>
                  <a:lnTo>
                    <a:pt x="1948815" y="1323975"/>
                  </a:lnTo>
                  <a:lnTo>
                    <a:pt x="1988820" y="1341120"/>
                  </a:lnTo>
                  <a:lnTo>
                    <a:pt x="2027873" y="1357312"/>
                  </a:lnTo>
                  <a:lnTo>
                    <a:pt x="2066925" y="1371600"/>
                  </a:lnTo>
                  <a:lnTo>
                    <a:pt x="2105978" y="1383982"/>
                  </a:lnTo>
                  <a:lnTo>
                    <a:pt x="2145982" y="1394460"/>
                  </a:lnTo>
                  <a:lnTo>
                    <a:pt x="2185035" y="1403032"/>
                  </a:lnTo>
                  <a:lnTo>
                    <a:pt x="2224088" y="1409700"/>
                  </a:lnTo>
                  <a:lnTo>
                    <a:pt x="2263140" y="1415415"/>
                  </a:lnTo>
                  <a:lnTo>
                    <a:pt x="2303145" y="1418273"/>
                  </a:lnTo>
                  <a:lnTo>
                    <a:pt x="2342198" y="1419225"/>
                  </a:lnTo>
                  <a:lnTo>
                    <a:pt x="2381250" y="1418273"/>
                  </a:lnTo>
                  <a:lnTo>
                    <a:pt x="2420302" y="1415415"/>
                  </a:lnTo>
                  <a:lnTo>
                    <a:pt x="2459355" y="1409700"/>
                  </a:lnTo>
                  <a:lnTo>
                    <a:pt x="2499360" y="1403032"/>
                  </a:lnTo>
                  <a:lnTo>
                    <a:pt x="2538412" y="1394460"/>
                  </a:lnTo>
                  <a:lnTo>
                    <a:pt x="2577465" y="1383982"/>
                  </a:lnTo>
                  <a:lnTo>
                    <a:pt x="2616518" y="1371600"/>
                  </a:lnTo>
                  <a:lnTo>
                    <a:pt x="2655570" y="1357312"/>
                  </a:lnTo>
                  <a:lnTo>
                    <a:pt x="2695575" y="1341120"/>
                  </a:lnTo>
                  <a:lnTo>
                    <a:pt x="2734628" y="1323975"/>
                  </a:lnTo>
                  <a:lnTo>
                    <a:pt x="2773680" y="1303972"/>
                  </a:lnTo>
                  <a:lnTo>
                    <a:pt x="2812732" y="1283970"/>
                  </a:lnTo>
                  <a:lnTo>
                    <a:pt x="2851785" y="1260158"/>
                  </a:lnTo>
                  <a:lnTo>
                    <a:pt x="2891790" y="1237297"/>
                  </a:lnTo>
                  <a:lnTo>
                    <a:pt x="2930842" y="1210627"/>
                  </a:lnTo>
                  <a:lnTo>
                    <a:pt x="2969895" y="1183958"/>
                  </a:lnTo>
                  <a:lnTo>
                    <a:pt x="3008948" y="1156335"/>
                  </a:lnTo>
                  <a:lnTo>
                    <a:pt x="3048000" y="1126808"/>
                  </a:lnTo>
                  <a:lnTo>
                    <a:pt x="3088005" y="1095375"/>
                  </a:lnTo>
                  <a:lnTo>
                    <a:pt x="3127058" y="1063942"/>
                  </a:lnTo>
                  <a:lnTo>
                    <a:pt x="3166110" y="1031558"/>
                  </a:lnTo>
                  <a:lnTo>
                    <a:pt x="3205162" y="998220"/>
                  </a:lnTo>
                  <a:lnTo>
                    <a:pt x="3244215" y="963930"/>
                  </a:lnTo>
                  <a:lnTo>
                    <a:pt x="3284220" y="928688"/>
                  </a:lnTo>
                  <a:lnTo>
                    <a:pt x="3323273" y="892492"/>
                  </a:lnTo>
                  <a:lnTo>
                    <a:pt x="3362325" y="857250"/>
                  </a:lnTo>
                  <a:lnTo>
                    <a:pt x="3401378" y="820102"/>
                  </a:lnTo>
                  <a:lnTo>
                    <a:pt x="3441382" y="783908"/>
                  </a:lnTo>
                  <a:lnTo>
                    <a:pt x="3480435" y="746760"/>
                  </a:lnTo>
                  <a:lnTo>
                    <a:pt x="3519488" y="709612"/>
                  </a:lnTo>
                  <a:lnTo>
                    <a:pt x="3558540" y="672465"/>
                  </a:lnTo>
                  <a:lnTo>
                    <a:pt x="3598545" y="635317"/>
                  </a:lnTo>
                  <a:lnTo>
                    <a:pt x="3637598" y="598170"/>
                  </a:lnTo>
                  <a:lnTo>
                    <a:pt x="3676650" y="561975"/>
                  </a:lnTo>
                  <a:lnTo>
                    <a:pt x="3715702" y="525780"/>
                  </a:lnTo>
                  <a:lnTo>
                    <a:pt x="3755708" y="490538"/>
                  </a:lnTo>
                  <a:lnTo>
                    <a:pt x="3794760" y="455295"/>
                  </a:lnTo>
                  <a:lnTo>
                    <a:pt x="3833813" y="421005"/>
                  </a:lnTo>
                  <a:lnTo>
                    <a:pt x="3872865" y="387667"/>
                  </a:lnTo>
                  <a:lnTo>
                    <a:pt x="3912870" y="354330"/>
                  </a:lnTo>
                  <a:lnTo>
                    <a:pt x="3951923" y="322897"/>
                  </a:lnTo>
                  <a:lnTo>
                    <a:pt x="3990975" y="292417"/>
                  </a:lnTo>
                  <a:lnTo>
                    <a:pt x="4030027" y="262890"/>
                  </a:lnTo>
                  <a:lnTo>
                    <a:pt x="4070032" y="234315"/>
                  </a:lnTo>
                  <a:lnTo>
                    <a:pt x="4109085" y="207645"/>
                  </a:lnTo>
                  <a:lnTo>
                    <a:pt x="4148138" y="181927"/>
                  </a:lnTo>
                  <a:lnTo>
                    <a:pt x="4187190" y="158115"/>
                  </a:lnTo>
                  <a:lnTo>
                    <a:pt x="4227195" y="135255"/>
                  </a:lnTo>
                  <a:lnTo>
                    <a:pt x="4266248" y="114300"/>
                  </a:lnTo>
                  <a:lnTo>
                    <a:pt x="4305300" y="95250"/>
                  </a:lnTo>
                  <a:lnTo>
                    <a:pt x="4344352" y="77152"/>
                  </a:lnTo>
                  <a:lnTo>
                    <a:pt x="4383405" y="60960"/>
                  </a:lnTo>
                  <a:lnTo>
                    <a:pt x="4423410" y="46672"/>
                  </a:lnTo>
                  <a:lnTo>
                    <a:pt x="4462463" y="34290"/>
                  </a:lnTo>
                  <a:lnTo>
                    <a:pt x="4501515" y="23812"/>
                  </a:lnTo>
                  <a:lnTo>
                    <a:pt x="4540568" y="15240"/>
                  </a:lnTo>
                  <a:lnTo>
                    <a:pt x="4579620" y="8572"/>
                  </a:lnTo>
                  <a:lnTo>
                    <a:pt x="4619625" y="3810"/>
                  </a:lnTo>
                  <a:lnTo>
                    <a:pt x="4658678" y="952"/>
                  </a:lnTo>
                  <a:lnTo>
                    <a:pt x="4683442" y="0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192530" y="5379720"/>
              <a:ext cx="4492942" cy="9525"/>
            </a:xfrm>
            <a:custGeom>
              <a:avLst/>
              <a:gdLst/>
              <a:ahLst/>
              <a:cxnLst/>
              <a:rect l="l" t="t" r="r" b="b"/>
              <a:pathLst>
                <a:path w="4492942" h="9525">
                  <a:moveTo>
                    <a:pt x="0" y="0"/>
                  </a:moveTo>
                  <a:lnTo>
                    <a:pt x="44929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685472" y="53320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97280" y="53320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93445" y="17659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067425" y="17659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01052" y="3493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113145" y="3493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78230" y="3493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790248" y="3493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78230" y="3493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790248" y="3493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78230" y="3493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790248" y="3493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78230" y="3493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790248" y="3493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78230" y="3493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790248" y="3493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78230" y="3493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5790248" y="3493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025842" y="3441382"/>
              <a:ext cx="114300" cy="1143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737860" y="3441382"/>
              <a:ext cx="114300" cy="1143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78230" y="53749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5790248" y="53749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31336" y="197739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5393" y="39238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发散点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36921" y="39238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会聚点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90226" y="5151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formula219"/>
              <p:cNvSpPr txBox="1">
                <a:spLocks noGrp="1"/>
              </p:cNvSpPr>
              <p:nvPr/>
            </p:nvSpPr>
            <p:spPr>
              <a:xfrm>
                <a:off x="533400" y="5874068"/>
                <a:ext cx="584263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∥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∥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2πmv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qB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50" name="c2-card-1"/>
          <p:cNvGrpSpPr/>
          <p:nvPr/>
        </p:nvGrpSpPr>
        <p:grpSpPr>
          <a:xfrm>
            <a:off x="6680835" y="1524000"/>
            <a:ext cx="4977765" cy="1545908"/>
            <a:chOff x="6680835" y="1524000"/>
            <a:chExt cx="4977765" cy="1545908"/>
          </a:xfrm>
        </p:grpSpPr>
        <p:sp>
          <p:nvSpPr>
            <p:cNvPr id="45" name="Rectangle 45"/>
            <p:cNvSpPr/>
            <p:nvPr/>
          </p:nvSpPr>
          <p:spPr>
            <a:xfrm>
              <a:off x="6680835" y="1524000"/>
              <a:ext cx="497776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90360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22770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09028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磁聚焦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15531" y="2100739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一束发散角不大的带电粒子，沿磁场方向的分速度近似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相同，螺距也近似相同；经过一个周期，它们重新会聚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到另一点。这种现象叫磁聚焦。</a:t>
              </a:r>
            </a:p>
          </p:txBody>
        </p:sp>
      </p:grpSp>
      <p:grpSp>
        <p:nvGrpSpPr>
          <p:cNvPr id="64" name="c2-steps-2"/>
          <p:cNvGrpSpPr/>
          <p:nvPr/>
        </p:nvGrpSpPr>
        <p:grpSpPr>
          <a:xfrm>
            <a:off x="6680835" y="3265170"/>
            <a:ext cx="4692396" cy="2011108"/>
            <a:chOff x="6680835" y="3265170"/>
            <a:chExt cx="4692396" cy="2011108"/>
          </a:xfrm>
        </p:grpSpPr>
        <p:sp>
          <p:nvSpPr>
            <p:cNvPr id="51" name="Rectangle 51"/>
            <p:cNvSpPr/>
            <p:nvPr/>
          </p:nvSpPr>
          <p:spPr>
            <a:xfrm>
              <a:off x="6814185" y="3408045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6680835" y="326517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74459" y="33389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680835" y="38862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74459" y="39600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680835" y="45072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74459" y="4581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92696" y="329803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93839" y="3578542"/>
              <a:ext cx="26049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匀强磁场，发散角 θ 很小，cosθ ≈ 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92696" y="391906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各粒子不同之处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93839" y="4199572"/>
              <a:ext cx="3019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v⊥ 不同，圆的半径不同，但周期 T 都相同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92696" y="454009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一个周期后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93839" y="4820602"/>
              <a:ext cx="42793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每个粒子都回到出发时所在的那条磁感应线上，并且前进了同样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h</a:t>
              </a:r>
            </a:p>
          </p:txBody>
        </p:sp>
      </p:grpSp>
      <p:grpSp>
        <p:nvGrpSpPr>
          <p:cNvPr id="71" name="c2-callout-3"/>
          <p:cNvGrpSpPr/>
          <p:nvPr/>
        </p:nvGrpSpPr>
        <p:grpSpPr>
          <a:xfrm>
            <a:off x="6680835" y="5452110"/>
            <a:ext cx="4977765" cy="756285"/>
            <a:chOff x="6680835" y="5452110"/>
            <a:chExt cx="4977765" cy="756285"/>
          </a:xfrm>
        </p:grpSpPr>
        <p:sp>
          <p:nvSpPr>
            <p:cNvPr id="65" name="Rectangle 65"/>
            <p:cNvSpPr/>
            <p:nvPr/>
          </p:nvSpPr>
          <p:spPr>
            <a:xfrm>
              <a:off x="6680835" y="5452110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885623" y="5730240"/>
              <a:ext cx="200026" cy="200025"/>
              <a:chOff x="6885623" y="5730240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885623" y="57302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925361" y="57746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960077" y="58858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7187946" y="5599271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电子显微镜里的磁透镜就利用磁聚焦，作用和光学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仪器中的透镜类似。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磁场对运动电荷的作用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霍尔效应：载流子被磁场推向一侧，横向出现电势差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8" name="g_hall"/>
          <p:cNvGrpSpPr/>
          <p:nvPr/>
        </p:nvGrpSpPr>
        <p:grpSpPr>
          <a:xfrm>
            <a:off x="925401" y="2028349"/>
            <a:ext cx="4661012" cy="3509485"/>
            <a:chOff x="925401" y="2028349"/>
            <a:chExt cx="4661012" cy="3509485"/>
          </a:xfrm>
        </p:grpSpPr>
        <p:sp>
          <p:nvSpPr>
            <p:cNvPr id="7" name="Freeform 7"/>
            <p:cNvSpPr/>
            <p:nvPr/>
          </p:nvSpPr>
          <p:spPr>
            <a:xfrm>
              <a:off x="1438275" y="2330768"/>
              <a:ext cx="3429000" cy="2347912"/>
            </a:xfrm>
            <a:custGeom>
              <a:avLst/>
              <a:gdLst/>
              <a:ahLst/>
              <a:cxnLst/>
              <a:rect l="l" t="t" r="r" b="b"/>
              <a:pathLst>
                <a:path w="3429000" h="2347912">
                  <a:moveTo>
                    <a:pt x="14288" y="0"/>
                  </a:moveTo>
                  <a:lnTo>
                    <a:pt x="3429000" y="0"/>
                  </a:lnTo>
                  <a:lnTo>
                    <a:pt x="3429000" y="2347912"/>
                  </a:lnTo>
                  <a:lnTo>
                    <a:pt x="0" y="2347912"/>
                  </a:lnTo>
                  <a:lnTo>
                    <a:pt x="0" y="14288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881562" y="3504248"/>
              <a:ext cx="590550" cy="9525"/>
            </a:xfrm>
            <a:custGeom>
              <a:avLst/>
              <a:gdLst/>
              <a:ahLst/>
              <a:cxnLst/>
              <a:rect l="l" t="t" r="r" b="b"/>
              <a:pathLst>
                <a:path w="590550" h="9525">
                  <a:moveTo>
                    <a:pt x="0" y="0"/>
                  </a:moveTo>
                  <a:lnTo>
                    <a:pt x="590550" y="0"/>
                  </a:lnTo>
                </a:path>
              </a:pathLst>
            </a:custGeom>
            <a:noFill/>
            <a:ln w="26670">
              <a:solidFill>
                <a:srgbClr val="2F4B9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472112" y="34566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3024188" y="3577590"/>
              <a:ext cx="733425" cy="9525"/>
            </a:xfrm>
            <a:custGeom>
              <a:avLst/>
              <a:gdLst/>
              <a:ahLst/>
              <a:cxnLst/>
              <a:rect l="l" t="t" r="r" b="b"/>
              <a:pathLst>
                <a:path w="733425" h="9525">
                  <a:moveTo>
                    <a:pt x="733425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928938" y="35299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2724150" y="2836545"/>
              <a:ext cx="9525" cy="550545"/>
            </a:xfrm>
            <a:custGeom>
              <a:avLst/>
              <a:gdLst/>
              <a:ahLst/>
              <a:cxnLst/>
              <a:rect l="l" t="t" r="r" b="b"/>
              <a:pathLst>
                <a:path w="9525" h="550545">
                  <a:moveTo>
                    <a:pt x="0" y="550545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676525" y="27412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4076700" y="3738562"/>
              <a:ext cx="9525" cy="551497"/>
            </a:xfrm>
            <a:custGeom>
              <a:avLst/>
              <a:gdLst/>
              <a:ahLst/>
              <a:cxnLst/>
              <a:rect l="l" t="t" r="r" b="b"/>
              <a:pathLst>
                <a:path w="9525" h="551497">
                  <a:moveTo>
                    <a:pt x="0" y="0"/>
                  </a:moveTo>
                  <a:lnTo>
                    <a:pt x="0" y="551497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029075" y="42900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104900" y="2440305"/>
              <a:ext cx="9525" cy="2128838"/>
            </a:xfrm>
            <a:custGeom>
              <a:avLst/>
              <a:gdLst/>
              <a:ahLst/>
              <a:cxnLst/>
              <a:rect l="l" t="t" r="r" b="b"/>
              <a:pathLst>
                <a:path w="9525" h="2128838">
                  <a:moveTo>
                    <a:pt x="0" y="0"/>
                  </a:moveTo>
                  <a:lnTo>
                    <a:pt x="0" y="212883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057275" y="45691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57275" y="23450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433512" y="23260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433512" y="23260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862512" y="34994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576888" y="34994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767138" y="35728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909888" y="35728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667000" y="3520440"/>
              <a:ext cx="114300" cy="1143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719388" y="33966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719388" y="27222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4071938" y="37195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071938" y="43948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00138" y="23260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100138" y="46739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679819" y="27298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79819" y="346329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79819" y="41967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51319" y="27298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51319" y="346329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51319" y="41967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22819" y="27298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94319" y="27298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965819" y="27298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65819" y="346329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65819" y="41967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37319" y="27298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37319" y="346329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37319" y="41967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36544" y="3211354"/>
              <a:ext cx="61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083998" y="3803809"/>
              <a:ext cx="6138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v（电子）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442065" y="283273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Fₘ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175615" y="412337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Fₑ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627149" y="24922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627149" y="44581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122449" y="24922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122449" y="44581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617749" y="24922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617749" y="44581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113049" y="24922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113049" y="44581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608349" y="24922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608349" y="44581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103649" y="24922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103649" y="44581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598949" y="24922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598949" y="44581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5401" y="34632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741336" y="2028349"/>
              <a:ext cx="8228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U₁（上表面）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741336" y="4903946"/>
              <a:ext cx="8228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U₂（下表面）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223383" y="5361622"/>
              <a:ext cx="18587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垂直纸面向里，板厚 b 沿 B 方向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formula221"/>
              <p:cNvSpPr txBox="1">
                <a:spLocks noGrp="1"/>
              </p:cNvSpPr>
              <p:nvPr/>
            </p:nvSpPr>
            <p:spPr>
              <a:xfrm>
                <a:off x="533400" y="5822632"/>
                <a:ext cx="5193982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sub>
                      </m:sSub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IB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nq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75" name="c2-card-1"/>
          <p:cNvGrpSpPr/>
          <p:nvPr/>
        </p:nvGrpSpPr>
        <p:grpSpPr>
          <a:xfrm>
            <a:off x="6032182" y="1524000"/>
            <a:ext cx="5626418" cy="1602105"/>
            <a:chOff x="6032182" y="1524000"/>
            <a:chExt cx="5626418" cy="1602105"/>
          </a:xfrm>
        </p:grpSpPr>
        <p:sp>
          <p:nvSpPr>
            <p:cNvPr id="70" name="Rectangle 70"/>
            <p:cNvSpPr/>
            <p:nvPr/>
          </p:nvSpPr>
          <p:spPr>
            <a:xfrm>
              <a:off x="6032182" y="1524000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041708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7983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7004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现象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272212" y="211074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金属板放在匀强磁场 B 中，板面与 B 垂直，沿与 B 垂直的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方向通电流 I，板的上下两表面之间出现横向电势差 UH，叫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霍尔电压，RH 叫霍尔系数。</a:t>
              </a:r>
            </a:p>
          </p:txBody>
        </p:sp>
      </p:grpSp>
      <p:grpSp>
        <p:nvGrpSpPr>
          <p:cNvPr id="93" name="c2-steps-2"/>
          <p:cNvGrpSpPr/>
          <p:nvPr/>
        </p:nvGrpSpPr>
        <p:grpSpPr>
          <a:xfrm>
            <a:off x="6032182" y="3326130"/>
            <a:ext cx="5302378" cy="2998756"/>
            <a:chOff x="6032182" y="3326130"/>
            <a:chExt cx="5302378" cy="2998756"/>
          </a:xfrm>
        </p:grpSpPr>
        <p:sp>
          <p:nvSpPr>
            <p:cNvPr id="76" name="Rectangle 76"/>
            <p:cNvSpPr/>
            <p:nvPr/>
          </p:nvSpPr>
          <p:spPr>
            <a:xfrm>
              <a:off x="6165532" y="3469005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6032182" y="33261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125806" y="33999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6032182" y="42119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125806" y="42857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6032182" y="48625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125806" y="49363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6032182" y="551307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125806" y="55868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443662" y="33604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受力平衡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444806" y="3654266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电子受洛伦兹力偏向上表面，上下表面积累异号电荷，形成霍尔电场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EH；平衡时 eEH = evB，即 EH = vB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443662" y="42462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电压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444806" y="4539139"/>
              <a:ext cx="26680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上下表面相距 a：|UH| = aEH = avB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443662" y="4896802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消去 v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444806" y="5189696"/>
              <a:ext cx="28314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JS = nev·ab，所以 v = I/(neab)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443662" y="554736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444806" y="5841206"/>
              <a:ext cx="45158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|UH| = IB/(neb)；电子导电时 UH = U₁ − U₂ = −IB/(neb)，RH =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−1/(ne)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 · 磁场对运动电荷的作用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霍尔系数：正负判断载流子类型，大小反映载流子浓度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410200" cy="1795462"/>
            <a:chOff x="533400" y="1524000"/>
            <a:chExt cx="5410200" cy="1795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7472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材料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6316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主要载流子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87596" y="1659731"/>
              <a:ext cx="797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RH 的符号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金属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80500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36948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型半导体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80500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36948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型半导体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80500" y="30056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空穴（带正电）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6948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36791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42436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rd-2"/>
          <p:cNvGrpSpPr/>
          <p:nvPr/>
        </p:nvGrpSpPr>
        <p:grpSpPr>
          <a:xfrm>
            <a:off x="533400" y="3509962"/>
            <a:ext cx="5410200" cy="1701165"/>
            <a:chOff x="533400" y="3509962"/>
            <a:chExt cx="5410200" cy="1701165"/>
          </a:xfrm>
        </p:grpSpPr>
        <p:sp>
          <p:nvSpPr>
            <p:cNvPr id="27" name="Rectangle 27"/>
            <p:cNvSpPr/>
            <p:nvPr/>
          </p:nvSpPr>
          <p:spPr>
            <a:xfrm>
              <a:off x="533400" y="3509962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42950" y="371951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5259" y="37552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三种用途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48665" y="4159568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6780" y="4096702"/>
              <a:ext cx="38713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 UH 的正负，判断半导体是 n 型还是 p 型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48665" y="4494848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6780" y="4431982"/>
              <a:ext cx="28774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 RH = 1/(nq) 测载流子浓度 n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48665" y="4830128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6780" y="4767262"/>
              <a:ext cx="475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已知 RH 时由 UH 测磁感应强度 B，这就是霍尔传感器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248400" y="1524000"/>
            <a:ext cx="5410200" cy="2538412"/>
            <a:chOff x="6248400" y="1524000"/>
            <a:chExt cx="5410200" cy="2538412"/>
          </a:xfrm>
        </p:grpSpPr>
        <p:sp>
          <p:nvSpPr>
            <p:cNvPr id="37" name="Rectangle 37"/>
            <p:cNvSpPr/>
            <p:nvPr/>
          </p:nvSpPr>
          <p:spPr>
            <a:xfrm>
              <a:off x="6248400" y="1524000"/>
              <a:ext cx="5410200" cy="2538412"/>
            </a:xfrm>
            <a:prstGeom prst="roundRect">
              <a:avLst>
                <a:gd name="adj" fmla="val 52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1657350"/>
              <a:ext cx="47625" cy="22717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97078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金属片与半导体片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501765" y="219265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59880" y="2129790"/>
              <a:ext cx="44062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铜片：n ≈ 8.5×10²⁸ m⁻³，厚 b = 0.1 mm，I = 10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A，B = 1 T，|UH| = IB/(neb) ≈ 7.3×10⁻⁶ V，只有几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微伏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501765" y="30994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59880" y="303657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半导体片：n ≈ 10²² m⁻³，b = 0.5 mm，I = 1 mA，B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0.5 T，|UH| ≈ 0.62 mV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89573" y="3654266"/>
              <a:ext cx="40098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铜的霍尔系数 RH = −1/(ne) ≈ −7.3×10⁻¹¹ m³/C。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6248400" y="4252912"/>
            <a:ext cx="5410200" cy="958215"/>
            <a:chOff x="6248400" y="4252912"/>
            <a:chExt cx="5410200" cy="958215"/>
          </a:xfrm>
        </p:grpSpPr>
        <p:sp>
          <p:nvSpPr>
            <p:cNvPr id="48" name="Rectangle 48"/>
            <p:cNvSpPr/>
            <p:nvPr/>
          </p:nvSpPr>
          <p:spPr>
            <a:xfrm>
              <a:off x="6248400" y="4252912"/>
              <a:ext cx="5410200" cy="958215"/>
            </a:xfrm>
            <a:prstGeom prst="roundRect">
              <a:avLst>
                <a:gd name="adj" fmla="val 1192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453188" y="4632008"/>
              <a:ext cx="200026" cy="200025"/>
              <a:chOff x="6453188" y="463200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453188" y="46320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492926" y="46764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527642" y="47875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755130" y="4489132"/>
              <a:ext cx="4501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UH 与 n 成反比。半导体的载流子浓度比金属低六七个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数量级，所以霍尔元件都用半导体做。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5" name="Rectangle 55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130" y="5728335"/>
              <a:ext cx="98450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53 页推导里 U₁、U₂ 分别是上、下表面的电势，UH = U₁ − U₂ = −aEH 的负号来自电子带负电，数值上 |UH|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IB/(neb)。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自测题（上）磁场的计算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025968"/>
            <a:chOff x="533400" y="1524000"/>
            <a:chExt cx="3505200" cy="20259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909935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两根无限长平行直导线相距 d，通等值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同向电流 I，两线正中间一点的 B 是多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889885"/>
              <a:ext cx="285121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0。两根导线在该点的磁场大小都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μ₀I/(πd)，方向相反。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725228"/>
            <a:ext cx="3505200" cy="2540318"/>
            <a:chOff x="533400" y="3725228"/>
            <a:chExt cx="3505200" cy="2540318"/>
          </a:xfrm>
        </p:grpSpPr>
        <p:sp>
          <p:nvSpPr>
            <p:cNvPr id="13" name="Rectangle 13"/>
            <p:cNvSpPr/>
            <p:nvPr/>
          </p:nvSpPr>
          <p:spPr>
            <a:xfrm>
              <a:off x="533400" y="3725228"/>
              <a:ext cx="3505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91763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951923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4274820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通过任意闭合曲面的磁通量是多少？为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4833937"/>
              <a:ext cx="285121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0。磁感应线是闭合曲线，穿入闭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合曲面的条数等于穿出的条数。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768792"/>
            <a:chOff x="4343400" y="1524000"/>
            <a:chExt cx="3505200" cy="1768792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2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8947" y="2072640"/>
              <a:ext cx="29995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半径 R 的圆电流在圆心的 B，与同样电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流的无限长直导线在距离 R 处的 B 之比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是多少？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8947" y="2889885"/>
              <a:ext cx="3214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μ₀I/(2R) 比 μ₀I/(2πR)，等于 π。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468052"/>
            <a:ext cx="3505200" cy="2797492"/>
            <a:chOff x="4343400" y="3468052"/>
            <a:chExt cx="3505200" cy="2797492"/>
          </a:xfrm>
        </p:grpSpPr>
        <p:sp>
          <p:nvSpPr>
            <p:cNvPr id="25" name="Rectangle 25"/>
            <p:cNvSpPr/>
            <p:nvPr/>
          </p:nvSpPr>
          <p:spPr>
            <a:xfrm>
              <a:off x="4343400" y="3468052"/>
              <a:ext cx="3505200" cy="2797492"/>
            </a:xfrm>
            <a:prstGeom prst="roundRect">
              <a:avLst>
                <a:gd name="adj" fmla="val 47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5805" y="366045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24753" y="369474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8947" y="4017645"/>
              <a:ext cx="287007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长直螺线管 n = 1000 m⁻¹，I = 2 A，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管内充满 μᵣ = 500 的介质（视为线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性），求 H 和 B。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8947" y="4833937"/>
              <a:ext cx="28169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nI = 2000 A/m，B = μ₀μᵣH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4π×10⁻⁷ × 500 × 2000 ≈ 1.26 T。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283142"/>
            <a:chOff x="8153400" y="1524000"/>
            <a:chExt cx="3505200" cy="2283142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3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947" y="2072640"/>
              <a:ext cx="297208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圆心角 90° 的圆弧（半径 R）两端各接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一条沿半径方向向外延伸的直导线，圆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心处 B 是多少？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8947" y="2889885"/>
              <a:ext cx="27569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直线的延长线都过圆心，贡献为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0；圆弧 B = μ₀I(π/2)/(4πR)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μ₀I/(8R)。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982402"/>
            <a:ext cx="3505200" cy="2283142"/>
            <a:chOff x="8153400" y="3982402"/>
            <a:chExt cx="3505200" cy="2283142"/>
          </a:xfrm>
        </p:grpSpPr>
        <p:sp>
          <p:nvSpPr>
            <p:cNvPr id="37" name="Rectangle 37"/>
            <p:cNvSpPr/>
            <p:nvPr/>
          </p:nvSpPr>
          <p:spPr>
            <a:xfrm>
              <a:off x="8153400" y="3982402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5805" y="41748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34753" y="42090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8947" y="4531995"/>
              <a:ext cx="2888075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无限长实心圆柱导体（半径 R，μ ≈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μ₀）中，r = R/2 与 r = 2R 两处 B 之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比是多少？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8947" y="5348288"/>
              <a:ext cx="252545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 μ₀I(R/2)/(2πR²)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μ₀I/(4πR)，外部 μ₀I/(2π·2R)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μ₀I/(4πR)，比值为 1。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自测题（下）磁力与带电粒子的运动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508885"/>
            <a:chOff x="533400" y="1524000"/>
            <a:chExt cx="3505200" cy="2508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872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电子和质子以相同速度垂直射入同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一匀强磁场，轨道半径之比是多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少？偏转方向呢？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3017520"/>
              <a:ext cx="29394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mv/(|q|B)，电荷量相同，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半径之比等于质量之比，约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1/1836；两者偏转方向相反。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223385"/>
            <a:ext cx="3505200" cy="1937385"/>
            <a:chOff x="533400" y="4223385"/>
            <a:chExt cx="3505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4223385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4329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4686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810125"/>
              <a:ext cx="287131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线圈的磁矩 Pₘ 与 B 反向时，处于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什么平衡？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431155"/>
              <a:ext cx="2958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不稳定平衡。M = 0，但稍一偏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转力矩就使它翻转到与 B 同向。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937385"/>
            <a:chOff x="4343400" y="1524000"/>
            <a:chExt cx="3505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4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5330" y="211074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带电粒子只受洛伦兹力时，动能会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不会改变？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5330" y="273177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不会。洛伦兹力始终垂直于速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度，不做功，只改变速度方向。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651885"/>
            <a:ext cx="3505200" cy="2508885"/>
            <a:chOff x="4343400" y="3651885"/>
            <a:chExt cx="3505200" cy="2508885"/>
          </a:xfrm>
        </p:grpSpPr>
        <p:sp>
          <p:nvSpPr>
            <p:cNvPr id="25" name="Rectangle 25"/>
            <p:cNvSpPr/>
            <p:nvPr/>
          </p:nvSpPr>
          <p:spPr>
            <a:xfrm>
              <a:off x="4343400" y="3651885"/>
              <a:ext cx="3505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5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45330" y="4238625"/>
              <a:ext cx="276034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同一粒子以相同速率分别与 B 成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60° 和 30° 射入，螺距之比是多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5330" y="5145405"/>
              <a:ext cx="27870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∝ cosθ，比值 cos60°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/cos30° = 1/√3 ≈ 0.58；两者周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期相同。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937385"/>
            <a:chOff x="8153400" y="1524000"/>
            <a:chExt cx="3505200" cy="193738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6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211074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任意形状的闭合载流线圈放在匀强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磁场中，受到的合力是多少？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5330" y="2731770"/>
              <a:ext cx="2825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0。F = I(∮dl) × B，闭合回路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∮dl = 0；线圈只可能受力矩。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651885"/>
            <a:ext cx="3505200" cy="2508885"/>
            <a:chOff x="8153400" y="3651885"/>
            <a:chExt cx="3505200" cy="2508885"/>
          </a:xfrm>
        </p:grpSpPr>
        <p:sp>
          <p:nvSpPr>
            <p:cNvPr id="37" name="Rectangle 37"/>
            <p:cNvSpPr/>
            <p:nvPr/>
          </p:nvSpPr>
          <p:spPr>
            <a:xfrm>
              <a:off x="8153400" y="3651885"/>
              <a:ext cx="3505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6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5330" y="423862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某半导体片的霍尔系数测得为正，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载流子是什么？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5330" y="4859655"/>
              <a:ext cx="2739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空穴，是 p 型半导体。RH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1/(nq) &gt; 0 说明载流子带正电。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稳恒磁场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3525"/>
            <a:ext cx="5439918" cy="2404396"/>
            <a:chOff x="533400" y="1533525"/>
            <a:chExt cx="5439918" cy="2404396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48328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恒定电流：J = nqv，I = ∫J·dS，欧姆定律微分形式 J = σE，电动势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= ∮EK·dl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6978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2080736"/>
              <a:ext cx="48653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毕奥-萨伐尔定律 dB = (μ₀/4π)Idl×r/r³；直线段、无限长、圆心、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圆弧四个结论要熟记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60604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6416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616994"/>
              <a:ext cx="51701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高斯定理 ∮B·dS = 0，磁场无源；非均匀场的磁通量用窄条面元积分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89845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9340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910364"/>
              <a:ext cx="49060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μ₀μᵣH；安培环路定理 ∮H·dl = ΣI（L 内），适合求对称电流的磁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43471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34703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3445669"/>
              <a:ext cx="45158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安培力 dF = Idl×B，磁力矩 M = Pₘ×B；洛伦兹力 F = qv×B 不做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功，R = mv/(|q|B)，T = 2πm/(|q|B)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052888"/>
            <a:ext cx="5410200" cy="1634490"/>
            <a:chOff x="533400" y="4052888"/>
            <a:chExt cx="5410200" cy="1634490"/>
          </a:xfrm>
        </p:grpSpPr>
        <p:sp>
          <p:nvSpPr>
            <p:cNvPr id="23" name="Rectangle 23"/>
            <p:cNvSpPr/>
            <p:nvPr/>
          </p:nvSpPr>
          <p:spPr>
            <a:xfrm>
              <a:off x="533400" y="4052888"/>
              <a:ext cx="5410200" cy="1634490"/>
            </a:xfrm>
            <a:prstGeom prst="roundRect">
              <a:avLst>
                <a:gd name="adj" fmla="val 699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770120"/>
              <a:ext cx="200026" cy="200025"/>
              <a:chOff x="738188" y="4770120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7701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48145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49256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1273" y="4663916"/>
              <a:ext cx="44264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求 B 的三条路：对称电流用环路定理，组合导线用毕萨定律的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结论叠加，连续分布的电流先拆成直线或圆电流再积分。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524000"/>
            <a:ext cx="5410200" cy="2242185"/>
            <a:chOff x="6248400" y="1524000"/>
            <a:chExt cx="5410200" cy="2242185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67475" y="170497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642" y="17378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77000" y="209740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32448" y="2045494"/>
              <a:ext cx="44752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奥斯特发现电流磁效应在 1820 年，原课件写成 1819 年（第 9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77000" y="26250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32448" y="2573179"/>
              <a:ext cx="43638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转动带电圆环一题把真空磁导率 μ₀ 写成了 μ（第 22 页）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77000" y="291084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32448" y="2857976"/>
              <a:ext cx="45402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例5.2 的 fBC 应为 μ₀I₁I₂L/[2π(a+l)]，原课件把 L 写成 l（第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 页）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77000" y="343852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32448" y="3385661"/>
              <a:ext cx="37336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另有“Masnetic”“不在增加”等笔误，已直接改正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248400" y="3930968"/>
            <a:ext cx="5410200" cy="1756410"/>
            <a:chOff x="6248400" y="3930968"/>
            <a:chExt cx="5410200" cy="1756410"/>
          </a:xfrm>
        </p:grpSpPr>
        <p:sp>
          <p:nvSpPr>
            <p:cNvPr id="43" name="Rectangle 43"/>
            <p:cNvSpPr/>
            <p:nvPr/>
          </p:nvSpPr>
          <p:spPr>
            <a:xfrm>
              <a:off x="6248400" y="3930968"/>
              <a:ext cx="5410200" cy="1756410"/>
            </a:xfrm>
            <a:prstGeom prst="roundRect">
              <a:avLst>
                <a:gd name="adj" fmla="val 759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29375" y="411194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02743" y="414480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补充进来的内容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38900" y="450437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94348" y="445150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漂移速度、氢原子核处磁场、回旋加速器等数值例子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38900" y="478917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94348" y="473725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圆电流远场与磁矩的关系、平行导线间的作用力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38900" y="507396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94348" y="502205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同轴电缆、实心圆柱的磁通量变式，霍尔元件为何用半导体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38900" y="535876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94348" y="5306854"/>
              <a:ext cx="3355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各例题的完整过程与数值检验，12 道自测题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5" name="Rectangle 5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1273" y="6039326"/>
              <a:ext cx="80882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方向问题一律回到两条右手法则：电流产生磁场用右手螺旋，磁场对电流或电荷施力用矢积 Idl×B、qv×B。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第5章 稳恒磁场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hys_ch5">
  <a:themeElements>
    <a:clrScheme name="phys_ch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hys_ch5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hys_ch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2026-09-23T10:45:47Z</dcterms:created>
  <dcterms:modified xsi:type="dcterms:W3CDTF">2026-09-23T10:45:47Z</dcterms:modified>
  <cp:category/>
  <cp:contentStatus/>
</cp:coreProperties>
</file>