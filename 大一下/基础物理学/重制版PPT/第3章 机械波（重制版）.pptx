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hys_ch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hys_ch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e9dc1c21f106525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40cb91fbc1f25be.png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4087ab41df77af6.png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905250" cy="3437763"/>
            <a:chOff x="666750" y="1619250"/>
            <a:chExt cx="3905250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745932" cy="3429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9438" y="1718310"/>
              <a:ext cx="14996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基础物理学 · 第三章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17343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机械波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从波函数到干涉、驻波与多普勒效应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波函数与相位的传播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波的能量与能流密度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惠更斯原理与波的干涉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驻波、半波损失与多普勒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08793" cy="205359"/>
            <a:chOff x="680466" y="6192202"/>
            <a:chExt cx="4208793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087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自学复习版｜据吉林大学《基础物理学》第3章课件整理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113" y="1520666"/>
            <a:ext cx="6286310" cy="4735831"/>
            <a:chOff x="523113" y="1520666"/>
            <a:chExt cx="6286310" cy="4735831"/>
          </a:xfrm>
        </p:grpSpPr>
        <p:sp>
          <p:nvSpPr>
            <p:cNvPr id="7" name="TextBox 7"/>
            <p:cNvSpPr txBox="1"/>
            <p:nvPr/>
          </p:nvSpPr>
          <p:spPr>
            <a:xfrm>
              <a:off x="523113" y="152066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31558" y="15487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波动的基本概念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33462" y="1839754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产生条件、横波纵波、波线波面、四个物理量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9178" y="211931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113" y="221980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1558" y="22479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平面简谐波的波函数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3462" y="2538889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推导、四种写法、物理意义与六道例题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39178" y="281940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113" y="2919889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1558" y="294798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波的能量与能流密度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3462" y="323897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动能势能同相、平均能量密度、波的强度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39178" y="3518535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113" y="3619024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1558" y="3647122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惠更斯原理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3462" y="393811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子波作图法与波的衍射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39178" y="4217670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113" y="431911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31558" y="434721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波的叠加与干涉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3462" y="463819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相干条件、相位差与波程差判据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39178" y="4917758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113" y="5018246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558" y="504634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33462" y="533733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驻波方程、波节波腹、半波损失、弦线简正模式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39178" y="5616892"/>
              <a:ext cx="57702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113" y="5717381"/>
              <a:ext cx="33465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1558" y="574548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多普勒效应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3462" y="603646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符号规定与接收频率公式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688205"/>
            <a:chOff x="7114222" y="1524000"/>
            <a:chExt cx="4544378" cy="4688205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688205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4215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44728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8167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53300" y="2128838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9320" y="207264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由某一点的振动方程或某时刻的波形图写出波函数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53300" y="2431732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9320" y="237553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在波程差、相位差、时间差三者之间互相换算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53300" y="2734627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9320" y="267843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看着波形图判断任一质点此刻往上还是往下运动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53300" y="3036570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9320" y="2980372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用平均能流密度和球面波振幅公式算强度与振幅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53300" y="3339465"/>
              <a:ext cx="59055" cy="5905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9320" y="328326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用波程差判断干涉加强还是减弱，写出波节波腹的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68639" cy="3351847"/>
            <a:chOff x="667512" y="1835468"/>
            <a:chExt cx="556863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波动的基本概念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58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3.1，先把波动是什么、用什么量描述讲清楚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机械波产生的两个条件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横波与纵波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波线、波面与波前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波长、周期、频率、波速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波动的基本概念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波动传播的是振动状态，不是介质里的质点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5558130" cy="278702"/>
            <a:chOff x="526161" y="1547336"/>
            <a:chExt cx="555813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55581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振动是一个质点的个体行为，波动是介质中所有质点的群体行为。</a:t>
              </a:r>
            </a:p>
          </p:txBody>
        </p:sp>
      </p:grpSp>
      <p:grpSp>
        <p:nvGrpSpPr>
          <p:cNvPr id="20" name="c1-kv-1"/>
          <p:cNvGrpSpPr/>
          <p:nvPr/>
        </p:nvGrpSpPr>
        <p:grpSpPr>
          <a:xfrm>
            <a:off x="526542" y="1964055"/>
            <a:ext cx="5633276" cy="1457516"/>
            <a:chOff x="526542" y="1964055"/>
            <a:chExt cx="5633276" cy="1457516"/>
          </a:xfrm>
        </p:grpSpPr>
        <p:sp>
          <p:nvSpPr>
            <p:cNvPr id="9" name="TextBox 9"/>
            <p:cNvSpPr txBox="1"/>
            <p:nvPr/>
          </p:nvSpPr>
          <p:spPr>
            <a:xfrm>
              <a:off x="526542" y="19640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09497" y="1964055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振动在空间里的传播过程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22526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6542" y="23612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机械波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09497" y="236124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机械振动在弹性介质中的传播，如水波、声波、地震波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5080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6542" y="27593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电磁波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09497" y="2759392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变化的电场和变化的磁场在空间的传播，如无线电波、光波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30489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6542" y="315753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物质波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09497" y="31575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微观粒子都具有波动性，与粒子对应的波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543300"/>
            <a:ext cx="5626418" cy="2023110"/>
            <a:chOff x="533400" y="3543300"/>
            <a:chExt cx="5626418" cy="2023110"/>
          </a:xfrm>
        </p:grpSpPr>
        <p:sp>
          <p:nvSpPr>
            <p:cNvPr id="21" name="Rectangle 21"/>
            <p:cNvSpPr/>
            <p:nvPr/>
          </p:nvSpPr>
          <p:spPr>
            <a:xfrm>
              <a:off x="533400" y="3543300"/>
              <a:ext cx="5626418" cy="2023110"/>
            </a:xfrm>
            <a:prstGeom prst="roundRect">
              <a:avLst>
                <a:gd name="adj" fmla="val 65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3676650"/>
              <a:ext cx="47625" cy="175641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63905" y="37357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1342" y="37699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为什么先学机械波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047" y="4092892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四类波的物理本质完全不同，但它们满足的波动方程形式相同。机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械波看得见摸得着，把它算清楚，后面学电磁波和光波时这一整套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记号、判据可以直接搬过去用。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464618" y="1941195"/>
            <a:ext cx="5193982" cy="1983105"/>
            <a:chOff x="6464618" y="1941195"/>
            <a:chExt cx="5193982" cy="1983105"/>
          </a:xfrm>
        </p:grpSpPr>
        <p:sp>
          <p:nvSpPr>
            <p:cNvPr id="27" name="Rectangle 27"/>
            <p:cNvSpPr/>
            <p:nvPr/>
          </p:nvSpPr>
          <p:spPr>
            <a:xfrm>
              <a:off x="6464618" y="1941195"/>
              <a:ext cx="5193982" cy="1983105"/>
            </a:xfrm>
            <a:prstGeom prst="roundRect">
              <a:avLst>
                <a:gd name="adj" fmla="val 67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74142" y="2074545"/>
              <a:ext cx="47625" cy="171640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95122" y="213360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54558" y="216789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机械波产生的两个条件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695122" y="2478405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50801" y="25167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75920" y="249078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波源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：一个正在振动的系统，它提供能量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95122" y="278130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0801" y="281968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75920" y="279273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弹性介质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：相邻质元之间有弹性力，才能把振动一层层带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动起来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89408" y="3349466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真空里没有弹性介质，所以声音传不过去；电磁波不需要介质，所以阳光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能穿过真空到地球。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6464618" y="4099560"/>
            <a:ext cx="5193982" cy="1466850"/>
            <a:chOff x="6464618" y="4099560"/>
            <a:chExt cx="5193982" cy="1466850"/>
          </a:xfrm>
        </p:grpSpPr>
        <p:sp>
          <p:nvSpPr>
            <p:cNvPr id="39" name="Rectangle 39"/>
            <p:cNvSpPr/>
            <p:nvPr/>
          </p:nvSpPr>
          <p:spPr>
            <a:xfrm>
              <a:off x="6464618" y="4099560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4142" y="423291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95122" y="429196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62560" y="43262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最容易想错的一点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88264" y="4648200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质点并不随波迁移。每个质元都只在自己的平衡位置附近来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回振动，向前跑的是振动的相位。水面上的树叶随波上下浮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沉却不会被推向岸边，就是这个道理。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5" name="Rectangle 4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3610"/>
              <a:ext cx="69197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一次完全振动对应一个完整波形；波动是相位的传递，相位跑得多快，波就跑得多快。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波动的基本概念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横波与纵波：看振动方向与传播方向的夹角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160145"/>
            <a:chOff x="533400" y="1524000"/>
            <a:chExt cx="4977765" cy="11601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横波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振动方向垂直于传播方向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绳波是典型的横波，波形上看得见明显的波峰和波谷。介质要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能抵抗切变才能传横波，所以机械横波一般只在固体中传播。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2848928"/>
            <a:ext cx="4977765" cy="1160145"/>
            <a:chOff x="533400" y="2848928"/>
            <a:chExt cx="4977765" cy="1160145"/>
          </a:xfrm>
        </p:grpSpPr>
        <p:sp>
          <p:nvSpPr>
            <p:cNvPr id="14" name="Rectangle 14"/>
            <p:cNvSpPr/>
            <p:nvPr/>
          </p:nvSpPr>
          <p:spPr>
            <a:xfrm>
              <a:off x="533400" y="2848928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2982278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0299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5147" y="30627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纵波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8450" y="306943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振动方向平行于传播方向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5998" y="3386614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声波、弹簧上的疏密波是纵波，靠介质的疏密变化往前传。气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体、液体、固体都能抵抗压缩，所以三态都能传纵波。</a:t>
              </a:r>
            </a:p>
          </p:txBody>
        </p:sp>
      </p:grpSp>
      <p:grpSp>
        <p:nvGrpSpPr>
          <p:cNvPr id="26" name="c1-card-3"/>
          <p:cNvGrpSpPr/>
          <p:nvPr/>
        </p:nvGrpSpPr>
        <p:grpSpPr>
          <a:xfrm>
            <a:off x="533400" y="4173855"/>
            <a:ext cx="4977765" cy="1468755"/>
            <a:chOff x="533400" y="4173855"/>
            <a:chExt cx="4977765" cy="1468755"/>
          </a:xfrm>
        </p:grpSpPr>
        <p:sp>
          <p:nvSpPr>
            <p:cNvPr id="21" name="Rectangle 21"/>
            <p:cNvSpPr/>
            <p:nvPr/>
          </p:nvSpPr>
          <p:spPr>
            <a:xfrm>
              <a:off x="533400" y="4173855"/>
              <a:ext cx="4977765" cy="1468755"/>
            </a:xfrm>
            <a:prstGeom prst="roundRect">
              <a:avLst>
                <a:gd name="adj" fmla="val 90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42925" y="4307205"/>
              <a:ext cx="47625" cy="12020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52475" y="435483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044" y="438769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实际的波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5998" y="4695349"/>
              <a:ext cx="44020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真实的波动往往两者都有，可以分解成横波和纵波分别研究。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地震波里跑得快的纵波先到，随后才是破坏力更大的横波，相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隔的时间可以用来估算震中距离。</a:t>
              </a:r>
            </a:p>
          </p:txBody>
        </p:sp>
      </p:grpSp>
      <p:grpSp>
        <p:nvGrpSpPr>
          <p:cNvPr id="98" name="c2-graph-1"/>
          <p:cNvGrpSpPr/>
          <p:nvPr/>
        </p:nvGrpSpPr>
        <p:grpSpPr>
          <a:xfrm>
            <a:off x="6263640" y="1556861"/>
            <a:ext cx="4946332" cy="2274570"/>
            <a:chOff x="6263640" y="1556861"/>
            <a:chExt cx="4946332" cy="2274570"/>
          </a:xfrm>
        </p:grpSpPr>
        <p:sp>
          <p:nvSpPr>
            <p:cNvPr id="27" name="Freeform 27"/>
            <p:cNvSpPr/>
            <p:nvPr/>
          </p:nvSpPr>
          <p:spPr>
            <a:xfrm>
              <a:off x="6296978" y="1815465"/>
              <a:ext cx="4880610" cy="728663"/>
            </a:xfrm>
            <a:custGeom>
              <a:avLst/>
              <a:gdLst/>
              <a:ahLst/>
              <a:cxnLst/>
              <a:rect l="l" t="t" r="r" b="b"/>
              <a:pathLst>
                <a:path w="4880610" h="728663">
                  <a:moveTo>
                    <a:pt x="0" y="351473"/>
                  </a:moveTo>
                  <a:lnTo>
                    <a:pt x="61912" y="294323"/>
                  </a:lnTo>
                  <a:lnTo>
                    <a:pt x="138112" y="225743"/>
                  </a:lnTo>
                  <a:lnTo>
                    <a:pt x="214312" y="162877"/>
                  </a:lnTo>
                  <a:lnTo>
                    <a:pt x="289560" y="106680"/>
                  </a:lnTo>
                  <a:lnTo>
                    <a:pt x="371475" y="60960"/>
                  </a:lnTo>
                  <a:lnTo>
                    <a:pt x="447675" y="26670"/>
                  </a:lnTo>
                  <a:lnTo>
                    <a:pt x="523875" y="7620"/>
                  </a:lnTo>
                  <a:lnTo>
                    <a:pt x="599122" y="0"/>
                  </a:lnTo>
                  <a:lnTo>
                    <a:pt x="675322" y="7620"/>
                  </a:lnTo>
                  <a:lnTo>
                    <a:pt x="751522" y="26670"/>
                  </a:lnTo>
                  <a:lnTo>
                    <a:pt x="827722" y="60960"/>
                  </a:lnTo>
                  <a:lnTo>
                    <a:pt x="909638" y="106680"/>
                  </a:lnTo>
                  <a:lnTo>
                    <a:pt x="984885" y="162877"/>
                  </a:lnTo>
                  <a:lnTo>
                    <a:pt x="1061085" y="225743"/>
                  </a:lnTo>
                  <a:lnTo>
                    <a:pt x="1137285" y="294323"/>
                  </a:lnTo>
                  <a:lnTo>
                    <a:pt x="1213485" y="363855"/>
                  </a:lnTo>
                  <a:lnTo>
                    <a:pt x="1288732" y="434340"/>
                  </a:lnTo>
                  <a:lnTo>
                    <a:pt x="1364932" y="502920"/>
                  </a:lnTo>
                  <a:lnTo>
                    <a:pt x="1441132" y="565785"/>
                  </a:lnTo>
                  <a:lnTo>
                    <a:pt x="1517332" y="621983"/>
                  </a:lnTo>
                  <a:lnTo>
                    <a:pt x="1598295" y="667702"/>
                  </a:lnTo>
                  <a:lnTo>
                    <a:pt x="1674495" y="701993"/>
                  </a:lnTo>
                  <a:lnTo>
                    <a:pt x="1750695" y="721043"/>
                  </a:lnTo>
                  <a:lnTo>
                    <a:pt x="1826895" y="728663"/>
                  </a:lnTo>
                  <a:lnTo>
                    <a:pt x="1902142" y="721043"/>
                  </a:lnTo>
                  <a:lnTo>
                    <a:pt x="1978342" y="701993"/>
                  </a:lnTo>
                  <a:lnTo>
                    <a:pt x="2054542" y="667702"/>
                  </a:lnTo>
                  <a:lnTo>
                    <a:pt x="2136457" y="621983"/>
                  </a:lnTo>
                  <a:lnTo>
                    <a:pt x="2212657" y="565785"/>
                  </a:lnTo>
                  <a:lnTo>
                    <a:pt x="2287905" y="502920"/>
                  </a:lnTo>
                  <a:lnTo>
                    <a:pt x="2364105" y="434340"/>
                  </a:lnTo>
                  <a:lnTo>
                    <a:pt x="2440305" y="363855"/>
                  </a:lnTo>
                  <a:lnTo>
                    <a:pt x="2516505" y="294323"/>
                  </a:lnTo>
                  <a:lnTo>
                    <a:pt x="2591752" y="225743"/>
                  </a:lnTo>
                  <a:lnTo>
                    <a:pt x="2667952" y="162877"/>
                  </a:lnTo>
                  <a:lnTo>
                    <a:pt x="2744152" y="106680"/>
                  </a:lnTo>
                  <a:lnTo>
                    <a:pt x="2826067" y="60960"/>
                  </a:lnTo>
                  <a:lnTo>
                    <a:pt x="2901315" y="26670"/>
                  </a:lnTo>
                  <a:lnTo>
                    <a:pt x="2977515" y="7620"/>
                  </a:lnTo>
                  <a:lnTo>
                    <a:pt x="3053715" y="0"/>
                  </a:lnTo>
                  <a:lnTo>
                    <a:pt x="3129915" y="7620"/>
                  </a:lnTo>
                  <a:lnTo>
                    <a:pt x="3205162" y="26670"/>
                  </a:lnTo>
                  <a:lnTo>
                    <a:pt x="3281362" y="60960"/>
                  </a:lnTo>
                  <a:lnTo>
                    <a:pt x="3363278" y="106680"/>
                  </a:lnTo>
                  <a:lnTo>
                    <a:pt x="3439478" y="162877"/>
                  </a:lnTo>
                  <a:lnTo>
                    <a:pt x="3515678" y="225743"/>
                  </a:lnTo>
                  <a:lnTo>
                    <a:pt x="3590925" y="294323"/>
                  </a:lnTo>
                  <a:lnTo>
                    <a:pt x="3667125" y="363855"/>
                  </a:lnTo>
                  <a:lnTo>
                    <a:pt x="3743325" y="434340"/>
                  </a:lnTo>
                  <a:lnTo>
                    <a:pt x="3819525" y="502920"/>
                  </a:lnTo>
                  <a:lnTo>
                    <a:pt x="3894772" y="565785"/>
                  </a:lnTo>
                  <a:lnTo>
                    <a:pt x="3970972" y="621983"/>
                  </a:lnTo>
                  <a:lnTo>
                    <a:pt x="4052887" y="667702"/>
                  </a:lnTo>
                  <a:lnTo>
                    <a:pt x="4129087" y="701993"/>
                  </a:lnTo>
                  <a:lnTo>
                    <a:pt x="4204335" y="721043"/>
                  </a:lnTo>
                  <a:lnTo>
                    <a:pt x="4280535" y="728663"/>
                  </a:lnTo>
                  <a:lnTo>
                    <a:pt x="4356735" y="721043"/>
                  </a:lnTo>
                  <a:lnTo>
                    <a:pt x="4432935" y="701993"/>
                  </a:lnTo>
                  <a:lnTo>
                    <a:pt x="4508183" y="667702"/>
                  </a:lnTo>
                  <a:lnTo>
                    <a:pt x="4590098" y="621983"/>
                  </a:lnTo>
                  <a:lnTo>
                    <a:pt x="4666298" y="565785"/>
                  </a:lnTo>
                  <a:lnTo>
                    <a:pt x="4742498" y="502920"/>
                  </a:lnTo>
                  <a:lnTo>
                    <a:pt x="4818698" y="434340"/>
                  </a:lnTo>
                  <a:lnTo>
                    <a:pt x="4880610" y="37719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510462" y="1978342"/>
              <a:ext cx="9525" cy="402908"/>
            </a:xfrm>
            <a:custGeom>
              <a:avLst/>
              <a:gdLst/>
              <a:ahLst/>
              <a:cxnLst/>
              <a:rect l="l" t="t" r="r" b="b"/>
              <a:pathLst>
                <a:path w="9525" h="402908">
                  <a:moveTo>
                    <a:pt x="0" y="0"/>
                  </a:moveTo>
                  <a:lnTo>
                    <a:pt x="0" y="402908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462838" y="23812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7462838" y="18830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457372" y="1645920"/>
              <a:ext cx="1385888" cy="9525"/>
            </a:xfrm>
            <a:custGeom>
              <a:avLst/>
              <a:gdLst/>
              <a:ahLst/>
              <a:cxnLst/>
              <a:rect l="l" t="t" r="r" b="b"/>
              <a:pathLst>
                <a:path w="1385888" h="9525">
                  <a:moveTo>
                    <a:pt x="0" y="0"/>
                  </a:moveTo>
                  <a:lnTo>
                    <a:pt x="138588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843260" y="1598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457372" y="2932748"/>
              <a:ext cx="1385888" cy="9525"/>
            </a:xfrm>
            <a:custGeom>
              <a:avLst/>
              <a:gdLst/>
              <a:ahLst/>
              <a:cxnLst/>
              <a:rect l="l" t="t" r="r" b="b"/>
              <a:pathLst>
                <a:path w="1385888" h="9525">
                  <a:moveTo>
                    <a:pt x="0" y="0"/>
                  </a:moveTo>
                  <a:lnTo>
                    <a:pt x="138588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843260" y="28851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273165" y="21697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1181398" y="21697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500938" y="18545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500938" y="24860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9428798" y="16363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948035" y="16363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428798" y="29232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10948035" y="29232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26364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42175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57987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731318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86562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994208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709993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719899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28091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350442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7409498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746188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7519988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757237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763143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7700962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7782878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788289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798766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8116252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825055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840295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8560118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8718232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Ellipse 67"/>
            <p:cNvSpPr/>
            <p:nvPr/>
          </p:nvSpPr>
          <p:spPr>
            <a:xfrm>
              <a:off x="887539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8" name="Ellipse 68"/>
            <p:cNvSpPr/>
            <p:nvPr/>
          </p:nvSpPr>
          <p:spPr>
            <a:xfrm>
              <a:off x="903351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9" name="Ellipse 69"/>
            <p:cNvSpPr/>
            <p:nvPr/>
          </p:nvSpPr>
          <p:spPr>
            <a:xfrm>
              <a:off x="918591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0" name="Ellipse 70"/>
            <p:cNvSpPr/>
            <p:nvPr/>
          </p:nvSpPr>
          <p:spPr>
            <a:xfrm>
              <a:off x="9320212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944880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2" name="Ellipse 72"/>
            <p:cNvSpPr/>
            <p:nvPr/>
          </p:nvSpPr>
          <p:spPr>
            <a:xfrm>
              <a:off x="955357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965263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4" name="Ellipse 74"/>
            <p:cNvSpPr/>
            <p:nvPr/>
          </p:nvSpPr>
          <p:spPr>
            <a:xfrm>
              <a:off x="973455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5" name="Ellipse 75"/>
            <p:cNvSpPr/>
            <p:nvPr/>
          </p:nvSpPr>
          <p:spPr>
            <a:xfrm>
              <a:off x="980503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6" name="Ellipse 76"/>
            <p:cNvSpPr/>
            <p:nvPr/>
          </p:nvSpPr>
          <p:spPr>
            <a:xfrm>
              <a:off x="9863138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991552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997458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10026968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1008507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1" name="Ellipse 81"/>
            <p:cNvSpPr/>
            <p:nvPr/>
          </p:nvSpPr>
          <p:spPr>
            <a:xfrm>
              <a:off x="1015555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1023747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033653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1044130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10569892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6" name="Ellipse 86"/>
            <p:cNvSpPr/>
            <p:nvPr/>
          </p:nvSpPr>
          <p:spPr>
            <a:xfrm>
              <a:off x="1070419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7" name="Ellipse 87"/>
            <p:cNvSpPr/>
            <p:nvPr/>
          </p:nvSpPr>
          <p:spPr>
            <a:xfrm>
              <a:off x="10856595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8" name="Ellipse 88"/>
            <p:cNvSpPr/>
            <p:nvPr/>
          </p:nvSpPr>
          <p:spPr>
            <a:xfrm>
              <a:off x="11014710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9" name="Ellipse 89"/>
            <p:cNvSpPr/>
            <p:nvPr/>
          </p:nvSpPr>
          <p:spPr>
            <a:xfrm>
              <a:off x="11171872" y="3448050"/>
              <a:ext cx="38100" cy="381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297282" y="1556861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横波（绳波）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761326" y="1774984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质元只上下振动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925011" y="1774984"/>
              <a:ext cx="54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传播方向 u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297282" y="2843689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纵波（声波）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158088" y="366950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密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092491" y="366950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疏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9846043" y="3669506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密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925011" y="3062764"/>
              <a:ext cx="54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传播方向 u</a:t>
              </a:r>
            </a:p>
          </p:txBody>
        </p:sp>
      </p:grpSp>
      <p:grpSp>
        <p:nvGrpSpPr>
          <p:cNvPr id="118" name="c2-table-2"/>
          <p:cNvGrpSpPr/>
          <p:nvPr/>
        </p:nvGrpSpPr>
        <p:grpSpPr>
          <a:xfrm>
            <a:off x="5815965" y="4117658"/>
            <a:ext cx="5842635" cy="1525905"/>
            <a:chOff x="5815965" y="4117658"/>
            <a:chExt cx="5842635" cy="1525905"/>
          </a:xfrm>
        </p:grpSpPr>
        <p:sp>
          <p:nvSpPr>
            <p:cNvPr id="99" name="Rectangle 99"/>
            <p:cNvSpPr/>
            <p:nvPr/>
          </p:nvSpPr>
          <p:spPr>
            <a:xfrm>
              <a:off x="5815965" y="4117658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661785" y="42348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介质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477822" y="42348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能传纵波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406634" y="42348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能传横波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910644" y="46167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固体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896606" y="46167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825418" y="46167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5815965" y="48758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5815965" y="488061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5910644" y="49977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液体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896606" y="49977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825418" y="49977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5815965" y="525684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5910644" y="537876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气体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7896606" y="53787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825418" y="53787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5815965" y="4117658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7797165" y="411765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9725978" y="4117658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19" name="Rectangle 11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20" name="Freeform 12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1" name="Freeform 12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1041273" y="6039326"/>
              <a:ext cx="103517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液体和气体只有体变弹性、没有切变弹性，所以它们内部不能传横波；水面上的波是重力与表面张力造成的，不属于这里说的机械横波。</a:t>
              </a:r>
            </a:p>
          </p:txBody>
        </p:sp>
      </p:grpSp>
      <p:grpSp>
        <p:nvGrpSpPr>
          <p:cNvPr id="1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6" name="TextBox 12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波动的基本概念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波线、波面与波前：用几何语言画出波往哪里走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graph-1"/>
          <p:cNvGrpSpPr/>
          <p:nvPr/>
        </p:nvGrpSpPr>
        <p:grpSpPr>
          <a:xfrm>
            <a:off x="1134237" y="1735455"/>
            <a:ext cx="3991356" cy="1744027"/>
            <a:chOff x="1134237" y="1735455"/>
            <a:chExt cx="3991356" cy="1744027"/>
          </a:xfrm>
        </p:grpSpPr>
        <p:sp>
          <p:nvSpPr>
            <p:cNvPr id="7" name="Freeform 7"/>
            <p:cNvSpPr/>
            <p:nvPr/>
          </p:nvSpPr>
          <p:spPr>
            <a:xfrm>
              <a:off x="2797492" y="2304098"/>
              <a:ext cx="662940" cy="606743"/>
            </a:xfrm>
            <a:custGeom>
              <a:avLst/>
              <a:gdLst/>
              <a:ahLst/>
              <a:cxnLst/>
              <a:rect l="l" t="t" r="r" b="b"/>
              <a:pathLst>
                <a:path w="662940" h="606743">
                  <a:moveTo>
                    <a:pt x="662940" y="284798"/>
                  </a:moveTo>
                  <a:lnTo>
                    <a:pt x="660083" y="264795"/>
                  </a:lnTo>
                  <a:lnTo>
                    <a:pt x="654367" y="225743"/>
                  </a:lnTo>
                  <a:lnTo>
                    <a:pt x="639128" y="186690"/>
                  </a:lnTo>
                  <a:lnTo>
                    <a:pt x="618173" y="151448"/>
                  </a:lnTo>
                  <a:lnTo>
                    <a:pt x="597217" y="119062"/>
                  </a:lnTo>
                  <a:lnTo>
                    <a:pt x="566738" y="88582"/>
                  </a:lnTo>
                  <a:lnTo>
                    <a:pt x="535305" y="62865"/>
                  </a:lnTo>
                  <a:lnTo>
                    <a:pt x="499110" y="40957"/>
                  </a:lnTo>
                  <a:lnTo>
                    <a:pt x="457200" y="23812"/>
                  </a:lnTo>
                  <a:lnTo>
                    <a:pt x="421005" y="10477"/>
                  </a:lnTo>
                  <a:lnTo>
                    <a:pt x="374333" y="1905"/>
                  </a:lnTo>
                  <a:lnTo>
                    <a:pt x="332423" y="0"/>
                  </a:lnTo>
                  <a:lnTo>
                    <a:pt x="291465" y="1905"/>
                  </a:lnTo>
                  <a:lnTo>
                    <a:pt x="244792" y="10477"/>
                  </a:lnTo>
                  <a:lnTo>
                    <a:pt x="208598" y="23812"/>
                  </a:lnTo>
                  <a:lnTo>
                    <a:pt x="166688" y="40957"/>
                  </a:lnTo>
                  <a:lnTo>
                    <a:pt x="130492" y="62865"/>
                  </a:lnTo>
                  <a:lnTo>
                    <a:pt x="99060" y="88582"/>
                  </a:lnTo>
                  <a:lnTo>
                    <a:pt x="67628" y="119062"/>
                  </a:lnTo>
                  <a:lnTo>
                    <a:pt x="46673" y="151448"/>
                  </a:lnTo>
                  <a:lnTo>
                    <a:pt x="26670" y="186690"/>
                  </a:lnTo>
                  <a:lnTo>
                    <a:pt x="10478" y="225743"/>
                  </a:lnTo>
                  <a:lnTo>
                    <a:pt x="5715" y="264795"/>
                  </a:lnTo>
                  <a:lnTo>
                    <a:pt x="0" y="303848"/>
                  </a:lnTo>
                  <a:lnTo>
                    <a:pt x="5715" y="341948"/>
                  </a:lnTo>
                  <a:lnTo>
                    <a:pt x="10478" y="381000"/>
                  </a:lnTo>
                  <a:lnTo>
                    <a:pt x="26670" y="420052"/>
                  </a:lnTo>
                  <a:lnTo>
                    <a:pt x="46673" y="455295"/>
                  </a:lnTo>
                  <a:lnTo>
                    <a:pt x="67628" y="487680"/>
                  </a:lnTo>
                  <a:lnTo>
                    <a:pt x="99060" y="518160"/>
                  </a:lnTo>
                  <a:lnTo>
                    <a:pt x="130492" y="543878"/>
                  </a:lnTo>
                  <a:lnTo>
                    <a:pt x="166688" y="565785"/>
                  </a:lnTo>
                  <a:lnTo>
                    <a:pt x="208598" y="582930"/>
                  </a:lnTo>
                  <a:lnTo>
                    <a:pt x="244792" y="596265"/>
                  </a:lnTo>
                  <a:lnTo>
                    <a:pt x="291465" y="604837"/>
                  </a:lnTo>
                  <a:lnTo>
                    <a:pt x="332423" y="606743"/>
                  </a:lnTo>
                  <a:lnTo>
                    <a:pt x="374333" y="604837"/>
                  </a:lnTo>
                  <a:lnTo>
                    <a:pt x="421005" y="596265"/>
                  </a:lnTo>
                  <a:lnTo>
                    <a:pt x="457200" y="582930"/>
                  </a:lnTo>
                  <a:lnTo>
                    <a:pt x="499110" y="565785"/>
                  </a:lnTo>
                  <a:lnTo>
                    <a:pt x="535305" y="543878"/>
                  </a:lnTo>
                  <a:lnTo>
                    <a:pt x="566738" y="518160"/>
                  </a:lnTo>
                  <a:lnTo>
                    <a:pt x="597217" y="487680"/>
                  </a:lnTo>
                  <a:lnTo>
                    <a:pt x="618173" y="455295"/>
                  </a:lnTo>
                  <a:lnTo>
                    <a:pt x="639128" y="420052"/>
                  </a:lnTo>
                  <a:lnTo>
                    <a:pt x="654367" y="381000"/>
                  </a:lnTo>
                  <a:lnTo>
                    <a:pt x="660083" y="341948"/>
                  </a:lnTo>
                  <a:lnTo>
                    <a:pt x="662940" y="32194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517458" y="2044065"/>
              <a:ext cx="1223962" cy="1126807"/>
            </a:xfrm>
            <a:custGeom>
              <a:avLst/>
              <a:gdLst/>
              <a:ahLst/>
              <a:cxnLst/>
              <a:rect l="l" t="t" r="r" b="b"/>
              <a:pathLst>
                <a:path w="1223962" h="1126807">
                  <a:moveTo>
                    <a:pt x="1223962" y="544830"/>
                  </a:moveTo>
                  <a:lnTo>
                    <a:pt x="1220152" y="489585"/>
                  </a:lnTo>
                  <a:lnTo>
                    <a:pt x="1204912" y="418148"/>
                  </a:lnTo>
                  <a:lnTo>
                    <a:pt x="1179195" y="348615"/>
                  </a:lnTo>
                  <a:lnTo>
                    <a:pt x="1147762" y="281940"/>
                  </a:lnTo>
                  <a:lnTo>
                    <a:pt x="1101090" y="220980"/>
                  </a:lnTo>
                  <a:lnTo>
                    <a:pt x="1048702" y="164783"/>
                  </a:lnTo>
                  <a:lnTo>
                    <a:pt x="986790" y="117158"/>
                  </a:lnTo>
                  <a:lnTo>
                    <a:pt x="919162" y="76200"/>
                  </a:lnTo>
                  <a:lnTo>
                    <a:pt x="846772" y="43815"/>
                  </a:lnTo>
                  <a:lnTo>
                    <a:pt x="773430" y="19050"/>
                  </a:lnTo>
                  <a:lnTo>
                    <a:pt x="690562" y="4762"/>
                  </a:lnTo>
                  <a:lnTo>
                    <a:pt x="612458" y="0"/>
                  </a:lnTo>
                  <a:lnTo>
                    <a:pt x="535305" y="4762"/>
                  </a:lnTo>
                  <a:lnTo>
                    <a:pt x="451485" y="19050"/>
                  </a:lnTo>
                  <a:lnTo>
                    <a:pt x="379095" y="43815"/>
                  </a:lnTo>
                  <a:lnTo>
                    <a:pt x="306705" y="76200"/>
                  </a:lnTo>
                  <a:lnTo>
                    <a:pt x="239077" y="117158"/>
                  </a:lnTo>
                  <a:lnTo>
                    <a:pt x="176212" y="164783"/>
                  </a:lnTo>
                  <a:lnTo>
                    <a:pt x="124777" y="220980"/>
                  </a:lnTo>
                  <a:lnTo>
                    <a:pt x="78105" y="281940"/>
                  </a:lnTo>
                  <a:lnTo>
                    <a:pt x="46672" y="348615"/>
                  </a:lnTo>
                  <a:lnTo>
                    <a:pt x="20955" y="418148"/>
                  </a:lnTo>
                  <a:lnTo>
                    <a:pt x="4762" y="489585"/>
                  </a:lnTo>
                  <a:lnTo>
                    <a:pt x="0" y="563880"/>
                  </a:lnTo>
                  <a:lnTo>
                    <a:pt x="4762" y="637222"/>
                  </a:lnTo>
                  <a:lnTo>
                    <a:pt x="20955" y="708660"/>
                  </a:lnTo>
                  <a:lnTo>
                    <a:pt x="46672" y="778193"/>
                  </a:lnTo>
                  <a:lnTo>
                    <a:pt x="78105" y="844868"/>
                  </a:lnTo>
                  <a:lnTo>
                    <a:pt x="124777" y="905828"/>
                  </a:lnTo>
                  <a:lnTo>
                    <a:pt x="176212" y="962025"/>
                  </a:lnTo>
                  <a:lnTo>
                    <a:pt x="239077" y="1009650"/>
                  </a:lnTo>
                  <a:lnTo>
                    <a:pt x="306705" y="1050607"/>
                  </a:lnTo>
                  <a:lnTo>
                    <a:pt x="379095" y="1083945"/>
                  </a:lnTo>
                  <a:lnTo>
                    <a:pt x="451485" y="1107757"/>
                  </a:lnTo>
                  <a:lnTo>
                    <a:pt x="535305" y="1122045"/>
                  </a:lnTo>
                  <a:lnTo>
                    <a:pt x="612458" y="1126807"/>
                  </a:lnTo>
                  <a:lnTo>
                    <a:pt x="690562" y="1122045"/>
                  </a:lnTo>
                  <a:lnTo>
                    <a:pt x="773430" y="1107757"/>
                  </a:lnTo>
                  <a:lnTo>
                    <a:pt x="846772" y="1083945"/>
                  </a:lnTo>
                  <a:lnTo>
                    <a:pt x="919162" y="1050607"/>
                  </a:lnTo>
                  <a:lnTo>
                    <a:pt x="986790" y="1009650"/>
                  </a:lnTo>
                  <a:lnTo>
                    <a:pt x="1048702" y="962025"/>
                  </a:lnTo>
                  <a:lnTo>
                    <a:pt x="1101090" y="905828"/>
                  </a:lnTo>
                  <a:lnTo>
                    <a:pt x="1147762" y="844868"/>
                  </a:lnTo>
                  <a:lnTo>
                    <a:pt x="1179195" y="778193"/>
                  </a:lnTo>
                  <a:lnTo>
                    <a:pt x="1204912" y="708660"/>
                  </a:lnTo>
                  <a:lnTo>
                    <a:pt x="1220152" y="637222"/>
                  </a:lnTo>
                  <a:lnTo>
                    <a:pt x="1223962" y="58197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31708" y="1784032"/>
              <a:ext cx="1796415" cy="1646872"/>
            </a:xfrm>
            <a:custGeom>
              <a:avLst/>
              <a:gdLst/>
              <a:ahLst/>
              <a:cxnLst/>
              <a:rect l="l" t="t" r="r" b="b"/>
              <a:pathLst>
                <a:path w="1796415" h="1646872">
                  <a:moveTo>
                    <a:pt x="1796415" y="804862"/>
                  </a:moveTo>
                  <a:lnTo>
                    <a:pt x="1791652" y="715327"/>
                  </a:lnTo>
                  <a:lnTo>
                    <a:pt x="1765935" y="611505"/>
                  </a:lnTo>
                  <a:lnTo>
                    <a:pt x="1729740" y="509588"/>
                  </a:lnTo>
                  <a:lnTo>
                    <a:pt x="1677352" y="411480"/>
                  </a:lnTo>
                  <a:lnTo>
                    <a:pt x="1609725" y="322897"/>
                  </a:lnTo>
                  <a:lnTo>
                    <a:pt x="1532572" y="240982"/>
                  </a:lnTo>
                  <a:lnTo>
                    <a:pt x="1443990" y="171450"/>
                  </a:lnTo>
                  <a:lnTo>
                    <a:pt x="1350645" y="110490"/>
                  </a:lnTo>
                  <a:lnTo>
                    <a:pt x="1241108" y="62865"/>
                  </a:lnTo>
                  <a:lnTo>
                    <a:pt x="1132522" y="28575"/>
                  </a:lnTo>
                  <a:lnTo>
                    <a:pt x="1018222" y="6667"/>
                  </a:lnTo>
                  <a:lnTo>
                    <a:pt x="898208" y="0"/>
                  </a:lnTo>
                  <a:lnTo>
                    <a:pt x="779145" y="6667"/>
                  </a:lnTo>
                  <a:lnTo>
                    <a:pt x="664845" y="28575"/>
                  </a:lnTo>
                  <a:lnTo>
                    <a:pt x="556260" y="62865"/>
                  </a:lnTo>
                  <a:lnTo>
                    <a:pt x="446722" y="110490"/>
                  </a:lnTo>
                  <a:lnTo>
                    <a:pt x="353377" y="171450"/>
                  </a:lnTo>
                  <a:lnTo>
                    <a:pt x="264795" y="240982"/>
                  </a:lnTo>
                  <a:lnTo>
                    <a:pt x="186690" y="322897"/>
                  </a:lnTo>
                  <a:lnTo>
                    <a:pt x="119062" y="411480"/>
                  </a:lnTo>
                  <a:lnTo>
                    <a:pt x="67627" y="509588"/>
                  </a:lnTo>
                  <a:lnTo>
                    <a:pt x="31432" y="611505"/>
                  </a:lnTo>
                  <a:lnTo>
                    <a:pt x="5715" y="715327"/>
                  </a:lnTo>
                  <a:lnTo>
                    <a:pt x="0" y="823912"/>
                  </a:lnTo>
                  <a:lnTo>
                    <a:pt x="5715" y="931545"/>
                  </a:lnTo>
                  <a:lnTo>
                    <a:pt x="31432" y="1035367"/>
                  </a:lnTo>
                  <a:lnTo>
                    <a:pt x="67627" y="1137285"/>
                  </a:lnTo>
                  <a:lnTo>
                    <a:pt x="119062" y="1235392"/>
                  </a:lnTo>
                  <a:lnTo>
                    <a:pt x="186690" y="1323975"/>
                  </a:lnTo>
                  <a:lnTo>
                    <a:pt x="264795" y="1405890"/>
                  </a:lnTo>
                  <a:lnTo>
                    <a:pt x="353377" y="1475422"/>
                  </a:lnTo>
                  <a:lnTo>
                    <a:pt x="446722" y="1536382"/>
                  </a:lnTo>
                  <a:lnTo>
                    <a:pt x="556260" y="1584008"/>
                  </a:lnTo>
                  <a:lnTo>
                    <a:pt x="664845" y="1618297"/>
                  </a:lnTo>
                  <a:lnTo>
                    <a:pt x="779145" y="1640205"/>
                  </a:lnTo>
                  <a:lnTo>
                    <a:pt x="898208" y="1646872"/>
                  </a:lnTo>
                  <a:lnTo>
                    <a:pt x="1018222" y="1640205"/>
                  </a:lnTo>
                  <a:lnTo>
                    <a:pt x="1132522" y="1618297"/>
                  </a:lnTo>
                  <a:lnTo>
                    <a:pt x="1241108" y="1584008"/>
                  </a:lnTo>
                  <a:lnTo>
                    <a:pt x="1350645" y="1536382"/>
                  </a:lnTo>
                  <a:lnTo>
                    <a:pt x="1443990" y="1475422"/>
                  </a:lnTo>
                  <a:lnTo>
                    <a:pt x="1532572" y="1405890"/>
                  </a:lnTo>
                  <a:lnTo>
                    <a:pt x="1609725" y="1323975"/>
                  </a:lnTo>
                  <a:lnTo>
                    <a:pt x="1677352" y="1235392"/>
                  </a:lnTo>
                  <a:lnTo>
                    <a:pt x="1729740" y="1137285"/>
                  </a:lnTo>
                  <a:lnTo>
                    <a:pt x="1765935" y="1035367"/>
                  </a:lnTo>
                  <a:lnTo>
                    <a:pt x="1791652" y="931545"/>
                  </a:lnTo>
                  <a:lnTo>
                    <a:pt x="1796415" y="84201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77540" y="2607945"/>
              <a:ext cx="923925" cy="9525"/>
            </a:xfrm>
            <a:custGeom>
              <a:avLst/>
              <a:gdLst/>
              <a:ahLst/>
              <a:cxnLst/>
              <a:rect l="l" t="t" r="r" b="b"/>
              <a:pathLst>
                <a:path w="923925" h="9525">
                  <a:moveTo>
                    <a:pt x="0" y="0"/>
                  </a:moveTo>
                  <a:lnTo>
                    <a:pt x="92392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101465" y="2560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3155632" y="1841182"/>
              <a:ext cx="459105" cy="725805"/>
            </a:xfrm>
            <a:custGeom>
              <a:avLst/>
              <a:gdLst/>
              <a:ahLst/>
              <a:cxnLst/>
              <a:rect l="l" t="t" r="r" b="b"/>
              <a:pathLst>
                <a:path w="459105" h="725805">
                  <a:moveTo>
                    <a:pt x="0" y="725805"/>
                  </a:moveTo>
                  <a:lnTo>
                    <a:pt x="45910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574732" y="1761172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90488" y="0"/>
                  </a:moveTo>
                  <a:lnTo>
                    <a:pt x="80010" y="105727"/>
                  </a:lnTo>
                  <a:lnTo>
                    <a:pt x="0" y="55245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646045" y="1841182"/>
              <a:ext cx="459105" cy="725805"/>
            </a:xfrm>
            <a:custGeom>
              <a:avLst/>
              <a:gdLst/>
              <a:ahLst/>
              <a:cxnLst/>
              <a:rect l="l" t="t" r="r" b="b"/>
              <a:pathLst>
                <a:path w="459105" h="725805">
                  <a:moveTo>
                    <a:pt x="459105" y="72580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595562" y="1761172"/>
              <a:ext cx="90488" cy="105727"/>
            </a:xfrm>
            <a:custGeom>
              <a:avLst/>
              <a:gdLst/>
              <a:ahLst/>
              <a:cxnLst/>
              <a:rect l="l" t="t" r="r" b="b"/>
              <a:pathLst>
                <a:path w="90488" h="105727">
                  <a:moveTo>
                    <a:pt x="0" y="0"/>
                  </a:moveTo>
                  <a:lnTo>
                    <a:pt x="90488" y="55245"/>
                  </a:lnTo>
                  <a:lnTo>
                    <a:pt x="10478" y="105727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159318" y="2607945"/>
              <a:ext cx="922973" cy="9525"/>
            </a:xfrm>
            <a:custGeom>
              <a:avLst/>
              <a:gdLst/>
              <a:ahLst/>
              <a:cxnLst/>
              <a:rect l="l" t="t" r="r" b="b"/>
              <a:pathLst>
                <a:path w="922973" h="9525">
                  <a:moveTo>
                    <a:pt x="922973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064068" y="25603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646045" y="2647950"/>
              <a:ext cx="459105" cy="725805"/>
            </a:xfrm>
            <a:custGeom>
              <a:avLst/>
              <a:gdLst/>
              <a:ahLst/>
              <a:cxnLst/>
              <a:rect l="l" t="t" r="r" b="b"/>
              <a:pathLst>
                <a:path w="459105" h="725805">
                  <a:moveTo>
                    <a:pt x="459105" y="0"/>
                  </a:moveTo>
                  <a:lnTo>
                    <a:pt x="0" y="72580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595562" y="3348038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0" y="105728"/>
                  </a:moveTo>
                  <a:lnTo>
                    <a:pt x="10478" y="0"/>
                  </a:lnTo>
                  <a:lnTo>
                    <a:pt x="90488" y="50483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155632" y="2647950"/>
              <a:ext cx="459105" cy="725805"/>
            </a:xfrm>
            <a:custGeom>
              <a:avLst/>
              <a:gdLst/>
              <a:ahLst/>
              <a:cxnLst/>
              <a:rect l="l" t="t" r="r" b="b"/>
              <a:pathLst>
                <a:path w="459105" h="725805">
                  <a:moveTo>
                    <a:pt x="0" y="0"/>
                  </a:moveTo>
                  <a:lnTo>
                    <a:pt x="459105" y="72580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574732" y="3348038"/>
              <a:ext cx="90488" cy="105728"/>
            </a:xfrm>
            <a:custGeom>
              <a:avLst/>
              <a:gdLst/>
              <a:ahLst/>
              <a:cxnLst/>
              <a:rect l="l" t="t" r="r" b="b"/>
              <a:pathLst>
                <a:path w="90488" h="105728">
                  <a:moveTo>
                    <a:pt x="90488" y="105728"/>
                  </a:moveTo>
                  <a:lnTo>
                    <a:pt x="0" y="50483"/>
                  </a:lnTo>
                  <a:lnTo>
                    <a:pt x="8001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091815" y="256984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452812" y="2598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452812" y="2598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733800" y="2598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733800" y="2598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4019550" y="2598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019550" y="2598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206240" y="2598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3666172" y="17354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575560" y="17354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035492" y="25984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2575560" y="34604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666172" y="346043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59570" y="2670334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点波源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4237" y="190404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73752" y="190404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73752" y="303085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波线</a:t>
              </a:r>
            </a:p>
          </p:txBody>
        </p:sp>
      </p:grpSp>
      <p:grpSp>
        <p:nvGrpSpPr>
          <p:cNvPr id="62" name="c1-graph-2"/>
          <p:cNvGrpSpPr/>
          <p:nvPr/>
        </p:nvGrpSpPr>
        <p:grpSpPr>
          <a:xfrm>
            <a:off x="1042988" y="4076700"/>
            <a:ext cx="4070032" cy="1606391"/>
            <a:chOff x="1042988" y="4076700"/>
            <a:chExt cx="4070032" cy="1606391"/>
          </a:xfrm>
        </p:grpSpPr>
        <p:sp>
          <p:nvSpPr>
            <p:cNvPr id="40" name="Freeform 40"/>
            <p:cNvSpPr/>
            <p:nvPr/>
          </p:nvSpPr>
          <p:spPr>
            <a:xfrm>
              <a:off x="1780222" y="4105275"/>
              <a:ext cx="9525" cy="1247775"/>
            </a:xfrm>
            <a:custGeom>
              <a:avLst/>
              <a:gdLst/>
              <a:ahLst/>
              <a:cxnLst/>
              <a:rect l="l" t="t" r="r" b="b"/>
              <a:pathLst>
                <a:path w="9525" h="1247775">
                  <a:moveTo>
                    <a:pt x="0" y="0"/>
                  </a:moveTo>
                  <a:lnTo>
                    <a:pt x="0" y="124777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3026092" y="4105275"/>
              <a:ext cx="9525" cy="1247775"/>
            </a:xfrm>
            <a:custGeom>
              <a:avLst/>
              <a:gdLst/>
              <a:ahLst/>
              <a:cxnLst/>
              <a:rect l="l" t="t" r="r" b="b"/>
              <a:pathLst>
                <a:path w="9525" h="1247775">
                  <a:moveTo>
                    <a:pt x="0" y="0"/>
                  </a:moveTo>
                  <a:lnTo>
                    <a:pt x="0" y="124777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4272915" y="4105275"/>
              <a:ext cx="9525" cy="1247775"/>
            </a:xfrm>
            <a:custGeom>
              <a:avLst/>
              <a:gdLst/>
              <a:ahLst/>
              <a:cxnLst/>
              <a:rect l="l" t="t" r="r" b="b"/>
              <a:pathLst>
                <a:path w="9525" h="1247775">
                  <a:moveTo>
                    <a:pt x="0" y="0"/>
                  </a:moveTo>
                  <a:lnTo>
                    <a:pt x="0" y="124777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71562" y="4343400"/>
              <a:ext cx="3917632" cy="9525"/>
            </a:xfrm>
            <a:custGeom>
              <a:avLst/>
              <a:gdLst/>
              <a:ahLst/>
              <a:cxnLst/>
              <a:rect l="l" t="t" r="r" b="b"/>
              <a:pathLst>
                <a:path w="3917632" h="9525">
                  <a:moveTo>
                    <a:pt x="0" y="0"/>
                  </a:moveTo>
                  <a:lnTo>
                    <a:pt x="391763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4989195" y="42957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1071562" y="4729162"/>
              <a:ext cx="3917632" cy="9525"/>
            </a:xfrm>
            <a:custGeom>
              <a:avLst/>
              <a:gdLst/>
              <a:ahLst/>
              <a:cxnLst/>
              <a:rect l="l" t="t" r="r" b="b"/>
              <a:pathLst>
                <a:path w="3917632" h="9525">
                  <a:moveTo>
                    <a:pt x="0" y="0"/>
                  </a:moveTo>
                  <a:lnTo>
                    <a:pt x="391763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4989195" y="46815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71562" y="5114925"/>
              <a:ext cx="3917632" cy="9525"/>
            </a:xfrm>
            <a:custGeom>
              <a:avLst/>
              <a:gdLst/>
              <a:ahLst/>
              <a:cxnLst/>
              <a:rect l="l" t="t" r="r" b="b"/>
              <a:pathLst>
                <a:path w="3917632" h="9525">
                  <a:moveTo>
                    <a:pt x="0" y="0"/>
                  </a:moveTo>
                  <a:lnTo>
                    <a:pt x="391763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4989195" y="50673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770698" y="40767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770698" y="53625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016568" y="40767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016568" y="53625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4263390" y="40767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4263390" y="53625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1042988" y="43338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5093970" y="43338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1042988" y="47196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5093970" y="47196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42988" y="5105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5093970" y="5105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855686" y="5521166"/>
              <a:ext cx="254845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平面波：波面是一族平行平面，波线是一族平行直线</a:t>
              </a:r>
            </a:p>
          </p:txBody>
        </p:sp>
      </p:grpSp>
      <p:grpSp>
        <p:nvGrpSpPr>
          <p:cNvPr id="71" name="c2-kv-1"/>
          <p:cNvGrpSpPr/>
          <p:nvPr/>
        </p:nvGrpSpPr>
        <p:grpSpPr>
          <a:xfrm>
            <a:off x="6025324" y="1545907"/>
            <a:ext cx="5633276" cy="1060324"/>
            <a:chOff x="6025324" y="1545907"/>
            <a:chExt cx="5633276" cy="1060324"/>
          </a:xfrm>
        </p:grpSpPr>
        <p:sp>
          <p:nvSpPr>
            <p:cNvPr id="63" name="TextBox 63"/>
            <p:cNvSpPr txBox="1"/>
            <p:nvPr/>
          </p:nvSpPr>
          <p:spPr>
            <a:xfrm>
              <a:off x="6025324" y="154590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波线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30162" y="1545907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表示波传播方向的射线，也叫波射线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032182" y="18354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25324" y="194405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波面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30162" y="194405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相位相同的点组成的面，也叫同相面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032182" y="22326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025324" y="234219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波前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30162" y="2342198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某一时刻走在最前面的那个波面，一列波只有一个波前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032182" y="2727960"/>
            <a:ext cx="5626418" cy="1775460"/>
            <a:chOff x="6032182" y="2727960"/>
            <a:chExt cx="5626418" cy="1775460"/>
          </a:xfrm>
        </p:grpSpPr>
        <p:sp>
          <p:nvSpPr>
            <p:cNvPr id="72" name="Rectangle 72"/>
            <p:cNvSpPr/>
            <p:nvPr/>
          </p:nvSpPr>
          <p:spPr>
            <a:xfrm>
              <a:off x="6032182" y="2727960"/>
              <a:ext cx="5626418" cy="1775460"/>
            </a:xfrm>
            <a:prstGeom prst="roundRect">
              <a:avLst>
                <a:gd name="adj" fmla="val 751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224588" y="292036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296025" y="295465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两种最常用的波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6233160" y="333279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89180" y="3276600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平面波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：波面是平面。各条波线互相平行，振幅沿途不衰减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6233160" y="363569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89180" y="357949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球面波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：波面是同心球面。点波源在各向同性介质中发出的就是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球面波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218872" y="4135279"/>
              <a:ext cx="5288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在各向同性介质中波线总是垂直于波面，所以画出波面就等于画出了传播方向。</a:t>
              </a:r>
            </a:p>
          </p:txBody>
        </p:sp>
      </p:grpSp>
      <p:grpSp>
        <p:nvGrpSpPr>
          <p:cNvPr id="87" name="c2-callout-3"/>
          <p:cNvGrpSpPr/>
          <p:nvPr/>
        </p:nvGrpSpPr>
        <p:grpSpPr>
          <a:xfrm>
            <a:off x="6032182" y="4678680"/>
            <a:ext cx="5626418" cy="729615"/>
            <a:chOff x="6032182" y="4678680"/>
            <a:chExt cx="5626418" cy="729615"/>
          </a:xfrm>
        </p:grpSpPr>
        <p:sp>
          <p:nvSpPr>
            <p:cNvPr id="81" name="Rectangle 81"/>
            <p:cNvSpPr/>
            <p:nvPr/>
          </p:nvSpPr>
          <p:spPr>
            <a:xfrm>
              <a:off x="6032182" y="4678680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6236970" y="4943475"/>
              <a:ext cx="200026" cy="200025"/>
              <a:chOff x="6236970" y="4943475"/>
              <a:chExt cx="200026" cy="200025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6236970" y="49434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276709" y="49879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6311424" y="50990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6539674" y="4824412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离点波源很远的地方，一小块球面几乎是平的，可以当平面波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处理。太阳光到地球、远处的声音传到耳边都按平面波算。</a:t>
              </a:r>
            </a:p>
          </p:txBody>
        </p:sp>
      </p:grpSp>
      <p:grpSp>
        <p:nvGrpSpPr>
          <p:cNvPr id="9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8" name="Rectangle 8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040892" y="6023610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波面是一个几何面，上面所有质点的相位一样但位移不一定为零；不要把波面和波形图上的零点混在一起。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波动的基本概念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四个物理量：周期由波源定，波速由介质定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graph-1"/>
          <p:cNvGrpSpPr/>
          <p:nvPr/>
        </p:nvGrpSpPr>
        <p:grpSpPr>
          <a:xfrm>
            <a:off x="707212" y="1568291"/>
            <a:ext cx="5436155" cy="3098483"/>
            <a:chOff x="707212" y="1568291"/>
            <a:chExt cx="5436155" cy="3098483"/>
          </a:xfrm>
        </p:grpSpPr>
        <p:sp>
          <p:nvSpPr>
            <p:cNvPr id="7" name="Freeform 7"/>
            <p:cNvSpPr/>
            <p:nvPr/>
          </p:nvSpPr>
          <p:spPr>
            <a:xfrm>
              <a:off x="990600" y="2125028"/>
              <a:ext cx="4936808" cy="2002155"/>
            </a:xfrm>
            <a:custGeom>
              <a:avLst/>
              <a:gdLst/>
              <a:ahLst/>
              <a:cxnLst/>
              <a:rect l="l" t="t" r="r" b="b"/>
              <a:pathLst>
                <a:path w="4936808" h="2002155">
                  <a:moveTo>
                    <a:pt x="0" y="982980"/>
                  </a:moveTo>
                  <a:lnTo>
                    <a:pt x="71438" y="803910"/>
                  </a:lnTo>
                  <a:lnTo>
                    <a:pt x="150495" y="617220"/>
                  </a:lnTo>
                  <a:lnTo>
                    <a:pt x="223838" y="443865"/>
                  </a:lnTo>
                  <a:lnTo>
                    <a:pt x="301942" y="293370"/>
                  </a:lnTo>
                  <a:lnTo>
                    <a:pt x="381000" y="169545"/>
                  </a:lnTo>
                  <a:lnTo>
                    <a:pt x="454342" y="76200"/>
                  </a:lnTo>
                  <a:lnTo>
                    <a:pt x="533400" y="20002"/>
                  </a:lnTo>
                  <a:lnTo>
                    <a:pt x="611505" y="0"/>
                  </a:lnTo>
                  <a:lnTo>
                    <a:pt x="690562" y="20002"/>
                  </a:lnTo>
                  <a:lnTo>
                    <a:pt x="769620" y="76200"/>
                  </a:lnTo>
                  <a:lnTo>
                    <a:pt x="842962" y="169545"/>
                  </a:lnTo>
                  <a:lnTo>
                    <a:pt x="921067" y="293370"/>
                  </a:lnTo>
                  <a:lnTo>
                    <a:pt x="1000125" y="443865"/>
                  </a:lnTo>
                  <a:lnTo>
                    <a:pt x="1073468" y="617220"/>
                  </a:lnTo>
                  <a:lnTo>
                    <a:pt x="1151572" y="803910"/>
                  </a:lnTo>
                  <a:lnTo>
                    <a:pt x="1230630" y="1001078"/>
                  </a:lnTo>
                  <a:lnTo>
                    <a:pt x="1309688" y="1197293"/>
                  </a:lnTo>
                  <a:lnTo>
                    <a:pt x="1388745" y="1383982"/>
                  </a:lnTo>
                  <a:lnTo>
                    <a:pt x="1461135" y="1558290"/>
                  </a:lnTo>
                  <a:lnTo>
                    <a:pt x="1540192" y="1707832"/>
                  </a:lnTo>
                  <a:lnTo>
                    <a:pt x="1619250" y="1831657"/>
                  </a:lnTo>
                  <a:lnTo>
                    <a:pt x="1692592" y="1925002"/>
                  </a:lnTo>
                  <a:lnTo>
                    <a:pt x="1770697" y="1982152"/>
                  </a:lnTo>
                  <a:lnTo>
                    <a:pt x="1849755" y="2002155"/>
                  </a:lnTo>
                  <a:lnTo>
                    <a:pt x="1928812" y="1982152"/>
                  </a:lnTo>
                  <a:lnTo>
                    <a:pt x="2006918" y="1925002"/>
                  </a:lnTo>
                  <a:lnTo>
                    <a:pt x="2080260" y="1831657"/>
                  </a:lnTo>
                  <a:lnTo>
                    <a:pt x="2159318" y="1707832"/>
                  </a:lnTo>
                  <a:lnTo>
                    <a:pt x="2238375" y="1558290"/>
                  </a:lnTo>
                  <a:lnTo>
                    <a:pt x="2310765" y="1383982"/>
                  </a:lnTo>
                  <a:lnTo>
                    <a:pt x="2389822" y="1197293"/>
                  </a:lnTo>
                  <a:lnTo>
                    <a:pt x="2468880" y="1001078"/>
                  </a:lnTo>
                  <a:lnTo>
                    <a:pt x="2546985" y="803910"/>
                  </a:lnTo>
                  <a:lnTo>
                    <a:pt x="2626042" y="617220"/>
                  </a:lnTo>
                  <a:lnTo>
                    <a:pt x="2699385" y="443865"/>
                  </a:lnTo>
                  <a:lnTo>
                    <a:pt x="2778442" y="293370"/>
                  </a:lnTo>
                  <a:lnTo>
                    <a:pt x="2856548" y="169545"/>
                  </a:lnTo>
                  <a:lnTo>
                    <a:pt x="2929890" y="76200"/>
                  </a:lnTo>
                  <a:lnTo>
                    <a:pt x="3008948" y="20002"/>
                  </a:lnTo>
                  <a:lnTo>
                    <a:pt x="3088005" y="0"/>
                  </a:lnTo>
                  <a:lnTo>
                    <a:pt x="3166110" y="20002"/>
                  </a:lnTo>
                  <a:lnTo>
                    <a:pt x="3245168" y="76200"/>
                  </a:lnTo>
                  <a:lnTo>
                    <a:pt x="3318510" y="169545"/>
                  </a:lnTo>
                  <a:lnTo>
                    <a:pt x="3396615" y="293370"/>
                  </a:lnTo>
                  <a:lnTo>
                    <a:pt x="3475672" y="443865"/>
                  </a:lnTo>
                  <a:lnTo>
                    <a:pt x="3549015" y="617220"/>
                  </a:lnTo>
                  <a:lnTo>
                    <a:pt x="3628072" y="803910"/>
                  </a:lnTo>
                  <a:lnTo>
                    <a:pt x="3706178" y="1001078"/>
                  </a:lnTo>
                  <a:lnTo>
                    <a:pt x="3785235" y="1197293"/>
                  </a:lnTo>
                  <a:lnTo>
                    <a:pt x="3864292" y="1383982"/>
                  </a:lnTo>
                  <a:lnTo>
                    <a:pt x="3937635" y="1558290"/>
                  </a:lnTo>
                  <a:lnTo>
                    <a:pt x="4015740" y="1707832"/>
                  </a:lnTo>
                  <a:lnTo>
                    <a:pt x="4094798" y="1831657"/>
                  </a:lnTo>
                  <a:lnTo>
                    <a:pt x="4168140" y="1925002"/>
                  </a:lnTo>
                  <a:lnTo>
                    <a:pt x="4246245" y="1982152"/>
                  </a:lnTo>
                  <a:lnTo>
                    <a:pt x="4325302" y="2002155"/>
                  </a:lnTo>
                  <a:lnTo>
                    <a:pt x="4404360" y="1982152"/>
                  </a:lnTo>
                  <a:lnTo>
                    <a:pt x="4483418" y="1925002"/>
                  </a:lnTo>
                  <a:lnTo>
                    <a:pt x="4555808" y="1831657"/>
                  </a:lnTo>
                  <a:lnTo>
                    <a:pt x="4634865" y="1707832"/>
                  </a:lnTo>
                  <a:lnTo>
                    <a:pt x="4713922" y="1558290"/>
                  </a:lnTo>
                  <a:lnTo>
                    <a:pt x="4787265" y="1383982"/>
                  </a:lnTo>
                  <a:lnTo>
                    <a:pt x="4865370" y="1197293"/>
                  </a:lnTo>
                  <a:lnTo>
                    <a:pt x="4936808" y="101822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77240" y="3126105"/>
              <a:ext cx="5161598" cy="9525"/>
            </a:xfrm>
            <a:custGeom>
              <a:avLst/>
              <a:gdLst/>
              <a:ahLst/>
              <a:cxnLst/>
              <a:rect l="l" t="t" r="r" b="b"/>
              <a:pathLst>
                <a:path w="5161598" h="9525">
                  <a:moveTo>
                    <a:pt x="0" y="0"/>
                  </a:moveTo>
                  <a:lnTo>
                    <a:pt x="516159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938838" y="30784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602105" y="1790700"/>
              <a:ext cx="2476500" cy="200977"/>
            </a:xfrm>
            <a:custGeom>
              <a:avLst/>
              <a:gdLst/>
              <a:ahLst/>
              <a:cxnLst/>
              <a:rect l="l" t="t" r="r" b="b"/>
              <a:pathLst>
                <a:path w="2476500" h="200977">
                  <a:moveTo>
                    <a:pt x="0" y="200977"/>
                  </a:moveTo>
                  <a:lnTo>
                    <a:pt x="0" y="0"/>
                  </a:lnTo>
                  <a:lnTo>
                    <a:pt x="2476500" y="0"/>
                  </a:lnTo>
                  <a:lnTo>
                    <a:pt x="2476500" y="200977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30980" y="19916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554480" y="199167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40355" y="3240405"/>
              <a:ext cx="9525" cy="772478"/>
            </a:xfrm>
            <a:custGeom>
              <a:avLst/>
              <a:gdLst/>
              <a:ahLst/>
              <a:cxnLst/>
              <a:rect l="l" t="t" r="r" b="b"/>
              <a:pathLst>
                <a:path w="9525" h="772478">
                  <a:moveTo>
                    <a:pt x="0" y="0"/>
                  </a:moveTo>
                  <a:lnTo>
                    <a:pt x="0" y="772478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92730" y="40128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92730" y="31451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974408" y="31165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925502" y="31165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748665" y="31165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573530" y="2096452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050030" y="2096452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830830" y="31165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830830" y="41176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63873" y="306990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67901" y="1568291"/>
              <a:ext cx="54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一个波长 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82363" y="4238149"/>
              <a:ext cx="32944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振幅 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7212" y="4504849"/>
              <a:ext cx="1003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某一时刻的波形曲线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ormula7"/>
              <p:cNvSpPr txBox="1">
                <a:spLocks noGrp="1"/>
              </p:cNvSpPr>
              <p:nvPr/>
            </p:nvSpPr>
            <p:spPr>
              <a:xfrm>
                <a:off x="533400" y="5025390"/>
                <a:ext cx="5626418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uT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ν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λν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53" name="c2-table-1"/>
          <p:cNvGrpSpPr/>
          <p:nvPr/>
        </p:nvGrpSpPr>
        <p:grpSpPr>
          <a:xfrm>
            <a:off x="6464618" y="1524000"/>
            <a:ext cx="5193982" cy="1906905"/>
            <a:chOff x="6464618" y="1524000"/>
            <a:chExt cx="5193982" cy="1906905"/>
          </a:xfrm>
        </p:grpSpPr>
        <p:sp>
          <p:nvSpPr>
            <p:cNvPr id="29" name="Rectangle 29"/>
            <p:cNvSpPr/>
            <p:nvPr/>
          </p:nvSpPr>
          <p:spPr>
            <a:xfrm>
              <a:off x="6464618" y="1524000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907721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37295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1469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59296" y="202311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波长 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98474" y="202311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振动在一个周期内传播的距离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58844" y="2023110"/>
              <a:ext cx="1166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2282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228695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9296" y="240411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周期 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98474" y="240411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一个完整的波通过波线上某点所需的时间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58844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26631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9296" y="2785110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 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98474" y="2785110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单位时间内通过某点的完整波的数目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58844" y="2785110"/>
              <a:ext cx="170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Hz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04514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304990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9296" y="3167062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波速 u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98474" y="316706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振动状态（相位）在单位时间内传播的距离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558844" y="3167062"/>
              <a:ext cx="427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m·s⁻¹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1524000"/>
              <a:ext cx="519398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49903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459402" y="1524000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rd-2"/>
          <p:cNvGrpSpPr/>
          <p:nvPr/>
        </p:nvGrpSpPr>
        <p:grpSpPr>
          <a:xfrm>
            <a:off x="6464618" y="3595688"/>
            <a:ext cx="5193982" cy="1756410"/>
            <a:chOff x="6464618" y="3595688"/>
            <a:chExt cx="5193982" cy="1756410"/>
          </a:xfrm>
        </p:grpSpPr>
        <p:sp>
          <p:nvSpPr>
            <p:cNvPr id="54" name="Rectangle 54"/>
            <p:cNvSpPr/>
            <p:nvPr/>
          </p:nvSpPr>
          <p:spPr>
            <a:xfrm>
              <a:off x="6464618" y="3595688"/>
              <a:ext cx="5193982" cy="1756410"/>
            </a:xfrm>
            <a:prstGeom prst="roundRect">
              <a:avLst>
                <a:gd name="adj" fmla="val 75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645592" y="3776662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15862" y="38095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四条要记住的结论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645592" y="410527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7499" y="414089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16293" y="4117181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周期和频率由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波源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决定，跟介质没关系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645592" y="43910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97499" y="44256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16293" y="4401979"/>
              <a:ext cx="3045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波速由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介质的性质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决定，跟波源没关系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645592" y="467582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97499" y="47114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16293" y="468677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同一类波在同一介质中波速相同，与频率无关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645592" y="496062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97499" y="499624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16293" y="4971574"/>
              <a:ext cx="3924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波进入另一种介质时频率不变，u 变了，λ 就跟着变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70" name="Rectangle 70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26129" y="5907523"/>
              <a:ext cx="224134" cy="192560"/>
              <a:chOff x="726129" y="5907523"/>
              <a:chExt cx="224134" cy="192560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838200" y="597789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26129" y="590752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60556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1273" y="5805011"/>
              <a:ext cx="97665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u 是振动状态往前推进的速度，由介质定；质元自己的振动速度是 v = ∂y/∂t，最大值 Aω，两者没有任何关系，数值上也常差好几个数量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级。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6419" cy="909257"/>
            <a:chOff x="520446" y="342900"/>
            <a:chExt cx="6456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波动的基本概念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6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例3.1　波长、落后时间与质点的最大速度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869180" cy="1918335"/>
            <a:chOff x="533400" y="1524000"/>
            <a:chExt cx="4869180" cy="19183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918335"/>
            </a:xfrm>
            <a:prstGeom prst="roundRect">
              <a:avLst>
                <a:gd name="adj" fmla="val 6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516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0444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机械波 ν = 3000 Hz，以 u = 1560 m·s⁻¹ 由 A 传到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B，两点相距 Δx = 0.13 m，振幅 A = 1 cm。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41744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B 点振动落后 A 点的时间；(2) A、B 相当于几个波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长；(3) 质点振动速度的最大值。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3097530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原课件例3.1。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607118"/>
            <a:ext cx="4869180" cy="1957388"/>
            <a:chOff x="533400" y="3607118"/>
            <a:chExt cx="4869180" cy="1957388"/>
          </a:xfrm>
        </p:grpSpPr>
        <p:sp>
          <p:nvSpPr>
            <p:cNvPr id="15" name="Rectangle 15"/>
            <p:cNvSpPr/>
            <p:nvPr/>
          </p:nvSpPr>
          <p:spPr>
            <a:xfrm>
              <a:off x="533400" y="3607118"/>
              <a:ext cx="4869180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40468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7880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8209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41805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4127659"/>
              <a:ext cx="39794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 m 恰好是 0.52 m 的四分之一，落后时间也恰好是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T/4，两条路径自洽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47082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4656296"/>
              <a:ext cx="3061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量纲：Aω 的单位是 m·s⁻¹，与结果相符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49930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4941094"/>
              <a:ext cx="4003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质点最大速度 188 m·s⁻¹ 与波速 1560 m·s⁻¹ 不是一回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事，差一个量级属正常</a:t>
              </a:r>
            </a:p>
          </p:txBody>
        </p:sp>
      </p:grpSp>
      <p:grpSp>
        <p:nvGrpSpPr>
          <p:cNvPr id="47" name="c2-steps-1"/>
          <p:cNvGrpSpPr/>
          <p:nvPr/>
        </p:nvGrpSpPr>
        <p:grpSpPr>
          <a:xfrm>
            <a:off x="5707380" y="1533525"/>
            <a:ext cx="4192238" cy="2702814"/>
            <a:chOff x="5707380" y="1533525"/>
            <a:chExt cx="4192238" cy="2702814"/>
          </a:xfrm>
        </p:grpSpPr>
        <p:sp>
          <p:nvSpPr>
            <p:cNvPr id="26" name="Rectangle 26"/>
            <p:cNvSpPr/>
            <p:nvPr/>
          </p:nvSpPr>
          <p:spPr>
            <a:xfrm>
              <a:off x="5840730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70738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0100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70738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0100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70738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0100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707380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01004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15644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先算周期和波长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1146" y="1818322"/>
              <a:ext cx="33554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1/ν = 1/3000 s；λ = u/ν = 1560/3000 = 0.52 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0003" y="2116931"/>
              <a:ext cx="23970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落后时间就是波走过 Δx 的时间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21146" y="2371725"/>
              <a:ext cx="34797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Δt = Δx/u = 0.13/1560 s = 1/12000 s ≈ 8.33×10⁻⁵ 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20003" y="26703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换算成周期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21146" y="2925128"/>
              <a:ext cx="37784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Δt/T = (1/12000)/(1/3000) = 1/4，落后四分之一个周期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0003" y="322278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换算成波长个数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21146" y="3477578"/>
              <a:ext cx="2598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Δx/λ = 0.13/0.52 = 1/4，与上一步一致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20003" y="37761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质点最大速度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21146" y="4030980"/>
              <a:ext cx="26539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vm = Aω = 0.01 × 2π × 3000 ≈ 188 m·s⁻¹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5707380" y="4397692"/>
            <a:ext cx="5951220" cy="1165860"/>
            <a:chOff x="5707380" y="4397692"/>
            <a:chExt cx="5951220" cy="1165860"/>
          </a:xfrm>
        </p:grpSpPr>
        <p:sp>
          <p:nvSpPr>
            <p:cNvPr id="48" name="Rectangle 48"/>
            <p:cNvSpPr/>
            <p:nvPr/>
          </p:nvSpPr>
          <p:spPr>
            <a:xfrm>
              <a:off x="5707380" y="4397692"/>
              <a:ext cx="5951220" cy="1165860"/>
            </a:xfrm>
            <a:prstGeom prst="roundRect">
              <a:avLst>
                <a:gd name="adj" fmla="val 11438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88355" y="45786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84126" y="46115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881878" y="4919186"/>
              <a:ext cx="52067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(1) Δt = 1/12000 s ≈ 8.33×10⁻⁵ s，即 T/4；(2) 相当于 λ/4；(3) vm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≈ 188 m·s⁻¹。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3" name="Rectangle 5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7373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变式：若问 B 点比 A 点相位落后多少，用 Δφ = −2πΔx/λ = −π/2，与落后 T/4 说的是同一件事。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398264" cy="3351847"/>
            <a:chOff x="667512" y="1835468"/>
            <a:chExt cx="439826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平面简谐波的波函数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038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3.2，本章分值最集中的一节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波函数怎么推出来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四种等价写法与传播方向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波形图与振动图的读法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六道完整例题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53832" cy="909257"/>
            <a:chOff x="520446" y="342900"/>
            <a:chExt cx="78538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538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波函数的推导：B 点重复 O 点 x/u 之前做过的振动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557141" cy="264033"/>
            <a:chOff x="526542" y="1545907"/>
            <a:chExt cx="455714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波面是平面、各质元都做简谐振动的波，叫平面简谐波。</a:t>
              </a:r>
            </a:p>
          </p:txBody>
        </p:sp>
      </p:grpSp>
      <p:grpSp>
        <p:nvGrpSpPr>
          <p:cNvPr id="34" name="c1-graph-1"/>
          <p:cNvGrpSpPr/>
          <p:nvPr/>
        </p:nvGrpSpPr>
        <p:grpSpPr>
          <a:xfrm>
            <a:off x="740092" y="2070735"/>
            <a:ext cx="5188963" cy="2814637"/>
            <a:chOff x="740092" y="2070735"/>
            <a:chExt cx="5188963" cy="2814637"/>
          </a:xfrm>
        </p:grpSpPr>
        <p:sp>
          <p:nvSpPr>
            <p:cNvPr id="9" name="Freeform 9"/>
            <p:cNvSpPr/>
            <p:nvPr/>
          </p:nvSpPr>
          <p:spPr>
            <a:xfrm>
              <a:off x="973455" y="2524125"/>
              <a:ext cx="4747260" cy="1983105"/>
            </a:xfrm>
            <a:custGeom>
              <a:avLst/>
              <a:gdLst/>
              <a:ahLst/>
              <a:cxnLst/>
              <a:rect l="l" t="t" r="r" b="b"/>
              <a:pathLst>
                <a:path w="4747260" h="1983105">
                  <a:moveTo>
                    <a:pt x="0" y="973455"/>
                  </a:moveTo>
                  <a:lnTo>
                    <a:pt x="68580" y="796290"/>
                  </a:lnTo>
                  <a:lnTo>
                    <a:pt x="143827" y="611505"/>
                  </a:lnTo>
                  <a:lnTo>
                    <a:pt x="214312" y="439103"/>
                  </a:lnTo>
                  <a:lnTo>
                    <a:pt x="290512" y="290512"/>
                  </a:lnTo>
                  <a:lnTo>
                    <a:pt x="365760" y="168592"/>
                  </a:lnTo>
                  <a:lnTo>
                    <a:pt x="436245" y="75247"/>
                  </a:lnTo>
                  <a:lnTo>
                    <a:pt x="512445" y="19050"/>
                  </a:lnTo>
                  <a:lnTo>
                    <a:pt x="587692" y="0"/>
                  </a:lnTo>
                  <a:lnTo>
                    <a:pt x="663892" y="19050"/>
                  </a:lnTo>
                  <a:lnTo>
                    <a:pt x="739140" y="75247"/>
                  </a:lnTo>
                  <a:lnTo>
                    <a:pt x="809625" y="168592"/>
                  </a:lnTo>
                  <a:lnTo>
                    <a:pt x="885825" y="290512"/>
                  </a:lnTo>
                  <a:lnTo>
                    <a:pt x="961072" y="439103"/>
                  </a:lnTo>
                  <a:lnTo>
                    <a:pt x="1031558" y="611505"/>
                  </a:lnTo>
                  <a:lnTo>
                    <a:pt x="1106805" y="796290"/>
                  </a:lnTo>
                  <a:lnTo>
                    <a:pt x="1183005" y="991553"/>
                  </a:lnTo>
                  <a:lnTo>
                    <a:pt x="1259205" y="1186815"/>
                  </a:lnTo>
                  <a:lnTo>
                    <a:pt x="1334453" y="1371600"/>
                  </a:lnTo>
                  <a:lnTo>
                    <a:pt x="1404938" y="1544003"/>
                  </a:lnTo>
                  <a:lnTo>
                    <a:pt x="1480185" y="1692592"/>
                  </a:lnTo>
                  <a:lnTo>
                    <a:pt x="1556385" y="1814512"/>
                  </a:lnTo>
                  <a:lnTo>
                    <a:pt x="1626870" y="1906905"/>
                  </a:lnTo>
                  <a:lnTo>
                    <a:pt x="1702118" y="1963103"/>
                  </a:lnTo>
                  <a:lnTo>
                    <a:pt x="1778318" y="1983105"/>
                  </a:lnTo>
                  <a:lnTo>
                    <a:pt x="1853565" y="1963103"/>
                  </a:lnTo>
                  <a:lnTo>
                    <a:pt x="1929765" y="1906905"/>
                  </a:lnTo>
                  <a:lnTo>
                    <a:pt x="2000250" y="1814512"/>
                  </a:lnTo>
                  <a:lnTo>
                    <a:pt x="2075498" y="1692592"/>
                  </a:lnTo>
                  <a:lnTo>
                    <a:pt x="2151698" y="1544003"/>
                  </a:lnTo>
                  <a:lnTo>
                    <a:pt x="2222182" y="1371600"/>
                  </a:lnTo>
                  <a:lnTo>
                    <a:pt x="2297430" y="1186815"/>
                  </a:lnTo>
                  <a:lnTo>
                    <a:pt x="2373630" y="991553"/>
                  </a:lnTo>
                  <a:lnTo>
                    <a:pt x="2448878" y="796290"/>
                  </a:lnTo>
                  <a:lnTo>
                    <a:pt x="2525078" y="611505"/>
                  </a:lnTo>
                  <a:lnTo>
                    <a:pt x="2594610" y="439103"/>
                  </a:lnTo>
                  <a:lnTo>
                    <a:pt x="2670810" y="290512"/>
                  </a:lnTo>
                  <a:lnTo>
                    <a:pt x="2747010" y="168592"/>
                  </a:lnTo>
                  <a:lnTo>
                    <a:pt x="2816542" y="75247"/>
                  </a:lnTo>
                  <a:lnTo>
                    <a:pt x="2892742" y="19050"/>
                  </a:lnTo>
                  <a:lnTo>
                    <a:pt x="2967990" y="0"/>
                  </a:lnTo>
                  <a:lnTo>
                    <a:pt x="3044190" y="19050"/>
                  </a:lnTo>
                  <a:lnTo>
                    <a:pt x="3119438" y="75247"/>
                  </a:lnTo>
                  <a:lnTo>
                    <a:pt x="3189923" y="168592"/>
                  </a:lnTo>
                  <a:lnTo>
                    <a:pt x="3266123" y="290512"/>
                  </a:lnTo>
                  <a:lnTo>
                    <a:pt x="3341370" y="439103"/>
                  </a:lnTo>
                  <a:lnTo>
                    <a:pt x="3411855" y="611505"/>
                  </a:lnTo>
                  <a:lnTo>
                    <a:pt x="3488055" y="796290"/>
                  </a:lnTo>
                  <a:lnTo>
                    <a:pt x="3563302" y="991553"/>
                  </a:lnTo>
                  <a:lnTo>
                    <a:pt x="3639502" y="1186815"/>
                  </a:lnTo>
                  <a:lnTo>
                    <a:pt x="3714750" y="1371600"/>
                  </a:lnTo>
                  <a:lnTo>
                    <a:pt x="3785235" y="1544003"/>
                  </a:lnTo>
                  <a:lnTo>
                    <a:pt x="3861435" y="1692592"/>
                  </a:lnTo>
                  <a:lnTo>
                    <a:pt x="3936682" y="1814512"/>
                  </a:lnTo>
                  <a:lnTo>
                    <a:pt x="4007168" y="1906905"/>
                  </a:lnTo>
                  <a:lnTo>
                    <a:pt x="4082415" y="1963103"/>
                  </a:lnTo>
                  <a:lnTo>
                    <a:pt x="4158615" y="1983105"/>
                  </a:lnTo>
                  <a:lnTo>
                    <a:pt x="4234815" y="1963103"/>
                  </a:lnTo>
                  <a:lnTo>
                    <a:pt x="4310063" y="1906905"/>
                  </a:lnTo>
                  <a:lnTo>
                    <a:pt x="4380548" y="1814512"/>
                  </a:lnTo>
                  <a:lnTo>
                    <a:pt x="4455795" y="1692592"/>
                  </a:lnTo>
                  <a:lnTo>
                    <a:pt x="4531995" y="1544003"/>
                  </a:lnTo>
                  <a:lnTo>
                    <a:pt x="4602480" y="1371600"/>
                  </a:lnTo>
                  <a:lnTo>
                    <a:pt x="4677728" y="1186815"/>
                  </a:lnTo>
                  <a:lnTo>
                    <a:pt x="4747260" y="10096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68668" y="3515678"/>
              <a:ext cx="4955858" cy="9525"/>
            </a:xfrm>
            <a:custGeom>
              <a:avLst/>
              <a:gdLst/>
              <a:ahLst/>
              <a:cxnLst/>
              <a:rect l="l" t="t" r="r" b="b"/>
              <a:pathLst>
                <a:path w="4955858" h="9525">
                  <a:moveTo>
                    <a:pt x="0" y="0"/>
                  </a:moveTo>
                  <a:lnTo>
                    <a:pt x="495585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724525" y="34680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965835" y="2313622"/>
              <a:ext cx="9525" cy="2505075"/>
            </a:xfrm>
            <a:custGeom>
              <a:avLst/>
              <a:gdLst/>
              <a:ahLst/>
              <a:cxnLst/>
              <a:rect l="l" t="t" r="r" b="b"/>
              <a:pathLst>
                <a:path w="9525" h="2505075">
                  <a:moveTo>
                    <a:pt x="0" y="250507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918210" y="221837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941445" y="2571750"/>
              <a:ext cx="9525" cy="924878"/>
            </a:xfrm>
            <a:custGeom>
              <a:avLst/>
              <a:gdLst/>
              <a:ahLst/>
              <a:cxnLst/>
              <a:rect l="l" t="t" r="r" b="b"/>
              <a:pathLst>
                <a:path w="9525" h="924878">
                  <a:moveTo>
                    <a:pt x="0" y="0"/>
                  </a:moveTo>
                  <a:lnTo>
                    <a:pt x="0" y="92487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965835" y="3629978"/>
              <a:ext cx="2975610" cy="281940"/>
            </a:xfrm>
            <a:custGeom>
              <a:avLst/>
              <a:gdLst/>
              <a:ahLst/>
              <a:cxnLst/>
              <a:rect l="l" t="t" r="r" b="b"/>
              <a:pathLst>
                <a:path w="2975610" h="281940">
                  <a:moveTo>
                    <a:pt x="0" y="0"/>
                  </a:moveTo>
                  <a:lnTo>
                    <a:pt x="0" y="281940"/>
                  </a:lnTo>
                  <a:lnTo>
                    <a:pt x="2975610" y="281940"/>
                  </a:lnTo>
                  <a:lnTo>
                    <a:pt x="297561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93820" y="35347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918210" y="35347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907155" y="4837748"/>
              <a:ext cx="1272540" cy="9525"/>
            </a:xfrm>
            <a:custGeom>
              <a:avLst/>
              <a:gdLst/>
              <a:ahLst/>
              <a:cxnLst/>
              <a:rect l="l" t="t" r="r" b="b"/>
              <a:pathLst>
                <a:path w="1272540" h="9525">
                  <a:moveTo>
                    <a:pt x="0" y="0"/>
                  </a:moveTo>
                  <a:lnTo>
                    <a:pt x="127254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179695" y="47901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56310" y="35061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717858" y="35061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40092" y="35061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56310" y="48282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903345" y="248602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3931920" y="35061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878580" y="48282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284470" y="482822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49561" y="34594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6088" y="20707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409" y="3658076"/>
              <a:ext cx="970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67485" y="2235994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91851" y="40219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55931" y="451723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20"/>
              <p:cNvSpPr txBox="1">
                <a:spLocks noGrp="1"/>
              </p:cNvSpPr>
              <p:nvPr/>
            </p:nvSpPr>
            <p:spPr>
              <a:xfrm>
                <a:off x="533400" y="5399722"/>
                <a:ext cx="54102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O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ωt</m:t>
                              </m:r>
                              <m:r>
                                <m:rPr>
                                  <m:sty m:val="p"/>
                                </m:rP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49" name="c2-card-1"/>
          <p:cNvGrpSpPr/>
          <p:nvPr/>
        </p:nvGrpSpPr>
        <p:grpSpPr>
          <a:xfrm>
            <a:off x="6248400" y="1928812"/>
            <a:ext cx="5410200" cy="1471612"/>
            <a:chOff x="6248400" y="1928812"/>
            <a:chExt cx="5410200" cy="1471612"/>
          </a:xfrm>
        </p:grpSpPr>
        <p:sp>
          <p:nvSpPr>
            <p:cNvPr id="36" name="Rectangle 36"/>
            <p:cNvSpPr/>
            <p:nvPr/>
          </p:nvSpPr>
          <p:spPr>
            <a:xfrm>
              <a:off x="6248400" y="1928812"/>
              <a:ext cx="5410200" cy="1471612"/>
            </a:xfrm>
            <a:prstGeom prst="roundRect">
              <a:avLst>
                <a:gd name="adj" fmla="val 90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2062162"/>
              <a:ext cx="47625" cy="120491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7475" y="210978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37744" y="21426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三句话推出波函数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467475" y="243840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19382" y="247402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37223" y="2449354"/>
              <a:ext cx="2406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波从 O 传到 B 要用 x/u 的时间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67475" y="272319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19382" y="275882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37223" y="2735104"/>
              <a:ext cx="4620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 B 点在 t 时刻的位移，等于 O 点在 t − x/u 时刻的位移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67475" y="300894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9382" y="304361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37223" y="3019901"/>
              <a:ext cx="4583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O 点振动方程里的 t 换成 t − x/u 就得到任意一点的振动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21"/>
              <p:cNvSpPr txBox="1">
                <a:spLocks noGrp="1"/>
              </p:cNvSpPr>
              <p:nvPr/>
            </p:nvSpPr>
            <p:spPr>
              <a:xfrm>
                <a:off x="6248400" y="3564255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num>
                                    <m:den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56" name="c2-callout-3"/>
          <p:cNvGrpSpPr/>
          <p:nvPr/>
        </p:nvGrpSpPr>
        <p:grpSpPr>
          <a:xfrm>
            <a:off x="6248400" y="4191952"/>
            <a:ext cx="5410200" cy="937260"/>
            <a:chOff x="6248400" y="4191952"/>
            <a:chExt cx="5410200" cy="937260"/>
          </a:xfrm>
        </p:grpSpPr>
        <p:sp>
          <p:nvSpPr>
            <p:cNvPr id="51" name="Rectangle 51"/>
            <p:cNvSpPr/>
            <p:nvPr/>
          </p:nvSpPr>
          <p:spPr>
            <a:xfrm>
              <a:off x="6248400" y="4191952"/>
              <a:ext cx="5410200" cy="937260"/>
            </a:xfrm>
            <a:prstGeom prst="roundRect">
              <a:avLst>
                <a:gd name="adj" fmla="val 12195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453188" y="4561525"/>
              <a:ext cx="200023" cy="200023"/>
              <a:chOff x="6453188" y="456152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453188" y="45615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86538" y="46281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756273" y="4337209"/>
              <a:ext cx="445084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方括号里的 ω(t − x/u) + φ 叫波的相位。它同时含 t 和 x，说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明相位既随时间推移，也随位置往后推，波的传播就是相位的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传播。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7" name="Rectangle 5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1273" y="6039326"/>
              <a:ext cx="105240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波动是集体表现，各质点同一时刻的位移并不相同；波函数做的事，就是用一个质点的振动方程加上一个延迟，代替所有质点的振动方程。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波函数的四种等价写法，换来换去只是换单位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32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num>
                                    <m:den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33"/>
              <p:cNvSpPr txBox="1">
                <a:spLocks noGrp="1"/>
              </p:cNvSpPr>
              <p:nvPr/>
            </p:nvSpPr>
            <p:spPr>
              <a:xfrm>
                <a:off x="533400" y="2172652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num>
                                    <m:den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T</m:t>
                                      </m:r>
                                    </m:den>
                                  </m:f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num>
                                    <m:den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λ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4"/>
              <p:cNvSpPr txBox="1">
                <a:spLocks noGrp="1"/>
              </p:cNvSpPr>
              <p:nvPr/>
            </p:nvSpPr>
            <p:spPr>
              <a:xfrm>
                <a:off x="533400" y="2820352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νt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num>
                                    <m:den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λ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35"/>
              <p:cNvSpPr txBox="1">
                <a:spLocks noGrp="1"/>
              </p:cNvSpPr>
              <p:nvPr/>
            </p:nvSpPr>
            <p:spPr>
              <a:xfrm>
                <a:off x="533400" y="3469005"/>
                <a:ext cx="5410200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2π</m:t>
                                  </m:r>
                                </m:num>
                                <m:den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den>
                              </m:f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ut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16" name="c1-card-5"/>
          <p:cNvGrpSpPr/>
          <p:nvPr/>
        </p:nvGrpSpPr>
        <p:grpSpPr>
          <a:xfrm>
            <a:off x="533400" y="4116705"/>
            <a:ext cx="5410200" cy="1545908"/>
            <a:chOff x="533400" y="4116705"/>
            <a:chExt cx="5410200" cy="1545908"/>
          </a:xfrm>
        </p:grpSpPr>
        <p:sp>
          <p:nvSpPr>
            <p:cNvPr id="11" name="Rectangle 11"/>
            <p:cNvSpPr/>
            <p:nvPr/>
          </p:nvSpPr>
          <p:spPr>
            <a:xfrm>
              <a:off x="533400" y="4116705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250055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75335" y="432054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7644" y="435625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用哪一个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8096" y="4694396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题目给 u 就用第一式，给 T 和 λ 用第二式，给 ν 用第三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式。四式完全等价，只是把同一个延迟量分别用时间、周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期、频率、波长表达。</a:t>
              </a:r>
            </a:p>
          </p:txBody>
        </p:sp>
      </p:grpSp>
      <p:grpSp>
        <p:nvGrpSpPr>
          <p:cNvPr id="21" name="c2-card-1"/>
          <p:cNvGrpSpPr/>
          <p:nvPr/>
        </p:nvGrpSpPr>
        <p:grpSpPr>
          <a:xfrm>
            <a:off x="6248400" y="1524000"/>
            <a:ext cx="5410200" cy="1274445"/>
            <a:chOff x="6248400" y="1524000"/>
            <a:chExt cx="5410200" cy="127444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452235" y="1727835"/>
              <a:ext cx="123444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20387" y="1763554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沿 x 负方向传播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4996" y="210073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这时 B 点比 O 点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超前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x/u 的时间，把减号换成加号即可，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其余一模一样。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formula36"/>
              <p:cNvSpPr txBox="1">
                <a:spLocks noGrp="1"/>
              </p:cNvSpPr>
              <p:nvPr/>
            </p:nvSpPr>
            <p:spPr>
              <a:xfrm>
                <a:off x="6248400" y="2984182"/>
                <a:ext cx="5410200" cy="4886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4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x</m:t>
                                      </m:r>
                                    </m:num>
                                    <m:den>
                                      <m:r>
                                        <a:rPr lang="zh-CN" sz="14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2" name="c2-card-3"/>
          <p:cNvGrpSpPr/>
          <p:nvPr/>
        </p:nvGrpSpPr>
        <p:grpSpPr>
          <a:xfrm>
            <a:off x="6248400" y="3658552"/>
            <a:ext cx="5410200" cy="2005012"/>
            <a:chOff x="6248400" y="3658552"/>
            <a:chExt cx="5410200" cy="2005012"/>
          </a:xfrm>
        </p:grpSpPr>
        <p:sp>
          <p:nvSpPr>
            <p:cNvPr id="23" name="Rectangle 23"/>
            <p:cNvSpPr/>
            <p:nvPr/>
          </p:nvSpPr>
          <p:spPr>
            <a:xfrm>
              <a:off x="6248400" y="3658552"/>
              <a:ext cx="5410200" cy="2005012"/>
            </a:xfrm>
            <a:prstGeom prst="roundRect">
              <a:avLst>
                <a:gd name="adj" fmla="val 66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57925" y="3791902"/>
              <a:ext cx="47625" cy="173831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0335" y="3862388"/>
              <a:ext cx="151923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49635" y="389810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符号由 u 的方向决定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97955" y="429482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4546" y="4235291"/>
              <a:ext cx="3949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沿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正向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传播取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减号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，沿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 负向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传播取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加号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7955" y="4614862"/>
              <a:ext cx="60960" cy="6096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4546" y="4555331"/>
              <a:ext cx="46310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记法：波先经过的点相位超前，减号表示 x 越大越落后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4239" y="4871085"/>
              <a:ext cx="47213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若原点就是波源、波同时向两侧传，用 y = A cos[ω(t − |x|/u) + φ]，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一个式子管住左右两边。</a:t>
              </a:r>
            </a:p>
          </p:txBody>
        </p:sp>
      </p:grpSp>
      <p:grpSp>
        <p:nvGrpSpPr>
          <p:cNvPr id="38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3" name="Rectangle 33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511" y="6004084"/>
              <a:ext cx="101387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考试里看到 y = A cos(ωt − kx + φ) 这种写法，k = 2π/λ 叫角波数；由 ω 和 k 立刻得到 u = ω/k、λ = 2π/k、ν = ω/2π。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波线上两点的相位差只由它们的间距决定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861060" y="1794986"/>
            <a:ext cx="5169912" cy="2931795"/>
            <a:chOff x="861060" y="1794986"/>
            <a:chExt cx="5169912" cy="2931795"/>
          </a:xfrm>
        </p:grpSpPr>
        <p:sp>
          <p:nvSpPr>
            <p:cNvPr id="7" name="Freeform 7"/>
            <p:cNvSpPr/>
            <p:nvPr/>
          </p:nvSpPr>
          <p:spPr>
            <a:xfrm>
              <a:off x="889635" y="3394710"/>
              <a:ext cx="4936808" cy="9525"/>
            </a:xfrm>
            <a:custGeom>
              <a:avLst/>
              <a:gdLst/>
              <a:ahLst/>
              <a:cxnLst/>
              <a:rect l="l" t="t" r="r" b="b"/>
              <a:pathLst>
                <a:path w="4936808" h="9525">
                  <a:moveTo>
                    <a:pt x="0" y="0"/>
                  </a:moveTo>
                  <a:lnTo>
                    <a:pt x="493680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826442" y="33470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815715" y="2171700"/>
              <a:ext cx="1442085" cy="9525"/>
            </a:xfrm>
            <a:custGeom>
              <a:avLst/>
              <a:gdLst/>
              <a:ahLst/>
              <a:cxnLst/>
              <a:rect l="l" t="t" r="r" b="b"/>
              <a:pathLst>
                <a:path w="1442085" h="9525">
                  <a:moveTo>
                    <a:pt x="0" y="0"/>
                  </a:moveTo>
                  <a:lnTo>
                    <a:pt x="144208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257800" y="21240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21230" y="3451860"/>
              <a:ext cx="9525" cy="715328"/>
            </a:xfrm>
            <a:custGeom>
              <a:avLst/>
              <a:gdLst/>
              <a:ahLst/>
              <a:cxnLst/>
              <a:rect l="l" t="t" r="r" b="b"/>
              <a:pathLst>
                <a:path w="9525" h="715328">
                  <a:moveTo>
                    <a:pt x="0" y="0"/>
                  </a:moveTo>
                  <a:lnTo>
                    <a:pt x="0" y="71532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4247198" y="3451860"/>
              <a:ext cx="9525" cy="715328"/>
            </a:xfrm>
            <a:custGeom>
              <a:avLst/>
              <a:gdLst/>
              <a:ahLst/>
              <a:cxnLst/>
              <a:rect l="l" t="t" r="r" b="b"/>
              <a:pathLst>
                <a:path w="9525" h="715328">
                  <a:moveTo>
                    <a:pt x="0" y="0"/>
                  </a:moveTo>
                  <a:lnTo>
                    <a:pt x="0" y="715328"/>
                  </a:lnTo>
                </a:path>
              </a:pathLst>
            </a:custGeom>
            <a:noFill/>
            <a:ln w="17145">
              <a:solidFill>
                <a:srgbClr val="5B6475"/>
              </a:solidFill>
              <a:custDash>
                <a:ds d="333333" sp="222222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335530" y="4186238"/>
              <a:ext cx="1797368" cy="9525"/>
            </a:xfrm>
            <a:custGeom>
              <a:avLst/>
              <a:gdLst/>
              <a:ahLst/>
              <a:cxnLst/>
              <a:rect l="l" t="t" r="r" b="b"/>
              <a:pathLst>
                <a:path w="1797368" h="9525">
                  <a:moveTo>
                    <a:pt x="0" y="0"/>
                  </a:moveTo>
                  <a:lnTo>
                    <a:pt x="1797368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32898" y="41386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240280" y="41386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861060" y="33851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2173605" y="334708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199572" y="334708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2211705" y="41767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237672" y="41767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787140" y="21621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362575" y="21621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51478" y="333851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30964" y="370093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06511" y="3700939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15514" y="4564856"/>
              <a:ext cx="6364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Δx = x₂ − x₁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49263" y="17949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19061" y="2621756"/>
              <a:ext cx="11299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 u 方向相位依次落后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43"/>
              <p:cNvSpPr txBox="1">
                <a:spLocks noGrp="1"/>
              </p:cNvSpPr>
              <p:nvPr/>
            </p:nvSpPr>
            <p:spPr>
              <a:xfrm>
                <a:off x="533400" y="5286375"/>
                <a:ext cx="5626418" cy="4371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b>
                              <m:r>
                                <a:rPr lang="zh-CN" sz="12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=−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Δ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rd-1"/>
          <p:cNvGrpSpPr/>
          <p:nvPr/>
        </p:nvGrpSpPr>
        <p:grpSpPr>
          <a:xfrm>
            <a:off x="6464618" y="1524000"/>
            <a:ext cx="5193982" cy="1717358"/>
            <a:chOff x="6464618" y="1524000"/>
            <a:chExt cx="5193982" cy="1717358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1717358"/>
            </a:xfrm>
            <a:prstGeom prst="roundRect">
              <a:avLst>
                <a:gd name="adj" fmla="val 776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45592" y="1704975"/>
              <a:ext cx="157829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04660" y="173783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三种说法其实是同一件事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655118" y="2097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10566" y="2045494"/>
              <a:ext cx="17115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时间上落后 Δt = Δx/u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655118" y="238220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10566" y="2330291"/>
              <a:ext cx="24941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相位上落后 Δφ 的大小为 2πΔx/λ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55118" y="266795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10566" y="2615089"/>
              <a:ext cx="1811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空间上相差一段波程 Δx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40259" y="2896552"/>
              <a:ext cx="47966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三者的桥梁是 λ = uT：走一个波长就落后一个周期，也就是落后 2π 的相位。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6464618" y="3406140"/>
            <a:ext cx="5193982" cy="2093595"/>
            <a:chOff x="6464618" y="3406140"/>
            <a:chExt cx="5193982" cy="2093595"/>
          </a:xfrm>
        </p:grpSpPr>
        <p:sp>
          <p:nvSpPr>
            <p:cNvPr id="42" name="Rectangle 42"/>
            <p:cNvSpPr/>
            <p:nvPr/>
          </p:nvSpPr>
          <p:spPr>
            <a:xfrm>
              <a:off x="6464618" y="3406140"/>
              <a:ext cx="5193982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55727" y="35232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两点间距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43341" y="352329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相位差大小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31386" y="35232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振动关系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59296" y="39052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17586" y="390525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75876" y="39052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完全同相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64618" y="41643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464618" y="416909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59296" y="428625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λ/2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17586" y="42862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9590722" y="4178618"/>
              <a:ext cx="205835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75876" y="42862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完全反相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464618" y="454533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59296" y="4760595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17586" y="4760595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π/2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75876" y="4667250"/>
              <a:ext cx="17442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一点到达峰值时另一点过平衡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511397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4618" y="511873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9296" y="52358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kλ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17586" y="523589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2kπ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75876" y="523589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同相，振动状态完全一样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64618" y="3406140"/>
              <a:ext cx="5193982" cy="20935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8018145" y="340614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576435" y="3406140"/>
              <a:ext cx="9525" cy="20935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8" name="Rectangle 6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6039326"/>
              <a:ext cx="101638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Δφ 带负号只是说后面的点落后；比较大小时用 |Δφ| = 2πΔx/λ。判断加强减弱时要看的是 Δφ 与 π 的关系，别丢掉符号就直接代公式。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093676" cy="909257"/>
            <a:chOff x="520446" y="342900"/>
            <a:chExt cx="90936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0936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波函数的物理意义：固定 x 是振动曲线，固定 t 是波形曲线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graph-1"/>
          <p:cNvGrpSpPr/>
          <p:nvPr/>
        </p:nvGrpSpPr>
        <p:grpSpPr>
          <a:xfrm>
            <a:off x="857250" y="1617345"/>
            <a:ext cx="10514124" cy="1898999"/>
            <a:chOff x="857250" y="1617345"/>
            <a:chExt cx="10514124" cy="1898999"/>
          </a:xfrm>
        </p:grpSpPr>
        <p:sp>
          <p:nvSpPr>
            <p:cNvPr id="7" name="Freeform 7"/>
            <p:cNvSpPr/>
            <p:nvPr/>
          </p:nvSpPr>
          <p:spPr>
            <a:xfrm>
              <a:off x="1210628" y="1862138"/>
              <a:ext cx="4208145" cy="1191578"/>
            </a:xfrm>
            <a:custGeom>
              <a:avLst/>
              <a:gdLst/>
              <a:ahLst/>
              <a:cxnLst/>
              <a:rect l="l" t="t" r="r" b="b"/>
              <a:pathLst>
                <a:path w="4208145" h="1191578">
                  <a:moveTo>
                    <a:pt x="0" y="579120"/>
                  </a:moveTo>
                  <a:lnTo>
                    <a:pt x="79058" y="441008"/>
                  </a:lnTo>
                  <a:lnTo>
                    <a:pt x="168593" y="297180"/>
                  </a:lnTo>
                  <a:lnTo>
                    <a:pt x="257175" y="174308"/>
                  </a:lnTo>
                  <a:lnTo>
                    <a:pt x="346710" y="79058"/>
                  </a:lnTo>
                  <a:lnTo>
                    <a:pt x="435293" y="19050"/>
                  </a:lnTo>
                  <a:lnTo>
                    <a:pt x="523875" y="0"/>
                  </a:lnTo>
                  <a:lnTo>
                    <a:pt x="601980" y="19050"/>
                  </a:lnTo>
                  <a:lnTo>
                    <a:pt x="691515" y="79058"/>
                  </a:lnTo>
                  <a:lnTo>
                    <a:pt x="780098" y="174308"/>
                  </a:lnTo>
                  <a:lnTo>
                    <a:pt x="869633" y="297180"/>
                  </a:lnTo>
                  <a:lnTo>
                    <a:pt x="958215" y="441008"/>
                  </a:lnTo>
                  <a:lnTo>
                    <a:pt x="1046798" y="595312"/>
                  </a:lnTo>
                  <a:lnTo>
                    <a:pt x="1136332" y="750570"/>
                  </a:lnTo>
                  <a:lnTo>
                    <a:pt x="1224915" y="893445"/>
                  </a:lnTo>
                  <a:lnTo>
                    <a:pt x="1314450" y="1016317"/>
                  </a:lnTo>
                  <a:lnTo>
                    <a:pt x="1403032" y="1111568"/>
                  </a:lnTo>
                  <a:lnTo>
                    <a:pt x="1492568" y="1171575"/>
                  </a:lnTo>
                  <a:lnTo>
                    <a:pt x="1569720" y="1191578"/>
                  </a:lnTo>
                  <a:lnTo>
                    <a:pt x="1659255" y="1171575"/>
                  </a:lnTo>
                  <a:lnTo>
                    <a:pt x="1747838" y="1111568"/>
                  </a:lnTo>
                  <a:lnTo>
                    <a:pt x="1837372" y="1016317"/>
                  </a:lnTo>
                  <a:lnTo>
                    <a:pt x="1925955" y="893445"/>
                  </a:lnTo>
                  <a:lnTo>
                    <a:pt x="2015490" y="750570"/>
                  </a:lnTo>
                  <a:lnTo>
                    <a:pt x="2104072" y="595312"/>
                  </a:lnTo>
                  <a:lnTo>
                    <a:pt x="2192655" y="441008"/>
                  </a:lnTo>
                  <a:lnTo>
                    <a:pt x="2282190" y="297180"/>
                  </a:lnTo>
                  <a:lnTo>
                    <a:pt x="2370772" y="174308"/>
                  </a:lnTo>
                  <a:lnTo>
                    <a:pt x="2460307" y="79058"/>
                  </a:lnTo>
                  <a:lnTo>
                    <a:pt x="2548890" y="19050"/>
                  </a:lnTo>
                  <a:lnTo>
                    <a:pt x="2638425" y="0"/>
                  </a:lnTo>
                  <a:lnTo>
                    <a:pt x="2715578" y="19050"/>
                  </a:lnTo>
                  <a:lnTo>
                    <a:pt x="2805112" y="79058"/>
                  </a:lnTo>
                  <a:lnTo>
                    <a:pt x="2893695" y="174308"/>
                  </a:lnTo>
                  <a:lnTo>
                    <a:pt x="2983230" y="297180"/>
                  </a:lnTo>
                  <a:lnTo>
                    <a:pt x="3071812" y="441008"/>
                  </a:lnTo>
                  <a:lnTo>
                    <a:pt x="3161348" y="595312"/>
                  </a:lnTo>
                  <a:lnTo>
                    <a:pt x="3249930" y="750570"/>
                  </a:lnTo>
                  <a:lnTo>
                    <a:pt x="3338512" y="893445"/>
                  </a:lnTo>
                  <a:lnTo>
                    <a:pt x="3428048" y="1016317"/>
                  </a:lnTo>
                  <a:lnTo>
                    <a:pt x="3516630" y="1111568"/>
                  </a:lnTo>
                  <a:lnTo>
                    <a:pt x="3606165" y="1171575"/>
                  </a:lnTo>
                  <a:lnTo>
                    <a:pt x="3684270" y="1191578"/>
                  </a:lnTo>
                  <a:lnTo>
                    <a:pt x="3772852" y="1171575"/>
                  </a:lnTo>
                  <a:lnTo>
                    <a:pt x="3861435" y="1111568"/>
                  </a:lnTo>
                  <a:lnTo>
                    <a:pt x="3950970" y="1016317"/>
                  </a:lnTo>
                  <a:lnTo>
                    <a:pt x="4039552" y="893445"/>
                  </a:lnTo>
                  <a:lnTo>
                    <a:pt x="4129088" y="750570"/>
                  </a:lnTo>
                  <a:lnTo>
                    <a:pt x="4208145" y="61245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773228" y="1862138"/>
              <a:ext cx="4208145" cy="1191578"/>
            </a:xfrm>
            <a:custGeom>
              <a:avLst/>
              <a:gdLst/>
              <a:ahLst/>
              <a:cxnLst/>
              <a:rect l="l" t="t" r="r" b="b"/>
              <a:pathLst>
                <a:path w="4208145" h="1191578">
                  <a:moveTo>
                    <a:pt x="0" y="579120"/>
                  </a:moveTo>
                  <a:lnTo>
                    <a:pt x="79057" y="441008"/>
                  </a:lnTo>
                  <a:lnTo>
                    <a:pt x="168592" y="297180"/>
                  </a:lnTo>
                  <a:lnTo>
                    <a:pt x="257175" y="174308"/>
                  </a:lnTo>
                  <a:lnTo>
                    <a:pt x="346710" y="79058"/>
                  </a:lnTo>
                  <a:lnTo>
                    <a:pt x="435292" y="19050"/>
                  </a:lnTo>
                  <a:lnTo>
                    <a:pt x="523875" y="0"/>
                  </a:lnTo>
                  <a:lnTo>
                    <a:pt x="601980" y="19050"/>
                  </a:lnTo>
                  <a:lnTo>
                    <a:pt x="691515" y="79058"/>
                  </a:lnTo>
                  <a:lnTo>
                    <a:pt x="780097" y="174308"/>
                  </a:lnTo>
                  <a:lnTo>
                    <a:pt x="869632" y="297180"/>
                  </a:lnTo>
                  <a:lnTo>
                    <a:pt x="958215" y="441008"/>
                  </a:lnTo>
                  <a:lnTo>
                    <a:pt x="1046797" y="595312"/>
                  </a:lnTo>
                  <a:lnTo>
                    <a:pt x="1136332" y="750570"/>
                  </a:lnTo>
                  <a:lnTo>
                    <a:pt x="1224915" y="893445"/>
                  </a:lnTo>
                  <a:lnTo>
                    <a:pt x="1314450" y="1016317"/>
                  </a:lnTo>
                  <a:lnTo>
                    <a:pt x="1403032" y="1111568"/>
                  </a:lnTo>
                  <a:lnTo>
                    <a:pt x="1492567" y="1171575"/>
                  </a:lnTo>
                  <a:lnTo>
                    <a:pt x="1569720" y="1191578"/>
                  </a:lnTo>
                  <a:lnTo>
                    <a:pt x="1659255" y="1171575"/>
                  </a:lnTo>
                  <a:lnTo>
                    <a:pt x="1747838" y="1111568"/>
                  </a:lnTo>
                  <a:lnTo>
                    <a:pt x="1837372" y="1016317"/>
                  </a:lnTo>
                  <a:lnTo>
                    <a:pt x="1925955" y="893445"/>
                  </a:lnTo>
                  <a:lnTo>
                    <a:pt x="2015490" y="750570"/>
                  </a:lnTo>
                  <a:lnTo>
                    <a:pt x="2104072" y="595312"/>
                  </a:lnTo>
                  <a:lnTo>
                    <a:pt x="2192655" y="441008"/>
                  </a:lnTo>
                  <a:lnTo>
                    <a:pt x="2282190" y="297180"/>
                  </a:lnTo>
                  <a:lnTo>
                    <a:pt x="2370772" y="174308"/>
                  </a:lnTo>
                  <a:lnTo>
                    <a:pt x="2460307" y="79058"/>
                  </a:lnTo>
                  <a:lnTo>
                    <a:pt x="2548890" y="19050"/>
                  </a:lnTo>
                  <a:lnTo>
                    <a:pt x="2638425" y="0"/>
                  </a:lnTo>
                  <a:lnTo>
                    <a:pt x="2715578" y="19050"/>
                  </a:lnTo>
                  <a:lnTo>
                    <a:pt x="2805112" y="79058"/>
                  </a:lnTo>
                  <a:lnTo>
                    <a:pt x="2893695" y="174308"/>
                  </a:lnTo>
                  <a:lnTo>
                    <a:pt x="2983230" y="297180"/>
                  </a:lnTo>
                  <a:lnTo>
                    <a:pt x="3071812" y="441008"/>
                  </a:lnTo>
                  <a:lnTo>
                    <a:pt x="3161348" y="595312"/>
                  </a:lnTo>
                  <a:lnTo>
                    <a:pt x="3249930" y="750570"/>
                  </a:lnTo>
                  <a:lnTo>
                    <a:pt x="3338512" y="893445"/>
                  </a:lnTo>
                  <a:lnTo>
                    <a:pt x="3428048" y="1016317"/>
                  </a:lnTo>
                  <a:lnTo>
                    <a:pt x="3516630" y="1111568"/>
                  </a:lnTo>
                  <a:lnTo>
                    <a:pt x="3606165" y="1171575"/>
                  </a:lnTo>
                  <a:lnTo>
                    <a:pt x="3684270" y="1191578"/>
                  </a:lnTo>
                  <a:lnTo>
                    <a:pt x="3772852" y="1171575"/>
                  </a:lnTo>
                  <a:lnTo>
                    <a:pt x="3861435" y="1111568"/>
                  </a:lnTo>
                  <a:lnTo>
                    <a:pt x="3950970" y="1016317"/>
                  </a:lnTo>
                  <a:lnTo>
                    <a:pt x="4039552" y="893445"/>
                  </a:lnTo>
                  <a:lnTo>
                    <a:pt x="4129087" y="750570"/>
                  </a:lnTo>
                  <a:lnTo>
                    <a:pt x="4208145" y="612458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85825" y="2457450"/>
              <a:ext cx="4706302" cy="9525"/>
            </a:xfrm>
            <a:custGeom>
              <a:avLst/>
              <a:gdLst/>
              <a:ahLst/>
              <a:cxnLst/>
              <a:rect l="l" t="t" r="r" b="b"/>
              <a:pathLst>
                <a:path w="4706302" h="9525">
                  <a:moveTo>
                    <a:pt x="0" y="0"/>
                  </a:moveTo>
                  <a:lnTo>
                    <a:pt x="470630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592128" y="2409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1102" y="1884998"/>
              <a:ext cx="9525" cy="1367790"/>
            </a:xfrm>
            <a:custGeom>
              <a:avLst/>
              <a:gdLst/>
              <a:ahLst/>
              <a:cxnLst/>
              <a:rect l="l" t="t" r="r" b="b"/>
              <a:pathLst>
                <a:path w="9525" h="1367790">
                  <a:moveTo>
                    <a:pt x="0" y="13677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53478" y="17897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6448425" y="2457450"/>
              <a:ext cx="4706302" cy="9525"/>
            </a:xfrm>
            <a:custGeom>
              <a:avLst/>
              <a:gdLst/>
              <a:ahLst/>
              <a:cxnLst/>
              <a:rect l="l" t="t" r="r" b="b"/>
              <a:pathLst>
                <a:path w="4706302" h="9525">
                  <a:moveTo>
                    <a:pt x="0" y="0"/>
                  </a:moveTo>
                  <a:lnTo>
                    <a:pt x="470630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1154728" y="24098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6763702" y="1884998"/>
              <a:ext cx="9525" cy="1367790"/>
            </a:xfrm>
            <a:custGeom>
              <a:avLst/>
              <a:gdLst/>
              <a:ahLst/>
              <a:cxnLst/>
              <a:rect l="l" t="t" r="r" b="b"/>
              <a:pathLst>
                <a:path w="9525" h="1367790">
                  <a:moveTo>
                    <a:pt x="0" y="136779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716078" y="178974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48802" y="319278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734752" y="31451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53552" y="31451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7411402" y="319278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297352" y="31451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316152" y="314515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191578" y="24479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418772" y="24479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57250" y="24479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1578" y="32623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724978" y="31832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839528" y="31832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754178" y="24479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10981372" y="24479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419850" y="24479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754178" y="32623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287578" y="31832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402128" y="318325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16476" y="2392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4953" y="16173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79076" y="239268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17553" y="16173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24507" y="332565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振动曲线（取定一个质点，看它随时间怎么动）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87107" y="3325654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波形曲线（取定一个时刻，看整条波线的形状）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78113" y="2996565"/>
              <a:ext cx="3606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周期 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43627" y="2996565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波长 λ</a:t>
              </a:r>
            </a:p>
          </p:txBody>
        </p:sp>
      </p:grpSp>
      <p:grpSp>
        <p:nvGrpSpPr>
          <p:cNvPr id="69" name="c1-table-2"/>
          <p:cNvGrpSpPr/>
          <p:nvPr/>
        </p:nvGrpSpPr>
        <p:grpSpPr>
          <a:xfrm>
            <a:off x="533400" y="3695700"/>
            <a:ext cx="11125200" cy="1720215"/>
            <a:chOff x="533400" y="3695700"/>
            <a:chExt cx="11125200" cy="1720215"/>
          </a:xfrm>
        </p:grpSpPr>
        <p:sp>
          <p:nvSpPr>
            <p:cNvPr id="44" name="Rectangle 44"/>
            <p:cNvSpPr/>
            <p:nvPr/>
          </p:nvSpPr>
          <p:spPr>
            <a:xfrm>
              <a:off x="533400" y="3695700"/>
              <a:ext cx="11125200" cy="43053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89722" y="38271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75151" y="38271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固定什么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90779" y="38271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得到什么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943909" y="38271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横轴上的周期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8746" y="4256722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x₀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086672" y="425672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固定一个质点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33644" y="4256722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该质点的振动方程 y(t)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16022" y="4256722"/>
              <a:ext cx="803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时间周期 T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55104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4555808"/>
              <a:ext cx="11125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38746" y="4687252"/>
              <a:ext cx="487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t₀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086672" y="46872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固定一个时刻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33644" y="4687252"/>
              <a:ext cx="2031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这一刻整条波线的形状 y(x)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16022" y="4687252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空间周期 λ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9815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8746" y="5117782"/>
              <a:ext cx="836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与 t 都变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086672" y="511778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什么都不固定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533644" y="51177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不同质点在不同时刻的位移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220200" y="4995862"/>
              <a:ext cx="2428875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6022" y="5117782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波形以 u 平移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3695700"/>
              <a:ext cx="11125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2976562" y="36957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423535" y="36957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5912" y="36957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70" name="Rectangle 70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511" y="5753576"/>
              <a:ext cx="998728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两张图长得几乎一样，区别全在横轴：横轴是 t 就只讲一个质点的历史，横轴是 x 就是某一瞬间的全景。做题先看横轴，再决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定用 T 还是用 λ。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行波与质点振动方向：看左邻居就够了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graph-1"/>
          <p:cNvGrpSpPr/>
          <p:nvPr/>
        </p:nvGrpSpPr>
        <p:grpSpPr>
          <a:xfrm>
            <a:off x="680085" y="1632109"/>
            <a:ext cx="4934134" cy="3051333"/>
            <a:chOff x="680085" y="1632109"/>
            <a:chExt cx="4934134" cy="3051333"/>
          </a:xfrm>
        </p:grpSpPr>
        <p:sp>
          <p:nvSpPr>
            <p:cNvPr id="7" name="Freeform 7"/>
            <p:cNvSpPr/>
            <p:nvPr/>
          </p:nvSpPr>
          <p:spPr>
            <a:xfrm>
              <a:off x="851535" y="2311718"/>
              <a:ext cx="4545330" cy="2362200"/>
            </a:xfrm>
            <a:custGeom>
              <a:avLst/>
              <a:gdLst/>
              <a:ahLst/>
              <a:cxnLst/>
              <a:rect l="l" t="t" r="r" b="b"/>
              <a:pathLst>
                <a:path w="4545330" h="2362200">
                  <a:moveTo>
                    <a:pt x="0" y="1163003"/>
                  </a:moveTo>
                  <a:lnTo>
                    <a:pt x="76200" y="948690"/>
                  </a:lnTo>
                  <a:lnTo>
                    <a:pt x="154305" y="728662"/>
                  </a:lnTo>
                  <a:lnTo>
                    <a:pt x="237172" y="523875"/>
                  </a:lnTo>
                  <a:lnTo>
                    <a:pt x="320992" y="346710"/>
                  </a:lnTo>
                  <a:lnTo>
                    <a:pt x="403860" y="200978"/>
                  </a:lnTo>
                  <a:lnTo>
                    <a:pt x="481965" y="90488"/>
                  </a:lnTo>
                  <a:lnTo>
                    <a:pt x="564832" y="23812"/>
                  </a:lnTo>
                  <a:lnTo>
                    <a:pt x="647700" y="0"/>
                  </a:lnTo>
                  <a:lnTo>
                    <a:pt x="725805" y="23812"/>
                  </a:lnTo>
                  <a:lnTo>
                    <a:pt x="808672" y="90488"/>
                  </a:lnTo>
                  <a:lnTo>
                    <a:pt x="892492" y="200978"/>
                  </a:lnTo>
                  <a:lnTo>
                    <a:pt x="975360" y="346710"/>
                  </a:lnTo>
                  <a:lnTo>
                    <a:pt x="1053465" y="523875"/>
                  </a:lnTo>
                  <a:lnTo>
                    <a:pt x="1136332" y="728662"/>
                  </a:lnTo>
                  <a:lnTo>
                    <a:pt x="1219200" y="948690"/>
                  </a:lnTo>
                  <a:lnTo>
                    <a:pt x="1297305" y="1181100"/>
                  </a:lnTo>
                  <a:lnTo>
                    <a:pt x="1380172" y="1413510"/>
                  </a:lnTo>
                  <a:lnTo>
                    <a:pt x="1463040" y="1634490"/>
                  </a:lnTo>
                  <a:lnTo>
                    <a:pt x="1546860" y="1839278"/>
                  </a:lnTo>
                  <a:lnTo>
                    <a:pt x="1624012" y="2016442"/>
                  </a:lnTo>
                  <a:lnTo>
                    <a:pt x="1707832" y="2162175"/>
                  </a:lnTo>
                  <a:lnTo>
                    <a:pt x="1790700" y="2271712"/>
                  </a:lnTo>
                  <a:lnTo>
                    <a:pt x="1868805" y="2339340"/>
                  </a:lnTo>
                  <a:lnTo>
                    <a:pt x="1951672" y="2362200"/>
                  </a:lnTo>
                  <a:lnTo>
                    <a:pt x="2034540" y="2339340"/>
                  </a:lnTo>
                  <a:lnTo>
                    <a:pt x="2117408" y="2271712"/>
                  </a:lnTo>
                  <a:lnTo>
                    <a:pt x="2195512" y="2162175"/>
                  </a:lnTo>
                  <a:lnTo>
                    <a:pt x="2278380" y="2016442"/>
                  </a:lnTo>
                  <a:lnTo>
                    <a:pt x="2362200" y="1839278"/>
                  </a:lnTo>
                  <a:lnTo>
                    <a:pt x="2439352" y="1634490"/>
                  </a:lnTo>
                  <a:lnTo>
                    <a:pt x="2523172" y="1413510"/>
                  </a:lnTo>
                  <a:lnTo>
                    <a:pt x="2606040" y="1181100"/>
                  </a:lnTo>
                  <a:lnTo>
                    <a:pt x="2688907" y="948690"/>
                  </a:lnTo>
                  <a:lnTo>
                    <a:pt x="2767012" y="728662"/>
                  </a:lnTo>
                  <a:lnTo>
                    <a:pt x="2849880" y="523875"/>
                  </a:lnTo>
                  <a:lnTo>
                    <a:pt x="2932748" y="346710"/>
                  </a:lnTo>
                  <a:lnTo>
                    <a:pt x="3010852" y="200978"/>
                  </a:lnTo>
                  <a:lnTo>
                    <a:pt x="3093720" y="90488"/>
                  </a:lnTo>
                  <a:lnTo>
                    <a:pt x="3177540" y="23812"/>
                  </a:lnTo>
                  <a:lnTo>
                    <a:pt x="3260407" y="0"/>
                  </a:lnTo>
                  <a:lnTo>
                    <a:pt x="3338512" y="23812"/>
                  </a:lnTo>
                  <a:lnTo>
                    <a:pt x="3421380" y="90488"/>
                  </a:lnTo>
                  <a:lnTo>
                    <a:pt x="3504248" y="200978"/>
                  </a:lnTo>
                  <a:lnTo>
                    <a:pt x="3582352" y="346710"/>
                  </a:lnTo>
                  <a:lnTo>
                    <a:pt x="3665220" y="523875"/>
                  </a:lnTo>
                  <a:lnTo>
                    <a:pt x="3749040" y="728662"/>
                  </a:lnTo>
                  <a:lnTo>
                    <a:pt x="3831907" y="948690"/>
                  </a:lnTo>
                  <a:lnTo>
                    <a:pt x="3910012" y="1181100"/>
                  </a:lnTo>
                  <a:lnTo>
                    <a:pt x="3992880" y="1413510"/>
                  </a:lnTo>
                  <a:lnTo>
                    <a:pt x="4075748" y="1634490"/>
                  </a:lnTo>
                  <a:lnTo>
                    <a:pt x="4153852" y="1839278"/>
                  </a:lnTo>
                  <a:lnTo>
                    <a:pt x="4236720" y="2016442"/>
                  </a:lnTo>
                  <a:lnTo>
                    <a:pt x="4319588" y="2162175"/>
                  </a:lnTo>
                  <a:lnTo>
                    <a:pt x="4403408" y="2271712"/>
                  </a:lnTo>
                  <a:lnTo>
                    <a:pt x="4480560" y="2339340"/>
                  </a:lnTo>
                  <a:lnTo>
                    <a:pt x="4545330" y="235743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56298" y="2311718"/>
              <a:ext cx="4552950" cy="2362200"/>
            </a:xfrm>
            <a:custGeom>
              <a:avLst/>
              <a:gdLst/>
              <a:ahLst/>
              <a:cxnLst/>
              <a:rect l="l" t="t" r="r" b="b"/>
              <a:pathLst>
                <a:path w="4552950" h="2362200">
                  <a:moveTo>
                    <a:pt x="0" y="2232660"/>
                  </a:moveTo>
                  <a:lnTo>
                    <a:pt x="71438" y="2129790"/>
                  </a:lnTo>
                  <a:lnTo>
                    <a:pt x="149542" y="1976438"/>
                  </a:lnTo>
                  <a:lnTo>
                    <a:pt x="232410" y="1791653"/>
                  </a:lnTo>
                  <a:lnTo>
                    <a:pt x="316230" y="1583055"/>
                  </a:lnTo>
                  <a:lnTo>
                    <a:pt x="399098" y="1358265"/>
                  </a:lnTo>
                  <a:lnTo>
                    <a:pt x="477202" y="1125855"/>
                  </a:lnTo>
                  <a:lnTo>
                    <a:pt x="560070" y="897255"/>
                  </a:lnTo>
                  <a:lnTo>
                    <a:pt x="642938" y="677228"/>
                  </a:lnTo>
                  <a:lnTo>
                    <a:pt x="721042" y="480060"/>
                  </a:lnTo>
                  <a:lnTo>
                    <a:pt x="803910" y="306705"/>
                  </a:lnTo>
                  <a:lnTo>
                    <a:pt x="887730" y="169545"/>
                  </a:lnTo>
                  <a:lnTo>
                    <a:pt x="970598" y="70485"/>
                  </a:lnTo>
                  <a:lnTo>
                    <a:pt x="1048702" y="11430"/>
                  </a:lnTo>
                  <a:lnTo>
                    <a:pt x="1131570" y="0"/>
                  </a:lnTo>
                  <a:lnTo>
                    <a:pt x="1214438" y="35243"/>
                  </a:lnTo>
                  <a:lnTo>
                    <a:pt x="1292542" y="114300"/>
                  </a:lnTo>
                  <a:lnTo>
                    <a:pt x="1375410" y="232410"/>
                  </a:lnTo>
                  <a:lnTo>
                    <a:pt x="1458278" y="385762"/>
                  </a:lnTo>
                  <a:lnTo>
                    <a:pt x="1542098" y="570548"/>
                  </a:lnTo>
                  <a:lnTo>
                    <a:pt x="1619250" y="779145"/>
                  </a:lnTo>
                  <a:lnTo>
                    <a:pt x="1703070" y="1003935"/>
                  </a:lnTo>
                  <a:lnTo>
                    <a:pt x="1785937" y="1236345"/>
                  </a:lnTo>
                  <a:lnTo>
                    <a:pt x="1864043" y="1464945"/>
                  </a:lnTo>
                  <a:lnTo>
                    <a:pt x="1946910" y="1684973"/>
                  </a:lnTo>
                  <a:lnTo>
                    <a:pt x="2029778" y="1882140"/>
                  </a:lnTo>
                  <a:lnTo>
                    <a:pt x="2112645" y="2055495"/>
                  </a:lnTo>
                  <a:lnTo>
                    <a:pt x="2190750" y="2193608"/>
                  </a:lnTo>
                  <a:lnTo>
                    <a:pt x="2273618" y="2291715"/>
                  </a:lnTo>
                  <a:lnTo>
                    <a:pt x="2357437" y="2350770"/>
                  </a:lnTo>
                  <a:lnTo>
                    <a:pt x="2434590" y="2362200"/>
                  </a:lnTo>
                  <a:lnTo>
                    <a:pt x="2518410" y="2326958"/>
                  </a:lnTo>
                  <a:lnTo>
                    <a:pt x="2601278" y="2247900"/>
                  </a:lnTo>
                  <a:lnTo>
                    <a:pt x="2684145" y="2129790"/>
                  </a:lnTo>
                  <a:lnTo>
                    <a:pt x="2762250" y="1976438"/>
                  </a:lnTo>
                  <a:lnTo>
                    <a:pt x="2845118" y="1791653"/>
                  </a:lnTo>
                  <a:lnTo>
                    <a:pt x="2927985" y="1583055"/>
                  </a:lnTo>
                  <a:lnTo>
                    <a:pt x="3006090" y="1358265"/>
                  </a:lnTo>
                  <a:lnTo>
                    <a:pt x="3088957" y="1125855"/>
                  </a:lnTo>
                  <a:lnTo>
                    <a:pt x="3172778" y="897255"/>
                  </a:lnTo>
                  <a:lnTo>
                    <a:pt x="3255645" y="677228"/>
                  </a:lnTo>
                  <a:lnTo>
                    <a:pt x="3333750" y="480060"/>
                  </a:lnTo>
                  <a:lnTo>
                    <a:pt x="3416618" y="306705"/>
                  </a:lnTo>
                  <a:lnTo>
                    <a:pt x="3499485" y="169545"/>
                  </a:lnTo>
                  <a:lnTo>
                    <a:pt x="3577590" y="70485"/>
                  </a:lnTo>
                  <a:lnTo>
                    <a:pt x="3660457" y="11430"/>
                  </a:lnTo>
                  <a:lnTo>
                    <a:pt x="3744278" y="0"/>
                  </a:lnTo>
                  <a:lnTo>
                    <a:pt x="3827145" y="35243"/>
                  </a:lnTo>
                  <a:lnTo>
                    <a:pt x="3905250" y="114300"/>
                  </a:lnTo>
                  <a:lnTo>
                    <a:pt x="3988118" y="232410"/>
                  </a:lnTo>
                  <a:lnTo>
                    <a:pt x="4070985" y="385762"/>
                  </a:lnTo>
                  <a:lnTo>
                    <a:pt x="4149090" y="570548"/>
                  </a:lnTo>
                  <a:lnTo>
                    <a:pt x="4231958" y="779145"/>
                  </a:lnTo>
                  <a:lnTo>
                    <a:pt x="4314825" y="1003935"/>
                  </a:lnTo>
                  <a:lnTo>
                    <a:pt x="4398645" y="1236345"/>
                  </a:lnTo>
                  <a:lnTo>
                    <a:pt x="4475798" y="1464945"/>
                  </a:lnTo>
                  <a:lnTo>
                    <a:pt x="4552950" y="166782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708660" y="3492818"/>
              <a:ext cx="4694872" cy="9525"/>
            </a:xfrm>
            <a:custGeom>
              <a:avLst/>
              <a:gdLst/>
              <a:ahLst/>
              <a:cxnLst/>
              <a:rect l="l" t="t" r="r" b="b"/>
              <a:pathLst>
                <a:path w="4694872" h="9525">
                  <a:moveTo>
                    <a:pt x="0" y="0"/>
                  </a:moveTo>
                  <a:lnTo>
                    <a:pt x="4694872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403532" y="34451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18285" y="1996440"/>
              <a:ext cx="339090" cy="9525"/>
            </a:xfrm>
            <a:custGeom>
              <a:avLst/>
              <a:gdLst/>
              <a:ahLst/>
              <a:cxnLst/>
              <a:rect l="l" t="t" r="r" b="b"/>
              <a:pathLst>
                <a:path w="339090" h="9525">
                  <a:moveTo>
                    <a:pt x="0" y="0"/>
                  </a:moveTo>
                  <a:lnTo>
                    <a:pt x="33909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57375" y="19488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35342" y="34832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406390" y="46643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35342" y="45500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06390" y="39871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80085" y="34832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489710" y="19869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962150" y="19869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528125" y="34323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4269" y="1828324"/>
              <a:ext cx="324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t 时刻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28966" y="1828324"/>
              <a:ext cx="578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t + Δt 时刻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02941" y="1632109"/>
              <a:ext cx="4497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Δx = uΔt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032182" y="1524000"/>
            <a:ext cx="5626418" cy="1466850"/>
            <a:chOff x="6032182" y="1524000"/>
            <a:chExt cx="5626418" cy="1466850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41708" y="165735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6268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412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行波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55830" y="2072640"/>
              <a:ext cx="49514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(t, x) 与 (t + Δt, x + uΔt) 两处的位移代进波函数，结果完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全相等。也就是说经过 Δt，整条波形原封不动地沿波线平移了 Δx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uΔt，这种波叫行波。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032182" y="3166110"/>
            <a:ext cx="5626418" cy="2289810"/>
            <a:chOff x="6032182" y="3166110"/>
            <a:chExt cx="5626418" cy="2289810"/>
          </a:xfrm>
        </p:grpSpPr>
        <p:sp>
          <p:nvSpPr>
            <p:cNvPr id="31" name="Rectangle 31"/>
            <p:cNvSpPr/>
            <p:nvPr/>
          </p:nvSpPr>
          <p:spPr>
            <a:xfrm>
              <a:off x="6032182" y="3166110"/>
              <a:ext cx="5626418" cy="2289810"/>
            </a:xfrm>
            <a:prstGeom prst="roundRect">
              <a:avLst>
                <a:gd name="adj" fmla="val 58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24588" y="3358515"/>
              <a:ext cx="22098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64021" y="3392805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判断某质点此刻往哪走的两个办法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24588" y="3702368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80266" y="3740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4432" y="3714750"/>
              <a:ext cx="476288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左邻法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（波沿 +x 传播）：它下一刻要重复左边邻居现在的样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子，所以左邻高它就向上，左邻低它就向下。波沿 −x 传播时改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看右邻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224588" y="4519612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80266" y="45579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04432" y="4531995"/>
              <a:ext cx="44199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求导法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：v = ∂y/∂t = −u·∂y/∂x。沿 +x 传播时波形上升段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的质点向下，下降段的质点向上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18872" y="5087779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两种办法结论一致，考场上用左邻法最快，写解答时用求导法更严谨。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2" name="Rectangle 42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5779770"/>
              <a:ext cx="1000067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把波形图整体沿传播方向挪一点点，再看目标质点的新位置比原位置高还是低，也能得到同样的结论，这就是原课件说的“作出 Δt 后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的波形图”。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24002" cy="909257"/>
            <a:chOff x="520446" y="342900"/>
            <a:chExt cx="54240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240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例3.2　由 t = 0 的波形图写波函数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119312"/>
            <a:chOff x="533400" y="1524000"/>
            <a:chExt cx="5193982" cy="21193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119312"/>
            </a:xfrm>
            <a:prstGeom prst="roundRect">
              <a:avLst>
                <a:gd name="adj" fmla="val 62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52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868" y="1756410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4237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t = 0 时刻波形如图，波沿 x 正向传播，u = 5×10³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m·s⁻¹，ν = 12.5×10³ Hz，A = 0.1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672239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波函数；(2) 距 O 点 0.1 m 和 0.3 m 处质点的振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动方程；(3) 两者与 O 点的相位差以及两点间的相位差。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3524" y="3257550"/>
              <a:ext cx="10864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原课件例3.2。</a:t>
              </a:r>
            </a:p>
          </p:txBody>
        </p:sp>
      </p:grpSp>
      <p:grpSp>
        <p:nvGrpSpPr>
          <p:cNvPr id="36" name="c1-graph-2"/>
          <p:cNvGrpSpPr/>
          <p:nvPr/>
        </p:nvGrpSpPr>
        <p:grpSpPr>
          <a:xfrm>
            <a:off x="835342" y="3846195"/>
            <a:ext cx="4827965" cy="1549241"/>
            <a:chOff x="835342" y="3846195"/>
            <a:chExt cx="4827965" cy="1549241"/>
          </a:xfrm>
        </p:grpSpPr>
        <p:sp>
          <p:nvSpPr>
            <p:cNvPr id="15" name="Freeform 15"/>
            <p:cNvSpPr/>
            <p:nvPr/>
          </p:nvSpPr>
          <p:spPr>
            <a:xfrm>
              <a:off x="1066800" y="4081462"/>
              <a:ext cx="4332922" cy="1095375"/>
            </a:xfrm>
            <a:custGeom>
              <a:avLst/>
              <a:gdLst/>
              <a:ahLst/>
              <a:cxnLst/>
              <a:rect l="l" t="t" r="r" b="b"/>
              <a:pathLst>
                <a:path w="4332922" h="1095375">
                  <a:moveTo>
                    <a:pt x="0" y="535305"/>
                  </a:moveTo>
                  <a:lnTo>
                    <a:pt x="59055" y="482917"/>
                  </a:lnTo>
                  <a:lnTo>
                    <a:pt x="131445" y="420053"/>
                  </a:lnTo>
                  <a:lnTo>
                    <a:pt x="203835" y="357188"/>
                  </a:lnTo>
                  <a:lnTo>
                    <a:pt x="277177" y="299085"/>
                  </a:lnTo>
                  <a:lnTo>
                    <a:pt x="349567" y="242888"/>
                  </a:lnTo>
                  <a:lnTo>
                    <a:pt x="421958" y="191453"/>
                  </a:lnTo>
                  <a:lnTo>
                    <a:pt x="495300" y="144780"/>
                  </a:lnTo>
                  <a:lnTo>
                    <a:pt x="567690" y="104775"/>
                  </a:lnTo>
                  <a:lnTo>
                    <a:pt x="640080" y="68580"/>
                  </a:lnTo>
                  <a:lnTo>
                    <a:pt x="713422" y="41910"/>
                  </a:lnTo>
                  <a:lnTo>
                    <a:pt x="785812" y="20955"/>
                  </a:lnTo>
                  <a:lnTo>
                    <a:pt x="858202" y="6667"/>
                  </a:lnTo>
                  <a:lnTo>
                    <a:pt x="931545" y="0"/>
                  </a:lnTo>
                  <a:lnTo>
                    <a:pt x="1003935" y="953"/>
                  </a:lnTo>
                  <a:lnTo>
                    <a:pt x="1076325" y="11430"/>
                  </a:lnTo>
                  <a:lnTo>
                    <a:pt x="1149668" y="27622"/>
                  </a:lnTo>
                  <a:lnTo>
                    <a:pt x="1222058" y="49530"/>
                  </a:lnTo>
                  <a:lnTo>
                    <a:pt x="1294448" y="80010"/>
                  </a:lnTo>
                  <a:lnTo>
                    <a:pt x="1367790" y="117158"/>
                  </a:lnTo>
                  <a:lnTo>
                    <a:pt x="1440180" y="160972"/>
                  </a:lnTo>
                  <a:lnTo>
                    <a:pt x="1512570" y="209550"/>
                  </a:lnTo>
                  <a:lnTo>
                    <a:pt x="1585912" y="260985"/>
                  </a:lnTo>
                  <a:lnTo>
                    <a:pt x="1658303" y="319088"/>
                  </a:lnTo>
                  <a:lnTo>
                    <a:pt x="1730692" y="378142"/>
                  </a:lnTo>
                  <a:lnTo>
                    <a:pt x="1804035" y="441008"/>
                  </a:lnTo>
                  <a:lnTo>
                    <a:pt x="1876425" y="503872"/>
                  </a:lnTo>
                  <a:lnTo>
                    <a:pt x="1948815" y="568642"/>
                  </a:lnTo>
                  <a:lnTo>
                    <a:pt x="2022158" y="633412"/>
                  </a:lnTo>
                  <a:lnTo>
                    <a:pt x="2094547" y="696278"/>
                  </a:lnTo>
                  <a:lnTo>
                    <a:pt x="2166938" y="757238"/>
                  </a:lnTo>
                  <a:lnTo>
                    <a:pt x="2240280" y="815340"/>
                  </a:lnTo>
                  <a:lnTo>
                    <a:pt x="2312670" y="869632"/>
                  </a:lnTo>
                  <a:lnTo>
                    <a:pt x="2385060" y="920115"/>
                  </a:lnTo>
                  <a:lnTo>
                    <a:pt x="2458402" y="964882"/>
                  </a:lnTo>
                  <a:lnTo>
                    <a:pt x="2530792" y="1003935"/>
                  </a:lnTo>
                  <a:lnTo>
                    <a:pt x="2603182" y="1036320"/>
                  </a:lnTo>
                  <a:lnTo>
                    <a:pt x="2676525" y="1062038"/>
                  </a:lnTo>
                  <a:lnTo>
                    <a:pt x="2748915" y="1081088"/>
                  </a:lnTo>
                  <a:lnTo>
                    <a:pt x="2822258" y="1092518"/>
                  </a:lnTo>
                  <a:lnTo>
                    <a:pt x="2894648" y="1095375"/>
                  </a:lnTo>
                  <a:lnTo>
                    <a:pt x="2967038" y="1092518"/>
                  </a:lnTo>
                  <a:lnTo>
                    <a:pt x="3040380" y="1081088"/>
                  </a:lnTo>
                  <a:lnTo>
                    <a:pt x="3112770" y="1062038"/>
                  </a:lnTo>
                  <a:lnTo>
                    <a:pt x="3185160" y="1036320"/>
                  </a:lnTo>
                  <a:lnTo>
                    <a:pt x="3258502" y="1003935"/>
                  </a:lnTo>
                  <a:lnTo>
                    <a:pt x="3330892" y="964882"/>
                  </a:lnTo>
                  <a:lnTo>
                    <a:pt x="3403282" y="920115"/>
                  </a:lnTo>
                  <a:lnTo>
                    <a:pt x="3476625" y="869632"/>
                  </a:lnTo>
                  <a:lnTo>
                    <a:pt x="3549015" y="815340"/>
                  </a:lnTo>
                  <a:lnTo>
                    <a:pt x="3621405" y="757238"/>
                  </a:lnTo>
                  <a:lnTo>
                    <a:pt x="3694748" y="696278"/>
                  </a:lnTo>
                  <a:lnTo>
                    <a:pt x="3767138" y="633412"/>
                  </a:lnTo>
                  <a:lnTo>
                    <a:pt x="3839528" y="568642"/>
                  </a:lnTo>
                  <a:lnTo>
                    <a:pt x="3912870" y="503872"/>
                  </a:lnTo>
                  <a:lnTo>
                    <a:pt x="3985260" y="441008"/>
                  </a:lnTo>
                  <a:lnTo>
                    <a:pt x="4057650" y="378142"/>
                  </a:lnTo>
                  <a:lnTo>
                    <a:pt x="4130993" y="319088"/>
                  </a:lnTo>
                  <a:lnTo>
                    <a:pt x="4203382" y="260985"/>
                  </a:lnTo>
                  <a:lnTo>
                    <a:pt x="4275772" y="209550"/>
                  </a:lnTo>
                  <a:lnTo>
                    <a:pt x="4332922" y="1714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63918" y="4629150"/>
              <a:ext cx="4594860" cy="9525"/>
            </a:xfrm>
            <a:custGeom>
              <a:avLst/>
              <a:gdLst/>
              <a:ahLst/>
              <a:cxnLst/>
              <a:rect l="l" t="t" r="r" b="b"/>
              <a:pathLst>
                <a:path w="4594860" h="9525">
                  <a:moveTo>
                    <a:pt x="0" y="0"/>
                  </a:moveTo>
                  <a:lnTo>
                    <a:pt x="459486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458778" y="45815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52512" y="4138612"/>
              <a:ext cx="9525" cy="1148715"/>
            </a:xfrm>
            <a:custGeom>
              <a:avLst/>
              <a:gdLst/>
              <a:ahLst/>
              <a:cxnLst/>
              <a:rect l="l" t="t" r="r" b="b"/>
              <a:pathLst>
                <a:path w="9525" h="1148715">
                  <a:moveTo>
                    <a:pt x="0" y="1148715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04888" y="404336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772852" y="3984308"/>
              <a:ext cx="1216342" cy="9525"/>
            </a:xfrm>
            <a:custGeom>
              <a:avLst/>
              <a:gdLst/>
              <a:ahLst/>
              <a:cxnLst/>
              <a:rect l="l" t="t" r="r" b="b"/>
              <a:pathLst>
                <a:path w="1216342" h="9525">
                  <a:moveTo>
                    <a:pt x="0" y="0"/>
                  </a:moveTo>
                  <a:lnTo>
                    <a:pt x="121634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989195" y="39366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2988" y="46196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406390" y="423291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35342" y="46196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42988" y="52968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995488" y="4052888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932872" y="5148262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3744278" y="39747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093970" y="39747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83813" y="45729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2766" y="38966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486" y="4644390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85516" y="3862864"/>
              <a:ext cx="307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0.1 m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07661" y="5233511"/>
              <a:ext cx="307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0.3 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91044" y="38461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54" name="c2-steps-1"/>
          <p:cNvGrpSpPr/>
          <p:nvPr/>
        </p:nvGrpSpPr>
        <p:grpSpPr>
          <a:xfrm>
            <a:off x="6032182" y="1533525"/>
            <a:ext cx="4547083" cy="2398776"/>
            <a:chOff x="6032182" y="1533525"/>
            <a:chExt cx="4547083" cy="2398776"/>
          </a:xfrm>
        </p:grpSpPr>
        <p:sp>
          <p:nvSpPr>
            <p:cNvPr id="37" name="Rectangle 37"/>
            <p:cNvSpPr/>
            <p:nvPr/>
          </p:nvSpPr>
          <p:spPr>
            <a:xfrm>
              <a:off x="6165532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32182" y="215074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5806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32182" y="27670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5806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032182" y="33842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125806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4044" y="15663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配齐三个基本量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5186" y="1846898"/>
              <a:ext cx="4134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u/ν = 0.4 m，T = 8×10⁻⁵ s，ω = 2πν = 25π×10³ s⁻¹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4044" y="2183606"/>
              <a:ext cx="1638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由波形定 O 点初相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5186" y="2464118"/>
              <a:ext cx="3777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 点 y = 0、正向下走（右侧波形上升），取 φ = π/2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4044" y="279987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换成波函数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5186" y="3080385"/>
              <a:ext cx="164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t 换成 t − x/u 即可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4044" y="341709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相位差用间距算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5186" y="3697605"/>
              <a:ext cx="3528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−2πΔx/λ，0.1 m 处 −π/2，0.3 m 处 −3π/2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032182" y="4103370"/>
            <a:ext cx="5626418" cy="1297305"/>
            <a:chOff x="6032182" y="4103370"/>
            <a:chExt cx="5626418" cy="1297305"/>
          </a:xfrm>
        </p:grpSpPr>
        <p:sp>
          <p:nvSpPr>
            <p:cNvPr id="55" name="Rectangle 55"/>
            <p:cNvSpPr/>
            <p:nvPr/>
          </p:nvSpPr>
          <p:spPr>
            <a:xfrm>
              <a:off x="6032182" y="4103370"/>
              <a:ext cx="5626418" cy="1297305"/>
            </a:xfrm>
            <a:prstGeom prst="roundRect">
              <a:avLst>
                <a:gd name="adj" fmla="val 1027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30302" y="430149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25743" y="433578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3064" y="4662011"/>
              <a:ext cx="42964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(1) y = 0.1cos[25π×10³(t − x/5×10³) + π/2] 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3064" y="4980146"/>
              <a:ext cx="50715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(3) Δφ₁ = −π/2，Δφ₂ = −3π/2，两点间 Δφ = −π，恰好反相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61" name="Rectangle 61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04863" y="59623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5753576"/>
              <a:ext cx="1003236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检验：0.3 m − 0.1 m = 0.2 m 正好是半个波长，半波长对应 π 的相位差，与第三问算出的 −π 一致；两点应当一上一下，看波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形图确实如此。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求波函数只有两种套路，认准参考点就不会乱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944880"/>
            <a:chOff x="533400" y="1524000"/>
            <a:chExt cx="5410200" cy="944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944880"/>
            </a:xfrm>
            <a:prstGeom prst="roundRect">
              <a:avLst>
                <a:gd name="adj" fmla="val 14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67818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套路一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8562" y="1745932"/>
              <a:ext cx="19215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已知原点 O 的振动方程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204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yO = A cos(ωt + φ)，直接把 t 换成 t ∓ x/u 即可。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2648902"/>
            <a:ext cx="3161370" cy="1685450"/>
            <a:chOff x="533400" y="2648902"/>
            <a:chExt cx="3161370" cy="1685450"/>
          </a:xfrm>
        </p:grpSpPr>
        <p:sp>
          <p:nvSpPr>
            <p:cNvPr id="14" name="Rectangle 14"/>
            <p:cNvSpPr/>
            <p:nvPr/>
          </p:nvSpPr>
          <p:spPr>
            <a:xfrm>
              <a:off x="666750" y="2791778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264890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272272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323183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3056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8147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38885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26803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判方向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2948464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x 正向取减号，沿 x 负向取加号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26326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做替换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531394"/>
              <a:ext cx="18309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A cos[ω(t ∓ x/u) + φ]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384619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代位置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114324"/>
              <a:ext cx="2747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要某点的振动方程，把它的 x 代回去即可</a:t>
              </a:r>
            </a:p>
          </p:txBody>
        </p:sp>
      </p:grpSp>
      <p:grpSp>
        <p:nvGrpSpPr>
          <p:cNvPr id="34" name="c1-callout-3"/>
          <p:cNvGrpSpPr/>
          <p:nvPr/>
        </p:nvGrpSpPr>
        <p:grpSpPr>
          <a:xfrm>
            <a:off x="533400" y="4497705"/>
            <a:ext cx="5410200" cy="1185862"/>
            <a:chOff x="533400" y="4497705"/>
            <a:chExt cx="5410200" cy="1185862"/>
          </a:xfrm>
        </p:grpSpPr>
        <p:sp>
          <p:nvSpPr>
            <p:cNvPr id="28" name="Rectangle 28"/>
            <p:cNvSpPr/>
            <p:nvPr/>
          </p:nvSpPr>
          <p:spPr>
            <a:xfrm>
              <a:off x="533400" y="4497705"/>
              <a:ext cx="5410200" cy="1185862"/>
            </a:xfrm>
            <a:prstGeom prst="roundRect">
              <a:avLst>
                <a:gd name="adj" fmla="val 963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990148"/>
              <a:ext cx="200026" cy="200025"/>
              <a:chOff x="738188" y="4990148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9901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77926" y="50345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12642" y="51457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892" y="4872037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波形图里的原点不一定是波源，套路一只要求知道原点的振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动，不要求它是源头。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6248400" y="1524000"/>
            <a:ext cx="5410200" cy="1202055"/>
            <a:chOff x="6248400" y="1524000"/>
            <a:chExt cx="5410200" cy="120205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73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61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套路二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63562" y="1745932"/>
              <a:ext cx="35417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已知波线上任一点 P（坐标 x₁）的振动方程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6332" y="2071688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yP = A cos(ωt + φ)。先退回原点，再推到任意点；或者一步到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位用相对坐标。</a:t>
              </a:r>
            </a:p>
          </p:txBody>
        </p:sp>
      </p:grpSp>
      <p:grpSp>
        <p:nvGrpSpPr>
          <p:cNvPr id="55" name="c2-steps-2"/>
          <p:cNvGrpSpPr/>
          <p:nvPr/>
        </p:nvGrpSpPr>
        <p:grpSpPr>
          <a:xfrm>
            <a:off x="6248400" y="2906078"/>
            <a:ext cx="4954693" cy="1685449"/>
            <a:chOff x="6248400" y="2906078"/>
            <a:chExt cx="4954693" cy="1685449"/>
          </a:xfrm>
        </p:grpSpPr>
        <p:sp>
          <p:nvSpPr>
            <p:cNvPr id="42" name="Rectangle 42"/>
            <p:cNvSpPr/>
            <p:nvPr/>
          </p:nvSpPr>
          <p:spPr>
            <a:xfrm>
              <a:off x="6381750" y="3048952"/>
              <a:ext cx="19050" cy="11658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248400" y="29060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2024" y="29798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48400" y="348900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2024" y="35628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248400" y="40719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42024" y="4145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60642" y="293751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退回原点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61785" y="3205639"/>
              <a:ext cx="44258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+x 传播时 O 比 P 早振动 x₁/u：yO = A cos[ω(t + x₁/u) + φ]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660642" y="3520440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再推到任意点 x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1785" y="3788569"/>
              <a:ext cx="2336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A cos[ω(t + x₁/u − x/u) + φ]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660642" y="410337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合并成一步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61785" y="4371499"/>
              <a:ext cx="4541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A cos[ω(t − (x − x₁)/u) + φ]，把 x − x₁ 看成从 P 量起的距离</a:t>
              </a:r>
            </a:p>
          </p:txBody>
        </p:sp>
      </p:grpSp>
      <p:grpSp>
        <p:nvGrpSpPr>
          <p:cNvPr id="61" name="c2-card-3"/>
          <p:cNvGrpSpPr/>
          <p:nvPr/>
        </p:nvGrpSpPr>
        <p:grpSpPr>
          <a:xfrm>
            <a:off x="6248400" y="4754880"/>
            <a:ext cx="5410200" cy="928688"/>
            <a:chOff x="6248400" y="4754880"/>
            <a:chExt cx="5410200" cy="928688"/>
          </a:xfrm>
        </p:grpSpPr>
        <p:sp>
          <p:nvSpPr>
            <p:cNvPr id="56" name="Rectangle 56"/>
            <p:cNvSpPr/>
            <p:nvPr/>
          </p:nvSpPr>
          <p:spPr>
            <a:xfrm>
              <a:off x="6248400" y="4754880"/>
              <a:ext cx="5410200" cy="928688"/>
            </a:xfrm>
            <a:prstGeom prst="roundRect">
              <a:avLst>
                <a:gd name="adj" fmla="val 143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7925" y="4888230"/>
              <a:ext cx="47625" cy="6619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3190" y="494157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1811" y="497443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66332" y="5285423"/>
              <a:ext cx="4556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− x₁ 可以是负数：P 左边的点超前，不要写成绝对值。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2" name="Rectangle 6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8373"/>
              <a:ext cx="8419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记一句话：把 t 换成“该点开始振动的时刻”。沿传播方向越靠后的点，这个时刻越晚，括号里减得越多。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396733" cy="909257"/>
            <a:chOff x="520446" y="342900"/>
            <a:chExt cx="43967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3967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例3.3　由振动曲线求波函数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675448"/>
            <a:chOff x="533400" y="1524000"/>
            <a:chExt cx="5193982" cy="16754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675448"/>
            </a:xfrm>
            <a:prstGeom prst="roundRect">
              <a:avLst>
                <a:gd name="adj" fmla="val 79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087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6134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简谐波沿 x 轴正方向传播，λ = 4 m，x = 0 处质点的振动曲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线如图，振幅 1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39330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x = 0 处质点的振动方程；(2) 波的表达式。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2854643"/>
              <a:ext cx="2166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 3.2 节的第一道课堂练习。</a:t>
              </a:r>
            </a:p>
          </p:txBody>
        </p:sp>
      </p:grpSp>
      <p:grpSp>
        <p:nvGrpSpPr>
          <p:cNvPr id="33" name="c1-graph-2"/>
          <p:cNvGrpSpPr/>
          <p:nvPr/>
        </p:nvGrpSpPr>
        <p:grpSpPr>
          <a:xfrm>
            <a:off x="697600" y="3487579"/>
            <a:ext cx="4965707" cy="2056923"/>
            <a:chOff x="697600" y="3487579"/>
            <a:chExt cx="4965707" cy="2056923"/>
          </a:xfrm>
        </p:grpSpPr>
        <p:sp>
          <p:nvSpPr>
            <p:cNvPr id="15" name="Freeform 15"/>
            <p:cNvSpPr/>
            <p:nvPr/>
          </p:nvSpPr>
          <p:spPr>
            <a:xfrm>
              <a:off x="1064895" y="3741420"/>
              <a:ext cx="4337685" cy="1604010"/>
            </a:xfrm>
            <a:custGeom>
              <a:avLst/>
              <a:gdLst/>
              <a:ahLst/>
              <a:cxnLst/>
              <a:rect l="l" t="t" r="r" b="b"/>
              <a:pathLst>
                <a:path w="4337685" h="1604010">
                  <a:moveTo>
                    <a:pt x="0" y="416242"/>
                  </a:moveTo>
                  <a:lnTo>
                    <a:pt x="55245" y="485775"/>
                  </a:lnTo>
                  <a:lnTo>
                    <a:pt x="122873" y="573405"/>
                  </a:lnTo>
                  <a:lnTo>
                    <a:pt x="190500" y="665797"/>
                  </a:lnTo>
                  <a:lnTo>
                    <a:pt x="258128" y="760095"/>
                  </a:lnTo>
                  <a:lnTo>
                    <a:pt x="330518" y="854392"/>
                  </a:lnTo>
                  <a:lnTo>
                    <a:pt x="398145" y="948690"/>
                  </a:lnTo>
                  <a:lnTo>
                    <a:pt x="465772" y="1040130"/>
                  </a:lnTo>
                  <a:lnTo>
                    <a:pt x="533400" y="1127760"/>
                  </a:lnTo>
                  <a:lnTo>
                    <a:pt x="601028" y="1212532"/>
                  </a:lnTo>
                  <a:lnTo>
                    <a:pt x="668655" y="1290637"/>
                  </a:lnTo>
                  <a:lnTo>
                    <a:pt x="735330" y="1361123"/>
                  </a:lnTo>
                  <a:lnTo>
                    <a:pt x="808672" y="1424940"/>
                  </a:lnTo>
                  <a:lnTo>
                    <a:pt x="876300" y="1482090"/>
                  </a:lnTo>
                  <a:lnTo>
                    <a:pt x="943928" y="1526858"/>
                  </a:lnTo>
                  <a:lnTo>
                    <a:pt x="1010603" y="1562100"/>
                  </a:lnTo>
                  <a:lnTo>
                    <a:pt x="1078230" y="1587818"/>
                  </a:lnTo>
                  <a:lnTo>
                    <a:pt x="1145858" y="1602105"/>
                  </a:lnTo>
                  <a:lnTo>
                    <a:pt x="1213485" y="1604010"/>
                  </a:lnTo>
                  <a:lnTo>
                    <a:pt x="1281112" y="1595437"/>
                  </a:lnTo>
                  <a:lnTo>
                    <a:pt x="1348740" y="1576387"/>
                  </a:lnTo>
                  <a:lnTo>
                    <a:pt x="1421130" y="1547812"/>
                  </a:lnTo>
                  <a:lnTo>
                    <a:pt x="1488758" y="1507808"/>
                  </a:lnTo>
                  <a:lnTo>
                    <a:pt x="1556385" y="1458277"/>
                  </a:lnTo>
                  <a:lnTo>
                    <a:pt x="1624012" y="1399223"/>
                  </a:lnTo>
                  <a:lnTo>
                    <a:pt x="1691640" y="1330642"/>
                  </a:lnTo>
                  <a:lnTo>
                    <a:pt x="1759268" y="1257300"/>
                  </a:lnTo>
                  <a:lnTo>
                    <a:pt x="1826895" y="1175385"/>
                  </a:lnTo>
                  <a:lnTo>
                    <a:pt x="1899285" y="1089660"/>
                  </a:lnTo>
                  <a:lnTo>
                    <a:pt x="1966912" y="1000125"/>
                  </a:lnTo>
                  <a:lnTo>
                    <a:pt x="2034540" y="905827"/>
                  </a:lnTo>
                  <a:lnTo>
                    <a:pt x="2102168" y="811530"/>
                  </a:lnTo>
                  <a:lnTo>
                    <a:pt x="2168842" y="717233"/>
                  </a:lnTo>
                  <a:lnTo>
                    <a:pt x="2236470" y="625792"/>
                  </a:lnTo>
                  <a:lnTo>
                    <a:pt x="2304098" y="535305"/>
                  </a:lnTo>
                  <a:lnTo>
                    <a:pt x="2371725" y="448627"/>
                  </a:lnTo>
                  <a:lnTo>
                    <a:pt x="2439352" y="365760"/>
                  </a:lnTo>
                  <a:lnTo>
                    <a:pt x="2511742" y="290512"/>
                  </a:lnTo>
                  <a:lnTo>
                    <a:pt x="2579370" y="219075"/>
                  </a:lnTo>
                  <a:lnTo>
                    <a:pt x="2646998" y="160972"/>
                  </a:lnTo>
                  <a:lnTo>
                    <a:pt x="2714625" y="108585"/>
                  </a:lnTo>
                  <a:lnTo>
                    <a:pt x="2782252" y="65722"/>
                  </a:lnTo>
                  <a:lnTo>
                    <a:pt x="2849880" y="33338"/>
                  </a:lnTo>
                  <a:lnTo>
                    <a:pt x="2917508" y="12383"/>
                  </a:lnTo>
                  <a:lnTo>
                    <a:pt x="2989898" y="0"/>
                  </a:lnTo>
                  <a:lnTo>
                    <a:pt x="3057525" y="2858"/>
                  </a:lnTo>
                  <a:lnTo>
                    <a:pt x="3125152" y="14288"/>
                  </a:lnTo>
                  <a:lnTo>
                    <a:pt x="3192780" y="35242"/>
                  </a:lnTo>
                  <a:lnTo>
                    <a:pt x="3260408" y="68580"/>
                  </a:lnTo>
                  <a:lnTo>
                    <a:pt x="3327082" y="113347"/>
                  </a:lnTo>
                  <a:lnTo>
                    <a:pt x="3394710" y="165735"/>
                  </a:lnTo>
                  <a:lnTo>
                    <a:pt x="3462338" y="226695"/>
                  </a:lnTo>
                  <a:lnTo>
                    <a:pt x="3529965" y="297180"/>
                  </a:lnTo>
                  <a:lnTo>
                    <a:pt x="3602355" y="375285"/>
                  </a:lnTo>
                  <a:lnTo>
                    <a:pt x="3669982" y="458152"/>
                  </a:lnTo>
                  <a:lnTo>
                    <a:pt x="3737610" y="544830"/>
                  </a:lnTo>
                  <a:lnTo>
                    <a:pt x="3805238" y="634365"/>
                  </a:lnTo>
                  <a:lnTo>
                    <a:pt x="3872865" y="729615"/>
                  </a:lnTo>
                  <a:lnTo>
                    <a:pt x="3940492" y="823912"/>
                  </a:lnTo>
                  <a:lnTo>
                    <a:pt x="4008120" y="918210"/>
                  </a:lnTo>
                  <a:lnTo>
                    <a:pt x="4080510" y="1009650"/>
                  </a:lnTo>
                  <a:lnTo>
                    <a:pt x="4148137" y="1099185"/>
                  </a:lnTo>
                  <a:lnTo>
                    <a:pt x="4215765" y="1184910"/>
                  </a:lnTo>
                  <a:lnTo>
                    <a:pt x="4283392" y="1264920"/>
                  </a:lnTo>
                  <a:lnTo>
                    <a:pt x="4337685" y="132588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63918" y="4543425"/>
              <a:ext cx="4594860" cy="9525"/>
            </a:xfrm>
            <a:custGeom>
              <a:avLst/>
              <a:gdLst/>
              <a:ahLst/>
              <a:cxnLst/>
              <a:rect l="l" t="t" r="r" b="b"/>
              <a:pathLst>
                <a:path w="4594860" h="9525">
                  <a:moveTo>
                    <a:pt x="0" y="0"/>
                  </a:moveTo>
                  <a:lnTo>
                    <a:pt x="459486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458778" y="44958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52512" y="3739515"/>
              <a:ext cx="9525" cy="1776412"/>
            </a:xfrm>
            <a:custGeom>
              <a:avLst/>
              <a:gdLst/>
              <a:ahLst/>
              <a:cxnLst/>
              <a:rect l="l" t="t" r="r" b="b"/>
              <a:pathLst>
                <a:path w="9525" h="1776412">
                  <a:moveTo>
                    <a:pt x="0" y="1776412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04888" y="364426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42988" y="413289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06390" y="50720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35342" y="45339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42988" y="55254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23938" y="4113848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325880" y="4514850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051935" y="3712845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83813" y="44881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2766" y="349662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97600" y="405336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9748" y="36523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20535" y="4642961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1/3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42903" y="3487579"/>
              <a:ext cx="25237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10/3</a:t>
              </a:r>
            </a:p>
          </p:txBody>
        </p:sp>
      </p:grpSp>
      <p:grpSp>
        <p:nvGrpSpPr>
          <p:cNvPr id="55" name="c2-steps-1"/>
          <p:cNvGrpSpPr/>
          <p:nvPr/>
        </p:nvGrpSpPr>
        <p:grpSpPr>
          <a:xfrm>
            <a:off x="6032182" y="1533525"/>
            <a:ext cx="4891126" cy="2702814"/>
            <a:chOff x="6032182" y="1533525"/>
            <a:chExt cx="4891126" cy="2702814"/>
          </a:xfrm>
        </p:grpSpPr>
        <p:sp>
          <p:nvSpPr>
            <p:cNvPr id="34" name="Rectangle 34"/>
            <p:cNvSpPr/>
            <p:nvPr/>
          </p:nvSpPr>
          <p:spPr>
            <a:xfrm>
              <a:off x="6165532" y="1676400"/>
              <a:ext cx="19050" cy="22117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32182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25806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032182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25806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32182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25806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32182" y="374523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5806" y="38190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44806" y="1564481"/>
              <a:ext cx="2079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t = 0 的位移定候选初相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5948" y="1818322"/>
              <a:ext cx="4477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y(0) = 0.5 = cos φ，φ = ±π/3；曲线在 t = 0 之后下降，故取 φ = +π/3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4806" y="2116931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由第一个零点定 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5948" y="2371725"/>
              <a:ext cx="40391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1/3 s 时相位到 π/2：ω/3 + π/3 = π/2，得 ω = π/2 rad·s⁻¹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4806" y="267033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写振动方程并配齐周期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5948" y="2925128"/>
              <a:ext cx="26768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yO = cos(πt/2 + π/3) m，T = 2π/ω = 4 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4806" y="3222784"/>
              <a:ext cx="13024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λ 与 T 求波速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5948" y="3477578"/>
              <a:ext cx="1597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λ/T = 4/4 = 1 m·s⁻¹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806" y="37761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换成波函数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948" y="4030980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+x 传播取减号：y = cos[π(t − x)/2 + π/3] m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032182" y="4397692"/>
            <a:ext cx="5626418" cy="1143952"/>
            <a:chOff x="6032182" y="4397692"/>
            <a:chExt cx="5626418" cy="1143952"/>
          </a:xfrm>
        </p:grpSpPr>
        <p:sp>
          <p:nvSpPr>
            <p:cNvPr id="56" name="Rectangle 56"/>
            <p:cNvSpPr/>
            <p:nvPr/>
          </p:nvSpPr>
          <p:spPr>
            <a:xfrm>
              <a:off x="6032182" y="4397692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13158" y="4578668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08928" y="461152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06680" y="4919186"/>
              <a:ext cx="49791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(1) yO = cos(πt/2 + π/3) m；(2) y = cos[(π/2)(t − x) + π/3] m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（x 以 m 计）。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1" name="Rectangle 6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04863" y="610616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1273" y="6039326"/>
              <a:ext cx="83701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检验：代 t = 10/3 s 得相位 5π/3 + π/3 = 2π，y = 1 m，正好是图上标出的那个峰值，说明 ω 与 φ 都取对了。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0774" cy="909257"/>
            <a:chOff x="520446" y="342900"/>
            <a:chExt cx="7900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0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例3.4　沿 x 负向传播，由某一时刻的波形求波函数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775460"/>
            <a:chOff x="533400" y="1524000"/>
            <a:chExt cx="5193982" cy="1775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775460"/>
            </a:xfrm>
            <a:prstGeom prst="roundRect">
              <a:avLst>
                <a:gd name="adj" fmla="val 7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87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平面波沿 x 轴负向传播，u = 2 m·s⁻¹，t = 1 s 时的波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形如图，由图读出 A = 4 m、λ = 4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波函数。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2931319"/>
              <a:ext cx="2310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 3.2 节的第二道课堂练习。</a:t>
              </a:r>
            </a:p>
          </p:txBody>
        </p:sp>
      </p:grpSp>
      <p:grpSp>
        <p:nvGrpSpPr>
          <p:cNvPr id="37" name="c1-graph-2"/>
          <p:cNvGrpSpPr/>
          <p:nvPr/>
        </p:nvGrpSpPr>
        <p:grpSpPr>
          <a:xfrm>
            <a:off x="809748" y="3497580"/>
            <a:ext cx="4853559" cy="1814512"/>
            <a:chOff x="809748" y="3497580"/>
            <a:chExt cx="4853559" cy="1814512"/>
          </a:xfrm>
        </p:grpSpPr>
        <p:sp>
          <p:nvSpPr>
            <p:cNvPr id="15" name="Freeform 15"/>
            <p:cNvSpPr/>
            <p:nvPr/>
          </p:nvSpPr>
          <p:spPr>
            <a:xfrm>
              <a:off x="1065848" y="3792855"/>
              <a:ext cx="4333875" cy="1350645"/>
            </a:xfrm>
            <a:custGeom>
              <a:avLst/>
              <a:gdLst/>
              <a:ahLst/>
              <a:cxnLst/>
              <a:rect l="l" t="t" r="r" b="b"/>
              <a:pathLst>
                <a:path w="4333875" h="1350645">
                  <a:moveTo>
                    <a:pt x="0" y="661035"/>
                  </a:moveTo>
                  <a:lnTo>
                    <a:pt x="60007" y="594360"/>
                  </a:lnTo>
                  <a:lnTo>
                    <a:pt x="132397" y="514350"/>
                  </a:lnTo>
                  <a:lnTo>
                    <a:pt x="204788" y="437198"/>
                  </a:lnTo>
                  <a:lnTo>
                    <a:pt x="278130" y="360998"/>
                  </a:lnTo>
                  <a:lnTo>
                    <a:pt x="350520" y="291465"/>
                  </a:lnTo>
                  <a:lnTo>
                    <a:pt x="422910" y="228600"/>
                  </a:lnTo>
                  <a:lnTo>
                    <a:pt x="496252" y="170498"/>
                  </a:lnTo>
                  <a:lnTo>
                    <a:pt x="568642" y="120967"/>
                  </a:lnTo>
                  <a:lnTo>
                    <a:pt x="641032" y="79058"/>
                  </a:lnTo>
                  <a:lnTo>
                    <a:pt x="714375" y="45720"/>
                  </a:lnTo>
                  <a:lnTo>
                    <a:pt x="786765" y="20003"/>
                  </a:lnTo>
                  <a:lnTo>
                    <a:pt x="859155" y="5715"/>
                  </a:lnTo>
                  <a:lnTo>
                    <a:pt x="932498" y="0"/>
                  </a:lnTo>
                  <a:lnTo>
                    <a:pt x="1004888" y="3810"/>
                  </a:lnTo>
                  <a:lnTo>
                    <a:pt x="1077278" y="18098"/>
                  </a:lnTo>
                  <a:lnTo>
                    <a:pt x="1150620" y="41910"/>
                  </a:lnTo>
                  <a:lnTo>
                    <a:pt x="1223010" y="75248"/>
                  </a:lnTo>
                  <a:lnTo>
                    <a:pt x="1295400" y="117158"/>
                  </a:lnTo>
                  <a:lnTo>
                    <a:pt x="1368742" y="166688"/>
                  </a:lnTo>
                  <a:lnTo>
                    <a:pt x="1441132" y="221933"/>
                  </a:lnTo>
                  <a:lnTo>
                    <a:pt x="1513522" y="285750"/>
                  </a:lnTo>
                  <a:lnTo>
                    <a:pt x="1586865" y="355283"/>
                  </a:lnTo>
                  <a:lnTo>
                    <a:pt x="1659255" y="428625"/>
                  </a:lnTo>
                  <a:lnTo>
                    <a:pt x="1731645" y="506730"/>
                  </a:lnTo>
                  <a:lnTo>
                    <a:pt x="1804987" y="587692"/>
                  </a:lnTo>
                  <a:lnTo>
                    <a:pt x="1877378" y="667703"/>
                  </a:lnTo>
                  <a:lnTo>
                    <a:pt x="1949768" y="748665"/>
                  </a:lnTo>
                  <a:lnTo>
                    <a:pt x="2023110" y="830580"/>
                  </a:lnTo>
                  <a:lnTo>
                    <a:pt x="2095500" y="907733"/>
                  </a:lnTo>
                  <a:lnTo>
                    <a:pt x="2167890" y="981075"/>
                  </a:lnTo>
                  <a:lnTo>
                    <a:pt x="2241232" y="1052512"/>
                  </a:lnTo>
                  <a:lnTo>
                    <a:pt x="2313622" y="1116330"/>
                  </a:lnTo>
                  <a:lnTo>
                    <a:pt x="2386012" y="1174432"/>
                  </a:lnTo>
                  <a:lnTo>
                    <a:pt x="2459355" y="1225868"/>
                  </a:lnTo>
                  <a:lnTo>
                    <a:pt x="2531745" y="1269682"/>
                  </a:lnTo>
                  <a:lnTo>
                    <a:pt x="2604135" y="1303020"/>
                  </a:lnTo>
                  <a:lnTo>
                    <a:pt x="2677478" y="1328738"/>
                  </a:lnTo>
                  <a:lnTo>
                    <a:pt x="2749868" y="1344930"/>
                  </a:lnTo>
                  <a:lnTo>
                    <a:pt x="2823210" y="1350645"/>
                  </a:lnTo>
                  <a:lnTo>
                    <a:pt x="2895600" y="1346835"/>
                  </a:lnTo>
                  <a:lnTo>
                    <a:pt x="2967990" y="1333500"/>
                  </a:lnTo>
                  <a:lnTo>
                    <a:pt x="3041332" y="1311592"/>
                  </a:lnTo>
                  <a:lnTo>
                    <a:pt x="3113722" y="1279208"/>
                  </a:lnTo>
                  <a:lnTo>
                    <a:pt x="3186112" y="1237298"/>
                  </a:lnTo>
                  <a:lnTo>
                    <a:pt x="3259455" y="1189673"/>
                  </a:lnTo>
                  <a:lnTo>
                    <a:pt x="3331845" y="1132523"/>
                  </a:lnTo>
                  <a:lnTo>
                    <a:pt x="3404235" y="1068705"/>
                  </a:lnTo>
                  <a:lnTo>
                    <a:pt x="3477578" y="1001078"/>
                  </a:lnTo>
                  <a:lnTo>
                    <a:pt x="3549968" y="927735"/>
                  </a:lnTo>
                  <a:lnTo>
                    <a:pt x="3622357" y="850583"/>
                  </a:lnTo>
                  <a:lnTo>
                    <a:pt x="3695700" y="770573"/>
                  </a:lnTo>
                  <a:lnTo>
                    <a:pt x="3768090" y="689610"/>
                  </a:lnTo>
                  <a:lnTo>
                    <a:pt x="3840480" y="607695"/>
                  </a:lnTo>
                  <a:lnTo>
                    <a:pt x="3913822" y="528638"/>
                  </a:lnTo>
                  <a:lnTo>
                    <a:pt x="3986212" y="450533"/>
                  </a:lnTo>
                  <a:lnTo>
                    <a:pt x="4058602" y="375285"/>
                  </a:lnTo>
                  <a:lnTo>
                    <a:pt x="4131945" y="303848"/>
                  </a:lnTo>
                  <a:lnTo>
                    <a:pt x="4204335" y="240030"/>
                  </a:lnTo>
                  <a:lnTo>
                    <a:pt x="4276725" y="180975"/>
                  </a:lnTo>
                  <a:lnTo>
                    <a:pt x="4333875" y="140017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63918" y="4468178"/>
              <a:ext cx="4594860" cy="9525"/>
            </a:xfrm>
            <a:custGeom>
              <a:avLst/>
              <a:gdLst/>
              <a:ahLst/>
              <a:cxnLst/>
              <a:rect l="l" t="t" r="r" b="b"/>
              <a:pathLst>
                <a:path w="4594860" h="9525">
                  <a:moveTo>
                    <a:pt x="0" y="0"/>
                  </a:moveTo>
                  <a:lnTo>
                    <a:pt x="459486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458778" y="44205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52512" y="3820478"/>
              <a:ext cx="9525" cy="1463040"/>
            </a:xfrm>
            <a:custGeom>
              <a:avLst/>
              <a:gdLst/>
              <a:ahLst/>
              <a:cxnLst/>
              <a:rect l="l" t="t" r="r" b="b"/>
              <a:pathLst>
                <a:path w="9525" h="1463040">
                  <a:moveTo>
                    <a:pt x="0" y="146304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004888" y="37252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660458" y="3712845"/>
              <a:ext cx="1216342" cy="9525"/>
            </a:xfrm>
            <a:custGeom>
              <a:avLst/>
              <a:gdLst/>
              <a:ahLst/>
              <a:cxnLst/>
              <a:rect l="l" t="t" r="r" b="b"/>
              <a:pathLst>
                <a:path w="1216342" h="9525">
                  <a:moveTo>
                    <a:pt x="121634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565208" y="36652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42988" y="44586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406390" y="391191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35342" y="44586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42988" y="52930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4886325" y="37033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36632" y="370332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920365" y="4439602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815840" y="4439602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83813" y="441198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12766" y="357759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486" y="4510088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9748" y="370379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87151" y="45381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09296" y="453818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31012" y="349758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55" name="c2-steps-1"/>
          <p:cNvGrpSpPr/>
          <p:nvPr/>
        </p:nvGrpSpPr>
        <p:grpSpPr>
          <a:xfrm>
            <a:off x="6032182" y="1533525"/>
            <a:ext cx="5396103" cy="2487454"/>
            <a:chOff x="6032182" y="1533525"/>
            <a:chExt cx="5396103" cy="2487454"/>
          </a:xfrm>
        </p:grpSpPr>
        <p:sp>
          <p:nvSpPr>
            <p:cNvPr id="38" name="Rectangle 38"/>
            <p:cNvSpPr/>
            <p:nvPr/>
          </p:nvSpPr>
          <p:spPr>
            <a:xfrm>
              <a:off x="6165532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32182" y="212026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2580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032182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25806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032182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25806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4424" y="1564957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配齐周期与角频率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5567" y="1833086"/>
              <a:ext cx="29729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λ/u = 4/2 = 2 s，ω = 2π/T = π rad·s⁻¹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4424" y="2152650"/>
              <a:ext cx="1991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 t = 1 s 时原点的相位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45567" y="2419826"/>
              <a:ext cx="49827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此刻 O 点 y = 0；波沿 −x 传播，要看右邻居，右侧波形更高，所以 O 点正在向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上走，相位取 −π/2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44424" y="2946082"/>
              <a:ext cx="14662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退回 t = 0 求初相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45567" y="3214211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 = −π/2 − ω×1 = −3π/2，化到主值区间就是 +π/2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44424" y="353282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写出波函数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5567" y="3800951"/>
              <a:ext cx="3411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 −x 传播取加号：y = 4cos[π(t + x/2) + π/2] m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032182" y="4190048"/>
            <a:ext cx="5626418" cy="1209675"/>
            <a:chOff x="6032182" y="4190048"/>
            <a:chExt cx="5626418" cy="1209675"/>
          </a:xfrm>
        </p:grpSpPr>
        <p:sp>
          <p:nvSpPr>
            <p:cNvPr id="56" name="Rectangle 56"/>
            <p:cNvSpPr/>
            <p:nvPr/>
          </p:nvSpPr>
          <p:spPr>
            <a:xfrm>
              <a:off x="6032182" y="4190048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24588" y="438245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20028" y="44167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17730" y="4738687"/>
              <a:ext cx="49943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 = 4cos[π(t + x/2) + π/2] m（x 以 m 计，t 以 s 计）。初相写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 −3π/2 或 π/2 都对，两者相差 2π。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1" name="Rectangle 61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04863" y="59756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5779770"/>
              <a:ext cx="99578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检验：代 t = 1 s 得 y(x) = 4sin(πx/2)，于是 x = 1 m 处 y = 4 m、x = 2 m 处 y = 0、x = 3 m 处 y = −4 m，与图上波形完全对上。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沿 −x 传播时左邻法要改成右邻法，方向判反是这类题最常见的失分点。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29543" cy="909257"/>
            <a:chOff x="520446" y="342900"/>
            <a:chExt cx="78295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295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例3.5　波函数、指定点的振动方程与质点运动方向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289810"/>
            <a:chOff x="533400" y="1524000"/>
            <a:chExt cx="5193982" cy="2289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289810"/>
            </a:xfrm>
            <a:prstGeom prst="roundRect">
              <a:avLst>
                <a:gd name="adj" fmla="val 58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31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5742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平面简谐波以 u = 0.08 m·s⁻¹ 向右传播，t = 0 的波形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如图，A = 0.04 m，图中标出的半个波形长 0.2 m，P 点在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0.4 m 处。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波函数；(2) P 点的振动方程；(3) 图中 a、b 两点此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刻的振动方向。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3445669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原课件练习1。</a:t>
              </a:r>
            </a:p>
          </p:txBody>
        </p:sp>
      </p:grpSp>
      <p:grpSp>
        <p:nvGrpSpPr>
          <p:cNvPr id="44" name="c1-graph-2"/>
          <p:cNvGrpSpPr/>
          <p:nvPr/>
        </p:nvGrpSpPr>
        <p:grpSpPr>
          <a:xfrm>
            <a:off x="740664" y="4011930"/>
            <a:ext cx="4922643" cy="1342072"/>
            <a:chOff x="740664" y="4011930"/>
            <a:chExt cx="4922643" cy="1342072"/>
          </a:xfrm>
        </p:grpSpPr>
        <p:sp>
          <p:nvSpPr>
            <p:cNvPr id="15" name="Freeform 15"/>
            <p:cNvSpPr/>
            <p:nvPr/>
          </p:nvSpPr>
          <p:spPr>
            <a:xfrm>
              <a:off x="1015365" y="4253865"/>
              <a:ext cx="4383405" cy="942975"/>
            </a:xfrm>
            <a:custGeom>
              <a:avLst/>
              <a:gdLst/>
              <a:ahLst/>
              <a:cxnLst/>
              <a:rect l="l" t="t" r="r" b="b"/>
              <a:pathLst>
                <a:path w="4383405" h="942975">
                  <a:moveTo>
                    <a:pt x="0" y="460057"/>
                  </a:moveTo>
                  <a:lnTo>
                    <a:pt x="53340" y="418147"/>
                  </a:lnTo>
                  <a:lnTo>
                    <a:pt x="125730" y="365760"/>
                  </a:lnTo>
                  <a:lnTo>
                    <a:pt x="193358" y="315277"/>
                  </a:lnTo>
                  <a:lnTo>
                    <a:pt x="260985" y="265747"/>
                  </a:lnTo>
                  <a:lnTo>
                    <a:pt x="328612" y="220027"/>
                  </a:lnTo>
                  <a:lnTo>
                    <a:pt x="401002" y="175260"/>
                  </a:lnTo>
                  <a:lnTo>
                    <a:pt x="468630" y="137160"/>
                  </a:lnTo>
                  <a:lnTo>
                    <a:pt x="536258" y="101917"/>
                  </a:lnTo>
                  <a:lnTo>
                    <a:pt x="608648" y="71438"/>
                  </a:lnTo>
                  <a:lnTo>
                    <a:pt x="676275" y="45720"/>
                  </a:lnTo>
                  <a:lnTo>
                    <a:pt x="743902" y="25717"/>
                  </a:lnTo>
                  <a:lnTo>
                    <a:pt x="811530" y="10477"/>
                  </a:lnTo>
                  <a:lnTo>
                    <a:pt x="883920" y="2857"/>
                  </a:lnTo>
                  <a:lnTo>
                    <a:pt x="951548" y="0"/>
                  </a:lnTo>
                  <a:lnTo>
                    <a:pt x="1019175" y="2857"/>
                  </a:lnTo>
                  <a:lnTo>
                    <a:pt x="1086802" y="13335"/>
                  </a:lnTo>
                  <a:lnTo>
                    <a:pt x="1159193" y="28575"/>
                  </a:lnTo>
                  <a:lnTo>
                    <a:pt x="1226820" y="48577"/>
                  </a:lnTo>
                  <a:lnTo>
                    <a:pt x="1294448" y="75247"/>
                  </a:lnTo>
                  <a:lnTo>
                    <a:pt x="1366838" y="107632"/>
                  </a:lnTo>
                  <a:lnTo>
                    <a:pt x="1434465" y="142875"/>
                  </a:lnTo>
                  <a:lnTo>
                    <a:pt x="1502093" y="182880"/>
                  </a:lnTo>
                  <a:lnTo>
                    <a:pt x="1569720" y="226695"/>
                  </a:lnTo>
                  <a:lnTo>
                    <a:pt x="1642110" y="274320"/>
                  </a:lnTo>
                  <a:lnTo>
                    <a:pt x="1709738" y="323850"/>
                  </a:lnTo>
                  <a:lnTo>
                    <a:pt x="1777365" y="374332"/>
                  </a:lnTo>
                  <a:lnTo>
                    <a:pt x="1849755" y="427672"/>
                  </a:lnTo>
                  <a:lnTo>
                    <a:pt x="1917382" y="480060"/>
                  </a:lnTo>
                  <a:lnTo>
                    <a:pt x="1985010" y="533400"/>
                  </a:lnTo>
                  <a:lnTo>
                    <a:pt x="2052638" y="586740"/>
                  </a:lnTo>
                  <a:lnTo>
                    <a:pt x="2125028" y="636270"/>
                  </a:lnTo>
                  <a:lnTo>
                    <a:pt x="2192655" y="684847"/>
                  </a:lnTo>
                  <a:lnTo>
                    <a:pt x="2260282" y="730567"/>
                  </a:lnTo>
                  <a:lnTo>
                    <a:pt x="2332672" y="773430"/>
                  </a:lnTo>
                  <a:lnTo>
                    <a:pt x="2400300" y="813435"/>
                  </a:lnTo>
                  <a:lnTo>
                    <a:pt x="2467928" y="846772"/>
                  </a:lnTo>
                  <a:lnTo>
                    <a:pt x="2535555" y="876300"/>
                  </a:lnTo>
                  <a:lnTo>
                    <a:pt x="2607945" y="902017"/>
                  </a:lnTo>
                  <a:lnTo>
                    <a:pt x="2675572" y="921067"/>
                  </a:lnTo>
                  <a:lnTo>
                    <a:pt x="2743200" y="934403"/>
                  </a:lnTo>
                  <a:lnTo>
                    <a:pt x="2816543" y="941070"/>
                  </a:lnTo>
                  <a:lnTo>
                    <a:pt x="2883218" y="942975"/>
                  </a:lnTo>
                  <a:lnTo>
                    <a:pt x="2950845" y="938212"/>
                  </a:lnTo>
                  <a:lnTo>
                    <a:pt x="3018472" y="927735"/>
                  </a:lnTo>
                  <a:lnTo>
                    <a:pt x="3091815" y="911542"/>
                  </a:lnTo>
                  <a:lnTo>
                    <a:pt x="3158490" y="889635"/>
                  </a:lnTo>
                  <a:lnTo>
                    <a:pt x="3226118" y="862012"/>
                  </a:lnTo>
                  <a:lnTo>
                    <a:pt x="3299460" y="829628"/>
                  </a:lnTo>
                  <a:lnTo>
                    <a:pt x="3367088" y="792480"/>
                  </a:lnTo>
                  <a:lnTo>
                    <a:pt x="3433762" y="752475"/>
                  </a:lnTo>
                  <a:lnTo>
                    <a:pt x="3501390" y="706755"/>
                  </a:lnTo>
                  <a:lnTo>
                    <a:pt x="3574732" y="660082"/>
                  </a:lnTo>
                  <a:lnTo>
                    <a:pt x="3642360" y="609600"/>
                  </a:lnTo>
                  <a:lnTo>
                    <a:pt x="3709035" y="558165"/>
                  </a:lnTo>
                  <a:lnTo>
                    <a:pt x="3776662" y="506730"/>
                  </a:lnTo>
                  <a:lnTo>
                    <a:pt x="3850005" y="452438"/>
                  </a:lnTo>
                  <a:lnTo>
                    <a:pt x="3917632" y="399097"/>
                  </a:lnTo>
                  <a:lnTo>
                    <a:pt x="3984307" y="347662"/>
                  </a:lnTo>
                  <a:lnTo>
                    <a:pt x="4057650" y="298132"/>
                  </a:lnTo>
                  <a:lnTo>
                    <a:pt x="4125278" y="249555"/>
                  </a:lnTo>
                  <a:lnTo>
                    <a:pt x="4192905" y="203835"/>
                  </a:lnTo>
                  <a:lnTo>
                    <a:pt x="4259580" y="161925"/>
                  </a:lnTo>
                  <a:lnTo>
                    <a:pt x="4332922" y="123825"/>
                  </a:lnTo>
                  <a:lnTo>
                    <a:pt x="4383405" y="9906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12482" y="4725352"/>
              <a:ext cx="4646295" cy="9525"/>
            </a:xfrm>
            <a:custGeom>
              <a:avLst/>
              <a:gdLst/>
              <a:ahLst/>
              <a:cxnLst/>
              <a:rect l="l" t="t" r="r" b="b"/>
              <a:pathLst>
                <a:path w="4646295" h="9525">
                  <a:moveTo>
                    <a:pt x="0" y="0"/>
                  </a:moveTo>
                  <a:lnTo>
                    <a:pt x="464629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458778" y="46777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01078" y="4293870"/>
              <a:ext cx="9525" cy="1031558"/>
            </a:xfrm>
            <a:custGeom>
              <a:avLst/>
              <a:gdLst/>
              <a:ahLst/>
              <a:cxnLst/>
              <a:rect l="l" t="t" r="r" b="b"/>
              <a:pathLst>
                <a:path w="9525" h="1031558">
                  <a:moveTo>
                    <a:pt x="0" y="103155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953452" y="419862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772852" y="4136708"/>
              <a:ext cx="1216342" cy="9525"/>
            </a:xfrm>
            <a:custGeom>
              <a:avLst/>
              <a:gdLst/>
              <a:ahLst/>
              <a:cxnLst/>
              <a:rect l="l" t="t" r="r" b="b"/>
              <a:pathLst>
                <a:path w="1216342" h="9525">
                  <a:moveTo>
                    <a:pt x="0" y="0"/>
                  </a:moveTo>
                  <a:lnTo>
                    <a:pt x="121634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989195" y="40890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115378" y="4960620"/>
              <a:ext cx="1692593" cy="9525"/>
            </a:xfrm>
            <a:custGeom>
              <a:avLst/>
              <a:gdLst/>
              <a:ahLst/>
              <a:cxnLst/>
              <a:rect l="l" t="t" r="r" b="b"/>
              <a:pathLst>
                <a:path w="1692593" h="9525">
                  <a:moveTo>
                    <a:pt x="0" y="0"/>
                  </a:moveTo>
                  <a:lnTo>
                    <a:pt x="1692593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807970" y="49129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020128" y="49129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91552" y="47158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406390" y="43348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83908" y="47158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91552" y="53349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440180" y="4354830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401252" y="4354830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800600" y="4687252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744278" y="41271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093970" y="412718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991552" y="49510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912745" y="49510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83813" y="466915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1331" y="40509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0664" y="4746308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378287" y="41719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68899" y="41719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55883" y="451008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81693" y="4975384"/>
              <a:ext cx="307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0.2 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391044" y="401193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62" name="c2-steps-1"/>
          <p:cNvGrpSpPr/>
          <p:nvPr/>
        </p:nvGrpSpPr>
        <p:grpSpPr>
          <a:xfrm>
            <a:off x="6032182" y="1533525"/>
            <a:ext cx="5332095" cy="2487454"/>
            <a:chOff x="6032182" y="1533525"/>
            <a:chExt cx="5332095" cy="2487454"/>
          </a:xfrm>
        </p:grpSpPr>
        <p:sp>
          <p:nvSpPr>
            <p:cNvPr id="45" name="Rectangle 45"/>
            <p:cNvSpPr/>
            <p:nvPr/>
          </p:nvSpPr>
          <p:spPr>
            <a:xfrm>
              <a:off x="6165532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032182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125806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032182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125806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032182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25806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44424" y="1564957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读周期与初相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45567" y="1833086"/>
              <a:ext cx="49187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半个波形 0.2 m 给 λ = 0.4 m，T = λ/u = 5 s；O 点 y = 0 且正向下走，取 φ =</a:t>
              </a:r>
              <a:br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π/2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44424" y="23593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写波函数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45567" y="2627471"/>
              <a:ext cx="3011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0.04cos[(2π/5)(t − x/0.08) + π/2] m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44424" y="2946082"/>
              <a:ext cx="790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P 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45567" y="3214211"/>
              <a:ext cx="3323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在 x = λ 处，相位比 O 落后 2π，yP 与 yO 相同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44424" y="3532822"/>
              <a:ext cx="1246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 a、b 的方向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45567" y="3800951"/>
              <a:ext cx="3434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的左邻更低，向下；b 的左邻是波峰、更高，向上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6032182" y="4190048"/>
            <a:ext cx="5626418" cy="1209675"/>
            <a:chOff x="6032182" y="4190048"/>
            <a:chExt cx="5626418" cy="1209675"/>
          </a:xfrm>
        </p:grpSpPr>
        <p:sp>
          <p:nvSpPr>
            <p:cNvPr id="63" name="Rectangle 63"/>
            <p:cNvSpPr/>
            <p:nvPr/>
          </p:nvSpPr>
          <p:spPr>
            <a:xfrm>
              <a:off x="6032182" y="4190048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24588" y="438245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20028" y="44167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17730" y="4738687"/>
              <a:ext cx="49514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(1) y = 0.04cos[(2π/5)(t − x/0.08) + π/2] m；(2) yP 与 yO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相同；(3) a 向下，b 向上。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8" name="Rectangle 6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04863" y="59756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5779770"/>
              <a:ext cx="990638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检验：P 与 O 相距整整一个波长，相位差 2π，两点振动必须一模一样，第二问的结果正好如此；再用 v = −u·∂y/∂x 核对 a、b，符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号与左邻法一致。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2981" cy="909257"/>
            <a:chOff x="520446" y="342900"/>
            <a:chExt cx="71429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平面简谐波的波函数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29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例3.6　换一个坐标原点，波函数会变成什么样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977765" cy="2289810"/>
            <a:chOff x="533400" y="1524000"/>
            <a:chExt cx="4977765" cy="2289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289810"/>
            </a:xfrm>
            <a:prstGeom prst="roundRect">
              <a:avLst>
                <a:gd name="adj" fmla="val 58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31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5743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3" y="1750695"/>
              <a:ext cx="396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例3.6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31711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平面简谐波以 u = 20 m·s⁻¹ 沿 x 正向传播，波线上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C、B、A、D 依次排列，CB = 8 m，BA = 5 m，AD = 9 m。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点的振动方程 yA = 3×10⁻²cos4πt（SI）。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889885"/>
              <a:ext cx="43856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以 A 为原点的波动方程；(2) 以 B 为原点的波动方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程；(3) C、D 两点的振动方程。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3445669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原课件练习2。</a:t>
              </a:r>
            </a:p>
          </p:txBody>
        </p:sp>
      </p:grpSp>
      <p:grpSp>
        <p:nvGrpSpPr>
          <p:cNvPr id="44" name="c1-graph-2"/>
          <p:cNvGrpSpPr/>
          <p:nvPr/>
        </p:nvGrpSpPr>
        <p:grpSpPr>
          <a:xfrm>
            <a:off x="772478" y="4097655"/>
            <a:ext cx="4628892" cy="1400651"/>
            <a:chOff x="772478" y="4097655"/>
            <a:chExt cx="4628892" cy="1400651"/>
          </a:xfrm>
        </p:grpSpPr>
        <p:sp>
          <p:nvSpPr>
            <p:cNvPr id="15" name="Freeform 15"/>
            <p:cNvSpPr/>
            <p:nvPr/>
          </p:nvSpPr>
          <p:spPr>
            <a:xfrm>
              <a:off x="801052" y="4902518"/>
              <a:ext cx="4395788" cy="9525"/>
            </a:xfrm>
            <a:custGeom>
              <a:avLst/>
              <a:gdLst/>
              <a:ahLst/>
              <a:cxnLst/>
              <a:rect l="l" t="t" r="r" b="b"/>
              <a:pathLst>
                <a:path w="4395788" h="9525">
                  <a:moveTo>
                    <a:pt x="0" y="0"/>
                  </a:moveTo>
                  <a:lnTo>
                    <a:pt x="4395788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96840" y="485489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439478" y="4312920"/>
              <a:ext cx="1161097" cy="9525"/>
            </a:xfrm>
            <a:custGeom>
              <a:avLst/>
              <a:gdLst/>
              <a:ahLst/>
              <a:cxnLst/>
              <a:rect l="l" t="t" r="r" b="b"/>
              <a:pathLst>
                <a:path w="1161097" h="9525">
                  <a:moveTo>
                    <a:pt x="0" y="0"/>
                  </a:moveTo>
                  <a:lnTo>
                    <a:pt x="1161097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600575" y="426529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329690" y="5045392"/>
              <a:ext cx="1393507" cy="240030"/>
            </a:xfrm>
            <a:custGeom>
              <a:avLst/>
              <a:gdLst/>
              <a:ahLst/>
              <a:cxnLst/>
              <a:rect l="l" t="t" r="r" b="b"/>
              <a:pathLst>
                <a:path w="1393507" h="240030">
                  <a:moveTo>
                    <a:pt x="0" y="0"/>
                  </a:moveTo>
                  <a:lnTo>
                    <a:pt x="0" y="240030"/>
                  </a:lnTo>
                  <a:lnTo>
                    <a:pt x="1393507" y="240030"/>
                  </a:lnTo>
                  <a:lnTo>
                    <a:pt x="1393507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675572" y="4950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282065" y="4950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723198" y="5045392"/>
              <a:ext cx="896303" cy="240030"/>
            </a:xfrm>
            <a:custGeom>
              <a:avLst/>
              <a:gdLst/>
              <a:ahLst/>
              <a:cxnLst/>
              <a:rect l="l" t="t" r="r" b="b"/>
              <a:pathLst>
                <a:path w="896303" h="240030">
                  <a:moveTo>
                    <a:pt x="0" y="0"/>
                  </a:moveTo>
                  <a:lnTo>
                    <a:pt x="0" y="240030"/>
                  </a:lnTo>
                  <a:lnTo>
                    <a:pt x="896303" y="240030"/>
                  </a:lnTo>
                  <a:lnTo>
                    <a:pt x="896303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571875" y="4950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2675572" y="4950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619500" y="5045392"/>
              <a:ext cx="1194435" cy="240030"/>
            </a:xfrm>
            <a:custGeom>
              <a:avLst/>
              <a:gdLst/>
              <a:ahLst/>
              <a:cxnLst/>
              <a:rect l="l" t="t" r="r" b="b"/>
              <a:pathLst>
                <a:path w="1194435" h="240030">
                  <a:moveTo>
                    <a:pt x="0" y="0"/>
                  </a:moveTo>
                  <a:lnTo>
                    <a:pt x="0" y="240030"/>
                  </a:lnTo>
                  <a:lnTo>
                    <a:pt x="1194435" y="240030"/>
                  </a:lnTo>
                  <a:lnTo>
                    <a:pt x="119443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4766310" y="4950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3571875" y="49501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772478" y="489299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291590" y="486441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685098" y="486441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3581400" y="486441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4775835" y="4864418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410902" y="43033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705350" y="430339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321876" y="48463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89723" y="462819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83231" y="462819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579533" y="462819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73968" y="4628198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933847" y="5336381"/>
              <a:ext cx="1861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 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78752" y="5336381"/>
              <a:ext cx="1861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 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123644" y="5336381"/>
              <a:ext cx="18614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 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979564" y="409765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62" name="c2-steps-1"/>
          <p:cNvGrpSpPr/>
          <p:nvPr/>
        </p:nvGrpSpPr>
        <p:grpSpPr>
          <a:xfrm>
            <a:off x="5815965" y="1533525"/>
            <a:ext cx="5538343" cy="2487454"/>
            <a:chOff x="5815965" y="1533525"/>
            <a:chExt cx="5538343" cy="2487454"/>
          </a:xfrm>
        </p:grpSpPr>
        <p:sp>
          <p:nvSpPr>
            <p:cNvPr id="45" name="Rectangle 45"/>
            <p:cNvSpPr/>
            <p:nvPr/>
          </p:nvSpPr>
          <p:spPr>
            <a:xfrm>
              <a:off x="5949315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815965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09589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5815965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09589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5815965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09589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28207" y="1564957"/>
              <a:ext cx="1881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配齐参数并以 A 为原点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29350" y="1833086"/>
              <a:ext cx="51249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 = 4π rad·s⁻¹，T = 0.5 s，λ = uT = 10 m；A 就是参考点，y = 3×10⁻²cos4π(t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x/20)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28207" y="2359342"/>
              <a:ext cx="1336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 B 的振动方程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29350" y="2627471"/>
              <a:ext cx="39459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在 A 左 5 m、早振动 5/20 s：yB = 3×10⁻²cos(4πt + π)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8207" y="2946082"/>
              <a:ext cx="972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B 为原点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29350" y="3214211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= 3×10⁻²cos[4π(t − x/20) + π]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28207" y="3532822"/>
              <a:ext cx="12651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超前、D 落后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9350" y="3800951"/>
              <a:ext cx="415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在 A 左 13 m、D 在右 9 m，相位加减 4π×13/20 与 4π×9/20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5815965" y="4190048"/>
            <a:ext cx="5842635" cy="1209675"/>
            <a:chOff x="5815965" y="4190048"/>
            <a:chExt cx="5842635" cy="1209675"/>
          </a:xfrm>
        </p:grpSpPr>
        <p:sp>
          <p:nvSpPr>
            <p:cNvPr id="63" name="Rectangle 63"/>
            <p:cNvSpPr/>
            <p:nvPr/>
          </p:nvSpPr>
          <p:spPr>
            <a:xfrm>
              <a:off x="5815965" y="4190048"/>
              <a:ext cx="5842635" cy="1209675"/>
            </a:xfrm>
            <a:prstGeom prst="roundRect">
              <a:avLst>
                <a:gd name="adj" fmla="val 1102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08370" y="438245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103811" y="44167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01512" y="4738687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(1) y = 3×10⁻²cos4π(t − x/20)；(2) 同式再加 π；(3) yC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3×10⁻²cos(4πt + 13π/5)，yD = 3×10⁻²cos(4πt − 9π/5)。</a:t>
              </a:r>
            </a:p>
          </p:txBody>
        </p:sp>
      </p:grpSp>
      <p:grpSp>
        <p:nvGrpSpPr>
          <p:cNvPr id="7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8" name="Rectangle 6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04863" y="59756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5779770"/>
              <a:ext cx="98463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检验：把 x = 5 m 代进以 B 为原点的波函数，得 3×10⁻²cos(4πt − π + π) = 3×10⁻²cos4πt，正好还原成 A 点的振动方程，说明换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原点没有换错符号。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02270" cy="3351847"/>
            <a:chOff x="667512" y="1835468"/>
            <a:chExt cx="4902270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波的能量与能流密度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892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3.3，解释波为什么能把能量送到远处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动能与势能同相位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平均能量密度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能流与波的强度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平面波与球面波的振幅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波的能量与能流密度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波里的动能与势能同相位，一起大一起小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43952"/>
            <a:chOff x="533400" y="1524000"/>
            <a:chExt cx="5410200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94" y="1737836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取一小块质元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质量 dm = ρdV，位移 y = A cos ω(t − x/u)，速度 v = −Aω sin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ω(t − x/u)。介质在振动的同时被拉伸压缩，因而还有形变势能。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62"/>
              <p:cNvSpPr txBox="1">
                <a:spLocks noGrp="1"/>
              </p:cNvSpPr>
              <p:nvPr/>
            </p:nvSpPr>
            <p:spPr>
              <a:xfrm>
                <a:off x="533400" y="2832735"/>
                <a:ext cx="5410200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dV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63"/>
              <p:cNvSpPr txBox="1">
                <a:spLocks noGrp="1"/>
              </p:cNvSpPr>
              <p:nvPr/>
            </p:nvSpPr>
            <p:spPr>
              <a:xfrm>
                <a:off x="533400" y="3357562"/>
                <a:ext cx="5410200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dV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64"/>
              <p:cNvSpPr txBox="1">
                <a:spLocks noGrp="1"/>
              </p:cNvSpPr>
              <p:nvPr/>
            </p:nvSpPr>
            <p:spPr>
              <a:xfrm>
                <a:off x="533400" y="3882390"/>
                <a:ext cx="5410200" cy="3600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dE</m:t>
                      </m:r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</m:t>
                      </m:r>
                      <m:sSub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E</m:t>
                          </m:r>
                        </m:e>
                        <m:sub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dV</m:t>
                      </m:r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0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0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a:rPr lang="zh-CN" sz="10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" name="c1-card-5"/>
          <p:cNvGrpSpPr/>
          <p:nvPr/>
        </p:nvGrpSpPr>
        <p:grpSpPr>
          <a:xfrm>
            <a:off x="533400" y="4407218"/>
            <a:ext cx="5410200" cy="1143952"/>
            <a:chOff x="533400" y="4407218"/>
            <a:chExt cx="5410200" cy="1143952"/>
          </a:xfrm>
        </p:grpSpPr>
        <p:sp>
          <p:nvSpPr>
            <p:cNvPr id="16" name="Rectangle 16"/>
            <p:cNvSpPr/>
            <p:nvPr/>
          </p:nvSpPr>
          <p:spPr>
            <a:xfrm>
              <a:off x="533400" y="4407218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54056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4588192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1096" y="46210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读式子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4928711"/>
              <a:ext cx="4816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三个式子里的 sin² 完全一样，这就是动能与势能同相的全部证据。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括号里的 t − x/u 说明每个位置的能量起伏都比原点晚 x/u。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957388"/>
            <a:chOff x="6248400" y="1524000"/>
            <a:chExt cx="5410200" cy="1957388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957388"/>
            </a:xfrm>
            <a:prstGeom prst="roundRect">
              <a:avLst>
                <a:gd name="adj" fmla="val 681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29375" y="1704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13944" y="1737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三条结论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29375" y="2033588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81282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9123" y="2045494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动能与势能表达式完全相同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，同时为零、同时最大，总能量在 0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ρdV·A²ω² 之间变化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29375" y="25622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81282" y="25968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9123" y="2573179"/>
              <a:ext cx="4450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质元的总能量 </a:t>
              </a:r>
              <a:r>
                <a:rPr lang="zh-CN" sz="128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不守恒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：它从后面的质元吸收能量，再放给前面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的质元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29375" y="308991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81282" y="312553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99123" y="3100864"/>
              <a:ext cx="4665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位移最大处（波峰波谷）能量反而为零，平衡位置处能量最大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3646170"/>
            <a:ext cx="5410200" cy="1905952"/>
            <a:chOff x="6248400" y="3646170"/>
            <a:chExt cx="5410200" cy="1905952"/>
          </a:xfrm>
        </p:grpSpPr>
        <p:sp>
          <p:nvSpPr>
            <p:cNvPr id="35" name="Rectangle 35"/>
            <p:cNvSpPr/>
            <p:nvPr/>
          </p:nvSpPr>
          <p:spPr>
            <a:xfrm>
              <a:off x="6248400" y="3646170"/>
              <a:ext cx="5410200" cy="1905952"/>
            </a:xfrm>
            <a:prstGeom prst="roundRect">
              <a:avLst>
                <a:gd name="adj" fmla="val 69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3779520"/>
              <a:ext cx="47625" cy="1639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7475" y="3827145"/>
              <a:ext cx="1525905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27742" y="3860006"/>
              <a:ext cx="14053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与第2章最容易混的一点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998" y="416671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孤立的弹簧振子里动能与势能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反相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，总能量守恒；波动里两者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，总能量随时间起伏。振子不与外界交换能量，波中的质元却一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直在和邻居交换。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2141" y="4933950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质元被拉伸得最厉害的时刻，正是它经过平衡位置跑得最快的时刻。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2" name="Rectangle 4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96711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形变势能取决于相邻两点的位移之差（即 ∂y/∂x），而不是质元自己离开平衡位置多远，这是它与弹簧振子势能最本质的区别。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波的能量与能流密度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平均能量密度正比于振幅平方与频率平方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09675"/>
            <a:chOff x="533400" y="1524000"/>
            <a:chExt cx="5626418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7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能量密度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8486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单位体积介质里的波动能量，记作 w = dE/dV。它随时间按 sin²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起伏，最大值是 ρA²ω²。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73"/>
              <p:cNvSpPr txBox="1">
                <a:spLocks noGrp="1"/>
              </p:cNvSpPr>
              <p:nvPr/>
            </p:nvSpPr>
            <p:spPr>
              <a:xfrm>
                <a:off x="533400" y="2908935"/>
                <a:ext cx="5626418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dE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dV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s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func>
                        <m:funcPr/>
                        <m:fName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sin</m:t>
                              </m:r>
                            </m:e>
                            <m:sup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</m:func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74"/>
              <p:cNvSpPr txBox="1">
                <a:spLocks noGrp="1"/>
              </p:cNvSpPr>
              <p:nvPr/>
            </p:nvSpPr>
            <p:spPr>
              <a:xfrm>
                <a:off x="533400" y="3494722"/>
                <a:ext cx="5626418" cy="453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bar>
                        <m:barPr>
                          <m:pos m:val="top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den>
                      </m:f>
                      <m:nary>
                        <m:naryPr>
                          <m:chr m:val="∫"/>
                          <m:limLoc m:val="subSup"/>
                          <m:grow m:val="off"/>
                          <m:subHide m:val="off"/>
                          <m:supHide m:val="off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dt</m:t>
                          </m:r>
                        </m:e>
                      </m:nary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20" name="c1-card-4"/>
          <p:cNvGrpSpPr/>
          <p:nvPr/>
        </p:nvGrpSpPr>
        <p:grpSpPr>
          <a:xfrm>
            <a:off x="533400" y="4123372"/>
            <a:ext cx="5626418" cy="1466850"/>
            <a:chOff x="533400" y="4123372"/>
            <a:chExt cx="5626418" cy="1466850"/>
          </a:xfrm>
        </p:grpSpPr>
        <p:sp>
          <p:nvSpPr>
            <p:cNvPr id="15" name="Rectangle 15"/>
            <p:cNvSpPr/>
            <p:nvPr/>
          </p:nvSpPr>
          <p:spPr>
            <a:xfrm>
              <a:off x="533400" y="4123372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256722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315778"/>
              <a:ext cx="16764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9340" y="435006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为什么平均值正好是一半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672965"/>
              <a:ext cx="499433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一个周期内 sin² 的平均值是 1/2（由 sin²θ = (1 − cos2θ)/2，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cos2θ 在整周期上平均为零）。所以平均能量密度恰好是最大能量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密度的一半。</a:t>
              </a:r>
            </a:p>
          </p:txBody>
        </p:sp>
      </p:grpSp>
      <p:grpSp>
        <p:nvGrpSpPr>
          <p:cNvPr id="41" name="c2-table-1"/>
          <p:cNvGrpSpPr/>
          <p:nvPr/>
        </p:nvGrpSpPr>
        <p:grpSpPr>
          <a:xfrm>
            <a:off x="6464618" y="1524000"/>
            <a:ext cx="5193982" cy="2028825"/>
            <a:chOff x="6464618" y="1524000"/>
            <a:chExt cx="5193982" cy="2028825"/>
          </a:xfrm>
        </p:grpSpPr>
        <p:sp>
          <p:nvSpPr>
            <p:cNvPr id="21" name="Rectangle 21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5178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改变什么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72320" y="164830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平均能量密度怎么变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4630" y="2054066"/>
              <a:ext cx="806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 A 加倍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863012" y="1939290"/>
              <a:ext cx="278606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953500" y="205406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变为原来的 4 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4630" y="2459831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 ν 加倍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863012" y="2345055"/>
              <a:ext cx="2786062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953500" y="245983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变为原来的 4 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4630" y="2865596"/>
              <a:ext cx="1098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介质密度 ρ 加倍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953500" y="286559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变为原来的 2 倍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4630" y="3271361"/>
              <a:ext cx="796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波速 u 改变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53500" y="327136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不直接影响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1524000"/>
              <a:ext cx="5193982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884872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2"/>
          <p:cNvGrpSpPr/>
          <p:nvPr/>
        </p:nvGrpSpPr>
        <p:grpSpPr>
          <a:xfrm>
            <a:off x="6464618" y="3728085"/>
            <a:ext cx="5193982" cy="1862138"/>
            <a:chOff x="6464618" y="3728085"/>
            <a:chExt cx="5193982" cy="1862138"/>
          </a:xfrm>
        </p:grpSpPr>
        <p:sp>
          <p:nvSpPr>
            <p:cNvPr id="42" name="Rectangle 42"/>
            <p:cNvSpPr/>
            <p:nvPr/>
          </p:nvSpPr>
          <p:spPr>
            <a:xfrm>
              <a:off x="6464618" y="3728085"/>
              <a:ext cx="5193982" cy="1862138"/>
            </a:xfrm>
            <a:prstGeom prst="roundRect">
              <a:avLst>
                <a:gd name="adj" fmla="val 7161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57022" y="392049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20459" y="395478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对所有弹性波都成立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50164" y="4276725"/>
              <a:ext cx="44714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平均能量密度与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振幅的平方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频率的平方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介质密度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成正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比。这条结论不限于平面简谐波，后面算声强、光强时还要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用到。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51308" y="5089684"/>
              <a:ext cx="4255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最大能量密度是平均能量密度的 2 倍，作业里常直接考这一句。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8" name="Rectangle 4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892" y="6023610"/>
              <a:ext cx="101521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换成周期写就是 w(平均) = 2π²ρA²ν²。振幅只要降到一半，能量就只剩四分之一，这也是声音传远以后迅速变弱的原因之一。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波的能量与能流密度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能流与平均能流密度：波的强度是怎么定义的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graph-1"/>
          <p:cNvGrpSpPr/>
          <p:nvPr/>
        </p:nvGrpSpPr>
        <p:grpSpPr>
          <a:xfrm>
            <a:off x="960211" y="1782128"/>
            <a:ext cx="3416526" cy="3195636"/>
            <a:chOff x="960211" y="1782128"/>
            <a:chExt cx="3416526" cy="3195636"/>
          </a:xfrm>
        </p:grpSpPr>
        <p:sp>
          <p:nvSpPr>
            <p:cNvPr id="7" name="Freeform 7"/>
            <p:cNvSpPr/>
            <p:nvPr/>
          </p:nvSpPr>
          <p:spPr>
            <a:xfrm>
              <a:off x="1780222" y="2305050"/>
              <a:ext cx="2596515" cy="2345055"/>
            </a:xfrm>
            <a:custGeom>
              <a:avLst/>
              <a:gdLst/>
              <a:ahLst/>
              <a:cxnLst/>
              <a:rect l="l" t="t" r="r" b="b"/>
              <a:pathLst>
                <a:path w="2596515" h="2345055">
                  <a:moveTo>
                    <a:pt x="19050" y="0"/>
                  </a:moveTo>
                  <a:lnTo>
                    <a:pt x="2596515" y="0"/>
                  </a:lnTo>
                  <a:lnTo>
                    <a:pt x="2596515" y="2345055"/>
                  </a:lnTo>
                  <a:lnTo>
                    <a:pt x="0" y="2345055"/>
                  </a:lnTo>
                  <a:lnTo>
                    <a:pt x="0" y="190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14562" y="3477578"/>
              <a:ext cx="1632585" cy="9525"/>
            </a:xfrm>
            <a:custGeom>
              <a:avLst/>
              <a:gdLst/>
              <a:ahLst/>
              <a:cxnLst/>
              <a:rect l="l" t="t" r="r" b="b"/>
              <a:pathLst>
                <a:path w="1632585" h="9525">
                  <a:moveTo>
                    <a:pt x="0" y="0"/>
                  </a:moveTo>
                  <a:lnTo>
                    <a:pt x="163258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847148" y="34299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770698" y="22955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770698" y="34680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185988" y="34680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951922" y="34680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0211" y="3372326"/>
              <a:ext cx="39224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面积 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37247" y="305228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92781" y="4801552"/>
              <a:ext cx="3713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高 uΔt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6380" y="1782128"/>
              <a:ext cx="230706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这个柱体里的能量就是 Δt 内通过 S 的能量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79"/>
              <p:cNvSpPr txBox="1">
                <a:spLocks noGrp="1"/>
              </p:cNvSpPr>
              <p:nvPr/>
            </p:nvSpPr>
            <p:spPr>
              <a:xfrm>
                <a:off x="533400" y="5261610"/>
                <a:ext cx="5193982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wuS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bar>
                        <m:barPr>
                          <m:pos m:val="top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</m:ba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ba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uS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s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uS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8" name="c2-kv-1"/>
          <p:cNvGrpSpPr/>
          <p:nvPr/>
        </p:nvGrpSpPr>
        <p:grpSpPr>
          <a:xfrm>
            <a:off x="6024944" y="1547336"/>
            <a:ext cx="5633656" cy="1390270"/>
            <a:chOff x="6024944" y="1547336"/>
            <a:chExt cx="5633656" cy="1390270"/>
          </a:xfrm>
        </p:grpSpPr>
        <p:sp>
          <p:nvSpPr>
            <p:cNvPr id="20" name="TextBox 20"/>
            <p:cNvSpPr txBox="1"/>
            <p:nvPr/>
          </p:nvSpPr>
          <p:spPr>
            <a:xfrm>
              <a:off x="6024944" y="1547336"/>
              <a:ext cx="5770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能流 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42226" y="1547336"/>
              <a:ext cx="416229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单位时间内通过垂直于传播方向某面积的能量，单位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32182" y="212121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24944" y="22369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平均能流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42226" y="223694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能流在一个周期内的平均值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32182" y="25431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24944" y="2658904"/>
              <a:ext cx="9063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能流密度 I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42226" y="2658904"/>
              <a:ext cx="45158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单位时间通过单位垂直面积的平均能量，单位 W·m⁻²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80"/>
              <p:cNvSpPr txBox="1">
                <a:spLocks noGrp="1"/>
              </p:cNvSpPr>
              <p:nvPr/>
            </p:nvSpPr>
            <p:spPr>
              <a:xfrm>
                <a:off x="6032182" y="3067050"/>
                <a:ext cx="5626418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I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bar>
                            <m:barPr>
                              <m:pos m:val="top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ba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ba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ba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ρ</m:t>
                      </m:r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7" name="c2-card-3"/>
          <p:cNvGrpSpPr/>
          <p:nvPr/>
        </p:nvGrpSpPr>
        <p:grpSpPr>
          <a:xfrm>
            <a:off x="6032182" y="3714750"/>
            <a:ext cx="5626418" cy="1594485"/>
            <a:chOff x="6032182" y="3714750"/>
            <a:chExt cx="5626418" cy="1594485"/>
          </a:xfrm>
        </p:grpSpPr>
        <p:sp>
          <p:nvSpPr>
            <p:cNvPr id="30" name="Rectangle 30"/>
            <p:cNvSpPr/>
            <p:nvPr/>
          </p:nvSpPr>
          <p:spPr>
            <a:xfrm>
              <a:off x="6032182" y="3714750"/>
              <a:ext cx="5626418" cy="1594485"/>
            </a:xfrm>
            <a:prstGeom prst="roundRect">
              <a:avLst>
                <a:gd name="adj" fmla="val 83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36018" y="391858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17374" y="395430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两点补充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243638" y="435197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229" y="4291489"/>
              <a:ext cx="486562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I 的大小又叫 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波的强度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；声学里的响度、光学里的亮度说的都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是它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243638" y="494347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00229" y="4882991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写成矢量式时方向就是波速的方向，表示能量沿波线往前送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8" name="Rectangle 38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03608"/>
              <a:ext cx="200026" cy="200026"/>
              <a:chOff x="738188" y="600360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6003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6103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6004084"/>
              <a:ext cx="8125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S 时一定要取垂直于波面的面积；如果 S 与波面成夹角，通过它的能流要乘上一个余弦因子。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29405" cy="909257"/>
            <a:chOff x="520446" y="342900"/>
            <a:chExt cx="6329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波的能量与能流密度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29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平面波振幅不变，球面波振幅按 1/r 衰减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graph-1"/>
          <p:cNvGrpSpPr/>
          <p:nvPr/>
        </p:nvGrpSpPr>
        <p:grpSpPr>
          <a:xfrm>
            <a:off x="762000" y="1934528"/>
            <a:ext cx="4735830" cy="2608896"/>
            <a:chOff x="762000" y="1934528"/>
            <a:chExt cx="4735830" cy="2608896"/>
          </a:xfrm>
        </p:grpSpPr>
        <p:sp>
          <p:nvSpPr>
            <p:cNvPr id="7" name="Freeform 7"/>
            <p:cNvSpPr/>
            <p:nvPr/>
          </p:nvSpPr>
          <p:spPr>
            <a:xfrm>
              <a:off x="1463040" y="2617470"/>
              <a:ext cx="1255395" cy="1231582"/>
            </a:xfrm>
            <a:custGeom>
              <a:avLst/>
              <a:gdLst/>
              <a:ahLst/>
              <a:cxnLst/>
              <a:rect l="l" t="t" r="r" b="b"/>
              <a:pathLst>
                <a:path w="1255395" h="1231582">
                  <a:moveTo>
                    <a:pt x="1255395" y="597217"/>
                  </a:moveTo>
                  <a:lnTo>
                    <a:pt x="1251585" y="537210"/>
                  </a:lnTo>
                  <a:lnTo>
                    <a:pt x="1236345" y="455295"/>
                  </a:lnTo>
                  <a:lnTo>
                    <a:pt x="1210628" y="380047"/>
                  </a:lnTo>
                  <a:lnTo>
                    <a:pt x="1173480" y="307658"/>
                  </a:lnTo>
                  <a:lnTo>
                    <a:pt x="1126807" y="240030"/>
                  </a:lnTo>
                  <a:lnTo>
                    <a:pt x="1075372" y="181927"/>
                  </a:lnTo>
                  <a:lnTo>
                    <a:pt x="1012507" y="126683"/>
                  </a:lnTo>
                  <a:lnTo>
                    <a:pt x="944880" y="82867"/>
                  </a:lnTo>
                  <a:lnTo>
                    <a:pt x="867728" y="48577"/>
                  </a:lnTo>
                  <a:lnTo>
                    <a:pt x="789622" y="20955"/>
                  </a:lnTo>
                  <a:lnTo>
                    <a:pt x="711518" y="7620"/>
                  </a:lnTo>
                  <a:lnTo>
                    <a:pt x="628650" y="0"/>
                  </a:lnTo>
                  <a:lnTo>
                    <a:pt x="545783" y="7620"/>
                  </a:lnTo>
                  <a:lnTo>
                    <a:pt x="467677" y="20955"/>
                  </a:lnTo>
                  <a:lnTo>
                    <a:pt x="389573" y="48577"/>
                  </a:lnTo>
                  <a:lnTo>
                    <a:pt x="311468" y="82867"/>
                  </a:lnTo>
                  <a:lnTo>
                    <a:pt x="243840" y="126683"/>
                  </a:lnTo>
                  <a:lnTo>
                    <a:pt x="181927" y="181927"/>
                  </a:lnTo>
                  <a:lnTo>
                    <a:pt x="129540" y="240030"/>
                  </a:lnTo>
                  <a:lnTo>
                    <a:pt x="82868" y="307658"/>
                  </a:lnTo>
                  <a:lnTo>
                    <a:pt x="46673" y="380047"/>
                  </a:lnTo>
                  <a:lnTo>
                    <a:pt x="20955" y="455295"/>
                  </a:lnTo>
                  <a:lnTo>
                    <a:pt x="5715" y="537210"/>
                  </a:lnTo>
                  <a:lnTo>
                    <a:pt x="0" y="615315"/>
                  </a:lnTo>
                  <a:lnTo>
                    <a:pt x="5715" y="694372"/>
                  </a:lnTo>
                  <a:lnTo>
                    <a:pt x="20955" y="776288"/>
                  </a:lnTo>
                  <a:lnTo>
                    <a:pt x="46673" y="851535"/>
                  </a:lnTo>
                  <a:lnTo>
                    <a:pt x="82868" y="923925"/>
                  </a:lnTo>
                  <a:lnTo>
                    <a:pt x="129540" y="991552"/>
                  </a:lnTo>
                  <a:lnTo>
                    <a:pt x="181927" y="1049655"/>
                  </a:lnTo>
                  <a:lnTo>
                    <a:pt x="243840" y="1104900"/>
                  </a:lnTo>
                  <a:lnTo>
                    <a:pt x="311468" y="1148715"/>
                  </a:lnTo>
                  <a:lnTo>
                    <a:pt x="389573" y="1183005"/>
                  </a:lnTo>
                  <a:lnTo>
                    <a:pt x="467677" y="1210627"/>
                  </a:lnTo>
                  <a:lnTo>
                    <a:pt x="545783" y="1223962"/>
                  </a:lnTo>
                  <a:lnTo>
                    <a:pt x="628650" y="1231582"/>
                  </a:lnTo>
                  <a:lnTo>
                    <a:pt x="711518" y="1223962"/>
                  </a:lnTo>
                  <a:lnTo>
                    <a:pt x="789622" y="1210627"/>
                  </a:lnTo>
                  <a:lnTo>
                    <a:pt x="867728" y="1183005"/>
                  </a:lnTo>
                  <a:lnTo>
                    <a:pt x="944880" y="1148715"/>
                  </a:lnTo>
                  <a:lnTo>
                    <a:pt x="1012507" y="1104900"/>
                  </a:lnTo>
                  <a:lnTo>
                    <a:pt x="1075372" y="1049655"/>
                  </a:lnTo>
                  <a:lnTo>
                    <a:pt x="1126807" y="991552"/>
                  </a:lnTo>
                  <a:lnTo>
                    <a:pt x="1173480" y="923925"/>
                  </a:lnTo>
                  <a:lnTo>
                    <a:pt x="1210628" y="851535"/>
                  </a:lnTo>
                  <a:lnTo>
                    <a:pt x="1236345" y="776288"/>
                  </a:lnTo>
                  <a:lnTo>
                    <a:pt x="1251585" y="694372"/>
                  </a:lnTo>
                  <a:lnTo>
                    <a:pt x="1255395" y="63436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62000" y="1934528"/>
              <a:ext cx="2658428" cy="2597468"/>
            </a:xfrm>
            <a:custGeom>
              <a:avLst/>
              <a:gdLst/>
              <a:ahLst/>
              <a:cxnLst/>
              <a:rect l="l" t="t" r="r" b="b"/>
              <a:pathLst>
                <a:path w="2658428" h="2597468">
                  <a:moveTo>
                    <a:pt x="2658428" y="1280160"/>
                  </a:moveTo>
                  <a:lnTo>
                    <a:pt x="2648902" y="1127760"/>
                  </a:lnTo>
                  <a:lnTo>
                    <a:pt x="2612708" y="963930"/>
                  </a:lnTo>
                  <a:lnTo>
                    <a:pt x="2560320" y="802957"/>
                  </a:lnTo>
                  <a:lnTo>
                    <a:pt x="2482215" y="649605"/>
                  </a:lnTo>
                  <a:lnTo>
                    <a:pt x="2384108" y="508635"/>
                  </a:lnTo>
                  <a:lnTo>
                    <a:pt x="2269808" y="379095"/>
                  </a:lnTo>
                  <a:lnTo>
                    <a:pt x="2139315" y="269558"/>
                  </a:lnTo>
                  <a:lnTo>
                    <a:pt x="1994535" y="174308"/>
                  </a:lnTo>
                  <a:lnTo>
                    <a:pt x="1838325" y="99060"/>
                  </a:lnTo>
                  <a:lnTo>
                    <a:pt x="1672590" y="43815"/>
                  </a:lnTo>
                  <a:lnTo>
                    <a:pt x="1501140" y="9525"/>
                  </a:lnTo>
                  <a:lnTo>
                    <a:pt x="1329690" y="0"/>
                  </a:lnTo>
                  <a:lnTo>
                    <a:pt x="1158240" y="9525"/>
                  </a:lnTo>
                  <a:lnTo>
                    <a:pt x="986790" y="43815"/>
                  </a:lnTo>
                  <a:lnTo>
                    <a:pt x="820102" y="99060"/>
                  </a:lnTo>
                  <a:lnTo>
                    <a:pt x="664845" y="174308"/>
                  </a:lnTo>
                  <a:lnTo>
                    <a:pt x="519112" y="269558"/>
                  </a:lnTo>
                  <a:lnTo>
                    <a:pt x="389573" y="379095"/>
                  </a:lnTo>
                  <a:lnTo>
                    <a:pt x="275273" y="508635"/>
                  </a:lnTo>
                  <a:lnTo>
                    <a:pt x="176212" y="649605"/>
                  </a:lnTo>
                  <a:lnTo>
                    <a:pt x="99060" y="802957"/>
                  </a:lnTo>
                  <a:lnTo>
                    <a:pt x="46673" y="963930"/>
                  </a:lnTo>
                  <a:lnTo>
                    <a:pt x="10477" y="1127760"/>
                  </a:lnTo>
                  <a:lnTo>
                    <a:pt x="0" y="1298257"/>
                  </a:lnTo>
                  <a:lnTo>
                    <a:pt x="10477" y="1469707"/>
                  </a:lnTo>
                  <a:lnTo>
                    <a:pt x="46673" y="1633538"/>
                  </a:lnTo>
                  <a:lnTo>
                    <a:pt x="99060" y="1794510"/>
                  </a:lnTo>
                  <a:lnTo>
                    <a:pt x="176212" y="1947863"/>
                  </a:lnTo>
                  <a:lnTo>
                    <a:pt x="275273" y="2088832"/>
                  </a:lnTo>
                  <a:lnTo>
                    <a:pt x="389573" y="2218372"/>
                  </a:lnTo>
                  <a:lnTo>
                    <a:pt x="519112" y="2327910"/>
                  </a:lnTo>
                  <a:lnTo>
                    <a:pt x="664845" y="2423160"/>
                  </a:lnTo>
                  <a:lnTo>
                    <a:pt x="820102" y="2498407"/>
                  </a:lnTo>
                  <a:lnTo>
                    <a:pt x="986790" y="2553652"/>
                  </a:lnTo>
                  <a:lnTo>
                    <a:pt x="1158240" y="2587943"/>
                  </a:lnTo>
                  <a:lnTo>
                    <a:pt x="1329690" y="2597468"/>
                  </a:lnTo>
                  <a:lnTo>
                    <a:pt x="1501140" y="2587943"/>
                  </a:lnTo>
                  <a:lnTo>
                    <a:pt x="1672590" y="2553652"/>
                  </a:lnTo>
                  <a:lnTo>
                    <a:pt x="1838325" y="2498407"/>
                  </a:lnTo>
                  <a:lnTo>
                    <a:pt x="1994535" y="2423160"/>
                  </a:lnTo>
                  <a:lnTo>
                    <a:pt x="2139315" y="2327910"/>
                  </a:lnTo>
                  <a:lnTo>
                    <a:pt x="2269808" y="2218372"/>
                  </a:lnTo>
                  <a:lnTo>
                    <a:pt x="2384108" y="2088832"/>
                  </a:lnTo>
                  <a:lnTo>
                    <a:pt x="2482215" y="1947863"/>
                  </a:lnTo>
                  <a:lnTo>
                    <a:pt x="2560320" y="1794510"/>
                  </a:lnTo>
                  <a:lnTo>
                    <a:pt x="2612708" y="1633538"/>
                  </a:lnTo>
                  <a:lnTo>
                    <a:pt x="2648902" y="1469707"/>
                  </a:lnTo>
                  <a:lnTo>
                    <a:pt x="2658428" y="1317307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139315" y="3232785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86990" y="31851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139315" y="3232785"/>
              <a:ext cx="1148715" cy="9525"/>
            </a:xfrm>
            <a:custGeom>
              <a:avLst/>
              <a:gdLst/>
              <a:ahLst/>
              <a:cxnLst/>
              <a:rect l="l" t="t" r="r" b="b"/>
              <a:pathLst>
                <a:path w="1148715" h="9525">
                  <a:moveTo>
                    <a:pt x="0" y="0"/>
                  </a:moveTo>
                  <a:lnTo>
                    <a:pt x="114871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88030" y="318516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2053590" y="3194685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710815" y="32232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710815" y="32232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411855" y="32232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411855" y="322326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2691765" y="320421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392805" y="320421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31758" y="296513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850871" y="337566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0935" y="1973580"/>
              <a:ext cx="18268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两个同心波面通过的平均能量相等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83051" y="4367212"/>
              <a:ext cx="18026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面积按 4πr² 增大，振幅只好减小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85"/>
              <p:cNvSpPr txBox="1">
                <a:spLocks noGrp="1"/>
              </p:cNvSpPr>
              <p:nvPr/>
            </p:nvSpPr>
            <p:spPr>
              <a:xfrm>
                <a:off x="533400" y="5128260"/>
                <a:ext cx="5193982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31" name="c2-card-1"/>
          <p:cNvGrpSpPr/>
          <p:nvPr/>
        </p:nvGrpSpPr>
        <p:grpSpPr>
          <a:xfrm>
            <a:off x="6032182" y="1524000"/>
            <a:ext cx="5626418" cy="1545908"/>
            <a:chOff x="6032182" y="1524000"/>
            <a:chExt cx="5626418" cy="1545908"/>
          </a:xfrm>
        </p:grpSpPr>
        <p:sp>
          <p:nvSpPr>
            <p:cNvPr id="26" name="Rectangle 26"/>
            <p:cNvSpPr/>
            <p:nvPr/>
          </p:nvSpPr>
          <p:spPr>
            <a:xfrm>
              <a:off x="6032182" y="1524000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41708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74118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672" y="17635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推导只用一句话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66879" y="2100739"/>
              <a:ext cx="496481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介质不吸收能量时，单位时间通过两个波面的平均能量相等。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平面波两个面面积相同，于是 A₁ = A₂；球面波面积按 4πr² 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大，要让 I·4πr² 不变，A 就必须正比于 1/r。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86"/>
              <p:cNvSpPr txBox="1">
                <a:spLocks noGrp="1"/>
              </p:cNvSpPr>
              <p:nvPr/>
            </p:nvSpPr>
            <p:spPr>
              <a:xfrm>
                <a:off x="6032182" y="3255645"/>
                <a:ext cx="5626418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den>
                      </m:f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​</m:t>
                          </m:r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​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type m:val="bar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r</m:t>
                                      </m:r>
                                    </m:num>
                                    <m:den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u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φ</m:t>
                              </m:r>
                            </m:e>
                          </m:d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38" name="c2-card-3"/>
          <p:cNvGrpSpPr/>
          <p:nvPr/>
        </p:nvGrpSpPr>
        <p:grpSpPr>
          <a:xfrm>
            <a:off x="6032182" y="3904298"/>
            <a:ext cx="5626418" cy="1686878"/>
            <a:chOff x="6032182" y="3904298"/>
            <a:chExt cx="5626418" cy="1686878"/>
          </a:xfrm>
        </p:grpSpPr>
        <p:sp>
          <p:nvSpPr>
            <p:cNvPr id="33" name="Rectangle 33"/>
            <p:cNvSpPr/>
            <p:nvPr/>
          </p:nvSpPr>
          <p:spPr>
            <a:xfrm>
              <a:off x="6032182" y="3904298"/>
              <a:ext cx="5626418" cy="1686878"/>
            </a:xfrm>
            <a:prstGeom prst="roundRect">
              <a:avLst>
                <a:gd name="adj" fmla="val 790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4037648"/>
              <a:ext cx="47625" cy="142017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74118" y="41081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64326" y="41438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66879" y="4481036"/>
              <a:ext cx="498284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设半径为单位长度的球面上振幅为 a，则半径 r 处振幅为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a/r。点声源外 2 m 处振幅为 A，6 m 处只剩 A/3；强度正比于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振幅平方，只剩 1/9。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9" name="Rectangle 3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04084"/>
              <a:ext cx="103849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振幅按 1/r 衰减不是介质吸收造成的，而是同样多的能量摊到越来越大的球面上；真有吸收时还要再乘一个指数衰减因子。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86262" cy="909257"/>
            <a:chOff x="520446" y="342900"/>
            <a:chExt cx="74862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5651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2206" y="407194"/>
              <a:ext cx="24388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波的能量与能流密度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862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例3.7　由强度反求能量密度和一个波长内的能量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869180" cy="1918335"/>
            <a:chOff x="533400" y="1524000"/>
            <a:chExt cx="4869180" cy="19183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1918335"/>
            </a:xfrm>
            <a:prstGeom prst="roundRect">
              <a:avLst>
                <a:gd name="adj" fmla="val 6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516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例3.7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0363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平面余弦波沿直径 D = 14 cm 的圆管传播，强度 I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1.8×10⁻² W·m⁻²，ν = 300 Hz，u = 300 m·s⁻¹。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573179"/>
              <a:ext cx="42720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平均与最大能量密度；(2) 相邻两个同相面之间那段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波的能量。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3097530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补充例题，取自本课程作业第 5 题。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3607118"/>
            <a:ext cx="4869180" cy="1957388"/>
            <a:chOff x="533400" y="3607118"/>
            <a:chExt cx="4869180" cy="1957388"/>
          </a:xfrm>
        </p:grpSpPr>
        <p:sp>
          <p:nvSpPr>
            <p:cNvPr id="15" name="Rectangle 15"/>
            <p:cNvSpPr/>
            <p:nvPr/>
          </p:nvSpPr>
          <p:spPr>
            <a:xfrm>
              <a:off x="533400" y="3607118"/>
              <a:ext cx="4869180" cy="1957388"/>
            </a:xfrm>
            <a:prstGeom prst="roundRect">
              <a:avLst>
                <a:gd name="adj" fmla="val 68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740468"/>
              <a:ext cx="47625" cy="16906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37880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38209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4180522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4127659"/>
              <a:ext cx="41175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量纲：W·m⁻² 除以 m·s⁻¹ 得 J·m⁻³，正是能量密度的单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4708208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4656296"/>
              <a:ext cx="37521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最大值恰为平均值的 2 倍，符合 sin² 的平均性质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49930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4941094"/>
              <a:ext cx="3881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10⁻⁵ 量级的密度乘 10⁻² 量级的体积，结果落在 10⁻⁷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J，量级合理</a:t>
              </a:r>
            </a:p>
          </p:txBody>
        </p:sp>
      </p:grpSp>
      <p:grpSp>
        <p:nvGrpSpPr>
          <p:cNvPr id="43" name="c2-steps-1"/>
          <p:cNvGrpSpPr/>
          <p:nvPr/>
        </p:nvGrpSpPr>
        <p:grpSpPr>
          <a:xfrm>
            <a:off x="5707380" y="1533525"/>
            <a:ext cx="4827918" cy="2149412"/>
            <a:chOff x="5707380" y="1533525"/>
            <a:chExt cx="4827918" cy="2149412"/>
          </a:xfrm>
        </p:grpSpPr>
        <p:sp>
          <p:nvSpPr>
            <p:cNvPr id="26" name="Rectangle 26"/>
            <p:cNvSpPr/>
            <p:nvPr/>
          </p:nvSpPr>
          <p:spPr>
            <a:xfrm>
              <a:off x="5840730" y="1676400"/>
              <a:ext cx="19050" cy="1659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707380" y="208692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01004" y="21607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707380" y="263937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01004" y="27131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707380" y="319278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01004" y="32665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003" y="156448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由强度求平均能量密度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21146" y="1818322"/>
              <a:ext cx="4414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w(平均)·u，得 w(平均) = I/u = 1.8×10⁻²/300 = 6×10⁻⁵ J·m⁻³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21169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最大能量密度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1146" y="2371725"/>
              <a:ext cx="2521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wmax = 2×w(平均) = 1.2×10⁻⁴ J·m⁻³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0003" y="267033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相邻同相面相距一个波长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21146" y="2925128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u/ν = 300/300 = 1 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20003" y="322278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算这段管子里的能量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21146" y="3477578"/>
              <a:ext cx="39034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 = w(平均)·πr²λ = 6×10⁻⁵ × π × 0.07² × 1 ≈ 9.23×10⁻⁷ J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5707380" y="3844290"/>
            <a:ext cx="5951220" cy="1719262"/>
            <a:chOff x="5707380" y="3844290"/>
            <a:chExt cx="5951220" cy="1719262"/>
          </a:xfrm>
        </p:grpSpPr>
        <p:sp>
          <p:nvSpPr>
            <p:cNvPr id="44" name="Rectangle 44"/>
            <p:cNvSpPr/>
            <p:nvPr/>
          </p:nvSpPr>
          <p:spPr>
            <a:xfrm>
              <a:off x="5707380" y="3844290"/>
              <a:ext cx="5951220" cy="1719262"/>
            </a:xfrm>
            <a:prstGeom prst="roundRect">
              <a:avLst>
                <a:gd name="adj" fmla="val 7756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888355" y="402526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84126" y="40581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881878" y="4365784"/>
              <a:ext cx="50116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(1) 平均能量密度 6×10⁻⁵ J·m⁻³，最大能量密度 1.2×10⁻⁴ J·m⁻³；</a:t>
              </a:r>
            </a:p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(2) 约 9.23×10⁻⁷ J。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83350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若再问振幅，用 I = ρA²ω²u/2 反解即可，只是还需要给出介质密度 ρ；题目没给 ρ，说明它有意避开这一步。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惠更斯原理与波的衍射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817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3.4，一个纯几何的作图法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波阵面上每一点都是子波源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用包迹画出下一时刻的波面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衍射的强弱看障碍物与波长之比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惠更斯原理与波的衍射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惠更斯原理：波阵面上每一点都是新的子波源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graph-1"/>
          <p:cNvGrpSpPr/>
          <p:nvPr/>
        </p:nvGrpSpPr>
        <p:grpSpPr>
          <a:xfrm>
            <a:off x="939165" y="1586865"/>
            <a:ext cx="4278630" cy="3481387"/>
            <a:chOff x="939165" y="1586865"/>
            <a:chExt cx="4278630" cy="3481387"/>
          </a:xfrm>
        </p:grpSpPr>
        <p:sp>
          <p:nvSpPr>
            <p:cNvPr id="7" name="Freeform 7"/>
            <p:cNvSpPr/>
            <p:nvPr/>
          </p:nvSpPr>
          <p:spPr>
            <a:xfrm>
              <a:off x="2610802" y="1615440"/>
              <a:ext cx="9525" cy="3424238"/>
            </a:xfrm>
            <a:custGeom>
              <a:avLst/>
              <a:gdLst/>
              <a:ahLst/>
              <a:cxnLst/>
              <a:rect l="l" t="t" r="r" b="b"/>
              <a:pathLst>
                <a:path w="9525" h="3424238">
                  <a:moveTo>
                    <a:pt x="0" y="0"/>
                  </a:moveTo>
                  <a:lnTo>
                    <a:pt x="0" y="342423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462338" y="1686878"/>
              <a:ext cx="9525" cy="3280410"/>
            </a:xfrm>
            <a:custGeom>
              <a:avLst/>
              <a:gdLst/>
              <a:ahLst/>
              <a:cxnLst/>
              <a:rect l="l" t="t" r="r" b="b"/>
              <a:pathLst>
                <a:path w="9525" h="3280410">
                  <a:moveTo>
                    <a:pt x="0" y="0"/>
                  </a:moveTo>
                  <a:lnTo>
                    <a:pt x="0" y="328041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629852" y="1623060"/>
              <a:ext cx="832485" cy="1965960"/>
            </a:xfrm>
            <a:custGeom>
              <a:avLst/>
              <a:gdLst/>
              <a:ahLst/>
              <a:cxnLst/>
              <a:rect l="l" t="t" r="r" b="b"/>
              <a:pathLst>
                <a:path w="832485" h="1965960">
                  <a:moveTo>
                    <a:pt x="0" y="1965960"/>
                  </a:moveTo>
                  <a:lnTo>
                    <a:pt x="84772" y="1960245"/>
                  </a:lnTo>
                  <a:lnTo>
                    <a:pt x="183832" y="1939290"/>
                  </a:lnTo>
                  <a:lnTo>
                    <a:pt x="281940" y="1903095"/>
                  </a:lnTo>
                  <a:lnTo>
                    <a:pt x="376238" y="1852612"/>
                  </a:lnTo>
                  <a:lnTo>
                    <a:pt x="463867" y="1790700"/>
                  </a:lnTo>
                  <a:lnTo>
                    <a:pt x="546735" y="1719262"/>
                  </a:lnTo>
                  <a:lnTo>
                    <a:pt x="620077" y="1635443"/>
                  </a:lnTo>
                  <a:lnTo>
                    <a:pt x="681990" y="1542098"/>
                  </a:lnTo>
                  <a:lnTo>
                    <a:pt x="734377" y="1441132"/>
                  </a:lnTo>
                  <a:lnTo>
                    <a:pt x="775335" y="1332548"/>
                  </a:lnTo>
                  <a:lnTo>
                    <a:pt x="806767" y="1217295"/>
                  </a:lnTo>
                  <a:lnTo>
                    <a:pt x="827722" y="1102043"/>
                  </a:lnTo>
                  <a:lnTo>
                    <a:pt x="832485" y="982980"/>
                  </a:lnTo>
                  <a:lnTo>
                    <a:pt x="827722" y="863918"/>
                  </a:lnTo>
                  <a:lnTo>
                    <a:pt x="806767" y="748665"/>
                  </a:lnTo>
                  <a:lnTo>
                    <a:pt x="775335" y="633412"/>
                  </a:lnTo>
                  <a:lnTo>
                    <a:pt x="734377" y="524828"/>
                  </a:lnTo>
                  <a:lnTo>
                    <a:pt x="681990" y="423862"/>
                  </a:lnTo>
                  <a:lnTo>
                    <a:pt x="620077" y="330517"/>
                  </a:lnTo>
                  <a:lnTo>
                    <a:pt x="546735" y="247650"/>
                  </a:lnTo>
                  <a:lnTo>
                    <a:pt x="463867" y="175260"/>
                  </a:lnTo>
                  <a:lnTo>
                    <a:pt x="376238" y="113348"/>
                  </a:lnTo>
                  <a:lnTo>
                    <a:pt x="281940" y="62865"/>
                  </a:lnTo>
                  <a:lnTo>
                    <a:pt x="183832" y="27623"/>
                  </a:lnTo>
                  <a:lnTo>
                    <a:pt x="84772" y="571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629852" y="2344102"/>
              <a:ext cx="832485" cy="1966913"/>
            </a:xfrm>
            <a:custGeom>
              <a:avLst/>
              <a:gdLst/>
              <a:ahLst/>
              <a:cxnLst/>
              <a:rect l="l" t="t" r="r" b="b"/>
              <a:pathLst>
                <a:path w="832485" h="1966913">
                  <a:moveTo>
                    <a:pt x="0" y="1966913"/>
                  </a:moveTo>
                  <a:lnTo>
                    <a:pt x="84772" y="1961198"/>
                  </a:lnTo>
                  <a:lnTo>
                    <a:pt x="183832" y="1939290"/>
                  </a:lnTo>
                  <a:lnTo>
                    <a:pt x="281940" y="1903095"/>
                  </a:lnTo>
                  <a:lnTo>
                    <a:pt x="376238" y="1852613"/>
                  </a:lnTo>
                  <a:lnTo>
                    <a:pt x="463867" y="1791652"/>
                  </a:lnTo>
                  <a:lnTo>
                    <a:pt x="546735" y="1719263"/>
                  </a:lnTo>
                  <a:lnTo>
                    <a:pt x="620077" y="1636395"/>
                  </a:lnTo>
                  <a:lnTo>
                    <a:pt x="681990" y="1542098"/>
                  </a:lnTo>
                  <a:lnTo>
                    <a:pt x="734377" y="1441132"/>
                  </a:lnTo>
                  <a:lnTo>
                    <a:pt x="775335" y="1333500"/>
                  </a:lnTo>
                  <a:lnTo>
                    <a:pt x="806767" y="1218248"/>
                  </a:lnTo>
                  <a:lnTo>
                    <a:pt x="827722" y="1102043"/>
                  </a:lnTo>
                  <a:lnTo>
                    <a:pt x="832485" y="982980"/>
                  </a:lnTo>
                  <a:lnTo>
                    <a:pt x="827722" y="863918"/>
                  </a:lnTo>
                  <a:lnTo>
                    <a:pt x="806767" y="748665"/>
                  </a:lnTo>
                  <a:lnTo>
                    <a:pt x="775335" y="633413"/>
                  </a:lnTo>
                  <a:lnTo>
                    <a:pt x="734377" y="524828"/>
                  </a:lnTo>
                  <a:lnTo>
                    <a:pt x="681990" y="423863"/>
                  </a:lnTo>
                  <a:lnTo>
                    <a:pt x="620077" y="330518"/>
                  </a:lnTo>
                  <a:lnTo>
                    <a:pt x="546735" y="247650"/>
                  </a:lnTo>
                  <a:lnTo>
                    <a:pt x="463867" y="175260"/>
                  </a:lnTo>
                  <a:lnTo>
                    <a:pt x="376238" y="114300"/>
                  </a:lnTo>
                  <a:lnTo>
                    <a:pt x="281940" y="63818"/>
                  </a:lnTo>
                  <a:lnTo>
                    <a:pt x="183832" y="27623"/>
                  </a:lnTo>
                  <a:lnTo>
                    <a:pt x="84772" y="5715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2629852" y="3065145"/>
              <a:ext cx="832485" cy="1966912"/>
            </a:xfrm>
            <a:custGeom>
              <a:avLst/>
              <a:gdLst/>
              <a:ahLst/>
              <a:cxnLst/>
              <a:rect l="l" t="t" r="r" b="b"/>
              <a:pathLst>
                <a:path w="832485" h="1966912">
                  <a:moveTo>
                    <a:pt x="0" y="1966912"/>
                  </a:moveTo>
                  <a:lnTo>
                    <a:pt x="84772" y="1961198"/>
                  </a:lnTo>
                  <a:lnTo>
                    <a:pt x="183832" y="1939290"/>
                  </a:lnTo>
                  <a:lnTo>
                    <a:pt x="281940" y="1903095"/>
                  </a:lnTo>
                  <a:lnTo>
                    <a:pt x="376238" y="1852612"/>
                  </a:lnTo>
                  <a:lnTo>
                    <a:pt x="463867" y="1791652"/>
                  </a:lnTo>
                  <a:lnTo>
                    <a:pt x="546735" y="1719262"/>
                  </a:lnTo>
                  <a:lnTo>
                    <a:pt x="620077" y="1636395"/>
                  </a:lnTo>
                  <a:lnTo>
                    <a:pt x="681990" y="1543050"/>
                  </a:lnTo>
                  <a:lnTo>
                    <a:pt x="734377" y="1442085"/>
                  </a:lnTo>
                  <a:lnTo>
                    <a:pt x="775335" y="1333500"/>
                  </a:lnTo>
                  <a:lnTo>
                    <a:pt x="806767" y="1218247"/>
                  </a:lnTo>
                  <a:lnTo>
                    <a:pt x="827722" y="1102995"/>
                  </a:lnTo>
                  <a:lnTo>
                    <a:pt x="832485" y="983933"/>
                  </a:lnTo>
                  <a:lnTo>
                    <a:pt x="827722" y="864870"/>
                  </a:lnTo>
                  <a:lnTo>
                    <a:pt x="806767" y="749617"/>
                  </a:lnTo>
                  <a:lnTo>
                    <a:pt x="775335" y="633412"/>
                  </a:lnTo>
                  <a:lnTo>
                    <a:pt x="734377" y="525780"/>
                  </a:lnTo>
                  <a:lnTo>
                    <a:pt x="681990" y="424815"/>
                  </a:lnTo>
                  <a:lnTo>
                    <a:pt x="620077" y="330517"/>
                  </a:lnTo>
                  <a:lnTo>
                    <a:pt x="546735" y="247650"/>
                  </a:lnTo>
                  <a:lnTo>
                    <a:pt x="463867" y="175260"/>
                  </a:lnTo>
                  <a:lnTo>
                    <a:pt x="376238" y="114300"/>
                  </a:lnTo>
                  <a:lnTo>
                    <a:pt x="281940" y="63817"/>
                  </a:lnTo>
                  <a:lnTo>
                    <a:pt x="183832" y="27622"/>
                  </a:lnTo>
                  <a:lnTo>
                    <a:pt x="84772" y="6667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967740" y="2606040"/>
              <a:ext cx="1373505" cy="9525"/>
            </a:xfrm>
            <a:custGeom>
              <a:avLst/>
              <a:gdLst/>
              <a:ahLst/>
              <a:cxnLst/>
              <a:rect l="l" t="t" r="r" b="b"/>
              <a:pathLst>
                <a:path w="1373505" h="9525">
                  <a:moveTo>
                    <a:pt x="0" y="0"/>
                  </a:moveTo>
                  <a:lnTo>
                    <a:pt x="137350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341245" y="25584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967740" y="3327082"/>
              <a:ext cx="1373505" cy="9525"/>
            </a:xfrm>
            <a:custGeom>
              <a:avLst/>
              <a:gdLst/>
              <a:ahLst/>
              <a:cxnLst/>
              <a:rect l="l" t="t" r="r" b="b"/>
              <a:pathLst>
                <a:path w="1373505" h="9525">
                  <a:moveTo>
                    <a:pt x="0" y="0"/>
                  </a:moveTo>
                  <a:lnTo>
                    <a:pt x="137350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341245" y="32794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967740" y="4049078"/>
              <a:ext cx="1373505" cy="9525"/>
            </a:xfrm>
            <a:custGeom>
              <a:avLst/>
              <a:gdLst/>
              <a:ahLst/>
              <a:cxnLst/>
              <a:rect l="l" t="t" r="r" b="b"/>
              <a:pathLst>
                <a:path w="1373505" h="9525">
                  <a:moveTo>
                    <a:pt x="0" y="0"/>
                  </a:moveTo>
                  <a:lnTo>
                    <a:pt x="137350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341245" y="40014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876675" y="3327082"/>
              <a:ext cx="1217295" cy="9525"/>
            </a:xfrm>
            <a:custGeom>
              <a:avLst/>
              <a:gdLst/>
              <a:ahLst/>
              <a:cxnLst/>
              <a:rect l="l" t="t" r="r" b="b"/>
              <a:pathLst>
                <a:path w="1217295" h="9525">
                  <a:moveTo>
                    <a:pt x="0" y="0"/>
                  </a:moveTo>
                  <a:lnTo>
                    <a:pt x="1217295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093970" y="327945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601278" y="158686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2601278" y="50492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452812" y="16583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452812" y="497681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582228" y="2577465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582228" y="3298508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582228" y="4020502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2601278" y="358140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2601278" y="161163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2601278" y="430244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2601278" y="233362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2601278" y="50244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601278" y="305466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939165" y="25965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2446020" y="259651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939165" y="33175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446020" y="33175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39165" y="40395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2446020" y="403955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3848100" y="33175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198745" y="331755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00123" y="4897279"/>
              <a:ext cx="5449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 时刻波面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87256" y="4897279"/>
              <a:ext cx="578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t + Δt 波面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145361" y="2228374"/>
              <a:ext cx="6703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子波半径 uΔt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497828" y="29494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032182" y="1524000"/>
            <a:ext cx="5626418" cy="1143952"/>
            <a:chOff x="6032182" y="1524000"/>
            <a:chExt cx="5626418" cy="1143952"/>
          </a:xfrm>
        </p:grpSpPr>
        <p:sp>
          <p:nvSpPr>
            <p:cNvPr id="46" name="Rectangle 46"/>
            <p:cNvSpPr/>
            <p:nvPr/>
          </p:nvSpPr>
          <p:spPr>
            <a:xfrm>
              <a:off x="6032182" y="152400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41708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1258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3177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惠更斯原理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44780" y="2045494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波阵面上的每一点都可以看作发射子波的波源；此后任意时刻，这些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子波的包迹就是新的波阵面。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032182" y="2832735"/>
            <a:ext cx="5626418" cy="1185862"/>
            <a:chOff x="6032182" y="2832735"/>
            <a:chExt cx="5626418" cy="1185862"/>
          </a:xfrm>
        </p:grpSpPr>
        <p:sp>
          <p:nvSpPr>
            <p:cNvPr id="52" name="Rectangle 52"/>
            <p:cNvSpPr/>
            <p:nvPr/>
          </p:nvSpPr>
          <p:spPr>
            <a:xfrm>
              <a:off x="6032182" y="2832735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13158" y="30137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97727" y="30465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两个用途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213158" y="334327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65064" y="337794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82906" y="3354229"/>
              <a:ext cx="30481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 t 时刻的波面画出 t + Δt 时刻的波面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213158" y="362807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265064" y="366369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82906" y="363902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由波面确定波的传播方向（波线垂直于波面）</a:t>
              </a:r>
            </a:p>
          </p:txBody>
        </p:sp>
      </p:grpSp>
      <p:grpSp>
        <p:nvGrpSpPr>
          <p:cNvPr id="67" name="c2-card-3"/>
          <p:cNvGrpSpPr/>
          <p:nvPr/>
        </p:nvGrpSpPr>
        <p:grpSpPr>
          <a:xfrm>
            <a:off x="6032182" y="4184332"/>
            <a:ext cx="5626418" cy="1143952"/>
            <a:chOff x="6032182" y="4184332"/>
            <a:chExt cx="5626418" cy="1143952"/>
          </a:xfrm>
        </p:grpSpPr>
        <p:sp>
          <p:nvSpPr>
            <p:cNvPr id="62" name="Rectangle 62"/>
            <p:cNvSpPr/>
            <p:nvPr/>
          </p:nvSpPr>
          <p:spPr>
            <a:xfrm>
              <a:off x="6032182" y="4184332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41708" y="4317682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51258" y="436530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13424" y="439816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子波源不是真正的波源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44780" y="4704874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子波源不向介质输入能量，只是把前面传来的能量再往后传，所以它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只向波阵面的前方发射子波。这是人为补上的约定。</a:t>
              </a:r>
            </a:p>
          </p:txBody>
        </p:sp>
      </p:grpSp>
      <p:grpSp>
        <p:nvGrpSpPr>
          <p:cNvPr id="74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68" name="Rectangle 68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911215"/>
              <a:ext cx="200026" cy="200026"/>
              <a:chOff x="738188" y="5911215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911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8200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27088" y="6011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5805011"/>
              <a:ext cx="9920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在各向同性均匀介质中子波是球面（平面内画成圆弧），半径都取 uΔt；介质不均匀时子波半径各处不同，包迹就会弯曲，这正是折射的几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何解释。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惠更斯原理与波的衍射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衍射的强弱由障碍物尺寸与波长之比决定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1500188" y="1524000"/>
            <a:ext cx="3044190" cy="2565749"/>
            <a:chOff x="1500188" y="1524000"/>
            <a:chExt cx="3044190" cy="2565749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0188" y="1524000"/>
              <a:ext cx="3044190" cy="2283142"/>
            </a:xfrm>
            <a:prstGeom prst="roundRect">
              <a:avLst>
                <a:gd name="adj" fmla="val 5840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1961909" y="389905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水波通过窄缝后向缝后的阴影区弯折</a:t>
              </a:r>
            </a:p>
          </p:txBody>
        </p:sp>
      </p:grpSp>
      <p:grpSp>
        <p:nvGrpSpPr>
          <p:cNvPr id="15" name="c1-card-2"/>
          <p:cNvGrpSpPr/>
          <p:nvPr/>
        </p:nvGrpSpPr>
        <p:grpSpPr>
          <a:xfrm>
            <a:off x="533400" y="4235768"/>
            <a:ext cx="4977765" cy="1188720"/>
            <a:chOff x="533400" y="4235768"/>
            <a:chExt cx="4977765" cy="1188720"/>
          </a:xfrm>
        </p:grpSpPr>
        <p:sp>
          <p:nvSpPr>
            <p:cNvPr id="10" name="Rectangle 10"/>
            <p:cNvSpPr/>
            <p:nvPr/>
          </p:nvSpPr>
          <p:spPr>
            <a:xfrm>
              <a:off x="533400" y="4235768"/>
              <a:ext cx="4977765" cy="1188720"/>
            </a:xfrm>
            <a:prstGeom prst="roundRect">
              <a:avLst>
                <a:gd name="adj" fmla="val 112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4369118"/>
              <a:ext cx="47625" cy="922020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52475" y="44167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5147" y="44496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衍射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5998" y="475630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波在传播过程中遇到障碍物时，能绕过障碍物边缘、偏离直线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传播的现象。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5815965" y="1524000"/>
            <a:ext cx="5842635" cy="1143952"/>
            <a:chOff x="5815965" y="1524000"/>
            <a:chExt cx="5842635" cy="1143952"/>
          </a:xfrm>
        </p:grpSpPr>
        <p:sp>
          <p:nvSpPr>
            <p:cNvPr id="16" name="Rectangle 16"/>
            <p:cNvSpPr/>
            <p:nvPr/>
          </p:nvSpPr>
          <p:spPr>
            <a:xfrm>
              <a:off x="5815965" y="1524000"/>
              <a:ext cx="5842635" cy="1143952"/>
            </a:xfrm>
            <a:prstGeom prst="roundRect">
              <a:avLst>
                <a:gd name="adj" fmla="val 1165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96940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59106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用惠更斯原理怎么解释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90463" y="2045494"/>
              <a:ext cx="52148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缝口每一点都是子波源，包迹在缝的边缘向外弯，阴影区里也就有了波。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缝越窄弯折越明显。</a:t>
              </a:r>
            </a:p>
          </p:txBody>
        </p:sp>
      </p:grpSp>
      <p:grpSp>
        <p:nvGrpSpPr>
          <p:cNvPr id="36" name="c2-table-2"/>
          <p:cNvGrpSpPr/>
          <p:nvPr/>
        </p:nvGrpSpPr>
        <p:grpSpPr>
          <a:xfrm>
            <a:off x="5815965" y="2832735"/>
            <a:ext cx="5842635" cy="1525905"/>
            <a:chOff x="5815965" y="2832735"/>
            <a:chExt cx="5842635" cy="1525905"/>
          </a:xfrm>
        </p:grpSpPr>
        <p:sp>
          <p:nvSpPr>
            <p:cNvPr id="21" name="Rectangle 21"/>
            <p:cNvSpPr/>
            <p:nvPr/>
          </p:nvSpPr>
          <p:spPr>
            <a:xfrm>
              <a:off x="5815965" y="2832735"/>
              <a:ext cx="5842635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89205" y="2949893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缝宽或障碍物尺寸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793224" y="2949893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衍射现象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910644" y="33318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远大于波长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97646" y="3331845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几乎沿直线传播，阴影边界清晰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815965" y="35909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815965" y="359568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10644" y="371284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与波长可比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97646" y="371284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明显向阴影区弯折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5965" y="397192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10644" y="40947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小于波长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12492" y="3986212"/>
              <a:ext cx="3136582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97646" y="409479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缝后几乎成为新的点波源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15965" y="2832735"/>
              <a:ext cx="584263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498205" y="2832735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card-3"/>
          <p:cNvGrpSpPr/>
          <p:nvPr/>
        </p:nvGrpSpPr>
        <p:grpSpPr>
          <a:xfrm>
            <a:off x="5815965" y="4523422"/>
            <a:ext cx="5842635" cy="901065"/>
            <a:chOff x="5815965" y="4523422"/>
            <a:chExt cx="5842635" cy="901065"/>
          </a:xfrm>
        </p:grpSpPr>
        <p:sp>
          <p:nvSpPr>
            <p:cNvPr id="37" name="Rectangle 37"/>
            <p:cNvSpPr/>
            <p:nvPr/>
          </p:nvSpPr>
          <p:spPr>
            <a:xfrm>
              <a:off x="5815965" y="4523422"/>
              <a:ext cx="5842635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5490" y="4656772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35040" y="4704398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04357" y="473725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惠更斯原理的缺陷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28563" y="5043964"/>
              <a:ext cx="4027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说不出子波的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强度分布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，解释不了衍射条纹的明暗。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43" name="Rectangle 43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911215"/>
              <a:ext cx="200026" cy="200025"/>
              <a:chOff x="738188" y="5911215"/>
              <a:chExt cx="200026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1121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777926" y="595566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12642" y="606679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1273" y="5805011"/>
              <a:ext cx="100185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声波波长以米计，很容易绕过一扇门；可见光波长只有几百纳米，遇到日常尺度的物体几乎不绕，所以影子边界清楚。第8章会用菲涅耳的补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充把强度分布也算出来。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67528" cy="2997517"/>
            <a:chOff x="667512" y="1835468"/>
            <a:chExt cx="536752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波的叠加原理与波的干涉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924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3.5，把第2章的同向合成搬到空间里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独立传播与叠加原理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相干条件三条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相位差与波程差判据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波的叠加原理与波的干涉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几列波相遇时互不干扰，位移直接相加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545908"/>
            <a:chOff x="533400" y="1524000"/>
            <a:chExt cx="5410200" cy="154590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792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独立传播原理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几列波相遇后仍保持各自原有的特性（频率、波长、振幅、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传播方向）不变，分开以后互不影响，就像没有遇到过对方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255645"/>
            <a:ext cx="5410200" cy="1274445"/>
            <a:chOff x="533400" y="3255645"/>
            <a:chExt cx="5410200" cy="1274445"/>
          </a:xfrm>
        </p:grpSpPr>
        <p:sp>
          <p:nvSpPr>
            <p:cNvPr id="13" name="Rectangle 13"/>
            <p:cNvSpPr/>
            <p:nvPr/>
          </p:nvSpPr>
          <p:spPr>
            <a:xfrm>
              <a:off x="533400" y="3255645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388995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75335" y="345948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7644" y="349519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叠加原理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096" y="3832384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在相遇区域内，任一点的振动是各列波单独存在时在该点引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起的振动位移的矢量和。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715828"/>
            <a:ext cx="5410200" cy="756285"/>
            <a:chOff x="533400" y="4715828"/>
            <a:chExt cx="5410200" cy="756285"/>
          </a:xfrm>
        </p:grpSpPr>
        <p:sp>
          <p:nvSpPr>
            <p:cNvPr id="19" name="Rectangle 19"/>
            <p:cNvSpPr/>
            <p:nvPr/>
          </p:nvSpPr>
          <p:spPr>
            <a:xfrm>
              <a:off x="533400" y="4715828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993958"/>
              <a:ext cx="200026" cy="200025"/>
              <a:chOff x="738188" y="4993958"/>
              <a:chExt cx="200026" cy="20002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9939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77926" y="50384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2642" y="51495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86298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乐队里几十件乐器同时演奏，空气中的声波彼此穿过而不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变形，我们才能分辨出每一件乐器的声音。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925002"/>
            <a:chOff x="6248400" y="1524000"/>
            <a:chExt cx="5410200" cy="1925002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925002"/>
            </a:xfrm>
            <a:prstGeom prst="roundRect">
              <a:avLst>
                <a:gd name="adj" fmla="val 6927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52235" y="1727835"/>
              <a:ext cx="1916430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00089" y="1763554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相干条件（三条缺一不可）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52235" y="208883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10580" y="21282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43129" y="21007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频率相同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52235" y="240887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10580" y="244825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43129" y="242077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振动方向相同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52235" y="2728912"/>
              <a:ext cx="201930" cy="20193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10580" y="276829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3129" y="2740819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相位差恒定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（最常见的情形是相位相同）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6139" y="305752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满足相干条件的波叫相干波，相应的波源叫相干波源。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248400" y="3633788"/>
            <a:ext cx="5410200" cy="1838325"/>
            <a:chOff x="6248400" y="3633788"/>
            <a:chExt cx="5410200" cy="1838325"/>
          </a:xfrm>
        </p:grpSpPr>
        <p:sp>
          <p:nvSpPr>
            <p:cNvPr id="40" name="Rectangle 40"/>
            <p:cNvSpPr/>
            <p:nvPr/>
          </p:nvSpPr>
          <p:spPr>
            <a:xfrm>
              <a:off x="6248400" y="3633788"/>
              <a:ext cx="5410200" cy="1838325"/>
            </a:xfrm>
            <a:prstGeom prst="roundRect">
              <a:avLst>
                <a:gd name="adj" fmla="val 72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3767138"/>
              <a:ext cx="47625" cy="157162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0335" y="383762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72644" y="38733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波的干涉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3096" y="4210526"/>
              <a:ext cx="470331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满足相干条件的波在空间相遇叠加时，叠加区内会出现稳定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的振动加强和减弱的分布，这种现象叫波的干涉。关键词是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稳定：不满足相干条件时各点的合振幅随时间乱变，看不到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固定的强弱分布。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6" name="Rectangle 46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6004084"/>
              <a:ext cx="102511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干涉是波动特有的性质之一。判断一个现象是不是波动，看它会不会干涉最直接；第7章的光的干涉用的还是这三条条件。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波的叠加原理与波的干涉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相遇点的合振幅由两列波的相位差决定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graph-1"/>
          <p:cNvGrpSpPr/>
          <p:nvPr/>
        </p:nvGrpSpPr>
        <p:grpSpPr>
          <a:xfrm>
            <a:off x="856374" y="1642110"/>
            <a:ext cx="4196601" cy="1536382"/>
            <a:chOff x="856374" y="1642110"/>
            <a:chExt cx="4196601" cy="1536382"/>
          </a:xfrm>
        </p:grpSpPr>
        <p:sp>
          <p:nvSpPr>
            <p:cNvPr id="7" name="Freeform 7"/>
            <p:cNvSpPr/>
            <p:nvPr/>
          </p:nvSpPr>
          <p:spPr>
            <a:xfrm>
              <a:off x="1187768" y="1925002"/>
              <a:ext cx="3469958" cy="416243"/>
            </a:xfrm>
            <a:custGeom>
              <a:avLst/>
              <a:gdLst/>
              <a:ahLst/>
              <a:cxnLst/>
              <a:rect l="l" t="t" r="r" b="b"/>
              <a:pathLst>
                <a:path w="3469958" h="416243">
                  <a:moveTo>
                    <a:pt x="0" y="0"/>
                  </a:moveTo>
                  <a:lnTo>
                    <a:pt x="3469958" y="416243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6815" y="2356485"/>
              <a:ext cx="3470910" cy="520065"/>
            </a:xfrm>
            <a:custGeom>
              <a:avLst/>
              <a:gdLst/>
              <a:ahLst/>
              <a:cxnLst/>
              <a:rect l="l" t="t" r="r" b="b"/>
              <a:pathLst>
                <a:path w="3470910" h="520065">
                  <a:moveTo>
                    <a:pt x="0" y="520065"/>
                  </a:moveTo>
                  <a:lnTo>
                    <a:pt x="347091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82992" y="1870710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082992" y="283749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4667250" y="230028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6374" y="164211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6374" y="3002280"/>
              <a:ext cx="1503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73041" y="2143125"/>
              <a:ext cx="799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51811" y="185642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r₁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51811" y="271653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r₂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100"/>
              <p:cNvSpPr txBox="1">
                <a:spLocks noGrp="1"/>
              </p:cNvSpPr>
              <p:nvPr/>
            </p:nvSpPr>
            <p:spPr>
              <a:xfrm>
                <a:off x="533400" y="3494722"/>
                <a:ext cx="4977765" cy="4629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φ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  <m:sub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2π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rd-3"/>
          <p:cNvGrpSpPr/>
          <p:nvPr/>
        </p:nvGrpSpPr>
        <p:grpSpPr>
          <a:xfrm>
            <a:off x="533400" y="4137660"/>
            <a:ext cx="4977765" cy="1522095"/>
            <a:chOff x="533400" y="4137660"/>
            <a:chExt cx="4977765" cy="1522095"/>
          </a:xfrm>
        </p:grpSpPr>
        <p:sp>
          <p:nvSpPr>
            <p:cNvPr id="19" name="Rectangle 19"/>
            <p:cNvSpPr/>
            <p:nvPr/>
          </p:nvSpPr>
          <p:spPr>
            <a:xfrm>
              <a:off x="533400" y="4137660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27101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433578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058" y="437007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两项各管什么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381" y="4697254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φ₂ − φ₁ 是两个波源出发时就有的相位差，跟位置无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关；后一项是路程不同带来的，跟 P 点在哪有关。P 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移动时只有后一项变。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5815965" y="1524000"/>
            <a:ext cx="5842635" cy="1522095"/>
            <a:chOff x="5815965" y="1524000"/>
            <a:chExt cx="5842635" cy="1522095"/>
          </a:xfrm>
        </p:grpSpPr>
        <p:sp>
          <p:nvSpPr>
            <p:cNvPr id="25" name="Rectangle 25"/>
            <p:cNvSpPr/>
            <p:nvPr/>
          </p:nvSpPr>
          <p:spPr>
            <a:xfrm>
              <a:off x="5815965" y="1524000"/>
              <a:ext cx="584263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825490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052185" y="1722120"/>
              <a:ext cx="1704022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01460" y="1756410"/>
              <a:ext cx="16045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两列波在 P 点引起的振动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44946" y="2082641"/>
              <a:ext cx="511810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波源振动 y₁₀ = A₁cos(ωt + φ₁)、y₂₀ = A₂cos(ωt + φ₂)，传到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点各自落后 2πr/λ 的相位，于是 y₁ = A₁cos(ωt + φ₁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2πr₁/λ)，y₂ 同理。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101"/>
              <p:cNvSpPr txBox="1">
                <a:spLocks noGrp="1"/>
              </p:cNvSpPr>
              <p:nvPr/>
            </p:nvSpPr>
            <p:spPr>
              <a:xfrm>
                <a:off x="5815965" y="3227070"/>
                <a:ext cx="5842635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radPr>
                        <m:deg/>
                        <m:e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Sup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</m:sSub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cos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Δ</m:t>
                              </m:r>
                            </m:e>
                          </m:func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φ</m:t>
                          </m:r>
                        </m:e>
                      </m:rad>
                    </m:oMath>
                  </m:oMathPara>
                </a14:m>
              </a:p>
            </p:txBody>
          </p:sp>
        </mc:Choice>
      </mc:AlternateContent>
      <p:grpSp>
        <p:nvGrpSpPr>
          <p:cNvPr id="40" name="c2-card-3"/>
          <p:cNvGrpSpPr/>
          <p:nvPr/>
        </p:nvGrpSpPr>
        <p:grpSpPr>
          <a:xfrm>
            <a:off x="5815965" y="3818572"/>
            <a:ext cx="5842635" cy="1842135"/>
            <a:chOff x="5815965" y="3818572"/>
            <a:chExt cx="5842635" cy="1842135"/>
          </a:xfrm>
        </p:grpSpPr>
        <p:sp>
          <p:nvSpPr>
            <p:cNvPr id="32" name="Rectangle 32"/>
            <p:cNvSpPr/>
            <p:nvPr/>
          </p:nvSpPr>
          <p:spPr>
            <a:xfrm>
              <a:off x="5815965" y="3818572"/>
              <a:ext cx="5842635" cy="1842135"/>
            </a:xfrm>
            <a:prstGeom prst="roundRect">
              <a:avLst>
                <a:gd name="adj" fmla="val 7239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14085" y="401669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97524" y="405098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极值条件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21705" y="4437698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78296" y="4377214"/>
              <a:ext cx="43344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Δφ = ±2kπ（k = 0, 1, 2, …）时 </a:t>
              </a:r>
              <a:r>
                <a:rPr lang="zh-CN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加强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，A = A₁ + A₂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021705" y="475488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78296" y="4695349"/>
              <a:ext cx="33250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Δφ = ±(2k+1)π 时 </a:t>
              </a:r>
              <a:r>
                <a:rPr lang="zh-CN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减弱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，A = |A₁ − A₂|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07989" y="5009198"/>
              <a:ext cx="51252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这就是第2章同方向同频率合成的公式，只是相位差里多了一项由路程差带来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 2πΔr/λ。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1" name="Rectangle 4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511" y="6011704"/>
              <a:ext cx="88918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只跟位置有关、不随时间变，所以空间里每一点的强弱是固定的，这正是干涉图样能稳定存在的原因。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波的叠加原理与波的干涉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两波源同相时，只看波程差就够了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143952"/>
            <a:chOff x="533400" y="1524000"/>
            <a:chExt cx="5410200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1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波程差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r₂ − r₁，即两列波到达同一点所走路程之差。当 φ₁ = φ₂ 时，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−2πδ/λ，判据可以全部换成对 δ 的要求。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14"/>
              <p:cNvSpPr txBox="1">
                <a:spLocks noGrp="1"/>
              </p:cNvSpPr>
              <p:nvPr/>
            </p:nvSpPr>
            <p:spPr>
              <a:xfrm>
                <a:off x="533400" y="2832735"/>
                <a:ext cx="54102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=±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kλ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115"/>
              <p:cNvSpPr txBox="1">
                <a:spLocks noGrp="1"/>
              </p:cNvSpPr>
              <p:nvPr/>
            </p:nvSpPr>
            <p:spPr>
              <a:xfrm>
                <a:off x="533400" y="3321368"/>
                <a:ext cx="54102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δ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=±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2k</m:t>
                          </m:r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f>
                        <m:fPr>
                          <m:type m:val="bar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6" name="c1-text-4"/>
          <p:cNvGrpSpPr/>
          <p:nvPr/>
        </p:nvGrpSpPr>
        <p:grpSpPr>
          <a:xfrm>
            <a:off x="528066" y="3914775"/>
            <a:ext cx="2986107" cy="205359"/>
            <a:chOff x="528066" y="3914775"/>
            <a:chExt cx="2986107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528066" y="3914775"/>
              <a:ext cx="29861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上式为 </a:t>
              </a:r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加强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（k = 0, 1, 2, …），下式为 </a:t>
              </a:r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减弱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1-card-5"/>
          <p:cNvGrpSpPr/>
          <p:nvPr/>
        </p:nvGrpSpPr>
        <p:grpSpPr>
          <a:xfrm>
            <a:off x="533400" y="4244340"/>
            <a:ext cx="5410200" cy="1143952"/>
            <a:chOff x="533400" y="4244340"/>
            <a:chExt cx="5410200" cy="1143952"/>
          </a:xfrm>
        </p:grpSpPr>
        <p:sp>
          <p:nvSpPr>
            <p:cNvPr id="17" name="Rectangle 17"/>
            <p:cNvSpPr/>
            <p:nvPr/>
          </p:nvSpPr>
          <p:spPr>
            <a:xfrm>
              <a:off x="533400" y="424434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37769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2475" y="442531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8693" y="445817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用波程差判据的前提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4764881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两波源必须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同相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。原课件在这里写明了“在两个波源同相时”，做题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时一旦发现两源有固定的初相差，就要退回去用完整的 Δφ 公式。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248400" y="1524000"/>
            <a:ext cx="5410200" cy="2287905"/>
            <a:chOff x="6248400" y="1524000"/>
            <a:chExt cx="5410200" cy="2287905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17567" y="1641157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波程差 δ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83258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相位差大小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93542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684002" y="1641157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合振幅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43079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41336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31961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加强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38804" y="2023110"/>
              <a:ext cx="510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+ A₂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48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48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43079" y="240411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41336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π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746808" y="2296478"/>
              <a:ext cx="138779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31961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减弱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38804" y="2404110"/>
              <a:ext cx="60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|A₁ − A₂|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43079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41336" y="278511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31961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38804" y="2785110"/>
              <a:ext cx="510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+ A₂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48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3079" y="3167062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641336" y="316706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3π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746808" y="3059430"/>
              <a:ext cx="1387792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31961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减弱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38804" y="3167062"/>
              <a:ext cx="60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|A₁ − A₂|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3079" y="354806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41336" y="354806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2kπ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31961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38804" y="3548062"/>
              <a:ext cx="510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 + A₂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54189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73252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13936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rd-2"/>
          <p:cNvGrpSpPr/>
          <p:nvPr/>
        </p:nvGrpSpPr>
        <p:grpSpPr>
          <a:xfrm>
            <a:off x="6248400" y="3976688"/>
            <a:ext cx="5410200" cy="1410652"/>
            <a:chOff x="6248400" y="3976688"/>
            <a:chExt cx="5410200" cy="1410652"/>
          </a:xfrm>
        </p:grpSpPr>
        <p:sp>
          <p:nvSpPr>
            <p:cNvPr id="61" name="Rectangle 61"/>
            <p:cNvSpPr/>
            <p:nvPr/>
          </p:nvSpPr>
          <p:spPr>
            <a:xfrm>
              <a:off x="6248400" y="3976688"/>
              <a:ext cx="5410200" cy="1410652"/>
            </a:xfrm>
            <a:prstGeom prst="roundRect">
              <a:avLst>
                <a:gd name="adj" fmla="val 94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257925" y="4110038"/>
              <a:ext cx="47625" cy="11439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467475" y="41576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560147" y="41905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60998" y="4498181"/>
              <a:ext cx="4759706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两同相波源到 P 点的波程差 δ = 2.5λ。写成 (2k+1)λ/2 的形式，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2，属于减弱，P 点合振幅是 |A₁ − A₂|；若两源等幅，P 点完全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不动。</a:t>
              </a:r>
            </a:p>
          </p:txBody>
        </p:sp>
      </p:grpSp>
      <p:grpSp>
        <p:nvGrpSpPr>
          <p:cNvPr id="72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7" name="Rectangle 6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1273" y="6039326"/>
              <a:ext cx="95074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半波长是分界线：波程差是半波长的偶数倍就加强，奇数倍就减弱。把 δ 除以 λ/2，看商是奇数还是偶数，一眼就能判出来。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13138" cy="909257"/>
            <a:chOff x="520446" y="342900"/>
            <a:chExt cx="61131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波的叠加原理与波的干涉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131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例3.8　两列波在不同介质中走到同一点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869180" cy="2161222"/>
            <a:chOff x="533400" y="1524000"/>
            <a:chExt cx="4869180" cy="216122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161222"/>
            </a:xfrm>
            <a:prstGeom prst="roundRect">
              <a:avLst>
                <a:gd name="adj" fmla="val 61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45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54959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548" y="1737836"/>
              <a:ext cx="3703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28828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两列平面简谐波为相干波，在两种介质中传播，在分界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面上的 P 点相遇。ν = 100 Hz，A₁ = A₂ = 1.0×10⁻³ m，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S₁ 的相位比 S₂ 领先 π/2，介质 1 中 u₁ = 400 m·s⁻¹，介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质 2 中 u₂ = 500 m·s⁻¹，r₁ = 4.0 m，r₂ = 3.75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3058954"/>
              <a:ext cx="14285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P 点的合振幅。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141" y="3340418"/>
              <a:ext cx="950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原课件例3.3。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850005"/>
            <a:ext cx="4869180" cy="1671638"/>
            <a:chOff x="533400" y="3850005"/>
            <a:chExt cx="4869180" cy="1671638"/>
          </a:xfrm>
        </p:grpSpPr>
        <p:sp>
          <p:nvSpPr>
            <p:cNvPr id="15" name="Rectangle 15"/>
            <p:cNvSpPr/>
            <p:nvPr/>
          </p:nvSpPr>
          <p:spPr>
            <a:xfrm>
              <a:off x="533400" y="3850005"/>
              <a:ext cx="4869180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983355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403098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406384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442341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4370546"/>
              <a:ext cx="41094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两段路程的相位落后分别是 2π 与 1.5π，差值正好抵消掉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波源之间的 π/2，结果是干净的 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495109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4899184"/>
              <a:ext cx="3881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合振幅落在 |A₁ − A₂| = 0 与 A₁ + A₂ = 2.0×10⁻³ m 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间，取到了上界，符合加强</a:t>
              </a:r>
            </a:p>
          </p:txBody>
        </p:sp>
      </p:grpSp>
      <p:grpSp>
        <p:nvGrpSpPr>
          <p:cNvPr id="45" name="c2-steps-1"/>
          <p:cNvGrpSpPr/>
          <p:nvPr/>
        </p:nvGrpSpPr>
        <p:grpSpPr>
          <a:xfrm>
            <a:off x="5707380" y="1533525"/>
            <a:ext cx="5678424" cy="2896172"/>
            <a:chOff x="5707380" y="1533525"/>
            <a:chExt cx="5678424" cy="2896172"/>
          </a:xfrm>
        </p:grpSpPr>
        <p:sp>
          <p:nvSpPr>
            <p:cNvPr id="24" name="Rectangle 24"/>
            <p:cNvSpPr/>
            <p:nvPr/>
          </p:nvSpPr>
          <p:spPr>
            <a:xfrm>
              <a:off x="5840730" y="1676400"/>
              <a:ext cx="19050" cy="24050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707380" y="22802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01004" y="23541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707380" y="283273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801004" y="29065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707380" y="338613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01004" y="34599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5707380" y="3938588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01004" y="4012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003" y="156448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两种介质的波长不同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21146" y="1818322"/>
              <a:ext cx="526465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u₁/ν = 400/100 = 4 m，λ₂ = u₂/ν = 500/100 = 5 m。频率不变、波速变了，波长就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跟着变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003" y="231028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写出相位差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1146" y="2565082"/>
              <a:ext cx="3954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(φ₂ − φ₁) − (2πr₂/λ₂ − 2πr₁/λ₁)，其中 φ₂ − φ₁ = −π/2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20003" y="28636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21146" y="3118485"/>
              <a:ext cx="35232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2πr₂/λ₂ = 2π×3.75/5 = 1.5π，2πr₁/λ₁ = 2π×4/4 = 2π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20003" y="34161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21146" y="3670935"/>
              <a:ext cx="2796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−π/2 − (1.5π − 2π) = −π/2 + 0.5π = 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0003" y="39695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21146" y="4224338"/>
              <a:ext cx="2178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0 属于 2kπ 型，P 点干涉加强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5707380" y="4591050"/>
            <a:ext cx="5951220" cy="930592"/>
            <a:chOff x="5707380" y="4591050"/>
            <a:chExt cx="5951220" cy="930592"/>
          </a:xfrm>
        </p:grpSpPr>
        <p:sp>
          <p:nvSpPr>
            <p:cNvPr id="46" name="Rectangle 46"/>
            <p:cNvSpPr/>
            <p:nvPr/>
          </p:nvSpPr>
          <p:spPr>
            <a:xfrm>
              <a:off x="5707380" y="4591050"/>
              <a:ext cx="5951220" cy="930592"/>
            </a:xfrm>
            <a:prstGeom prst="roundRect">
              <a:avLst>
                <a:gd name="adj" fmla="val 1433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888355" y="477202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84126" y="480488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81878" y="5112544"/>
              <a:ext cx="22779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= A₁ + A₂ = 2.0×10⁻³ m。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1273" y="6039326"/>
              <a:ext cx="101449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两列波跨了不同介质时，波程折算成相位必须各用各的波长，不能先把 r₂ − r₁ 减出来再除以一个公共的 λ。这是这道题的全部考点。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6419" cy="909257"/>
            <a:chOff x="520446" y="342900"/>
            <a:chExt cx="6456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波的叠加原理与波的干涉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6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例3.9　先算几何距离，再判加强还是减弱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2147888"/>
            <a:chOff x="533400" y="1524000"/>
            <a:chExt cx="5193982" cy="21478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147888"/>
            </a:xfrm>
            <a:prstGeom prst="roundRect">
              <a:avLst>
                <a:gd name="adj" fmla="val 62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811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59817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2709" y="1763554"/>
              <a:ext cx="423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55904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两相干波源 A、B 如图，ν = 100 Hz，u = 10 m·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s⁻¹，A 的相位比 B 领先 π。P 在过 A 且垂直于 AB 的直线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上，AP = 15 m，AB = 20 m。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963704"/>
              <a:ext cx="1776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P 点的振动情况。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239" y="3280410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 3.5 节的课堂例题。</a:t>
              </a:r>
            </a:p>
          </p:txBody>
        </p:sp>
      </p:grpSp>
      <p:grpSp>
        <p:nvGrpSpPr>
          <p:cNvPr id="27" name="c1-graph-2"/>
          <p:cNvGrpSpPr/>
          <p:nvPr/>
        </p:nvGrpSpPr>
        <p:grpSpPr>
          <a:xfrm>
            <a:off x="866070" y="3881914"/>
            <a:ext cx="4540744" cy="1506378"/>
            <a:chOff x="866070" y="3881914"/>
            <a:chExt cx="4540744" cy="1506378"/>
          </a:xfrm>
        </p:grpSpPr>
        <p:sp>
          <p:nvSpPr>
            <p:cNvPr id="15" name="Freeform 15"/>
            <p:cNvSpPr/>
            <p:nvPr/>
          </p:nvSpPr>
          <p:spPr>
            <a:xfrm>
              <a:off x="1363980" y="4134802"/>
              <a:ext cx="9525" cy="959167"/>
            </a:xfrm>
            <a:custGeom>
              <a:avLst/>
              <a:gdLst/>
              <a:ahLst/>
              <a:cxnLst/>
              <a:rect l="l" t="t" r="r" b="b"/>
              <a:pathLst>
                <a:path w="9525" h="959167">
                  <a:moveTo>
                    <a:pt x="0" y="95916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21130" y="5151120"/>
              <a:ext cx="3625215" cy="9525"/>
            </a:xfrm>
            <a:custGeom>
              <a:avLst/>
              <a:gdLst/>
              <a:ahLst/>
              <a:cxnLst/>
              <a:rect l="l" t="t" r="r" b="b"/>
              <a:pathLst>
                <a:path w="3625215" h="9525">
                  <a:moveTo>
                    <a:pt x="0" y="0"/>
                  </a:moveTo>
                  <a:lnTo>
                    <a:pt x="3625215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419225" y="4093845"/>
              <a:ext cx="3629978" cy="1041083"/>
            </a:xfrm>
            <a:custGeom>
              <a:avLst/>
              <a:gdLst/>
              <a:ahLst/>
              <a:cxnLst/>
              <a:rect l="l" t="t" r="r" b="b"/>
              <a:pathLst>
                <a:path w="3629978" h="1041083">
                  <a:moveTo>
                    <a:pt x="3629978" y="104108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316355" y="510349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055870" y="510349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316355" y="403002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1613" y="5171599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20241" y="5171599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1613" y="3881914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6070" y="4517708"/>
              <a:ext cx="270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15 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98730" y="5212080"/>
              <a:ext cx="270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 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11150" y="4391025"/>
              <a:ext cx="2700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26B3A"/>
                  </a:solidFill>
                  <a:latin typeface="+mn-lt"/>
                  <a:ea typeface="+mn-ea"/>
                  <a:cs typeface="+mn-cs"/>
                </a:rPr>
                <a:t>25 m</a:t>
              </a:r>
            </a:p>
          </p:txBody>
        </p:sp>
      </p:grpSp>
      <p:grpSp>
        <p:nvGrpSpPr>
          <p:cNvPr id="45" name="c2-steps-1"/>
          <p:cNvGrpSpPr/>
          <p:nvPr/>
        </p:nvGrpSpPr>
        <p:grpSpPr>
          <a:xfrm>
            <a:off x="6032182" y="1533525"/>
            <a:ext cx="4828032" cy="2411159"/>
            <a:chOff x="6032182" y="1533525"/>
            <a:chExt cx="4828032" cy="2411159"/>
          </a:xfrm>
        </p:grpSpPr>
        <p:sp>
          <p:nvSpPr>
            <p:cNvPr id="28" name="Rectangle 28"/>
            <p:cNvSpPr/>
            <p:nvPr/>
          </p:nvSpPr>
          <p:spPr>
            <a:xfrm>
              <a:off x="6165532" y="1676400"/>
              <a:ext cx="19050" cy="18621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032182" y="215455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25806" y="22283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032182" y="277558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25806" y="2849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032182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125806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44044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算波长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45186" y="1846898"/>
              <a:ext cx="18941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u/ν = 10/100 = 0.1 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44044" y="218741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算两段波程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45186" y="2467927"/>
              <a:ext cx="3995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 = 15 m；直角三角形给出 rB = √(15² + 20²) = 25 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44044" y="280844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写相位差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45186" y="3088957"/>
              <a:ext cx="4415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(φB − φA) − 2π(rB − rA)/λ = −π − 2π×10/0.1 = −201π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4044" y="342947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5186" y="3709988"/>
              <a:ext cx="33137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201 是奇数，Δφ 是 π 的奇数倍，P 点干涉减弱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6032182" y="4120515"/>
            <a:ext cx="5626418" cy="1274445"/>
            <a:chOff x="6032182" y="4120515"/>
            <a:chExt cx="5626418" cy="1274445"/>
          </a:xfrm>
        </p:grpSpPr>
        <p:sp>
          <p:nvSpPr>
            <p:cNvPr id="46" name="Rectangle 46"/>
            <p:cNvSpPr/>
            <p:nvPr/>
          </p:nvSpPr>
          <p:spPr>
            <a:xfrm>
              <a:off x="6032182" y="4120515"/>
              <a:ext cx="5626418" cy="1274445"/>
            </a:xfrm>
            <a:prstGeom prst="roundRect">
              <a:avLst>
                <a:gd name="adj" fmla="val 10463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36018" y="43243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30175" y="43600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28779" y="4697254"/>
              <a:ext cx="48746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点干涉减弱，合振幅为 |A₁ − A₂|；若两波源等幅，P 点始终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静止不动。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1" name="Rectangle 51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4863" y="596233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0511" y="5753576"/>
              <a:ext cx="996022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检验：波程差 10 m 正好是 100 个波长，本该加强，最后判成减弱完全来自波源之间那个 π 的初相差。判奇偶就够了，不必把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−201π 化到主值区间。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68639" cy="3351847"/>
            <a:chOff x="667512" y="1835468"/>
            <a:chExt cx="556863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58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3.6，干涉的一种特例，也是乐器发声的原理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驻波方程与波节波腹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分段振动与能量不传播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半波损失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弦线上的简正模式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驻波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驻波：两列反向传播的等幅相干波叠加出来的波形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143952"/>
            <a:chOff x="533400" y="1524000"/>
            <a:chExt cx="5626418" cy="11439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驻波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沿相反方向传播、振幅相同的两列相干波相遇叠加，会形成一种波形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不向前传播的波。为方便起见设在 x = 0 处两波初相都为 0。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134"/>
              <p:cNvSpPr txBox="1">
                <a:spLocks noGrp="1"/>
              </p:cNvSpPr>
              <p:nvPr/>
            </p:nvSpPr>
            <p:spPr>
              <a:xfrm>
                <a:off x="533400" y="2832735"/>
                <a:ext cx="5626418" cy="334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func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num>
                            <m:den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</m:func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π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bar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num>
                            <m:den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f>
                            <m:fPr>
                              <m:type m:val="bar"/>
                              <m:ctrlP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num>
                            <m:den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9" name="c1-card-3"/>
          <p:cNvGrpSpPr/>
          <p:nvPr/>
        </p:nvGrpSpPr>
        <p:grpSpPr>
          <a:xfrm>
            <a:off x="533400" y="3331845"/>
            <a:ext cx="5626418" cy="1143952"/>
            <a:chOff x="533400" y="3331845"/>
            <a:chExt cx="5626418" cy="1143952"/>
          </a:xfrm>
        </p:grpSpPr>
        <p:sp>
          <p:nvSpPr>
            <p:cNvPr id="14" name="Rectangle 14"/>
            <p:cNvSpPr/>
            <p:nvPr/>
          </p:nvSpPr>
          <p:spPr>
            <a:xfrm>
              <a:off x="533400" y="3331845"/>
              <a:ext cx="5626418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5195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52475" y="351282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2744" y="354568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用和差化积合起来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5998" y="3853339"/>
              <a:ext cx="4962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cos α + cos β = 2cos((α+β)/2)·cos((α−β)/2)。把两式相加，含 t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的部分与含 x 的部分正好分开。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135"/>
              <p:cNvSpPr txBox="1">
                <a:spLocks noGrp="1"/>
              </p:cNvSpPr>
              <p:nvPr/>
            </p:nvSpPr>
            <p:spPr>
              <a:xfrm>
                <a:off x="533400" y="4640580"/>
                <a:ext cx="5626418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y</m:t>
                      </m:r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b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2A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2πx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den>
                          </m:f>
                        </m:e>
                      </m:func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⋅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type m:val="bar"/>
                              <m:ctrl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2πt</m:t>
                              </m:r>
                            </m:num>
                            <m:den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</a:p>
            </p:txBody>
          </p:sp>
        </mc:Choice>
      </mc:AlternateContent>
      <p:grpSp>
        <p:nvGrpSpPr>
          <p:cNvPr id="23" name="c2-image-1"/>
          <p:cNvGrpSpPr/>
          <p:nvPr/>
        </p:nvGrpSpPr>
        <p:grpSpPr>
          <a:xfrm>
            <a:off x="7577138" y="1524000"/>
            <a:ext cx="2968942" cy="2509551"/>
            <a:chOff x="7577138" y="1524000"/>
            <a:chExt cx="2968942" cy="2509551"/>
          </a:xfrm>
        </p:grpSpPr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2"/>
            <a:srcRect l="0" t="16" r="0" b="16"/>
            <a:stretch>
              <a:fillRect/>
            </a:stretch>
          </p:blipFill>
          <p:spPr>
            <a:xfrm>
              <a:off x="7577138" y="1524000"/>
              <a:ext cx="2968942" cy="2225992"/>
            </a:xfrm>
            <a:prstGeom prst="roundRect">
              <a:avLst>
                <a:gd name="adj" fmla="val 5990"/>
              </a:avLst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8133639" y="3842861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音叉带动的弦上出现三个驻波段</a:t>
              </a:r>
            </a:p>
          </p:txBody>
        </p:sp>
      </p:grpSp>
      <p:grpSp>
        <p:nvGrpSpPr>
          <p:cNvPr id="28" name="c2-card-2"/>
          <p:cNvGrpSpPr/>
          <p:nvPr/>
        </p:nvGrpSpPr>
        <p:grpSpPr>
          <a:xfrm>
            <a:off x="6464618" y="4178618"/>
            <a:ext cx="5193982" cy="1386840"/>
            <a:chOff x="6464618" y="4178618"/>
            <a:chExt cx="5193982" cy="1386840"/>
          </a:xfrm>
        </p:grpSpPr>
        <p:sp>
          <p:nvSpPr>
            <p:cNvPr id="24" name="Rectangle 24"/>
            <p:cNvSpPr/>
            <p:nvPr/>
          </p:nvSpPr>
          <p:spPr>
            <a:xfrm>
              <a:off x="6464618" y="4178618"/>
              <a:ext cx="5193982" cy="1386840"/>
            </a:xfrm>
            <a:prstGeom prst="roundRect">
              <a:avLst>
                <a:gd name="adj" fmla="val 961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45592" y="435959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23012" y="439245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为什么叫驻波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39116" y="4700111"/>
              <a:ext cx="458901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合成结果是两个因子的乘积：一个只含 x，一个只含 t。含 x 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因子决定每个位置的振幅，含 t 的因子对所有位置都一样。波形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只是原地起伏，不再往前跑。</a:t>
              </a:r>
            </a:p>
          </p:txBody>
        </p:sp>
      </p:grpSp>
      <p:grpSp>
        <p:nvGrpSpPr>
          <p:cNvPr id="3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9" name="Rectangle 2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041273" y="6039326"/>
              <a:ext cx="10217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驻波方程里 x 与 t 各管各的，这一点与行波的 y = A cos[ω(t − x/u) + φ] 形成鲜明对照：行波里 x 与 t 只能以 t − x/u 的组合出现。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驻波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波节与波腹交替出现，相邻两个同类点相隔半个波长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graph-1"/>
          <p:cNvGrpSpPr/>
          <p:nvPr/>
        </p:nvGrpSpPr>
        <p:grpSpPr>
          <a:xfrm>
            <a:off x="857250" y="1641158"/>
            <a:ext cx="10511022" cy="2040254"/>
            <a:chOff x="857250" y="1641158"/>
            <a:chExt cx="10511022" cy="2040254"/>
          </a:xfrm>
        </p:grpSpPr>
        <p:sp>
          <p:nvSpPr>
            <p:cNvPr id="7" name="Freeform 7"/>
            <p:cNvSpPr/>
            <p:nvPr/>
          </p:nvSpPr>
          <p:spPr>
            <a:xfrm>
              <a:off x="1214438" y="1866900"/>
              <a:ext cx="9763125" cy="1457325"/>
            </a:xfrm>
            <a:custGeom>
              <a:avLst/>
              <a:gdLst/>
              <a:ahLst/>
              <a:cxnLst/>
              <a:rect l="l" t="t" r="r" b="b"/>
              <a:pathLst>
                <a:path w="9763125" h="1457325">
                  <a:moveTo>
                    <a:pt x="0" y="741997"/>
                  </a:moveTo>
                  <a:lnTo>
                    <a:pt x="98108" y="831533"/>
                  </a:lnTo>
                  <a:lnTo>
                    <a:pt x="208598" y="934403"/>
                  </a:lnTo>
                  <a:lnTo>
                    <a:pt x="320040" y="1030605"/>
                  </a:lnTo>
                  <a:lnTo>
                    <a:pt x="431483" y="1122997"/>
                  </a:lnTo>
                  <a:lnTo>
                    <a:pt x="542925" y="1206818"/>
                  </a:lnTo>
                  <a:lnTo>
                    <a:pt x="654367" y="1279208"/>
                  </a:lnTo>
                  <a:lnTo>
                    <a:pt x="764858" y="1342072"/>
                  </a:lnTo>
                  <a:lnTo>
                    <a:pt x="876300" y="1390650"/>
                  </a:lnTo>
                  <a:lnTo>
                    <a:pt x="987742" y="1427797"/>
                  </a:lnTo>
                  <a:lnTo>
                    <a:pt x="1099185" y="1450658"/>
                  </a:lnTo>
                  <a:lnTo>
                    <a:pt x="1210628" y="1457325"/>
                  </a:lnTo>
                  <a:lnTo>
                    <a:pt x="1321118" y="1450658"/>
                  </a:lnTo>
                  <a:lnTo>
                    <a:pt x="1432560" y="1427797"/>
                  </a:lnTo>
                  <a:lnTo>
                    <a:pt x="1544003" y="1390650"/>
                  </a:lnTo>
                  <a:lnTo>
                    <a:pt x="1655445" y="1342072"/>
                  </a:lnTo>
                  <a:lnTo>
                    <a:pt x="1766888" y="1279208"/>
                  </a:lnTo>
                  <a:lnTo>
                    <a:pt x="1877378" y="1206818"/>
                  </a:lnTo>
                  <a:lnTo>
                    <a:pt x="1988820" y="1122997"/>
                  </a:lnTo>
                  <a:lnTo>
                    <a:pt x="2100262" y="1030605"/>
                  </a:lnTo>
                  <a:lnTo>
                    <a:pt x="2211705" y="934403"/>
                  </a:lnTo>
                  <a:lnTo>
                    <a:pt x="2323148" y="831533"/>
                  </a:lnTo>
                  <a:lnTo>
                    <a:pt x="2433638" y="728662"/>
                  </a:lnTo>
                  <a:lnTo>
                    <a:pt x="2545080" y="625792"/>
                  </a:lnTo>
                  <a:lnTo>
                    <a:pt x="2656522" y="522923"/>
                  </a:lnTo>
                  <a:lnTo>
                    <a:pt x="2767965" y="426720"/>
                  </a:lnTo>
                  <a:lnTo>
                    <a:pt x="2879408" y="334327"/>
                  </a:lnTo>
                  <a:lnTo>
                    <a:pt x="2989898" y="250508"/>
                  </a:lnTo>
                  <a:lnTo>
                    <a:pt x="3101340" y="178117"/>
                  </a:lnTo>
                  <a:lnTo>
                    <a:pt x="3212782" y="116205"/>
                  </a:lnTo>
                  <a:lnTo>
                    <a:pt x="3324225" y="66675"/>
                  </a:lnTo>
                  <a:lnTo>
                    <a:pt x="3435668" y="30480"/>
                  </a:lnTo>
                  <a:lnTo>
                    <a:pt x="3546158" y="6667"/>
                  </a:lnTo>
                  <a:lnTo>
                    <a:pt x="3657600" y="0"/>
                  </a:lnTo>
                  <a:lnTo>
                    <a:pt x="3769043" y="6667"/>
                  </a:lnTo>
                  <a:lnTo>
                    <a:pt x="3880485" y="30480"/>
                  </a:lnTo>
                  <a:lnTo>
                    <a:pt x="3991928" y="66675"/>
                  </a:lnTo>
                  <a:lnTo>
                    <a:pt x="4102418" y="116205"/>
                  </a:lnTo>
                  <a:lnTo>
                    <a:pt x="4213860" y="178117"/>
                  </a:lnTo>
                  <a:lnTo>
                    <a:pt x="4325302" y="250508"/>
                  </a:lnTo>
                  <a:lnTo>
                    <a:pt x="4436745" y="334327"/>
                  </a:lnTo>
                  <a:lnTo>
                    <a:pt x="4548188" y="426720"/>
                  </a:lnTo>
                  <a:lnTo>
                    <a:pt x="4658678" y="522923"/>
                  </a:lnTo>
                  <a:lnTo>
                    <a:pt x="4770120" y="625792"/>
                  </a:lnTo>
                  <a:lnTo>
                    <a:pt x="4881562" y="728662"/>
                  </a:lnTo>
                  <a:lnTo>
                    <a:pt x="4993005" y="831533"/>
                  </a:lnTo>
                  <a:lnTo>
                    <a:pt x="5104448" y="934403"/>
                  </a:lnTo>
                  <a:lnTo>
                    <a:pt x="5214938" y="1030605"/>
                  </a:lnTo>
                  <a:lnTo>
                    <a:pt x="5326380" y="1122997"/>
                  </a:lnTo>
                  <a:lnTo>
                    <a:pt x="5437822" y="1206818"/>
                  </a:lnTo>
                  <a:lnTo>
                    <a:pt x="5549265" y="1279208"/>
                  </a:lnTo>
                  <a:lnTo>
                    <a:pt x="5660708" y="1342072"/>
                  </a:lnTo>
                  <a:lnTo>
                    <a:pt x="5771198" y="1390650"/>
                  </a:lnTo>
                  <a:lnTo>
                    <a:pt x="5882640" y="1427797"/>
                  </a:lnTo>
                  <a:lnTo>
                    <a:pt x="5994082" y="1450658"/>
                  </a:lnTo>
                  <a:lnTo>
                    <a:pt x="6105525" y="1457325"/>
                  </a:lnTo>
                  <a:lnTo>
                    <a:pt x="6216968" y="1450658"/>
                  </a:lnTo>
                  <a:lnTo>
                    <a:pt x="6327458" y="1427797"/>
                  </a:lnTo>
                  <a:lnTo>
                    <a:pt x="6438900" y="1390650"/>
                  </a:lnTo>
                  <a:lnTo>
                    <a:pt x="6550342" y="1342072"/>
                  </a:lnTo>
                  <a:lnTo>
                    <a:pt x="6661785" y="1279208"/>
                  </a:lnTo>
                  <a:lnTo>
                    <a:pt x="6773228" y="1206818"/>
                  </a:lnTo>
                  <a:lnTo>
                    <a:pt x="6883718" y="1122997"/>
                  </a:lnTo>
                  <a:lnTo>
                    <a:pt x="6995160" y="1030605"/>
                  </a:lnTo>
                  <a:lnTo>
                    <a:pt x="7106602" y="934403"/>
                  </a:lnTo>
                  <a:lnTo>
                    <a:pt x="7218045" y="831533"/>
                  </a:lnTo>
                  <a:lnTo>
                    <a:pt x="7329488" y="728662"/>
                  </a:lnTo>
                  <a:lnTo>
                    <a:pt x="7439978" y="625792"/>
                  </a:lnTo>
                  <a:lnTo>
                    <a:pt x="7551420" y="522923"/>
                  </a:lnTo>
                  <a:lnTo>
                    <a:pt x="7662862" y="426720"/>
                  </a:lnTo>
                  <a:lnTo>
                    <a:pt x="7774305" y="334327"/>
                  </a:lnTo>
                  <a:lnTo>
                    <a:pt x="7885748" y="250508"/>
                  </a:lnTo>
                  <a:lnTo>
                    <a:pt x="7996238" y="178117"/>
                  </a:lnTo>
                  <a:lnTo>
                    <a:pt x="8107680" y="116205"/>
                  </a:lnTo>
                  <a:lnTo>
                    <a:pt x="8219122" y="66675"/>
                  </a:lnTo>
                  <a:lnTo>
                    <a:pt x="8330565" y="30480"/>
                  </a:lnTo>
                  <a:lnTo>
                    <a:pt x="8442008" y="6667"/>
                  </a:lnTo>
                  <a:lnTo>
                    <a:pt x="8552498" y="0"/>
                  </a:lnTo>
                  <a:lnTo>
                    <a:pt x="8663940" y="6667"/>
                  </a:lnTo>
                  <a:lnTo>
                    <a:pt x="8775382" y="30480"/>
                  </a:lnTo>
                  <a:lnTo>
                    <a:pt x="8886825" y="66675"/>
                  </a:lnTo>
                  <a:lnTo>
                    <a:pt x="8998268" y="116205"/>
                  </a:lnTo>
                  <a:lnTo>
                    <a:pt x="9108758" y="178117"/>
                  </a:lnTo>
                  <a:lnTo>
                    <a:pt x="9220200" y="250508"/>
                  </a:lnTo>
                  <a:lnTo>
                    <a:pt x="9331642" y="334327"/>
                  </a:lnTo>
                  <a:lnTo>
                    <a:pt x="9443085" y="426720"/>
                  </a:lnTo>
                  <a:lnTo>
                    <a:pt x="9554528" y="522923"/>
                  </a:lnTo>
                  <a:lnTo>
                    <a:pt x="9665018" y="625792"/>
                  </a:lnTo>
                  <a:lnTo>
                    <a:pt x="9763125" y="71532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14438" y="1866900"/>
              <a:ext cx="9763125" cy="1457325"/>
            </a:xfrm>
            <a:custGeom>
              <a:avLst/>
              <a:gdLst/>
              <a:ahLst/>
              <a:cxnLst/>
              <a:rect l="l" t="t" r="r" b="b"/>
              <a:pathLst>
                <a:path w="9763125" h="1457325">
                  <a:moveTo>
                    <a:pt x="0" y="715328"/>
                  </a:moveTo>
                  <a:lnTo>
                    <a:pt x="98108" y="625792"/>
                  </a:lnTo>
                  <a:lnTo>
                    <a:pt x="208598" y="522923"/>
                  </a:lnTo>
                  <a:lnTo>
                    <a:pt x="320040" y="426720"/>
                  </a:lnTo>
                  <a:lnTo>
                    <a:pt x="431483" y="334327"/>
                  </a:lnTo>
                  <a:lnTo>
                    <a:pt x="542925" y="250508"/>
                  </a:lnTo>
                  <a:lnTo>
                    <a:pt x="654367" y="178117"/>
                  </a:lnTo>
                  <a:lnTo>
                    <a:pt x="764858" y="116205"/>
                  </a:lnTo>
                  <a:lnTo>
                    <a:pt x="876300" y="66675"/>
                  </a:lnTo>
                  <a:lnTo>
                    <a:pt x="987742" y="30480"/>
                  </a:lnTo>
                  <a:lnTo>
                    <a:pt x="1099185" y="6667"/>
                  </a:lnTo>
                  <a:lnTo>
                    <a:pt x="1210628" y="0"/>
                  </a:lnTo>
                  <a:lnTo>
                    <a:pt x="1321118" y="6667"/>
                  </a:lnTo>
                  <a:lnTo>
                    <a:pt x="1432560" y="30480"/>
                  </a:lnTo>
                  <a:lnTo>
                    <a:pt x="1544003" y="66675"/>
                  </a:lnTo>
                  <a:lnTo>
                    <a:pt x="1655445" y="116205"/>
                  </a:lnTo>
                  <a:lnTo>
                    <a:pt x="1766888" y="178117"/>
                  </a:lnTo>
                  <a:lnTo>
                    <a:pt x="1877378" y="250508"/>
                  </a:lnTo>
                  <a:lnTo>
                    <a:pt x="1988820" y="334327"/>
                  </a:lnTo>
                  <a:lnTo>
                    <a:pt x="2100262" y="426720"/>
                  </a:lnTo>
                  <a:lnTo>
                    <a:pt x="2211705" y="522923"/>
                  </a:lnTo>
                  <a:lnTo>
                    <a:pt x="2323148" y="625792"/>
                  </a:lnTo>
                  <a:lnTo>
                    <a:pt x="2433638" y="728662"/>
                  </a:lnTo>
                  <a:lnTo>
                    <a:pt x="2545080" y="831533"/>
                  </a:lnTo>
                  <a:lnTo>
                    <a:pt x="2656522" y="934403"/>
                  </a:lnTo>
                  <a:lnTo>
                    <a:pt x="2767965" y="1030605"/>
                  </a:lnTo>
                  <a:lnTo>
                    <a:pt x="2879408" y="1122997"/>
                  </a:lnTo>
                  <a:lnTo>
                    <a:pt x="2989898" y="1206818"/>
                  </a:lnTo>
                  <a:lnTo>
                    <a:pt x="3101340" y="1279208"/>
                  </a:lnTo>
                  <a:lnTo>
                    <a:pt x="3212782" y="1342072"/>
                  </a:lnTo>
                  <a:lnTo>
                    <a:pt x="3324225" y="1390650"/>
                  </a:lnTo>
                  <a:lnTo>
                    <a:pt x="3435668" y="1427797"/>
                  </a:lnTo>
                  <a:lnTo>
                    <a:pt x="3546158" y="1450658"/>
                  </a:lnTo>
                  <a:lnTo>
                    <a:pt x="3657600" y="1457325"/>
                  </a:lnTo>
                  <a:lnTo>
                    <a:pt x="3769043" y="1450658"/>
                  </a:lnTo>
                  <a:lnTo>
                    <a:pt x="3880485" y="1427797"/>
                  </a:lnTo>
                  <a:lnTo>
                    <a:pt x="3991928" y="1390650"/>
                  </a:lnTo>
                  <a:lnTo>
                    <a:pt x="4102418" y="1342072"/>
                  </a:lnTo>
                  <a:lnTo>
                    <a:pt x="4213860" y="1279208"/>
                  </a:lnTo>
                  <a:lnTo>
                    <a:pt x="4325302" y="1206818"/>
                  </a:lnTo>
                  <a:lnTo>
                    <a:pt x="4436745" y="1122997"/>
                  </a:lnTo>
                  <a:lnTo>
                    <a:pt x="4548188" y="1030605"/>
                  </a:lnTo>
                  <a:lnTo>
                    <a:pt x="4658678" y="934403"/>
                  </a:lnTo>
                  <a:lnTo>
                    <a:pt x="4770120" y="831533"/>
                  </a:lnTo>
                  <a:lnTo>
                    <a:pt x="4881562" y="728662"/>
                  </a:lnTo>
                  <a:lnTo>
                    <a:pt x="4993005" y="625792"/>
                  </a:lnTo>
                  <a:lnTo>
                    <a:pt x="5104448" y="522923"/>
                  </a:lnTo>
                  <a:lnTo>
                    <a:pt x="5214938" y="426720"/>
                  </a:lnTo>
                  <a:lnTo>
                    <a:pt x="5326380" y="334327"/>
                  </a:lnTo>
                  <a:lnTo>
                    <a:pt x="5437822" y="250508"/>
                  </a:lnTo>
                  <a:lnTo>
                    <a:pt x="5549265" y="178117"/>
                  </a:lnTo>
                  <a:lnTo>
                    <a:pt x="5660708" y="116205"/>
                  </a:lnTo>
                  <a:lnTo>
                    <a:pt x="5771198" y="66675"/>
                  </a:lnTo>
                  <a:lnTo>
                    <a:pt x="5882640" y="30480"/>
                  </a:lnTo>
                  <a:lnTo>
                    <a:pt x="5994082" y="6667"/>
                  </a:lnTo>
                  <a:lnTo>
                    <a:pt x="6105525" y="0"/>
                  </a:lnTo>
                  <a:lnTo>
                    <a:pt x="6216968" y="6667"/>
                  </a:lnTo>
                  <a:lnTo>
                    <a:pt x="6327458" y="30480"/>
                  </a:lnTo>
                  <a:lnTo>
                    <a:pt x="6438900" y="66675"/>
                  </a:lnTo>
                  <a:lnTo>
                    <a:pt x="6550342" y="116205"/>
                  </a:lnTo>
                  <a:lnTo>
                    <a:pt x="6661785" y="178117"/>
                  </a:lnTo>
                  <a:lnTo>
                    <a:pt x="6773228" y="250508"/>
                  </a:lnTo>
                  <a:lnTo>
                    <a:pt x="6883718" y="334327"/>
                  </a:lnTo>
                  <a:lnTo>
                    <a:pt x="6995160" y="426720"/>
                  </a:lnTo>
                  <a:lnTo>
                    <a:pt x="7106602" y="522923"/>
                  </a:lnTo>
                  <a:lnTo>
                    <a:pt x="7218045" y="625792"/>
                  </a:lnTo>
                  <a:lnTo>
                    <a:pt x="7329488" y="728662"/>
                  </a:lnTo>
                  <a:lnTo>
                    <a:pt x="7439978" y="831533"/>
                  </a:lnTo>
                  <a:lnTo>
                    <a:pt x="7551420" y="934403"/>
                  </a:lnTo>
                  <a:lnTo>
                    <a:pt x="7662862" y="1030605"/>
                  </a:lnTo>
                  <a:lnTo>
                    <a:pt x="7774305" y="1122997"/>
                  </a:lnTo>
                  <a:lnTo>
                    <a:pt x="7885748" y="1206818"/>
                  </a:lnTo>
                  <a:lnTo>
                    <a:pt x="7996238" y="1279208"/>
                  </a:lnTo>
                  <a:lnTo>
                    <a:pt x="8107680" y="1342072"/>
                  </a:lnTo>
                  <a:lnTo>
                    <a:pt x="8219122" y="1390650"/>
                  </a:lnTo>
                  <a:lnTo>
                    <a:pt x="8330565" y="1427797"/>
                  </a:lnTo>
                  <a:lnTo>
                    <a:pt x="8442008" y="1450658"/>
                  </a:lnTo>
                  <a:lnTo>
                    <a:pt x="8552498" y="1457325"/>
                  </a:lnTo>
                  <a:lnTo>
                    <a:pt x="8663940" y="1450658"/>
                  </a:lnTo>
                  <a:lnTo>
                    <a:pt x="8775382" y="1427797"/>
                  </a:lnTo>
                  <a:lnTo>
                    <a:pt x="8886825" y="1390650"/>
                  </a:lnTo>
                  <a:lnTo>
                    <a:pt x="8998268" y="1342072"/>
                  </a:lnTo>
                  <a:lnTo>
                    <a:pt x="9108758" y="1279208"/>
                  </a:lnTo>
                  <a:lnTo>
                    <a:pt x="9220200" y="1206818"/>
                  </a:lnTo>
                  <a:lnTo>
                    <a:pt x="9331642" y="1122997"/>
                  </a:lnTo>
                  <a:lnTo>
                    <a:pt x="9443085" y="1030605"/>
                  </a:lnTo>
                  <a:lnTo>
                    <a:pt x="9554528" y="934403"/>
                  </a:lnTo>
                  <a:lnTo>
                    <a:pt x="9665018" y="831533"/>
                  </a:lnTo>
                  <a:lnTo>
                    <a:pt x="9763125" y="741997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885825" y="2595562"/>
              <a:ext cx="10271760" cy="9525"/>
            </a:xfrm>
            <a:custGeom>
              <a:avLst/>
              <a:gdLst/>
              <a:ahLst/>
              <a:cxnLst/>
              <a:rect l="l" t="t" r="r" b="b"/>
              <a:pathLst>
                <a:path w="10271760" h="9525">
                  <a:moveTo>
                    <a:pt x="0" y="0"/>
                  </a:moveTo>
                  <a:lnTo>
                    <a:pt x="10271760" y="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157585" y="2547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762375" y="3452812"/>
              <a:ext cx="2219325" cy="9525"/>
            </a:xfrm>
            <a:custGeom>
              <a:avLst/>
              <a:gdLst/>
              <a:ahLst/>
              <a:cxnLst/>
              <a:rect l="l" t="t" r="r" b="b"/>
              <a:pathLst>
                <a:path w="2219325" h="9525">
                  <a:moveTo>
                    <a:pt x="0" y="0"/>
                  </a:moveTo>
                  <a:lnTo>
                    <a:pt x="2219325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981700" y="34051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67125" y="34051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91578" y="25860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0981372" y="25860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191578" y="25860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0981372" y="25860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57250" y="258603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609975" y="2557462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6057900" y="2557462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505825" y="2557462"/>
              <a:ext cx="76200" cy="7620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638550" y="34432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086475" y="344328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1282178" y="25350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22154" y="27127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70080" y="27127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8004" y="271272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99144" y="164115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46117" y="335565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波腹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94042" y="164115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波腹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67320" y="350520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λ/2</a:t>
              </a:r>
            </a:p>
          </p:txBody>
        </p:sp>
      </p:grpSp>
      <p:grpSp>
        <p:nvGrpSpPr>
          <p:cNvPr id="53" name="c1-table-2"/>
          <p:cNvGrpSpPr/>
          <p:nvPr/>
        </p:nvGrpSpPr>
        <p:grpSpPr>
          <a:xfrm>
            <a:off x="533400" y="3857625"/>
            <a:ext cx="11125200" cy="1346835"/>
            <a:chOff x="533400" y="3857625"/>
            <a:chExt cx="11125200" cy="1346835"/>
          </a:xfrm>
        </p:grpSpPr>
        <p:sp>
          <p:nvSpPr>
            <p:cNvPr id="33" name="Rectangle 33"/>
            <p:cNvSpPr/>
            <p:nvPr/>
          </p:nvSpPr>
          <p:spPr>
            <a:xfrm>
              <a:off x="533400" y="385762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44244" y="39933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25544" y="39933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85989" y="39933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22662" y="399335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相邻两点间距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223" y="44419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421446" y="4441984"/>
              <a:ext cx="19909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振幅最大的点，振幅为 2A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03823" y="4441984"/>
              <a:ext cx="22357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±kλ/2（k = 0, 1, 2, …）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41383" y="444198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7501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75488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223" y="48906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21446" y="4890611"/>
              <a:ext cx="1882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始终不动的点，振幅为 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105525" y="4764405"/>
              <a:ext cx="3318510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03823" y="4890611"/>
              <a:ext cx="12536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±(2k+1)λ/4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541383" y="489061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λ/2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857625"/>
              <a:ext cx="11125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2308860" y="38576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091238" y="38576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428798" y="385762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4" name="Rectangle 54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728335"/>
              <a:ext cx="100450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 处质点的振幅是 |2A cos(2πx/λ)|，取绝对值这一步不能少。相邻波节间距是半个波长，实验上就靠量波节间距来测波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驻波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驻波是分段的振动，能量在波节与波腹之间来回倒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410200" cy="2335530"/>
            <a:chOff x="533400" y="1524000"/>
            <a:chExt cx="5410200" cy="23355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335530"/>
            </a:xfrm>
            <a:prstGeom prst="roundRect">
              <a:avLst>
                <a:gd name="adj" fmla="val 571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2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相位特点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471873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驻波方程 y = 2A cos(2πx/λ)·cos(2πt/T) 的相位里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没有 x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所以相位不再传播。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34378" y="268890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90397" y="263271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两相邻波节之间算一段，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同一段内所有质点相位相同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，一起向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上或一起向下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34378" y="324897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0397" y="319278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相邻两段相位相反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，一段向上时另一段必定向下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0090" y="3491389"/>
              <a:ext cx="4202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跨过一个波节，cos(2πx/λ) 变号，这就是相邻段反相的来源。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4034790"/>
            <a:ext cx="5410200" cy="1142048"/>
            <a:chOff x="533400" y="4034790"/>
            <a:chExt cx="5410200" cy="1142048"/>
          </a:xfrm>
        </p:grpSpPr>
        <p:sp>
          <p:nvSpPr>
            <p:cNvPr id="17" name="Rectangle 17"/>
            <p:cNvSpPr/>
            <p:nvPr/>
          </p:nvSpPr>
          <p:spPr>
            <a:xfrm>
              <a:off x="533400" y="4034790"/>
              <a:ext cx="5410200" cy="1142048"/>
            </a:xfrm>
            <a:prstGeom prst="roundRect">
              <a:avLst>
                <a:gd name="adj" fmla="val 1000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505325"/>
              <a:ext cx="200026" cy="200025"/>
              <a:chOff x="738188" y="4505325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5053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45497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46609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4387215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所以驻波上看不到波形往前跑，只看到各段原地此起彼伏，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像一排在原地摆动的绳套。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1768792"/>
            <a:chOff x="6248400" y="1524000"/>
            <a:chExt cx="5410200" cy="1768792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57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8905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62344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能量特点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478905" y="2061210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34583" y="20995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59702" y="207264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各质点同时经过平衡位置时，介质没有形变，势能为零，能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量全是动能，且集中在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波腹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附近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478905" y="2620327"/>
              <a:ext cx="192405" cy="19240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34583" y="26587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59702" y="263271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各质点同时到达最大位移时，速度为零，能量全是势能；波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节处形变最大，能量集中在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波节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附近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41"/>
              <p:cNvSpPr txBox="1">
                <a:spLocks noGrp="1"/>
              </p:cNvSpPr>
              <p:nvPr/>
            </p:nvSpPr>
            <p:spPr>
              <a:xfrm>
                <a:off x="6248400" y="3468052"/>
                <a:ext cx="54102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bar>
                        <m:barPr>
                          <m:pos m:val="top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ba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u</m:t>
                      </m:r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w</m:t>
                          </m:r>
                        </m:e>
                      </m:ba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2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2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1" name="c2-card-3"/>
          <p:cNvGrpSpPr/>
          <p:nvPr/>
        </p:nvGrpSpPr>
        <p:grpSpPr>
          <a:xfrm>
            <a:off x="6248400" y="3967162"/>
            <a:ext cx="5410200" cy="1209675"/>
            <a:chOff x="6248400" y="3967162"/>
            <a:chExt cx="5410200" cy="1209675"/>
          </a:xfrm>
        </p:grpSpPr>
        <p:sp>
          <p:nvSpPr>
            <p:cNvPr id="36" name="Rectangle 36"/>
            <p:cNvSpPr/>
            <p:nvPr/>
          </p:nvSpPr>
          <p:spPr>
            <a:xfrm>
              <a:off x="6248400" y="3967162"/>
              <a:ext cx="541020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7925" y="410051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8905" y="415956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0342" y="419385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合能流密度为零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2047" y="451580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两列行波的能流大小相等、方向相反，合起来平均为零：驻波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平均说来不传播能量，能量只是在波节和波腹之间反复转化。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2" name="Rectangle 4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102091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“不传播能量”指的是平均值为零，并不是说各质元之间没有能量交换；半个周期内能量从波腹流向波节，下半个周期再流回来。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71030" cy="909257"/>
            <a:chOff x="520446" y="342900"/>
            <a:chExt cx="8571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驻波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71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半波损失：从波疏介质射向波密介质，反射时相位突变 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graph-1"/>
          <p:cNvGrpSpPr/>
          <p:nvPr/>
        </p:nvGrpSpPr>
        <p:grpSpPr>
          <a:xfrm>
            <a:off x="1191578" y="1546860"/>
            <a:ext cx="9808845" cy="2205037"/>
            <a:chOff x="1191578" y="1546860"/>
            <a:chExt cx="9808845" cy="2205037"/>
          </a:xfrm>
        </p:grpSpPr>
        <p:sp>
          <p:nvSpPr>
            <p:cNvPr id="7" name="Freeform 7"/>
            <p:cNvSpPr/>
            <p:nvPr/>
          </p:nvSpPr>
          <p:spPr>
            <a:xfrm>
              <a:off x="1220152" y="1971675"/>
              <a:ext cx="4199572" cy="1343025"/>
            </a:xfrm>
            <a:custGeom>
              <a:avLst/>
              <a:gdLst/>
              <a:ahLst/>
              <a:cxnLst/>
              <a:rect l="l" t="t" r="r" b="b"/>
              <a:pathLst>
                <a:path w="4199572" h="1343025">
                  <a:moveTo>
                    <a:pt x="0" y="1341120"/>
                  </a:moveTo>
                  <a:lnTo>
                    <a:pt x="36195" y="1336358"/>
                  </a:lnTo>
                  <a:lnTo>
                    <a:pt x="102870" y="1311592"/>
                  </a:lnTo>
                  <a:lnTo>
                    <a:pt x="159068" y="1273492"/>
                  </a:lnTo>
                  <a:lnTo>
                    <a:pt x="214312" y="1222058"/>
                  </a:lnTo>
                  <a:lnTo>
                    <a:pt x="269558" y="1157288"/>
                  </a:lnTo>
                  <a:lnTo>
                    <a:pt x="337185" y="1081088"/>
                  </a:lnTo>
                  <a:lnTo>
                    <a:pt x="392430" y="993458"/>
                  </a:lnTo>
                  <a:lnTo>
                    <a:pt x="447675" y="902017"/>
                  </a:lnTo>
                  <a:lnTo>
                    <a:pt x="514350" y="803910"/>
                  </a:lnTo>
                  <a:lnTo>
                    <a:pt x="570548" y="701040"/>
                  </a:lnTo>
                  <a:lnTo>
                    <a:pt x="625793" y="597217"/>
                  </a:lnTo>
                  <a:lnTo>
                    <a:pt x="681990" y="497205"/>
                  </a:lnTo>
                  <a:lnTo>
                    <a:pt x="748665" y="401002"/>
                  </a:lnTo>
                  <a:lnTo>
                    <a:pt x="803910" y="311467"/>
                  </a:lnTo>
                  <a:lnTo>
                    <a:pt x="860108" y="228600"/>
                  </a:lnTo>
                  <a:lnTo>
                    <a:pt x="915352" y="156210"/>
                  </a:lnTo>
                  <a:lnTo>
                    <a:pt x="982028" y="98108"/>
                  </a:lnTo>
                  <a:lnTo>
                    <a:pt x="1037272" y="51435"/>
                  </a:lnTo>
                  <a:lnTo>
                    <a:pt x="1093470" y="20002"/>
                  </a:lnTo>
                  <a:lnTo>
                    <a:pt x="1160145" y="1905"/>
                  </a:lnTo>
                  <a:lnTo>
                    <a:pt x="1215390" y="1905"/>
                  </a:lnTo>
                  <a:lnTo>
                    <a:pt x="1271588" y="15240"/>
                  </a:lnTo>
                  <a:lnTo>
                    <a:pt x="1326832" y="44767"/>
                  </a:lnTo>
                  <a:lnTo>
                    <a:pt x="1393507" y="89535"/>
                  </a:lnTo>
                  <a:lnTo>
                    <a:pt x="1449705" y="147638"/>
                  </a:lnTo>
                  <a:lnTo>
                    <a:pt x="1504950" y="217170"/>
                  </a:lnTo>
                  <a:lnTo>
                    <a:pt x="1560195" y="298133"/>
                  </a:lnTo>
                  <a:lnTo>
                    <a:pt x="1626870" y="387667"/>
                  </a:lnTo>
                  <a:lnTo>
                    <a:pt x="1683068" y="483870"/>
                  </a:lnTo>
                  <a:lnTo>
                    <a:pt x="1738313" y="583883"/>
                  </a:lnTo>
                  <a:lnTo>
                    <a:pt x="1804988" y="686753"/>
                  </a:lnTo>
                  <a:lnTo>
                    <a:pt x="1861185" y="787717"/>
                  </a:lnTo>
                  <a:lnTo>
                    <a:pt x="1916430" y="886778"/>
                  </a:lnTo>
                  <a:lnTo>
                    <a:pt x="1972628" y="982980"/>
                  </a:lnTo>
                  <a:lnTo>
                    <a:pt x="2039302" y="1067753"/>
                  </a:lnTo>
                  <a:lnTo>
                    <a:pt x="2094548" y="1145858"/>
                  </a:lnTo>
                  <a:lnTo>
                    <a:pt x="2149792" y="1213485"/>
                  </a:lnTo>
                  <a:lnTo>
                    <a:pt x="2216468" y="1266825"/>
                  </a:lnTo>
                  <a:lnTo>
                    <a:pt x="2272665" y="1306830"/>
                  </a:lnTo>
                  <a:lnTo>
                    <a:pt x="2327910" y="1331595"/>
                  </a:lnTo>
                  <a:lnTo>
                    <a:pt x="2384108" y="1343025"/>
                  </a:lnTo>
                  <a:lnTo>
                    <a:pt x="2450782" y="1336358"/>
                  </a:lnTo>
                  <a:lnTo>
                    <a:pt x="2506028" y="1316355"/>
                  </a:lnTo>
                  <a:lnTo>
                    <a:pt x="2562225" y="1280160"/>
                  </a:lnTo>
                  <a:lnTo>
                    <a:pt x="2628900" y="1228725"/>
                  </a:lnTo>
                  <a:lnTo>
                    <a:pt x="2684145" y="1165860"/>
                  </a:lnTo>
                  <a:lnTo>
                    <a:pt x="2739390" y="1092518"/>
                  </a:lnTo>
                  <a:lnTo>
                    <a:pt x="2795588" y="1007745"/>
                  </a:lnTo>
                  <a:lnTo>
                    <a:pt x="2862262" y="915353"/>
                  </a:lnTo>
                  <a:lnTo>
                    <a:pt x="2917507" y="817245"/>
                  </a:lnTo>
                  <a:lnTo>
                    <a:pt x="2973705" y="716280"/>
                  </a:lnTo>
                  <a:lnTo>
                    <a:pt x="3028950" y="613410"/>
                  </a:lnTo>
                  <a:lnTo>
                    <a:pt x="3095625" y="512445"/>
                  </a:lnTo>
                  <a:lnTo>
                    <a:pt x="3151822" y="414338"/>
                  </a:lnTo>
                  <a:lnTo>
                    <a:pt x="3207068" y="321945"/>
                  </a:lnTo>
                  <a:lnTo>
                    <a:pt x="3273743" y="239077"/>
                  </a:lnTo>
                  <a:lnTo>
                    <a:pt x="3328988" y="165735"/>
                  </a:lnTo>
                  <a:lnTo>
                    <a:pt x="3385185" y="104775"/>
                  </a:lnTo>
                  <a:lnTo>
                    <a:pt x="3440430" y="56198"/>
                  </a:lnTo>
                  <a:lnTo>
                    <a:pt x="3507105" y="21908"/>
                  </a:lnTo>
                  <a:lnTo>
                    <a:pt x="3563302" y="4762"/>
                  </a:lnTo>
                  <a:lnTo>
                    <a:pt x="3618548" y="0"/>
                  </a:lnTo>
                  <a:lnTo>
                    <a:pt x="3674745" y="13335"/>
                  </a:lnTo>
                  <a:lnTo>
                    <a:pt x="3741420" y="40005"/>
                  </a:lnTo>
                  <a:lnTo>
                    <a:pt x="3796665" y="82867"/>
                  </a:lnTo>
                  <a:lnTo>
                    <a:pt x="3851910" y="139065"/>
                  </a:lnTo>
                  <a:lnTo>
                    <a:pt x="3919538" y="208598"/>
                  </a:lnTo>
                  <a:lnTo>
                    <a:pt x="3974782" y="286702"/>
                  </a:lnTo>
                  <a:lnTo>
                    <a:pt x="4030028" y="373380"/>
                  </a:lnTo>
                  <a:lnTo>
                    <a:pt x="4086225" y="470535"/>
                  </a:lnTo>
                  <a:lnTo>
                    <a:pt x="4152900" y="568642"/>
                  </a:lnTo>
                  <a:lnTo>
                    <a:pt x="4199572" y="654367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20152" y="1971675"/>
              <a:ext cx="4199572" cy="1343025"/>
            </a:xfrm>
            <a:custGeom>
              <a:avLst/>
              <a:gdLst/>
              <a:ahLst/>
              <a:cxnLst/>
              <a:rect l="l" t="t" r="r" b="b"/>
              <a:pathLst>
                <a:path w="4199572" h="1343025">
                  <a:moveTo>
                    <a:pt x="0" y="1905"/>
                  </a:moveTo>
                  <a:lnTo>
                    <a:pt x="36195" y="6667"/>
                  </a:lnTo>
                  <a:lnTo>
                    <a:pt x="102870" y="31433"/>
                  </a:lnTo>
                  <a:lnTo>
                    <a:pt x="159068" y="69533"/>
                  </a:lnTo>
                  <a:lnTo>
                    <a:pt x="214312" y="120967"/>
                  </a:lnTo>
                  <a:lnTo>
                    <a:pt x="269558" y="185738"/>
                  </a:lnTo>
                  <a:lnTo>
                    <a:pt x="337185" y="261938"/>
                  </a:lnTo>
                  <a:lnTo>
                    <a:pt x="392430" y="349567"/>
                  </a:lnTo>
                  <a:lnTo>
                    <a:pt x="447675" y="441008"/>
                  </a:lnTo>
                  <a:lnTo>
                    <a:pt x="514350" y="539115"/>
                  </a:lnTo>
                  <a:lnTo>
                    <a:pt x="570548" y="641985"/>
                  </a:lnTo>
                  <a:lnTo>
                    <a:pt x="625793" y="745808"/>
                  </a:lnTo>
                  <a:lnTo>
                    <a:pt x="681990" y="845820"/>
                  </a:lnTo>
                  <a:lnTo>
                    <a:pt x="748665" y="942022"/>
                  </a:lnTo>
                  <a:lnTo>
                    <a:pt x="803910" y="1031558"/>
                  </a:lnTo>
                  <a:lnTo>
                    <a:pt x="860108" y="1114425"/>
                  </a:lnTo>
                  <a:lnTo>
                    <a:pt x="915352" y="1186815"/>
                  </a:lnTo>
                  <a:lnTo>
                    <a:pt x="982028" y="1244918"/>
                  </a:lnTo>
                  <a:lnTo>
                    <a:pt x="1037272" y="1291590"/>
                  </a:lnTo>
                  <a:lnTo>
                    <a:pt x="1093470" y="1323022"/>
                  </a:lnTo>
                  <a:lnTo>
                    <a:pt x="1160145" y="1341120"/>
                  </a:lnTo>
                  <a:lnTo>
                    <a:pt x="1215390" y="1341120"/>
                  </a:lnTo>
                  <a:lnTo>
                    <a:pt x="1271588" y="1327785"/>
                  </a:lnTo>
                  <a:lnTo>
                    <a:pt x="1326832" y="1298258"/>
                  </a:lnTo>
                  <a:lnTo>
                    <a:pt x="1393507" y="1253490"/>
                  </a:lnTo>
                  <a:lnTo>
                    <a:pt x="1449705" y="1195388"/>
                  </a:lnTo>
                  <a:lnTo>
                    <a:pt x="1504950" y="1125855"/>
                  </a:lnTo>
                  <a:lnTo>
                    <a:pt x="1560195" y="1044892"/>
                  </a:lnTo>
                  <a:lnTo>
                    <a:pt x="1626870" y="955358"/>
                  </a:lnTo>
                  <a:lnTo>
                    <a:pt x="1683068" y="859155"/>
                  </a:lnTo>
                  <a:lnTo>
                    <a:pt x="1738313" y="759142"/>
                  </a:lnTo>
                  <a:lnTo>
                    <a:pt x="1804988" y="656272"/>
                  </a:lnTo>
                  <a:lnTo>
                    <a:pt x="1861185" y="555308"/>
                  </a:lnTo>
                  <a:lnTo>
                    <a:pt x="1916430" y="456248"/>
                  </a:lnTo>
                  <a:lnTo>
                    <a:pt x="1972628" y="360045"/>
                  </a:lnTo>
                  <a:lnTo>
                    <a:pt x="2039302" y="275273"/>
                  </a:lnTo>
                  <a:lnTo>
                    <a:pt x="2094548" y="197167"/>
                  </a:lnTo>
                  <a:lnTo>
                    <a:pt x="2149792" y="129540"/>
                  </a:lnTo>
                  <a:lnTo>
                    <a:pt x="2216468" y="76200"/>
                  </a:lnTo>
                  <a:lnTo>
                    <a:pt x="2272665" y="36195"/>
                  </a:lnTo>
                  <a:lnTo>
                    <a:pt x="2327910" y="11430"/>
                  </a:lnTo>
                  <a:lnTo>
                    <a:pt x="2384108" y="0"/>
                  </a:lnTo>
                  <a:lnTo>
                    <a:pt x="2450782" y="6667"/>
                  </a:lnTo>
                  <a:lnTo>
                    <a:pt x="2506028" y="26670"/>
                  </a:lnTo>
                  <a:lnTo>
                    <a:pt x="2562225" y="62865"/>
                  </a:lnTo>
                  <a:lnTo>
                    <a:pt x="2628900" y="114300"/>
                  </a:lnTo>
                  <a:lnTo>
                    <a:pt x="2684145" y="177165"/>
                  </a:lnTo>
                  <a:lnTo>
                    <a:pt x="2739390" y="250508"/>
                  </a:lnTo>
                  <a:lnTo>
                    <a:pt x="2795588" y="335280"/>
                  </a:lnTo>
                  <a:lnTo>
                    <a:pt x="2862262" y="427673"/>
                  </a:lnTo>
                  <a:lnTo>
                    <a:pt x="2917507" y="525780"/>
                  </a:lnTo>
                  <a:lnTo>
                    <a:pt x="2973705" y="626745"/>
                  </a:lnTo>
                  <a:lnTo>
                    <a:pt x="3028950" y="729615"/>
                  </a:lnTo>
                  <a:lnTo>
                    <a:pt x="3095625" y="830580"/>
                  </a:lnTo>
                  <a:lnTo>
                    <a:pt x="3151822" y="928688"/>
                  </a:lnTo>
                  <a:lnTo>
                    <a:pt x="3207068" y="1021080"/>
                  </a:lnTo>
                  <a:lnTo>
                    <a:pt x="3273743" y="1103947"/>
                  </a:lnTo>
                  <a:lnTo>
                    <a:pt x="3328988" y="1177290"/>
                  </a:lnTo>
                  <a:lnTo>
                    <a:pt x="3385185" y="1238250"/>
                  </a:lnTo>
                  <a:lnTo>
                    <a:pt x="3440430" y="1286828"/>
                  </a:lnTo>
                  <a:lnTo>
                    <a:pt x="3507105" y="1320165"/>
                  </a:lnTo>
                  <a:lnTo>
                    <a:pt x="3563302" y="1338262"/>
                  </a:lnTo>
                  <a:lnTo>
                    <a:pt x="3618548" y="1343025"/>
                  </a:lnTo>
                  <a:lnTo>
                    <a:pt x="3674745" y="1329690"/>
                  </a:lnTo>
                  <a:lnTo>
                    <a:pt x="3741420" y="1303020"/>
                  </a:lnTo>
                  <a:lnTo>
                    <a:pt x="3796665" y="1260158"/>
                  </a:lnTo>
                  <a:lnTo>
                    <a:pt x="3851910" y="1203960"/>
                  </a:lnTo>
                  <a:lnTo>
                    <a:pt x="3919538" y="1134428"/>
                  </a:lnTo>
                  <a:lnTo>
                    <a:pt x="3974782" y="1056322"/>
                  </a:lnTo>
                  <a:lnTo>
                    <a:pt x="4030028" y="969645"/>
                  </a:lnTo>
                  <a:lnTo>
                    <a:pt x="4086225" y="872490"/>
                  </a:lnTo>
                  <a:lnTo>
                    <a:pt x="4152900" y="774383"/>
                  </a:lnTo>
                  <a:lnTo>
                    <a:pt x="4199572" y="688658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6772275" y="1971675"/>
              <a:ext cx="4199573" cy="1343025"/>
            </a:xfrm>
            <a:custGeom>
              <a:avLst/>
              <a:gdLst/>
              <a:ahLst/>
              <a:cxnLst/>
              <a:rect l="l" t="t" r="r" b="b"/>
              <a:pathLst>
                <a:path w="4199573" h="1343025">
                  <a:moveTo>
                    <a:pt x="0" y="688658"/>
                  </a:moveTo>
                  <a:lnTo>
                    <a:pt x="46672" y="774383"/>
                  </a:lnTo>
                  <a:lnTo>
                    <a:pt x="113347" y="872490"/>
                  </a:lnTo>
                  <a:lnTo>
                    <a:pt x="169545" y="969645"/>
                  </a:lnTo>
                  <a:lnTo>
                    <a:pt x="224790" y="1056322"/>
                  </a:lnTo>
                  <a:lnTo>
                    <a:pt x="280035" y="1134428"/>
                  </a:lnTo>
                  <a:lnTo>
                    <a:pt x="347662" y="1203960"/>
                  </a:lnTo>
                  <a:lnTo>
                    <a:pt x="402907" y="1260158"/>
                  </a:lnTo>
                  <a:lnTo>
                    <a:pt x="458153" y="1303020"/>
                  </a:lnTo>
                  <a:lnTo>
                    <a:pt x="524828" y="1329690"/>
                  </a:lnTo>
                  <a:lnTo>
                    <a:pt x="581025" y="1343025"/>
                  </a:lnTo>
                  <a:lnTo>
                    <a:pt x="636270" y="1338262"/>
                  </a:lnTo>
                  <a:lnTo>
                    <a:pt x="692468" y="1320165"/>
                  </a:lnTo>
                  <a:lnTo>
                    <a:pt x="759143" y="1286828"/>
                  </a:lnTo>
                  <a:lnTo>
                    <a:pt x="814388" y="1238250"/>
                  </a:lnTo>
                  <a:lnTo>
                    <a:pt x="870585" y="1177290"/>
                  </a:lnTo>
                  <a:lnTo>
                    <a:pt x="925830" y="1103947"/>
                  </a:lnTo>
                  <a:lnTo>
                    <a:pt x="992505" y="1021080"/>
                  </a:lnTo>
                  <a:lnTo>
                    <a:pt x="1047750" y="928688"/>
                  </a:lnTo>
                  <a:lnTo>
                    <a:pt x="1103947" y="830580"/>
                  </a:lnTo>
                  <a:lnTo>
                    <a:pt x="1170622" y="729615"/>
                  </a:lnTo>
                  <a:lnTo>
                    <a:pt x="1225868" y="626745"/>
                  </a:lnTo>
                  <a:lnTo>
                    <a:pt x="1282065" y="525780"/>
                  </a:lnTo>
                  <a:lnTo>
                    <a:pt x="1337310" y="427673"/>
                  </a:lnTo>
                  <a:lnTo>
                    <a:pt x="1403985" y="335280"/>
                  </a:lnTo>
                  <a:lnTo>
                    <a:pt x="1460182" y="250508"/>
                  </a:lnTo>
                  <a:lnTo>
                    <a:pt x="1515428" y="177165"/>
                  </a:lnTo>
                  <a:lnTo>
                    <a:pt x="1570672" y="114300"/>
                  </a:lnTo>
                  <a:lnTo>
                    <a:pt x="1637347" y="62865"/>
                  </a:lnTo>
                  <a:lnTo>
                    <a:pt x="1693545" y="26670"/>
                  </a:lnTo>
                  <a:lnTo>
                    <a:pt x="1748790" y="6667"/>
                  </a:lnTo>
                  <a:lnTo>
                    <a:pt x="1815465" y="0"/>
                  </a:lnTo>
                  <a:lnTo>
                    <a:pt x="1871662" y="11430"/>
                  </a:lnTo>
                  <a:lnTo>
                    <a:pt x="1926907" y="36195"/>
                  </a:lnTo>
                  <a:lnTo>
                    <a:pt x="1983105" y="76200"/>
                  </a:lnTo>
                  <a:lnTo>
                    <a:pt x="2049780" y="129540"/>
                  </a:lnTo>
                  <a:lnTo>
                    <a:pt x="2105025" y="197167"/>
                  </a:lnTo>
                  <a:lnTo>
                    <a:pt x="2160270" y="275273"/>
                  </a:lnTo>
                  <a:lnTo>
                    <a:pt x="2226945" y="360045"/>
                  </a:lnTo>
                  <a:lnTo>
                    <a:pt x="2283143" y="456248"/>
                  </a:lnTo>
                  <a:lnTo>
                    <a:pt x="2338388" y="555308"/>
                  </a:lnTo>
                  <a:lnTo>
                    <a:pt x="2394585" y="656272"/>
                  </a:lnTo>
                  <a:lnTo>
                    <a:pt x="2461260" y="759142"/>
                  </a:lnTo>
                  <a:lnTo>
                    <a:pt x="2516505" y="859155"/>
                  </a:lnTo>
                  <a:lnTo>
                    <a:pt x="2572702" y="955358"/>
                  </a:lnTo>
                  <a:lnTo>
                    <a:pt x="2639378" y="1044892"/>
                  </a:lnTo>
                  <a:lnTo>
                    <a:pt x="2694622" y="1125855"/>
                  </a:lnTo>
                  <a:lnTo>
                    <a:pt x="2749868" y="1195388"/>
                  </a:lnTo>
                  <a:lnTo>
                    <a:pt x="2806065" y="1253490"/>
                  </a:lnTo>
                  <a:lnTo>
                    <a:pt x="2872740" y="1298258"/>
                  </a:lnTo>
                  <a:lnTo>
                    <a:pt x="2927985" y="1327785"/>
                  </a:lnTo>
                  <a:lnTo>
                    <a:pt x="2984182" y="1341120"/>
                  </a:lnTo>
                  <a:lnTo>
                    <a:pt x="3039427" y="1341120"/>
                  </a:lnTo>
                  <a:lnTo>
                    <a:pt x="3106102" y="1323022"/>
                  </a:lnTo>
                  <a:lnTo>
                    <a:pt x="3162300" y="1291590"/>
                  </a:lnTo>
                  <a:lnTo>
                    <a:pt x="3217545" y="1244918"/>
                  </a:lnTo>
                  <a:lnTo>
                    <a:pt x="3284220" y="1186815"/>
                  </a:lnTo>
                  <a:lnTo>
                    <a:pt x="3339465" y="1114425"/>
                  </a:lnTo>
                  <a:lnTo>
                    <a:pt x="3395662" y="1031558"/>
                  </a:lnTo>
                  <a:lnTo>
                    <a:pt x="3450907" y="942022"/>
                  </a:lnTo>
                  <a:lnTo>
                    <a:pt x="3517582" y="845820"/>
                  </a:lnTo>
                  <a:lnTo>
                    <a:pt x="3573780" y="745808"/>
                  </a:lnTo>
                  <a:lnTo>
                    <a:pt x="3629025" y="641985"/>
                  </a:lnTo>
                  <a:lnTo>
                    <a:pt x="3685223" y="539115"/>
                  </a:lnTo>
                  <a:lnTo>
                    <a:pt x="3751898" y="441008"/>
                  </a:lnTo>
                  <a:lnTo>
                    <a:pt x="3807143" y="349567"/>
                  </a:lnTo>
                  <a:lnTo>
                    <a:pt x="3862388" y="261938"/>
                  </a:lnTo>
                  <a:lnTo>
                    <a:pt x="3930015" y="185738"/>
                  </a:lnTo>
                  <a:lnTo>
                    <a:pt x="3985260" y="120967"/>
                  </a:lnTo>
                  <a:lnTo>
                    <a:pt x="4040505" y="69533"/>
                  </a:lnTo>
                  <a:lnTo>
                    <a:pt x="4096702" y="31433"/>
                  </a:lnTo>
                  <a:lnTo>
                    <a:pt x="4163377" y="6667"/>
                  </a:lnTo>
                  <a:lnTo>
                    <a:pt x="4199573" y="1905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772275" y="1971675"/>
              <a:ext cx="4199573" cy="1343025"/>
            </a:xfrm>
            <a:custGeom>
              <a:avLst/>
              <a:gdLst/>
              <a:ahLst/>
              <a:cxnLst/>
              <a:rect l="l" t="t" r="r" b="b"/>
              <a:pathLst>
                <a:path w="4199573" h="1343025">
                  <a:moveTo>
                    <a:pt x="0" y="654367"/>
                  </a:moveTo>
                  <a:lnTo>
                    <a:pt x="46672" y="568642"/>
                  </a:lnTo>
                  <a:lnTo>
                    <a:pt x="113347" y="470535"/>
                  </a:lnTo>
                  <a:lnTo>
                    <a:pt x="169545" y="373380"/>
                  </a:lnTo>
                  <a:lnTo>
                    <a:pt x="224790" y="286702"/>
                  </a:lnTo>
                  <a:lnTo>
                    <a:pt x="280035" y="208598"/>
                  </a:lnTo>
                  <a:lnTo>
                    <a:pt x="347662" y="139065"/>
                  </a:lnTo>
                  <a:lnTo>
                    <a:pt x="402907" y="82867"/>
                  </a:lnTo>
                  <a:lnTo>
                    <a:pt x="458153" y="40005"/>
                  </a:lnTo>
                  <a:lnTo>
                    <a:pt x="524828" y="13335"/>
                  </a:lnTo>
                  <a:lnTo>
                    <a:pt x="581025" y="0"/>
                  </a:lnTo>
                  <a:lnTo>
                    <a:pt x="636270" y="4762"/>
                  </a:lnTo>
                  <a:lnTo>
                    <a:pt x="692468" y="21908"/>
                  </a:lnTo>
                  <a:lnTo>
                    <a:pt x="759143" y="56198"/>
                  </a:lnTo>
                  <a:lnTo>
                    <a:pt x="814388" y="104775"/>
                  </a:lnTo>
                  <a:lnTo>
                    <a:pt x="870585" y="165735"/>
                  </a:lnTo>
                  <a:lnTo>
                    <a:pt x="925830" y="239077"/>
                  </a:lnTo>
                  <a:lnTo>
                    <a:pt x="992505" y="321945"/>
                  </a:lnTo>
                  <a:lnTo>
                    <a:pt x="1047750" y="414338"/>
                  </a:lnTo>
                  <a:lnTo>
                    <a:pt x="1103947" y="512445"/>
                  </a:lnTo>
                  <a:lnTo>
                    <a:pt x="1170622" y="613410"/>
                  </a:lnTo>
                  <a:lnTo>
                    <a:pt x="1225868" y="716280"/>
                  </a:lnTo>
                  <a:lnTo>
                    <a:pt x="1282065" y="817245"/>
                  </a:lnTo>
                  <a:lnTo>
                    <a:pt x="1337310" y="915353"/>
                  </a:lnTo>
                  <a:lnTo>
                    <a:pt x="1403985" y="1007745"/>
                  </a:lnTo>
                  <a:lnTo>
                    <a:pt x="1460182" y="1092518"/>
                  </a:lnTo>
                  <a:lnTo>
                    <a:pt x="1515428" y="1165860"/>
                  </a:lnTo>
                  <a:lnTo>
                    <a:pt x="1570672" y="1228725"/>
                  </a:lnTo>
                  <a:lnTo>
                    <a:pt x="1637347" y="1280160"/>
                  </a:lnTo>
                  <a:lnTo>
                    <a:pt x="1693545" y="1316355"/>
                  </a:lnTo>
                  <a:lnTo>
                    <a:pt x="1748790" y="1336358"/>
                  </a:lnTo>
                  <a:lnTo>
                    <a:pt x="1815465" y="1343025"/>
                  </a:lnTo>
                  <a:lnTo>
                    <a:pt x="1871662" y="1331595"/>
                  </a:lnTo>
                  <a:lnTo>
                    <a:pt x="1926907" y="1306830"/>
                  </a:lnTo>
                  <a:lnTo>
                    <a:pt x="1983105" y="1266825"/>
                  </a:lnTo>
                  <a:lnTo>
                    <a:pt x="2049780" y="1213485"/>
                  </a:lnTo>
                  <a:lnTo>
                    <a:pt x="2105025" y="1145858"/>
                  </a:lnTo>
                  <a:lnTo>
                    <a:pt x="2160270" y="1067753"/>
                  </a:lnTo>
                  <a:lnTo>
                    <a:pt x="2226945" y="982980"/>
                  </a:lnTo>
                  <a:lnTo>
                    <a:pt x="2283143" y="886778"/>
                  </a:lnTo>
                  <a:lnTo>
                    <a:pt x="2338388" y="787717"/>
                  </a:lnTo>
                  <a:lnTo>
                    <a:pt x="2394585" y="686753"/>
                  </a:lnTo>
                  <a:lnTo>
                    <a:pt x="2461260" y="583883"/>
                  </a:lnTo>
                  <a:lnTo>
                    <a:pt x="2516505" y="483870"/>
                  </a:lnTo>
                  <a:lnTo>
                    <a:pt x="2572702" y="387667"/>
                  </a:lnTo>
                  <a:lnTo>
                    <a:pt x="2639378" y="298133"/>
                  </a:lnTo>
                  <a:lnTo>
                    <a:pt x="2694622" y="217170"/>
                  </a:lnTo>
                  <a:lnTo>
                    <a:pt x="2749868" y="147638"/>
                  </a:lnTo>
                  <a:lnTo>
                    <a:pt x="2806065" y="89535"/>
                  </a:lnTo>
                  <a:lnTo>
                    <a:pt x="2872740" y="44767"/>
                  </a:lnTo>
                  <a:lnTo>
                    <a:pt x="2927985" y="15240"/>
                  </a:lnTo>
                  <a:lnTo>
                    <a:pt x="2984182" y="1905"/>
                  </a:lnTo>
                  <a:lnTo>
                    <a:pt x="3039427" y="1905"/>
                  </a:lnTo>
                  <a:lnTo>
                    <a:pt x="3106102" y="20002"/>
                  </a:lnTo>
                  <a:lnTo>
                    <a:pt x="3162300" y="51435"/>
                  </a:lnTo>
                  <a:lnTo>
                    <a:pt x="3217545" y="98108"/>
                  </a:lnTo>
                  <a:lnTo>
                    <a:pt x="3284220" y="156210"/>
                  </a:lnTo>
                  <a:lnTo>
                    <a:pt x="3339465" y="228600"/>
                  </a:lnTo>
                  <a:lnTo>
                    <a:pt x="3395662" y="311467"/>
                  </a:lnTo>
                  <a:lnTo>
                    <a:pt x="3450907" y="401002"/>
                  </a:lnTo>
                  <a:lnTo>
                    <a:pt x="3517582" y="497205"/>
                  </a:lnTo>
                  <a:lnTo>
                    <a:pt x="3573780" y="597217"/>
                  </a:lnTo>
                  <a:lnTo>
                    <a:pt x="3629025" y="701040"/>
                  </a:lnTo>
                  <a:lnTo>
                    <a:pt x="3685223" y="803910"/>
                  </a:lnTo>
                  <a:lnTo>
                    <a:pt x="3751898" y="902017"/>
                  </a:lnTo>
                  <a:lnTo>
                    <a:pt x="3807143" y="993458"/>
                  </a:lnTo>
                  <a:lnTo>
                    <a:pt x="3862388" y="1081088"/>
                  </a:lnTo>
                  <a:lnTo>
                    <a:pt x="3930015" y="1157288"/>
                  </a:lnTo>
                  <a:lnTo>
                    <a:pt x="3985260" y="1222058"/>
                  </a:lnTo>
                  <a:lnTo>
                    <a:pt x="4040505" y="1273492"/>
                  </a:lnTo>
                  <a:lnTo>
                    <a:pt x="4096702" y="1311592"/>
                  </a:lnTo>
                  <a:lnTo>
                    <a:pt x="4163377" y="1336358"/>
                  </a:lnTo>
                  <a:lnTo>
                    <a:pt x="4199573" y="134112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5428298" y="1722120"/>
              <a:ext cx="9525" cy="1842135"/>
            </a:xfrm>
            <a:custGeom>
              <a:avLst/>
              <a:gdLst/>
              <a:ahLst/>
              <a:cxnLst/>
              <a:rect l="l" t="t" r="r" b="b"/>
              <a:pathLst>
                <a:path w="9525" h="1842135">
                  <a:moveTo>
                    <a:pt x="0" y="0"/>
                  </a:moveTo>
                  <a:lnTo>
                    <a:pt x="0" y="184213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0990898" y="1722120"/>
              <a:ext cx="9525" cy="1842135"/>
            </a:xfrm>
            <a:custGeom>
              <a:avLst/>
              <a:gdLst/>
              <a:ahLst/>
              <a:cxnLst/>
              <a:rect l="l" t="t" r="r" b="b"/>
              <a:pathLst>
                <a:path w="9525" h="1842135">
                  <a:moveTo>
                    <a:pt x="0" y="0"/>
                  </a:moveTo>
                  <a:lnTo>
                    <a:pt x="0" y="1842135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91578" y="33051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418772" y="2633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91578" y="19621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18772" y="2633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754178" y="2633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10981372" y="196215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754178" y="263366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0981372" y="330517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5418772" y="16935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418772" y="35737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0981372" y="169354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10981372" y="357378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55640" y="357568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波疏介质 → 波密介质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02723" y="154686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界面处是波节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18240" y="3575685"/>
              <a:ext cx="11181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波密介质 → 波疏介质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65324" y="1546860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界面处是波腹</a:t>
              </a:r>
            </a:p>
          </p:txBody>
        </p:sp>
      </p:grpSp>
      <p:grpSp>
        <p:nvGrpSpPr>
          <p:cNvPr id="55" name="c1-table-2"/>
          <p:cNvGrpSpPr/>
          <p:nvPr/>
        </p:nvGrpSpPr>
        <p:grpSpPr>
          <a:xfrm>
            <a:off x="533400" y="3952875"/>
            <a:ext cx="11125200" cy="1346835"/>
            <a:chOff x="533400" y="3952875"/>
            <a:chExt cx="11125200" cy="1346835"/>
          </a:xfrm>
        </p:grpSpPr>
        <p:sp>
          <p:nvSpPr>
            <p:cNvPr id="30" name="Rectangle 30"/>
            <p:cNvSpPr/>
            <p:nvPr/>
          </p:nvSpPr>
          <p:spPr>
            <a:xfrm>
              <a:off x="533400" y="3952875"/>
              <a:ext cx="11125200" cy="448628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406258" y="408860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入射情形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15054" y="40886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92114" y="40886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反射波相位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17154" y="408860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界面处形成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78732" y="40886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俗称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1223" y="45372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波疏到波密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89148" y="4537234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ρ₁u₁ &lt; ρ₂u₂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14188" y="4537234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突变 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61161" y="45372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665970" y="4411028"/>
              <a:ext cx="198310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764268" y="45372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有半波损失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8453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33400" y="485013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41223" y="49858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波密到波疏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089148" y="498586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ρ₁u₁ &gt; ρ₂u₂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14188" y="49858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61161" y="49858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665970" y="4859655"/>
              <a:ext cx="1983105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764268" y="49858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无半波损失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3952875"/>
              <a:ext cx="11125200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2976562" y="395287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201602" y="395287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48575" y="395287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51682" y="3952875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6" name="Rectangle 5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130" y="5991225"/>
              <a:ext cx="10071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ρu 叫介质的波阻，ρu 大的是波密介质。透射波无论哪种情形都与入射波同相，只有反射波才可能出现相位突变。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驻波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弦线上的驻波：两端固定挑出一串分立的频率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1127760" y="1733550"/>
            <a:ext cx="4212908" cy="3767137"/>
            <a:chOff x="1127760" y="1733550"/>
            <a:chExt cx="4212908" cy="3767137"/>
          </a:xfrm>
        </p:grpSpPr>
        <p:sp>
          <p:nvSpPr>
            <p:cNvPr id="7" name="Freeform 7"/>
            <p:cNvSpPr/>
            <p:nvPr/>
          </p:nvSpPr>
          <p:spPr>
            <a:xfrm>
              <a:off x="1191578" y="1733550"/>
              <a:ext cx="4085272" cy="528638"/>
            </a:xfrm>
            <a:custGeom>
              <a:avLst/>
              <a:gdLst/>
              <a:ahLst/>
              <a:cxnLst/>
              <a:rect l="l" t="t" r="r" b="b"/>
              <a:pathLst>
                <a:path w="4085272" h="528638">
                  <a:moveTo>
                    <a:pt x="0" y="528638"/>
                  </a:moveTo>
                  <a:lnTo>
                    <a:pt x="53340" y="506730"/>
                  </a:lnTo>
                  <a:lnTo>
                    <a:pt x="136208" y="472440"/>
                  </a:lnTo>
                  <a:lnTo>
                    <a:pt x="224790" y="439102"/>
                  </a:lnTo>
                  <a:lnTo>
                    <a:pt x="313373" y="401955"/>
                  </a:lnTo>
                  <a:lnTo>
                    <a:pt x="396240" y="368617"/>
                  </a:lnTo>
                  <a:lnTo>
                    <a:pt x="484823" y="334327"/>
                  </a:lnTo>
                  <a:lnTo>
                    <a:pt x="572452" y="305752"/>
                  </a:lnTo>
                  <a:lnTo>
                    <a:pt x="656272" y="271462"/>
                  </a:lnTo>
                  <a:lnTo>
                    <a:pt x="743902" y="242888"/>
                  </a:lnTo>
                  <a:lnTo>
                    <a:pt x="832485" y="213360"/>
                  </a:lnTo>
                  <a:lnTo>
                    <a:pt x="915352" y="183833"/>
                  </a:lnTo>
                  <a:lnTo>
                    <a:pt x="1003935" y="159067"/>
                  </a:lnTo>
                  <a:lnTo>
                    <a:pt x="1092518" y="133350"/>
                  </a:lnTo>
                  <a:lnTo>
                    <a:pt x="1175385" y="112395"/>
                  </a:lnTo>
                  <a:lnTo>
                    <a:pt x="1263968" y="91440"/>
                  </a:lnTo>
                  <a:lnTo>
                    <a:pt x="1351598" y="70485"/>
                  </a:lnTo>
                  <a:lnTo>
                    <a:pt x="1434465" y="54292"/>
                  </a:lnTo>
                  <a:lnTo>
                    <a:pt x="1523048" y="41910"/>
                  </a:lnTo>
                  <a:lnTo>
                    <a:pt x="1611630" y="29527"/>
                  </a:lnTo>
                  <a:lnTo>
                    <a:pt x="1694498" y="16192"/>
                  </a:lnTo>
                  <a:lnTo>
                    <a:pt x="1783080" y="8573"/>
                  </a:lnTo>
                  <a:lnTo>
                    <a:pt x="1871663" y="3810"/>
                  </a:lnTo>
                  <a:lnTo>
                    <a:pt x="1954530" y="0"/>
                  </a:lnTo>
                  <a:lnTo>
                    <a:pt x="2042160" y="0"/>
                  </a:lnTo>
                  <a:lnTo>
                    <a:pt x="2130742" y="0"/>
                  </a:lnTo>
                  <a:lnTo>
                    <a:pt x="2213610" y="3810"/>
                  </a:lnTo>
                  <a:lnTo>
                    <a:pt x="2302192" y="8573"/>
                  </a:lnTo>
                  <a:lnTo>
                    <a:pt x="2390775" y="16192"/>
                  </a:lnTo>
                  <a:lnTo>
                    <a:pt x="2473643" y="29527"/>
                  </a:lnTo>
                  <a:lnTo>
                    <a:pt x="2562225" y="41910"/>
                  </a:lnTo>
                  <a:lnTo>
                    <a:pt x="2649855" y="54292"/>
                  </a:lnTo>
                  <a:lnTo>
                    <a:pt x="2733675" y="70485"/>
                  </a:lnTo>
                  <a:lnTo>
                    <a:pt x="2821305" y="91440"/>
                  </a:lnTo>
                  <a:lnTo>
                    <a:pt x="2909888" y="112395"/>
                  </a:lnTo>
                  <a:lnTo>
                    <a:pt x="2992755" y="133350"/>
                  </a:lnTo>
                  <a:lnTo>
                    <a:pt x="3081338" y="159067"/>
                  </a:lnTo>
                  <a:lnTo>
                    <a:pt x="3169920" y="183833"/>
                  </a:lnTo>
                  <a:lnTo>
                    <a:pt x="3252788" y="213360"/>
                  </a:lnTo>
                  <a:lnTo>
                    <a:pt x="3341370" y="242888"/>
                  </a:lnTo>
                  <a:lnTo>
                    <a:pt x="3429000" y="271462"/>
                  </a:lnTo>
                  <a:lnTo>
                    <a:pt x="3512820" y="305752"/>
                  </a:lnTo>
                  <a:lnTo>
                    <a:pt x="3600450" y="334327"/>
                  </a:lnTo>
                  <a:lnTo>
                    <a:pt x="3689032" y="368617"/>
                  </a:lnTo>
                  <a:lnTo>
                    <a:pt x="3771900" y="401955"/>
                  </a:lnTo>
                  <a:lnTo>
                    <a:pt x="3860482" y="439102"/>
                  </a:lnTo>
                  <a:lnTo>
                    <a:pt x="3949065" y="472440"/>
                  </a:lnTo>
                  <a:lnTo>
                    <a:pt x="4031932" y="506730"/>
                  </a:lnTo>
                  <a:lnTo>
                    <a:pt x="4085272" y="528638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74432" y="2285048"/>
              <a:ext cx="4119562" cy="537210"/>
            </a:xfrm>
            <a:custGeom>
              <a:avLst/>
              <a:gdLst/>
              <a:ahLst/>
              <a:cxnLst/>
              <a:rect l="l" t="t" r="r" b="b"/>
              <a:pathLst>
                <a:path w="4119562" h="537210">
                  <a:moveTo>
                    <a:pt x="0" y="0"/>
                  </a:moveTo>
                  <a:lnTo>
                    <a:pt x="70485" y="30480"/>
                  </a:lnTo>
                  <a:lnTo>
                    <a:pt x="153353" y="63817"/>
                  </a:lnTo>
                  <a:lnTo>
                    <a:pt x="241935" y="97155"/>
                  </a:lnTo>
                  <a:lnTo>
                    <a:pt x="330518" y="135255"/>
                  </a:lnTo>
                  <a:lnTo>
                    <a:pt x="413385" y="168593"/>
                  </a:lnTo>
                  <a:lnTo>
                    <a:pt x="501968" y="201930"/>
                  </a:lnTo>
                  <a:lnTo>
                    <a:pt x="589597" y="231457"/>
                  </a:lnTo>
                  <a:lnTo>
                    <a:pt x="673418" y="264795"/>
                  </a:lnTo>
                  <a:lnTo>
                    <a:pt x="761047" y="294323"/>
                  </a:lnTo>
                  <a:lnTo>
                    <a:pt x="849630" y="322898"/>
                  </a:lnTo>
                  <a:lnTo>
                    <a:pt x="932497" y="352425"/>
                  </a:lnTo>
                  <a:lnTo>
                    <a:pt x="1021080" y="377190"/>
                  </a:lnTo>
                  <a:lnTo>
                    <a:pt x="1109663" y="402907"/>
                  </a:lnTo>
                  <a:lnTo>
                    <a:pt x="1192530" y="423862"/>
                  </a:lnTo>
                  <a:lnTo>
                    <a:pt x="1281112" y="444818"/>
                  </a:lnTo>
                  <a:lnTo>
                    <a:pt x="1368742" y="465773"/>
                  </a:lnTo>
                  <a:lnTo>
                    <a:pt x="1451610" y="481965"/>
                  </a:lnTo>
                  <a:lnTo>
                    <a:pt x="1540192" y="495300"/>
                  </a:lnTo>
                  <a:lnTo>
                    <a:pt x="1628775" y="507682"/>
                  </a:lnTo>
                  <a:lnTo>
                    <a:pt x="1711642" y="520065"/>
                  </a:lnTo>
                  <a:lnTo>
                    <a:pt x="1800225" y="528637"/>
                  </a:lnTo>
                  <a:lnTo>
                    <a:pt x="1888808" y="532448"/>
                  </a:lnTo>
                  <a:lnTo>
                    <a:pt x="1971675" y="537210"/>
                  </a:lnTo>
                  <a:lnTo>
                    <a:pt x="2059305" y="537210"/>
                  </a:lnTo>
                  <a:lnTo>
                    <a:pt x="2147888" y="537210"/>
                  </a:lnTo>
                  <a:lnTo>
                    <a:pt x="2230755" y="532448"/>
                  </a:lnTo>
                  <a:lnTo>
                    <a:pt x="2319338" y="528637"/>
                  </a:lnTo>
                  <a:lnTo>
                    <a:pt x="2407920" y="520065"/>
                  </a:lnTo>
                  <a:lnTo>
                    <a:pt x="2490788" y="507682"/>
                  </a:lnTo>
                  <a:lnTo>
                    <a:pt x="2579370" y="495300"/>
                  </a:lnTo>
                  <a:lnTo>
                    <a:pt x="2667000" y="481965"/>
                  </a:lnTo>
                  <a:lnTo>
                    <a:pt x="2750820" y="465773"/>
                  </a:lnTo>
                  <a:lnTo>
                    <a:pt x="2838450" y="444818"/>
                  </a:lnTo>
                  <a:lnTo>
                    <a:pt x="2927032" y="423862"/>
                  </a:lnTo>
                  <a:lnTo>
                    <a:pt x="3009900" y="402907"/>
                  </a:lnTo>
                  <a:lnTo>
                    <a:pt x="3098482" y="377190"/>
                  </a:lnTo>
                  <a:lnTo>
                    <a:pt x="3187065" y="352425"/>
                  </a:lnTo>
                  <a:lnTo>
                    <a:pt x="3269932" y="322898"/>
                  </a:lnTo>
                  <a:lnTo>
                    <a:pt x="3358515" y="294323"/>
                  </a:lnTo>
                  <a:lnTo>
                    <a:pt x="3446145" y="264795"/>
                  </a:lnTo>
                  <a:lnTo>
                    <a:pt x="3529965" y="231457"/>
                  </a:lnTo>
                  <a:lnTo>
                    <a:pt x="3617595" y="201930"/>
                  </a:lnTo>
                  <a:lnTo>
                    <a:pt x="3706177" y="168593"/>
                  </a:lnTo>
                  <a:lnTo>
                    <a:pt x="3789045" y="135255"/>
                  </a:lnTo>
                  <a:lnTo>
                    <a:pt x="3877627" y="97155"/>
                  </a:lnTo>
                  <a:lnTo>
                    <a:pt x="3966210" y="63817"/>
                  </a:lnTo>
                  <a:lnTo>
                    <a:pt x="4049077" y="30480"/>
                  </a:lnTo>
                  <a:lnTo>
                    <a:pt x="4119562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185862" y="3072765"/>
              <a:ext cx="4095750" cy="1088707"/>
            </a:xfrm>
            <a:custGeom>
              <a:avLst/>
              <a:gdLst/>
              <a:ahLst/>
              <a:cxnLst/>
              <a:rect l="l" t="t" r="r" b="b"/>
              <a:pathLst>
                <a:path w="4095750" h="1088707">
                  <a:moveTo>
                    <a:pt x="0" y="520065"/>
                  </a:moveTo>
                  <a:lnTo>
                    <a:pt x="59055" y="473392"/>
                  </a:lnTo>
                  <a:lnTo>
                    <a:pt x="141923" y="401955"/>
                  </a:lnTo>
                  <a:lnTo>
                    <a:pt x="230505" y="335280"/>
                  </a:lnTo>
                  <a:lnTo>
                    <a:pt x="319088" y="272415"/>
                  </a:lnTo>
                  <a:lnTo>
                    <a:pt x="401955" y="213360"/>
                  </a:lnTo>
                  <a:lnTo>
                    <a:pt x="490538" y="159067"/>
                  </a:lnTo>
                  <a:lnTo>
                    <a:pt x="578167" y="113347"/>
                  </a:lnTo>
                  <a:lnTo>
                    <a:pt x="661988" y="71438"/>
                  </a:lnTo>
                  <a:lnTo>
                    <a:pt x="749617" y="41910"/>
                  </a:lnTo>
                  <a:lnTo>
                    <a:pt x="838200" y="17145"/>
                  </a:lnTo>
                  <a:lnTo>
                    <a:pt x="921067" y="4762"/>
                  </a:lnTo>
                  <a:lnTo>
                    <a:pt x="1009650" y="0"/>
                  </a:lnTo>
                  <a:lnTo>
                    <a:pt x="1098232" y="4762"/>
                  </a:lnTo>
                  <a:lnTo>
                    <a:pt x="1181100" y="17145"/>
                  </a:lnTo>
                  <a:lnTo>
                    <a:pt x="1269682" y="41910"/>
                  </a:lnTo>
                  <a:lnTo>
                    <a:pt x="1357312" y="71438"/>
                  </a:lnTo>
                  <a:lnTo>
                    <a:pt x="1440180" y="113347"/>
                  </a:lnTo>
                  <a:lnTo>
                    <a:pt x="1528762" y="159067"/>
                  </a:lnTo>
                  <a:lnTo>
                    <a:pt x="1617345" y="213360"/>
                  </a:lnTo>
                  <a:lnTo>
                    <a:pt x="1700212" y="272415"/>
                  </a:lnTo>
                  <a:lnTo>
                    <a:pt x="1788795" y="335280"/>
                  </a:lnTo>
                  <a:lnTo>
                    <a:pt x="1877378" y="401955"/>
                  </a:lnTo>
                  <a:lnTo>
                    <a:pt x="1960245" y="473392"/>
                  </a:lnTo>
                  <a:lnTo>
                    <a:pt x="2047875" y="544830"/>
                  </a:lnTo>
                  <a:lnTo>
                    <a:pt x="2136458" y="615315"/>
                  </a:lnTo>
                  <a:lnTo>
                    <a:pt x="2219325" y="686752"/>
                  </a:lnTo>
                  <a:lnTo>
                    <a:pt x="2307908" y="753427"/>
                  </a:lnTo>
                  <a:lnTo>
                    <a:pt x="2396490" y="816292"/>
                  </a:lnTo>
                  <a:lnTo>
                    <a:pt x="2479358" y="875347"/>
                  </a:lnTo>
                  <a:lnTo>
                    <a:pt x="2567940" y="929640"/>
                  </a:lnTo>
                  <a:lnTo>
                    <a:pt x="2655570" y="975360"/>
                  </a:lnTo>
                  <a:lnTo>
                    <a:pt x="2739390" y="1017270"/>
                  </a:lnTo>
                  <a:lnTo>
                    <a:pt x="2827020" y="1046797"/>
                  </a:lnTo>
                  <a:lnTo>
                    <a:pt x="2915602" y="1071562"/>
                  </a:lnTo>
                  <a:lnTo>
                    <a:pt x="2998470" y="1084897"/>
                  </a:lnTo>
                  <a:lnTo>
                    <a:pt x="3087052" y="1088707"/>
                  </a:lnTo>
                  <a:lnTo>
                    <a:pt x="3175635" y="1084897"/>
                  </a:lnTo>
                  <a:lnTo>
                    <a:pt x="3258502" y="1071562"/>
                  </a:lnTo>
                  <a:lnTo>
                    <a:pt x="3347085" y="1046797"/>
                  </a:lnTo>
                  <a:lnTo>
                    <a:pt x="3434715" y="1017270"/>
                  </a:lnTo>
                  <a:lnTo>
                    <a:pt x="3518535" y="975360"/>
                  </a:lnTo>
                  <a:lnTo>
                    <a:pt x="3606165" y="929640"/>
                  </a:lnTo>
                  <a:lnTo>
                    <a:pt x="3694748" y="875347"/>
                  </a:lnTo>
                  <a:lnTo>
                    <a:pt x="3777615" y="816292"/>
                  </a:lnTo>
                  <a:lnTo>
                    <a:pt x="3866198" y="753427"/>
                  </a:lnTo>
                  <a:lnTo>
                    <a:pt x="3954780" y="686752"/>
                  </a:lnTo>
                  <a:lnTo>
                    <a:pt x="4037648" y="615315"/>
                  </a:lnTo>
                  <a:lnTo>
                    <a:pt x="4095750" y="568642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71575" y="3072765"/>
              <a:ext cx="4125278" cy="1088707"/>
            </a:xfrm>
            <a:custGeom>
              <a:avLst/>
              <a:gdLst/>
              <a:ahLst/>
              <a:cxnLst/>
              <a:rect l="l" t="t" r="r" b="b"/>
              <a:pathLst>
                <a:path w="4125278" h="1088707">
                  <a:moveTo>
                    <a:pt x="0" y="556260"/>
                  </a:moveTo>
                  <a:lnTo>
                    <a:pt x="73342" y="615315"/>
                  </a:lnTo>
                  <a:lnTo>
                    <a:pt x="156210" y="686752"/>
                  </a:lnTo>
                  <a:lnTo>
                    <a:pt x="244792" y="753427"/>
                  </a:lnTo>
                  <a:lnTo>
                    <a:pt x="333375" y="816292"/>
                  </a:lnTo>
                  <a:lnTo>
                    <a:pt x="416242" y="875347"/>
                  </a:lnTo>
                  <a:lnTo>
                    <a:pt x="504825" y="929640"/>
                  </a:lnTo>
                  <a:lnTo>
                    <a:pt x="592455" y="975360"/>
                  </a:lnTo>
                  <a:lnTo>
                    <a:pt x="676275" y="1017270"/>
                  </a:lnTo>
                  <a:lnTo>
                    <a:pt x="763905" y="1046797"/>
                  </a:lnTo>
                  <a:lnTo>
                    <a:pt x="852488" y="1071562"/>
                  </a:lnTo>
                  <a:lnTo>
                    <a:pt x="935355" y="1084897"/>
                  </a:lnTo>
                  <a:lnTo>
                    <a:pt x="1023938" y="1088707"/>
                  </a:lnTo>
                  <a:lnTo>
                    <a:pt x="1112520" y="1084897"/>
                  </a:lnTo>
                  <a:lnTo>
                    <a:pt x="1195388" y="1071562"/>
                  </a:lnTo>
                  <a:lnTo>
                    <a:pt x="1283970" y="1046797"/>
                  </a:lnTo>
                  <a:lnTo>
                    <a:pt x="1371600" y="1017270"/>
                  </a:lnTo>
                  <a:lnTo>
                    <a:pt x="1454468" y="975360"/>
                  </a:lnTo>
                  <a:lnTo>
                    <a:pt x="1543050" y="929640"/>
                  </a:lnTo>
                  <a:lnTo>
                    <a:pt x="1631632" y="875347"/>
                  </a:lnTo>
                  <a:lnTo>
                    <a:pt x="1714500" y="816292"/>
                  </a:lnTo>
                  <a:lnTo>
                    <a:pt x="1803082" y="753427"/>
                  </a:lnTo>
                  <a:lnTo>
                    <a:pt x="1891665" y="686752"/>
                  </a:lnTo>
                  <a:lnTo>
                    <a:pt x="1974532" y="615315"/>
                  </a:lnTo>
                  <a:lnTo>
                    <a:pt x="2062162" y="544830"/>
                  </a:lnTo>
                  <a:lnTo>
                    <a:pt x="2150745" y="473392"/>
                  </a:lnTo>
                  <a:lnTo>
                    <a:pt x="2233612" y="401955"/>
                  </a:lnTo>
                  <a:lnTo>
                    <a:pt x="2322195" y="335280"/>
                  </a:lnTo>
                  <a:lnTo>
                    <a:pt x="2410778" y="272415"/>
                  </a:lnTo>
                  <a:lnTo>
                    <a:pt x="2493645" y="213360"/>
                  </a:lnTo>
                  <a:lnTo>
                    <a:pt x="2582228" y="159067"/>
                  </a:lnTo>
                  <a:lnTo>
                    <a:pt x="2669858" y="113347"/>
                  </a:lnTo>
                  <a:lnTo>
                    <a:pt x="2753678" y="71438"/>
                  </a:lnTo>
                  <a:lnTo>
                    <a:pt x="2841308" y="41910"/>
                  </a:lnTo>
                  <a:lnTo>
                    <a:pt x="2929890" y="17145"/>
                  </a:lnTo>
                  <a:lnTo>
                    <a:pt x="3012758" y="4762"/>
                  </a:lnTo>
                  <a:lnTo>
                    <a:pt x="3101340" y="0"/>
                  </a:lnTo>
                  <a:lnTo>
                    <a:pt x="3189922" y="4762"/>
                  </a:lnTo>
                  <a:lnTo>
                    <a:pt x="3272790" y="17145"/>
                  </a:lnTo>
                  <a:lnTo>
                    <a:pt x="3361372" y="41910"/>
                  </a:lnTo>
                  <a:lnTo>
                    <a:pt x="3449002" y="71438"/>
                  </a:lnTo>
                  <a:lnTo>
                    <a:pt x="3532822" y="113347"/>
                  </a:lnTo>
                  <a:lnTo>
                    <a:pt x="3620452" y="159067"/>
                  </a:lnTo>
                  <a:lnTo>
                    <a:pt x="3709035" y="213360"/>
                  </a:lnTo>
                  <a:lnTo>
                    <a:pt x="3791902" y="272415"/>
                  </a:lnTo>
                  <a:lnTo>
                    <a:pt x="3880485" y="335280"/>
                  </a:lnTo>
                  <a:lnTo>
                    <a:pt x="3969068" y="401955"/>
                  </a:lnTo>
                  <a:lnTo>
                    <a:pt x="4051935" y="473392"/>
                  </a:lnTo>
                  <a:lnTo>
                    <a:pt x="4125278" y="532447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1181100" y="4412932"/>
              <a:ext cx="4106228" cy="1087755"/>
            </a:xfrm>
            <a:custGeom>
              <a:avLst/>
              <a:gdLst/>
              <a:ahLst/>
              <a:cxnLst/>
              <a:rect l="l" t="t" r="r" b="b"/>
              <a:pathLst>
                <a:path w="4106228" h="1087755">
                  <a:moveTo>
                    <a:pt x="0" y="514350"/>
                  </a:moveTo>
                  <a:lnTo>
                    <a:pt x="63817" y="439102"/>
                  </a:lnTo>
                  <a:lnTo>
                    <a:pt x="146685" y="334327"/>
                  </a:lnTo>
                  <a:lnTo>
                    <a:pt x="235267" y="242888"/>
                  </a:lnTo>
                  <a:lnTo>
                    <a:pt x="323850" y="159067"/>
                  </a:lnTo>
                  <a:lnTo>
                    <a:pt x="406717" y="91440"/>
                  </a:lnTo>
                  <a:lnTo>
                    <a:pt x="495300" y="41910"/>
                  </a:lnTo>
                  <a:lnTo>
                    <a:pt x="582930" y="7620"/>
                  </a:lnTo>
                  <a:lnTo>
                    <a:pt x="666750" y="0"/>
                  </a:lnTo>
                  <a:lnTo>
                    <a:pt x="754380" y="7620"/>
                  </a:lnTo>
                  <a:lnTo>
                    <a:pt x="842962" y="41910"/>
                  </a:lnTo>
                  <a:lnTo>
                    <a:pt x="925830" y="91440"/>
                  </a:lnTo>
                  <a:lnTo>
                    <a:pt x="1014412" y="159067"/>
                  </a:lnTo>
                  <a:lnTo>
                    <a:pt x="1102995" y="242888"/>
                  </a:lnTo>
                  <a:lnTo>
                    <a:pt x="1185862" y="334327"/>
                  </a:lnTo>
                  <a:lnTo>
                    <a:pt x="1274445" y="439102"/>
                  </a:lnTo>
                  <a:lnTo>
                    <a:pt x="1362075" y="543877"/>
                  </a:lnTo>
                  <a:lnTo>
                    <a:pt x="1444942" y="648652"/>
                  </a:lnTo>
                  <a:lnTo>
                    <a:pt x="1533525" y="753427"/>
                  </a:lnTo>
                  <a:lnTo>
                    <a:pt x="1622108" y="845820"/>
                  </a:lnTo>
                  <a:lnTo>
                    <a:pt x="1704975" y="928687"/>
                  </a:lnTo>
                  <a:lnTo>
                    <a:pt x="1793558" y="996315"/>
                  </a:lnTo>
                  <a:lnTo>
                    <a:pt x="1882140" y="1045845"/>
                  </a:lnTo>
                  <a:lnTo>
                    <a:pt x="1965008" y="1080135"/>
                  </a:lnTo>
                  <a:lnTo>
                    <a:pt x="2052638" y="1087755"/>
                  </a:lnTo>
                  <a:lnTo>
                    <a:pt x="2141220" y="1080135"/>
                  </a:lnTo>
                  <a:lnTo>
                    <a:pt x="2224088" y="1045845"/>
                  </a:lnTo>
                  <a:lnTo>
                    <a:pt x="2312670" y="996315"/>
                  </a:lnTo>
                  <a:lnTo>
                    <a:pt x="2401252" y="928687"/>
                  </a:lnTo>
                  <a:lnTo>
                    <a:pt x="2484120" y="845820"/>
                  </a:lnTo>
                  <a:lnTo>
                    <a:pt x="2572702" y="753427"/>
                  </a:lnTo>
                  <a:lnTo>
                    <a:pt x="2660332" y="648652"/>
                  </a:lnTo>
                  <a:lnTo>
                    <a:pt x="2744152" y="543877"/>
                  </a:lnTo>
                  <a:lnTo>
                    <a:pt x="2831782" y="439102"/>
                  </a:lnTo>
                  <a:lnTo>
                    <a:pt x="2920365" y="334327"/>
                  </a:lnTo>
                  <a:lnTo>
                    <a:pt x="3003232" y="242888"/>
                  </a:lnTo>
                  <a:lnTo>
                    <a:pt x="3091815" y="159067"/>
                  </a:lnTo>
                  <a:lnTo>
                    <a:pt x="3180398" y="91440"/>
                  </a:lnTo>
                  <a:lnTo>
                    <a:pt x="3263265" y="41910"/>
                  </a:lnTo>
                  <a:lnTo>
                    <a:pt x="3351848" y="7620"/>
                  </a:lnTo>
                  <a:lnTo>
                    <a:pt x="3439478" y="0"/>
                  </a:lnTo>
                  <a:lnTo>
                    <a:pt x="3523298" y="7620"/>
                  </a:lnTo>
                  <a:lnTo>
                    <a:pt x="3610928" y="41910"/>
                  </a:lnTo>
                  <a:lnTo>
                    <a:pt x="3699510" y="91440"/>
                  </a:lnTo>
                  <a:lnTo>
                    <a:pt x="3782378" y="159067"/>
                  </a:lnTo>
                  <a:lnTo>
                    <a:pt x="3870960" y="242888"/>
                  </a:lnTo>
                  <a:lnTo>
                    <a:pt x="3959543" y="334327"/>
                  </a:lnTo>
                  <a:lnTo>
                    <a:pt x="4042410" y="439102"/>
                  </a:lnTo>
                  <a:lnTo>
                    <a:pt x="4106228" y="514350"/>
                  </a:lnTo>
                </a:path>
              </a:pathLst>
            </a:custGeom>
            <a:noFill/>
            <a:ln w="17145">
              <a:solidFill>
                <a:srgbClr val="2F4B9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68718" y="4412932"/>
              <a:ext cx="4130992" cy="1087755"/>
            </a:xfrm>
            <a:custGeom>
              <a:avLst/>
              <a:gdLst/>
              <a:ahLst/>
              <a:cxnLst/>
              <a:rect l="l" t="t" r="r" b="b"/>
              <a:pathLst>
                <a:path w="4130992" h="1087755">
                  <a:moveTo>
                    <a:pt x="0" y="558165"/>
                  </a:moveTo>
                  <a:lnTo>
                    <a:pt x="76200" y="648652"/>
                  </a:lnTo>
                  <a:lnTo>
                    <a:pt x="159068" y="753427"/>
                  </a:lnTo>
                  <a:lnTo>
                    <a:pt x="247650" y="845820"/>
                  </a:lnTo>
                  <a:lnTo>
                    <a:pt x="336232" y="928687"/>
                  </a:lnTo>
                  <a:lnTo>
                    <a:pt x="419100" y="996315"/>
                  </a:lnTo>
                  <a:lnTo>
                    <a:pt x="507682" y="1045845"/>
                  </a:lnTo>
                  <a:lnTo>
                    <a:pt x="595312" y="1080135"/>
                  </a:lnTo>
                  <a:lnTo>
                    <a:pt x="679132" y="1087755"/>
                  </a:lnTo>
                  <a:lnTo>
                    <a:pt x="766762" y="1080135"/>
                  </a:lnTo>
                  <a:lnTo>
                    <a:pt x="855345" y="1045845"/>
                  </a:lnTo>
                  <a:lnTo>
                    <a:pt x="938212" y="996315"/>
                  </a:lnTo>
                  <a:lnTo>
                    <a:pt x="1026795" y="928687"/>
                  </a:lnTo>
                  <a:lnTo>
                    <a:pt x="1115378" y="845820"/>
                  </a:lnTo>
                  <a:lnTo>
                    <a:pt x="1198245" y="753427"/>
                  </a:lnTo>
                  <a:lnTo>
                    <a:pt x="1286828" y="648652"/>
                  </a:lnTo>
                  <a:lnTo>
                    <a:pt x="1374458" y="543877"/>
                  </a:lnTo>
                  <a:lnTo>
                    <a:pt x="1457325" y="439102"/>
                  </a:lnTo>
                  <a:lnTo>
                    <a:pt x="1545908" y="334327"/>
                  </a:lnTo>
                  <a:lnTo>
                    <a:pt x="1634490" y="242888"/>
                  </a:lnTo>
                  <a:lnTo>
                    <a:pt x="1717358" y="159067"/>
                  </a:lnTo>
                  <a:lnTo>
                    <a:pt x="1805940" y="91440"/>
                  </a:lnTo>
                  <a:lnTo>
                    <a:pt x="1894523" y="41910"/>
                  </a:lnTo>
                  <a:lnTo>
                    <a:pt x="1977390" y="7620"/>
                  </a:lnTo>
                  <a:lnTo>
                    <a:pt x="2065020" y="0"/>
                  </a:lnTo>
                  <a:lnTo>
                    <a:pt x="2153602" y="7620"/>
                  </a:lnTo>
                  <a:lnTo>
                    <a:pt x="2236470" y="41910"/>
                  </a:lnTo>
                  <a:lnTo>
                    <a:pt x="2325052" y="91440"/>
                  </a:lnTo>
                  <a:lnTo>
                    <a:pt x="2413635" y="159067"/>
                  </a:lnTo>
                  <a:lnTo>
                    <a:pt x="2496502" y="242888"/>
                  </a:lnTo>
                  <a:lnTo>
                    <a:pt x="2585085" y="334327"/>
                  </a:lnTo>
                  <a:lnTo>
                    <a:pt x="2672715" y="439102"/>
                  </a:lnTo>
                  <a:lnTo>
                    <a:pt x="2756535" y="543877"/>
                  </a:lnTo>
                  <a:lnTo>
                    <a:pt x="2844165" y="648652"/>
                  </a:lnTo>
                  <a:lnTo>
                    <a:pt x="2932748" y="753427"/>
                  </a:lnTo>
                  <a:lnTo>
                    <a:pt x="3015615" y="845820"/>
                  </a:lnTo>
                  <a:lnTo>
                    <a:pt x="3104198" y="928687"/>
                  </a:lnTo>
                  <a:lnTo>
                    <a:pt x="3192780" y="996315"/>
                  </a:lnTo>
                  <a:lnTo>
                    <a:pt x="3275648" y="1045845"/>
                  </a:lnTo>
                  <a:lnTo>
                    <a:pt x="3364230" y="1080135"/>
                  </a:lnTo>
                  <a:lnTo>
                    <a:pt x="3451860" y="1087755"/>
                  </a:lnTo>
                  <a:lnTo>
                    <a:pt x="3535680" y="1080135"/>
                  </a:lnTo>
                  <a:lnTo>
                    <a:pt x="3623310" y="1045845"/>
                  </a:lnTo>
                  <a:lnTo>
                    <a:pt x="3711892" y="996315"/>
                  </a:lnTo>
                  <a:lnTo>
                    <a:pt x="3794760" y="928687"/>
                  </a:lnTo>
                  <a:lnTo>
                    <a:pt x="3883342" y="845820"/>
                  </a:lnTo>
                  <a:lnTo>
                    <a:pt x="3971925" y="753427"/>
                  </a:lnTo>
                  <a:lnTo>
                    <a:pt x="4054792" y="648652"/>
                  </a:lnTo>
                  <a:lnTo>
                    <a:pt x="4130992" y="55816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3" name="Ellipse 13"/>
            <p:cNvSpPr/>
            <p:nvPr/>
          </p:nvSpPr>
          <p:spPr>
            <a:xfrm>
              <a:off x="1127760" y="2248852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283518" y="2248852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46810" y="22679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02568" y="2267902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1127760" y="3589020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283518" y="3589020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146810" y="36080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302568" y="3608070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127760" y="4928235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283518" y="4928235"/>
              <a:ext cx="57150" cy="571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146810" y="49472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302568" y="4947285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939205" y="2523649"/>
              <a:ext cx="58906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　基频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28817" y="3360896"/>
              <a:ext cx="8098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2　二次谐频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28817" y="4198144"/>
              <a:ext cx="8098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3　三次谐频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032182" y="1524000"/>
            <a:ext cx="5626418" cy="1185862"/>
            <a:chOff x="6032182" y="1524000"/>
            <a:chExt cx="5626418" cy="1185862"/>
          </a:xfrm>
        </p:grpSpPr>
        <p:sp>
          <p:nvSpPr>
            <p:cNvPr id="29" name="Rectangle 29"/>
            <p:cNvSpPr/>
            <p:nvPr/>
          </p:nvSpPr>
          <p:spPr>
            <a:xfrm>
              <a:off x="6032182" y="1524000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41708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6972" y="1710690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30340" y="1743551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两端固定的条件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50114" y="2054542"/>
              <a:ext cx="49514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两端被夹住，只能是波节。相邻波节间距 λ/2，L 上放得下几段，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波长就只能取哪些值。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47"/>
              <p:cNvSpPr txBox="1">
                <a:spLocks noGrp="1"/>
              </p:cNvSpPr>
              <p:nvPr/>
            </p:nvSpPr>
            <p:spPr>
              <a:xfrm>
                <a:off x="6032182" y="2879408"/>
                <a:ext cx="5626418" cy="3343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λ</m:t>
                          </m:r>
                        </m:e>
                        <m:sub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2L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ν</m:t>
                          </m:r>
                        </m:e>
                        <m:sub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num>
                        <m:den>
                          <m:sSub>
                            <m:e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λ</m:t>
                              </m:r>
                            </m:e>
                            <m:sub>
                              <m:r>
                                <a:rPr lang="zh-CN" sz="9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9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f>
                        <m:fPr>
                          <m:type m:val="bar"/>
                          <m:ctrlP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</m:num>
                        <m:den>
                          <m:r>
                            <a:rPr lang="zh-CN" sz="9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2L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0" name="c2-card-3"/>
          <p:cNvGrpSpPr/>
          <p:nvPr/>
        </p:nvGrpSpPr>
        <p:grpSpPr>
          <a:xfrm>
            <a:off x="6032182" y="3384232"/>
            <a:ext cx="5626418" cy="1185862"/>
            <a:chOff x="6032182" y="3384232"/>
            <a:chExt cx="5626418" cy="1185862"/>
          </a:xfrm>
        </p:grpSpPr>
        <p:sp>
          <p:nvSpPr>
            <p:cNvPr id="36" name="Rectangle 36"/>
            <p:cNvSpPr/>
            <p:nvPr/>
          </p:nvSpPr>
          <p:spPr>
            <a:xfrm>
              <a:off x="6032182" y="3384232"/>
              <a:ext cx="5626418" cy="1185862"/>
            </a:xfrm>
            <a:prstGeom prst="roundRect">
              <a:avLst>
                <a:gd name="adj" fmla="val 112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18872" y="357092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99390" y="360378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基频与谐频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12014" y="3914775"/>
              <a:ext cx="4960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n = 1 给出最低频率，叫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基频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；其余都是基频的整数倍，叫二次、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三次谐频。每个允许频率对应的驻波形态叫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简正模式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6" name="c2-card-4"/>
          <p:cNvGrpSpPr/>
          <p:nvPr/>
        </p:nvGrpSpPr>
        <p:grpSpPr>
          <a:xfrm>
            <a:off x="6032182" y="4739640"/>
            <a:ext cx="5626418" cy="928688"/>
            <a:chOff x="6032182" y="4739640"/>
            <a:chExt cx="5626418" cy="928688"/>
          </a:xfrm>
        </p:grpSpPr>
        <p:sp>
          <p:nvSpPr>
            <p:cNvPr id="41" name="Rectangle 41"/>
            <p:cNvSpPr/>
            <p:nvPr/>
          </p:nvSpPr>
          <p:spPr>
            <a:xfrm>
              <a:off x="6032182" y="4739640"/>
              <a:ext cx="5626418" cy="928688"/>
            </a:xfrm>
            <a:prstGeom prst="roundRect">
              <a:avLst>
                <a:gd name="adj" fmla="val 143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41708" y="4872990"/>
              <a:ext cx="47625" cy="6619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6972" y="49263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348692" y="49591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小例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50114" y="5270183"/>
              <a:ext cx="53234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 = 0.6 m、u = 120 m·s⁻¹ 时 ν₁ = 100 Hz，随后 200、300 Hz。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7" name="Rectangle 47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8373"/>
              <a:ext cx="104181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 的驻波中间只有一个波腹、两端各一个波节；n 每加 1，弦上就多一个波腹。实验中数波腹个数就能确定是第几个简正模式。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54664" cy="909257"/>
            <a:chOff x="520446" y="342900"/>
            <a:chExt cx="66546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56114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759" y="407194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驻波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546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例3.10　由两列行波判断驻波并求波腹波节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869180" cy="2289810"/>
            <a:chOff x="533400" y="1524000"/>
            <a:chExt cx="4869180" cy="22898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869180" cy="2289810"/>
            </a:xfrm>
            <a:prstGeom prst="roundRect">
              <a:avLst>
                <a:gd name="adj" fmla="val 58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231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50558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390" y="1750695"/>
              <a:ext cx="478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例3.10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1113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一根很长的细绳上有两列波，y₁ = 0.06cosπ(x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4t)，y₂ = 0.06cosπ(x + 4t)（SI）。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632710"/>
              <a:ext cx="416280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(1) 各波的频率、波长、波速和传播方向；(2) 证明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绳做驻波式振动，并求波腹波节位置；(3) 波腹处的振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幅，以及 x = 1.25 m 处的振幅。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8190" y="3445669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原课件例3.4。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989070"/>
            <a:ext cx="4869180" cy="1466850"/>
            <a:chOff x="533400" y="3989070"/>
            <a:chExt cx="4869180" cy="1466850"/>
          </a:xfrm>
        </p:grpSpPr>
        <p:sp>
          <p:nvSpPr>
            <p:cNvPr id="15" name="Rectangle 15"/>
            <p:cNvSpPr/>
            <p:nvPr/>
          </p:nvSpPr>
          <p:spPr>
            <a:xfrm>
              <a:off x="533400" y="3989070"/>
              <a:ext cx="4869180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12242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18147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421576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4537710"/>
              <a:ext cx="387991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原课件在最后一步写 A(1.25) = 0.08 m。精确值是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0.12×(√2/2) = 0.06√2 ≈ </a:t>
              </a:r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0.085 m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，原答案把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0.0849 截断得过早。</a:t>
              </a:r>
            </a:p>
          </p:txBody>
        </p:sp>
      </p:grpSp>
      <p:grpSp>
        <p:nvGrpSpPr>
          <p:cNvPr id="38" name="c2-steps-1"/>
          <p:cNvGrpSpPr/>
          <p:nvPr/>
        </p:nvGrpSpPr>
        <p:grpSpPr>
          <a:xfrm>
            <a:off x="5707380" y="1533525"/>
            <a:ext cx="5474335" cy="2487454"/>
            <a:chOff x="5707380" y="1533525"/>
            <a:chExt cx="5474335" cy="2487454"/>
          </a:xfrm>
        </p:grpSpPr>
        <p:sp>
          <p:nvSpPr>
            <p:cNvPr id="21" name="Rectangle 21"/>
            <p:cNvSpPr/>
            <p:nvPr/>
          </p:nvSpPr>
          <p:spPr>
            <a:xfrm>
              <a:off x="584073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5707380" y="1533525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100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707380" y="232791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801004" y="24017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7380" y="291465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0100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707380" y="350139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0100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19622" y="1564957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化成标准形式并读参数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120765" y="1833086"/>
              <a:ext cx="506095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 = 0.06cos4π(t − x/4)，y₂ = 0.06cos4π(t + x/4)；ω = 4π rad·s⁻¹，ν = 2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Hz，u = 4 m·s⁻¹，λ = 2 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19622" y="23593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20765" y="2627471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和差化积得 y = 0.12cos(πx)·cos(4πt)，x 与 t 分离，确为驻波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119622" y="294608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定波腹波节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120765" y="3214211"/>
              <a:ext cx="4700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波腹 x = 0, 1, 2, … m；波节 x = 0.5, 1.5, … m，间隔都是 λ/2 = 1 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19622" y="353282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算指定点振幅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0765" y="3800951"/>
              <a:ext cx="39427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A(x) = 0.12|cos πx|；x = 1.25 m 时得 0.06√2 ≈ 0.085 m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5707380" y="4190048"/>
            <a:ext cx="5951220" cy="1265872"/>
            <a:chOff x="5707380" y="4190048"/>
            <a:chExt cx="5951220" cy="1265872"/>
          </a:xfrm>
        </p:grpSpPr>
        <p:sp>
          <p:nvSpPr>
            <p:cNvPr id="39" name="Rectangle 39"/>
            <p:cNvSpPr/>
            <p:nvPr/>
          </p:nvSpPr>
          <p:spPr>
            <a:xfrm>
              <a:off x="5707380" y="4190048"/>
              <a:ext cx="5951220" cy="1265872"/>
            </a:xfrm>
            <a:prstGeom prst="roundRect">
              <a:avLst>
                <a:gd name="adj" fmla="val 10534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99785" y="438245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95226" y="441674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892927" y="4738687"/>
              <a:ext cx="509720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(1) ν = 2 Hz，λ = 2 m，u = 4 m·s⁻¹；(2) 波腹 x = k m，波节 x =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(k + 0.5) m；(3) 波腹处 0.12 m，x = 1.25 m 处约 0.085 m。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44" name="Rectangle 44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04863" y="597566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5779770"/>
              <a:ext cx="979493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检验：x = 1.25 m 落在波腹 1 m 与波节 1.5 m 之间，振幅应当介于 0 与 0.12 m 之间且偏大，0.085 m 合理；波腹间距 1 m 也与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λ/2 相符。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F4B9A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8EDF8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346516" cy="2997517"/>
            <a:chOff x="667512" y="1835468"/>
            <a:chExt cx="534651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多普勒效应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3366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对应原课件 3.7，波源或观察者一动，收到的频率就变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符号规定：趋近为正、背离为负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接收频率的通用公式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四种常见情形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多普勒效应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多普勒效应：观察者收到的频率与波源发出的不一样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graph-1"/>
          <p:cNvGrpSpPr/>
          <p:nvPr/>
        </p:nvGrpSpPr>
        <p:grpSpPr>
          <a:xfrm>
            <a:off x="1041794" y="2036445"/>
            <a:ext cx="4943958" cy="2507456"/>
            <a:chOff x="1041794" y="2036445"/>
            <a:chExt cx="4943958" cy="2507456"/>
          </a:xfrm>
        </p:grpSpPr>
        <p:sp>
          <p:nvSpPr>
            <p:cNvPr id="7" name="Freeform 7"/>
            <p:cNvSpPr/>
            <p:nvPr/>
          </p:nvSpPr>
          <p:spPr>
            <a:xfrm>
              <a:off x="1433512" y="2036445"/>
              <a:ext cx="1704022" cy="2178368"/>
            </a:xfrm>
            <a:custGeom>
              <a:avLst/>
              <a:gdLst/>
              <a:ahLst/>
              <a:cxnLst/>
              <a:rect l="l" t="t" r="r" b="b"/>
              <a:pathLst>
                <a:path w="1704022" h="2178368">
                  <a:moveTo>
                    <a:pt x="1704022" y="1069658"/>
                  </a:moveTo>
                  <a:lnTo>
                    <a:pt x="1694497" y="935355"/>
                  </a:lnTo>
                  <a:lnTo>
                    <a:pt x="1670685" y="782002"/>
                  </a:lnTo>
                  <a:lnTo>
                    <a:pt x="1629728" y="637222"/>
                  </a:lnTo>
                  <a:lnTo>
                    <a:pt x="1571625" y="500062"/>
                  </a:lnTo>
                  <a:lnTo>
                    <a:pt x="1495425" y="375285"/>
                  </a:lnTo>
                  <a:lnTo>
                    <a:pt x="1407795" y="265747"/>
                  </a:lnTo>
                  <a:lnTo>
                    <a:pt x="1314450" y="173355"/>
                  </a:lnTo>
                  <a:lnTo>
                    <a:pt x="1209675" y="99060"/>
                  </a:lnTo>
                  <a:lnTo>
                    <a:pt x="1092518" y="44767"/>
                  </a:lnTo>
                  <a:lnTo>
                    <a:pt x="975360" y="9525"/>
                  </a:lnTo>
                  <a:lnTo>
                    <a:pt x="852488" y="0"/>
                  </a:lnTo>
                  <a:lnTo>
                    <a:pt x="729615" y="9525"/>
                  </a:lnTo>
                  <a:lnTo>
                    <a:pt x="613410" y="44767"/>
                  </a:lnTo>
                  <a:lnTo>
                    <a:pt x="496252" y="99060"/>
                  </a:lnTo>
                  <a:lnTo>
                    <a:pt x="391477" y="173355"/>
                  </a:lnTo>
                  <a:lnTo>
                    <a:pt x="298133" y="265747"/>
                  </a:lnTo>
                  <a:lnTo>
                    <a:pt x="210502" y="375285"/>
                  </a:lnTo>
                  <a:lnTo>
                    <a:pt x="134302" y="500062"/>
                  </a:lnTo>
                  <a:lnTo>
                    <a:pt x="75248" y="637222"/>
                  </a:lnTo>
                  <a:lnTo>
                    <a:pt x="35242" y="782002"/>
                  </a:lnTo>
                  <a:lnTo>
                    <a:pt x="11430" y="935355"/>
                  </a:lnTo>
                  <a:lnTo>
                    <a:pt x="0" y="1088708"/>
                  </a:lnTo>
                  <a:lnTo>
                    <a:pt x="11430" y="1243012"/>
                  </a:lnTo>
                  <a:lnTo>
                    <a:pt x="35242" y="1396365"/>
                  </a:lnTo>
                  <a:lnTo>
                    <a:pt x="75248" y="1541145"/>
                  </a:lnTo>
                  <a:lnTo>
                    <a:pt x="134302" y="1678305"/>
                  </a:lnTo>
                  <a:lnTo>
                    <a:pt x="210502" y="1803082"/>
                  </a:lnTo>
                  <a:lnTo>
                    <a:pt x="298133" y="1912620"/>
                  </a:lnTo>
                  <a:lnTo>
                    <a:pt x="391477" y="2005012"/>
                  </a:lnTo>
                  <a:lnTo>
                    <a:pt x="496252" y="2079308"/>
                  </a:lnTo>
                  <a:lnTo>
                    <a:pt x="613410" y="2133600"/>
                  </a:lnTo>
                  <a:lnTo>
                    <a:pt x="729615" y="2168842"/>
                  </a:lnTo>
                  <a:lnTo>
                    <a:pt x="852488" y="2178368"/>
                  </a:lnTo>
                  <a:lnTo>
                    <a:pt x="975360" y="2168842"/>
                  </a:lnTo>
                  <a:lnTo>
                    <a:pt x="1092518" y="2133600"/>
                  </a:lnTo>
                  <a:lnTo>
                    <a:pt x="1209675" y="2079308"/>
                  </a:lnTo>
                  <a:lnTo>
                    <a:pt x="1314450" y="2005012"/>
                  </a:lnTo>
                  <a:lnTo>
                    <a:pt x="1407795" y="1912620"/>
                  </a:lnTo>
                  <a:lnTo>
                    <a:pt x="1495425" y="1803082"/>
                  </a:lnTo>
                  <a:lnTo>
                    <a:pt x="1571625" y="1678305"/>
                  </a:lnTo>
                  <a:lnTo>
                    <a:pt x="1629728" y="1541145"/>
                  </a:lnTo>
                  <a:lnTo>
                    <a:pt x="1670685" y="1396365"/>
                  </a:lnTo>
                  <a:lnTo>
                    <a:pt x="1694497" y="1243012"/>
                  </a:lnTo>
                  <a:lnTo>
                    <a:pt x="1704022" y="1107758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87868" y="2292668"/>
              <a:ext cx="1296353" cy="1665923"/>
            </a:xfrm>
            <a:custGeom>
              <a:avLst/>
              <a:gdLst/>
              <a:ahLst/>
              <a:cxnLst/>
              <a:rect l="l" t="t" r="r" b="b"/>
              <a:pathLst>
                <a:path w="1296353" h="1665923">
                  <a:moveTo>
                    <a:pt x="1296353" y="813435"/>
                  </a:moveTo>
                  <a:lnTo>
                    <a:pt x="1291590" y="714375"/>
                  </a:lnTo>
                  <a:lnTo>
                    <a:pt x="1274445" y="599123"/>
                  </a:lnTo>
                  <a:lnTo>
                    <a:pt x="1239203" y="486728"/>
                  </a:lnTo>
                  <a:lnTo>
                    <a:pt x="1198245" y="381000"/>
                  </a:lnTo>
                  <a:lnTo>
                    <a:pt x="1140142" y="288608"/>
                  </a:lnTo>
                  <a:lnTo>
                    <a:pt x="1075373" y="204788"/>
                  </a:lnTo>
                  <a:lnTo>
                    <a:pt x="999173" y="131445"/>
                  </a:lnTo>
                  <a:lnTo>
                    <a:pt x="918210" y="73343"/>
                  </a:lnTo>
                  <a:lnTo>
                    <a:pt x="830580" y="35243"/>
                  </a:lnTo>
                  <a:lnTo>
                    <a:pt x="742950" y="9525"/>
                  </a:lnTo>
                  <a:lnTo>
                    <a:pt x="648653" y="0"/>
                  </a:lnTo>
                  <a:lnTo>
                    <a:pt x="555308" y="9525"/>
                  </a:lnTo>
                  <a:lnTo>
                    <a:pt x="467678" y="35243"/>
                  </a:lnTo>
                  <a:lnTo>
                    <a:pt x="380048" y="73343"/>
                  </a:lnTo>
                  <a:lnTo>
                    <a:pt x="298133" y="131445"/>
                  </a:lnTo>
                  <a:lnTo>
                    <a:pt x="222885" y="204788"/>
                  </a:lnTo>
                  <a:lnTo>
                    <a:pt x="158115" y="288608"/>
                  </a:lnTo>
                  <a:lnTo>
                    <a:pt x="100012" y="381000"/>
                  </a:lnTo>
                  <a:lnTo>
                    <a:pt x="59055" y="486728"/>
                  </a:lnTo>
                  <a:lnTo>
                    <a:pt x="23812" y="599123"/>
                  </a:lnTo>
                  <a:lnTo>
                    <a:pt x="6668" y="714375"/>
                  </a:lnTo>
                  <a:lnTo>
                    <a:pt x="0" y="832485"/>
                  </a:lnTo>
                  <a:lnTo>
                    <a:pt x="6668" y="951548"/>
                  </a:lnTo>
                  <a:lnTo>
                    <a:pt x="23812" y="1066800"/>
                  </a:lnTo>
                  <a:lnTo>
                    <a:pt x="59055" y="1179195"/>
                  </a:lnTo>
                  <a:lnTo>
                    <a:pt x="100012" y="1284923"/>
                  </a:lnTo>
                  <a:lnTo>
                    <a:pt x="158115" y="1377315"/>
                  </a:lnTo>
                  <a:lnTo>
                    <a:pt x="222885" y="1461135"/>
                  </a:lnTo>
                  <a:lnTo>
                    <a:pt x="298133" y="1534478"/>
                  </a:lnTo>
                  <a:lnTo>
                    <a:pt x="380048" y="1591628"/>
                  </a:lnTo>
                  <a:lnTo>
                    <a:pt x="467678" y="1630680"/>
                  </a:lnTo>
                  <a:lnTo>
                    <a:pt x="555308" y="1656398"/>
                  </a:lnTo>
                  <a:lnTo>
                    <a:pt x="648653" y="1665923"/>
                  </a:lnTo>
                  <a:lnTo>
                    <a:pt x="742950" y="1656398"/>
                  </a:lnTo>
                  <a:lnTo>
                    <a:pt x="830580" y="1630680"/>
                  </a:lnTo>
                  <a:lnTo>
                    <a:pt x="918210" y="1591628"/>
                  </a:lnTo>
                  <a:lnTo>
                    <a:pt x="999173" y="1534478"/>
                  </a:lnTo>
                  <a:lnTo>
                    <a:pt x="1075373" y="1461135"/>
                  </a:lnTo>
                  <a:lnTo>
                    <a:pt x="1140142" y="1377315"/>
                  </a:lnTo>
                  <a:lnTo>
                    <a:pt x="1198245" y="1284923"/>
                  </a:lnTo>
                  <a:lnTo>
                    <a:pt x="1239203" y="1179195"/>
                  </a:lnTo>
                  <a:lnTo>
                    <a:pt x="1274445" y="1066800"/>
                  </a:lnTo>
                  <a:lnTo>
                    <a:pt x="1291590" y="951548"/>
                  </a:lnTo>
                  <a:lnTo>
                    <a:pt x="1296353" y="851535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537460" y="2548890"/>
              <a:ext cx="898208" cy="1153477"/>
            </a:xfrm>
            <a:custGeom>
              <a:avLst/>
              <a:gdLst/>
              <a:ahLst/>
              <a:cxnLst/>
              <a:rect l="l" t="t" r="r" b="b"/>
              <a:pathLst>
                <a:path w="898208" h="1153477">
                  <a:moveTo>
                    <a:pt x="898208" y="557212"/>
                  </a:moveTo>
                  <a:lnTo>
                    <a:pt x="894398" y="493395"/>
                  </a:lnTo>
                  <a:lnTo>
                    <a:pt x="882015" y="413385"/>
                  </a:lnTo>
                  <a:lnTo>
                    <a:pt x="859155" y="336232"/>
                  </a:lnTo>
                  <a:lnTo>
                    <a:pt x="829628" y="265747"/>
                  </a:lnTo>
                  <a:lnTo>
                    <a:pt x="788670" y="199072"/>
                  </a:lnTo>
                  <a:lnTo>
                    <a:pt x="747712" y="140970"/>
                  </a:lnTo>
                  <a:lnTo>
                    <a:pt x="695325" y="93345"/>
                  </a:lnTo>
                  <a:lnTo>
                    <a:pt x="637223" y="51435"/>
                  </a:lnTo>
                  <a:lnTo>
                    <a:pt x="578168" y="22860"/>
                  </a:lnTo>
                  <a:lnTo>
                    <a:pt x="514350" y="6667"/>
                  </a:lnTo>
                  <a:lnTo>
                    <a:pt x="449580" y="0"/>
                  </a:lnTo>
                  <a:lnTo>
                    <a:pt x="385762" y="6667"/>
                  </a:lnTo>
                  <a:lnTo>
                    <a:pt x="320993" y="22860"/>
                  </a:lnTo>
                  <a:lnTo>
                    <a:pt x="262890" y="51435"/>
                  </a:lnTo>
                  <a:lnTo>
                    <a:pt x="204788" y="93345"/>
                  </a:lnTo>
                  <a:lnTo>
                    <a:pt x="152400" y="140970"/>
                  </a:lnTo>
                  <a:lnTo>
                    <a:pt x="111443" y="199072"/>
                  </a:lnTo>
                  <a:lnTo>
                    <a:pt x="70485" y="265747"/>
                  </a:lnTo>
                  <a:lnTo>
                    <a:pt x="40958" y="336232"/>
                  </a:lnTo>
                  <a:lnTo>
                    <a:pt x="18098" y="413385"/>
                  </a:lnTo>
                  <a:lnTo>
                    <a:pt x="5715" y="493395"/>
                  </a:lnTo>
                  <a:lnTo>
                    <a:pt x="0" y="576262"/>
                  </a:lnTo>
                  <a:lnTo>
                    <a:pt x="5715" y="660082"/>
                  </a:lnTo>
                  <a:lnTo>
                    <a:pt x="18098" y="740092"/>
                  </a:lnTo>
                  <a:lnTo>
                    <a:pt x="40958" y="817245"/>
                  </a:lnTo>
                  <a:lnTo>
                    <a:pt x="70485" y="887730"/>
                  </a:lnTo>
                  <a:lnTo>
                    <a:pt x="111443" y="954405"/>
                  </a:lnTo>
                  <a:lnTo>
                    <a:pt x="152400" y="1012507"/>
                  </a:lnTo>
                  <a:lnTo>
                    <a:pt x="204788" y="1060132"/>
                  </a:lnTo>
                  <a:lnTo>
                    <a:pt x="262890" y="1102042"/>
                  </a:lnTo>
                  <a:lnTo>
                    <a:pt x="320993" y="1130618"/>
                  </a:lnTo>
                  <a:lnTo>
                    <a:pt x="385762" y="1146810"/>
                  </a:lnTo>
                  <a:lnTo>
                    <a:pt x="449580" y="1153477"/>
                  </a:lnTo>
                  <a:lnTo>
                    <a:pt x="514350" y="1146810"/>
                  </a:lnTo>
                  <a:lnTo>
                    <a:pt x="578168" y="1130618"/>
                  </a:lnTo>
                  <a:lnTo>
                    <a:pt x="637223" y="1102042"/>
                  </a:lnTo>
                  <a:lnTo>
                    <a:pt x="695325" y="1060132"/>
                  </a:lnTo>
                  <a:lnTo>
                    <a:pt x="747712" y="1012507"/>
                  </a:lnTo>
                  <a:lnTo>
                    <a:pt x="788670" y="954405"/>
                  </a:lnTo>
                  <a:lnTo>
                    <a:pt x="829628" y="887730"/>
                  </a:lnTo>
                  <a:lnTo>
                    <a:pt x="859155" y="817245"/>
                  </a:lnTo>
                  <a:lnTo>
                    <a:pt x="882015" y="740092"/>
                  </a:lnTo>
                  <a:lnTo>
                    <a:pt x="894398" y="660082"/>
                  </a:lnTo>
                  <a:lnTo>
                    <a:pt x="898208" y="595312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87052" y="2805112"/>
              <a:ext cx="500062" cy="641033"/>
            </a:xfrm>
            <a:custGeom>
              <a:avLst/>
              <a:gdLst/>
              <a:ahLst/>
              <a:cxnLst/>
              <a:rect l="l" t="t" r="r" b="b"/>
              <a:pathLst>
                <a:path w="500062" h="641033">
                  <a:moveTo>
                    <a:pt x="500062" y="301942"/>
                  </a:moveTo>
                  <a:lnTo>
                    <a:pt x="496252" y="275272"/>
                  </a:lnTo>
                  <a:lnTo>
                    <a:pt x="490538" y="230505"/>
                  </a:lnTo>
                  <a:lnTo>
                    <a:pt x="479107" y="185738"/>
                  </a:lnTo>
                  <a:lnTo>
                    <a:pt x="461010" y="147638"/>
                  </a:lnTo>
                  <a:lnTo>
                    <a:pt x="438150" y="112395"/>
                  </a:lnTo>
                  <a:lnTo>
                    <a:pt x="414338" y="77153"/>
                  </a:lnTo>
                  <a:lnTo>
                    <a:pt x="385762" y="51435"/>
                  </a:lnTo>
                  <a:lnTo>
                    <a:pt x="356235" y="28575"/>
                  </a:lnTo>
                  <a:lnTo>
                    <a:pt x="320992" y="13335"/>
                  </a:lnTo>
                  <a:lnTo>
                    <a:pt x="285750" y="3810"/>
                  </a:lnTo>
                  <a:lnTo>
                    <a:pt x="251460" y="0"/>
                  </a:lnTo>
                  <a:lnTo>
                    <a:pt x="216217" y="3810"/>
                  </a:lnTo>
                  <a:lnTo>
                    <a:pt x="180975" y="13335"/>
                  </a:lnTo>
                  <a:lnTo>
                    <a:pt x="145732" y="28575"/>
                  </a:lnTo>
                  <a:lnTo>
                    <a:pt x="116205" y="51435"/>
                  </a:lnTo>
                  <a:lnTo>
                    <a:pt x="87630" y="77153"/>
                  </a:lnTo>
                  <a:lnTo>
                    <a:pt x="63817" y="112395"/>
                  </a:lnTo>
                  <a:lnTo>
                    <a:pt x="40957" y="147638"/>
                  </a:lnTo>
                  <a:lnTo>
                    <a:pt x="22860" y="185738"/>
                  </a:lnTo>
                  <a:lnTo>
                    <a:pt x="11430" y="230505"/>
                  </a:lnTo>
                  <a:lnTo>
                    <a:pt x="5715" y="275272"/>
                  </a:lnTo>
                  <a:lnTo>
                    <a:pt x="0" y="320040"/>
                  </a:lnTo>
                  <a:lnTo>
                    <a:pt x="5715" y="365760"/>
                  </a:lnTo>
                  <a:lnTo>
                    <a:pt x="11430" y="410528"/>
                  </a:lnTo>
                  <a:lnTo>
                    <a:pt x="22860" y="455295"/>
                  </a:lnTo>
                  <a:lnTo>
                    <a:pt x="40957" y="493395"/>
                  </a:lnTo>
                  <a:lnTo>
                    <a:pt x="63817" y="528638"/>
                  </a:lnTo>
                  <a:lnTo>
                    <a:pt x="87630" y="563880"/>
                  </a:lnTo>
                  <a:lnTo>
                    <a:pt x="116205" y="589597"/>
                  </a:lnTo>
                  <a:lnTo>
                    <a:pt x="145732" y="611505"/>
                  </a:lnTo>
                  <a:lnTo>
                    <a:pt x="180975" y="627697"/>
                  </a:lnTo>
                  <a:lnTo>
                    <a:pt x="216217" y="637222"/>
                  </a:lnTo>
                  <a:lnTo>
                    <a:pt x="251460" y="641033"/>
                  </a:lnTo>
                  <a:lnTo>
                    <a:pt x="285750" y="637222"/>
                  </a:lnTo>
                  <a:lnTo>
                    <a:pt x="320992" y="627697"/>
                  </a:lnTo>
                  <a:lnTo>
                    <a:pt x="356235" y="611505"/>
                  </a:lnTo>
                  <a:lnTo>
                    <a:pt x="385762" y="589597"/>
                  </a:lnTo>
                  <a:lnTo>
                    <a:pt x="414338" y="563880"/>
                  </a:lnTo>
                  <a:lnTo>
                    <a:pt x="438150" y="528638"/>
                  </a:lnTo>
                  <a:lnTo>
                    <a:pt x="461010" y="493395"/>
                  </a:lnTo>
                  <a:lnTo>
                    <a:pt x="479107" y="455295"/>
                  </a:lnTo>
                  <a:lnTo>
                    <a:pt x="490538" y="410528"/>
                  </a:lnTo>
                  <a:lnTo>
                    <a:pt x="496252" y="365760"/>
                  </a:lnTo>
                  <a:lnTo>
                    <a:pt x="500062" y="339090"/>
                  </a:lnTo>
                </a:path>
              </a:pathLst>
            </a:custGeom>
            <a:noFill/>
            <a:ln w="17145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941445" y="3125152"/>
              <a:ext cx="567690" cy="9525"/>
            </a:xfrm>
            <a:custGeom>
              <a:avLst/>
              <a:gdLst/>
              <a:ahLst/>
              <a:cxnLst/>
              <a:rect l="l" t="t" r="r" b="b"/>
              <a:pathLst>
                <a:path w="567690" h="9525">
                  <a:moveTo>
                    <a:pt x="0" y="0"/>
                  </a:moveTo>
                  <a:lnTo>
                    <a:pt x="567690" y="0"/>
                  </a:lnTo>
                </a:path>
              </a:pathLst>
            </a:custGeom>
            <a:noFill/>
            <a:ln w="17145">
              <a:solidFill>
                <a:srgbClr val="B4231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09135" y="307752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2318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129915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129915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275648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3275648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3428048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3428048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579495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3579495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3641408" y="307752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912870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4613910" y="3115628"/>
              <a:ext cx="19050" cy="190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73882" y="281225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波源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99630" y="2804160"/>
              <a:ext cx="14657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uS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30789" y="2139791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前方波面变密：听到的频率变高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1794" y="4381976"/>
              <a:ext cx="15549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后方波面变疏：听到的频率变低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680835" y="1524000"/>
            <a:ext cx="4977765" cy="1522095"/>
            <a:chOff x="6680835" y="1524000"/>
            <a:chExt cx="4977765" cy="1522095"/>
          </a:xfrm>
        </p:grpSpPr>
        <p:sp>
          <p:nvSpPr>
            <p:cNvPr id="29" name="Rectangle 29"/>
            <p:cNvSpPr/>
            <p:nvPr/>
          </p:nvSpPr>
          <p:spPr>
            <a:xfrm>
              <a:off x="6680835" y="1524000"/>
              <a:ext cx="497776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0360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917055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96494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多普勒效应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09816" y="2082641"/>
              <a:ext cx="43426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因波源或观察者相对介质运动，使观察者接收到的频率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与波源发出的频率不同的现象。选介质为参考系，并设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波源和观察者的运动都在两者的连线上。</a:t>
              </a:r>
            </a:p>
          </p:txBody>
        </p:sp>
      </p:grpSp>
      <p:grpSp>
        <p:nvGrpSpPr>
          <p:cNvPr id="46" name="c2-kv-2"/>
          <p:cNvGrpSpPr/>
          <p:nvPr/>
        </p:nvGrpSpPr>
        <p:grpSpPr>
          <a:xfrm>
            <a:off x="6673596" y="3250406"/>
            <a:ext cx="4985004" cy="1527430"/>
            <a:chOff x="6673596" y="3250406"/>
            <a:chExt cx="4985004" cy="1527430"/>
          </a:xfrm>
        </p:grpSpPr>
        <p:sp>
          <p:nvSpPr>
            <p:cNvPr id="35" name="TextBox 35"/>
            <p:cNvSpPr txBox="1"/>
            <p:nvPr/>
          </p:nvSpPr>
          <p:spPr>
            <a:xfrm>
              <a:off x="6673596" y="3250406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7484" y="325040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波在介质中的传播速度，恒为正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680835" y="355377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73596" y="3666649"/>
              <a:ext cx="241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97484" y="366664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波源相对介质的速度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80835" y="397002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73596" y="4082891"/>
              <a:ext cx="241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uB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97484" y="408289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观察者相对介质的速度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438626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73596" y="449913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97484" y="449913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趋近为正，背离为负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formula151"/>
              <p:cNvSpPr txBox="1">
                <a:spLocks noGrp="1"/>
              </p:cNvSpPr>
              <p:nvPr/>
            </p:nvSpPr>
            <p:spPr>
              <a:xfrm>
                <a:off x="6680835" y="4901565"/>
                <a:ext cx="4977765" cy="514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ν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u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b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S</m:t>
                              </m:r>
                            </m:sub>
                          </m:sSub>
                        </m:den>
                      </m:f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ν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54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8" name="Rectangle 4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5753576"/>
              <a:ext cx="1003236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原课件到符号规定为止，接收频率的公式没有给出，这里按同一套符号约定补上：分子管观察者，分母管波源，两者都是“趋近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就让频率变高”。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38259" cy="909257"/>
            <a:chOff x="520446" y="342900"/>
            <a:chExt cx="49382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 · 多普勒效应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382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例3.11　四种情形与救护车鸣笛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5410200" cy="2287905"/>
            <a:chOff x="533400" y="1524000"/>
            <a:chExt cx="5410200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81000"/>
            </a:xfrm>
            <a:prstGeom prst="rect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6017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66682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接收频率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3967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0231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都不动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75941" y="2023110"/>
              <a:ext cx="170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23804" y="2023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282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28695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404110"/>
              <a:ext cx="1118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观察者以 uB 趋近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75941" y="2404110"/>
              <a:ext cx="889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(u + uB)νS/u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38650" y="2296478"/>
              <a:ext cx="149542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523804" y="2404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变高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6319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2785110"/>
              <a:ext cx="1118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观察者以 uB 背离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75941" y="2785110"/>
              <a:ext cx="889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(u − uB)νS/u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804" y="27851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变低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045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049905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8078" y="3167062"/>
              <a:ext cx="976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波源以 uS 趋近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75941" y="3167062"/>
              <a:ext cx="9683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u·νS/(u − uS)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38650" y="3059430"/>
              <a:ext cx="149542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23804" y="3167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变高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4261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28078" y="3548062"/>
              <a:ext cx="9768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波源以 uS 背离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75941" y="3548062"/>
              <a:ext cx="9683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u·νS/(u + uS)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23804" y="35480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变低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5410200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476500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24362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2"/>
          <p:cNvGrpSpPr/>
          <p:nvPr/>
        </p:nvGrpSpPr>
        <p:grpSpPr>
          <a:xfrm>
            <a:off x="533400" y="3976688"/>
            <a:ext cx="5410200" cy="1629728"/>
            <a:chOff x="533400" y="3976688"/>
            <a:chExt cx="5410200" cy="1629728"/>
          </a:xfrm>
        </p:grpSpPr>
        <p:sp>
          <p:nvSpPr>
            <p:cNvPr id="38" name="Rectangle 38"/>
            <p:cNvSpPr/>
            <p:nvPr/>
          </p:nvSpPr>
          <p:spPr>
            <a:xfrm>
              <a:off x="533400" y="3976688"/>
              <a:ext cx="5410200" cy="1629728"/>
            </a:xfrm>
            <a:prstGeom prst="roundRect">
              <a:avLst>
                <a:gd name="adj" fmla="val 81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110038"/>
              <a:ext cx="47625" cy="136302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52475" y="4157662"/>
              <a:ext cx="170307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7491" y="41905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观察者动与波源动并不等价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5998" y="4498181"/>
              <a:ext cx="479221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u = 340 m·s⁻¹、νS = 1000 Hz、速度都取 20 m·s⁻¹：观察者迎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上去听到 1058.8 Hz，波源开过来却是 1062.5 Hz。观察者动只改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变单位时间遇到的波数，波源动还会把波长本身压缩，所以后者升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得更多。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6248400" y="1524000"/>
            <a:ext cx="5410200" cy="1143952"/>
            <a:chOff x="6248400" y="1524000"/>
            <a:chExt cx="5410200" cy="1143952"/>
          </a:xfrm>
        </p:grpSpPr>
        <p:sp>
          <p:nvSpPr>
            <p:cNvPr id="44" name="Rectangle 44"/>
            <p:cNvSpPr/>
            <p:nvPr/>
          </p:nvSpPr>
          <p:spPr>
            <a:xfrm>
              <a:off x="6248400" y="1524000"/>
              <a:ext cx="5410200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257925" y="1657350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7475" y="1704975"/>
              <a:ext cx="62198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4697" y="1737836"/>
              <a:ext cx="4465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例3.11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60998" y="2045494"/>
              <a:ext cx="47434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救护车鸣笛 νS = 800 Hz，以 uS = 30 m·s⁻¹ 驶近静止行人，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 = 340 m·s⁻¹。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驶近和驶离时各听到多少赫兹。</a:t>
              </a:r>
            </a:p>
          </p:txBody>
        </p:sp>
      </p:grpSp>
      <p:grpSp>
        <p:nvGrpSpPr>
          <p:cNvPr id="63" name="c2-steps-2"/>
          <p:cNvGrpSpPr/>
          <p:nvPr/>
        </p:nvGrpSpPr>
        <p:grpSpPr>
          <a:xfrm>
            <a:off x="6248400" y="2842260"/>
            <a:ext cx="3494851" cy="1596961"/>
            <a:chOff x="6248400" y="2842260"/>
            <a:chExt cx="3494851" cy="1596961"/>
          </a:xfrm>
        </p:grpSpPr>
        <p:sp>
          <p:nvSpPr>
            <p:cNvPr id="50" name="Rectangle 50"/>
            <p:cNvSpPr/>
            <p:nvPr/>
          </p:nvSpPr>
          <p:spPr>
            <a:xfrm>
              <a:off x="6381750" y="2985135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248400" y="2842260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2024" y="29160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248400" y="339566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42024" y="34694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248400" y="3948112"/>
              <a:ext cx="285750" cy="2857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42024" y="40219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1023" y="28732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驶近时定符号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2166" y="3128010"/>
              <a:ext cx="23337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uB = 0，波源趋近取 uS = +30 m·s⁻¹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61023" y="342566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代公式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62166" y="3680460"/>
              <a:ext cx="2401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νB = 340/(340 − 30) × 800 ≈ 877 Hz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661023" y="397906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驶离时换符号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62166" y="4233862"/>
              <a:ext cx="30810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uS = −30 m·s⁻¹，νB = 340/370 × 800 ≈ 735 Hz</a:t>
              </a:r>
            </a:p>
          </p:txBody>
        </p:sp>
      </p:grpSp>
      <p:grpSp>
        <p:nvGrpSpPr>
          <p:cNvPr id="68" name="c2-card-3"/>
          <p:cNvGrpSpPr/>
          <p:nvPr/>
        </p:nvGrpSpPr>
        <p:grpSpPr>
          <a:xfrm>
            <a:off x="6248400" y="4600575"/>
            <a:ext cx="5410200" cy="1006792"/>
            <a:chOff x="6248400" y="4600575"/>
            <a:chExt cx="5410200" cy="1006792"/>
          </a:xfrm>
        </p:grpSpPr>
        <p:sp>
          <p:nvSpPr>
            <p:cNvPr id="64" name="Rectangle 64"/>
            <p:cNvSpPr/>
            <p:nvPr/>
          </p:nvSpPr>
          <p:spPr>
            <a:xfrm>
              <a:off x="6248400" y="4600575"/>
              <a:ext cx="5410200" cy="1006792"/>
            </a:xfrm>
            <a:prstGeom prst="roundRect">
              <a:avLst>
                <a:gd name="adj" fmla="val 13245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429375" y="478155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25146" y="481441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22898" y="5122069"/>
              <a:ext cx="5067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驶近约 877 Hz，驶离约 735 Hz，擦身而过时音调下降约 142 Hz。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9" name="Rectangle 6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1273" y="6039326"/>
              <a:ext cx="82631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代公式前先把 uS、uB 的正负定下来再动笔。只要有一个符号写反，加强就会变成减弱、变高就会变成变低。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自测题（上）波函数、相位与能量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558034" cy="264033"/>
            <a:chOff x="526542" y="1545907"/>
            <a:chExt cx="25580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遮住答案先自己做，算完再对。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671638"/>
            <a:chOff x="533400" y="1928812"/>
            <a:chExt cx="3505200" cy="167163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301056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 y = 0.05cos(10πt − 4πx)（SI），求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波速、频率、波长。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8983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化成 0.05cos10π(t − x/2.5)：u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 m·s⁻¹，ν = 5 Hz，λ = 0.5 m。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765232"/>
            <a:ext cx="3505200" cy="1914525"/>
            <a:chOff x="533400" y="3765232"/>
            <a:chExt cx="3505200" cy="1914525"/>
          </a:xfrm>
        </p:grpSpPr>
        <p:sp>
          <p:nvSpPr>
            <p:cNvPr id="15" name="Rectangle 15"/>
            <p:cNvSpPr/>
            <p:nvPr/>
          </p:nvSpPr>
          <p:spPr>
            <a:xfrm>
              <a:off x="533400" y="376523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286726"/>
              <a:ext cx="290408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波沿 +x 传播，波峰右侧下降段上的质点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此刻向哪运动？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4814411"/>
              <a:ext cx="2890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左邻是波峰、更高，故向上；由 v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−u·∂y/∂x，∂y/∂x &lt; 0 也得 v &gt; 0。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428750"/>
            <a:chOff x="4343400" y="1928812"/>
            <a:chExt cx="35052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428750"/>
            </a:xfrm>
            <a:prstGeom prst="roundRect">
              <a:avLst>
                <a:gd name="adj" fmla="val 933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上题中质点的最大速度和最大加速度？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735104"/>
              <a:ext cx="2906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vm = ωA = 0.5π ≈ 1.57 m·s⁻¹；am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ω²A = 5π² ≈ 49.3 m·s⁻²。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3522345"/>
            <a:ext cx="3505200" cy="2157412"/>
            <a:chOff x="4343400" y="3522345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3522345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370332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373618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043839"/>
              <a:ext cx="26078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1.8×10⁻² W·m⁻²，u = 300 m·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s⁻¹，平均与最大能量密度？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4571524"/>
              <a:ext cx="295529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I/u = 6×10⁻⁵ J·m⁻³；最大值是它的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倍，1.2×10⁻⁴ J·m⁻³。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671638"/>
            <a:chOff x="8153400" y="1928812"/>
            <a:chExt cx="3505200" cy="1671638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671638"/>
            </a:xfrm>
            <a:prstGeom prst="roundRect">
              <a:avLst>
                <a:gd name="adj" fmla="val 797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3618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同一波线上相距 0.1 m 的两点，λ = 0.4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m，后一点相位差多少？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30121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−2πΔx/λ = −π/2，落后四分之一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个周期。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3765232"/>
            <a:ext cx="3505200" cy="1914525"/>
            <a:chOff x="8153400" y="3765232"/>
            <a:chExt cx="3505200" cy="1914525"/>
          </a:xfrm>
        </p:grpSpPr>
        <p:sp>
          <p:nvSpPr>
            <p:cNvPr id="39" name="Rectangle 39"/>
            <p:cNvSpPr/>
            <p:nvPr/>
          </p:nvSpPr>
          <p:spPr>
            <a:xfrm>
              <a:off x="8153400" y="376523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39462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39790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286726"/>
              <a:ext cx="28577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波在介质 1 中 λ = 4 m、u = 400 m·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s⁻¹，进入 u = 500 m·s⁻¹ 的介质 2 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变成多少？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825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频率由波源决定不变，ν = u₁/λ₁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Hz；λ₂ = u₂/ν = 5 m。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5" name="Rectangle 4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1273" y="6039326"/>
              <a:ext cx="70723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读参数时先把式子整理成 A cos[ω(t ∓ x/u) + φ] 再对号入座；跨介质时不变的永远是频率。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自测题（下）干涉、驻波与多普勒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1743075"/>
            <a:chOff x="533400" y="1524000"/>
            <a:chExt cx="3505200" cy="17430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925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球面波在 r = 2 m 处振幅为 A，6 m 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的振幅和强度各是多少？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29540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振幅按 1/r 衰减，A′ = A/3；强度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正比于振幅平方，I′ = I/9。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436620"/>
            <a:ext cx="3505200" cy="2257425"/>
            <a:chOff x="533400" y="3436620"/>
            <a:chExt cx="3505200" cy="2257425"/>
          </a:xfrm>
        </p:grpSpPr>
        <p:sp>
          <p:nvSpPr>
            <p:cNvPr id="13" name="Rectangle 13"/>
            <p:cNvSpPr/>
            <p:nvPr/>
          </p:nvSpPr>
          <p:spPr>
            <a:xfrm>
              <a:off x="533400" y="343662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968115"/>
              <a:ext cx="2786063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 y =</a:t>
              </a:r>
              <a:br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3.0×10⁻²cos(1.6πx)cos(550πt)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（SI），求成分波振幅与波速。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782502"/>
              <a:ext cx="30140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1.5×10⁻² m；u = ω/k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343.75 m·s⁻¹；λ = 1.25 m，波节间距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0.625 m。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743075"/>
            <a:chOff x="4343400" y="1524000"/>
            <a:chExt cx="3505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054542"/>
              <a:ext cx="28456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两同相波源相距 3λ/2，R 在连线延长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线上，R 处相位差与合振幅？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232" y="2612708"/>
              <a:ext cx="28426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Δφ = −2π×(3λ/2)/λ = −3π，π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奇数倍，合振幅取 |A₁ − A₂|。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436620"/>
            <a:ext cx="3505200" cy="2257425"/>
            <a:chOff x="4343400" y="3436620"/>
            <a:chExt cx="3505200" cy="2257425"/>
          </a:xfrm>
        </p:grpSpPr>
        <p:sp>
          <p:nvSpPr>
            <p:cNvPr id="25" name="Rectangle 25"/>
            <p:cNvSpPr/>
            <p:nvPr/>
          </p:nvSpPr>
          <p:spPr>
            <a:xfrm>
              <a:off x="4343400" y="343662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3968115"/>
              <a:ext cx="293351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声源 800 Hz 以 30 m·s⁻¹ 驶近静止的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人，u = 340 m·s⁻¹，听到多少？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3232" y="4525328"/>
              <a:ext cx="20282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el-GR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νB = u·νS/(u − uS)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340×800/310 ≈ 877 Hz。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1743075"/>
            <a:chOff x="8153400" y="1524000"/>
            <a:chExt cx="3505200" cy="1743075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232" y="2054542"/>
              <a:ext cx="241273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两同相波源到 P 点的波程差 δ =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2.5λ，P 点加强还是减弱？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3232" y="2612708"/>
              <a:ext cx="29112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δ = (2k+1)λ/2（k = 2），减弱；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两源等幅时 P 点始终不动。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3436620"/>
            <a:ext cx="3505200" cy="2257425"/>
            <a:chOff x="8153400" y="3436620"/>
            <a:chExt cx="3505200" cy="2257425"/>
          </a:xfrm>
        </p:grpSpPr>
        <p:sp>
          <p:nvSpPr>
            <p:cNvPr id="37" name="Rectangle 37"/>
            <p:cNvSpPr/>
            <p:nvPr/>
          </p:nvSpPr>
          <p:spPr>
            <a:xfrm>
              <a:off x="8153400" y="343662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3232" y="3968115"/>
              <a:ext cx="2844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两端固定、长 0.5 m 的弦上波速 200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m·s⁻¹，基频和二次谐频各是多少？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3232" y="4525328"/>
              <a:ext cx="28683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ν₁ = u/(2L) = 200/1 = 200 Hz，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ν₂ = 2ν₁ = 400 Hz。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3" name="Rectangle 4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8373"/>
              <a:ext cx="9974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干涉题一律先把相位差写成 nπ 的形式再判奇偶；驻波题一律先与 y = 2A cos(2πx/λ)cos(ωt) 逐项对照，不要背位置公式。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8EDF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4B9A"/>
                  </a:solidFill>
                  <a:latin typeface="+mn-lt"/>
                  <a:ea typeface="+mn-ea"/>
                  <a:cs typeface="+mn-cs"/>
                </a:rPr>
                <a:t>第3章 机械波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F4B9A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3525"/>
            <a:ext cx="5126990" cy="2647283"/>
            <a:chOff x="533400" y="1533525"/>
            <a:chExt cx="5126990" cy="2647283"/>
          </a:xfrm>
        </p:grpSpPr>
        <p:sp>
          <p:nvSpPr>
            <p:cNvPr id="7" name="Ellipse 7"/>
            <p:cNvSpPr/>
            <p:nvPr/>
          </p:nvSpPr>
          <p:spPr>
            <a:xfrm>
              <a:off x="533400" y="153352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5307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3148" y="1545431"/>
              <a:ext cx="48409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波函数 y = A cos[ω(t ∓ x/u) + φ]：沿 +x 取减号，沿 −x 取加号；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固定 x 得振动曲线，固定 t 得波形曲线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06978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5307" y="21054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3148" y="2080736"/>
              <a:ext cx="45321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相位差、时间差、波程差三者由 λ = uT 串起来，Δφ 的大小等于</a:t>
              </a:r>
              <a:br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2πΔx/λ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606040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307" y="264166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148" y="2616994"/>
              <a:ext cx="48003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平均能量密度 = ρA²ω²/2，强度 I = 平均能量密度 × u；平面波振幅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不变，球面波振幅按 1/r 衰减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141345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307" y="317696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3148" y="3153251"/>
              <a:ext cx="48572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干涉判据：Δφ 为 2kπ 加强、(2k+1)π 减弱；两源同相时可直接看波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程差是 λ 的整数倍还是半波长的奇数倍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3677602"/>
              <a:ext cx="180975" cy="180975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7" y="371322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3148" y="3688556"/>
              <a:ext cx="484098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 y = 2A cos(2πx/λ)cos(ωt)：波节波腹交替、间距 λ/2，相位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不传播、能量不传播</a:t>
              </a:r>
            </a:p>
          </p:txBody>
        </p:sp>
      </p:grpSp>
      <p:grpSp>
        <p:nvGrpSpPr>
          <p:cNvPr id="29" name="c1-callout-2"/>
          <p:cNvGrpSpPr/>
          <p:nvPr/>
        </p:nvGrpSpPr>
        <p:grpSpPr>
          <a:xfrm>
            <a:off x="533400" y="4295775"/>
            <a:ext cx="5410200" cy="1067752"/>
            <a:chOff x="533400" y="4295775"/>
            <a:chExt cx="5410200" cy="1067752"/>
          </a:xfrm>
        </p:grpSpPr>
        <p:sp>
          <p:nvSpPr>
            <p:cNvPr id="23" name="Rectangle 23"/>
            <p:cNvSpPr/>
            <p:nvPr/>
          </p:nvSpPr>
          <p:spPr>
            <a:xfrm>
              <a:off x="533400" y="4295775"/>
              <a:ext cx="5410200" cy="1067752"/>
            </a:xfrm>
            <a:prstGeom prst="roundRect">
              <a:avLst>
                <a:gd name="adj" fmla="val 1070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38188" y="4729163"/>
              <a:ext cx="200026" cy="200025"/>
              <a:chOff x="738188" y="4729163"/>
              <a:chExt cx="200026" cy="200025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38188" y="47291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77926" y="47736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12642" y="48847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041273" y="4505801"/>
              <a:ext cx="446709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三个自检习惯：写完波函数代一个具体的 x 回去核对波形；判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方向时用左邻法和求导法各做一遍；算干涉先把相位差化成 nπ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再判奇偶。</a:t>
              </a:r>
            </a:p>
          </p:txBody>
        </p:sp>
      </p:grpSp>
      <p:grpSp>
        <p:nvGrpSpPr>
          <p:cNvPr id="39" name="c2-card-1"/>
          <p:cNvGrpSpPr/>
          <p:nvPr/>
        </p:nvGrpSpPr>
        <p:grpSpPr>
          <a:xfrm>
            <a:off x="6248400" y="1524000"/>
            <a:ext cx="5410200" cy="1918335"/>
            <a:chOff x="6248400" y="1524000"/>
            <a:chExt cx="5410200" cy="1918335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1918335"/>
            </a:xfrm>
            <a:prstGeom prst="roundRect">
              <a:avLst>
                <a:gd name="adj" fmla="val 695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57925" y="1657350"/>
              <a:ext cx="47625" cy="16516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67475" y="1704975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642" y="17378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77000" y="2097405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32448" y="2045494"/>
              <a:ext cx="43045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原课件例3.4（本讲义例3.10）中 x = 1.25 m 处的振幅应为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0.06√2 ≈ 0.085 m，原课件写作 0.08 m（原第 54 页）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7000" y="2625090"/>
              <a:ext cx="57150" cy="57150"/>
            </a:xfrm>
            <a:prstGeom prst="ellipse">
              <a:avLst/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32448" y="2573179"/>
              <a:ext cx="46215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驻波一节的编号写成 11.6.1，本课程应为 3.6.1（原第 44 页，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沿用了另一本教材的章号）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2141" y="309753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其余例题的数值全部用脚本复算过，与原课件一致。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248400" y="3607118"/>
            <a:ext cx="5410200" cy="1756410"/>
            <a:chOff x="6248400" y="3607118"/>
            <a:chExt cx="5410200" cy="1756410"/>
          </a:xfrm>
        </p:grpSpPr>
        <p:sp>
          <p:nvSpPr>
            <p:cNvPr id="40" name="Rectangle 40"/>
            <p:cNvSpPr/>
            <p:nvPr/>
          </p:nvSpPr>
          <p:spPr>
            <a:xfrm>
              <a:off x="6248400" y="3607118"/>
              <a:ext cx="5410200" cy="1756410"/>
            </a:xfrm>
            <a:prstGeom prst="roundRect">
              <a:avLst>
                <a:gd name="adj" fmla="val 7592"/>
              </a:avLst>
            </a:prstGeom>
            <a:solidFill>
              <a:srgbClr val="2F4B9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29375" y="378809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243B7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2743" y="382095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补充进来的内容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438900" y="418052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94348" y="412765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判断质点振动方向的左邻法与求导法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438900" y="446532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94348" y="4413409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求波函数的两种套路与相对坐标写法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438900" y="475011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94348" y="469820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能量、球面波振幅的例题与自检清单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38900" y="50349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94348" y="498300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多普勒效应的接收频率公式、四种情形与救护车例题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659755"/>
            <a:ext cx="11125200" cy="702945"/>
            <a:chOff x="533400" y="5659755"/>
            <a:chExt cx="11125200" cy="702945"/>
          </a:xfrm>
        </p:grpSpPr>
        <p:sp>
          <p:nvSpPr>
            <p:cNvPr id="52" name="Rectangle 52"/>
            <p:cNvSpPr/>
            <p:nvPr/>
          </p:nvSpPr>
          <p:spPr>
            <a:xfrm>
              <a:off x="533400" y="5659755"/>
              <a:ext cx="11125200" cy="702945"/>
            </a:xfrm>
            <a:prstGeom prst="roundRect">
              <a:avLst>
                <a:gd name="adj" fmla="val 16260"/>
              </a:avLst>
            </a:prstGeom>
            <a:solidFill>
              <a:srgbClr val="2F4B9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11217"/>
              <a:ext cx="200023" cy="200023"/>
              <a:chOff x="738188" y="5911217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9112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5977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1273" y="5805011"/>
              <a:ext cx="99453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第7章讲光的干涉时，相干条件、波程差判据和半波损失会原样再用一遍，只是把波程差换成光程差；本章的驻波方程则会在第8章的驻波型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电磁场里重新出现。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基础物理学 · 第3章 机械波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hys_ch3">
  <a:themeElements>
    <a:clrScheme name="phys_ch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hys_ch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hys_ch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2026-09-19T15:34:22Z</dcterms:created>
  <dcterms:modified xsi:type="dcterms:W3CDTF">2026-09-19T15:34:22Z</dcterms:modified>
  <cp:category/>
  <cp:contentStatus/>
</cp:coreProperties>
</file>