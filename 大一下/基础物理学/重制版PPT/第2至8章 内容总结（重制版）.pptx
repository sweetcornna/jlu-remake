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hys_summary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hys_summary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7e3f932547b80b3a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788481881fd4fc8c.png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020c194a2e386a30.png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rcRect l="5556" t="0" r="5555" b="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4874514" cy="3437763"/>
            <a:chOff x="666750" y="1619250"/>
            <a:chExt cx="4874514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898332" cy="3429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04866" y="1718310"/>
              <a:ext cx="16611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基础物理学 · 期末复习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482707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第2至8章 内容总结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48646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振动、波动、电磁学与波动光学的公式与题型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振动、机械波与电磁波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静电场与稳恒磁场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电磁感应与麦克斯韦方程组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光的干涉与衍射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413752" cy="205359"/>
            <a:chOff x="680466" y="6192202"/>
            <a:chExt cx="4413752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4137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自学复习版｜据吉林大学《基础物理学》内容总结课件整理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83534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44284" y="4071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内容总结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本讲复习路线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振动与波动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简谐振动、机械波、驻波、电磁波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静电场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场强、高斯定理、电势、电场能量、导体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稳恒磁场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30370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毕奥-萨伐尔定律、安培环路定理、磁力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电磁感应与麦克斯韦方程组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法拉第定律、动生与感生、位移电流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光的干涉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杨氏双缝、薄膜、劈尖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光的衍射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单缝、光栅、缺级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4402455"/>
            <a:chOff x="7114222" y="1524000"/>
            <a:chExt cx="4544378" cy="440245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能由初始条件定出振幅和初相，并写出已知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某点振动时的波函数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73177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能按对称性选高斯面或安培环路，求出场强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或磁感应强度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35280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能说出静电平衡导体上电荷的分布，并算出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各区域的场强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97383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能写出麦克斯韦方程组积分形式，说清每个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式子的物理含义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459486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能判断薄膜是否有半波损失，算出明暗纹条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件、条纹间距和光栅缺级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第2至8章 内容总结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83534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44284" y="4071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内容总结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八块内容怎样串起来，考试怎样出题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2" name="c1-tree-1"/>
          <p:cNvGrpSpPr/>
          <p:nvPr/>
        </p:nvGrpSpPr>
        <p:grpSpPr>
          <a:xfrm>
            <a:off x="533400" y="1618298"/>
            <a:ext cx="6276023" cy="3996689"/>
            <a:chOff x="533400" y="1618298"/>
            <a:chExt cx="6276023" cy="3996689"/>
          </a:xfrm>
        </p:grpSpPr>
        <p:sp>
          <p:nvSpPr>
            <p:cNvPr id="7" name="Freeform 7"/>
            <p:cNvSpPr/>
            <p:nvPr/>
          </p:nvSpPr>
          <p:spPr>
            <a:xfrm>
              <a:off x="4224338" y="1785938"/>
              <a:ext cx="419100" cy="522923"/>
            </a:xfrm>
            <a:custGeom>
              <a:avLst/>
              <a:gdLst/>
              <a:ahLst/>
              <a:cxnLst/>
              <a:rect l="l" t="t" r="r" b="b"/>
              <a:pathLst>
                <a:path w="419100" h="522923">
                  <a:moveTo>
                    <a:pt x="0" y="522923"/>
                  </a:moveTo>
                  <a:lnTo>
                    <a:pt x="209550" y="522923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4224338" y="230886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4224338" y="2308860"/>
              <a:ext cx="419100" cy="523875"/>
            </a:xfrm>
            <a:custGeom>
              <a:avLst/>
              <a:gdLst/>
              <a:ahLst/>
              <a:cxnLst/>
              <a:rect l="l" t="t" r="r" b="b"/>
              <a:pathLst>
                <a:path w="419100" h="523875">
                  <a:moveTo>
                    <a:pt x="0" y="0"/>
                  </a:moveTo>
                  <a:lnTo>
                    <a:pt x="209550" y="0"/>
                  </a:lnTo>
                  <a:lnTo>
                    <a:pt x="209550" y="523875"/>
                  </a:lnTo>
                  <a:lnTo>
                    <a:pt x="419100" y="52387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224338" y="3355658"/>
              <a:ext cx="419100" cy="522922"/>
            </a:xfrm>
            <a:custGeom>
              <a:avLst/>
              <a:gdLst/>
              <a:ahLst/>
              <a:cxnLst/>
              <a:rect l="l" t="t" r="r" b="b"/>
              <a:pathLst>
                <a:path w="419100" h="522922">
                  <a:moveTo>
                    <a:pt x="0" y="522922"/>
                  </a:moveTo>
                  <a:lnTo>
                    <a:pt x="209550" y="522922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4224338" y="387858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224338" y="3878580"/>
              <a:ext cx="419100" cy="523875"/>
            </a:xfrm>
            <a:custGeom>
              <a:avLst/>
              <a:gdLst/>
              <a:ahLst/>
              <a:cxnLst/>
              <a:rect l="l" t="t" r="r" b="b"/>
              <a:pathLst>
                <a:path w="419100" h="523875">
                  <a:moveTo>
                    <a:pt x="0" y="0"/>
                  </a:moveTo>
                  <a:lnTo>
                    <a:pt x="209550" y="0"/>
                  </a:lnTo>
                  <a:lnTo>
                    <a:pt x="209550" y="523875"/>
                  </a:lnTo>
                  <a:lnTo>
                    <a:pt x="419100" y="52387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4224338" y="4925378"/>
              <a:ext cx="419100" cy="261938"/>
            </a:xfrm>
            <a:custGeom>
              <a:avLst/>
              <a:gdLst/>
              <a:ahLst/>
              <a:cxnLst/>
              <a:rect l="l" t="t" r="r" b="b"/>
              <a:pathLst>
                <a:path w="419100" h="261938">
                  <a:moveTo>
                    <a:pt x="0" y="261938"/>
                  </a:moveTo>
                  <a:lnTo>
                    <a:pt x="209550" y="261938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224338" y="5187315"/>
              <a:ext cx="419100" cy="260985"/>
            </a:xfrm>
            <a:custGeom>
              <a:avLst/>
              <a:gdLst/>
              <a:ahLst/>
              <a:cxnLst/>
              <a:rect l="l" t="t" r="r" b="b"/>
              <a:pathLst>
                <a:path w="419100" h="260985">
                  <a:moveTo>
                    <a:pt x="0" y="0"/>
                  </a:moveTo>
                  <a:lnTo>
                    <a:pt x="209550" y="0"/>
                  </a:lnTo>
                  <a:lnTo>
                    <a:pt x="209550" y="260985"/>
                  </a:lnTo>
                  <a:lnTo>
                    <a:pt x="419100" y="26098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2112645" y="2308860"/>
              <a:ext cx="419100" cy="1439228"/>
            </a:xfrm>
            <a:custGeom>
              <a:avLst/>
              <a:gdLst/>
              <a:ahLst/>
              <a:cxnLst/>
              <a:rect l="l" t="t" r="r" b="b"/>
              <a:pathLst>
                <a:path w="419100" h="1439228">
                  <a:moveTo>
                    <a:pt x="0" y="1439228"/>
                  </a:moveTo>
                  <a:lnTo>
                    <a:pt x="209550" y="1439228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112645" y="3748088"/>
              <a:ext cx="419100" cy="130492"/>
            </a:xfrm>
            <a:custGeom>
              <a:avLst/>
              <a:gdLst/>
              <a:ahLst/>
              <a:cxnLst/>
              <a:rect l="l" t="t" r="r" b="b"/>
              <a:pathLst>
                <a:path w="419100" h="130492">
                  <a:moveTo>
                    <a:pt x="0" y="0"/>
                  </a:moveTo>
                  <a:lnTo>
                    <a:pt x="209550" y="0"/>
                  </a:lnTo>
                  <a:lnTo>
                    <a:pt x="209550" y="130492"/>
                  </a:lnTo>
                  <a:lnTo>
                    <a:pt x="419100" y="130492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2112645" y="3748088"/>
              <a:ext cx="419100" cy="1439228"/>
            </a:xfrm>
            <a:custGeom>
              <a:avLst/>
              <a:gdLst/>
              <a:ahLst/>
              <a:cxnLst/>
              <a:rect l="l" t="t" r="r" b="b"/>
              <a:pathLst>
                <a:path w="419100" h="1439228">
                  <a:moveTo>
                    <a:pt x="0" y="0"/>
                  </a:moveTo>
                  <a:lnTo>
                    <a:pt x="209550" y="0"/>
                  </a:lnTo>
                  <a:lnTo>
                    <a:pt x="209550" y="1439228"/>
                  </a:lnTo>
                  <a:lnTo>
                    <a:pt x="419100" y="1439228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4643438" y="1618298"/>
              <a:ext cx="2165985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4643438" y="2142172"/>
              <a:ext cx="2165985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643438" y="2665095"/>
              <a:ext cx="2165985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2531745" y="2142172"/>
              <a:ext cx="1692592" cy="333375"/>
            </a:xfrm>
            <a:prstGeom prst="roundRect">
              <a:avLst>
                <a:gd name="adj" fmla="val 28571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643438" y="3188970"/>
              <a:ext cx="2165985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643438" y="3711892"/>
              <a:ext cx="2165985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4643438" y="4234815"/>
              <a:ext cx="2165985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2531745" y="3711892"/>
              <a:ext cx="1692592" cy="333375"/>
            </a:xfrm>
            <a:prstGeom prst="roundRect">
              <a:avLst>
                <a:gd name="adj" fmla="val 28571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643438" y="4758690"/>
              <a:ext cx="2165985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4643438" y="5281612"/>
              <a:ext cx="2165985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2531745" y="5020628"/>
              <a:ext cx="1692592" cy="333375"/>
            </a:xfrm>
            <a:prstGeom prst="roundRect">
              <a:avLst>
                <a:gd name="adj" fmla="val 28571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3400" y="3581400"/>
              <a:ext cx="1579245" cy="333375"/>
            </a:xfrm>
            <a:prstGeom prst="roundRect">
              <a:avLst>
                <a:gd name="adj" fmla="val 28571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733354" y="171259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简谐振动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733354" y="2235518"/>
              <a:ext cx="7951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机械波·驻波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733354" y="2759393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电磁波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621661" y="223551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振动与波动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733354" y="328231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静电场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733354" y="380523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稳恒磁场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733354" y="4329112"/>
              <a:ext cx="12192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电磁感应·麦克斯韦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621661" y="380523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电磁学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733354" y="485203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光的干涉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733354" y="537495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光的衍射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621661" y="511397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波动光学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23316" y="3674745"/>
              <a:ext cx="5979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第2至8章</a:t>
              </a:r>
            </a:p>
          </p:txBody>
        </p:sp>
      </p:grpSp>
      <p:grpSp>
        <p:nvGrpSpPr>
          <p:cNvPr id="69" name="c2-table-1"/>
          <p:cNvGrpSpPr/>
          <p:nvPr/>
        </p:nvGrpSpPr>
        <p:grpSpPr>
          <a:xfrm>
            <a:off x="7109270" y="1524000"/>
            <a:ext cx="4549330" cy="2019966"/>
            <a:chOff x="7109270" y="1524000"/>
            <a:chExt cx="4549330" cy="2019966"/>
          </a:xfrm>
        </p:grpSpPr>
        <p:sp>
          <p:nvSpPr>
            <p:cNvPr id="43" name="Rectangle 43"/>
            <p:cNvSpPr/>
            <p:nvPr/>
          </p:nvSpPr>
          <p:spPr>
            <a:xfrm>
              <a:off x="7114222" y="1524000"/>
              <a:ext cx="4544378" cy="439102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47610" y="164877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题型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706802" y="164877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题量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779318" y="164877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每题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892790" y="164877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合计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210234" y="208788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单选题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788584" y="2087880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792948" y="2087880"/>
              <a:ext cx="3499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分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856443" y="2087880"/>
              <a:ext cx="4498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36 分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7114222" y="239744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7114222" y="2402205"/>
              <a:ext cx="4544378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210234" y="252698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填空题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838562" y="2526982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792948" y="2526982"/>
              <a:ext cx="3499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分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856443" y="2526982"/>
              <a:ext cx="4498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 分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7114222" y="283559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210234" y="296608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计算题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838562" y="2966085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792948" y="2966085"/>
              <a:ext cx="3499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分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10514648" y="2849880"/>
              <a:ext cx="1134428" cy="42005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0856443" y="2966085"/>
              <a:ext cx="4498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48 分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114222" y="1524000"/>
              <a:ext cx="4544378" cy="17554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8353425" y="1524000"/>
              <a:ext cx="9525" cy="17554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9426892" y="1524000"/>
              <a:ext cx="9525" cy="17554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10500360" y="1524000"/>
              <a:ext cx="9525" cy="17554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109270" y="3353276"/>
              <a:ext cx="29184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满分 100 分，答题卡机读，选择题用 2B 铅笔填涂</a:t>
              </a:r>
            </a:p>
          </p:txBody>
        </p:sp>
      </p:grpSp>
      <p:grpSp>
        <p:nvGrpSpPr>
          <p:cNvPr id="80" name="c2-card-2"/>
          <p:cNvGrpSpPr/>
          <p:nvPr/>
        </p:nvGrpSpPr>
        <p:grpSpPr>
          <a:xfrm>
            <a:off x="7114222" y="3674745"/>
            <a:ext cx="4544378" cy="2004060"/>
            <a:chOff x="7114222" y="3674745"/>
            <a:chExt cx="4544378" cy="2004060"/>
          </a:xfrm>
        </p:grpSpPr>
        <p:sp>
          <p:nvSpPr>
            <p:cNvPr id="70" name="Rectangle 70"/>
            <p:cNvSpPr/>
            <p:nvPr/>
          </p:nvSpPr>
          <p:spPr>
            <a:xfrm>
              <a:off x="7114222" y="3674745"/>
              <a:ext cx="4544378" cy="2004060"/>
            </a:xfrm>
            <a:prstGeom prst="roundRect">
              <a:avLst>
                <a:gd name="adj" fmla="val 6654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7300912" y="3861435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7378332" y="3894296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复习顺序建议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7300912" y="4193857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7356591" y="423224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580757" y="4206240"/>
              <a:ext cx="36141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先把每节的「必记结论」背熟，选择填空大多直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接套用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7300912" y="4751070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7356591" y="478945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580757" y="4763452"/>
              <a:ext cx="36141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再练计算题的套路：求波函数、高斯定理、安培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环路、动生电动势、干涉衍射条件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295198" y="5317331"/>
              <a:ext cx="34340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计算题占 48 分，每道都要写出公式、代数和单位。</a:t>
              </a:r>
            </a:p>
          </p:txBody>
        </p:sp>
      </p:grpSp>
      <p:grpSp>
        <p:nvGrpSpPr>
          <p:cNvPr id="87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81" name="Rectangle 81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5" name="Group 85"/>
            <p:cNvGrpSpPr/>
            <p:nvPr/>
          </p:nvGrpSpPr>
          <p:grpSpPr>
            <a:xfrm>
              <a:off x="738188" y="6022658"/>
              <a:ext cx="200026" cy="200025"/>
              <a:chOff x="738188" y="6022658"/>
              <a:chExt cx="200026" cy="200025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738188" y="60226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777926" y="60671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812642" y="61782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6" name="TextBox 86"/>
            <p:cNvSpPr txBox="1"/>
            <p:nvPr/>
          </p:nvSpPr>
          <p:spPr>
            <a:xfrm>
              <a:off x="1040892" y="6028373"/>
              <a:ext cx="93004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电磁波把前后两部分连在一起：它既是一种波（第3章的语言），又由变化的电场和磁场互相激发（第6章的结论）。</a:t>
              </a:r>
            </a:p>
          </p:txBody>
        </p:sp>
      </p:grpSp>
      <p:grpSp>
        <p:nvGrpSpPr>
          <p:cNvPr id="9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8" name="TextBox 88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第2至8章 内容总结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691253" cy="3351847"/>
            <a:chOff x="667512" y="1835468"/>
            <a:chExt cx="4691253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45973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振动与波动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6813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先写清一个质点怎样振动，再看振动怎样传出去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简谐振动的三个方程与能量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旋转矢量与同方向合成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求波函数、波的能量与干涉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驻波、半波损失与电磁波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第2至8章 内容总结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183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325" y="407194"/>
              <a:ext cx="1550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内容总结 · 振动与波动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简谐振动：一个余弦式给出位移，求导得速度和加速度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6"/>
              <p:cNvSpPr txBox="1">
                <a:spLocks noGrp="1"/>
              </p:cNvSpPr>
              <p:nvPr/>
            </p:nvSpPr>
            <p:spPr>
              <a:xfrm>
                <a:off x="533400" y="1524000"/>
                <a:ext cx="5626418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ωt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φ</m:t>
                              </m:r>
                            </m:e>
                          </m:d>
                        </m:e>
                      </m:func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formula7"/>
              <p:cNvSpPr txBox="1">
                <a:spLocks noGrp="1"/>
              </p:cNvSpPr>
              <p:nvPr/>
            </p:nvSpPr>
            <p:spPr>
              <a:xfrm>
                <a:off x="533400" y="2133600"/>
                <a:ext cx="5626418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v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=−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ωA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ωt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φ</m:t>
                              </m:r>
                            </m:e>
                          </m:d>
                        </m:e>
                      </m:func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8"/>
              <p:cNvSpPr txBox="1">
                <a:spLocks noGrp="1"/>
              </p:cNvSpPr>
              <p:nvPr/>
            </p:nvSpPr>
            <p:spPr>
              <a:xfrm>
                <a:off x="533400" y="2743200"/>
                <a:ext cx="5626418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=−</m:t>
                      </m:r>
                      <m:sSup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ω</m:t>
                          </m:r>
                        </m:e>
                        <m:sup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ωt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φ</m:t>
                              </m:r>
                            </m:e>
                          </m:d>
                        </m:e>
                      </m:func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=−</m:t>
                      </m:r>
                      <m:sSup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ω</m:t>
                          </m:r>
                        </m:e>
                        <m:sup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x</m:t>
                      </m:r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formula9"/>
              <p:cNvSpPr txBox="1">
                <a:spLocks noGrp="1"/>
              </p:cNvSpPr>
              <p:nvPr/>
            </p:nvSpPr>
            <p:spPr>
              <a:xfrm>
                <a:off x="533400" y="3352800"/>
                <a:ext cx="5626418" cy="514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ωT</m:t>
                      </m:r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2π</m:t>
                      </m:r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2π</m:t>
                      </m:r>
                      <m:rad>
                        <m:radPr>
                          <m:degHide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radPr>
                        <m:deg/>
                        <m:e>
                          <m:f>
                            <m:fPr>
                              <m:type m:val="bar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</m:t>
                              </m:r>
                            </m:num>
                            <m:den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den>
                          </m:f>
                        </m:e>
                      </m:rad>
                    </m:oMath>
                  </m:oMathPara>
                </a14:m>
              </a:p>
            </p:txBody>
          </p:sp>
        </mc:Choice>
      </mc:AlternateContent>
      <p:grpSp>
        <p:nvGrpSpPr>
          <p:cNvPr id="19" name="c1-card-5"/>
          <p:cNvGrpSpPr/>
          <p:nvPr/>
        </p:nvGrpSpPr>
        <p:grpSpPr>
          <a:xfrm>
            <a:off x="533400" y="4057650"/>
            <a:ext cx="5626418" cy="1365885"/>
            <a:chOff x="533400" y="4057650"/>
            <a:chExt cx="5626418" cy="1365885"/>
          </a:xfrm>
        </p:grpSpPr>
        <p:sp>
          <p:nvSpPr>
            <p:cNvPr id="11" name="Rectangle 11"/>
            <p:cNvSpPr/>
            <p:nvPr/>
          </p:nvSpPr>
          <p:spPr>
            <a:xfrm>
              <a:off x="533400" y="4057650"/>
              <a:ext cx="5626418" cy="1365885"/>
            </a:xfrm>
            <a:prstGeom prst="roundRect">
              <a:avLst>
                <a:gd name="adj" fmla="val 97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4191000"/>
              <a:ext cx="47625" cy="109918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81050" y="4267200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45655" y="430291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三个量的相位关系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470725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4644390"/>
              <a:ext cx="37610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 比 x 超前 π/2：x 在平衡位置时 |v| 最大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6765" y="504253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4880" y="4979670"/>
              <a:ext cx="42254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与 x 反相：x 在最大位移处时 |a| 最大、v = 0</a:t>
              </a:r>
            </a:p>
          </p:txBody>
        </p:sp>
      </p:grpSp>
      <p:grpSp>
        <p:nvGrpSpPr>
          <p:cNvPr id="31" name="c2-kv-1"/>
          <p:cNvGrpSpPr/>
          <p:nvPr/>
        </p:nvGrpSpPr>
        <p:grpSpPr>
          <a:xfrm>
            <a:off x="6456998" y="1548765"/>
            <a:ext cx="5201602" cy="1613535"/>
            <a:chOff x="6456998" y="1548765"/>
            <a:chExt cx="5201602" cy="1613535"/>
          </a:xfrm>
        </p:grpSpPr>
        <p:sp>
          <p:nvSpPr>
            <p:cNvPr id="20" name="TextBox 20"/>
            <p:cNvSpPr txBox="1"/>
            <p:nvPr/>
          </p:nvSpPr>
          <p:spPr>
            <a:xfrm>
              <a:off x="6456998" y="1548765"/>
              <a:ext cx="6095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振幅 A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47635" y="154876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偏离平衡位置的最大距离，由初始条件决定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464618" y="186880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56998" y="1988820"/>
              <a:ext cx="10763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相位 ωt + 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47635" y="1988820"/>
              <a:ext cx="3882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决定 t 时刻的运动状态（位置和速度方向）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464618" y="230886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56998" y="2428875"/>
              <a:ext cx="5993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初相 φ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747635" y="2428875"/>
              <a:ext cx="13378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= 0 时的相位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464618" y="274891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56998" y="2868930"/>
              <a:ext cx="8012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角频率 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747635" y="2868930"/>
              <a:ext cx="35490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由系统本身决定，弹簧振子 ω = √(k/m)</a:t>
              </a:r>
            </a:p>
          </p:txBody>
        </p:sp>
      </p:grpSp>
      <p:grpSp>
        <p:nvGrpSpPr>
          <p:cNvPr id="37" name="c2-card-2"/>
          <p:cNvGrpSpPr/>
          <p:nvPr/>
        </p:nvGrpSpPr>
        <p:grpSpPr>
          <a:xfrm>
            <a:off x="6464618" y="3293745"/>
            <a:ext cx="5193982" cy="2129790"/>
            <a:chOff x="6464618" y="3293745"/>
            <a:chExt cx="5193982" cy="2129790"/>
          </a:xfrm>
        </p:grpSpPr>
        <p:sp>
          <p:nvSpPr>
            <p:cNvPr id="32" name="Rectangle 32"/>
            <p:cNvSpPr/>
            <p:nvPr/>
          </p:nvSpPr>
          <p:spPr>
            <a:xfrm>
              <a:off x="6464618" y="3293745"/>
              <a:ext cx="5193982" cy="2129790"/>
            </a:xfrm>
            <a:prstGeom prst="roundRect">
              <a:avLst>
                <a:gd name="adj" fmla="val 6261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674168" y="3503295"/>
              <a:ext cx="1495425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29512" y="3539014"/>
              <a:ext cx="1384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由 x₀、v₀ 定 A 和 φ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formula10"/>
                <p:cNvSpPr txBox="1">
                  <a:spLocks noGrp="1"/>
                </p:cNvSpPr>
                <p:nvPr/>
              </p:nvSpPr>
              <p:spPr>
                <a:xfrm>
                  <a:off x="6674168" y="3855720"/>
                  <a:ext cx="4774882" cy="4629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radPr>
                          <m:deg/>
                          <m:e>
                            <m:sSubSup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sSubSup>
                                  <m:e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bSup>
                              </m:num>
                              <m:den>
                                <m:sSup>
                                  <m:e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ω</m:t>
                                    </m:r>
                                  </m:e>
                                  <m:sup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ra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tan</m:t>
                            </m:r>
                          </m:fName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φ</m:t>
                            </m:r>
                          </m:e>
                        </m:func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=−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ω</m:t>
                            </m:r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6" name="TextBox 36"/>
            <p:cNvSpPr txBox="1"/>
            <p:nvPr/>
          </p:nvSpPr>
          <p:spPr>
            <a:xfrm>
              <a:off x="6667691" y="4435316"/>
              <a:ext cx="458089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tanφ 在 (−π, π] 里对应两个角，要再用 x₀ 或 v₀ 的正负挑出一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个。</a:t>
              </a:r>
            </a:p>
          </p:txBody>
        </p:sp>
      </p:grpSp>
      <p:grpSp>
        <p:nvGrpSpPr>
          <p:cNvPr id="44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8" name="Rectangle 38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040130" y="5991225"/>
              <a:ext cx="85659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易错：a 与 x 永远反号，a = −ω²x 就是简谐振动的判据。v 的最大值是 ωA，a 的最大值是 ω²A。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第2至8章 内容总结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06040" cy="909257"/>
            <a:chOff x="520446" y="342900"/>
            <a:chExt cx="730604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183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325" y="407194"/>
              <a:ext cx="1550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内容总结 · 振动与波动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0604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旋转矢量：矢量端点在 x 轴上的投影做简谐振动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4" name="c1-graph-1"/>
          <p:cNvGrpSpPr/>
          <p:nvPr/>
        </p:nvGrpSpPr>
        <p:grpSpPr>
          <a:xfrm>
            <a:off x="848678" y="1687354"/>
            <a:ext cx="4702234" cy="3408045"/>
            <a:chOff x="848678" y="1687354"/>
            <a:chExt cx="4702234" cy="3408045"/>
          </a:xfrm>
        </p:grpSpPr>
        <p:sp>
          <p:nvSpPr>
            <p:cNvPr id="7" name="Freeform 7"/>
            <p:cNvSpPr/>
            <p:nvPr/>
          </p:nvSpPr>
          <p:spPr>
            <a:xfrm>
              <a:off x="1252538" y="1956435"/>
              <a:ext cx="2887980" cy="2886075"/>
            </a:xfrm>
            <a:custGeom>
              <a:avLst/>
              <a:gdLst/>
              <a:ahLst/>
              <a:cxnLst/>
              <a:rect l="l" t="t" r="r" b="b"/>
              <a:pathLst>
                <a:path w="2887980" h="2886075">
                  <a:moveTo>
                    <a:pt x="2887980" y="1423987"/>
                  </a:moveTo>
                  <a:lnTo>
                    <a:pt x="2878455" y="1281112"/>
                  </a:lnTo>
                  <a:lnTo>
                    <a:pt x="2851785" y="1122045"/>
                  </a:lnTo>
                  <a:lnTo>
                    <a:pt x="2807970" y="966787"/>
                  </a:lnTo>
                  <a:lnTo>
                    <a:pt x="2748915" y="815340"/>
                  </a:lnTo>
                  <a:lnTo>
                    <a:pt x="2667952" y="675322"/>
                  </a:lnTo>
                  <a:lnTo>
                    <a:pt x="2575560" y="544830"/>
                  </a:lnTo>
                  <a:lnTo>
                    <a:pt x="2467928" y="421957"/>
                  </a:lnTo>
                  <a:lnTo>
                    <a:pt x="2348865" y="314325"/>
                  </a:lnTo>
                  <a:lnTo>
                    <a:pt x="2213610" y="220027"/>
                  </a:lnTo>
                  <a:lnTo>
                    <a:pt x="2072640" y="144780"/>
                  </a:lnTo>
                  <a:lnTo>
                    <a:pt x="1921192" y="80010"/>
                  </a:lnTo>
                  <a:lnTo>
                    <a:pt x="1764030" y="36195"/>
                  </a:lnTo>
                  <a:lnTo>
                    <a:pt x="1606868" y="11430"/>
                  </a:lnTo>
                  <a:lnTo>
                    <a:pt x="1444942" y="0"/>
                  </a:lnTo>
                  <a:lnTo>
                    <a:pt x="1283018" y="11430"/>
                  </a:lnTo>
                  <a:lnTo>
                    <a:pt x="1125855" y="36195"/>
                  </a:lnTo>
                  <a:lnTo>
                    <a:pt x="968692" y="80010"/>
                  </a:lnTo>
                  <a:lnTo>
                    <a:pt x="817245" y="144780"/>
                  </a:lnTo>
                  <a:lnTo>
                    <a:pt x="676275" y="220027"/>
                  </a:lnTo>
                  <a:lnTo>
                    <a:pt x="541020" y="314325"/>
                  </a:lnTo>
                  <a:lnTo>
                    <a:pt x="421958" y="421957"/>
                  </a:lnTo>
                  <a:lnTo>
                    <a:pt x="314325" y="544830"/>
                  </a:lnTo>
                  <a:lnTo>
                    <a:pt x="221933" y="675322"/>
                  </a:lnTo>
                  <a:lnTo>
                    <a:pt x="140970" y="815340"/>
                  </a:lnTo>
                  <a:lnTo>
                    <a:pt x="81915" y="966787"/>
                  </a:lnTo>
                  <a:lnTo>
                    <a:pt x="38100" y="1122045"/>
                  </a:lnTo>
                  <a:lnTo>
                    <a:pt x="11430" y="1281112"/>
                  </a:lnTo>
                  <a:lnTo>
                    <a:pt x="0" y="1443037"/>
                  </a:lnTo>
                  <a:lnTo>
                    <a:pt x="11430" y="1605915"/>
                  </a:lnTo>
                  <a:lnTo>
                    <a:pt x="38100" y="1764030"/>
                  </a:lnTo>
                  <a:lnTo>
                    <a:pt x="81915" y="1919287"/>
                  </a:lnTo>
                  <a:lnTo>
                    <a:pt x="140970" y="2070735"/>
                  </a:lnTo>
                  <a:lnTo>
                    <a:pt x="221933" y="2211705"/>
                  </a:lnTo>
                  <a:lnTo>
                    <a:pt x="314325" y="2341245"/>
                  </a:lnTo>
                  <a:lnTo>
                    <a:pt x="421958" y="2464118"/>
                  </a:lnTo>
                  <a:lnTo>
                    <a:pt x="541020" y="2571750"/>
                  </a:lnTo>
                  <a:lnTo>
                    <a:pt x="676275" y="2666048"/>
                  </a:lnTo>
                  <a:lnTo>
                    <a:pt x="817245" y="2741295"/>
                  </a:lnTo>
                  <a:lnTo>
                    <a:pt x="968692" y="2807018"/>
                  </a:lnTo>
                  <a:lnTo>
                    <a:pt x="1125855" y="2849880"/>
                  </a:lnTo>
                  <a:lnTo>
                    <a:pt x="1283018" y="2874645"/>
                  </a:lnTo>
                  <a:lnTo>
                    <a:pt x="1444942" y="2886075"/>
                  </a:lnTo>
                  <a:lnTo>
                    <a:pt x="1606868" y="2874645"/>
                  </a:lnTo>
                  <a:lnTo>
                    <a:pt x="1764030" y="2849880"/>
                  </a:lnTo>
                  <a:lnTo>
                    <a:pt x="1921192" y="2807018"/>
                  </a:lnTo>
                  <a:lnTo>
                    <a:pt x="2072640" y="2741295"/>
                  </a:lnTo>
                  <a:lnTo>
                    <a:pt x="2213610" y="2666048"/>
                  </a:lnTo>
                  <a:lnTo>
                    <a:pt x="2348865" y="2571750"/>
                  </a:lnTo>
                  <a:lnTo>
                    <a:pt x="2467928" y="2464118"/>
                  </a:lnTo>
                  <a:lnTo>
                    <a:pt x="2575560" y="2341245"/>
                  </a:lnTo>
                  <a:lnTo>
                    <a:pt x="2667952" y="2211705"/>
                  </a:lnTo>
                  <a:lnTo>
                    <a:pt x="2748915" y="2070735"/>
                  </a:lnTo>
                  <a:lnTo>
                    <a:pt x="2807970" y="1919287"/>
                  </a:lnTo>
                  <a:lnTo>
                    <a:pt x="2851785" y="1764030"/>
                  </a:lnTo>
                  <a:lnTo>
                    <a:pt x="2878455" y="1605915"/>
                  </a:lnTo>
                  <a:lnTo>
                    <a:pt x="2887980" y="1462087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8" name="Freeform 8"/>
            <p:cNvSpPr/>
            <p:nvPr/>
          </p:nvSpPr>
          <p:spPr>
            <a:xfrm>
              <a:off x="877252" y="3399472"/>
              <a:ext cx="4469130" cy="9525"/>
            </a:xfrm>
            <a:custGeom>
              <a:avLst/>
              <a:gdLst/>
              <a:ahLst/>
              <a:cxnLst/>
              <a:rect l="l" t="t" r="r" b="b"/>
              <a:pathLst>
                <a:path w="4469130" h="9525">
                  <a:moveTo>
                    <a:pt x="0" y="0"/>
                  </a:moveTo>
                  <a:lnTo>
                    <a:pt x="446913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5346382" y="335184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2711768" y="2203132"/>
              <a:ext cx="469583" cy="1161097"/>
            </a:xfrm>
            <a:custGeom>
              <a:avLst/>
              <a:gdLst/>
              <a:ahLst/>
              <a:cxnLst/>
              <a:rect l="l" t="t" r="r" b="b"/>
              <a:pathLst>
                <a:path w="469583" h="1161097">
                  <a:moveTo>
                    <a:pt x="0" y="1161097"/>
                  </a:moveTo>
                  <a:lnTo>
                    <a:pt x="469583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137535" y="2114550"/>
              <a:ext cx="87630" cy="105727"/>
            </a:xfrm>
            <a:custGeom>
              <a:avLst/>
              <a:gdLst/>
              <a:ahLst/>
              <a:cxnLst/>
              <a:rect l="l" t="t" r="r" b="b"/>
              <a:pathLst>
                <a:path w="87630" h="105727">
                  <a:moveTo>
                    <a:pt x="80010" y="0"/>
                  </a:moveTo>
                  <a:lnTo>
                    <a:pt x="87630" y="105727"/>
                  </a:lnTo>
                  <a:lnTo>
                    <a:pt x="0" y="70485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2730818" y="2784158"/>
              <a:ext cx="1125855" cy="597217"/>
            </a:xfrm>
            <a:custGeom>
              <a:avLst/>
              <a:gdLst/>
              <a:ahLst/>
              <a:cxnLst/>
              <a:rect l="l" t="t" r="r" b="b"/>
              <a:pathLst>
                <a:path w="1125855" h="597217">
                  <a:moveTo>
                    <a:pt x="0" y="597217"/>
                  </a:moveTo>
                  <a:lnTo>
                    <a:pt x="1125855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  <a:custDash>
                <a:ds d="333333" sp="222222"/>
              </a:custDash>
            </a:ln>
          </p:spPr>
        </p:sp>
        <p:sp>
          <p:nvSpPr>
            <p:cNvPr id="13" name="Freeform 13"/>
            <p:cNvSpPr/>
            <p:nvPr/>
          </p:nvSpPr>
          <p:spPr>
            <a:xfrm>
              <a:off x="3833812" y="2739390"/>
              <a:ext cx="106680" cy="86677"/>
            </a:xfrm>
            <a:custGeom>
              <a:avLst/>
              <a:gdLst/>
              <a:ahLst/>
              <a:cxnLst/>
              <a:rect l="l" t="t" r="r" b="b"/>
              <a:pathLst>
                <a:path w="106680" h="86677">
                  <a:moveTo>
                    <a:pt x="106680" y="0"/>
                  </a:moveTo>
                  <a:lnTo>
                    <a:pt x="44767" y="86677"/>
                  </a:lnTo>
                  <a:lnTo>
                    <a:pt x="0" y="2857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3238500" y="2118360"/>
              <a:ext cx="9525" cy="1233487"/>
            </a:xfrm>
            <a:custGeom>
              <a:avLst/>
              <a:gdLst/>
              <a:ahLst/>
              <a:cxnLst/>
              <a:rect l="l" t="t" r="r" b="b"/>
              <a:pathLst>
                <a:path w="9525" h="1233487">
                  <a:moveTo>
                    <a:pt x="0" y="0"/>
                  </a:moveTo>
                  <a:lnTo>
                    <a:pt x="0" y="1233487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5" name="Freeform 15"/>
            <p:cNvSpPr/>
            <p:nvPr/>
          </p:nvSpPr>
          <p:spPr>
            <a:xfrm>
              <a:off x="2866072" y="3041332"/>
              <a:ext cx="226695" cy="339090"/>
            </a:xfrm>
            <a:custGeom>
              <a:avLst/>
              <a:gdLst/>
              <a:ahLst/>
              <a:cxnLst/>
              <a:rect l="l" t="t" r="r" b="b"/>
              <a:pathLst>
                <a:path w="226695" h="339090">
                  <a:moveTo>
                    <a:pt x="226695" y="339090"/>
                  </a:moveTo>
                  <a:lnTo>
                    <a:pt x="226695" y="318135"/>
                  </a:lnTo>
                  <a:lnTo>
                    <a:pt x="220980" y="279083"/>
                  </a:lnTo>
                  <a:lnTo>
                    <a:pt x="210503" y="242888"/>
                  </a:lnTo>
                  <a:lnTo>
                    <a:pt x="199073" y="206692"/>
                  </a:lnTo>
                  <a:lnTo>
                    <a:pt x="182880" y="170497"/>
                  </a:lnTo>
                  <a:lnTo>
                    <a:pt x="160973" y="134302"/>
                  </a:lnTo>
                  <a:lnTo>
                    <a:pt x="140018" y="105727"/>
                  </a:lnTo>
                  <a:lnTo>
                    <a:pt x="112395" y="77152"/>
                  </a:lnTo>
                  <a:lnTo>
                    <a:pt x="80010" y="51435"/>
                  </a:lnTo>
                  <a:lnTo>
                    <a:pt x="47625" y="26670"/>
                  </a:lnTo>
                  <a:lnTo>
                    <a:pt x="15240" y="8572"/>
                  </a:ln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4132898" y="338994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4132898" y="338994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848678" y="338994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2668905" y="3370898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3190875" y="2013585"/>
              <a:ext cx="95250" cy="952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3945255" y="2692718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3200400" y="3361372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3083242" y="338994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2839402" y="302228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471418" y="334327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2897505" y="266033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927342" y="2690336"/>
              <a:ext cx="7367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428494" y="3590925"/>
              <a:ext cx="1055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403996" y="3130391"/>
              <a:ext cx="3186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82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ωt + φ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975373" y="2408396"/>
              <a:ext cx="25789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t = 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185019" y="1687354"/>
              <a:ext cx="3241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t 时刻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089948" y="3590925"/>
              <a:ext cx="7993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077302" y="4933474"/>
              <a:ext cx="124035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矢量以 ω 逆时针匀速转动</a:t>
              </a:r>
            </a:p>
          </p:txBody>
        </p:sp>
      </p:grpSp>
      <p:grpSp>
        <p:nvGrpSpPr>
          <p:cNvPr id="69" name="c2-table-1"/>
          <p:cNvGrpSpPr/>
          <p:nvPr/>
        </p:nvGrpSpPr>
        <p:grpSpPr>
          <a:xfrm>
            <a:off x="6248400" y="1524000"/>
            <a:ext cx="5410200" cy="2669858"/>
            <a:chOff x="6248400" y="1524000"/>
            <a:chExt cx="5410200" cy="2669858"/>
          </a:xfrm>
        </p:grpSpPr>
        <p:sp>
          <p:nvSpPr>
            <p:cNvPr id="35" name="Rectangle 35"/>
            <p:cNvSpPr/>
            <p:nvPr/>
          </p:nvSpPr>
          <p:spPr>
            <a:xfrm>
              <a:off x="6248400" y="1524000"/>
              <a:ext cx="5410200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069388" y="1641157"/>
              <a:ext cx="9545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 = 0 时的状态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315069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矢量位置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799232" y="1641157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初相 φ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343079" y="202311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在正最大位移处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428150" y="2023110"/>
              <a:ext cx="3499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沿 +x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964789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248400" y="22821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248400" y="2286952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43079" y="2404110"/>
              <a:ext cx="13937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过平衡位置向 −x 运动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428150" y="2404110"/>
              <a:ext cx="3499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沿 +y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887046" y="2404110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π/2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248400" y="26631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343079" y="278511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在负最大位移处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428150" y="2785110"/>
              <a:ext cx="3499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沿 −x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964789" y="2785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π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248400" y="30451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248400" y="304990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343079" y="3167062"/>
              <a:ext cx="13937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过平衡位置向 +x 运动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428150" y="3167062"/>
              <a:ext cx="3499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沿 −y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10369868" y="3059430"/>
              <a:ext cx="1279208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0848175" y="3167062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−π/2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248400" y="34261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343079" y="3548062"/>
              <a:ext cx="14235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x₀ = A/2，向 −x 运动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315069" y="354806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第一象限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887046" y="3548062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π/3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248400" y="38071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248400" y="381190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343079" y="3930015"/>
              <a:ext cx="14235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x₀ = A/2，向 +x 运动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315069" y="393001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第四象限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848175" y="3930015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−π/3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6248400" y="1524000"/>
              <a:ext cx="5410200" cy="26698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8840152" y="1524000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10355580" y="1524000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8" name="c2-card-2"/>
          <p:cNvGrpSpPr/>
          <p:nvPr/>
        </p:nvGrpSpPr>
        <p:grpSpPr>
          <a:xfrm>
            <a:off x="6248400" y="4358640"/>
            <a:ext cx="5410200" cy="1185862"/>
            <a:chOff x="6248400" y="4358640"/>
            <a:chExt cx="5410200" cy="1185862"/>
          </a:xfrm>
        </p:grpSpPr>
        <p:sp>
          <p:nvSpPr>
            <p:cNvPr id="70" name="Rectangle 70"/>
            <p:cNvSpPr/>
            <p:nvPr/>
          </p:nvSpPr>
          <p:spPr>
            <a:xfrm>
              <a:off x="6248400" y="4358640"/>
              <a:ext cx="5410200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6257925" y="4491990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6467475" y="4539615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556096" y="457247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怎么用</a:t>
              </a:r>
            </a:p>
          </p:txBody>
        </p:sp>
        <p:sp>
          <p:nvSpPr>
            <p:cNvPr id="74" name="Ellipse 74"/>
            <p:cNvSpPr/>
            <p:nvPr/>
          </p:nvSpPr>
          <p:spPr>
            <a:xfrm>
              <a:off x="6477000" y="493204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632448" y="4879181"/>
              <a:ext cx="35798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读初相：按 x₀ 定投影，按速度方向定上下半圆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6477000" y="5216842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632448" y="5164931"/>
              <a:ext cx="28743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求时间：转过的角 Δφ 对应 Δt = Δφ/ω</a:t>
              </a:r>
            </a:p>
          </p:txBody>
        </p:sp>
      </p:grpSp>
      <p:grpSp>
        <p:nvGrpSpPr>
          <p:cNvPr id="84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79" name="Rectangle 79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82" name="Group 82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3" name="TextBox 83"/>
            <p:cNvSpPr txBox="1"/>
            <p:nvPr/>
          </p:nvSpPr>
          <p:spPr>
            <a:xfrm>
              <a:off x="1041273" y="6039326"/>
              <a:ext cx="88913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投影点 P 的坐标 x = A cos(ωt + φ)。矢量逆时针转，指向上半圆时投影点向 −x 运动，这一点决定了 φ 取哪一个值。</a:t>
              </a:r>
            </a:p>
          </p:txBody>
        </p:sp>
      </p:grpSp>
      <p:grpSp>
        <p:nvGrpSpPr>
          <p:cNvPr id="8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5" name="TextBox 85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第2至8章 内容总结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183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325" y="407194"/>
              <a:ext cx="1550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内容总结 · 振动与波动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能量守恒，同频同向的两个振动合成后仍是简谐振动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4977765" cy="2636520"/>
            <a:chOff x="533400" y="1524000"/>
            <a:chExt cx="4977765" cy="26365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2636520"/>
            </a:xfrm>
            <a:prstGeom prst="roundRect">
              <a:avLst>
                <a:gd name="adj" fmla="val 505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36982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557" y="176926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简谐振动的能量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formula15"/>
                <p:cNvSpPr txBox="1">
                  <a:spLocks noGrp="1"/>
                </p:cNvSpPr>
                <p:nvPr/>
              </p:nvSpPr>
              <p:spPr>
                <a:xfrm>
                  <a:off x="781050" y="2085975"/>
                  <a:ext cx="4520565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b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</m:t>
                        </m:r>
                        <m:sSup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p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16"/>
                <p:cNvSpPr txBox="1">
                  <a:spLocks noGrp="1"/>
                </p:cNvSpPr>
                <p:nvPr/>
              </p:nvSpPr>
              <p:spPr>
                <a:xfrm>
                  <a:off x="781050" y="2747010"/>
                  <a:ext cx="4520565" cy="5143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acc>
                              <m:accPr>
                                <m:chr m:val="̅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</m:acc>
                          </m:e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acc>
                              <m:accPr>
                                <m:chr m:val="̅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</m:acc>
                          </m:e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Ellipse 13"/>
            <p:cNvSpPr/>
            <p:nvPr/>
          </p:nvSpPr>
          <p:spPr>
            <a:xfrm>
              <a:off x="786765" y="344424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338137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动能、势能此消彼长，总能量不随时间变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77952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71665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一个周期内动能和势能的平均值各占一半</a:t>
              </a:r>
            </a:p>
          </p:txBody>
        </p:sp>
      </p:grpSp>
      <p:grpSp>
        <p:nvGrpSpPr>
          <p:cNvPr id="24" name="c1-callout-2"/>
          <p:cNvGrpSpPr/>
          <p:nvPr/>
        </p:nvGrpSpPr>
        <p:grpSpPr>
          <a:xfrm>
            <a:off x="533400" y="4351020"/>
            <a:ext cx="4977765" cy="1065848"/>
            <a:chOff x="533400" y="4351020"/>
            <a:chExt cx="4977765" cy="1065848"/>
          </a:xfrm>
        </p:grpSpPr>
        <p:sp>
          <p:nvSpPr>
            <p:cNvPr id="18" name="Rectangle 18"/>
            <p:cNvSpPr/>
            <p:nvPr/>
          </p:nvSpPr>
          <p:spPr>
            <a:xfrm>
              <a:off x="533400" y="4351020"/>
              <a:ext cx="4977765" cy="1065848"/>
            </a:xfrm>
            <a:prstGeom prst="roundRect">
              <a:avLst>
                <a:gd name="adj" fmla="val 10724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38188" y="4783455"/>
              <a:ext cx="200026" cy="200026"/>
              <a:chOff x="738188" y="4783455"/>
              <a:chExt cx="200026" cy="200026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38188" y="478345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38200" y="485013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27088" y="488346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40130" y="4640580"/>
              <a:ext cx="4015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对照后面的机械波：波中质元的动能与势能同相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变化，单个质元的能量不守恒。</a:t>
              </a:r>
            </a:p>
          </p:txBody>
        </p:sp>
      </p:grpSp>
      <p:grpSp>
        <p:nvGrpSpPr>
          <p:cNvPr id="31" name="c2-card-1"/>
          <p:cNvGrpSpPr/>
          <p:nvPr/>
        </p:nvGrpSpPr>
        <p:grpSpPr>
          <a:xfrm>
            <a:off x="5815965" y="1524000"/>
            <a:ext cx="5842635" cy="2355532"/>
            <a:chOff x="5815965" y="1524000"/>
            <a:chExt cx="5842635" cy="2355532"/>
          </a:xfrm>
        </p:grpSpPr>
        <p:sp>
          <p:nvSpPr>
            <p:cNvPr id="25" name="Rectangle 25"/>
            <p:cNvSpPr/>
            <p:nvPr/>
          </p:nvSpPr>
          <p:spPr>
            <a:xfrm>
              <a:off x="5815965" y="1524000"/>
              <a:ext cx="5842635" cy="2355532"/>
            </a:xfrm>
            <a:prstGeom prst="roundRect">
              <a:avLst>
                <a:gd name="adj" fmla="val 5661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025515" y="1733550"/>
              <a:ext cx="1489710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086170" y="1769269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同方向、同频率合成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017895" y="2110740"/>
              <a:ext cx="50539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x₁ = A₁cos(ωt + φ₁)，x₂ = A₂cos(ωt + φ₂)，合振动 x = A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cos(ωt + φ)：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formula17"/>
                <p:cNvSpPr txBox="1">
                  <a:spLocks noGrp="1"/>
                </p:cNvSpPr>
                <p:nvPr/>
              </p:nvSpPr>
              <p:spPr>
                <a:xfrm>
                  <a:off x="6025515" y="2707005"/>
                  <a:ext cx="5423535" cy="411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radPr>
                          <m:deg/>
                          <m:e>
                            <m:sSubSup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sSubSup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func>
                              <m:funcPr/>
                              <m:fName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cos</m:t>
                                </m:r>
                              </m:fName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φ</m:t>
                                        </m:r>
                                      </m:e>
                                      <m:sub>
                                        <m:r>
                                          <a:rPr lang="zh-CN" sz="13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sSub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φ</m:t>
                                        </m:r>
                                      </m:e>
                                      <m:sub>
                                        <m:r>
                                          <a:rPr lang="zh-CN" sz="13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func>
                          </m:e>
                        </m:rad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formula18"/>
                <p:cNvSpPr txBox="1">
                  <a:spLocks noGrp="1"/>
                </p:cNvSpPr>
                <p:nvPr/>
              </p:nvSpPr>
              <p:spPr>
                <a:xfrm>
                  <a:off x="6025515" y="3213735"/>
                  <a:ext cx="5423535" cy="43719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tan</m:t>
                            </m:r>
                          </m:fName>
                          <m:e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φ</m:t>
                            </m:r>
                          </m:e>
                        </m:func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func>
                              <m:funcPr/>
                              <m:fName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sin</m:t>
                                </m:r>
                              </m:fName>
                              <m:e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φ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func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func>
                              <m:funcPr/>
                              <m:fName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sin</m:t>
                                </m:r>
                              </m:fName>
                              <m:e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φ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func>
                          </m:num>
                          <m:den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func>
                              <m:funcPr/>
                              <m:fName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cos</m:t>
                                </m:r>
                              </m:fName>
                              <m:e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φ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func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func>
                              <m:funcPr/>
                              <m:fName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cos</m:t>
                                </m:r>
                              </m:fName>
                              <m:e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φ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func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47" name="c2-table-2"/>
          <p:cNvGrpSpPr/>
          <p:nvPr/>
        </p:nvGrpSpPr>
        <p:grpSpPr>
          <a:xfrm>
            <a:off x="5815965" y="4070032"/>
            <a:ext cx="5842635" cy="1346835"/>
            <a:chOff x="5815965" y="4070032"/>
            <a:chExt cx="5842635" cy="1346835"/>
          </a:xfrm>
        </p:grpSpPr>
        <p:sp>
          <p:nvSpPr>
            <p:cNvPr id="32" name="Rectangle 32"/>
            <p:cNvSpPr/>
            <p:nvPr/>
          </p:nvSpPr>
          <p:spPr>
            <a:xfrm>
              <a:off x="5815965" y="4070032"/>
              <a:ext cx="5842635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294646" y="4205764"/>
              <a:ext cx="16124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相位差 Δφ = φ₂ − φ₁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115273" y="420576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合振幅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836872" y="420576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效果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923788" y="4654391"/>
              <a:ext cx="10007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2kπ（同相）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068780" y="4654391"/>
              <a:ext cx="6228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A₁ + A₂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836872" y="465439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加强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815965" y="496252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815965" y="4967288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923788" y="5103019"/>
              <a:ext cx="13987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(2k+1)π（反相）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014160" y="5103019"/>
              <a:ext cx="7321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|A₁ − A₂|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836872" y="510301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减弱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815965" y="4070032"/>
              <a:ext cx="5842635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8382000" y="4070032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10367962" y="4070032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4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8" name="Rectangle 48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040130" y="5991225"/>
              <a:ext cx="104752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合振幅公式就是两个旋转矢量相加的余弦定理，初相 tanφ 的式子是两矢量分量分别相加；忘了公式就画平行四边形。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第2至8章 内容总结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97906" cy="909257"/>
            <a:chOff x="520446" y="342900"/>
            <a:chExt cx="719790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183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325" y="407194"/>
              <a:ext cx="1550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内容总结 · 振动与波动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9790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 由初始条件写振动方程，再求能量与合振动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760595" cy="1768792"/>
            <a:chOff x="533400" y="1524000"/>
            <a:chExt cx="4760595" cy="17687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768792"/>
            </a:xfrm>
            <a:prstGeom prst="roundRect">
              <a:avLst>
                <a:gd name="adj" fmla="val 75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0209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20052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6630" y="1750695"/>
              <a:ext cx="2336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403421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弹簧振子 k = 10 N/m，m = 0.1 kg；t = 0 时 x₀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0.05 m，v₀ = −0.5√3 m/s（约 −0.866 m/s）。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632710"/>
              <a:ext cx="381990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（1）振动方程；（2）总能量；（3）它与 x₂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0.04cos(10t − π/6) m 合成后的振幅和初相。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3468052"/>
            <a:ext cx="4760595" cy="2138362"/>
            <a:chOff x="533400" y="3468052"/>
            <a:chExt cx="4760595" cy="2138362"/>
          </a:xfrm>
        </p:grpSpPr>
        <p:sp>
          <p:nvSpPr>
            <p:cNvPr id="14" name="Rectangle 14"/>
            <p:cNvSpPr/>
            <p:nvPr/>
          </p:nvSpPr>
          <p:spPr>
            <a:xfrm>
              <a:off x="533400" y="3468052"/>
              <a:ext cx="4760595" cy="2138362"/>
            </a:xfrm>
            <a:prstGeom prst="roundRect">
              <a:avLst>
                <a:gd name="adj" fmla="val 623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601402"/>
              <a:ext cx="47625" cy="187166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63905" y="366045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55345" y="369474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检验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72478" y="4073842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28497" y="4017645"/>
              <a:ext cx="345986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代回 t = 0：x = 0.1cos(π/3) = 0.05 m，v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−1×sin(π/3) = −0.866 m/s，与已知一致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72478" y="463296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28497" y="4576762"/>
              <a:ext cx="335699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两振动相位差 −π/2，合振幅应为 √(0.03² +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0.04²)，正是 0.05 m</a:t>
              </a:r>
            </a:p>
          </p:txBody>
        </p:sp>
      </p:grpSp>
      <p:grpSp>
        <p:nvGrpSpPr>
          <p:cNvPr id="40" name="c2-steps-1"/>
          <p:cNvGrpSpPr/>
          <p:nvPr/>
        </p:nvGrpSpPr>
        <p:grpSpPr>
          <a:xfrm>
            <a:off x="5598795" y="1533525"/>
            <a:ext cx="5687695" cy="2695098"/>
            <a:chOff x="5598795" y="1533525"/>
            <a:chExt cx="5687695" cy="2695098"/>
          </a:xfrm>
        </p:grpSpPr>
        <p:sp>
          <p:nvSpPr>
            <p:cNvPr id="23" name="Rectangle 23"/>
            <p:cNvSpPr/>
            <p:nvPr/>
          </p:nvSpPr>
          <p:spPr>
            <a:xfrm>
              <a:off x="5732145" y="1676400"/>
              <a:ext cx="19050" cy="19678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559879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69241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5598795" y="232791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692419" y="240172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5598795" y="291465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692419" y="29884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5598795" y="350139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692419" y="35752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011037" y="1564957"/>
              <a:ext cx="7680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ω 和 A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012180" y="1833086"/>
              <a:ext cx="508228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ω = √(k/m) = 10 rad/s；A = √(0.05² + 0.866²/10²) = √(0.0025 + 0.0075) =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 m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011037" y="235934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定初相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012180" y="2627471"/>
              <a:ext cx="5235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tanφ = −v₀/(ωx₀) = √3，φ = π/3 或 4π/3；x₀ &gt; 0 要求 cosφ &gt; 0，取 φ = π/3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011037" y="294608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算能量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012180" y="3214211"/>
              <a:ext cx="24319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= ½kA² = ½ × 10 × 0.1² = 0.05 J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011037" y="353282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合成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012180" y="3800951"/>
              <a:ext cx="527431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x₁ 写成 0.03cos(10t + π/3) 时，Δφ = −π/6 − π/3 = −π/2，A = √(0.03² + 0.04²)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0.05 m；tanφ = (0.02598 − 0.02)/(0.015 + 0.03464) = 0.120，φ ≈ 0.12 rad</a:t>
              </a:r>
            </a:p>
          </p:txBody>
        </p:sp>
      </p:grpSp>
      <p:grpSp>
        <p:nvGrpSpPr>
          <p:cNvPr id="45" name="c2-card-2"/>
          <p:cNvGrpSpPr/>
          <p:nvPr/>
        </p:nvGrpSpPr>
        <p:grpSpPr>
          <a:xfrm>
            <a:off x="5598795" y="4396740"/>
            <a:ext cx="6059805" cy="1209675"/>
            <a:chOff x="5598795" y="4396740"/>
            <a:chExt cx="6059805" cy="1209675"/>
          </a:xfrm>
        </p:grpSpPr>
        <p:sp>
          <p:nvSpPr>
            <p:cNvPr id="41" name="Rectangle 41"/>
            <p:cNvSpPr/>
            <p:nvPr/>
          </p:nvSpPr>
          <p:spPr>
            <a:xfrm>
              <a:off x="5598795" y="4396740"/>
              <a:ext cx="6059805" cy="1209675"/>
            </a:xfrm>
            <a:prstGeom prst="roundRect">
              <a:avLst>
                <a:gd name="adj" fmla="val 11024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791200" y="4589145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886641" y="462343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784342" y="4946333"/>
              <a:ext cx="514007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（1）x = 0.1cos(10t + π/3) m；（2）E = 0.05 J；（3）A = 0.05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m，φ ≈ 0.12 rad（约 6.9°）</a:t>
              </a:r>
            </a:p>
          </p:txBody>
        </p:sp>
      </p:grpSp>
      <p:grpSp>
        <p:nvGrpSpPr>
          <p:cNvPr id="52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6" name="Rectangle 46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040892" y="6023610"/>
              <a:ext cx="101819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第（3）问的 x₁ 另设为 0.03cos(10t + π/3) m，用来练合成公式；两个分振动正交（相差 π/2）时，合振幅直接用勾股定理。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第2至8章 内容总结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022445" cy="909257"/>
            <a:chOff x="520446" y="342900"/>
            <a:chExt cx="902244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183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325" y="407194"/>
              <a:ext cx="1550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内容总结 · 振动与波动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02244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求波函数：把某一点的振动沿传播方向「延时」到任意 x 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951220" cy="1253490"/>
            <a:chOff x="533400" y="1524000"/>
            <a:chExt cx="5951220" cy="125349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1253490"/>
            </a:xfrm>
            <a:prstGeom prst="roundRect">
              <a:avLst>
                <a:gd name="adj" fmla="val 106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8679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40684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8612" y="1769269"/>
              <a:ext cx="12926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已知原点 O 的振动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formula21"/>
                <p:cNvSpPr txBox="1">
                  <a:spLocks noGrp="1"/>
                </p:cNvSpPr>
                <p:nvPr/>
              </p:nvSpPr>
              <p:spPr>
                <a:xfrm>
                  <a:off x="781050" y="2085975"/>
                  <a:ext cx="5494020" cy="4629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O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ωt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φ</m:t>
                                </m:r>
                              </m:e>
                            </m:d>
                          </m:e>
                        </m:func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⇒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y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begChr m:val="["/>
                                <m:sepChr m:val=""/>
                                <m:endChr m:val="]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ω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t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∓</m:t>
                                    </m:r>
                                    <m:f>
                                      <m:fPr>
                                        <m:type m:val="bar"/>
                                        <m:ctrl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num>
                                      <m:den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u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φ</m:t>
                                </m:r>
                              </m:e>
                            </m:d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19" name="c1-card-2"/>
          <p:cNvGrpSpPr/>
          <p:nvPr/>
        </p:nvGrpSpPr>
        <p:grpSpPr>
          <a:xfrm>
            <a:off x="533400" y="2967990"/>
            <a:ext cx="5951220" cy="1549718"/>
            <a:chOff x="533400" y="2967990"/>
            <a:chExt cx="5951220" cy="1549718"/>
          </a:xfrm>
        </p:grpSpPr>
        <p:sp>
          <p:nvSpPr>
            <p:cNvPr id="13" name="Rectangle 13"/>
            <p:cNvSpPr/>
            <p:nvPr/>
          </p:nvSpPr>
          <p:spPr>
            <a:xfrm>
              <a:off x="533400" y="2967990"/>
              <a:ext cx="5951220" cy="1549718"/>
            </a:xfrm>
            <a:prstGeom prst="roundRect">
              <a:avLst>
                <a:gd name="adj" fmla="val 860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3101340"/>
              <a:ext cx="47625" cy="1283018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81050" y="3177540"/>
              <a:ext cx="201263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21254" y="3213259"/>
              <a:ext cx="19331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已知 P 点（坐标 x₀）的振动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formula22"/>
                <p:cNvSpPr txBox="1">
                  <a:spLocks noGrp="1"/>
                </p:cNvSpPr>
                <p:nvPr/>
              </p:nvSpPr>
              <p:spPr>
                <a:xfrm>
                  <a:off x="781050" y="3529965"/>
                  <a:ext cx="5494020" cy="4629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ωt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φ</m:t>
                                </m:r>
                              </m:e>
                            </m:d>
                          </m:e>
                        </m:func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⇒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y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begChr m:val="["/>
                                <m:sepChr m:val=""/>
                                <m:endChr m:val="]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ω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t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∓</m:t>
                                    </m:r>
                                    <m:f>
                                      <m:fPr>
                                        <m:type m:val="bar"/>
                                        <m:ctrl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sSub>
                                          <m:e>
                                            <m:r>
                                              <a:rPr lang="zh-CN" sz="13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x</m:t>
                                            </m:r>
                                          </m:e>
                                          <m:sub>
                                            <m:r>
                                              <a:rPr lang="zh-CN" sz="13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u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φ</m:t>
                                </m:r>
                              </m:e>
                            </m:d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8" name="TextBox 18"/>
            <p:cNvSpPr txBox="1"/>
            <p:nvPr/>
          </p:nvSpPr>
          <p:spPr>
            <a:xfrm>
              <a:off x="774573" y="4109561"/>
              <a:ext cx="35591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式中 Δx = x − x₀ 可正可负，u 一律取绝对值。</a:t>
              </a:r>
            </a:p>
          </p:txBody>
        </p:sp>
      </p:grpSp>
      <p:grpSp>
        <p:nvGrpSpPr>
          <p:cNvPr id="26" name="c1-callout-3"/>
          <p:cNvGrpSpPr/>
          <p:nvPr/>
        </p:nvGrpSpPr>
        <p:grpSpPr>
          <a:xfrm>
            <a:off x="533400" y="4708208"/>
            <a:ext cx="5951220" cy="782955"/>
            <a:chOff x="533400" y="4708208"/>
            <a:chExt cx="5951220" cy="782955"/>
          </a:xfrm>
        </p:grpSpPr>
        <p:sp>
          <p:nvSpPr>
            <p:cNvPr id="20" name="Rectangle 20"/>
            <p:cNvSpPr/>
            <p:nvPr/>
          </p:nvSpPr>
          <p:spPr>
            <a:xfrm>
              <a:off x="533400" y="4708208"/>
              <a:ext cx="595122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38188" y="4999673"/>
              <a:ext cx="200026" cy="200025"/>
              <a:chOff x="738188" y="4999673"/>
              <a:chExt cx="200026" cy="200025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738188" y="49996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777926" y="50441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12642" y="51552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040130" y="4856798"/>
              <a:ext cx="49491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ω(t ∓ x/u) + φ 是 x 处质元的相位；x 处的初相是 ∓ωx/u +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φ。</a:t>
              </a:r>
            </a:p>
          </p:txBody>
        </p:sp>
      </p:grpSp>
      <p:grpSp>
        <p:nvGrpSpPr>
          <p:cNvPr id="43" name="c2-table-1"/>
          <p:cNvGrpSpPr/>
          <p:nvPr/>
        </p:nvGrpSpPr>
        <p:grpSpPr>
          <a:xfrm>
            <a:off x="6789420" y="1524000"/>
            <a:ext cx="4869180" cy="1729740"/>
            <a:chOff x="6789420" y="1524000"/>
            <a:chExt cx="4869180" cy="1729740"/>
          </a:xfrm>
        </p:grpSpPr>
        <p:sp>
          <p:nvSpPr>
            <p:cNvPr id="27" name="Rectangle 27"/>
            <p:cNvSpPr/>
            <p:nvPr/>
          </p:nvSpPr>
          <p:spPr>
            <a:xfrm>
              <a:off x="6789420" y="1524000"/>
              <a:ext cx="4869180" cy="48768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108508" y="16630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传播方向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430578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符号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134600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896100" y="2284095"/>
              <a:ext cx="7795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沿 +x 轴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260080" y="2021205"/>
              <a:ext cx="760095" cy="7353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576977" y="228409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136380" y="2150745"/>
              <a:ext cx="223456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处比参考点晚 Δx/u 开始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同样的振动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789420" y="276129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789420" y="2766060"/>
              <a:ext cx="486918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896100" y="2905125"/>
              <a:ext cx="7795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沿 −x 轴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576977" y="29051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136380" y="2905125"/>
              <a:ext cx="19128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处比参考点早 Δx/u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789420" y="1524000"/>
              <a:ext cx="4869180" cy="172974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8245792" y="1524000"/>
              <a:ext cx="9525" cy="17297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9024938" y="1524000"/>
              <a:ext cx="9525" cy="17297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6" name="c2-card-2"/>
          <p:cNvGrpSpPr/>
          <p:nvPr/>
        </p:nvGrpSpPr>
        <p:grpSpPr>
          <a:xfrm>
            <a:off x="6789420" y="3444240"/>
            <a:ext cx="4869180" cy="2046922"/>
            <a:chOff x="6789420" y="3444240"/>
            <a:chExt cx="4869180" cy="2046922"/>
          </a:xfrm>
        </p:grpSpPr>
        <p:sp>
          <p:nvSpPr>
            <p:cNvPr id="44" name="Rectangle 44"/>
            <p:cNvSpPr/>
            <p:nvPr/>
          </p:nvSpPr>
          <p:spPr>
            <a:xfrm>
              <a:off x="6789420" y="3444240"/>
              <a:ext cx="4869180" cy="2046922"/>
            </a:xfrm>
            <a:prstGeom prst="roundRect">
              <a:avLst>
                <a:gd name="adj" fmla="val 6515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998970" y="365379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072427" y="368950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三步写波函数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998970" y="401764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060819" y="405993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299960" y="4030980"/>
              <a:ext cx="34476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写出参考点的振动方程，定出 A、ω、φ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998970" y="435292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060819" y="439521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299960" y="4366260"/>
              <a:ext cx="38115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看传播方向定符号：+x 取减号，−x 取加号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998970" y="468820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060819" y="473049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299960" y="4701540"/>
              <a:ext cx="39014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 x − x₀ 算延时，再把常数相位化简到一个周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期内</a:t>
              </a:r>
            </a:p>
          </p:txBody>
        </p:sp>
      </p:grpSp>
      <p:grpSp>
        <p:nvGrpSpPr>
          <p:cNvPr id="63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7" name="Rectangle 57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040130" y="5991225"/>
              <a:ext cx="102338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易错：已知的是 P 点振动时，直接把 x/u 套进去是错的，必须用 (x − x₀)/u；写完令 x = x₀ 代回，应还原成 yP。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第2至8章 内容总结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62076" cy="909257"/>
            <a:chOff x="520446" y="342900"/>
            <a:chExt cx="756207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183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325" y="407194"/>
              <a:ext cx="1550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内容总结 · 振动与波动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6207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例2 已知 P 点的振动方程，写沿 ±x 传播的波函数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977765" cy="1768792"/>
            <a:chOff x="533400" y="1524000"/>
            <a:chExt cx="4977765" cy="17687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768792"/>
            </a:xfrm>
            <a:prstGeom prst="roundRect">
              <a:avLst>
                <a:gd name="adj" fmla="val 75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0209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20052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6630" y="1750695"/>
              <a:ext cx="2336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429139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平面简谐波波速 u = 2 m/s，x₀ = 0.25 m 处 P 点的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振动方程 yP = 0.02cos(4πt + π/3) m。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632710"/>
              <a:ext cx="424853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波沿 +x 和沿 −x 传播时的波函数，以及原点的振动方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程。</a:t>
              </a:r>
            </a:p>
          </p:txBody>
        </p:sp>
      </p:grpSp>
      <p:grpSp>
        <p:nvGrpSpPr>
          <p:cNvPr id="34" name="c1-graph-2"/>
          <p:cNvGrpSpPr/>
          <p:nvPr/>
        </p:nvGrpSpPr>
        <p:grpSpPr>
          <a:xfrm>
            <a:off x="722948" y="3588068"/>
            <a:ext cx="4628892" cy="1827846"/>
            <a:chOff x="722948" y="3588068"/>
            <a:chExt cx="4628892" cy="1827846"/>
          </a:xfrm>
        </p:grpSpPr>
        <p:sp>
          <p:nvSpPr>
            <p:cNvPr id="14" name="Freeform 14"/>
            <p:cNvSpPr/>
            <p:nvPr/>
          </p:nvSpPr>
          <p:spPr>
            <a:xfrm>
              <a:off x="945832" y="3746182"/>
              <a:ext cx="4151948" cy="1431608"/>
            </a:xfrm>
            <a:custGeom>
              <a:avLst/>
              <a:gdLst/>
              <a:ahLst/>
              <a:cxnLst/>
              <a:rect l="l" t="t" r="r" b="b"/>
              <a:pathLst>
                <a:path w="4151948" h="1431608">
                  <a:moveTo>
                    <a:pt x="0" y="1323023"/>
                  </a:moveTo>
                  <a:lnTo>
                    <a:pt x="30480" y="1294448"/>
                  </a:lnTo>
                  <a:lnTo>
                    <a:pt x="80010" y="1248727"/>
                  </a:lnTo>
                  <a:lnTo>
                    <a:pt x="124778" y="1194435"/>
                  </a:lnTo>
                  <a:lnTo>
                    <a:pt x="169545" y="1137285"/>
                  </a:lnTo>
                  <a:lnTo>
                    <a:pt x="220028" y="1073468"/>
                  </a:lnTo>
                  <a:lnTo>
                    <a:pt x="264795" y="1005840"/>
                  </a:lnTo>
                  <a:lnTo>
                    <a:pt x="309563" y="936308"/>
                  </a:lnTo>
                  <a:lnTo>
                    <a:pt x="359092" y="864870"/>
                  </a:lnTo>
                  <a:lnTo>
                    <a:pt x="403860" y="791527"/>
                  </a:lnTo>
                  <a:lnTo>
                    <a:pt x="448628" y="716280"/>
                  </a:lnTo>
                  <a:lnTo>
                    <a:pt x="498158" y="640080"/>
                  </a:lnTo>
                  <a:lnTo>
                    <a:pt x="542925" y="566738"/>
                  </a:lnTo>
                  <a:lnTo>
                    <a:pt x="587692" y="495300"/>
                  </a:lnTo>
                  <a:lnTo>
                    <a:pt x="638175" y="425767"/>
                  </a:lnTo>
                  <a:lnTo>
                    <a:pt x="682942" y="358140"/>
                  </a:lnTo>
                  <a:lnTo>
                    <a:pt x="727710" y="294322"/>
                  </a:lnTo>
                  <a:lnTo>
                    <a:pt x="777240" y="237172"/>
                  </a:lnTo>
                  <a:lnTo>
                    <a:pt x="822008" y="182880"/>
                  </a:lnTo>
                  <a:lnTo>
                    <a:pt x="866775" y="137160"/>
                  </a:lnTo>
                  <a:lnTo>
                    <a:pt x="916305" y="95250"/>
                  </a:lnTo>
                  <a:lnTo>
                    <a:pt x="961072" y="61912"/>
                  </a:lnTo>
                  <a:lnTo>
                    <a:pt x="1005840" y="36195"/>
                  </a:lnTo>
                  <a:lnTo>
                    <a:pt x="1056322" y="16192"/>
                  </a:lnTo>
                  <a:lnTo>
                    <a:pt x="1101090" y="3810"/>
                  </a:lnTo>
                  <a:lnTo>
                    <a:pt x="1145858" y="0"/>
                  </a:lnTo>
                  <a:lnTo>
                    <a:pt x="1195388" y="3810"/>
                  </a:lnTo>
                  <a:lnTo>
                    <a:pt x="1240155" y="16192"/>
                  </a:lnTo>
                  <a:lnTo>
                    <a:pt x="1284922" y="36195"/>
                  </a:lnTo>
                  <a:lnTo>
                    <a:pt x="1334453" y="61912"/>
                  </a:lnTo>
                  <a:lnTo>
                    <a:pt x="1379220" y="95250"/>
                  </a:lnTo>
                  <a:lnTo>
                    <a:pt x="1423988" y="137160"/>
                  </a:lnTo>
                  <a:lnTo>
                    <a:pt x="1474470" y="182880"/>
                  </a:lnTo>
                  <a:lnTo>
                    <a:pt x="1519238" y="237172"/>
                  </a:lnTo>
                  <a:lnTo>
                    <a:pt x="1564005" y="294322"/>
                  </a:lnTo>
                  <a:lnTo>
                    <a:pt x="1613535" y="358140"/>
                  </a:lnTo>
                  <a:lnTo>
                    <a:pt x="1658302" y="425767"/>
                  </a:lnTo>
                  <a:lnTo>
                    <a:pt x="1703070" y="495300"/>
                  </a:lnTo>
                  <a:lnTo>
                    <a:pt x="1752600" y="566738"/>
                  </a:lnTo>
                  <a:lnTo>
                    <a:pt x="1797368" y="640080"/>
                  </a:lnTo>
                  <a:lnTo>
                    <a:pt x="1842135" y="716280"/>
                  </a:lnTo>
                  <a:lnTo>
                    <a:pt x="1891665" y="791527"/>
                  </a:lnTo>
                  <a:lnTo>
                    <a:pt x="1936432" y="864870"/>
                  </a:lnTo>
                  <a:lnTo>
                    <a:pt x="1982152" y="936308"/>
                  </a:lnTo>
                  <a:lnTo>
                    <a:pt x="2031682" y="1005840"/>
                  </a:lnTo>
                  <a:lnTo>
                    <a:pt x="2076450" y="1073468"/>
                  </a:lnTo>
                  <a:lnTo>
                    <a:pt x="2121218" y="1137285"/>
                  </a:lnTo>
                  <a:lnTo>
                    <a:pt x="2170748" y="1194435"/>
                  </a:lnTo>
                  <a:lnTo>
                    <a:pt x="2215515" y="1248727"/>
                  </a:lnTo>
                  <a:lnTo>
                    <a:pt x="2260282" y="1294448"/>
                  </a:lnTo>
                  <a:lnTo>
                    <a:pt x="2309812" y="1336358"/>
                  </a:lnTo>
                  <a:lnTo>
                    <a:pt x="2354580" y="1369695"/>
                  </a:lnTo>
                  <a:lnTo>
                    <a:pt x="2399348" y="1395412"/>
                  </a:lnTo>
                  <a:lnTo>
                    <a:pt x="2449830" y="1415415"/>
                  </a:lnTo>
                  <a:lnTo>
                    <a:pt x="2494598" y="1427798"/>
                  </a:lnTo>
                  <a:lnTo>
                    <a:pt x="2539365" y="1431608"/>
                  </a:lnTo>
                  <a:lnTo>
                    <a:pt x="2588895" y="1427798"/>
                  </a:lnTo>
                  <a:lnTo>
                    <a:pt x="2633662" y="1415415"/>
                  </a:lnTo>
                  <a:lnTo>
                    <a:pt x="2678430" y="1395412"/>
                  </a:lnTo>
                  <a:lnTo>
                    <a:pt x="2727960" y="1369695"/>
                  </a:lnTo>
                  <a:lnTo>
                    <a:pt x="2772727" y="1336358"/>
                  </a:lnTo>
                  <a:lnTo>
                    <a:pt x="2817495" y="1294448"/>
                  </a:lnTo>
                  <a:lnTo>
                    <a:pt x="2867977" y="1248727"/>
                  </a:lnTo>
                  <a:lnTo>
                    <a:pt x="2912745" y="1194435"/>
                  </a:lnTo>
                  <a:lnTo>
                    <a:pt x="2957512" y="1137285"/>
                  </a:lnTo>
                  <a:lnTo>
                    <a:pt x="3007042" y="1073468"/>
                  </a:lnTo>
                  <a:lnTo>
                    <a:pt x="3051810" y="1005840"/>
                  </a:lnTo>
                  <a:lnTo>
                    <a:pt x="3096577" y="936308"/>
                  </a:lnTo>
                  <a:lnTo>
                    <a:pt x="3146108" y="864870"/>
                  </a:lnTo>
                  <a:lnTo>
                    <a:pt x="3190875" y="791527"/>
                  </a:lnTo>
                  <a:lnTo>
                    <a:pt x="3235642" y="716280"/>
                  </a:lnTo>
                  <a:lnTo>
                    <a:pt x="3286125" y="640080"/>
                  </a:lnTo>
                  <a:lnTo>
                    <a:pt x="3330892" y="566738"/>
                  </a:lnTo>
                  <a:lnTo>
                    <a:pt x="3375660" y="495300"/>
                  </a:lnTo>
                  <a:lnTo>
                    <a:pt x="3425190" y="425767"/>
                  </a:lnTo>
                  <a:lnTo>
                    <a:pt x="3469958" y="358140"/>
                  </a:lnTo>
                  <a:lnTo>
                    <a:pt x="3514725" y="294322"/>
                  </a:lnTo>
                  <a:lnTo>
                    <a:pt x="3564255" y="237172"/>
                  </a:lnTo>
                  <a:lnTo>
                    <a:pt x="3609022" y="182880"/>
                  </a:lnTo>
                  <a:lnTo>
                    <a:pt x="3653790" y="137160"/>
                  </a:lnTo>
                  <a:lnTo>
                    <a:pt x="3704272" y="95250"/>
                  </a:lnTo>
                  <a:lnTo>
                    <a:pt x="3749040" y="61912"/>
                  </a:lnTo>
                  <a:lnTo>
                    <a:pt x="3793808" y="36195"/>
                  </a:lnTo>
                  <a:lnTo>
                    <a:pt x="3843338" y="16192"/>
                  </a:lnTo>
                  <a:lnTo>
                    <a:pt x="3888105" y="3810"/>
                  </a:lnTo>
                  <a:lnTo>
                    <a:pt x="3932873" y="0"/>
                  </a:lnTo>
                  <a:lnTo>
                    <a:pt x="3982402" y="3810"/>
                  </a:lnTo>
                  <a:lnTo>
                    <a:pt x="4027170" y="16192"/>
                  </a:lnTo>
                  <a:lnTo>
                    <a:pt x="4071937" y="36195"/>
                  </a:lnTo>
                  <a:lnTo>
                    <a:pt x="4122420" y="61912"/>
                  </a:lnTo>
                  <a:lnTo>
                    <a:pt x="4151948" y="8382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751522" y="4462462"/>
              <a:ext cx="4395788" cy="9525"/>
            </a:xfrm>
            <a:custGeom>
              <a:avLst/>
              <a:gdLst/>
              <a:ahLst/>
              <a:cxnLst/>
              <a:rect l="l" t="t" r="r" b="b"/>
              <a:pathLst>
                <a:path w="4395788" h="9525">
                  <a:moveTo>
                    <a:pt x="0" y="0"/>
                  </a:moveTo>
                  <a:lnTo>
                    <a:pt x="4395788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5147310" y="441483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3837622" y="3667125"/>
              <a:ext cx="762953" cy="9525"/>
            </a:xfrm>
            <a:custGeom>
              <a:avLst/>
              <a:gdLst/>
              <a:ahLst/>
              <a:cxnLst/>
              <a:rect l="l" t="t" r="r" b="b"/>
              <a:pathLst>
                <a:path w="762953" h="9525">
                  <a:moveTo>
                    <a:pt x="0" y="0"/>
                  </a:moveTo>
                  <a:lnTo>
                    <a:pt x="762953" y="0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4600575" y="36195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922020" y="507301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5103495" y="383190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722948" y="445293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883920" y="5034915"/>
              <a:ext cx="95250" cy="952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1581150" y="4056698"/>
              <a:ext cx="95250" cy="952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3809048" y="365760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4705350" y="365760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272346" y="440626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199572" y="358806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231128" y="361807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u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78776" y="5239702"/>
              <a:ext cx="1055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588808" y="3689032"/>
              <a:ext cx="7993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229220" y="4531519"/>
              <a:ext cx="19166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0.5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622727" y="4531519"/>
              <a:ext cx="19166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1.0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893790" y="5167789"/>
              <a:ext cx="125139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 = 0 波形（沿 +x 传播）</a:t>
              </a:r>
            </a:p>
          </p:txBody>
        </p:sp>
      </p:grpSp>
      <p:grpSp>
        <p:nvGrpSpPr>
          <p:cNvPr id="52" name="c2-steps-1"/>
          <p:cNvGrpSpPr/>
          <p:nvPr/>
        </p:nvGrpSpPr>
        <p:grpSpPr>
          <a:xfrm>
            <a:off x="5815965" y="1533525"/>
            <a:ext cx="5611454" cy="2279809"/>
            <a:chOff x="5815965" y="1533525"/>
            <a:chExt cx="5611454" cy="2279809"/>
          </a:xfrm>
        </p:grpSpPr>
        <p:sp>
          <p:nvSpPr>
            <p:cNvPr id="35" name="Rectangle 35"/>
            <p:cNvSpPr/>
            <p:nvPr/>
          </p:nvSpPr>
          <p:spPr>
            <a:xfrm>
              <a:off x="5949315" y="1676400"/>
              <a:ext cx="19050" cy="176117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581596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90958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5815965" y="212026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909589" y="2194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5815965" y="270700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909589" y="27808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5815965" y="329469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909589" y="33685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228207" y="1564957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读出参数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229350" y="1833086"/>
              <a:ext cx="37577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ω = 4π rad/s，T = 0.5 s，λ = uT = 1 m，ω/u = 2π m⁻¹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228207" y="2152650"/>
              <a:ext cx="8833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沿 +x 传播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229350" y="2419826"/>
              <a:ext cx="51980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= 0.02cos[4π(t − (x − 0.25)/2) + π/3] = 0.02cos(4πt − 2πx + 5π/6) m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228207" y="2739390"/>
              <a:ext cx="8833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沿 −x 传播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229350" y="3006566"/>
              <a:ext cx="51151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= 0.02cos[4π(t + (x − 0.25)/2) + π/3] = 0.02cos(4πt + 2πx − π/6) m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228207" y="3326130"/>
              <a:ext cx="15530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原点振动（沿 +x）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229350" y="3593306"/>
              <a:ext cx="38184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 x = 0：yO = 0.02cos(4πt + 5π/6) m，比 P 超前 π/2</a:t>
              </a:r>
            </a:p>
          </p:txBody>
        </p:sp>
      </p:grpSp>
      <p:grpSp>
        <p:nvGrpSpPr>
          <p:cNvPr id="58" name="c2-card-2"/>
          <p:cNvGrpSpPr/>
          <p:nvPr/>
        </p:nvGrpSpPr>
        <p:grpSpPr>
          <a:xfrm>
            <a:off x="5815965" y="3982402"/>
            <a:ext cx="5842635" cy="1473518"/>
            <a:chOff x="5815965" y="3982402"/>
            <a:chExt cx="5842635" cy="1473518"/>
          </a:xfrm>
        </p:grpSpPr>
        <p:sp>
          <p:nvSpPr>
            <p:cNvPr id="53" name="Rectangle 53"/>
            <p:cNvSpPr/>
            <p:nvPr/>
          </p:nvSpPr>
          <p:spPr>
            <a:xfrm>
              <a:off x="5815965" y="3982402"/>
              <a:ext cx="5842635" cy="1473518"/>
            </a:xfrm>
            <a:prstGeom prst="roundRect">
              <a:avLst>
                <a:gd name="adj" fmla="val 905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008370" y="4174808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103811" y="420909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001512" y="4531995"/>
              <a:ext cx="503720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+x：y = 0.02cos(4πt − 2πx + 5π/6) m；−x：y = 0.02cos(4πt +</a:t>
              </a:r>
              <a:br/>
              <a:r>
                <a:rPr lang="el-GR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2πx − π/6) m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002655" y="5087779"/>
              <a:ext cx="50645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检验：两式令 x = 0.25 m 都还原成 yP；O 在 P 上游 λ/4，超前 π/2 合理。</a:t>
              </a:r>
            </a:p>
          </p:txBody>
        </p:sp>
      </p:grpSp>
      <p:grpSp>
        <p:nvGrpSpPr>
          <p:cNvPr id="65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9" name="Rectangle 59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040892" y="6023610"/>
              <a:ext cx="101650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变式：若题目给的是 t = 0 的波形图，先由图读 λ、A，再用「下一时刻波形平移」判断 O 点速度方向，定出 φ 后照本页写法。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第2至8章 内容总结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183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325" y="407194"/>
              <a:ext cx="1550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内容总结 · 振动与波动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波的能量：质元的动能与势能同相，能量随波流动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35"/>
              <p:cNvSpPr txBox="1">
                <a:spLocks noGrp="1"/>
              </p:cNvSpPr>
              <p:nvPr/>
            </p:nvSpPr>
            <p:spPr>
              <a:xfrm>
                <a:off x="533400" y="1524000"/>
                <a:ext cx="5626418" cy="4371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w</m:t>
                      </m:r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dE</m:t>
                          </m:r>
                        </m:num>
                        <m:den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dV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ρ</m:t>
                      </m:r>
                      <m:sSup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p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sSup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ω</m:t>
                          </m:r>
                        </m:e>
                        <m:sup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func>
                        <m:funcPr/>
                        <m:fName>
                          <m:sSup>
                            <m:e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ω</m:t>
                          </m:r>
                        </m:e>
                      </m:func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type m:val="bar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num>
                            <m:den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u</m:t>
                              </m:r>
                            </m:den>
                          </m:f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formula36"/>
              <p:cNvSpPr txBox="1">
                <a:spLocks noGrp="1"/>
              </p:cNvSpPr>
              <p:nvPr/>
            </p:nvSpPr>
            <p:spPr>
              <a:xfrm>
                <a:off x="533400" y="2136458"/>
                <a:ext cx="5626418" cy="4533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̅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w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den>
                      </m:f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ff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  <m:sup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p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w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dt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ρ</m:t>
                      </m:r>
                      <m:sSup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p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sSup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ω</m:t>
                          </m:r>
                        </m:e>
                        <m:sup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37"/>
              <p:cNvSpPr txBox="1">
                <a:spLocks noGrp="1"/>
              </p:cNvSpPr>
              <p:nvPr/>
            </p:nvSpPr>
            <p:spPr>
              <a:xfrm>
                <a:off x="533400" y="2765108"/>
                <a:ext cx="5626418" cy="4371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̅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w</m:t>
                          </m:r>
                        </m:e>
                      </m:acc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uS</m:t>
                      </m:r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I</m:t>
                      </m:r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</m:e>
                          </m:acc>
                        </m:num>
                        <m:den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w</m:t>
                          </m:r>
                        </m:e>
                      </m:acc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u</m:t>
                      </m:r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ρ</m:t>
                      </m:r>
                      <m:sSup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p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sSup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ω</m:t>
                          </m:r>
                        </m:e>
                        <m:sup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u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18" name="c1-kv-4"/>
          <p:cNvGrpSpPr/>
          <p:nvPr/>
        </p:nvGrpSpPr>
        <p:grpSpPr>
          <a:xfrm>
            <a:off x="526542" y="3399472"/>
            <a:ext cx="5633276" cy="1059371"/>
            <a:chOff x="526542" y="3399472"/>
            <a:chExt cx="5633276" cy="1059371"/>
          </a:xfrm>
        </p:grpSpPr>
        <p:sp>
          <p:nvSpPr>
            <p:cNvPr id="10" name="TextBox 10"/>
            <p:cNvSpPr txBox="1"/>
            <p:nvPr/>
          </p:nvSpPr>
          <p:spPr>
            <a:xfrm>
              <a:off x="526542" y="3399472"/>
              <a:ext cx="9410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能量密度 w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85734" y="339947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单位体积内的波动能量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368808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6542" y="3796665"/>
              <a:ext cx="9120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平均能流 P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85734" y="3796665"/>
              <a:ext cx="25971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单位时间通过面积 S 的平均能量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408622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6542" y="4194810"/>
              <a:ext cx="8616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能流密度 I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85734" y="4194810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通过垂直于波线的单位面积的平均功率（波的强度）</a:t>
              </a:r>
            </a:p>
          </p:txBody>
        </p:sp>
      </p:grpSp>
      <p:grpSp>
        <p:nvGrpSpPr>
          <p:cNvPr id="25" name="c1-callout-5"/>
          <p:cNvGrpSpPr/>
          <p:nvPr/>
        </p:nvGrpSpPr>
        <p:grpSpPr>
          <a:xfrm>
            <a:off x="533400" y="4580572"/>
            <a:ext cx="5626418" cy="1013460"/>
            <a:chOff x="533400" y="4580572"/>
            <a:chExt cx="5626418" cy="1013460"/>
          </a:xfrm>
        </p:grpSpPr>
        <p:sp>
          <p:nvSpPr>
            <p:cNvPr id="19" name="Rectangle 19"/>
            <p:cNvSpPr/>
            <p:nvPr/>
          </p:nvSpPr>
          <p:spPr>
            <a:xfrm>
              <a:off x="533400" y="4580572"/>
              <a:ext cx="5626418" cy="1013460"/>
            </a:xfrm>
            <a:prstGeom prst="roundRect">
              <a:avLst>
                <a:gd name="adj" fmla="val 11278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38188" y="4988243"/>
              <a:ext cx="200026" cy="200026"/>
              <a:chOff x="738188" y="4988243"/>
              <a:chExt cx="200026" cy="200026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38188" y="498824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38200" y="505491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27088" y="508825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040892" y="4869180"/>
              <a:ext cx="449713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球面波：同样的功率摊到 4πr² 上，I ∝ 1/r²，所以振幅 A ∝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1/r。</a:t>
              </a:r>
            </a:p>
          </p:txBody>
        </p:sp>
      </p:grpSp>
      <p:grpSp>
        <p:nvGrpSpPr>
          <p:cNvPr id="51" name="c2-table-1"/>
          <p:cNvGrpSpPr/>
          <p:nvPr/>
        </p:nvGrpSpPr>
        <p:grpSpPr>
          <a:xfrm>
            <a:off x="6464618" y="1524000"/>
            <a:ext cx="5193982" cy="2428875"/>
            <a:chOff x="6464618" y="1524000"/>
            <a:chExt cx="5193982" cy="2428875"/>
          </a:xfrm>
        </p:grpSpPr>
        <p:sp>
          <p:nvSpPr>
            <p:cNvPr id="26" name="Rectangle 26"/>
            <p:cNvSpPr/>
            <p:nvPr/>
          </p:nvSpPr>
          <p:spPr>
            <a:xfrm>
              <a:off x="6464618" y="1524000"/>
              <a:ext cx="5193982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983451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18297" y="164830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孤立简谐振子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314876" y="164830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波中的质元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564630" y="215407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动能与势能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915275" y="215407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此消彼长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836468" y="2054066"/>
              <a:ext cx="157607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同相：同时最大、同时为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零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464618" y="253079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464618" y="2535555"/>
              <a:ext cx="5193982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64630" y="27598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总能量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915275" y="2759869"/>
              <a:ext cx="8048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守恒，½kA²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9745980" y="2545080"/>
              <a:ext cx="1903095" cy="58674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836468" y="2659856"/>
              <a:ext cx="151917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0 与 ρdVω²A² 之间周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期变化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464618" y="313658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64630" y="326564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能量最大处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915275" y="326564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836468" y="326564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平衡位置（形变最大）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464618" y="354234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464618" y="3547110"/>
              <a:ext cx="519398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64630" y="367141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能量最小处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915275" y="367141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836468" y="367141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最大位移处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464618" y="1524000"/>
              <a:ext cx="5193982" cy="24288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7810500" y="1524000"/>
              <a:ext cx="9525" cy="24288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9731692" y="1524000"/>
              <a:ext cx="9525" cy="24288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7" name="c2-card-2"/>
          <p:cNvGrpSpPr/>
          <p:nvPr/>
        </p:nvGrpSpPr>
        <p:grpSpPr>
          <a:xfrm>
            <a:off x="6464618" y="4128135"/>
            <a:ext cx="5193982" cy="1466850"/>
            <a:chOff x="6464618" y="4128135"/>
            <a:chExt cx="5193982" cy="1466850"/>
          </a:xfrm>
        </p:grpSpPr>
        <p:sp>
          <p:nvSpPr>
            <p:cNvPr id="52" name="Rectangle 52"/>
            <p:cNvSpPr/>
            <p:nvPr/>
          </p:nvSpPr>
          <p:spPr>
            <a:xfrm>
              <a:off x="6464618" y="4128135"/>
              <a:ext cx="5193982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474142" y="4261485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695122" y="4320540"/>
              <a:ext cx="15430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754558" y="435483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为什么质元能量不守恒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688264" y="4676775"/>
              <a:ext cx="44714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质元始终受前后相邻质元的作用力，不断从上游接收能量、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向下游传出，所以单个质元的能量不守恒，能量随波一起流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动。</a:t>
              </a:r>
            </a:p>
          </p:txBody>
        </p:sp>
      </p:grpSp>
      <p:grpSp>
        <p:nvGrpSpPr>
          <p:cNvPr id="63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8" name="Rectangle 58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040892" y="6023610"/>
              <a:ext cx="76830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强度 I ∝ A²ω²：振幅加倍，强度变为 4 倍。平面波在无吸收介质中振幅不变，所以各处 I 相同。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第2至8章 内容总结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183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325" y="407194"/>
              <a:ext cx="1550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内容总结 · 振动与波动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波的干涉：相干三条件，合振幅看相位差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card-1"/>
          <p:cNvGrpSpPr/>
          <p:nvPr/>
        </p:nvGrpSpPr>
        <p:grpSpPr>
          <a:xfrm>
            <a:off x="533400" y="1524000"/>
            <a:ext cx="4760595" cy="1997392"/>
            <a:chOff x="533400" y="1524000"/>
            <a:chExt cx="4760595" cy="19973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997392"/>
            </a:xfrm>
            <a:prstGeom prst="roundRect">
              <a:avLst>
                <a:gd name="adj" fmla="val 66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3069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3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相干条件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1050" y="209740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2899" y="213969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82040" y="211074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频率相同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1050" y="243268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2899" y="24749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82040" y="244602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振动方向相同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1050" y="276796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2899" y="281025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82040" y="278130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相位差恒定（或相位相同）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4573" y="3113246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三条缺一条，叠加后都看不到稳定的加强、减弱分布。</a:t>
              </a:r>
            </a:p>
          </p:txBody>
        </p:sp>
      </p:grpSp>
      <p:grpSp>
        <p:nvGrpSpPr>
          <p:cNvPr id="31" name="c1-card-2"/>
          <p:cNvGrpSpPr/>
          <p:nvPr/>
        </p:nvGrpSpPr>
        <p:grpSpPr>
          <a:xfrm>
            <a:off x="533400" y="3711892"/>
            <a:ext cx="4760595" cy="1701165"/>
            <a:chOff x="533400" y="3711892"/>
            <a:chExt cx="4760595" cy="1701165"/>
          </a:xfrm>
        </p:grpSpPr>
        <p:sp>
          <p:nvSpPr>
            <p:cNvPr id="22" name="Rectangle 22"/>
            <p:cNvSpPr/>
            <p:nvPr/>
          </p:nvSpPr>
          <p:spPr>
            <a:xfrm>
              <a:off x="533400" y="3711892"/>
              <a:ext cx="4760595" cy="1701165"/>
            </a:xfrm>
            <a:prstGeom prst="roundRect">
              <a:avLst>
                <a:gd name="adj" fmla="val 78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42925" y="3845242"/>
              <a:ext cx="47625" cy="143446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81050" y="3921442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54507" y="395716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两波源同相时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73430" y="4298632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φ₁ = φ₂ 时只剩波程差 δ = r₂ − r₁：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86765" y="4696778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44880" y="4633912"/>
              <a:ext cx="11864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 = kλ：加强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86765" y="5032058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44880" y="4969192"/>
              <a:ext cx="19638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 = (2k+1)λ/2：减弱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formula40"/>
              <p:cNvSpPr txBox="1">
                <a:spLocks noGrp="1"/>
              </p:cNvSpPr>
              <p:nvPr/>
            </p:nvSpPr>
            <p:spPr>
              <a:xfrm>
                <a:off x="5598795" y="1524000"/>
                <a:ext cx="6059805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radPr>
                        <m:deg/>
                        <m:e>
                          <m:sSubSup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sSubSup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cos</m:t>
                              </m:r>
                            </m:fName>
                            <m:e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Δ</m:t>
                              </m:r>
                            </m:e>
                          </m:func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φ</m:t>
                          </m:r>
                        </m:e>
                      </m:rad>
                    </m:oMath>
                  </m:oMathPara>
                </a14:m>
              </a:p>
            </p:txBody>
          </p:sp>
        </mc:Choice>
      </mc:AlternateContent>
      <p:grpSp>
        <p:nvGrpSpPr>
          <p:cNvPr id="37" name="c2-card-2"/>
          <p:cNvGrpSpPr/>
          <p:nvPr/>
        </p:nvGrpSpPr>
        <p:grpSpPr>
          <a:xfrm>
            <a:off x="5598795" y="2171700"/>
            <a:ext cx="6059805" cy="1356360"/>
            <a:chOff x="5598795" y="2171700"/>
            <a:chExt cx="6059805" cy="1356360"/>
          </a:xfrm>
        </p:grpSpPr>
        <p:sp>
          <p:nvSpPr>
            <p:cNvPr id="33" name="Rectangle 33"/>
            <p:cNvSpPr/>
            <p:nvPr/>
          </p:nvSpPr>
          <p:spPr>
            <a:xfrm>
              <a:off x="5598795" y="2171700"/>
              <a:ext cx="6059805" cy="1356360"/>
            </a:xfrm>
            <a:prstGeom prst="roundRect">
              <a:avLst>
                <a:gd name="adj" fmla="val 9831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808345" y="2381250"/>
              <a:ext cx="2559368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833773" y="2416969"/>
              <a:ext cx="25094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相位差（P 点到两波源距离 r₁、r₂）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formula41"/>
                <p:cNvSpPr txBox="1">
                  <a:spLocks noGrp="1"/>
                </p:cNvSpPr>
                <p:nvPr/>
              </p:nvSpPr>
              <p:spPr>
                <a:xfrm>
                  <a:off x="5808345" y="2733675"/>
                  <a:ext cx="5640705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Δ</m:t>
                        </m:r>
                        <m:r>
                          <a:rPr lang="zh-CN" sz="16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φ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φ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sSub>
                          <m:e>
                            <m: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φ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6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2π</m:t>
                        </m:r>
                        <m:f>
                          <m:fPr>
                            <m:type m:val="bar"/>
                            <m:ctrlP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54" name="c2-table-3"/>
          <p:cNvGrpSpPr/>
          <p:nvPr/>
        </p:nvGrpSpPr>
        <p:grpSpPr>
          <a:xfrm>
            <a:off x="5593080" y="3718560"/>
            <a:ext cx="6065520" cy="1642587"/>
            <a:chOff x="5593080" y="3718560"/>
            <a:chExt cx="6065520" cy="1642587"/>
          </a:xfrm>
        </p:grpSpPr>
        <p:sp>
          <p:nvSpPr>
            <p:cNvPr id="38" name="Rectangle 38"/>
            <p:cNvSpPr/>
            <p:nvPr/>
          </p:nvSpPr>
          <p:spPr>
            <a:xfrm>
              <a:off x="5598795" y="3718560"/>
              <a:ext cx="6059805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485420" y="385429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相位差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788565" y="385429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合振幅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753052" y="385429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386086" y="4302919"/>
              <a:ext cx="7285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Δφ = 2kπ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435729" y="4302919"/>
              <a:ext cx="12355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A₁ + A₂ = Amax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408425" y="430291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极大（加强）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598795" y="461105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5598795" y="4615815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184247" y="4751546"/>
              <a:ext cx="11322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Δφ = (2k+1)π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404720" y="4751546"/>
              <a:ext cx="12975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|A₁ − A₂| = Amin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408425" y="475154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极小（减弱）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598795" y="3718560"/>
              <a:ext cx="6059805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7897178" y="371856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10199370" y="371856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593080" y="5141119"/>
              <a:ext cx="11497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k = 0, ±1, ±2, …</a:t>
              </a:r>
            </a:p>
          </p:txBody>
        </p:sp>
      </p:grpSp>
      <p:grpSp>
        <p:nvGrpSpPr>
          <p:cNvPr id="61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5" name="Rectangle 55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1040130" y="5991225"/>
              <a:ext cx="100915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易错：相位差里有两部分，波源本身的初相差 φ₂ − φ₁ 和传播造成的 2π(r₂ − r₁)/λ，只看波程差会漏掉前一项。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第2至8章 内容总结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54625" cy="909257"/>
            <a:chOff x="520446" y="342900"/>
            <a:chExt cx="685462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183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325" y="407194"/>
              <a:ext cx="1550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内容总结 · 振动与波动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5462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例3 两相干波源连线上有哪些点因干涉而静止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760595" cy="1428750"/>
            <a:chOff x="533400" y="1524000"/>
            <a:chExt cx="4760595" cy="14287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428750"/>
            </a:xfrm>
            <a:prstGeom prst="roundRect">
              <a:avLst>
                <a:gd name="adj" fmla="val 933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1620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0576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6347" y="1737836"/>
              <a:ext cx="2180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例3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998" y="2045494"/>
              <a:ext cx="410133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相干波源 A、B 相距 30 m，振幅相同，B 的初相比 A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超前 π；u = 400 m/s，ν = 100 Hz。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573179"/>
              <a:ext cx="32517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A、B 连线上因干涉而静止的各点位置。</a:t>
              </a:r>
            </a:p>
          </p:txBody>
        </p:sp>
      </p:grpSp>
      <p:grpSp>
        <p:nvGrpSpPr>
          <p:cNvPr id="26" name="c1-card-2"/>
          <p:cNvGrpSpPr/>
          <p:nvPr/>
        </p:nvGrpSpPr>
        <p:grpSpPr>
          <a:xfrm>
            <a:off x="533400" y="3117532"/>
            <a:ext cx="4760595" cy="2424112"/>
            <a:chOff x="533400" y="3117532"/>
            <a:chExt cx="4760595" cy="2424112"/>
          </a:xfrm>
        </p:grpSpPr>
        <p:sp>
          <p:nvSpPr>
            <p:cNvPr id="14" name="Rectangle 14"/>
            <p:cNvSpPr/>
            <p:nvPr/>
          </p:nvSpPr>
          <p:spPr>
            <a:xfrm>
              <a:off x="533400" y="3117532"/>
              <a:ext cx="4760595" cy="2424112"/>
            </a:xfrm>
            <a:prstGeom prst="roundRect">
              <a:avLst>
                <a:gd name="adj" fmla="val 550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250882"/>
              <a:ext cx="47625" cy="215741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52475" y="329850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45147" y="333136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检验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62000" y="369189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17448" y="3639026"/>
              <a:ext cx="42432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15 m（中点）波程差为 0，只剩初相差 π，确实减弱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62000" y="3976688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17448" y="3923824"/>
              <a:ext cx="39244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相邻两静止点相距 λ/2 = 2 m，与驻波波节间距一致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62000" y="426148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17448" y="4208621"/>
              <a:ext cx="39586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连线外侧 Δφ 为 π 的偶数倍，全部加强，没有静止点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62000" y="4546282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17448" y="4494371"/>
              <a:ext cx="40250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 x = 1 m：Δφ = −13π，是 π 的奇数倍，确为静止点</a:t>
              </a:r>
            </a:p>
          </p:txBody>
        </p:sp>
      </p:grpSp>
      <p:grpSp>
        <p:nvGrpSpPr>
          <p:cNvPr id="48" name="c2-steps-1"/>
          <p:cNvGrpSpPr/>
          <p:nvPr/>
        </p:nvGrpSpPr>
        <p:grpSpPr>
          <a:xfrm>
            <a:off x="5598795" y="1533525"/>
            <a:ext cx="5760914" cy="2702814"/>
            <a:chOff x="5598795" y="1533525"/>
            <a:chExt cx="5760914" cy="2702814"/>
          </a:xfrm>
        </p:grpSpPr>
        <p:sp>
          <p:nvSpPr>
            <p:cNvPr id="27" name="Rectangle 27"/>
            <p:cNvSpPr/>
            <p:nvPr/>
          </p:nvSpPr>
          <p:spPr>
            <a:xfrm>
              <a:off x="5732145" y="1676400"/>
              <a:ext cx="19050" cy="22117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559879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69241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5598795" y="208692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692419" y="21607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5598795" y="263937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692419" y="27131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5598795" y="319278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692419" y="32665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5598795" y="374523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692419" y="38190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011418" y="156448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算波长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012561" y="1818322"/>
              <a:ext cx="15796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 = u/ν = 400/100 = 4 m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011418" y="21169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写相位差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012561" y="2371725"/>
              <a:ext cx="46108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 A 为原点，rA = x，rB = 30 − x；Δφ = π − 2π(30 − 2x)/4 = (x − 14)π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011418" y="267033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列静止条件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012561" y="2925128"/>
              <a:ext cx="30471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Δφ = (2k+1)π ⇒ x − 14 = 2k + 1，即 x = 15 + 2k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011418" y="322278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取范围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012561" y="3477578"/>
              <a:ext cx="26822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&lt; x &lt; 30 ⇒ k = −7, −6, …, 7，共 15 个点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011418" y="377618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看外侧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012561" y="4030980"/>
              <a:ext cx="53471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左侧 rB − rA = 30 m，Δφ = π − 15π = −14π；B 右侧 Δφ = π + 15π = 16π，都是加强</a:t>
              </a:r>
            </a:p>
          </p:txBody>
        </p:sp>
      </p:grpSp>
      <p:grpSp>
        <p:nvGrpSpPr>
          <p:cNvPr id="53" name="c2-card-2"/>
          <p:cNvGrpSpPr/>
          <p:nvPr/>
        </p:nvGrpSpPr>
        <p:grpSpPr>
          <a:xfrm>
            <a:off x="5598795" y="4397692"/>
            <a:ext cx="6059805" cy="1143952"/>
            <a:chOff x="5598795" y="4397692"/>
            <a:chExt cx="6059805" cy="1143952"/>
          </a:xfrm>
        </p:grpSpPr>
        <p:sp>
          <p:nvSpPr>
            <p:cNvPr id="49" name="Rectangle 49"/>
            <p:cNvSpPr/>
            <p:nvPr/>
          </p:nvSpPr>
          <p:spPr>
            <a:xfrm>
              <a:off x="5598795" y="4397692"/>
              <a:ext cx="6059805" cy="1143952"/>
            </a:xfrm>
            <a:prstGeom prst="roundRect">
              <a:avLst>
                <a:gd name="adj" fmla="val 11657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779770" y="4578668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876493" y="461152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773293" y="4919186"/>
              <a:ext cx="536117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静止点在距 A 为 x = 1, 3, 5, …, 29 m 处，共 15 个；两波源外侧的连线上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没有静止点。</a:t>
              </a:r>
            </a:p>
          </p:txBody>
        </p:sp>
      </p:grpSp>
      <p:grpSp>
        <p:nvGrpSpPr>
          <p:cNvPr id="60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4" name="Rectangle 54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041273" y="6039326"/>
              <a:ext cx="7300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变式：若两波源同相（φB = φA），Δφ = (x − 15)π，静止点改在 x = 2, 4, …, 28 m，共 14 个。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第2至8章 内容总结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183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325" y="407194"/>
              <a:ext cx="1550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内容总结 · 振动与波动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驻波：波节不动、波腹振幅最大，相位不传播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graph-1"/>
          <p:cNvGrpSpPr/>
          <p:nvPr/>
        </p:nvGrpSpPr>
        <p:grpSpPr>
          <a:xfrm>
            <a:off x="857250" y="1585912"/>
            <a:ext cx="10511022" cy="1844992"/>
            <a:chOff x="857250" y="1585912"/>
            <a:chExt cx="10511022" cy="1844992"/>
          </a:xfrm>
        </p:grpSpPr>
        <p:sp>
          <p:nvSpPr>
            <p:cNvPr id="7" name="Freeform 7"/>
            <p:cNvSpPr/>
            <p:nvPr/>
          </p:nvSpPr>
          <p:spPr>
            <a:xfrm>
              <a:off x="885825" y="2517458"/>
              <a:ext cx="10271760" cy="9525"/>
            </a:xfrm>
            <a:custGeom>
              <a:avLst/>
              <a:gdLst/>
              <a:ahLst/>
              <a:cxnLst/>
              <a:rect l="l" t="t" r="r" b="b"/>
              <a:pathLst>
                <a:path w="10271760" h="9525">
                  <a:moveTo>
                    <a:pt x="0" y="0"/>
                  </a:moveTo>
                  <a:lnTo>
                    <a:pt x="1027176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1157585" y="246983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220152" y="1802130"/>
              <a:ext cx="9751695" cy="1430655"/>
            </a:xfrm>
            <a:custGeom>
              <a:avLst/>
              <a:gdLst/>
              <a:ahLst/>
              <a:cxnLst/>
              <a:rect l="l" t="t" r="r" b="b"/>
              <a:pathLst>
                <a:path w="9751695" h="1430655">
                  <a:moveTo>
                    <a:pt x="0" y="953"/>
                  </a:moveTo>
                  <a:lnTo>
                    <a:pt x="92393" y="7620"/>
                  </a:lnTo>
                  <a:lnTo>
                    <a:pt x="202883" y="29528"/>
                  </a:lnTo>
                  <a:lnTo>
                    <a:pt x="314325" y="65723"/>
                  </a:lnTo>
                  <a:lnTo>
                    <a:pt x="425768" y="113348"/>
                  </a:lnTo>
                  <a:lnTo>
                    <a:pt x="537210" y="174308"/>
                  </a:lnTo>
                  <a:lnTo>
                    <a:pt x="648652" y="246698"/>
                  </a:lnTo>
                  <a:lnTo>
                    <a:pt x="759143" y="327660"/>
                  </a:lnTo>
                  <a:lnTo>
                    <a:pt x="870585" y="417195"/>
                  </a:lnTo>
                  <a:lnTo>
                    <a:pt x="982028" y="514350"/>
                  </a:lnTo>
                  <a:lnTo>
                    <a:pt x="1093470" y="613410"/>
                  </a:lnTo>
                  <a:lnTo>
                    <a:pt x="1204912" y="715328"/>
                  </a:lnTo>
                  <a:lnTo>
                    <a:pt x="1315402" y="816292"/>
                  </a:lnTo>
                  <a:lnTo>
                    <a:pt x="1426845" y="915353"/>
                  </a:lnTo>
                  <a:lnTo>
                    <a:pt x="1538288" y="1013460"/>
                  </a:lnTo>
                  <a:lnTo>
                    <a:pt x="1649730" y="1102042"/>
                  </a:lnTo>
                  <a:lnTo>
                    <a:pt x="1761172" y="1183958"/>
                  </a:lnTo>
                  <a:lnTo>
                    <a:pt x="1871663" y="1255395"/>
                  </a:lnTo>
                  <a:lnTo>
                    <a:pt x="1983105" y="1317308"/>
                  </a:lnTo>
                  <a:lnTo>
                    <a:pt x="2094548" y="1364932"/>
                  </a:lnTo>
                  <a:lnTo>
                    <a:pt x="2205990" y="1400175"/>
                  </a:lnTo>
                  <a:lnTo>
                    <a:pt x="2317432" y="1422082"/>
                  </a:lnTo>
                  <a:lnTo>
                    <a:pt x="2427922" y="1430655"/>
                  </a:lnTo>
                  <a:lnTo>
                    <a:pt x="2539365" y="1422082"/>
                  </a:lnTo>
                  <a:lnTo>
                    <a:pt x="2650807" y="1400175"/>
                  </a:lnTo>
                  <a:lnTo>
                    <a:pt x="2762250" y="1364932"/>
                  </a:lnTo>
                  <a:lnTo>
                    <a:pt x="2873693" y="1317308"/>
                  </a:lnTo>
                  <a:lnTo>
                    <a:pt x="2984182" y="1255395"/>
                  </a:lnTo>
                  <a:lnTo>
                    <a:pt x="3095625" y="1183958"/>
                  </a:lnTo>
                  <a:lnTo>
                    <a:pt x="3207068" y="1102042"/>
                  </a:lnTo>
                  <a:lnTo>
                    <a:pt x="3318510" y="1013460"/>
                  </a:lnTo>
                  <a:lnTo>
                    <a:pt x="3429952" y="915353"/>
                  </a:lnTo>
                  <a:lnTo>
                    <a:pt x="3540443" y="816292"/>
                  </a:lnTo>
                  <a:lnTo>
                    <a:pt x="3651885" y="715328"/>
                  </a:lnTo>
                  <a:lnTo>
                    <a:pt x="3763328" y="613410"/>
                  </a:lnTo>
                  <a:lnTo>
                    <a:pt x="3874770" y="514350"/>
                  </a:lnTo>
                  <a:lnTo>
                    <a:pt x="3986212" y="417195"/>
                  </a:lnTo>
                  <a:lnTo>
                    <a:pt x="4096702" y="327660"/>
                  </a:lnTo>
                  <a:lnTo>
                    <a:pt x="4208145" y="246698"/>
                  </a:lnTo>
                  <a:lnTo>
                    <a:pt x="4319588" y="174308"/>
                  </a:lnTo>
                  <a:lnTo>
                    <a:pt x="4431030" y="113348"/>
                  </a:lnTo>
                  <a:lnTo>
                    <a:pt x="4542472" y="65723"/>
                  </a:lnTo>
                  <a:lnTo>
                    <a:pt x="4652962" y="29528"/>
                  </a:lnTo>
                  <a:lnTo>
                    <a:pt x="4764405" y="7620"/>
                  </a:lnTo>
                  <a:lnTo>
                    <a:pt x="4875848" y="0"/>
                  </a:lnTo>
                  <a:lnTo>
                    <a:pt x="4987290" y="7620"/>
                  </a:lnTo>
                  <a:lnTo>
                    <a:pt x="5098732" y="29528"/>
                  </a:lnTo>
                  <a:lnTo>
                    <a:pt x="5209222" y="65723"/>
                  </a:lnTo>
                  <a:lnTo>
                    <a:pt x="5320665" y="113348"/>
                  </a:lnTo>
                  <a:lnTo>
                    <a:pt x="5432108" y="174308"/>
                  </a:lnTo>
                  <a:lnTo>
                    <a:pt x="5543550" y="246698"/>
                  </a:lnTo>
                  <a:lnTo>
                    <a:pt x="5654992" y="327660"/>
                  </a:lnTo>
                  <a:lnTo>
                    <a:pt x="5765482" y="417195"/>
                  </a:lnTo>
                  <a:lnTo>
                    <a:pt x="5876925" y="514350"/>
                  </a:lnTo>
                  <a:lnTo>
                    <a:pt x="5988367" y="613410"/>
                  </a:lnTo>
                  <a:lnTo>
                    <a:pt x="6099810" y="715328"/>
                  </a:lnTo>
                  <a:lnTo>
                    <a:pt x="6211252" y="816292"/>
                  </a:lnTo>
                  <a:lnTo>
                    <a:pt x="6321742" y="915353"/>
                  </a:lnTo>
                  <a:lnTo>
                    <a:pt x="6433185" y="1013460"/>
                  </a:lnTo>
                  <a:lnTo>
                    <a:pt x="6544628" y="1102042"/>
                  </a:lnTo>
                  <a:lnTo>
                    <a:pt x="6656070" y="1183958"/>
                  </a:lnTo>
                  <a:lnTo>
                    <a:pt x="6767512" y="1255395"/>
                  </a:lnTo>
                  <a:lnTo>
                    <a:pt x="6878002" y="1317308"/>
                  </a:lnTo>
                  <a:lnTo>
                    <a:pt x="6989445" y="1364932"/>
                  </a:lnTo>
                  <a:lnTo>
                    <a:pt x="7100888" y="1400175"/>
                  </a:lnTo>
                  <a:lnTo>
                    <a:pt x="7212330" y="1422082"/>
                  </a:lnTo>
                  <a:lnTo>
                    <a:pt x="7323772" y="1430655"/>
                  </a:lnTo>
                  <a:lnTo>
                    <a:pt x="7434262" y="1422082"/>
                  </a:lnTo>
                  <a:lnTo>
                    <a:pt x="7545705" y="1400175"/>
                  </a:lnTo>
                  <a:lnTo>
                    <a:pt x="7657148" y="1364932"/>
                  </a:lnTo>
                  <a:lnTo>
                    <a:pt x="7768590" y="1317308"/>
                  </a:lnTo>
                  <a:lnTo>
                    <a:pt x="7880032" y="1255395"/>
                  </a:lnTo>
                  <a:lnTo>
                    <a:pt x="7990522" y="1183958"/>
                  </a:lnTo>
                  <a:lnTo>
                    <a:pt x="8101965" y="1102042"/>
                  </a:lnTo>
                  <a:lnTo>
                    <a:pt x="8213408" y="1013460"/>
                  </a:lnTo>
                  <a:lnTo>
                    <a:pt x="8324850" y="915353"/>
                  </a:lnTo>
                  <a:lnTo>
                    <a:pt x="8436292" y="816292"/>
                  </a:lnTo>
                  <a:lnTo>
                    <a:pt x="8546782" y="715328"/>
                  </a:lnTo>
                  <a:lnTo>
                    <a:pt x="8658225" y="613410"/>
                  </a:lnTo>
                  <a:lnTo>
                    <a:pt x="8769668" y="514350"/>
                  </a:lnTo>
                  <a:lnTo>
                    <a:pt x="8881110" y="417195"/>
                  </a:lnTo>
                  <a:lnTo>
                    <a:pt x="8992552" y="327660"/>
                  </a:lnTo>
                  <a:lnTo>
                    <a:pt x="9103042" y="246698"/>
                  </a:lnTo>
                  <a:lnTo>
                    <a:pt x="9214485" y="174308"/>
                  </a:lnTo>
                  <a:lnTo>
                    <a:pt x="9325928" y="113348"/>
                  </a:lnTo>
                  <a:lnTo>
                    <a:pt x="9437370" y="65723"/>
                  </a:lnTo>
                  <a:lnTo>
                    <a:pt x="9548812" y="29528"/>
                  </a:lnTo>
                  <a:lnTo>
                    <a:pt x="9659302" y="7620"/>
                  </a:lnTo>
                  <a:lnTo>
                    <a:pt x="9751695" y="953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220152" y="1802130"/>
              <a:ext cx="9751695" cy="1430655"/>
            </a:xfrm>
            <a:custGeom>
              <a:avLst/>
              <a:gdLst/>
              <a:ahLst/>
              <a:cxnLst/>
              <a:rect l="l" t="t" r="r" b="b"/>
              <a:pathLst>
                <a:path w="9751695" h="1430655">
                  <a:moveTo>
                    <a:pt x="0" y="1428750"/>
                  </a:moveTo>
                  <a:lnTo>
                    <a:pt x="92393" y="1422082"/>
                  </a:lnTo>
                  <a:lnTo>
                    <a:pt x="202883" y="1400175"/>
                  </a:lnTo>
                  <a:lnTo>
                    <a:pt x="314325" y="1364932"/>
                  </a:lnTo>
                  <a:lnTo>
                    <a:pt x="425768" y="1317308"/>
                  </a:lnTo>
                  <a:lnTo>
                    <a:pt x="537210" y="1255395"/>
                  </a:lnTo>
                  <a:lnTo>
                    <a:pt x="648652" y="1183958"/>
                  </a:lnTo>
                  <a:lnTo>
                    <a:pt x="759143" y="1102042"/>
                  </a:lnTo>
                  <a:lnTo>
                    <a:pt x="870585" y="1013460"/>
                  </a:lnTo>
                  <a:lnTo>
                    <a:pt x="982028" y="915353"/>
                  </a:lnTo>
                  <a:lnTo>
                    <a:pt x="1093470" y="816292"/>
                  </a:lnTo>
                  <a:lnTo>
                    <a:pt x="1204912" y="715328"/>
                  </a:lnTo>
                  <a:lnTo>
                    <a:pt x="1315402" y="613410"/>
                  </a:lnTo>
                  <a:lnTo>
                    <a:pt x="1426845" y="514350"/>
                  </a:lnTo>
                  <a:lnTo>
                    <a:pt x="1538288" y="417195"/>
                  </a:lnTo>
                  <a:lnTo>
                    <a:pt x="1649730" y="327660"/>
                  </a:lnTo>
                  <a:lnTo>
                    <a:pt x="1761172" y="246698"/>
                  </a:lnTo>
                  <a:lnTo>
                    <a:pt x="1871663" y="174308"/>
                  </a:lnTo>
                  <a:lnTo>
                    <a:pt x="1983105" y="113348"/>
                  </a:lnTo>
                  <a:lnTo>
                    <a:pt x="2094548" y="65723"/>
                  </a:lnTo>
                  <a:lnTo>
                    <a:pt x="2205990" y="29528"/>
                  </a:lnTo>
                  <a:lnTo>
                    <a:pt x="2317432" y="7620"/>
                  </a:lnTo>
                  <a:lnTo>
                    <a:pt x="2427922" y="0"/>
                  </a:lnTo>
                  <a:lnTo>
                    <a:pt x="2539365" y="7620"/>
                  </a:lnTo>
                  <a:lnTo>
                    <a:pt x="2650807" y="29528"/>
                  </a:lnTo>
                  <a:lnTo>
                    <a:pt x="2762250" y="65723"/>
                  </a:lnTo>
                  <a:lnTo>
                    <a:pt x="2873693" y="113348"/>
                  </a:lnTo>
                  <a:lnTo>
                    <a:pt x="2984182" y="174308"/>
                  </a:lnTo>
                  <a:lnTo>
                    <a:pt x="3095625" y="246698"/>
                  </a:lnTo>
                  <a:lnTo>
                    <a:pt x="3207068" y="327660"/>
                  </a:lnTo>
                  <a:lnTo>
                    <a:pt x="3318510" y="417195"/>
                  </a:lnTo>
                  <a:lnTo>
                    <a:pt x="3429952" y="514350"/>
                  </a:lnTo>
                  <a:lnTo>
                    <a:pt x="3540443" y="613410"/>
                  </a:lnTo>
                  <a:lnTo>
                    <a:pt x="3651885" y="715328"/>
                  </a:lnTo>
                  <a:lnTo>
                    <a:pt x="3763328" y="816292"/>
                  </a:lnTo>
                  <a:lnTo>
                    <a:pt x="3874770" y="915353"/>
                  </a:lnTo>
                  <a:lnTo>
                    <a:pt x="3986212" y="1013460"/>
                  </a:lnTo>
                  <a:lnTo>
                    <a:pt x="4096702" y="1102042"/>
                  </a:lnTo>
                  <a:lnTo>
                    <a:pt x="4208145" y="1183958"/>
                  </a:lnTo>
                  <a:lnTo>
                    <a:pt x="4319588" y="1255395"/>
                  </a:lnTo>
                  <a:lnTo>
                    <a:pt x="4431030" y="1317308"/>
                  </a:lnTo>
                  <a:lnTo>
                    <a:pt x="4542472" y="1364932"/>
                  </a:lnTo>
                  <a:lnTo>
                    <a:pt x="4652962" y="1400175"/>
                  </a:lnTo>
                  <a:lnTo>
                    <a:pt x="4764405" y="1422082"/>
                  </a:lnTo>
                  <a:lnTo>
                    <a:pt x="4875848" y="1430655"/>
                  </a:lnTo>
                  <a:lnTo>
                    <a:pt x="4987290" y="1422082"/>
                  </a:lnTo>
                  <a:lnTo>
                    <a:pt x="5098732" y="1400175"/>
                  </a:lnTo>
                  <a:lnTo>
                    <a:pt x="5209222" y="1364932"/>
                  </a:lnTo>
                  <a:lnTo>
                    <a:pt x="5320665" y="1317308"/>
                  </a:lnTo>
                  <a:lnTo>
                    <a:pt x="5432108" y="1255395"/>
                  </a:lnTo>
                  <a:lnTo>
                    <a:pt x="5543550" y="1183958"/>
                  </a:lnTo>
                  <a:lnTo>
                    <a:pt x="5654992" y="1102042"/>
                  </a:lnTo>
                  <a:lnTo>
                    <a:pt x="5765482" y="1013460"/>
                  </a:lnTo>
                  <a:lnTo>
                    <a:pt x="5876925" y="915353"/>
                  </a:lnTo>
                  <a:lnTo>
                    <a:pt x="5988367" y="816292"/>
                  </a:lnTo>
                  <a:lnTo>
                    <a:pt x="6099810" y="715328"/>
                  </a:lnTo>
                  <a:lnTo>
                    <a:pt x="6211252" y="613410"/>
                  </a:lnTo>
                  <a:lnTo>
                    <a:pt x="6321742" y="514350"/>
                  </a:lnTo>
                  <a:lnTo>
                    <a:pt x="6433185" y="417195"/>
                  </a:lnTo>
                  <a:lnTo>
                    <a:pt x="6544628" y="327660"/>
                  </a:lnTo>
                  <a:lnTo>
                    <a:pt x="6656070" y="246698"/>
                  </a:lnTo>
                  <a:lnTo>
                    <a:pt x="6767512" y="174308"/>
                  </a:lnTo>
                  <a:lnTo>
                    <a:pt x="6878002" y="113348"/>
                  </a:lnTo>
                  <a:lnTo>
                    <a:pt x="6989445" y="65723"/>
                  </a:lnTo>
                  <a:lnTo>
                    <a:pt x="7100888" y="29528"/>
                  </a:lnTo>
                  <a:lnTo>
                    <a:pt x="7212330" y="7620"/>
                  </a:lnTo>
                  <a:lnTo>
                    <a:pt x="7323772" y="0"/>
                  </a:lnTo>
                  <a:lnTo>
                    <a:pt x="7434262" y="7620"/>
                  </a:lnTo>
                  <a:lnTo>
                    <a:pt x="7545705" y="29528"/>
                  </a:lnTo>
                  <a:lnTo>
                    <a:pt x="7657148" y="65723"/>
                  </a:lnTo>
                  <a:lnTo>
                    <a:pt x="7768590" y="113348"/>
                  </a:lnTo>
                  <a:lnTo>
                    <a:pt x="7880032" y="174308"/>
                  </a:lnTo>
                  <a:lnTo>
                    <a:pt x="7990522" y="246698"/>
                  </a:lnTo>
                  <a:lnTo>
                    <a:pt x="8101965" y="327660"/>
                  </a:lnTo>
                  <a:lnTo>
                    <a:pt x="8213408" y="417195"/>
                  </a:lnTo>
                  <a:lnTo>
                    <a:pt x="8324850" y="514350"/>
                  </a:lnTo>
                  <a:lnTo>
                    <a:pt x="8436292" y="613410"/>
                  </a:lnTo>
                  <a:lnTo>
                    <a:pt x="8546782" y="715328"/>
                  </a:lnTo>
                  <a:lnTo>
                    <a:pt x="8658225" y="816292"/>
                  </a:lnTo>
                  <a:lnTo>
                    <a:pt x="8769668" y="915353"/>
                  </a:lnTo>
                  <a:lnTo>
                    <a:pt x="8881110" y="1013460"/>
                  </a:lnTo>
                  <a:lnTo>
                    <a:pt x="8992552" y="1102042"/>
                  </a:lnTo>
                  <a:lnTo>
                    <a:pt x="9103042" y="1183958"/>
                  </a:lnTo>
                  <a:lnTo>
                    <a:pt x="9214485" y="1255395"/>
                  </a:lnTo>
                  <a:lnTo>
                    <a:pt x="9325928" y="1317308"/>
                  </a:lnTo>
                  <a:lnTo>
                    <a:pt x="9437370" y="1364932"/>
                  </a:lnTo>
                  <a:lnTo>
                    <a:pt x="9548812" y="1400175"/>
                  </a:lnTo>
                  <a:lnTo>
                    <a:pt x="9659302" y="1422082"/>
                  </a:lnTo>
                  <a:lnTo>
                    <a:pt x="9751695" y="1428750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11" name="Ellipse 11"/>
            <p:cNvSpPr/>
            <p:nvPr/>
          </p:nvSpPr>
          <p:spPr>
            <a:xfrm>
              <a:off x="1191578" y="179260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10981372" y="179260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1191578" y="322326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0981372" y="322326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2386965" y="2479358"/>
              <a:ext cx="76200" cy="7620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4833938" y="2479358"/>
              <a:ext cx="76200" cy="7620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7281862" y="2479358"/>
              <a:ext cx="76200" cy="7620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9728835" y="2479358"/>
              <a:ext cx="76200" cy="7620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857250" y="250793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282178" y="245697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299144" y="2618423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波节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746117" y="2618423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波节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94042" y="2618423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波节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641014" y="2618423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波节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522154" y="1585912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波腹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970080" y="3254692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波腹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418004" y="1585912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波腹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279838" y="2023110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同一段内同相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788342" y="2817495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相邻段反相</a:t>
              </a:r>
            </a:p>
          </p:txBody>
        </p:sp>
      </p:grpSp>
      <p:grpSp>
        <p:nvGrpSpPr>
          <p:cNvPr id="45" name="c1-table-2"/>
          <p:cNvGrpSpPr/>
          <p:nvPr/>
        </p:nvGrpSpPr>
        <p:grpSpPr>
          <a:xfrm>
            <a:off x="533400" y="3695700"/>
            <a:ext cx="11190542" cy="1720215"/>
            <a:chOff x="533400" y="3695700"/>
            <a:chExt cx="11190542" cy="1720215"/>
          </a:xfrm>
        </p:grpSpPr>
        <p:sp>
          <p:nvSpPr>
            <p:cNvPr id="31" name="Rectangle 31"/>
            <p:cNvSpPr/>
            <p:nvPr/>
          </p:nvSpPr>
          <p:spPr>
            <a:xfrm>
              <a:off x="533400" y="3695700"/>
              <a:ext cx="11125200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589722" y="38271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特点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152322" y="38271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内容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38746" y="425672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振幅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086672" y="4256722"/>
              <a:ext cx="86372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各点振幅不同：波腹振幅最大（2A），波节始终不动；相邻波节（或相邻波腹）相距 Δx = λ/2，波节与相邻波腹相距 λ/4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455104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33400" y="4555808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8746" y="468725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频率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086672" y="4687252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所有质点做频率相同的简谐振动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498157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8746" y="511778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相位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086672" y="5117782"/>
              <a:ext cx="76047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没有相位的传播，驻波是分段的振动：两相邻波节之间为一段，同一段内振动相位相同，相邻两段相位相反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3695700"/>
              <a:ext cx="11125200" cy="17202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2976562" y="369570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1" name="takeaway"/>
          <p:cNvGrpSpPr/>
          <p:nvPr/>
        </p:nvGrpSpPr>
        <p:grpSpPr>
          <a:xfrm>
            <a:off x="533400" y="5606415"/>
            <a:ext cx="11125200" cy="756285"/>
            <a:chOff x="533400" y="5606415"/>
            <a:chExt cx="11125200" cy="756285"/>
          </a:xfrm>
        </p:grpSpPr>
        <p:sp>
          <p:nvSpPr>
            <p:cNvPr id="46" name="Rectangle 46"/>
            <p:cNvSpPr/>
            <p:nvPr/>
          </p:nvSpPr>
          <p:spPr>
            <a:xfrm>
              <a:off x="533400" y="5606415"/>
              <a:ext cx="11125200" cy="756285"/>
            </a:xfrm>
            <a:prstGeom prst="roundRect">
              <a:avLst>
                <a:gd name="adj" fmla="val 15113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38188" y="5884547"/>
              <a:ext cx="200023" cy="200023"/>
              <a:chOff x="738188" y="5884547"/>
              <a:chExt cx="200023" cy="200023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738188" y="588454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71538" y="59512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040511" y="5753576"/>
              <a:ext cx="9969246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驻波由两列振幅相同、沿相反方向传播的相干波叠加而成，y = 2A cos(2πx/λ)·cos ωt，x 与 t 分在两个因子里，所以波形不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向前跑。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第2至8章 内容总结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183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325" y="407194"/>
              <a:ext cx="1550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内容总结 · 振动与波动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半波损失，以及两端固定的弦上怎样形成驻波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3" name="c1-table-1"/>
          <p:cNvGrpSpPr/>
          <p:nvPr/>
        </p:nvGrpSpPr>
        <p:grpSpPr>
          <a:xfrm>
            <a:off x="533400" y="1524000"/>
            <a:ext cx="5410200" cy="1330642"/>
            <a:chOff x="533400" y="1524000"/>
            <a:chExt cx="5410200" cy="13306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2703" y="1641157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波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207704" y="1641157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从波疏入射到波密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317492" y="1641157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从波密入射到波疏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28078" y="211645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反射波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733550" y="1914525"/>
              <a:ext cx="2090738" cy="54864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818704" y="2023110"/>
              <a:ext cx="1724216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相位突变 π（半波损失），界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面处是波节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928491" y="2116455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没有突变，界面处是波腹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246888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33400" y="2473642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8078" y="259080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透射波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18704" y="2590800"/>
              <a:ext cx="18694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任何情况都没有相位 π 的突变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928491" y="25908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同左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1524000"/>
              <a:ext cx="5410200" cy="133064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1719262" y="1524000"/>
              <a:ext cx="9525" cy="133064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3829050" y="1524000"/>
              <a:ext cx="9525" cy="133064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0" name="c1-card-2"/>
          <p:cNvGrpSpPr/>
          <p:nvPr/>
        </p:nvGrpSpPr>
        <p:grpSpPr>
          <a:xfrm>
            <a:off x="533400" y="3019425"/>
            <a:ext cx="5410200" cy="1390650"/>
            <a:chOff x="533400" y="3019425"/>
            <a:chExt cx="5410200" cy="1390650"/>
          </a:xfrm>
        </p:grpSpPr>
        <p:sp>
          <p:nvSpPr>
            <p:cNvPr id="24" name="Rectangle 24"/>
            <p:cNvSpPr/>
            <p:nvPr/>
          </p:nvSpPr>
          <p:spPr>
            <a:xfrm>
              <a:off x="533400" y="3019425"/>
              <a:ext cx="5410200" cy="1390650"/>
            </a:xfrm>
            <a:prstGeom prst="roundRect">
              <a:avLst>
                <a:gd name="adj" fmla="val 958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42925" y="3152775"/>
              <a:ext cx="47625" cy="11239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52475" y="3200400"/>
              <a:ext cx="120491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22744" y="3233261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怎么判断波疏波密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45998" y="3540919"/>
              <a:ext cx="471906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机械波看介质的 ρu（密度 × 波速），ρu 大的一侧是波密；光波看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折射率 n，n 大的是光密。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47141" y="4065270"/>
              <a:ext cx="48448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半波损失相当于多走（或少走）λ/2 的路程，干涉题里要把 λ/2 加进光程差。</a:t>
              </a:r>
            </a:p>
          </p:txBody>
        </p:sp>
      </p:grpSp>
      <p:grpSp>
        <p:nvGrpSpPr>
          <p:cNvPr id="37" name="c1-card-3"/>
          <p:cNvGrpSpPr/>
          <p:nvPr/>
        </p:nvGrpSpPr>
        <p:grpSpPr>
          <a:xfrm>
            <a:off x="533400" y="4574858"/>
            <a:ext cx="5410200" cy="1428750"/>
            <a:chOff x="533400" y="4574858"/>
            <a:chExt cx="5410200" cy="1428750"/>
          </a:xfrm>
        </p:grpSpPr>
        <p:sp>
          <p:nvSpPr>
            <p:cNvPr id="31" name="Rectangle 31"/>
            <p:cNvSpPr/>
            <p:nvPr/>
          </p:nvSpPr>
          <p:spPr>
            <a:xfrm>
              <a:off x="533400" y="4574858"/>
              <a:ext cx="5410200" cy="1428750"/>
            </a:xfrm>
            <a:prstGeom prst="roundRect">
              <a:avLst>
                <a:gd name="adj" fmla="val 933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542925" y="4708208"/>
              <a:ext cx="47625" cy="11620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52475" y="475583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45147" y="478869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小例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45998" y="5095399"/>
              <a:ext cx="37406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弦长 L = 0.6 m，波速 u = 120 m/s，两端固定：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45998" y="5381149"/>
              <a:ext cx="445084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νₙ = nu/(2L) = 100n Hz，即 100、200、300 Hz…；对应 λₙ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1.2、0.6、0.4 m</a:t>
              </a:r>
            </a:p>
          </p:txBody>
        </p:sp>
      </p:grpSp>
      <p:grpSp>
        <p:nvGrpSpPr>
          <p:cNvPr id="62" name="c2-graph-1"/>
          <p:cNvGrpSpPr/>
          <p:nvPr/>
        </p:nvGrpSpPr>
        <p:grpSpPr>
          <a:xfrm>
            <a:off x="6389961" y="1688782"/>
            <a:ext cx="4850278" cy="1971675"/>
            <a:chOff x="6389961" y="1688782"/>
            <a:chExt cx="4850278" cy="1971675"/>
          </a:xfrm>
        </p:grpSpPr>
        <p:sp>
          <p:nvSpPr>
            <p:cNvPr id="38" name="Freeform 38"/>
            <p:cNvSpPr/>
            <p:nvPr/>
          </p:nvSpPr>
          <p:spPr>
            <a:xfrm>
              <a:off x="6916102" y="1688782"/>
              <a:ext cx="3641408" cy="253365"/>
            </a:xfrm>
            <a:custGeom>
              <a:avLst/>
              <a:gdLst/>
              <a:ahLst/>
              <a:cxnLst/>
              <a:rect l="l" t="t" r="r" b="b"/>
              <a:pathLst>
                <a:path w="3641408" h="253365">
                  <a:moveTo>
                    <a:pt x="0" y="253365"/>
                  </a:moveTo>
                  <a:lnTo>
                    <a:pt x="57150" y="240982"/>
                  </a:lnTo>
                  <a:lnTo>
                    <a:pt x="133350" y="224790"/>
                  </a:lnTo>
                  <a:lnTo>
                    <a:pt x="208597" y="208597"/>
                  </a:lnTo>
                  <a:lnTo>
                    <a:pt x="289560" y="192405"/>
                  </a:lnTo>
                  <a:lnTo>
                    <a:pt x="365760" y="175260"/>
                  </a:lnTo>
                  <a:lnTo>
                    <a:pt x="441007" y="159067"/>
                  </a:lnTo>
                  <a:lnTo>
                    <a:pt x="517207" y="142875"/>
                  </a:lnTo>
                  <a:lnTo>
                    <a:pt x="592455" y="128588"/>
                  </a:lnTo>
                  <a:lnTo>
                    <a:pt x="674370" y="114300"/>
                  </a:lnTo>
                  <a:lnTo>
                    <a:pt x="749617" y="100965"/>
                  </a:lnTo>
                  <a:lnTo>
                    <a:pt x="825817" y="86677"/>
                  </a:lnTo>
                  <a:lnTo>
                    <a:pt x="901065" y="74295"/>
                  </a:lnTo>
                  <a:lnTo>
                    <a:pt x="977265" y="62865"/>
                  </a:lnTo>
                  <a:lnTo>
                    <a:pt x="1052512" y="53340"/>
                  </a:lnTo>
                  <a:lnTo>
                    <a:pt x="1128712" y="43815"/>
                  </a:lnTo>
                  <a:lnTo>
                    <a:pt x="1209675" y="35242"/>
                  </a:lnTo>
                  <a:lnTo>
                    <a:pt x="1284922" y="25717"/>
                  </a:lnTo>
                  <a:lnTo>
                    <a:pt x="1361122" y="18097"/>
                  </a:lnTo>
                  <a:lnTo>
                    <a:pt x="1437322" y="13335"/>
                  </a:lnTo>
                  <a:lnTo>
                    <a:pt x="1512570" y="8572"/>
                  </a:lnTo>
                  <a:lnTo>
                    <a:pt x="1593532" y="3810"/>
                  </a:lnTo>
                  <a:lnTo>
                    <a:pt x="1669732" y="1905"/>
                  </a:lnTo>
                  <a:lnTo>
                    <a:pt x="1744980" y="0"/>
                  </a:lnTo>
                  <a:lnTo>
                    <a:pt x="1821180" y="0"/>
                  </a:lnTo>
                  <a:lnTo>
                    <a:pt x="1896428" y="0"/>
                  </a:lnTo>
                  <a:lnTo>
                    <a:pt x="1972628" y="1905"/>
                  </a:lnTo>
                  <a:lnTo>
                    <a:pt x="2047875" y="3810"/>
                  </a:lnTo>
                  <a:lnTo>
                    <a:pt x="2129790" y="8572"/>
                  </a:lnTo>
                  <a:lnTo>
                    <a:pt x="2205038" y="13335"/>
                  </a:lnTo>
                  <a:lnTo>
                    <a:pt x="2281238" y="18097"/>
                  </a:lnTo>
                  <a:lnTo>
                    <a:pt x="2356485" y="25717"/>
                  </a:lnTo>
                  <a:lnTo>
                    <a:pt x="2432685" y="35242"/>
                  </a:lnTo>
                  <a:lnTo>
                    <a:pt x="2513648" y="43815"/>
                  </a:lnTo>
                  <a:lnTo>
                    <a:pt x="2588895" y="53340"/>
                  </a:lnTo>
                  <a:lnTo>
                    <a:pt x="2665095" y="62865"/>
                  </a:lnTo>
                  <a:lnTo>
                    <a:pt x="2740342" y="74295"/>
                  </a:lnTo>
                  <a:lnTo>
                    <a:pt x="2816542" y="86677"/>
                  </a:lnTo>
                  <a:lnTo>
                    <a:pt x="2891790" y="100965"/>
                  </a:lnTo>
                  <a:lnTo>
                    <a:pt x="2967990" y="114300"/>
                  </a:lnTo>
                  <a:lnTo>
                    <a:pt x="3048952" y="128588"/>
                  </a:lnTo>
                  <a:lnTo>
                    <a:pt x="3125152" y="142875"/>
                  </a:lnTo>
                  <a:lnTo>
                    <a:pt x="3200400" y="159067"/>
                  </a:lnTo>
                  <a:lnTo>
                    <a:pt x="3276600" y="175260"/>
                  </a:lnTo>
                  <a:lnTo>
                    <a:pt x="3351848" y="192405"/>
                  </a:lnTo>
                  <a:lnTo>
                    <a:pt x="3432810" y="208597"/>
                  </a:lnTo>
                  <a:lnTo>
                    <a:pt x="3509010" y="224790"/>
                  </a:lnTo>
                  <a:lnTo>
                    <a:pt x="3584258" y="240982"/>
                  </a:lnTo>
                  <a:lnTo>
                    <a:pt x="3641408" y="253365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6916102" y="1950720"/>
              <a:ext cx="3641408" cy="254317"/>
            </a:xfrm>
            <a:custGeom>
              <a:avLst/>
              <a:gdLst/>
              <a:ahLst/>
              <a:cxnLst/>
              <a:rect l="l" t="t" r="r" b="b"/>
              <a:pathLst>
                <a:path w="3641408" h="254317">
                  <a:moveTo>
                    <a:pt x="0" y="0"/>
                  </a:moveTo>
                  <a:lnTo>
                    <a:pt x="57150" y="12382"/>
                  </a:lnTo>
                  <a:lnTo>
                    <a:pt x="133350" y="28575"/>
                  </a:lnTo>
                  <a:lnTo>
                    <a:pt x="208597" y="44767"/>
                  </a:lnTo>
                  <a:lnTo>
                    <a:pt x="289560" y="61912"/>
                  </a:lnTo>
                  <a:lnTo>
                    <a:pt x="365760" y="78105"/>
                  </a:lnTo>
                  <a:lnTo>
                    <a:pt x="441007" y="94297"/>
                  </a:lnTo>
                  <a:lnTo>
                    <a:pt x="517207" y="110490"/>
                  </a:lnTo>
                  <a:lnTo>
                    <a:pt x="592455" y="124777"/>
                  </a:lnTo>
                  <a:lnTo>
                    <a:pt x="674370" y="139065"/>
                  </a:lnTo>
                  <a:lnTo>
                    <a:pt x="749617" y="153352"/>
                  </a:lnTo>
                  <a:lnTo>
                    <a:pt x="825817" y="167640"/>
                  </a:lnTo>
                  <a:lnTo>
                    <a:pt x="901065" y="179070"/>
                  </a:lnTo>
                  <a:lnTo>
                    <a:pt x="977265" y="190500"/>
                  </a:lnTo>
                  <a:lnTo>
                    <a:pt x="1052512" y="200025"/>
                  </a:lnTo>
                  <a:lnTo>
                    <a:pt x="1128712" y="209550"/>
                  </a:lnTo>
                  <a:lnTo>
                    <a:pt x="1209675" y="219075"/>
                  </a:lnTo>
                  <a:lnTo>
                    <a:pt x="1284922" y="228600"/>
                  </a:lnTo>
                  <a:lnTo>
                    <a:pt x="1361122" y="235267"/>
                  </a:lnTo>
                  <a:lnTo>
                    <a:pt x="1437322" y="240030"/>
                  </a:lnTo>
                  <a:lnTo>
                    <a:pt x="1512570" y="244792"/>
                  </a:lnTo>
                  <a:lnTo>
                    <a:pt x="1593532" y="249555"/>
                  </a:lnTo>
                  <a:lnTo>
                    <a:pt x="1669732" y="251460"/>
                  </a:lnTo>
                  <a:lnTo>
                    <a:pt x="1744980" y="254317"/>
                  </a:lnTo>
                  <a:lnTo>
                    <a:pt x="1821180" y="254317"/>
                  </a:lnTo>
                  <a:lnTo>
                    <a:pt x="1896428" y="254317"/>
                  </a:lnTo>
                  <a:lnTo>
                    <a:pt x="1972628" y="251460"/>
                  </a:lnTo>
                  <a:lnTo>
                    <a:pt x="2047875" y="249555"/>
                  </a:lnTo>
                  <a:lnTo>
                    <a:pt x="2129790" y="244792"/>
                  </a:lnTo>
                  <a:lnTo>
                    <a:pt x="2205038" y="240030"/>
                  </a:lnTo>
                  <a:lnTo>
                    <a:pt x="2281238" y="235267"/>
                  </a:lnTo>
                  <a:lnTo>
                    <a:pt x="2356485" y="228600"/>
                  </a:lnTo>
                  <a:lnTo>
                    <a:pt x="2432685" y="219075"/>
                  </a:lnTo>
                  <a:lnTo>
                    <a:pt x="2513648" y="209550"/>
                  </a:lnTo>
                  <a:lnTo>
                    <a:pt x="2588895" y="200025"/>
                  </a:lnTo>
                  <a:lnTo>
                    <a:pt x="2665095" y="190500"/>
                  </a:lnTo>
                  <a:lnTo>
                    <a:pt x="2740342" y="179070"/>
                  </a:lnTo>
                  <a:lnTo>
                    <a:pt x="2816542" y="167640"/>
                  </a:lnTo>
                  <a:lnTo>
                    <a:pt x="2891790" y="153352"/>
                  </a:lnTo>
                  <a:lnTo>
                    <a:pt x="2967990" y="139065"/>
                  </a:lnTo>
                  <a:lnTo>
                    <a:pt x="3048952" y="124777"/>
                  </a:lnTo>
                  <a:lnTo>
                    <a:pt x="3125152" y="110490"/>
                  </a:lnTo>
                  <a:lnTo>
                    <a:pt x="3200400" y="94297"/>
                  </a:lnTo>
                  <a:lnTo>
                    <a:pt x="3276600" y="78105"/>
                  </a:lnTo>
                  <a:lnTo>
                    <a:pt x="3351848" y="61912"/>
                  </a:lnTo>
                  <a:lnTo>
                    <a:pt x="3432810" y="44767"/>
                  </a:lnTo>
                  <a:lnTo>
                    <a:pt x="3509010" y="28575"/>
                  </a:lnTo>
                  <a:lnTo>
                    <a:pt x="3584258" y="12382"/>
                  </a:lnTo>
                  <a:lnTo>
                    <a:pt x="3641408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40" name="Freeform 40"/>
            <p:cNvSpPr/>
            <p:nvPr/>
          </p:nvSpPr>
          <p:spPr>
            <a:xfrm>
              <a:off x="6915150" y="2416492"/>
              <a:ext cx="3644265" cy="516255"/>
            </a:xfrm>
            <a:custGeom>
              <a:avLst/>
              <a:gdLst/>
              <a:ahLst/>
              <a:cxnLst/>
              <a:rect l="l" t="t" r="r" b="b"/>
              <a:pathLst>
                <a:path w="3644265" h="516255">
                  <a:moveTo>
                    <a:pt x="0" y="250508"/>
                  </a:moveTo>
                  <a:lnTo>
                    <a:pt x="58103" y="224790"/>
                  </a:lnTo>
                  <a:lnTo>
                    <a:pt x="134303" y="192405"/>
                  </a:lnTo>
                  <a:lnTo>
                    <a:pt x="209550" y="159067"/>
                  </a:lnTo>
                  <a:lnTo>
                    <a:pt x="290512" y="128588"/>
                  </a:lnTo>
                  <a:lnTo>
                    <a:pt x="366712" y="100965"/>
                  </a:lnTo>
                  <a:lnTo>
                    <a:pt x="441960" y="75248"/>
                  </a:lnTo>
                  <a:lnTo>
                    <a:pt x="518160" y="53340"/>
                  </a:lnTo>
                  <a:lnTo>
                    <a:pt x="593407" y="35242"/>
                  </a:lnTo>
                  <a:lnTo>
                    <a:pt x="675322" y="18098"/>
                  </a:lnTo>
                  <a:lnTo>
                    <a:pt x="750570" y="9525"/>
                  </a:lnTo>
                  <a:lnTo>
                    <a:pt x="826770" y="1905"/>
                  </a:lnTo>
                  <a:lnTo>
                    <a:pt x="902018" y="0"/>
                  </a:lnTo>
                  <a:lnTo>
                    <a:pt x="978218" y="1905"/>
                  </a:lnTo>
                  <a:lnTo>
                    <a:pt x="1053465" y="9525"/>
                  </a:lnTo>
                  <a:lnTo>
                    <a:pt x="1129665" y="18098"/>
                  </a:lnTo>
                  <a:lnTo>
                    <a:pt x="1210628" y="35242"/>
                  </a:lnTo>
                  <a:lnTo>
                    <a:pt x="1285875" y="53340"/>
                  </a:lnTo>
                  <a:lnTo>
                    <a:pt x="1362075" y="75248"/>
                  </a:lnTo>
                  <a:lnTo>
                    <a:pt x="1438275" y="100965"/>
                  </a:lnTo>
                  <a:lnTo>
                    <a:pt x="1513522" y="128588"/>
                  </a:lnTo>
                  <a:lnTo>
                    <a:pt x="1594485" y="159067"/>
                  </a:lnTo>
                  <a:lnTo>
                    <a:pt x="1670685" y="192405"/>
                  </a:lnTo>
                  <a:lnTo>
                    <a:pt x="1745932" y="224790"/>
                  </a:lnTo>
                  <a:lnTo>
                    <a:pt x="1822132" y="258128"/>
                  </a:lnTo>
                  <a:lnTo>
                    <a:pt x="1897380" y="290512"/>
                  </a:lnTo>
                  <a:lnTo>
                    <a:pt x="1973580" y="323850"/>
                  </a:lnTo>
                  <a:lnTo>
                    <a:pt x="2048828" y="356235"/>
                  </a:lnTo>
                  <a:lnTo>
                    <a:pt x="2130743" y="386715"/>
                  </a:lnTo>
                  <a:lnTo>
                    <a:pt x="2205990" y="415290"/>
                  </a:lnTo>
                  <a:lnTo>
                    <a:pt x="2282190" y="441008"/>
                  </a:lnTo>
                  <a:lnTo>
                    <a:pt x="2357438" y="461962"/>
                  </a:lnTo>
                  <a:lnTo>
                    <a:pt x="2433638" y="481012"/>
                  </a:lnTo>
                  <a:lnTo>
                    <a:pt x="2514600" y="497205"/>
                  </a:lnTo>
                  <a:lnTo>
                    <a:pt x="2589848" y="506730"/>
                  </a:lnTo>
                  <a:lnTo>
                    <a:pt x="2666048" y="514350"/>
                  </a:lnTo>
                  <a:lnTo>
                    <a:pt x="2741295" y="516255"/>
                  </a:lnTo>
                  <a:lnTo>
                    <a:pt x="2817495" y="514350"/>
                  </a:lnTo>
                  <a:lnTo>
                    <a:pt x="2892743" y="506730"/>
                  </a:lnTo>
                  <a:lnTo>
                    <a:pt x="2968943" y="497205"/>
                  </a:lnTo>
                  <a:lnTo>
                    <a:pt x="3049905" y="481012"/>
                  </a:lnTo>
                  <a:lnTo>
                    <a:pt x="3126105" y="461962"/>
                  </a:lnTo>
                  <a:lnTo>
                    <a:pt x="3201352" y="441008"/>
                  </a:lnTo>
                  <a:lnTo>
                    <a:pt x="3277552" y="415290"/>
                  </a:lnTo>
                  <a:lnTo>
                    <a:pt x="3352800" y="386715"/>
                  </a:lnTo>
                  <a:lnTo>
                    <a:pt x="3433762" y="356235"/>
                  </a:lnTo>
                  <a:lnTo>
                    <a:pt x="3509962" y="323850"/>
                  </a:lnTo>
                  <a:lnTo>
                    <a:pt x="3585210" y="290512"/>
                  </a:lnTo>
                  <a:lnTo>
                    <a:pt x="3644265" y="265748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6915150" y="2416492"/>
              <a:ext cx="3644265" cy="516255"/>
            </a:xfrm>
            <a:custGeom>
              <a:avLst/>
              <a:gdLst/>
              <a:ahLst/>
              <a:cxnLst/>
              <a:rect l="l" t="t" r="r" b="b"/>
              <a:pathLst>
                <a:path w="3644265" h="516255">
                  <a:moveTo>
                    <a:pt x="0" y="265748"/>
                  </a:moveTo>
                  <a:lnTo>
                    <a:pt x="58103" y="290512"/>
                  </a:lnTo>
                  <a:lnTo>
                    <a:pt x="134303" y="323850"/>
                  </a:lnTo>
                  <a:lnTo>
                    <a:pt x="209550" y="356235"/>
                  </a:lnTo>
                  <a:lnTo>
                    <a:pt x="290512" y="386715"/>
                  </a:lnTo>
                  <a:lnTo>
                    <a:pt x="366712" y="415290"/>
                  </a:lnTo>
                  <a:lnTo>
                    <a:pt x="441960" y="441008"/>
                  </a:lnTo>
                  <a:lnTo>
                    <a:pt x="518160" y="461962"/>
                  </a:lnTo>
                  <a:lnTo>
                    <a:pt x="593407" y="481012"/>
                  </a:lnTo>
                  <a:lnTo>
                    <a:pt x="675322" y="497205"/>
                  </a:lnTo>
                  <a:lnTo>
                    <a:pt x="750570" y="506730"/>
                  </a:lnTo>
                  <a:lnTo>
                    <a:pt x="826770" y="514350"/>
                  </a:lnTo>
                  <a:lnTo>
                    <a:pt x="902018" y="516255"/>
                  </a:lnTo>
                  <a:lnTo>
                    <a:pt x="978218" y="514350"/>
                  </a:lnTo>
                  <a:lnTo>
                    <a:pt x="1053465" y="506730"/>
                  </a:lnTo>
                  <a:lnTo>
                    <a:pt x="1129665" y="497205"/>
                  </a:lnTo>
                  <a:lnTo>
                    <a:pt x="1210628" y="481012"/>
                  </a:lnTo>
                  <a:lnTo>
                    <a:pt x="1285875" y="461962"/>
                  </a:lnTo>
                  <a:lnTo>
                    <a:pt x="1362075" y="441008"/>
                  </a:lnTo>
                  <a:lnTo>
                    <a:pt x="1438275" y="415290"/>
                  </a:lnTo>
                  <a:lnTo>
                    <a:pt x="1513522" y="386715"/>
                  </a:lnTo>
                  <a:lnTo>
                    <a:pt x="1594485" y="356235"/>
                  </a:lnTo>
                  <a:lnTo>
                    <a:pt x="1670685" y="323850"/>
                  </a:lnTo>
                  <a:lnTo>
                    <a:pt x="1745932" y="290512"/>
                  </a:lnTo>
                  <a:lnTo>
                    <a:pt x="1822132" y="258128"/>
                  </a:lnTo>
                  <a:lnTo>
                    <a:pt x="1897380" y="224790"/>
                  </a:lnTo>
                  <a:lnTo>
                    <a:pt x="1973580" y="192405"/>
                  </a:lnTo>
                  <a:lnTo>
                    <a:pt x="2048828" y="159067"/>
                  </a:lnTo>
                  <a:lnTo>
                    <a:pt x="2130743" y="128588"/>
                  </a:lnTo>
                  <a:lnTo>
                    <a:pt x="2205990" y="100965"/>
                  </a:lnTo>
                  <a:lnTo>
                    <a:pt x="2282190" y="75248"/>
                  </a:lnTo>
                  <a:lnTo>
                    <a:pt x="2357438" y="53340"/>
                  </a:lnTo>
                  <a:lnTo>
                    <a:pt x="2433638" y="35242"/>
                  </a:lnTo>
                  <a:lnTo>
                    <a:pt x="2514600" y="18098"/>
                  </a:lnTo>
                  <a:lnTo>
                    <a:pt x="2589848" y="9525"/>
                  </a:lnTo>
                  <a:lnTo>
                    <a:pt x="2666048" y="1905"/>
                  </a:lnTo>
                  <a:lnTo>
                    <a:pt x="2741295" y="0"/>
                  </a:lnTo>
                  <a:lnTo>
                    <a:pt x="2817495" y="1905"/>
                  </a:lnTo>
                  <a:lnTo>
                    <a:pt x="2892743" y="9525"/>
                  </a:lnTo>
                  <a:lnTo>
                    <a:pt x="2968943" y="18098"/>
                  </a:lnTo>
                  <a:lnTo>
                    <a:pt x="3049905" y="35242"/>
                  </a:lnTo>
                  <a:lnTo>
                    <a:pt x="3126105" y="53340"/>
                  </a:lnTo>
                  <a:lnTo>
                    <a:pt x="3201352" y="75248"/>
                  </a:lnTo>
                  <a:lnTo>
                    <a:pt x="3277552" y="100965"/>
                  </a:lnTo>
                  <a:lnTo>
                    <a:pt x="3352800" y="128588"/>
                  </a:lnTo>
                  <a:lnTo>
                    <a:pt x="3433762" y="159067"/>
                  </a:lnTo>
                  <a:lnTo>
                    <a:pt x="3509962" y="192405"/>
                  </a:lnTo>
                  <a:lnTo>
                    <a:pt x="3585210" y="224790"/>
                  </a:lnTo>
                  <a:lnTo>
                    <a:pt x="3644265" y="250508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42" name="Freeform 42"/>
            <p:cNvSpPr/>
            <p:nvPr/>
          </p:nvSpPr>
          <p:spPr>
            <a:xfrm>
              <a:off x="6913245" y="3144202"/>
              <a:ext cx="3647123" cy="516255"/>
            </a:xfrm>
            <a:custGeom>
              <a:avLst/>
              <a:gdLst/>
              <a:ahLst/>
              <a:cxnLst/>
              <a:rect l="l" t="t" r="r" b="b"/>
              <a:pathLst>
                <a:path w="3647123" h="516255">
                  <a:moveTo>
                    <a:pt x="0" y="247650"/>
                  </a:moveTo>
                  <a:lnTo>
                    <a:pt x="60008" y="208597"/>
                  </a:lnTo>
                  <a:lnTo>
                    <a:pt x="136208" y="159067"/>
                  </a:lnTo>
                  <a:lnTo>
                    <a:pt x="211455" y="115252"/>
                  </a:lnTo>
                  <a:lnTo>
                    <a:pt x="292418" y="75247"/>
                  </a:lnTo>
                  <a:lnTo>
                    <a:pt x="368618" y="44767"/>
                  </a:lnTo>
                  <a:lnTo>
                    <a:pt x="443865" y="19050"/>
                  </a:lnTo>
                  <a:lnTo>
                    <a:pt x="520065" y="4762"/>
                  </a:lnTo>
                  <a:lnTo>
                    <a:pt x="595312" y="0"/>
                  </a:lnTo>
                  <a:lnTo>
                    <a:pt x="677228" y="4762"/>
                  </a:lnTo>
                  <a:lnTo>
                    <a:pt x="752475" y="19050"/>
                  </a:lnTo>
                  <a:lnTo>
                    <a:pt x="828675" y="44767"/>
                  </a:lnTo>
                  <a:lnTo>
                    <a:pt x="903923" y="75247"/>
                  </a:lnTo>
                  <a:lnTo>
                    <a:pt x="980123" y="115252"/>
                  </a:lnTo>
                  <a:lnTo>
                    <a:pt x="1055370" y="159067"/>
                  </a:lnTo>
                  <a:lnTo>
                    <a:pt x="1131570" y="208597"/>
                  </a:lnTo>
                  <a:lnTo>
                    <a:pt x="1212533" y="258127"/>
                  </a:lnTo>
                  <a:lnTo>
                    <a:pt x="1287780" y="307657"/>
                  </a:lnTo>
                  <a:lnTo>
                    <a:pt x="1363980" y="357188"/>
                  </a:lnTo>
                  <a:lnTo>
                    <a:pt x="1440180" y="401002"/>
                  </a:lnTo>
                  <a:lnTo>
                    <a:pt x="1515428" y="441007"/>
                  </a:lnTo>
                  <a:lnTo>
                    <a:pt x="1596390" y="471488"/>
                  </a:lnTo>
                  <a:lnTo>
                    <a:pt x="1672590" y="497205"/>
                  </a:lnTo>
                  <a:lnTo>
                    <a:pt x="1747838" y="511492"/>
                  </a:lnTo>
                  <a:lnTo>
                    <a:pt x="1824038" y="516255"/>
                  </a:lnTo>
                  <a:lnTo>
                    <a:pt x="1899285" y="511492"/>
                  </a:lnTo>
                  <a:lnTo>
                    <a:pt x="1975485" y="497205"/>
                  </a:lnTo>
                  <a:lnTo>
                    <a:pt x="2050733" y="471488"/>
                  </a:lnTo>
                  <a:lnTo>
                    <a:pt x="2132648" y="441007"/>
                  </a:lnTo>
                  <a:lnTo>
                    <a:pt x="2207895" y="401002"/>
                  </a:lnTo>
                  <a:lnTo>
                    <a:pt x="2284095" y="357188"/>
                  </a:lnTo>
                  <a:lnTo>
                    <a:pt x="2359343" y="307657"/>
                  </a:lnTo>
                  <a:lnTo>
                    <a:pt x="2435543" y="258127"/>
                  </a:lnTo>
                  <a:lnTo>
                    <a:pt x="2516505" y="208597"/>
                  </a:lnTo>
                  <a:lnTo>
                    <a:pt x="2591752" y="159067"/>
                  </a:lnTo>
                  <a:lnTo>
                    <a:pt x="2667952" y="115252"/>
                  </a:lnTo>
                  <a:lnTo>
                    <a:pt x="2743200" y="75247"/>
                  </a:lnTo>
                  <a:lnTo>
                    <a:pt x="2819400" y="44767"/>
                  </a:lnTo>
                  <a:lnTo>
                    <a:pt x="2894648" y="19050"/>
                  </a:lnTo>
                  <a:lnTo>
                    <a:pt x="2970848" y="4762"/>
                  </a:lnTo>
                  <a:lnTo>
                    <a:pt x="3051810" y="0"/>
                  </a:lnTo>
                  <a:lnTo>
                    <a:pt x="3128010" y="4762"/>
                  </a:lnTo>
                  <a:lnTo>
                    <a:pt x="3203257" y="19050"/>
                  </a:lnTo>
                  <a:lnTo>
                    <a:pt x="3279457" y="44767"/>
                  </a:lnTo>
                  <a:lnTo>
                    <a:pt x="3354705" y="75247"/>
                  </a:lnTo>
                  <a:lnTo>
                    <a:pt x="3435668" y="115252"/>
                  </a:lnTo>
                  <a:lnTo>
                    <a:pt x="3511868" y="159067"/>
                  </a:lnTo>
                  <a:lnTo>
                    <a:pt x="3587115" y="208597"/>
                  </a:lnTo>
                  <a:lnTo>
                    <a:pt x="3647123" y="24765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6913245" y="3144202"/>
              <a:ext cx="3647123" cy="516255"/>
            </a:xfrm>
            <a:custGeom>
              <a:avLst/>
              <a:gdLst/>
              <a:ahLst/>
              <a:cxnLst/>
              <a:rect l="l" t="t" r="r" b="b"/>
              <a:pathLst>
                <a:path w="3647123" h="516255">
                  <a:moveTo>
                    <a:pt x="0" y="268605"/>
                  </a:moveTo>
                  <a:lnTo>
                    <a:pt x="60008" y="307657"/>
                  </a:lnTo>
                  <a:lnTo>
                    <a:pt x="136208" y="357188"/>
                  </a:lnTo>
                  <a:lnTo>
                    <a:pt x="211455" y="401002"/>
                  </a:lnTo>
                  <a:lnTo>
                    <a:pt x="292418" y="441007"/>
                  </a:lnTo>
                  <a:lnTo>
                    <a:pt x="368618" y="471488"/>
                  </a:lnTo>
                  <a:lnTo>
                    <a:pt x="443865" y="497205"/>
                  </a:lnTo>
                  <a:lnTo>
                    <a:pt x="520065" y="511492"/>
                  </a:lnTo>
                  <a:lnTo>
                    <a:pt x="595312" y="516255"/>
                  </a:lnTo>
                  <a:lnTo>
                    <a:pt x="677228" y="511492"/>
                  </a:lnTo>
                  <a:lnTo>
                    <a:pt x="752475" y="497205"/>
                  </a:lnTo>
                  <a:lnTo>
                    <a:pt x="828675" y="471488"/>
                  </a:lnTo>
                  <a:lnTo>
                    <a:pt x="903923" y="441007"/>
                  </a:lnTo>
                  <a:lnTo>
                    <a:pt x="980123" y="401002"/>
                  </a:lnTo>
                  <a:lnTo>
                    <a:pt x="1055370" y="357188"/>
                  </a:lnTo>
                  <a:lnTo>
                    <a:pt x="1131570" y="307657"/>
                  </a:lnTo>
                  <a:lnTo>
                    <a:pt x="1212533" y="258127"/>
                  </a:lnTo>
                  <a:lnTo>
                    <a:pt x="1287780" y="208597"/>
                  </a:lnTo>
                  <a:lnTo>
                    <a:pt x="1363980" y="159067"/>
                  </a:lnTo>
                  <a:lnTo>
                    <a:pt x="1440180" y="115252"/>
                  </a:lnTo>
                  <a:lnTo>
                    <a:pt x="1515428" y="75247"/>
                  </a:lnTo>
                  <a:lnTo>
                    <a:pt x="1596390" y="44767"/>
                  </a:lnTo>
                  <a:lnTo>
                    <a:pt x="1672590" y="19050"/>
                  </a:lnTo>
                  <a:lnTo>
                    <a:pt x="1747838" y="4762"/>
                  </a:lnTo>
                  <a:lnTo>
                    <a:pt x="1824038" y="0"/>
                  </a:lnTo>
                  <a:lnTo>
                    <a:pt x="1899285" y="4762"/>
                  </a:lnTo>
                  <a:lnTo>
                    <a:pt x="1975485" y="19050"/>
                  </a:lnTo>
                  <a:lnTo>
                    <a:pt x="2050733" y="44767"/>
                  </a:lnTo>
                  <a:lnTo>
                    <a:pt x="2132648" y="75247"/>
                  </a:lnTo>
                  <a:lnTo>
                    <a:pt x="2207895" y="115252"/>
                  </a:lnTo>
                  <a:lnTo>
                    <a:pt x="2284095" y="159067"/>
                  </a:lnTo>
                  <a:lnTo>
                    <a:pt x="2359343" y="208597"/>
                  </a:lnTo>
                  <a:lnTo>
                    <a:pt x="2435543" y="258127"/>
                  </a:lnTo>
                  <a:lnTo>
                    <a:pt x="2516505" y="307657"/>
                  </a:lnTo>
                  <a:lnTo>
                    <a:pt x="2591752" y="357188"/>
                  </a:lnTo>
                  <a:lnTo>
                    <a:pt x="2667952" y="401002"/>
                  </a:lnTo>
                  <a:lnTo>
                    <a:pt x="2743200" y="441007"/>
                  </a:lnTo>
                  <a:lnTo>
                    <a:pt x="2819400" y="471488"/>
                  </a:lnTo>
                  <a:lnTo>
                    <a:pt x="2894648" y="497205"/>
                  </a:lnTo>
                  <a:lnTo>
                    <a:pt x="2970848" y="511492"/>
                  </a:lnTo>
                  <a:lnTo>
                    <a:pt x="3051810" y="516255"/>
                  </a:lnTo>
                  <a:lnTo>
                    <a:pt x="3128010" y="511492"/>
                  </a:lnTo>
                  <a:lnTo>
                    <a:pt x="3203257" y="497205"/>
                  </a:lnTo>
                  <a:lnTo>
                    <a:pt x="3279457" y="471488"/>
                  </a:lnTo>
                  <a:lnTo>
                    <a:pt x="3354705" y="441007"/>
                  </a:lnTo>
                  <a:lnTo>
                    <a:pt x="3435668" y="401002"/>
                  </a:lnTo>
                  <a:lnTo>
                    <a:pt x="3511868" y="357188"/>
                  </a:lnTo>
                  <a:lnTo>
                    <a:pt x="3587115" y="307657"/>
                  </a:lnTo>
                  <a:lnTo>
                    <a:pt x="3647123" y="268605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44" name="Ellipse 44"/>
            <p:cNvSpPr/>
            <p:nvPr/>
          </p:nvSpPr>
          <p:spPr>
            <a:xfrm>
              <a:off x="6888480" y="193738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10567035" y="193738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6888480" y="193738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10567035" y="193738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6888480" y="266509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10567035" y="266509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6888480" y="266509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10567035" y="266509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6888480" y="339280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10567035" y="339280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6888480" y="339280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10567035" y="339280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389961" y="1857851"/>
              <a:ext cx="25789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n = 1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389961" y="2585561"/>
              <a:ext cx="25789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n = 2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389961" y="3313271"/>
              <a:ext cx="25789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n = 3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788015" y="1857851"/>
              <a:ext cx="38979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 = λ/2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788015" y="2585561"/>
              <a:ext cx="26492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 = λ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788015" y="3313271"/>
              <a:ext cx="4522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 = 3λ/2</a:t>
              </a:r>
            </a:p>
          </p:txBody>
        </p:sp>
      </p:grpSp>
      <p:grpSp>
        <p:nvGrpSpPr>
          <p:cNvPr id="68" name="c2-card-2"/>
          <p:cNvGrpSpPr/>
          <p:nvPr/>
        </p:nvGrpSpPr>
        <p:grpSpPr>
          <a:xfrm>
            <a:off x="6248400" y="4036695"/>
            <a:ext cx="5410200" cy="1966912"/>
            <a:chOff x="6248400" y="4036695"/>
            <a:chExt cx="5410200" cy="1966912"/>
          </a:xfrm>
        </p:grpSpPr>
        <p:sp>
          <p:nvSpPr>
            <p:cNvPr id="63" name="Rectangle 63"/>
            <p:cNvSpPr/>
            <p:nvPr/>
          </p:nvSpPr>
          <p:spPr>
            <a:xfrm>
              <a:off x="6248400" y="4036695"/>
              <a:ext cx="5410200" cy="1966912"/>
            </a:xfrm>
            <a:prstGeom prst="roundRect">
              <a:avLst>
                <a:gd name="adj" fmla="val 678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6429375" y="4217670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510846" y="4250531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两端固定弦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6" name="formula48"/>
                <p:cNvSpPr txBox="1">
                  <a:spLocks noGrp="1"/>
                </p:cNvSpPr>
                <p:nvPr/>
              </p:nvSpPr>
              <p:spPr>
                <a:xfrm>
                  <a:off x="6429375" y="4536758"/>
                  <a:ext cx="5048250" cy="43719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L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</m:t>
                            </m:r>
                          </m:num>
                          <m:den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,⋯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67" name="TextBox 67"/>
            <p:cNvSpPr txBox="1"/>
            <p:nvPr/>
          </p:nvSpPr>
          <p:spPr>
            <a:xfrm>
              <a:off x="6422898" y="5076349"/>
              <a:ext cx="47271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弦两端都是波节，弦长必须是半波长的整数倍，只有这些频率的驻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波能稳定存在。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第2至8章 内容总结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23380" cy="909257"/>
            <a:chOff x="520446" y="342900"/>
            <a:chExt cx="66233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183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325" y="407194"/>
              <a:ext cx="1550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内容总结 · 振动与波动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233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电磁波是横波，E 与 H 互相垂直且同相变化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9" name="c1-image-1"/>
          <p:cNvGrpSpPr/>
          <p:nvPr/>
        </p:nvGrpSpPr>
        <p:grpSpPr>
          <a:xfrm>
            <a:off x="1148982" y="1524000"/>
            <a:ext cx="3746602" cy="2716149"/>
            <a:chOff x="1148982" y="1524000"/>
            <a:chExt cx="3746602" cy="2716149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rcRect l="16666" t="0" r="16667" b="0"/>
            <a:stretch>
              <a:fillRect/>
            </a:stretch>
          </p:blipFill>
          <p:spPr>
            <a:xfrm>
              <a:off x="1410652" y="1524000"/>
              <a:ext cx="3223260" cy="2417445"/>
            </a:xfrm>
            <a:prstGeom prst="roundRect">
              <a:avLst>
                <a:gd name="adj" fmla="val 5516"/>
              </a:avLst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1148982" y="4034790"/>
              <a:ext cx="37466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蓝带代表 E 的振动、红带代表 H 的振动，两者同时到达峰值</a:t>
              </a:r>
            </a:p>
          </p:txBody>
        </p:sp>
      </p:grpSp>
      <p:grpSp>
        <p:nvGrpSpPr>
          <p:cNvPr id="15" name="c1-card-2"/>
          <p:cNvGrpSpPr/>
          <p:nvPr/>
        </p:nvGrpSpPr>
        <p:grpSpPr>
          <a:xfrm>
            <a:off x="533400" y="4398645"/>
            <a:ext cx="4977765" cy="1188720"/>
            <a:chOff x="533400" y="4398645"/>
            <a:chExt cx="4977765" cy="1188720"/>
          </a:xfrm>
        </p:grpSpPr>
        <p:sp>
          <p:nvSpPr>
            <p:cNvPr id="10" name="Rectangle 10"/>
            <p:cNvSpPr/>
            <p:nvPr/>
          </p:nvSpPr>
          <p:spPr>
            <a:xfrm>
              <a:off x="533400" y="4398645"/>
              <a:ext cx="4977765" cy="1188720"/>
            </a:xfrm>
            <a:prstGeom prst="roundRect">
              <a:avLst>
                <a:gd name="adj" fmla="val 1121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542925" y="4531995"/>
              <a:ext cx="47625" cy="92202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69620" y="459676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53059" y="463105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传播速度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formula56"/>
                <p:cNvSpPr txBox="1">
                  <a:spLocks noGrp="1"/>
                </p:cNvSpPr>
                <p:nvPr/>
              </p:nvSpPr>
              <p:spPr>
                <a:xfrm>
                  <a:off x="769620" y="4933950"/>
                  <a:ext cx="4543425" cy="43719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u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εμ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c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ε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0</m:t>
                                    </m:r>
                                  </m:sub>
                                </m:sSub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μ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≈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sSup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e>
                          <m:sup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8</m:t>
                            </m:r>
                          </m:sup>
                        </m:sSup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m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s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8" name="c2-card-1"/>
          <p:cNvGrpSpPr/>
          <p:nvPr/>
        </p:nvGrpSpPr>
        <p:grpSpPr>
          <a:xfrm>
            <a:off x="5815965" y="1524000"/>
            <a:ext cx="5842635" cy="2158365"/>
            <a:chOff x="5815965" y="1524000"/>
            <a:chExt cx="5842635" cy="2158365"/>
          </a:xfrm>
        </p:grpSpPr>
        <p:sp>
          <p:nvSpPr>
            <p:cNvPr id="16" name="Rectangle 16"/>
            <p:cNvSpPr/>
            <p:nvPr/>
          </p:nvSpPr>
          <p:spPr>
            <a:xfrm>
              <a:off x="5815965" y="1524000"/>
              <a:ext cx="5842635" cy="2158365"/>
            </a:xfrm>
            <a:prstGeom prst="roundRect">
              <a:avLst>
                <a:gd name="adj" fmla="val 6178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014085" y="1722120"/>
              <a:ext cx="127635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081522" y="175641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电磁波的三条性质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6014085" y="2070735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072430" y="211012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04026" y="2082641"/>
              <a:ext cx="484759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横波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：E 与 H 互相垂直，且都垂直于传播方向 k；E、H、k 构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成右手螺旋系（E × H 的方向就是 k 的方向）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6014085" y="2659380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072430" y="269971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04026" y="2672239"/>
              <a:ext cx="48836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 与 H 都作简谐变化，</a:t>
              </a:r>
              <a:r>
                <a:rPr lang="zh-CN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二者相位相同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，同时达到最大、同时为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零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014085" y="3248977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072430" y="328931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04026" y="3260884"/>
              <a:ext cx="387456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大小关系：√ε E = √μ H，瞬时值和振幅都满足</a:t>
              </a:r>
            </a:p>
          </p:txBody>
        </p:sp>
      </p:grpSp>
      <p:grpSp>
        <p:nvGrpSpPr>
          <p:cNvPr id="44" name="c2-table-2"/>
          <p:cNvGrpSpPr/>
          <p:nvPr/>
        </p:nvGrpSpPr>
        <p:grpSpPr>
          <a:xfrm>
            <a:off x="5815965" y="3862388"/>
            <a:ext cx="5842635" cy="1273492"/>
            <a:chOff x="5815965" y="3862388"/>
            <a:chExt cx="5842635" cy="1273492"/>
          </a:xfrm>
        </p:grpSpPr>
        <p:sp>
          <p:nvSpPr>
            <p:cNvPr id="29" name="Rectangle 29"/>
            <p:cNvSpPr/>
            <p:nvPr/>
          </p:nvSpPr>
          <p:spPr>
            <a:xfrm>
              <a:off x="5815965" y="3862388"/>
              <a:ext cx="5842635" cy="42481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290310" y="399097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介质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953840" y="3990975"/>
              <a:ext cx="7477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E、H 关系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233172" y="3990975"/>
              <a:ext cx="7477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E、B 关系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918454" y="441483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真空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810805" y="4414838"/>
              <a:ext cx="10338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√ε₀ E = √μ₀ H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958578" y="4414838"/>
              <a:ext cx="12969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= cB，E₀ = cB₀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815965" y="470630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815965" y="4711065"/>
              <a:ext cx="584263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918454" y="483965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介质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902169" y="4839652"/>
              <a:ext cx="8510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√ε E = √μ H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958578" y="4839652"/>
              <a:ext cx="12969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= uB，E₀ = uB₀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815965" y="3862388"/>
              <a:ext cx="5842635" cy="127349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7096125" y="3862388"/>
              <a:ext cx="9525" cy="12734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9550718" y="3862388"/>
              <a:ext cx="9525" cy="12734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1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45" name="Rectangle 45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38188" y="6011228"/>
              <a:ext cx="200026" cy="200025"/>
              <a:chOff x="738188" y="6011228"/>
              <a:chExt cx="200026" cy="200025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738188" y="601122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77926" y="605567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12642" y="616680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040511" y="6011704"/>
              <a:ext cx="767469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由 √ε E = √μ H 和 B = μH 可推出 E = uB：先记住真空里 E = cB，介质里把 c 换成 u 即可。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第2至8章 内容总结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37823" cy="909257"/>
            <a:chOff x="520446" y="342900"/>
            <a:chExt cx="79378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183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325" y="407194"/>
              <a:ext cx="1550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内容总结 · 振动与波动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378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电磁波的能量：坡印廷矢量 S = E × H 指向传播方向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63"/>
              <p:cNvSpPr txBox="1">
                <a:spLocks noGrp="1"/>
              </p:cNvSpPr>
              <p:nvPr/>
            </p:nvSpPr>
            <p:spPr>
              <a:xfrm>
                <a:off x="533400" y="1524000"/>
                <a:ext cx="5193982" cy="5400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w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ε</m:t>
                      </m:r>
                      <m:sSup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p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f>
                        <m:fPr>
                          <m:type m:val="bar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μ</m:t>
                      </m:r>
                      <m:sSup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p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formula64"/>
              <p:cNvSpPr txBox="1">
                <a:spLocks noGrp="1"/>
              </p:cNvSpPr>
              <p:nvPr/>
            </p:nvSpPr>
            <p:spPr>
              <a:xfrm>
                <a:off x="533400" y="2249805"/>
                <a:ext cx="5193982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S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wu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EH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acc>
                        <m:accPr>
                          <m:chr m:val="⃗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</m:acc>
                    </m:oMath>
                  </m:oMathPara>
                </a14:m>
              </a:p>
            </p:txBody>
          </p:sp>
        </mc:Choice>
      </mc:AlternateContent>
      <p:grpSp>
        <p:nvGrpSpPr>
          <p:cNvPr id="14" name="c1-card-3"/>
          <p:cNvGrpSpPr/>
          <p:nvPr/>
        </p:nvGrpSpPr>
        <p:grpSpPr>
          <a:xfrm>
            <a:off x="533400" y="2834640"/>
            <a:ext cx="5193982" cy="1818322"/>
            <a:chOff x="533400" y="2834640"/>
            <a:chExt cx="5193982" cy="1818322"/>
          </a:xfrm>
        </p:grpSpPr>
        <p:sp>
          <p:nvSpPr>
            <p:cNvPr id="9" name="Rectangle 9"/>
            <p:cNvSpPr/>
            <p:nvPr/>
          </p:nvSpPr>
          <p:spPr>
            <a:xfrm>
              <a:off x="533400" y="2834640"/>
              <a:ext cx="5193982" cy="1818322"/>
            </a:xfrm>
            <a:prstGeom prst="roundRect">
              <a:avLst>
                <a:gd name="adj" fmla="val 7334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37235" y="3038475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10692" y="307419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电磁波的强度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65"/>
                <p:cNvSpPr txBox="1">
                  <a:spLocks noGrp="1"/>
                </p:cNvSpPr>
                <p:nvPr/>
              </p:nvSpPr>
              <p:spPr>
                <a:xfrm>
                  <a:off x="737235" y="3388042"/>
                  <a:ext cx="4786312" cy="54006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acc>
                          <m:accPr>
                            <m:chr m:val="̅"/>
                            <m:ctrl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  <m:sSub>
                          <m:e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</m:sSub>
                        <m:sSub>
                          <m:e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31139" y="4040505"/>
              <a:ext cx="44013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E、H 同相，EH 的周期平均是 ½E₀H₀，因子 ½ 就来自 cos² 的平均</a:t>
              </a:r>
              <a:br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值。</a:t>
              </a:r>
            </a:p>
          </p:txBody>
        </p:sp>
      </p:grpSp>
      <p:grpSp>
        <p:nvGrpSpPr>
          <p:cNvPr id="21" name="c1-callout-4"/>
          <p:cNvGrpSpPr/>
          <p:nvPr/>
        </p:nvGrpSpPr>
        <p:grpSpPr>
          <a:xfrm>
            <a:off x="533400" y="4837748"/>
            <a:ext cx="5193982" cy="756285"/>
            <a:chOff x="533400" y="4837748"/>
            <a:chExt cx="5193982" cy="756285"/>
          </a:xfrm>
        </p:grpSpPr>
        <p:sp>
          <p:nvSpPr>
            <p:cNvPr id="15" name="Rectangle 15"/>
            <p:cNvSpPr/>
            <p:nvPr/>
          </p:nvSpPr>
          <p:spPr>
            <a:xfrm>
              <a:off x="533400" y="4837748"/>
              <a:ext cx="5193982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38188" y="5115878"/>
              <a:ext cx="200026" cy="200026"/>
              <a:chOff x="738188" y="5115878"/>
              <a:chExt cx="200026" cy="200026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738188" y="511587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38200" y="518255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27088" y="521589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040511" y="4985861"/>
              <a:ext cx="4198366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电场能与磁场能各占一半：√ε E = √μ H 两边平方即 ½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εE² = ½μH²。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6032182" y="1524000"/>
            <a:ext cx="5626418" cy="4070032"/>
            <a:chOff x="6032182" y="1524000"/>
            <a:chExt cx="5626418" cy="4070032"/>
          </a:xfrm>
        </p:grpSpPr>
        <p:sp>
          <p:nvSpPr>
            <p:cNvPr id="22" name="Rectangle 22"/>
            <p:cNvSpPr/>
            <p:nvPr/>
          </p:nvSpPr>
          <p:spPr>
            <a:xfrm>
              <a:off x="6032182" y="1524000"/>
              <a:ext cx="5626418" cy="4070032"/>
            </a:xfrm>
            <a:prstGeom prst="roundRect">
              <a:avLst>
                <a:gd name="adj" fmla="val 32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041708" y="1657350"/>
              <a:ext cx="47625" cy="380333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74118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64326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小例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874574" y="1767364"/>
              <a:ext cx="31200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真空中 E₀ = 100 V/m 的平面电磁波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407468" y="2247900"/>
              <a:ext cx="19050" cy="18621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6274118" y="21050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67741" y="21788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274118" y="272605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67741" y="27998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274118" y="334708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67741" y="34209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274118" y="396811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67741" y="40419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85979" y="2138839"/>
              <a:ext cx="50255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H₀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87122" y="2419350"/>
              <a:ext cx="33677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H₀ = √(ε₀/μ₀) E₀ = 100/376.7 ≈ 0.265 A/m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85979" y="2758916"/>
              <a:ext cx="50255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B₀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87122" y="3039427"/>
              <a:ext cx="34223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B₀ = E₀/c = 100/(3.00×10⁸) ≈ 3.34×10⁻⁷ T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85979" y="337994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求强度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87122" y="3660457"/>
              <a:ext cx="31951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½E₀H₀ = ½ × 100 × 0.265 ≈ 13.3 W/m²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85979" y="4000976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求平均能量密度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87122" y="4281488"/>
              <a:ext cx="46010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w平均 = ½ε₀E₀² = ½ × 8.85×10⁻¹² × 100² = 4.43×10⁻⁸ J/m³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268022" y="4619625"/>
              <a:ext cx="468325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复核：I = w平均 × c = 4.43×10⁻⁸ × 3.00×10⁸ = 13.3 W/m²，与第 3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步一致。</a:t>
              </a:r>
            </a:p>
          </p:txBody>
        </p:sp>
      </p:grpSp>
      <p:grpSp>
        <p:nvGrpSpPr>
          <p:cNvPr id="52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46" name="Rectangle 46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26129" y="5999916"/>
              <a:ext cx="224134" cy="192560"/>
              <a:chOff x="726129" y="5999916"/>
              <a:chExt cx="224134" cy="19256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838200" y="607028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726129" y="599991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38200" y="614807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040511" y="6004084"/>
              <a:ext cx="890307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易错：S = EH 是瞬时能流密度，考题问「强度」「平均能流密度」时要用 ½E₀H₀，不要把振幅直接相乘。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第2至8章 内容总结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579745" cy="3351847"/>
            <a:chOff x="667512" y="1835468"/>
            <a:chExt cx="5579745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49047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静电场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5698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从场强和电势两条线描述静电场，再看导体里的电荷分布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场强的定义、叠加与典型结果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电位移与高斯定理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环路定理、电势与电场能量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静电平衡的导体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第2至8章 内容总结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344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6177" y="407194"/>
              <a:ext cx="1248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内容总结 · 静电场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电场强度：单位正试验电荷受的力，按叠加原理求和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977390"/>
            <a:chOff x="533400" y="1524000"/>
            <a:chExt cx="5410200" cy="197739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977390"/>
            </a:xfrm>
            <a:prstGeom prst="roundRect">
              <a:avLst>
                <a:gd name="adj" fmla="val 674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1069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02945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214" y="1769269"/>
              <a:ext cx="534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1. 定义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formula70"/>
                <p:cNvSpPr txBox="1">
                  <a:spLocks noGrp="1"/>
                </p:cNvSpPr>
                <p:nvPr/>
              </p:nvSpPr>
              <p:spPr>
                <a:xfrm>
                  <a:off x="781050" y="2085975"/>
                  <a:ext cx="4953000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acc>
                          <m:accPr>
                            <m:chr m:val="⃗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acc>
                              <m:accPr>
                                <m:chr m:val="⃗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</m:e>
                            </m:acc>
                          </m:num>
                          <m:den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2" name="TextBox 12"/>
            <p:cNvSpPr txBox="1"/>
            <p:nvPr/>
          </p:nvSpPr>
          <p:spPr>
            <a:xfrm>
              <a:off x="773430" y="2771775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大小：单位正电荷受力的大小；方向：正电荷受力方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向；单位 N/C（即 V/m）。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691890"/>
            <a:ext cx="5410200" cy="1903095"/>
            <a:chOff x="533400" y="3691890"/>
            <a:chExt cx="5410200" cy="1903095"/>
          </a:xfrm>
        </p:grpSpPr>
        <p:sp>
          <p:nvSpPr>
            <p:cNvPr id="14" name="Rectangle 14"/>
            <p:cNvSpPr/>
            <p:nvPr/>
          </p:nvSpPr>
          <p:spPr>
            <a:xfrm>
              <a:off x="533400" y="3691890"/>
              <a:ext cx="5410200" cy="1903095"/>
            </a:xfrm>
            <a:prstGeom prst="roundRect">
              <a:avLst>
                <a:gd name="adj" fmla="val 70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825240"/>
              <a:ext cx="47625" cy="163639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81050" y="3901440"/>
              <a:ext cx="127254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48463" y="3937159"/>
              <a:ext cx="11377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2. 场强叠加原理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formula71"/>
                <p:cNvSpPr txBox="1">
                  <a:spLocks noGrp="1"/>
                </p:cNvSpPr>
                <p:nvPr/>
              </p:nvSpPr>
              <p:spPr>
                <a:xfrm>
                  <a:off x="781050" y="4253865"/>
                  <a:ext cx="4953000" cy="6915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acc>
                          <m:accPr>
                            <m:chr m:val="⃗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b>
                              <m:e>
                                <m:acc>
                                  <m:accPr>
                                    <m:chr m:val="⃗"/>
                                    <m:ctrl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9" name="TextBox 19"/>
            <p:cNvSpPr txBox="1"/>
            <p:nvPr/>
          </p:nvSpPr>
          <p:spPr>
            <a:xfrm>
              <a:off x="774573" y="5062061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点电荷系的场强等于各点电荷单独存在时场强的矢量和。</a:t>
              </a:r>
            </a:p>
          </p:txBody>
        </p:sp>
      </p:grpSp>
      <p:grpSp>
        <p:nvGrpSpPr>
          <p:cNvPr id="28" name="c2-card-1"/>
          <p:cNvGrpSpPr/>
          <p:nvPr/>
        </p:nvGrpSpPr>
        <p:grpSpPr>
          <a:xfrm>
            <a:off x="6248400" y="1524000"/>
            <a:ext cx="5410200" cy="2533650"/>
            <a:chOff x="6248400" y="1524000"/>
            <a:chExt cx="5410200" cy="2533650"/>
          </a:xfrm>
        </p:grpSpPr>
        <p:sp>
          <p:nvSpPr>
            <p:cNvPr id="21" name="Rectangle 21"/>
            <p:cNvSpPr/>
            <p:nvPr/>
          </p:nvSpPr>
          <p:spPr>
            <a:xfrm>
              <a:off x="6248400" y="1524000"/>
              <a:ext cx="5410200" cy="2533650"/>
            </a:xfrm>
            <a:prstGeom prst="roundRect">
              <a:avLst>
                <a:gd name="adj" fmla="val 5263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57950" y="1733550"/>
              <a:ext cx="1129665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29312" y="1769269"/>
              <a:ext cx="9869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3. 场强的计算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50330" y="2110740"/>
              <a:ext cx="13378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（1）点电荷：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formula72"/>
                <p:cNvSpPr txBox="1">
                  <a:spLocks noGrp="1"/>
                </p:cNvSpPr>
                <p:nvPr/>
              </p:nvSpPr>
              <p:spPr>
                <a:xfrm>
                  <a:off x="6457950" y="2421255"/>
                  <a:ext cx="4991100" cy="5143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acc>
                          <m:accPr>
                            <m:chr m:val="⃗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q</m:t>
                            </m:r>
                          </m:num>
                          <m:den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4π</m:t>
                            </m:r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ε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  <m:sSup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r</m:t>
                                </m:r>
                              </m:e>
                              <m:sup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sSub>
                          <m:e>
                            <m:acc>
                              <m:accPr>
                                <m:chr m:val="⃗"/>
                                <m:ctrlP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</m:acc>
                          </m:e>
                          <m:sub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</m:sub>
                        </m:sSub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6" name="TextBox 26"/>
            <p:cNvSpPr txBox="1"/>
            <p:nvPr/>
          </p:nvSpPr>
          <p:spPr>
            <a:xfrm>
              <a:off x="6450330" y="3055620"/>
              <a:ext cx="38418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（2）任意带电体：拆成电荷元 dq，再积分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formula73"/>
                <p:cNvSpPr txBox="1">
                  <a:spLocks noGrp="1"/>
                </p:cNvSpPr>
                <p:nvPr/>
              </p:nvSpPr>
              <p:spPr>
                <a:xfrm>
                  <a:off x="6457950" y="3366135"/>
                  <a:ext cx="4991100" cy="4629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acc>
                          <m:accPr>
                            <m:chr m:val="⃗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4π</m:t>
                            </m:r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ε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dq</m:t>
                            </m:r>
                          </m:num>
                          <m:den>
                            <m:sSup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r</m:t>
                                </m:r>
                              </m:e>
                              <m:sup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sSub>
                          <m:e>
                            <m:acc>
                              <m:accPr>
                                <m:chr m:val="⃗"/>
                                <m:ctrl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</m:acc>
                          </m:e>
                          <m:sub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acc>
                          <m:accPr>
                            <m:chr m:val="⃗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n"/>
                            <m:supHide m:val="on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acc>
                              <m:accPr>
                                <m:chr m:val="⃗"/>
                                <m:ctrl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</m:acc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44" name="c2-table-2"/>
          <p:cNvGrpSpPr/>
          <p:nvPr/>
        </p:nvGrpSpPr>
        <p:grpSpPr>
          <a:xfrm>
            <a:off x="6248400" y="4248150"/>
            <a:ext cx="5410200" cy="1346835"/>
            <a:chOff x="6248400" y="4248150"/>
            <a:chExt cx="5410200" cy="1346835"/>
          </a:xfrm>
        </p:grpSpPr>
        <p:sp>
          <p:nvSpPr>
            <p:cNvPr id="29" name="Rectangle 29"/>
            <p:cNvSpPr/>
            <p:nvPr/>
          </p:nvSpPr>
          <p:spPr>
            <a:xfrm>
              <a:off x="6248400" y="4248150"/>
              <a:ext cx="5410200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84594" y="438388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必记带电体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936634" y="438388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场强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668279" y="438388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方向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356223" y="4832509"/>
              <a:ext cx="16632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无限长带电直线（λ）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682472" y="4832509"/>
              <a:ext cx="865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λ/(2πε₀a)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495966" y="483250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垂直直线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248400" y="51406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248400" y="5145405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56223" y="5281136"/>
              <a:ext cx="16632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无限大带电平面（σ）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777244" y="5281136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σ/(2ε₀)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495966" y="528113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垂直板面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248400" y="4248150"/>
              <a:ext cx="5410200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424815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10030778" y="424815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1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5" name="Rectangle 45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040130" y="5991225"/>
              <a:ext cx="97457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易错：dE 是矢量，积分前先按对称性分解成分量，互相抵消的分量不必积分；只把大小 dE 直接相加是错的。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第2至8章 内容总结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613098" cy="909257"/>
            <a:chOff x="520446" y="342900"/>
            <a:chExt cx="561309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344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6177" y="407194"/>
              <a:ext cx="1248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内容总结 · 静电场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61309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电位移矢量 D 只由自由电荷决定通量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80"/>
              <p:cNvSpPr txBox="1">
                <a:spLocks noGrp="1"/>
              </p:cNvSpPr>
              <p:nvPr/>
            </p:nvSpPr>
            <p:spPr>
              <a:xfrm>
                <a:off x="533400" y="1524000"/>
                <a:ext cx="541020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⃗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ε</m:t>
                          </m:r>
                        </m:e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sSub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ε</m:t>
                          </m:r>
                        </m:e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sub>
                      </m:sSub>
                      <m:acc>
                        <m:accPr>
                          <m:chr m:val="⃗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ε</m:t>
                      </m:r>
                      <m:acc>
                        <m:accPr>
                          <m:chr m:val="⃗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</m:acc>
                    </m:oMath>
                  </m:oMathPara>
                </a14:m>
              </a:p>
            </p:txBody>
          </p:sp>
        </mc:Choice>
      </mc:AlternateContent>
      <p:grpSp>
        <p:nvGrpSpPr>
          <p:cNvPr id="26" name="c1-compare-2"/>
          <p:cNvGrpSpPr/>
          <p:nvPr/>
        </p:nvGrpSpPr>
        <p:grpSpPr>
          <a:xfrm>
            <a:off x="533400" y="2109788"/>
            <a:ext cx="5410200" cy="1855470"/>
            <a:chOff x="533400" y="2109788"/>
            <a:chExt cx="5410200" cy="1855470"/>
          </a:xfrm>
        </p:grpSpPr>
        <p:sp>
          <p:nvSpPr>
            <p:cNvPr id="8" name="Rectangle 8"/>
            <p:cNvSpPr/>
            <p:nvPr/>
          </p:nvSpPr>
          <p:spPr>
            <a:xfrm>
              <a:off x="533400" y="2109788"/>
              <a:ext cx="2495550" cy="1855470"/>
            </a:xfrm>
            <a:prstGeom prst="roundRect">
              <a:avLst>
                <a:gd name="adj" fmla="val 718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42925" y="2243138"/>
              <a:ext cx="47625" cy="158877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8096" y="2336959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电场线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2955" y="2735580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39546" y="2675096"/>
              <a:ext cx="16375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起自正电荷（自由正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电荷和极化正电荷）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2955" y="3327082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9546" y="3266599"/>
              <a:ext cx="16375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止于负电荷（自由负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电荷和极化负电荷）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448050" y="2109788"/>
              <a:ext cx="2495550" cy="1855470"/>
            </a:xfrm>
            <a:prstGeom prst="roundRect">
              <a:avLst>
                <a:gd name="adj" fmla="val 718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3457575" y="2243138"/>
              <a:ext cx="47625" cy="158877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682746" y="233695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电位移线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3697605" y="2735580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854196" y="2675096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起于自由正电荷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3697605" y="3055620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854196" y="2995136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止于自由负电荷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3697605" y="3375660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854196" y="3315176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与极化电荷无关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3076575" y="2875598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146915" y="2971800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32" name="c1-card-3"/>
          <p:cNvGrpSpPr/>
          <p:nvPr/>
        </p:nvGrpSpPr>
        <p:grpSpPr>
          <a:xfrm>
            <a:off x="533400" y="4150042"/>
            <a:ext cx="5410200" cy="1403985"/>
            <a:chOff x="533400" y="4150042"/>
            <a:chExt cx="5410200" cy="1403985"/>
          </a:xfrm>
        </p:grpSpPr>
        <p:sp>
          <p:nvSpPr>
            <p:cNvPr id="27" name="Rectangle 27"/>
            <p:cNvSpPr/>
            <p:nvPr/>
          </p:nvSpPr>
          <p:spPr>
            <a:xfrm>
              <a:off x="533400" y="4150042"/>
              <a:ext cx="5410200" cy="1403985"/>
            </a:xfrm>
            <a:prstGeom prst="roundRect">
              <a:avLst>
                <a:gd name="adj" fmla="val 949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42925" y="4283392"/>
              <a:ext cx="47625" cy="113728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75335" y="435387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65543" y="43895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8096" y="4726781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原课件写电场线「止于负电荷（包括自由正电荷和极化正电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荷）」，括号内应为自由负电荷和极化负电荷。</a:t>
              </a:r>
            </a:p>
          </p:txBody>
        </p:sp>
      </p:grpSp>
      <p:grpSp>
        <p:nvGrpSpPr>
          <p:cNvPr id="44" name="c2-card-1"/>
          <p:cNvGrpSpPr/>
          <p:nvPr/>
        </p:nvGrpSpPr>
        <p:grpSpPr>
          <a:xfrm>
            <a:off x="6248400" y="1524000"/>
            <a:ext cx="5410200" cy="2521268"/>
            <a:chOff x="6248400" y="1524000"/>
            <a:chExt cx="5410200" cy="2521268"/>
          </a:xfrm>
        </p:grpSpPr>
        <p:sp>
          <p:nvSpPr>
            <p:cNvPr id="33" name="Rectangle 33"/>
            <p:cNvSpPr/>
            <p:nvPr/>
          </p:nvSpPr>
          <p:spPr>
            <a:xfrm>
              <a:off x="6248400" y="1524000"/>
              <a:ext cx="5410200" cy="2521268"/>
            </a:xfrm>
            <a:prstGeom prst="roundRect">
              <a:avLst>
                <a:gd name="adj" fmla="val 5289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452235" y="1727835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29642" y="176355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电位移通量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452235" y="2088832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10580" y="212821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743129" y="2100739"/>
              <a:ext cx="171544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曲面 S、任意电场：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formula81"/>
                <p:cNvSpPr txBox="1">
                  <a:spLocks noGrp="1"/>
                </p:cNvSpPr>
                <p:nvPr/>
              </p:nvSpPr>
              <p:spPr>
                <a:xfrm>
                  <a:off x="6452235" y="2397442"/>
                  <a:ext cx="5002530" cy="5067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Φ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n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sub>
                          <m:sup/>
                          <m:e>
                            <m:acc>
                              <m:accPr>
                                <m:chr m:val="⃗"/>
                                <m:ctrl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</m:e>
                            </m:acc>
                          </m:e>
                        </m:nary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acc>
                          <m:accPr>
                            <m:chr m:val="⃗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e>
                        </m:acc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0" name="Ellipse 40"/>
            <p:cNvSpPr/>
            <p:nvPr/>
          </p:nvSpPr>
          <p:spPr>
            <a:xfrm>
              <a:off x="6452235" y="3007995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10580" y="304738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743129" y="3019901"/>
              <a:ext cx="209776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闭合曲面 S、任意电场：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3" name="formula82"/>
                <p:cNvSpPr txBox="1">
                  <a:spLocks noGrp="1"/>
                </p:cNvSpPr>
                <p:nvPr/>
              </p:nvSpPr>
              <p:spPr>
                <a:xfrm>
                  <a:off x="6452235" y="3316605"/>
                  <a:ext cx="5002530" cy="5067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Φ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∮"/>
                            <m:limLoc m:val="subSup"/>
                            <m:grow m:val="off"/>
                            <m:subHide m:val="off"/>
                            <m:supHide m:val="on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sub>
                          <m:sup/>
                          <m:e>
                            <m:acc>
                              <m:accPr>
                                <m:chr m:val="⃗"/>
                                <m:ctrl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</m:e>
                            </m:acc>
                          </m:e>
                        </m:nary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acc>
                          <m:accPr>
                            <m:chr m:val="⃗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e>
                        </m:acc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53" name="c2-card-2"/>
          <p:cNvGrpSpPr/>
          <p:nvPr/>
        </p:nvGrpSpPr>
        <p:grpSpPr>
          <a:xfrm>
            <a:off x="6248400" y="4231005"/>
            <a:ext cx="5410200" cy="1323022"/>
            <a:chOff x="6248400" y="4231005"/>
            <a:chExt cx="5410200" cy="1323022"/>
          </a:xfrm>
        </p:grpSpPr>
        <p:sp>
          <p:nvSpPr>
            <p:cNvPr id="45" name="Rectangle 45"/>
            <p:cNvSpPr/>
            <p:nvPr/>
          </p:nvSpPr>
          <p:spPr>
            <a:xfrm>
              <a:off x="6248400" y="4231005"/>
              <a:ext cx="5410200" cy="1323022"/>
            </a:xfrm>
            <a:prstGeom prst="roundRect">
              <a:avLst>
                <a:gd name="adj" fmla="val 100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257925" y="4364355"/>
              <a:ext cx="47625" cy="105632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490335" y="443484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72644" y="447055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符号约定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497955" y="4868228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654546" y="4807744"/>
              <a:ext cx="47934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闭合曲面的法向规定向外：电位移线穿出为正，穿入为负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497955" y="5188267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654546" y="5127784"/>
              <a:ext cx="2881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通量为正表示面内净自由电荷为正</a:t>
              </a:r>
            </a:p>
          </p:txBody>
        </p:sp>
      </p:grpSp>
      <p:grpSp>
        <p:nvGrpSpPr>
          <p:cNvPr id="60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54" name="Rectangle 54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38188" y="6003608"/>
              <a:ext cx="200026" cy="200025"/>
              <a:chOff x="738188" y="6003608"/>
              <a:chExt cx="200026" cy="200025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738188" y="60036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777926" y="60480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12642" y="61591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040511" y="6004084"/>
              <a:ext cx="88484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有电介质时先用 D 的高斯定理求 D（只数自由电荷），再用 E = D/ε 求场强，可以绕开未知的极化电荷。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第2至8章 内容总结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344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6177" y="407194"/>
              <a:ext cx="1248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内容总结 · 静电场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高斯定理：按电荷分布的对称性选高斯面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87"/>
              <p:cNvSpPr txBox="1">
                <a:spLocks noGrp="1"/>
              </p:cNvSpPr>
              <p:nvPr/>
            </p:nvSpPr>
            <p:spPr>
              <a:xfrm>
                <a:off x="533400" y="1524000"/>
                <a:ext cx="4760595" cy="6286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nary>
                        <m:naryPr>
                          <m:chr m:val="∮"/>
                          <m:limLoc m:val="subSup"/>
                          <m:grow m:val="off"/>
                          <m:subHide m:val="off"/>
                          <m:supHide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</m:t>
                              </m:r>
                            </m:e>
                          </m:acc>
                        </m:e>
                      </m:nary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</m:t>
                      </m:r>
                      <m:acc>
                        <m:accPr>
                          <m:chr m:val="⃗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</m:t>
                              </m:r>
                              <m:r>
                                <m:rPr>
                                  <m:nor m:val="on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内</m:t>
                              </m:r>
                            </m:e>
                          </m:d>
                        </m:sub>
                        <m:sup/>
                        <m:e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q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</a:p>
            </p:txBody>
          </p:sp>
        </mc:Choice>
      </mc:AlternateContent>
      <p:grpSp>
        <p:nvGrpSpPr>
          <p:cNvPr id="18" name="c1-card-2"/>
          <p:cNvGrpSpPr/>
          <p:nvPr/>
        </p:nvGrpSpPr>
        <p:grpSpPr>
          <a:xfrm>
            <a:off x="533400" y="2327910"/>
            <a:ext cx="4760595" cy="3028950"/>
            <a:chOff x="533400" y="2327910"/>
            <a:chExt cx="4760595" cy="3028950"/>
          </a:xfrm>
        </p:grpSpPr>
        <p:sp>
          <p:nvSpPr>
            <p:cNvPr id="8" name="Rectangle 8"/>
            <p:cNvSpPr/>
            <p:nvPr/>
          </p:nvSpPr>
          <p:spPr>
            <a:xfrm>
              <a:off x="533400" y="2327910"/>
              <a:ext cx="4760595" cy="3028950"/>
            </a:xfrm>
            <a:prstGeom prst="roundRect">
              <a:avLst>
                <a:gd name="adj" fmla="val 4403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25805" y="252031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09244" y="255460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选面规则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34378" y="2932748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90397" y="2876550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球对称（球面、球体）：高斯面取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同心球面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34378" y="3235642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90397" y="3179445"/>
              <a:ext cx="39570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轴对称（长直线、圆柱面、圆柱体）：高斯面取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同轴</a:t>
              </a:r>
              <a:br/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圆柱面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34378" y="3794760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90397" y="3738562"/>
              <a:ext cx="39570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面对称（无限大平面）：取垂直于平面的圆柱面，两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底在两侧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20090" y="4295299"/>
              <a:ext cx="401548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选面的目的：让 E 在面上大小处处相等，或者与面平行（通量为</a:t>
              </a:r>
              <a:br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0），才能把 E 提到积分号外。</a:t>
              </a:r>
            </a:p>
          </p:txBody>
        </p:sp>
      </p:grpSp>
      <p:grpSp>
        <p:nvGrpSpPr>
          <p:cNvPr id="52" name="c2-table-1"/>
          <p:cNvGrpSpPr/>
          <p:nvPr/>
        </p:nvGrpSpPr>
        <p:grpSpPr>
          <a:xfrm>
            <a:off x="5598795" y="1524000"/>
            <a:ext cx="6059805" cy="3832860"/>
            <a:chOff x="5598795" y="1524000"/>
            <a:chExt cx="6059805" cy="3832860"/>
          </a:xfrm>
        </p:grpSpPr>
        <p:sp>
          <p:nvSpPr>
            <p:cNvPr id="19" name="Rectangle 19"/>
            <p:cNvSpPr/>
            <p:nvPr/>
          </p:nvSpPr>
          <p:spPr>
            <a:xfrm>
              <a:off x="5598795" y="1524000"/>
              <a:ext cx="6059805" cy="44481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31864" y="165163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带电体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501062" y="165163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区域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232742" y="1651635"/>
              <a:ext cx="5485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场强 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697664" y="2096452"/>
              <a:ext cx="15725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均匀带电球面（q）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472559" y="2096452"/>
              <a:ext cx="4341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&gt; R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000393" y="2096452"/>
              <a:ext cx="10132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q/(4πε₀r²)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598795" y="240887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598795" y="2413635"/>
              <a:ext cx="6059805" cy="4448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472559" y="2541270"/>
              <a:ext cx="4341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&lt; R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9365932" y="2423160"/>
              <a:ext cx="2283142" cy="42576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450192" y="2541270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598795" y="285273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697664" y="2986088"/>
              <a:ext cx="172821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「无限长」均匀带电线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（λ）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423824" y="3106102"/>
              <a:ext cx="5316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任意 r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050370" y="3106102"/>
              <a:ext cx="9133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λ/(2πε₀r)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598795" y="353758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598795" y="3542348"/>
              <a:ext cx="6059805" cy="68484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697664" y="3670935"/>
              <a:ext cx="207111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「无限长」均匀带电圆柱面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（λ）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472559" y="3790950"/>
              <a:ext cx="4341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&gt; R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050370" y="3790950"/>
              <a:ext cx="9133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λ/(2πε₀r)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598795" y="422243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472559" y="4354830"/>
              <a:ext cx="4341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&lt; R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9365932" y="4236720"/>
              <a:ext cx="2283142" cy="42576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450192" y="4354830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598795" y="466725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5598795" y="4672012"/>
              <a:ext cx="6059805" cy="68484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697664" y="4799648"/>
              <a:ext cx="189966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「无限大」均匀带电平面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（σ）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501062" y="491966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两侧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695983" y="4919662"/>
              <a:ext cx="16220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σ/(2ε₀)，垂直板面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598795" y="1524000"/>
              <a:ext cx="6059805" cy="38328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8018145" y="1524000"/>
              <a:ext cx="9525" cy="38328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9351645" y="1524000"/>
              <a:ext cx="9525" cy="38328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9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3" name="Rectangle 5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26129" y="6014203"/>
              <a:ext cx="224134" cy="192560"/>
              <a:chOff x="726129" y="6014203"/>
              <a:chExt cx="224134" cy="19256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838200" y="60845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726129" y="60142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38200" y="61623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040892" y="6023610"/>
              <a:ext cx="105750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易错：高斯定理对任意闭合曲面都成立，但只有对称分布时才能用它求出 E；右边只算面内电荷，面外电荷会改变 E 却不改变通量。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第2至8章 内容总结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344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6177" y="407194"/>
              <a:ext cx="1248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内容总结 · 静电场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环路定理说明静电场是保守场，于是可以定义电势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883092"/>
            <a:chOff x="533400" y="1524000"/>
            <a:chExt cx="5410200" cy="18830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883092"/>
            </a:xfrm>
            <a:prstGeom prst="roundRect">
              <a:avLst>
                <a:gd name="adj" fmla="val 708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1639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127635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1342" y="1750695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静电场的环路定理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formula104"/>
                <p:cNvSpPr txBox="1">
                  <a:spLocks noGrp="1"/>
                </p:cNvSpPr>
                <p:nvPr/>
              </p:nvSpPr>
              <p:spPr>
                <a:xfrm>
                  <a:off x="763905" y="2050732"/>
                  <a:ext cx="4987290" cy="5867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nary>
                          <m:naryPr>
                            <m:chr m:val="∮"/>
                            <m:limLoc m:val="subSup"/>
                            <m:grow m:val="off"/>
                            <m:subHide m:val="off"/>
                            <m:supHide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</m:sub>
                          <m:sup/>
                          <m:e>
                            <m:acc>
                              <m:accPr>
                                <m:chr m:val="⃗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</m:acc>
                          </m:e>
                        </m:nary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acc>
                          <m:accPr>
                            <m:chr m:val="⃗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2" name="TextBox 12"/>
            <p:cNvSpPr txBox="1"/>
            <p:nvPr/>
          </p:nvSpPr>
          <p:spPr>
            <a:xfrm>
              <a:off x="757047" y="2746058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场强沿任意闭合路径的环流为零，电场力做功与路径无关，静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电场是保守力场。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582352"/>
            <a:ext cx="5410200" cy="1976438"/>
            <a:chOff x="533400" y="3582352"/>
            <a:chExt cx="5410200" cy="1976438"/>
          </a:xfrm>
        </p:grpSpPr>
        <p:sp>
          <p:nvSpPr>
            <p:cNvPr id="14" name="Rectangle 14"/>
            <p:cNvSpPr/>
            <p:nvPr/>
          </p:nvSpPr>
          <p:spPr>
            <a:xfrm>
              <a:off x="533400" y="3582352"/>
              <a:ext cx="5410200" cy="1976438"/>
            </a:xfrm>
            <a:prstGeom prst="roundRect">
              <a:avLst>
                <a:gd name="adj" fmla="val 67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715702"/>
              <a:ext cx="47625" cy="1709738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63905" y="3774758"/>
              <a:ext cx="1395412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27319" y="3809048"/>
              <a:ext cx="12676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a 点的电势能与电势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formula105"/>
                <p:cNvSpPr txBox="1">
                  <a:spLocks noGrp="1"/>
                </p:cNvSpPr>
                <p:nvPr/>
              </p:nvSpPr>
              <p:spPr>
                <a:xfrm>
                  <a:off x="763905" y="4109085"/>
                  <a:ext cx="498729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W</m:t>
                            </m:r>
                          </m:e>
                          <m:sub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q</m:t>
                            </m:r>
                          </m:e>
                          <m:sub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</m:sSub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sub>
                          <m:sup>
                            <m:r>
                              <m:rPr>
                                <m:nor m:val="on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参考点</m:t>
                            </m:r>
                          </m:sup>
                          <m:e>
                            <m:acc>
                              <m:accPr>
                                <m:chr m:val="⃗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</m:acc>
                          </m:e>
                        </m:nary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acc>
                          <m:accPr>
                            <m:chr m:val="⃗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b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U</m:t>
                            </m:r>
                          </m:e>
                          <m:sub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W</m:t>
                                </m:r>
                              </m:e>
                              <m:sub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sub>
                            </m:sSub>
                          </m:num>
                          <m:den>
                            <m:sSub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sub>
                          <m:sup>
                            <m:r>
                              <m:rPr>
                                <m:nor m:val="on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参考点</m:t>
                            </m:r>
                          </m:sup>
                          <m:e>
                            <m:acc>
                              <m:accPr>
                                <m:chr m:val="⃗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</m:acc>
                          </m:e>
                        </m:nary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acc>
                          <m:accPr>
                            <m:chr m:val="⃗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</m:e>
                        </m:acc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9" name="TextBox 19"/>
            <p:cNvSpPr txBox="1"/>
            <p:nvPr/>
          </p:nvSpPr>
          <p:spPr>
            <a:xfrm>
              <a:off x="758190" y="4614386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参考点处电势能、电势都为零。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6248400" y="1524000"/>
            <a:ext cx="5410200" cy="1737360"/>
            <a:chOff x="6248400" y="1524000"/>
            <a:chExt cx="5410200" cy="1737360"/>
          </a:xfrm>
        </p:grpSpPr>
        <p:sp>
          <p:nvSpPr>
            <p:cNvPr id="21" name="Rectangle 21"/>
            <p:cNvSpPr/>
            <p:nvPr/>
          </p:nvSpPr>
          <p:spPr>
            <a:xfrm>
              <a:off x="6248400" y="1524000"/>
              <a:ext cx="5410200" cy="1737360"/>
            </a:xfrm>
            <a:prstGeom prst="roundRect">
              <a:avLst>
                <a:gd name="adj" fmla="val 7675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40805" y="1716405"/>
              <a:ext cx="140970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04242" y="1750695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电势差与电场力的功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formula106"/>
                <p:cNvSpPr txBox="1">
                  <a:spLocks noGrp="1"/>
                </p:cNvSpPr>
                <p:nvPr/>
              </p:nvSpPr>
              <p:spPr>
                <a:xfrm>
                  <a:off x="6440805" y="2050732"/>
                  <a:ext cx="5025390" cy="533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U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sSub>
                          <m:e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U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sub>
                          <m:sup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sup>
                          <m:e>
                            <m:acc>
                              <m:accPr>
                                <m:chr m:val="⃗"/>
                                <m:ctrlP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</m:acc>
                          </m:e>
                        </m:nary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acc>
                          <m:accPr>
                            <m:chr m:val="⃗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</m:e>
                        </m:acc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formula107"/>
                <p:cNvSpPr txBox="1">
                  <a:spLocks noGrp="1"/>
                </p:cNvSpPr>
                <p:nvPr/>
              </p:nvSpPr>
              <p:spPr>
                <a:xfrm>
                  <a:off x="6440805" y="2670810"/>
                  <a:ext cx="502539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ab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q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42" name="c2-table-2"/>
          <p:cNvGrpSpPr/>
          <p:nvPr/>
        </p:nvGrpSpPr>
        <p:grpSpPr>
          <a:xfrm>
            <a:off x="6248400" y="3436620"/>
            <a:ext cx="5410200" cy="1217295"/>
            <a:chOff x="6248400" y="3436620"/>
            <a:chExt cx="5410200" cy="1217295"/>
          </a:xfrm>
        </p:grpSpPr>
        <p:sp>
          <p:nvSpPr>
            <p:cNvPr id="27" name="Rectangle 27"/>
            <p:cNvSpPr/>
            <p:nvPr/>
          </p:nvSpPr>
          <p:spPr>
            <a:xfrm>
              <a:off x="6248400" y="3436620"/>
              <a:ext cx="5410200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282536" y="356092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情形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03284" y="356092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电场力做功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669486" y="356092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电势能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48412" y="396668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正电荷从高电势到低电势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229446" y="396668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正功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744873" y="396668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减少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248400" y="42433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248400" y="424815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48412" y="437245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负电荷从高电势到低电势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229446" y="437245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负功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744873" y="437245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增加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248400" y="3436620"/>
              <a:ext cx="5410200" cy="12172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8623935" y="3436620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10139362" y="3436620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9" name="c2-callout-3"/>
          <p:cNvGrpSpPr/>
          <p:nvPr/>
        </p:nvGrpSpPr>
        <p:grpSpPr>
          <a:xfrm>
            <a:off x="6248400" y="4829175"/>
            <a:ext cx="5410200" cy="729615"/>
            <a:chOff x="6248400" y="4829175"/>
            <a:chExt cx="5410200" cy="729615"/>
          </a:xfrm>
        </p:grpSpPr>
        <p:sp>
          <p:nvSpPr>
            <p:cNvPr id="43" name="Rectangle 43"/>
            <p:cNvSpPr/>
            <p:nvPr/>
          </p:nvSpPr>
          <p:spPr>
            <a:xfrm>
              <a:off x="6248400" y="4829175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6453188" y="5093970"/>
              <a:ext cx="200026" cy="200026"/>
              <a:chOff x="6453188" y="5093970"/>
              <a:chExt cx="200026" cy="20002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6453188" y="509397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553200" y="516064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542088" y="519398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6755892" y="4974908"/>
              <a:ext cx="44714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电势只由电场决定，与放不放试验电荷无关；电势能属于电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荷和电场组成的系统。</a:t>
              </a:r>
            </a:p>
          </p:txBody>
        </p:sp>
      </p:grpSp>
      <p:grpSp>
        <p:nvGrpSpPr>
          <p:cNvPr id="56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0" name="Rectangle 50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1040892" y="6023610"/>
              <a:ext cx="92823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有限带电体一般取无穷远为电势零点；无限长直线、无限大平面的电荷延伸到无穷远，只能另取有限远处为参考点。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第2至8章 内容总结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344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6177" y="407194"/>
              <a:ext cx="1248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内容总结 · 静电场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求电势的两条路：场强积分或电势叠加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453515"/>
            <a:chOff x="533400" y="1524000"/>
            <a:chExt cx="5410200" cy="14535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453515"/>
            </a:xfrm>
            <a:prstGeom prst="roundRect">
              <a:avLst>
                <a:gd name="adj" fmla="val 91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18681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1885950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04347" y="1743551"/>
              <a:ext cx="17936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（1）用定义：先求 E，再积分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formula118"/>
                <p:cNvSpPr txBox="1">
                  <a:spLocks noGrp="1"/>
                </p:cNvSpPr>
                <p:nvPr/>
              </p:nvSpPr>
              <p:spPr>
                <a:xfrm>
                  <a:off x="758190" y="2032635"/>
                  <a:ext cx="4998720" cy="4800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U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sub>
                          <m:sup>
                            <m:r>
                              <m:rPr>
                                <m:nor m:val="on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参考点</m:t>
                            </m:r>
                          </m:sup>
                          <m:e>
                            <m:acc>
                              <m:accPr>
                                <m:chr m:val="⃗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</m:acc>
                          </m:e>
                        </m:nary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acc>
                          <m:accPr>
                            <m:chr m:val="⃗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</m:e>
                        </m:acc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2" name="TextBox 12"/>
            <p:cNvSpPr txBox="1"/>
            <p:nvPr/>
          </p:nvSpPr>
          <p:spPr>
            <a:xfrm>
              <a:off x="752475" y="2615089"/>
              <a:ext cx="3210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适合 E 已由高斯定理求出、且分段表达的情形。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3147060"/>
            <a:ext cx="5410200" cy="1123950"/>
            <a:chOff x="533400" y="3147060"/>
            <a:chExt cx="5410200" cy="1123950"/>
          </a:xfrm>
        </p:grpSpPr>
        <p:sp>
          <p:nvSpPr>
            <p:cNvPr id="14" name="Rectangle 14"/>
            <p:cNvSpPr/>
            <p:nvPr/>
          </p:nvSpPr>
          <p:spPr>
            <a:xfrm>
              <a:off x="533400" y="3147060"/>
              <a:ext cx="5410200" cy="1123950"/>
            </a:xfrm>
            <a:prstGeom prst="roundRect">
              <a:avLst>
                <a:gd name="adj" fmla="val 118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280410"/>
              <a:ext cx="47625" cy="85725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58190" y="3333750"/>
              <a:ext cx="227266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96055" y="3366611"/>
              <a:ext cx="21969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（2）用叠加：电势是标量，直接相加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formula119"/>
                <p:cNvSpPr txBox="1">
                  <a:spLocks noGrp="1"/>
                </p:cNvSpPr>
                <p:nvPr/>
              </p:nvSpPr>
              <p:spPr>
                <a:xfrm>
                  <a:off x="758190" y="3655695"/>
                  <a:ext cx="4998720" cy="411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U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q</m:t>
                            </m:r>
                          </m:num>
                          <m:den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4π</m:t>
                            </m:r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ε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b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U</m:t>
                            </m:r>
                          </m:e>
                          <m:sub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n"/>
                            <m:supHide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/>
                          <m:sup/>
                          <m:e>
                            <m:f>
                              <m:fPr>
                                <m:type m:val="bar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dq</m:t>
                                </m:r>
                              </m:num>
                              <m:den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4π</m:t>
                                </m:r>
                                <m:sSub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ε</m:t>
                                    </m:r>
                                  </m:e>
                                  <m:sub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r</m:t>
                                </m:r>
                              </m:den>
                            </m:f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5" name="c1-card-3"/>
          <p:cNvGrpSpPr/>
          <p:nvPr/>
        </p:nvGrpSpPr>
        <p:grpSpPr>
          <a:xfrm>
            <a:off x="533400" y="4440555"/>
            <a:ext cx="5410200" cy="1228725"/>
            <a:chOff x="533400" y="4440555"/>
            <a:chExt cx="5410200" cy="1228725"/>
          </a:xfrm>
        </p:grpSpPr>
        <p:sp>
          <p:nvSpPr>
            <p:cNvPr id="20" name="Rectangle 20"/>
            <p:cNvSpPr/>
            <p:nvPr/>
          </p:nvSpPr>
          <p:spPr>
            <a:xfrm>
              <a:off x="533400" y="4440555"/>
              <a:ext cx="5410200" cy="1228725"/>
            </a:xfrm>
            <a:prstGeom prst="roundRect">
              <a:avLst>
                <a:gd name="adj" fmla="val 10853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20090" y="4627245"/>
              <a:ext cx="1703070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75106" y="4660106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必记：均匀带电球面的电势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3232" y="4972050"/>
              <a:ext cx="38509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 ≤ R：U = q/(4πε₀R)，球内处处等于球面电势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13232" y="5272088"/>
              <a:ext cx="31103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 &gt; R：U = q/(4πε₀r)，与点电荷相同</a:t>
              </a:r>
            </a:p>
          </p:txBody>
        </p:sp>
      </p:grpSp>
      <p:grpSp>
        <p:nvGrpSpPr>
          <p:cNvPr id="54" name="c2-graph-1"/>
          <p:cNvGrpSpPr/>
          <p:nvPr/>
        </p:nvGrpSpPr>
        <p:grpSpPr>
          <a:xfrm>
            <a:off x="6578994" y="1640205"/>
            <a:ext cx="4848843" cy="1905476"/>
            <a:chOff x="6578994" y="1640205"/>
            <a:chExt cx="4848843" cy="1905476"/>
          </a:xfrm>
        </p:grpSpPr>
        <p:sp>
          <p:nvSpPr>
            <p:cNvPr id="26" name="Freeform 26"/>
            <p:cNvSpPr/>
            <p:nvPr/>
          </p:nvSpPr>
          <p:spPr>
            <a:xfrm>
              <a:off x="6808470" y="3313748"/>
              <a:ext cx="1043940" cy="9525"/>
            </a:xfrm>
            <a:custGeom>
              <a:avLst/>
              <a:gdLst/>
              <a:ahLst/>
              <a:cxnLst/>
              <a:rect l="l" t="t" r="r" b="b"/>
              <a:pathLst>
                <a:path w="1043940" h="9525">
                  <a:moveTo>
                    <a:pt x="0" y="0"/>
                  </a:moveTo>
                  <a:lnTo>
                    <a:pt x="1043940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7879080" y="1960245"/>
              <a:ext cx="3435668" cy="1287780"/>
            </a:xfrm>
            <a:custGeom>
              <a:avLst/>
              <a:gdLst/>
              <a:ahLst/>
              <a:cxnLst/>
              <a:rect l="l" t="t" r="r" b="b"/>
              <a:pathLst>
                <a:path w="3435668" h="1287780">
                  <a:moveTo>
                    <a:pt x="0" y="0"/>
                  </a:moveTo>
                  <a:lnTo>
                    <a:pt x="79057" y="180022"/>
                  </a:lnTo>
                  <a:lnTo>
                    <a:pt x="165735" y="339090"/>
                  </a:lnTo>
                  <a:lnTo>
                    <a:pt x="252412" y="466725"/>
                  </a:lnTo>
                  <a:lnTo>
                    <a:pt x="339090" y="571500"/>
                  </a:lnTo>
                  <a:lnTo>
                    <a:pt x="424815" y="660083"/>
                  </a:lnTo>
                  <a:lnTo>
                    <a:pt x="511492" y="735330"/>
                  </a:lnTo>
                  <a:lnTo>
                    <a:pt x="598170" y="798195"/>
                  </a:lnTo>
                  <a:lnTo>
                    <a:pt x="684847" y="852488"/>
                  </a:lnTo>
                  <a:lnTo>
                    <a:pt x="771525" y="898208"/>
                  </a:lnTo>
                  <a:lnTo>
                    <a:pt x="858202" y="938212"/>
                  </a:lnTo>
                  <a:lnTo>
                    <a:pt x="944880" y="974408"/>
                  </a:lnTo>
                  <a:lnTo>
                    <a:pt x="1031557" y="1005840"/>
                  </a:lnTo>
                  <a:lnTo>
                    <a:pt x="1117282" y="1032510"/>
                  </a:lnTo>
                  <a:lnTo>
                    <a:pt x="1203960" y="1058227"/>
                  </a:lnTo>
                  <a:lnTo>
                    <a:pt x="1290638" y="1081088"/>
                  </a:lnTo>
                  <a:lnTo>
                    <a:pt x="1377315" y="1100138"/>
                  </a:lnTo>
                  <a:lnTo>
                    <a:pt x="1463992" y="1116330"/>
                  </a:lnTo>
                  <a:lnTo>
                    <a:pt x="1550670" y="1133475"/>
                  </a:lnTo>
                  <a:lnTo>
                    <a:pt x="1637347" y="1147762"/>
                  </a:lnTo>
                  <a:lnTo>
                    <a:pt x="1724025" y="1160145"/>
                  </a:lnTo>
                  <a:lnTo>
                    <a:pt x="1809750" y="1173480"/>
                  </a:lnTo>
                  <a:lnTo>
                    <a:pt x="1896427" y="1183958"/>
                  </a:lnTo>
                  <a:lnTo>
                    <a:pt x="1983105" y="1194435"/>
                  </a:lnTo>
                  <a:lnTo>
                    <a:pt x="2069782" y="1204912"/>
                  </a:lnTo>
                  <a:lnTo>
                    <a:pt x="2156460" y="1212532"/>
                  </a:lnTo>
                  <a:lnTo>
                    <a:pt x="2243138" y="1219200"/>
                  </a:lnTo>
                  <a:lnTo>
                    <a:pt x="2329815" y="1227772"/>
                  </a:lnTo>
                  <a:lnTo>
                    <a:pt x="2416493" y="1233488"/>
                  </a:lnTo>
                  <a:lnTo>
                    <a:pt x="2503170" y="1240155"/>
                  </a:lnTo>
                  <a:lnTo>
                    <a:pt x="2588895" y="1246822"/>
                  </a:lnTo>
                  <a:lnTo>
                    <a:pt x="2675572" y="1252538"/>
                  </a:lnTo>
                  <a:lnTo>
                    <a:pt x="2762250" y="1257300"/>
                  </a:lnTo>
                  <a:lnTo>
                    <a:pt x="2848927" y="1261110"/>
                  </a:lnTo>
                  <a:lnTo>
                    <a:pt x="2935605" y="1264920"/>
                  </a:lnTo>
                  <a:lnTo>
                    <a:pt x="3022282" y="1269682"/>
                  </a:lnTo>
                  <a:lnTo>
                    <a:pt x="3108960" y="1273492"/>
                  </a:lnTo>
                  <a:lnTo>
                    <a:pt x="3195638" y="1278255"/>
                  </a:lnTo>
                  <a:lnTo>
                    <a:pt x="3281362" y="1282065"/>
                  </a:lnTo>
                  <a:lnTo>
                    <a:pt x="3368040" y="1283970"/>
                  </a:lnTo>
                  <a:lnTo>
                    <a:pt x="3435668" y="128778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6808470" y="2446020"/>
              <a:ext cx="1043940" cy="9525"/>
            </a:xfrm>
            <a:custGeom>
              <a:avLst/>
              <a:gdLst/>
              <a:ahLst/>
              <a:cxnLst/>
              <a:rect l="l" t="t" r="r" b="b"/>
              <a:pathLst>
                <a:path w="1043940" h="9525">
                  <a:moveTo>
                    <a:pt x="0" y="0"/>
                  </a:moveTo>
                  <a:lnTo>
                    <a:pt x="1043940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29" name="Freeform 29"/>
            <p:cNvSpPr/>
            <p:nvPr/>
          </p:nvSpPr>
          <p:spPr>
            <a:xfrm>
              <a:off x="7886700" y="2457450"/>
              <a:ext cx="3428048" cy="658178"/>
            </a:xfrm>
            <a:custGeom>
              <a:avLst/>
              <a:gdLst/>
              <a:ahLst/>
              <a:cxnLst/>
              <a:rect l="l" t="t" r="r" b="b"/>
              <a:pathLst>
                <a:path w="3428048" h="658178">
                  <a:moveTo>
                    <a:pt x="0" y="0"/>
                  </a:moveTo>
                  <a:lnTo>
                    <a:pt x="71438" y="53340"/>
                  </a:lnTo>
                  <a:lnTo>
                    <a:pt x="158115" y="110490"/>
                  </a:lnTo>
                  <a:lnTo>
                    <a:pt x="244793" y="158115"/>
                  </a:lnTo>
                  <a:lnTo>
                    <a:pt x="331470" y="201930"/>
                  </a:lnTo>
                  <a:lnTo>
                    <a:pt x="417195" y="240030"/>
                  </a:lnTo>
                  <a:lnTo>
                    <a:pt x="503872" y="273367"/>
                  </a:lnTo>
                  <a:lnTo>
                    <a:pt x="590550" y="304800"/>
                  </a:lnTo>
                  <a:lnTo>
                    <a:pt x="677228" y="332422"/>
                  </a:lnTo>
                  <a:lnTo>
                    <a:pt x="763905" y="357188"/>
                  </a:lnTo>
                  <a:lnTo>
                    <a:pt x="850582" y="380047"/>
                  </a:lnTo>
                  <a:lnTo>
                    <a:pt x="937260" y="401003"/>
                  </a:lnTo>
                  <a:lnTo>
                    <a:pt x="1023938" y="420053"/>
                  </a:lnTo>
                  <a:lnTo>
                    <a:pt x="1109662" y="437197"/>
                  </a:lnTo>
                  <a:lnTo>
                    <a:pt x="1196340" y="453390"/>
                  </a:lnTo>
                  <a:lnTo>
                    <a:pt x="1283018" y="468630"/>
                  </a:lnTo>
                  <a:lnTo>
                    <a:pt x="1369695" y="482917"/>
                  </a:lnTo>
                  <a:lnTo>
                    <a:pt x="1456372" y="495300"/>
                  </a:lnTo>
                  <a:lnTo>
                    <a:pt x="1543050" y="508635"/>
                  </a:lnTo>
                  <a:lnTo>
                    <a:pt x="1629728" y="519112"/>
                  </a:lnTo>
                  <a:lnTo>
                    <a:pt x="1716405" y="529590"/>
                  </a:lnTo>
                  <a:lnTo>
                    <a:pt x="1802130" y="540067"/>
                  </a:lnTo>
                  <a:lnTo>
                    <a:pt x="1888807" y="550545"/>
                  </a:lnTo>
                  <a:lnTo>
                    <a:pt x="1975485" y="558165"/>
                  </a:lnTo>
                  <a:lnTo>
                    <a:pt x="2062162" y="566738"/>
                  </a:lnTo>
                  <a:lnTo>
                    <a:pt x="2148840" y="575310"/>
                  </a:lnTo>
                  <a:lnTo>
                    <a:pt x="2235518" y="583883"/>
                  </a:lnTo>
                  <a:lnTo>
                    <a:pt x="2322195" y="589597"/>
                  </a:lnTo>
                  <a:lnTo>
                    <a:pt x="2408873" y="596265"/>
                  </a:lnTo>
                  <a:lnTo>
                    <a:pt x="2495550" y="602933"/>
                  </a:lnTo>
                  <a:lnTo>
                    <a:pt x="2581275" y="608647"/>
                  </a:lnTo>
                  <a:lnTo>
                    <a:pt x="2667952" y="615315"/>
                  </a:lnTo>
                  <a:lnTo>
                    <a:pt x="2754630" y="621030"/>
                  </a:lnTo>
                  <a:lnTo>
                    <a:pt x="2841307" y="627697"/>
                  </a:lnTo>
                  <a:lnTo>
                    <a:pt x="2927985" y="631508"/>
                  </a:lnTo>
                  <a:lnTo>
                    <a:pt x="3014662" y="636270"/>
                  </a:lnTo>
                  <a:lnTo>
                    <a:pt x="3101340" y="641985"/>
                  </a:lnTo>
                  <a:lnTo>
                    <a:pt x="3188018" y="646747"/>
                  </a:lnTo>
                  <a:lnTo>
                    <a:pt x="3273743" y="650558"/>
                  </a:lnTo>
                  <a:lnTo>
                    <a:pt x="3360420" y="655320"/>
                  </a:lnTo>
                  <a:lnTo>
                    <a:pt x="3428048" y="658178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30" name="Freeform 30"/>
            <p:cNvSpPr/>
            <p:nvPr/>
          </p:nvSpPr>
          <p:spPr>
            <a:xfrm>
              <a:off x="6808470" y="3326130"/>
              <a:ext cx="4414838" cy="9525"/>
            </a:xfrm>
            <a:custGeom>
              <a:avLst/>
              <a:gdLst/>
              <a:ahLst/>
              <a:cxnLst/>
              <a:rect l="l" t="t" r="r" b="b"/>
              <a:pathLst>
                <a:path w="4414838" h="9525">
                  <a:moveTo>
                    <a:pt x="0" y="0"/>
                  </a:moveTo>
                  <a:lnTo>
                    <a:pt x="4414838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11223308" y="327850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6789420" y="1764030"/>
              <a:ext cx="9525" cy="1543050"/>
            </a:xfrm>
            <a:custGeom>
              <a:avLst/>
              <a:gdLst/>
              <a:ahLst/>
              <a:cxnLst/>
              <a:rect l="l" t="t" r="r" b="b"/>
              <a:pathLst>
                <a:path w="9525" h="1543050">
                  <a:moveTo>
                    <a:pt x="0" y="154305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6741795" y="166878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7871460" y="1962150"/>
              <a:ext cx="9525" cy="1344930"/>
            </a:xfrm>
            <a:custGeom>
              <a:avLst/>
              <a:gdLst/>
              <a:ahLst/>
              <a:cxnLst/>
              <a:rect l="l" t="t" r="r" b="b"/>
              <a:pathLst>
                <a:path w="9525" h="1344930">
                  <a:moveTo>
                    <a:pt x="0" y="134493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35" name="Ellipse 35"/>
            <p:cNvSpPr/>
            <p:nvPr/>
          </p:nvSpPr>
          <p:spPr>
            <a:xfrm>
              <a:off x="6779895" y="330422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7861935" y="330422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7861935" y="193357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11324272" y="323945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6779895" y="243649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7861935" y="243649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7861935" y="243649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11324272" y="310705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6779895" y="331660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6779895" y="164020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7861935" y="331660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7861935" y="193357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1348343" y="326993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834622" y="3383756"/>
              <a:ext cx="7367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578994" y="3383756"/>
              <a:ext cx="97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348293" y="2063591"/>
              <a:ext cx="4522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E ∝ 1/r²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949229" y="2734151"/>
              <a:ext cx="38979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U ∝ 1/r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066577" y="3111341"/>
              <a:ext cx="5277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球内 E = 0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982640" y="2231231"/>
              <a:ext cx="69559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球内 U 为常数</a:t>
              </a:r>
            </a:p>
          </p:txBody>
        </p:sp>
      </p:grpSp>
      <p:grpSp>
        <p:nvGrpSpPr>
          <p:cNvPr id="61" name="c2-card-2"/>
          <p:cNvGrpSpPr/>
          <p:nvPr/>
        </p:nvGrpSpPr>
        <p:grpSpPr>
          <a:xfrm>
            <a:off x="6248400" y="3789045"/>
            <a:ext cx="5410200" cy="1880235"/>
            <a:chOff x="6248400" y="3789045"/>
            <a:chExt cx="5410200" cy="1880235"/>
          </a:xfrm>
        </p:grpSpPr>
        <p:sp>
          <p:nvSpPr>
            <p:cNvPr id="55" name="Rectangle 55"/>
            <p:cNvSpPr/>
            <p:nvPr/>
          </p:nvSpPr>
          <p:spPr>
            <a:xfrm>
              <a:off x="6248400" y="3789045"/>
              <a:ext cx="5410200" cy="1880235"/>
            </a:xfrm>
            <a:prstGeom prst="roundRect">
              <a:avLst>
                <a:gd name="adj" fmla="val 70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257925" y="3922395"/>
              <a:ext cx="47625" cy="161353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473190" y="397573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565862" y="400859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小例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466332" y="4320540"/>
              <a:ext cx="465143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= 0.1 m，q = 1.0×10⁻⁹ C 的均匀带电球面：r = 0.05 m 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= 0、U = 89.9 V；r = 0.2 m 处 E = 225 N/C、U = 44.9 V。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467475" y="4874419"/>
              <a:ext cx="2408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球外 r 加倍，U 减半，E 变为 1/4。</a:t>
              </a:r>
            </a:p>
          </p:txBody>
        </p:sp>
      </p:grpSp>
      <p:grpSp>
        <p:nvGrpSpPr>
          <p:cNvPr id="68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62" name="Rectangle 62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726129" y="6018966"/>
              <a:ext cx="224134" cy="192560"/>
              <a:chOff x="726129" y="6018966"/>
              <a:chExt cx="224134" cy="192560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838200" y="608933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726129" y="601896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38200" y="616712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1040892" y="6028373"/>
              <a:ext cx="88653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易错：球面内 E = 0 并不说明 U = 0。电势等于从该点积分到无穷远，球内那一段积分为零，剩下球外那一段。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第2至8章 内容总结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91005" cy="909257"/>
            <a:chOff x="520446" y="342900"/>
            <a:chExt cx="679100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344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6177" y="407194"/>
              <a:ext cx="1248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内容总结 · 静电场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9100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电场的能量储存在场中，能量密度 w = ½εE²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977765" cy="1431608"/>
            <a:chOff x="533400" y="1524000"/>
            <a:chExt cx="4977765" cy="143160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431608"/>
            </a:xfrm>
            <a:prstGeom prst="roundRect">
              <a:avLst>
                <a:gd name="adj" fmla="val 93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164908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1761172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06016" y="1737836"/>
              <a:ext cx="16550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1. 带电体（电容器）的能量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formula132"/>
                <p:cNvSpPr txBox="1">
                  <a:spLocks noGrp="1"/>
                </p:cNvSpPr>
                <p:nvPr/>
              </p:nvSpPr>
              <p:spPr>
                <a:xfrm>
                  <a:off x="752475" y="2024062"/>
                  <a:ext cx="4577715" cy="4886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W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Q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U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ab</m:t>
                            </m:r>
                          </m:sub>
                        </m:sSub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2" name="TextBox 12"/>
            <p:cNvSpPr txBox="1"/>
            <p:nvPr/>
          </p:nvSpPr>
          <p:spPr>
            <a:xfrm>
              <a:off x="747141" y="2610802"/>
              <a:ext cx="31489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Uab 是两极板间电压；孤立导体取 U 为导体电势。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3120390"/>
            <a:ext cx="4977765" cy="2423160"/>
            <a:chOff x="533400" y="3120390"/>
            <a:chExt cx="4977765" cy="2423160"/>
          </a:xfrm>
        </p:grpSpPr>
        <p:sp>
          <p:nvSpPr>
            <p:cNvPr id="14" name="Rectangle 14"/>
            <p:cNvSpPr/>
            <p:nvPr/>
          </p:nvSpPr>
          <p:spPr>
            <a:xfrm>
              <a:off x="533400" y="3120390"/>
              <a:ext cx="4977765" cy="2423160"/>
            </a:xfrm>
            <a:prstGeom prst="roundRect">
              <a:avLst>
                <a:gd name="adj" fmla="val 550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253740"/>
              <a:ext cx="47625" cy="215646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52475" y="3301365"/>
              <a:ext cx="1014412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28419" y="3334226"/>
              <a:ext cx="8634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2. 电场的能量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formula133"/>
                <p:cNvSpPr txBox="1">
                  <a:spLocks noGrp="1"/>
                </p:cNvSpPr>
                <p:nvPr/>
              </p:nvSpPr>
              <p:spPr>
                <a:xfrm>
                  <a:off x="752475" y="3620452"/>
                  <a:ext cx="4577715" cy="4533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W</m:t>
                            </m:r>
                          </m:e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V</m:t>
                            </m:r>
                          </m:sub>
                          <m:sup/>
                          <m:e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w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sub>
                            </m:s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dV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b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w</m:t>
                            </m:r>
                          </m:e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ε</m:t>
                        </m:r>
                        <m:sSup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p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9" name="TextBox 19"/>
            <p:cNvSpPr txBox="1"/>
            <p:nvPr/>
          </p:nvSpPr>
          <p:spPr>
            <a:xfrm>
              <a:off x="747141" y="4172902"/>
              <a:ext cx="35310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积分遍及所有有电场的空间；球对称时取 dV = 4πr²dr。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62000" y="447484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17448" y="4421981"/>
              <a:ext cx="406882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平行板电容器：场只在板间，W = ½εE²·Sd = ½CU²，与 ½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QU 相同</a:t>
              </a:r>
            </a:p>
          </p:txBody>
        </p:sp>
      </p:grpSp>
      <p:grpSp>
        <p:nvGrpSpPr>
          <p:cNvPr id="29" name="c2-card-1"/>
          <p:cNvGrpSpPr/>
          <p:nvPr/>
        </p:nvGrpSpPr>
        <p:grpSpPr>
          <a:xfrm>
            <a:off x="5815965" y="1524000"/>
            <a:ext cx="5842635" cy="1185862"/>
            <a:chOff x="5815965" y="1524000"/>
            <a:chExt cx="5842635" cy="1185862"/>
          </a:xfrm>
        </p:grpSpPr>
        <p:sp>
          <p:nvSpPr>
            <p:cNvPr id="23" name="Rectangle 23"/>
            <p:cNvSpPr/>
            <p:nvPr/>
          </p:nvSpPr>
          <p:spPr>
            <a:xfrm>
              <a:off x="5815965" y="1524000"/>
              <a:ext cx="5842635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825490" y="1657350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035040" y="1704975"/>
              <a:ext cx="40576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128912" y="1737836"/>
              <a:ext cx="2180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028563" y="2045494"/>
              <a:ext cx="52837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真空中均匀带电球面，半径 R = 0.1 m，电荷 q = 1.0×10⁻⁹ C。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028563" y="2330291"/>
              <a:ext cx="2531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电场总能量，并用 ½qU 验证。</a:t>
              </a:r>
            </a:p>
          </p:txBody>
        </p:sp>
      </p:grpSp>
      <p:grpSp>
        <p:nvGrpSpPr>
          <p:cNvPr id="43" name="c2-steps-2"/>
          <p:cNvGrpSpPr/>
          <p:nvPr/>
        </p:nvGrpSpPr>
        <p:grpSpPr>
          <a:xfrm>
            <a:off x="5815965" y="2884170"/>
            <a:ext cx="5245503" cy="1596961"/>
            <a:chOff x="5815965" y="2884170"/>
            <a:chExt cx="5245503" cy="1596961"/>
          </a:xfrm>
        </p:grpSpPr>
        <p:sp>
          <p:nvSpPr>
            <p:cNvPr id="30" name="Rectangle 30"/>
            <p:cNvSpPr/>
            <p:nvPr/>
          </p:nvSpPr>
          <p:spPr>
            <a:xfrm>
              <a:off x="5949315" y="3027045"/>
              <a:ext cx="19050" cy="1105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5815965" y="288417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909589" y="295798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5815965" y="343757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909589" y="35113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5815965" y="399097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909589" y="40647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28588" y="2915126"/>
              <a:ext cx="520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 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229731" y="3169920"/>
              <a:ext cx="24540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&lt; R：E = 0；r &gt; R：E = q/(4πε₀r²)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228588" y="346852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对能量密度积分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229731" y="3722370"/>
              <a:ext cx="3722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 = ∫(R→∞) ½ε₀E²·4πr²dr = q²/(8πε₀R) = 4.49×10⁻⁸ J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228588" y="4020979"/>
              <a:ext cx="9485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½qU 验证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229731" y="4275772"/>
              <a:ext cx="48317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球面电势 U = q/(4πε₀R) = 89.9 V，½qU = ½ × 10⁻⁹ × 89.9 = 4.49×10⁻⁸ J</a:t>
              </a:r>
            </a:p>
          </p:txBody>
        </p:sp>
      </p:grpSp>
      <p:grpSp>
        <p:nvGrpSpPr>
          <p:cNvPr id="48" name="c2-card-3"/>
          <p:cNvGrpSpPr/>
          <p:nvPr/>
        </p:nvGrpSpPr>
        <p:grpSpPr>
          <a:xfrm>
            <a:off x="5815965" y="4642485"/>
            <a:ext cx="5842635" cy="901065"/>
            <a:chOff x="5815965" y="4642485"/>
            <a:chExt cx="5842635" cy="901065"/>
          </a:xfrm>
        </p:grpSpPr>
        <p:sp>
          <p:nvSpPr>
            <p:cNvPr id="44" name="Rectangle 44"/>
            <p:cNvSpPr/>
            <p:nvPr/>
          </p:nvSpPr>
          <p:spPr>
            <a:xfrm>
              <a:off x="5815965" y="4642485"/>
              <a:ext cx="5842635" cy="901065"/>
            </a:xfrm>
            <a:prstGeom prst="roundRect">
              <a:avLst>
                <a:gd name="adj" fmla="val 14799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5996940" y="4823460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092711" y="4856321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990463" y="5163979"/>
              <a:ext cx="38366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 = q²/(8πε₀R) ≈ 4.5×10⁻⁸ J，两种算法一致。</a:t>
              </a:r>
            </a:p>
          </p:txBody>
        </p:sp>
      </p:grpSp>
      <p:grpSp>
        <p:nvGrpSpPr>
          <p:cNvPr id="55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9" name="Rectangle 49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1273" y="6039326"/>
              <a:ext cx="101000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两种算法对应两种看法：½QU 把能量记在电荷上，∫½εE²dV 把能量记在场里；静电场中结果相同，电磁波的能量只能用后一种理解。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第2至8章 内容总结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344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6177" y="407194"/>
              <a:ext cx="1248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内容总结 · 静电场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静电平衡的导体：内部场强为零，电荷只在表面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card-1"/>
          <p:cNvGrpSpPr/>
          <p:nvPr/>
        </p:nvGrpSpPr>
        <p:grpSpPr>
          <a:xfrm>
            <a:off x="533400" y="1524000"/>
            <a:ext cx="5626418" cy="2322195"/>
            <a:chOff x="533400" y="1524000"/>
            <a:chExt cx="5626418" cy="23221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322195"/>
            </a:xfrm>
            <a:prstGeom prst="roundRect">
              <a:avLst>
                <a:gd name="adj" fmla="val 5742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0356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静电平衡时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42950" y="209740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4799" y="213969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43940" y="2110740"/>
              <a:ext cx="31843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导体内部 E = 0，整个导体是</a:t>
              </a:r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等势体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42950" y="243268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04799" y="24749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43940" y="2446020"/>
              <a:ext cx="40972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导体表面附近的 E 与表面垂直，表面是等势面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42950" y="276796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4799" y="281025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43940" y="2781300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电荷只能分布在导体表面上（内部净电荷为零）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42950" y="310324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04799" y="314553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43940" y="311658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孤立导体表面曲率越大（越尖）的地方，电荷面密度越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大，附近场强也越大</a:t>
              </a:r>
            </a:p>
          </p:txBody>
        </p:sp>
      </p:grpSp>
      <p:grpSp>
        <p:nvGrpSpPr>
          <p:cNvPr id="28" name="c1-card-2"/>
          <p:cNvGrpSpPr/>
          <p:nvPr/>
        </p:nvGrpSpPr>
        <p:grpSpPr>
          <a:xfrm>
            <a:off x="533400" y="4036695"/>
            <a:ext cx="5626418" cy="1602105"/>
            <a:chOff x="533400" y="4036695"/>
            <a:chExt cx="5626418" cy="1602105"/>
          </a:xfrm>
        </p:grpSpPr>
        <p:sp>
          <p:nvSpPr>
            <p:cNvPr id="23" name="Rectangle 23"/>
            <p:cNvSpPr/>
            <p:nvPr/>
          </p:nvSpPr>
          <p:spPr>
            <a:xfrm>
              <a:off x="533400" y="4036695"/>
              <a:ext cx="5626418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2925" y="4170045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81050" y="424624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71258" y="428196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73430" y="4623435"/>
              <a:ext cx="48063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4 条写「电荷面密度与该处表面曲率成正比」。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实际只有定性关系：曲率大处 σ 大，一般并不严格成正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比。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6464618" y="1524000"/>
            <a:ext cx="5193982" cy="2322195"/>
            <a:chOff x="6464618" y="1524000"/>
            <a:chExt cx="5193982" cy="2322195"/>
          </a:xfrm>
        </p:grpSpPr>
        <p:sp>
          <p:nvSpPr>
            <p:cNvPr id="29" name="Rectangle 29"/>
            <p:cNvSpPr/>
            <p:nvPr/>
          </p:nvSpPr>
          <p:spPr>
            <a:xfrm>
              <a:off x="6464618" y="1524000"/>
              <a:ext cx="5193982" cy="2322195"/>
            </a:xfrm>
            <a:prstGeom prst="roundRect">
              <a:avLst>
                <a:gd name="adj" fmla="val 574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474142" y="1657350"/>
              <a:ext cx="47625" cy="205549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712268" y="1733550"/>
              <a:ext cx="148971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72923" y="1769269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由这几条推出的结论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717983" y="217360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876098" y="2110740"/>
              <a:ext cx="42443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表面外侧附近 E = σ/ε₀（用紧贴表面的小圆柱面作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高斯面）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717983" y="279463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876098" y="2731770"/>
              <a:ext cx="45979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空腔导体内没有电荷时，腔内 E = 0，内表面不带电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717983" y="312991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876098" y="3067050"/>
              <a:ext cx="44476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腔内有电荷 q 时，内表面感应 −q，外表面多出 +q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717983" y="346519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876098" y="340233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尖端放电、避雷针、静电屏蔽都来自这几条</a:t>
              </a:r>
            </a:p>
          </p:txBody>
        </p:sp>
      </p:grpSp>
      <p:grpSp>
        <p:nvGrpSpPr>
          <p:cNvPr id="48" name="c2-callout-2"/>
          <p:cNvGrpSpPr/>
          <p:nvPr/>
        </p:nvGrpSpPr>
        <p:grpSpPr>
          <a:xfrm>
            <a:off x="6464618" y="4036695"/>
            <a:ext cx="5193982" cy="1602105"/>
            <a:chOff x="6464618" y="4036695"/>
            <a:chExt cx="5193982" cy="1602105"/>
          </a:xfrm>
        </p:grpSpPr>
        <p:sp>
          <p:nvSpPr>
            <p:cNvPr id="42" name="Rectangle 42"/>
            <p:cNvSpPr/>
            <p:nvPr/>
          </p:nvSpPr>
          <p:spPr>
            <a:xfrm>
              <a:off x="6464618" y="4036695"/>
              <a:ext cx="5193982" cy="1602105"/>
            </a:xfrm>
            <a:prstGeom prst="roundRect">
              <a:avLst>
                <a:gd name="adj" fmla="val 7134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6657347" y="4734043"/>
              <a:ext cx="224134" cy="192560"/>
              <a:chOff x="6657347" y="4734043"/>
              <a:chExt cx="224134" cy="19256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6769418" y="480441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657347" y="473404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769418" y="488219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6971348" y="4456748"/>
              <a:ext cx="43110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判断电荷分布的顺序：先用「导体内 E = 0」在导体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内部作高斯面，确定内表面电荷，再用电荷守恒得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到外表面电荷。</a:t>
              </a:r>
            </a:p>
          </p:txBody>
        </p:sp>
      </p:grpSp>
      <p:grpSp>
        <p:nvGrpSpPr>
          <p:cNvPr id="54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9" name="Rectangle 49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040130" y="5991225"/>
              <a:ext cx="91020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静电平衡时电荷怎样分布一定要弄明白：内表面电荷由腔内电荷决定，外表面电荷由总电荷守恒决定。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第2至8章 内容总结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884468" cy="909257"/>
            <a:chOff x="520446" y="342900"/>
            <a:chExt cx="788446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344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6177" y="407194"/>
              <a:ext cx="1248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内容总结 · 静电场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88446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例5 导体球外套同心导体球壳：电荷分布与各区场强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193982" cy="1511618"/>
            <a:chOff x="533400" y="1524000"/>
            <a:chExt cx="5193982" cy="151161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511618"/>
            </a:xfrm>
            <a:prstGeom prst="roundRect">
              <a:avLst>
                <a:gd name="adj" fmla="val 882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4491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20052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6630" y="1750695"/>
              <a:ext cx="2336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例5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444569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半径 R₁ 的导体球带电 q，外套同心导体球壳，内外半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径 R₂、R₃，壳带电 Q。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632710"/>
              <a:ext cx="24308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各表面电荷与各区域场强。</a:t>
              </a:r>
            </a:p>
          </p:txBody>
        </p:sp>
      </p:grpSp>
      <p:grpSp>
        <p:nvGrpSpPr>
          <p:cNvPr id="39" name="c1-graph-2"/>
          <p:cNvGrpSpPr/>
          <p:nvPr/>
        </p:nvGrpSpPr>
        <p:grpSpPr>
          <a:xfrm>
            <a:off x="1083945" y="3233738"/>
            <a:ext cx="3597499" cy="2181224"/>
            <a:chOff x="1083945" y="3233738"/>
            <a:chExt cx="3597499" cy="2181224"/>
          </a:xfrm>
        </p:grpSpPr>
        <p:sp>
          <p:nvSpPr>
            <p:cNvPr id="14" name="Freeform 14"/>
            <p:cNvSpPr/>
            <p:nvPr/>
          </p:nvSpPr>
          <p:spPr>
            <a:xfrm>
              <a:off x="1706880" y="4025265"/>
              <a:ext cx="766762" cy="766762"/>
            </a:xfrm>
            <a:custGeom>
              <a:avLst/>
              <a:gdLst/>
              <a:ahLst/>
              <a:cxnLst/>
              <a:rect l="l" t="t" r="r" b="b"/>
              <a:pathLst>
                <a:path w="766762" h="766762">
                  <a:moveTo>
                    <a:pt x="766762" y="364807"/>
                  </a:moveTo>
                  <a:lnTo>
                    <a:pt x="763905" y="340042"/>
                  </a:lnTo>
                  <a:lnTo>
                    <a:pt x="758190" y="297180"/>
                  </a:lnTo>
                  <a:lnTo>
                    <a:pt x="748665" y="256222"/>
                  </a:lnTo>
                  <a:lnTo>
                    <a:pt x="727710" y="218122"/>
                  </a:lnTo>
                  <a:lnTo>
                    <a:pt x="706755" y="180022"/>
                  </a:lnTo>
                  <a:lnTo>
                    <a:pt x="685800" y="143827"/>
                  </a:lnTo>
                  <a:lnTo>
                    <a:pt x="654368" y="112395"/>
                  </a:lnTo>
                  <a:lnTo>
                    <a:pt x="623888" y="83820"/>
                  </a:lnTo>
                  <a:lnTo>
                    <a:pt x="586740" y="60007"/>
                  </a:lnTo>
                  <a:lnTo>
                    <a:pt x="550545" y="38100"/>
                  </a:lnTo>
                  <a:lnTo>
                    <a:pt x="509588" y="21907"/>
                  </a:lnTo>
                  <a:lnTo>
                    <a:pt x="467678" y="9525"/>
                  </a:lnTo>
                  <a:lnTo>
                    <a:pt x="425768" y="2857"/>
                  </a:lnTo>
                  <a:lnTo>
                    <a:pt x="384810" y="0"/>
                  </a:lnTo>
                  <a:lnTo>
                    <a:pt x="342900" y="2857"/>
                  </a:lnTo>
                  <a:lnTo>
                    <a:pt x="301943" y="9525"/>
                  </a:lnTo>
                  <a:lnTo>
                    <a:pt x="260033" y="21907"/>
                  </a:lnTo>
                  <a:lnTo>
                    <a:pt x="218123" y="38100"/>
                  </a:lnTo>
                  <a:lnTo>
                    <a:pt x="181928" y="60007"/>
                  </a:lnTo>
                  <a:lnTo>
                    <a:pt x="145733" y="83820"/>
                  </a:lnTo>
                  <a:lnTo>
                    <a:pt x="114300" y="112395"/>
                  </a:lnTo>
                  <a:lnTo>
                    <a:pt x="83820" y="143827"/>
                  </a:lnTo>
                  <a:lnTo>
                    <a:pt x="62865" y="180022"/>
                  </a:lnTo>
                  <a:lnTo>
                    <a:pt x="41910" y="218122"/>
                  </a:lnTo>
                  <a:lnTo>
                    <a:pt x="20955" y="256222"/>
                  </a:lnTo>
                  <a:lnTo>
                    <a:pt x="10478" y="297180"/>
                  </a:lnTo>
                  <a:lnTo>
                    <a:pt x="5715" y="340042"/>
                  </a:lnTo>
                  <a:lnTo>
                    <a:pt x="0" y="383857"/>
                  </a:lnTo>
                  <a:lnTo>
                    <a:pt x="5715" y="426720"/>
                  </a:lnTo>
                  <a:lnTo>
                    <a:pt x="10478" y="469582"/>
                  </a:lnTo>
                  <a:lnTo>
                    <a:pt x="20955" y="510540"/>
                  </a:lnTo>
                  <a:lnTo>
                    <a:pt x="41910" y="548640"/>
                  </a:lnTo>
                  <a:lnTo>
                    <a:pt x="62865" y="586740"/>
                  </a:lnTo>
                  <a:lnTo>
                    <a:pt x="83820" y="622935"/>
                  </a:lnTo>
                  <a:lnTo>
                    <a:pt x="114300" y="654367"/>
                  </a:lnTo>
                  <a:lnTo>
                    <a:pt x="145733" y="682942"/>
                  </a:lnTo>
                  <a:lnTo>
                    <a:pt x="181928" y="706755"/>
                  </a:lnTo>
                  <a:lnTo>
                    <a:pt x="218123" y="728662"/>
                  </a:lnTo>
                  <a:lnTo>
                    <a:pt x="260033" y="744855"/>
                  </a:lnTo>
                  <a:lnTo>
                    <a:pt x="301943" y="757238"/>
                  </a:lnTo>
                  <a:lnTo>
                    <a:pt x="342900" y="763905"/>
                  </a:lnTo>
                  <a:lnTo>
                    <a:pt x="384810" y="766762"/>
                  </a:lnTo>
                  <a:lnTo>
                    <a:pt x="425768" y="763905"/>
                  </a:lnTo>
                  <a:lnTo>
                    <a:pt x="467678" y="757238"/>
                  </a:lnTo>
                  <a:lnTo>
                    <a:pt x="509588" y="744855"/>
                  </a:lnTo>
                  <a:lnTo>
                    <a:pt x="550545" y="728662"/>
                  </a:lnTo>
                  <a:lnTo>
                    <a:pt x="586740" y="706755"/>
                  </a:lnTo>
                  <a:lnTo>
                    <a:pt x="623888" y="682942"/>
                  </a:lnTo>
                  <a:lnTo>
                    <a:pt x="654368" y="654367"/>
                  </a:lnTo>
                  <a:lnTo>
                    <a:pt x="685800" y="622935"/>
                  </a:lnTo>
                  <a:lnTo>
                    <a:pt x="706755" y="586740"/>
                  </a:lnTo>
                  <a:lnTo>
                    <a:pt x="727710" y="548640"/>
                  </a:lnTo>
                  <a:lnTo>
                    <a:pt x="748665" y="510540"/>
                  </a:lnTo>
                  <a:lnTo>
                    <a:pt x="758190" y="469582"/>
                  </a:lnTo>
                  <a:lnTo>
                    <a:pt x="763905" y="426720"/>
                  </a:lnTo>
                  <a:lnTo>
                    <a:pt x="766762" y="401955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348740" y="3666172"/>
              <a:ext cx="1483995" cy="1484947"/>
            </a:xfrm>
            <a:custGeom>
              <a:avLst/>
              <a:gdLst/>
              <a:ahLst/>
              <a:cxnLst/>
              <a:rect l="l" t="t" r="r" b="b"/>
              <a:pathLst>
                <a:path w="1483995" h="1484947">
                  <a:moveTo>
                    <a:pt x="1483995" y="723900"/>
                  </a:moveTo>
                  <a:lnTo>
                    <a:pt x="1480185" y="659130"/>
                  </a:lnTo>
                  <a:lnTo>
                    <a:pt x="1464945" y="577215"/>
                  </a:lnTo>
                  <a:lnTo>
                    <a:pt x="1443990" y="498158"/>
                  </a:lnTo>
                  <a:lnTo>
                    <a:pt x="1412557" y="419100"/>
                  </a:lnTo>
                  <a:lnTo>
                    <a:pt x="1371600" y="347662"/>
                  </a:lnTo>
                  <a:lnTo>
                    <a:pt x="1324928" y="280035"/>
                  </a:lnTo>
                  <a:lnTo>
                    <a:pt x="1267778" y="218123"/>
                  </a:lnTo>
                  <a:lnTo>
                    <a:pt x="1204913" y="162878"/>
                  </a:lnTo>
                  <a:lnTo>
                    <a:pt x="1137285" y="115253"/>
                  </a:lnTo>
                  <a:lnTo>
                    <a:pt x="1064895" y="74295"/>
                  </a:lnTo>
                  <a:lnTo>
                    <a:pt x="986790" y="40958"/>
                  </a:lnTo>
                  <a:lnTo>
                    <a:pt x="908685" y="19050"/>
                  </a:lnTo>
                  <a:lnTo>
                    <a:pt x="825818" y="4762"/>
                  </a:lnTo>
                  <a:lnTo>
                    <a:pt x="742950" y="0"/>
                  </a:lnTo>
                  <a:lnTo>
                    <a:pt x="660083" y="4762"/>
                  </a:lnTo>
                  <a:lnTo>
                    <a:pt x="576262" y="19050"/>
                  </a:lnTo>
                  <a:lnTo>
                    <a:pt x="499110" y="40958"/>
                  </a:lnTo>
                  <a:lnTo>
                    <a:pt x="421005" y="74295"/>
                  </a:lnTo>
                  <a:lnTo>
                    <a:pt x="347662" y="115253"/>
                  </a:lnTo>
                  <a:lnTo>
                    <a:pt x="280988" y="162878"/>
                  </a:lnTo>
                  <a:lnTo>
                    <a:pt x="218123" y="218123"/>
                  </a:lnTo>
                  <a:lnTo>
                    <a:pt x="160973" y="280035"/>
                  </a:lnTo>
                  <a:lnTo>
                    <a:pt x="114300" y="347662"/>
                  </a:lnTo>
                  <a:lnTo>
                    <a:pt x="72390" y="419100"/>
                  </a:lnTo>
                  <a:lnTo>
                    <a:pt x="41910" y="498158"/>
                  </a:lnTo>
                  <a:lnTo>
                    <a:pt x="20955" y="577215"/>
                  </a:lnTo>
                  <a:lnTo>
                    <a:pt x="5715" y="659130"/>
                  </a:lnTo>
                  <a:lnTo>
                    <a:pt x="0" y="742950"/>
                  </a:lnTo>
                  <a:lnTo>
                    <a:pt x="5715" y="826770"/>
                  </a:lnTo>
                  <a:lnTo>
                    <a:pt x="20955" y="907733"/>
                  </a:lnTo>
                  <a:lnTo>
                    <a:pt x="41910" y="986790"/>
                  </a:lnTo>
                  <a:lnTo>
                    <a:pt x="72390" y="1065848"/>
                  </a:lnTo>
                  <a:lnTo>
                    <a:pt x="114300" y="1138238"/>
                  </a:lnTo>
                  <a:lnTo>
                    <a:pt x="160973" y="1204912"/>
                  </a:lnTo>
                  <a:lnTo>
                    <a:pt x="218123" y="1266825"/>
                  </a:lnTo>
                  <a:lnTo>
                    <a:pt x="280988" y="1322070"/>
                  </a:lnTo>
                  <a:lnTo>
                    <a:pt x="347662" y="1369695"/>
                  </a:lnTo>
                  <a:lnTo>
                    <a:pt x="421005" y="1410653"/>
                  </a:lnTo>
                  <a:lnTo>
                    <a:pt x="499110" y="1443990"/>
                  </a:lnTo>
                  <a:lnTo>
                    <a:pt x="576262" y="1465897"/>
                  </a:lnTo>
                  <a:lnTo>
                    <a:pt x="660083" y="1480185"/>
                  </a:lnTo>
                  <a:lnTo>
                    <a:pt x="742950" y="1484947"/>
                  </a:lnTo>
                  <a:lnTo>
                    <a:pt x="825818" y="1480185"/>
                  </a:lnTo>
                  <a:lnTo>
                    <a:pt x="908685" y="1465897"/>
                  </a:lnTo>
                  <a:lnTo>
                    <a:pt x="986790" y="1443990"/>
                  </a:lnTo>
                  <a:lnTo>
                    <a:pt x="1064895" y="1410653"/>
                  </a:lnTo>
                  <a:lnTo>
                    <a:pt x="1137285" y="1369695"/>
                  </a:lnTo>
                  <a:lnTo>
                    <a:pt x="1204913" y="1322070"/>
                  </a:lnTo>
                  <a:lnTo>
                    <a:pt x="1267778" y="1266825"/>
                  </a:lnTo>
                  <a:lnTo>
                    <a:pt x="1324928" y="1204912"/>
                  </a:lnTo>
                  <a:lnTo>
                    <a:pt x="1371600" y="1138238"/>
                  </a:lnTo>
                  <a:lnTo>
                    <a:pt x="1412557" y="1065848"/>
                  </a:lnTo>
                  <a:lnTo>
                    <a:pt x="1443990" y="986790"/>
                  </a:lnTo>
                  <a:lnTo>
                    <a:pt x="1464945" y="907733"/>
                  </a:lnTo>
                  <a:lnTo>
                    <a:pt x="1480185" y="826770"/>
                  </a:lnTo>
                  <a:lnTo>
                    <a:pt x="1483995" y="76200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083945" y="3402330"/>
              <a:ext cx="2013585" cy="2012632"/>
            </a:xfrm>
            <a:custGeom>
              <a:avLst/>
              <a:gdLst/>
              <a:ahLst/>
              <a:cxnLst/>
              <a:rect l="l" t="t" r="r" b="b"/>
              <a:pathLst>
                <a:path w="2013585" h="2012632">
                  <a:moveTo>
                    <a:pt x="2013585" y="987742"/>
                  </a:moveTo>
                  <a:lnTo>
                    <a:pt x="2005012" y="893445"/>
                  </a:lnTo>
                  <a:lnTo>
                    <a:pt x="1988820" y="783908"/>
                  </a:lnTo>
                  <a:lnTo>
                    <a:pt x="1958340" y="673417"/>
                  </a:lnTo>
                  <a:lnTo>
                    <a:pt x="1916430" y="570548"/>
                  </a:lnTo>
                  <a:lnTo>
                    <a:pt x="1859280" y="472440"/>
                  </a:lnTo>
                  <a:lnTo>
                    <a:pt x="1791652" y="379095"/>
                  </a:lnTo>
                  <a:lnTo>
                    <a:pt x="1719262" y="295275"/>
                  </a:lnTo>
                  <a:lnTo>
                    <a:pt x="1636395" y="220980"/>
                  </a:lnTo>
                  <a:lnTo>
                    <a:pt x="1542097" y="153353"/>
                  </a:lnTo>
                  <a:lnTo>
                    <a:pt x="1443990" y="100965"/>
                  </a:lnTo>
                  <a:lnTo>
                    <a:pt x="1340168" y="58103"/>
                  </a:lnTo>
                  <a:lnTo>
                    <a:pt x="1230630" y="26670"/>
                  </a:lnTo>
                  <a:lnTo>
                    <a:pt x="1122045" y="7620"/>
                  </a:lnTo>
                  <a:lnTo>
                    <a:pt x="1007745" y="0"/>
                  </a:lnTo>
                  <a:lnTo>
                    <a:pt x="893445" y="7620"/>
                  </a:lnTo>
                  <a:lnTo>
                    <a:pt x="783908" y="26670"/>
                  </a:lnTo>
                  <a:lnTo>
                    <a:pt x="675322" y="58103"/>
                  </a:lnTo>
                  <a:lnTo>
                    <a:pt x="571500" y="100965"/>
                  </a:lnTo>
                  <a:lnTo>
                    <a:pt x="472440" y="153353"/>
                  </a:lnTo>
                  <a:lnTo>
                    <a:pt x="379095" y="220980"/>
                  </a:lnTo>
                  <a:lnTo>
                    <a:pt x="296228" y="295275"/>
                  </a:lnTo>
                  <a:lnTo>
                    <a:pt x="222885" y="379095"/>
                  </a:lnTo>
                  <a:lnTo>
                    <a:pt x="156210" y="472440"/>
                  </a:lnTo>
                  <a:lnTo>
                    <a:pt x="99060" y="570548"/>
                  </a:lnTo>
                  <a:lnTo>
                    <a:pt x="57150" y="673417"/>
                  </a:lnTo>
                  <a:lnTo>
                    <a:pt x="25718" y="783908"/>
                  </a:lnTo>
                  <a:lnTo>
                    <a:pt x="10478" y="893445"/>
                  </a:lnTo>
                  <a:lnTo>
                    <a:pt x="0" y="1006792"/>
                  </a:lnTo>
                  <a:lnTo>
                    <a:pt x="10478" y="1119188"/>
                  </a:lnTo>
                  <a:lnTo>
                    <a:pt x="25718" y="1228725"/>
                  </a:lnTo>
                  <a:lnTo>
                    <a:pt x="57150" y="1339215"/>
                  </a:lnTo>
                  <a:lnTo>
                    <a:pt x="99060" y="1442085"/>
                  </a:lnTo>
                  <a:lnTo>
                    <a:pt x="156210" y="1540192"/>
                  </a:lnTo>
                  <a:lnTo>
                    <a:pt x="222885" y="1633538"/>
                  </a:lnTo>
                  <a:lnTo>
                    <a:pt x="296228" y="1717358"/>
                  </a:lnTo>
                  <a:lnTo>
                    <a:pt x="379095" y="1791652"/>
                  </a:lnTo>
                  <a:lnTo>
                    <a:pt x="472440" y="1859280"/>
                  </a:lnTo>
                  <a:lnTo>
                    <a:pt x="571500" y="1911668"/>
                  </a:lnTo>
                  <a:lnTo>
                    <a:pt x="675322" y="1954530"/>
                  </a:lnTo>
                  <a:lnTo>
                    <a:pt x="783908" y="1985963"/>
                  </a:lnTo>
                  <a:lnTo>
                    <a:pt x="893445" y="2005013"/>
                  </a:lnTo>
                  <a:lnTo>
                    <a:pt x="1007745" y="2012632"/>
                  </a:lnTo>
                  <a:lnTo>
                    <a:pt x="1122045" y="2005013"/>
                  </a:lnTo>
                  <a:lnTo>
                    <a:pt x="1230630" y="1985963"/>
                  </a:lnTo>
                  <a:lnTo>
                    <a:pt x="1340168" y="1954530"/>
                  </a:lnTo>
                  <a:lnTo>
                    <a:pt x="1443990" y="1911668"/>
                  </a:lnTo>
                  <a:lnTo>
                    <a:pt x="1542097" y="1859280"/>
                  </a:lnTo>
                  <a:lnTo>
                    <a:pt x="1636395" y="1791652"/>
                  </a:lnTo>
                  <a:lnTo>
                    <a:pt x="1719262" y="1717358"/>
                  </a:lnTo>
                  <a:lnTo>
                    <a:pt x="1791652" y="1633538"/>
                  </a:lnTo>
                  <a:lnTo>
                    <a:pt x="1859280" y="1540192"/>
                  </a:lnTo>
                  <a:lnTo>
                    <a:pt x="1916430" y="1442085"/>
                  </a:lnTo>
                  <a:lnTo>
                    <a:pt x="1958340" y="1339215"/>
                  </a:lnTo>
                  <a:lnTo>
                    <a:pt x="1988820" y="1228725"/>
                  </a:lnTo>
                  <a:lnTo>
                    <a:pt x="2005012" y="1119188"/>
                  </a:lnTo>
                  <a:lnTo>
                    <a:pt x="2013585" y="1025842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2486978" y="3933825"/>
              <a:ext cx="1351597" cy="334328"/>
            </a:xfrm>
            <a:custGeom>
              <a:avLst/>
              <a:gdLst/>
              <a:ahLst/>
              <a:cxnLst/>
              <a:rect l="l" t="t" r="r" b="b"/>
              <a:pathLst>
                <a:path w="1351597" h="334328">
                  <a:moveTo>
                    <a:pt x="1351597" y="0"/>
                  </a:moveTo>
                  <a:lnTo>
                    <a:pt x="0" y="334328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8" name="Freeform 18"/>
            <p:cNvSpPr/>
            <p:nvPr/>
          </p:nvSpPr>
          <p:spPr>
            <a:xfrm>
              <a:off x="2862262" y="4529138"/>
              <a:ext cx="976312" cy="9525"/>
            </a:xfrm>
            <a:custGeom>
              <a:avLst/>
              <a:gdLst/>
              <a:ahLst/>
              <a:cxnLst/>
              <a:rect l="l" t="t" r="r" b="b"/>
              <a:pathLst>
                <a:path w="976312" h="9525">
                  <a:moveTo>
                    <a:pt x="976312" y="0"/>
                  </a:moveTo>
                  <a:lnTo>
                    <a:pt x="0" y="8572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9" name="Freeform 19"/>
            <p:cNvSpPr/>
            <p:nvPr/>
          </p:nvSpPr>
          <p:spPr>
            <a:xfrm>
              <a:off x="2954655" y="4992052"/>
              <a:ext cx="883920" cy="132397"/>
            </a:xfrm>
            <a:custGeom>
              <a:avLst/>
              <a:gdLst/>
              <a:ahLst/>
              <a:cxnLst/>
              <a:rect l="l" t="t" r="r" b="b"/>
              <a:pathLst>
                <a:path w="883920" h="132397">
                  <a:moveTo>
                    <a:pt x="883920" y="132397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20" name="Ellipse 20"/>
            <p:cNvSpPr/>
            <p:nvPr/>
          </p:nvSpPr>
          <p:spPr>
            <a:xfrm>
              <a:off x="2466022" y="439959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2466022" y="439959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2825115" y="439959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2825115" y="439959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3089910" y="439959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3089910" y="439959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2072640" y="4390072"/>
              <a:ext cx="38100" cy="381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848100" y="392049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3848100" y="451866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3848100" y="511778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2421255" y="424815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2795588" y="450913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2888932" y="4957762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010549" y="416004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+q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020291" y="3689032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−q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934308" y="3233738"/>
              <a:ext cx="3147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Q + q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956685" y="3840956"/>
              <a:ext cx="72475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导体球表面 R₁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956685" y="4439126"/>
              <a:ext cx="61437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壳内表面 R₂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956685" y="5038249"/>
              <a:ext cx="61437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壳外表面 R₃</a:t>
              </a:r>
            </a:p>
          </p:txBody>
        </p:sp>
      </p:grpSp>
      <p:grpSp>
        <p:nvGrpSpPr>
          <p:cNvPr id="57" name="c2-steps-1"/>
          <p:cNvGrpSpPr/>
          <p:nvPr/>
        </p:nvGrpSpPr>
        <p:grpSpPr>
          <a:xfrm>
            <a:off x="6032182" y="1533525"/>
            <a:ext cx="5367655" cy="2695098"/>
            <a:chOff x="6032182" y="1533525"/>
            <a:chExt cx="5367655" cy="2695098"/>
          </a:xfrm>
        </p:grpSpPr>
        <p:sp>
          <p:nvSpPr>
            <p:cNvPr id="40" name="Rectangle 40"/>
            <p:cNvSpPr/>
            <p:nvPr/>
          </p:nvSpPr>
          <p:spPr>
            <a:xfrm>
              <a:off x="6165532" y="1676400"/>
              <a:ext cx="19050" cy="19678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6032182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125806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032182" y="212026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125806" y="2194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032182" y="291465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125806" y="29884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032182" y="350139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125806" y="35752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44424" y="1564957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球的电荷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445567" y="1833086"/>
              <a:ext cx="28809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导体球内 E = 0，电荷 q 全在球表面 r = R₁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444424" y="215265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壳内表面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45567" y="2419826"/>
              <a:ext cx="491159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在壳体内部取高斯面（R₂ &lt; r &lt; R₃），面上 E = 0，通量为 0，所以面内电荷为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0：内表面带 −q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444424" y="294608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壳外表面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445567" y="3214211"/>
              <a:ext cx="31253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壳总电荷 Q 守恒：外表面带 Q − (−q) = Q + q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444424" y="353282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各区场强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445567" y="3800951"/>
              <a:ext cx="495427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&lt; R₁ 与 R₂ &lt; r &lt; R₃：E = 0；R₁ &lt; r &lt; R₂：E = q/(4πε₀r²)；r &gt; R₃：E = (Q</a:t>
              </a:r>
              <a:br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q)/(4πε₀r²)</a:t>
              </a:r>
            </a:p>
          </p:txBody>
        </p:sp>
      </p:grpSp>
      <p:grpSp>
        <p:nvGrpSpPr>
          <p:cNvPr id="62" name="c2-card-2"/>
          <p:cNvGrpSpPr/>
          <p:nvPr/>
        </p:nvGrpSpPr>
        <p:grpSpPr>
          <a:xfrm>
            <a:off x="6032182" y="4396740"/>
            <a:ext cx="5626418" cy="1209675"/>
            <a:chOff x="6032182" y="4396740"/>
            <a:chExt cx="5626418" cy="1209675"/>
          </a:xfrm>
        </p:grpSpPr>
        <p:sp>
          <p:nvSpPr>
            <p:cNvPr id="58" name="Rectangle 58"/>
            <p:cNvSpPr/>
            <p:nvPr/>
          </p:nvSpPr>
          <p:spPr>
            <a:xfrm>
              <a:off x="6032182" y="4396740"/>
              <a:ext cx="5626418" cy="1209675"/>
            </a:xfrm>
            <a:prstGeom prst="roundRect">
              <a:avLst>
                <a:gd name="adj" fmla="val 11024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6224588" y="4589145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320028" y="462343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217730" y="4946333"/>
              <a:ext cx="4985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球面 q，壳内表面 −q，壳外表面 Q + q；场强只在两个空隙区不为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零，大小按各区高斯面内的总电荷写。</a:t>
              </a:r>
            </a:p>
          </p:txBody>
        </p:sp>
      </p:grpSp>
      <p:grpSp>
        <p:nvGrpSpPr>
          <p:cNvPr id="69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3" name="Rectangle 6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1040892" y="6023610"/>
              <a:ext cx="82158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变式：把球壳接地，外表面电荷变为 0，r &gt; R₃ 处 E = 0；内表面仍为 −q，因为它只由腔内电荷决定。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第2至8章 内容总结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469130" cy="3351847"/>
            <a:chOff x="667512" y="1835468"/>
            <a:chExt cx="4469130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稳恒磁场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电流产生磁场，磁场又对电流和运动电荷施力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电流与电动势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5494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毕奥-萨伐尔定律与典型结果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磁场的高斯定理、安培环路定理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安培力、磁力矩与洛伦兹力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第2至8章 内容总结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5763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1275" y="407194"/>
              <a:ext cx="13996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内容总结 · 稳恒磁场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恒定电流：电流强度、电流密度和电动势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691640"/>
            <a:chOff x="533400" y="1524000"/>
            <a:chExt cx="5410200" cy="169164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691640"/>
            </a:xfrm>
            <a:prstGeom prst="roundRect">
              <a:avLst>
                <a:gd name="adj" fmla="val 7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2494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98774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6362" y="1769269"/>
              <a:ext cx="8361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1. 电流强度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formula137"/>
                <p:cNvSpPr txBox="1">
                  <a:spLocks noGrp="1"/>
                </p:cNvSpPr>
                <p:nvPr/>
              </p:nvSpPr>
              <p:spPr>
                <a:xfrm>
                  <a:off x="781050" y="2085975"/>
                  <a:ext cx="4953000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dq</m:t>
                            </m:r>
                          </m:num>
                          <m:den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dt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2" name="TextBox 12"/>
            <p:cNvSpPr txBox="1"/>
            <p:nvPr/>
          </p:nvSpPr>
          <p:spPr>
            <a:xfrm>
              <a:off x="773430" y="2771775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单位时间内通过导体某截面的电荷量，是标量。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406140"/>
            <a:ext cx="5410200" cy="2150745"/>
            <a:chOff x="533400" y="3406140"/>
            <a:chExt cx="5410200" cy="2150745"/>
          </a:xfrm>
        </p:grpSpPr>
        <p:sp>
          <p:nvSpPr>
            <p:cNvPr id="14" name="Rectangle 14"/>
            <p:cNvSpPr/>
            <p:nvPr/>
          </p:nvSpPr>
          <p:spPr>
            <a:xfrm>
              <a:off x="533400" y="3406140"/>
              <a:ext cx="5410200" cy="2150745"/>
            </a:xfrm>
            <a:prstGeom prst="roundRect">
              <a:avLst>
                <a:gd name="adj" fmla="val 62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539490"/>
              <a:ext cx="47625" cy="188404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81050" y="3615690"/>
              <a:ext cx="127254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48463" y="3651409"/>
              <a:ext cx="11377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2. 电流密度矢量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formula138"/>
                <p:cNvSpPr txBox="1">
                  <a:spLocks noGrp="1"/>
                </p:cNvSpPr>
                <p:nvPr/>
              </p:nvSpPr>
              <p:spPr>
                <a:xfrm>
                  <a:off x="781050" y="3968115"/>
                  <a:ext cx="4953000" cy="533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acc>
                          <m:accPr>
                            <m:chr m:val="⃗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dI</m:t>
                            </m:r>
                          </m:num>
                          <m:den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dS</m:t>
                            </m:r>
                          </m:den>
                        </m:f>
                        <m:sSub>
                          <m:e>
                            <m:acc>
                              <m:accPr>
                                <m:chr m:val="⃗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</m:acc>
                          </m:e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</m:sSub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→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sub>
                          <m:sup/>
                          <m:e>
                            <m:acc>
                              <m:accPr>
                                <m:chr m:val="⃗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e>
                            </m:acc>
                          </m:e>
                        </m:nary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acc>
                          <m:accPr>
                            <m:chr m:val="⃗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e>
                        </m:acc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9" name="TextBox 19"/>
            <p:cNvSpPr txBox="1"/>
            <p:nvPr/>
          </p:nvSpPr>
          <p:spPr>
            <a:xfrm>
              <a:off x="773430" y="462153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方向为该点正电荷的运动方向，大小为通过垂直截面单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位面积的电流。</a:t>
              </a:r>
            </a:p>
          </p:txBody>
        </p:sp>
      </p:grpSp>
      <p:grpSp>
        <p:nvGrpSpPr>
          <p:cNvPr id="29" name="c2-card-1"/>
          <p:cNvGrpSpPr/>
          <p:nvPr/>
        </p:nvGrpSpPr>
        <p:grpSpPr>
          <a:xfrm>
            <a:off x="6248400" y="1524000"/>
            <a:ext cx="5410200" cy="1994535"/>
            <a:chOff x="6248400" y="1524000"/>
            <a:chExt cx="5410200" cy="1994535"/>
          </a:xfrm>
        </p:grpSpPr>
        <p:sp>
          <p:nvSpPr>
            <p:cNvPr id="21" name="Rectangle 21"/>
            <p:cNvSpPr/>
            <p:nvPr/>
          </p:nvSpPr>
          <p:spPr>
            <a:xfrm>
              <a:off x="6248400" y="1524000"/>
              <a:ext cx="5410200" cy="1994535"/>
            </a:xfrm>
            <a:prstGeom prst="roundRect">
              <a:avLst>
                <a:gd name="adj" fmla="val 6686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57950" y="1733550"/>
              <a:ext cx="845820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38164" y="1769269"/>
              <a:ext cx="6853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3. 电动势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formula139"/>
                <p:cNvSpPr txBox="1">
                  <a:spLocks noGrp="1"/>
                </p:cNvSpPr>
                <p:nvPr/>
              </p:nvSpPr>
              <p:spPr>
                <a:xfrm>
                  <a:off x="6457950" y="2085975"/>
                  <a:ext cx="4991100" cy="533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ε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sub>
                          <m:sup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sup>
                          <m:e>
                            <m:sSub>
                              <m:e>
                                <m:acc>
                                  <m:accPr>
                                    <m:chr m:val="⃗"/>
                                    <m:ctrlPr>
                                      <a:rPr lang="zh-CN" sz="15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zh-CN" sz="15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</m:sSub>
                          </m:e>
                        </m:nary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acc>
                          <m:accPr>
                            <m:chr m:val="⃗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</m:e>
                        </m:acc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nor m:val="on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电源内部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5" name="Ellipse 25"/>
            <p:cNvSpPr/>
            <p:nvPr/>
          </p:nvSpPr>
          <p:spPr>
            <a:xfrm>
              <a:off x="6463665" y="280225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621780" y="2739390"/>
              <a:ext cx="35448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EK 是非静电力场强，只存在于电源内部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463665" y="313753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621780" y="3074670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标量；规定从负极经电源内部到正极为电动势方向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3709035"/>
            <a:ext cx="5410200" cy="1847850"/>
            <a:chOff x="6248400" y="3709035"/>
            <a:chExt cx="5410200" cy="1847850"/>
          </a:xfrm>
        </p:grpSpPr>
        <p:sp>
          <p:nvSpPr>
            <p:cNvPr id="30" name="Rectangle 30"/>
            <p:cNvSpPr/>
            <p:nvPr/>
          </p:nvSpPr>
          <p:spPr>
            <a:xfrm>
              <a:off x="6248400" y="3709035"/>
              <a:ext cx="5410200" cy="1847850"/>
            </a:xfrm>
            <a:prstGeom prst="roundRect">
              <a:avLst>
                <a:gd name="adj" fmla="val 72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57925" y="3842385"/>
              <a:ext cx="47625" cy="15811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96050" y="391858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78359" y="395430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物理意义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88430" y="4295775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把单位正电荷从负极经电源内部移到正极时，非静电力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做的功。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89573" y="4913471"/>
              <a:ext cx="47271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静电力把正电荷从正极推向负极，电源靠非静电力把它送回去，电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流才能持续。</a:t>
              </a:r>
            </a:p>
          </p:txBody>
        </p:sp>
      </p:grpSp>
      <p:grpSp>
        <p:nvGrpSpPr>
          <p:cNvPr id="43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7" name="Rectangle 37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40130" y="5991225"/>
              <a:ext cx="99120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对比：静电场 E 的环流恒为零，非静电力场 EK 沿闭合回路的环流等于电动势，后面的感生电场也属于这一类。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第2至8章 内容总结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24781" cy="909257"/>
            <a:chOff x="520446" y="342900"/>
            <a:chExt cx="512478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5763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1275" y="407194"/>
              <a:ext cx="13996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内容总结 · 稳恒磁场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2478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磁感应强度 B 与毕奥-萨伐尔定律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card-1"/>
          <p:cNvGrpSpPr/>
          <p:nvPr/>
        </p:nvGrpSpPr>
        <p:grpSpPr>
          <a:xfrm>
            <a:off x="533400" y="1524000"/>
            <a:ext cx="5193982" cy="4047172"/>
            <a:chOff x="533400" y="1524000"/>
            <a:chExt cx="5193982" cy="404717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4047172"/>
            </a:xfrm>
            <a:prstGeom prst="roundRect">
              <a:avLst>
                <a:gd name="adj" fmla="val 329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78047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672465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9560" y="1750695"/>
              <a:ext cx="5011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1. 定义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formula152"/>
                <p:cNvSpPr txBox="1">
                  <a:spLocks noGrp="1"/>
                </p:cNvSpPr>
                <p:nvPr/>
              </p:nvSpPr>
              <p:spPr>
                <a:xfrm>
                  <a:off x="763905" y="2050732"/>
                  <a:ext cx="4771072" cy="5143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B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max</m:t>
                                </m:r>
                              </m:sub>
                            </m:sSub>
                          </m:num>
                          <m:den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Idl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2" name="Ellipse 12"/>
            <p:cNvSpPr/>
            <p:nvPr/>
          </p:nvSpPr>
          <p:spPr>
            <a:xfrm>
              <a:off x="772478" y="2729865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28497" y="2673668"/>
              <a:ext cx="42999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大小：电流元垂直于磁场放置时受力最大，dFmax 与 I dl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之比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72478" y="3289935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28497" y="3233738"/>
              <a:ext cx="410279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方向：电流元沿某方向放置时受力为零，B 就沿这条直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线，指向取小磁针 N 极所指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8190" y="3789521"/>
              <a:ext cx="26747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单位 T（特斯拉），1 T = 1 N/(A·m)。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72478" y="4112895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28497" y="4056698"/>
              <a:ext cx="43383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在磁场中的地位相当于电场中的 E，都由受力来定义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72478" y="441579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28497" y="4359592"/>
              <a:ext cx="438569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也可用运动电荷定义：Fmax = qvB，受力为零时 v 与 B 平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</a:t>
              </a:r>
            </a:p>
          </p:txBody>
        </p:sp>
      </p:grpSp>
      <p:grpSp>
        <p:nvGrpSpPr>
          <p:cNvPr id="31" name="c2-card-1"/>
          <p:cNvGrpSpPr/>
          <p:nvPr/>
        </p:nvGrpSpPr>
        <p:grpSpPr>
          <a:xfrm>
            <a:off x="6032182" y="1524000"/>
            <a:ext cx="5626418" cy="2405062"/>
            <a:chOff x="6032182" y="1524000"/>
            <a:chExt cx="5626418" cy="2405062"/>
          </a:xfrm>
        </p:grpSpPr>
        <p:sp>
          <p:nvSpPr>
            <p:cNvPr id="22" name="Rectangle 22"/>
            <p:cNvSpPr/>
            <p:nvPr/>
          </p:nvSpPr>
          <p:spPr>
            <a:xfrm>
              <a:off x="6032182" y="1524000"/>
              <a:ext cx="5626418" cy="2405062"/>
            </a:xfrm>
            <a:prstGeom prst="roundRect">
              <a:avLst>
                <a:gd name="adj" fmla="val 5545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224588" y="1716405"/>
              <a:ext cx="1416368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87524" y="1750695"/>
              <a:ext cx="12895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2. 毕奥-萨伐尔定律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formula153"/>
                <p:cNvSpPr txBox="1">
                  <a:spLocks noGrp="1"/>
                </p:cNvSpPr>
                <p:nvPr/>
              </p:nvSpPr>
              <p:spPr>
                <a:xfrm>
                  <a:off x="6224588" y="2050732"/>
                  <a:ext cx="5241608" cy="5143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acc>
                          <m:accPr>
                            <m:chr m:val="⃗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μ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4π</m:t>
                            </m:r>
                          </m:den>
                        </m:f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Id</m:t>
                            </m:r>
                            <m:acc>
                              <m:accPr>
                                <m:chr m:val="⃗"/>
                                <m:ctrlP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</m:t>
                                </m:r>
                              </m:e>
                            </m:acc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×</m:t>
                            </m:r>
                            <m:acc>
                              <m:accPr>
                                <m:chr m:val="⃗"/>
                                <m:ctrlP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r</m:t>
                                </m:r>
                              </m:e>
                            </m:acc>
                          </m:num>
                          <m:den>
                            <m:sSup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r</m:t>
                                </m:r>
                              </m:e>
                              <m:sup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formula154"/>
                <p:cNvSpPr txBox="1">
                  <a:spLocks noGrp="1"/>
                </p:cNvSpPr>
                <p:nvPr/>
              </p:nvSpPr>
              <p:spPr>
                <a:xfrm>
                  <a:off x="6224588" y="2651760"/>
                  <a:ext cx="5241608" cy="4629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dB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μ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Idl</m:t>
                            </m:r>
                            <m:func>
                              <m:funcPr/>
                              <m:fName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α</m:t>
                                </m:r>
                              </m:e>
                            </m:func>
                          </m:num>
                          <m:den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4π</m:t>
                            </m:r>
                            <m:sSup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r</m:t>
                                </m:r>
                              </m:e>
                              <m:sup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7" name="Ellipse 27"/>
            <p:cNvSpPr/>
            <p:nvPr/>
          </p:nvSpPr>
          <p:spPr>
            <a:xfrm>
              <a:off x="6233160" y="3279457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89180" y="3223260"/>
              <a:ext cx="34555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α 是 I dl 与 r 的夹角，r 从电流元指向场点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233160" y="3582352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89180" y="3526155"/>
              <a:ext cx="37732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方向：右手从 I dl 转向 r，拇指所指即 dB 方向</a:t>
              </a:r>
            </a:p>
          </p:txBody>
        </p:sp>
      </p:grpSp>
      <p:grpSp>
        <p:nvGrpSpPr>
          <p:cNvPr id="37" name="c2-card-2"/>
          <p:cNvGrpSpPr/>
          <p:nvPr/>
        </p:nvGrpSpPr>
        <p:grpSpPr>
          <a:xfrm>
            <a:off x="6032182" y="4104322"/>
            <a:ext cx="5626418" cy="1466850"/>
            <a:chOff x="6032182" y="4104322"/>
            <a:chExt cx="5626418" cy="1466850"/>
          </a:xfrm>
        </p:grpSpPr>
        <p:sp>
          <p:nvSpPr>
            <p:cNvPr id="32" name="Rectangle 32"/>
            <p:cNvSpPr/>
            <p:nvPr/>
          </p:nvSpPr>
          <p:spPr>
            <a:xfrm>
              <a:off x="6032182" y="4104322"/>
              <a:ext cx="5626418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041708" y="4237672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262688" y="429672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54128" y="433101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小例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55830" y="4653915"/>
              <a:ext cx="473716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μ₀ = 4π×10⁻⁷ T·m/A，μ₀/(4π) = 10⁻⁷。电流元 I dl = 1 A × 1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mm，在 r = 1 cm、α = 90° 处：dB = 10⁻⁷ × 10⁻³/10⁻⁴ =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1×10⁻⁶ T</a:t>
              </a:r>
            </a:p>
          </p:txBody>
        </p:sp>
      </p:grpSp>
      <p:grpSp>
        <p:nvGrpSpPr>
          <p:cNvPr id="44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38" name="Rectangle 38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26129" y="6014203"/>
              <a:ext cx="224134" cy="192560"/>
              <a:chOff x="726129" y="6014203"/>
              <a:chExt cx="224134" cy="19256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838200" y="60845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26129" y="60142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38200" y="61623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040892" y="6023610"/>
              <a:ext cx="83931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易错：dB 垂直于 I dl 和 r 所在的平面，求合场时同样要先分解再积分；电流元延长线上 α = 0，dB = 0。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第2至8章 内容总结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5763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1275" y="407194"/>
              <a:ext cx="13996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内容总结 · 稳恒磁场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必记的四个载流导线磁场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graph-1"/>
          <p:cNvGrpSpPr/>
          <p:nvPr/>
        </p:nvGrpSpPr>
        <p:grpSpPr>
          <a:xfrm>
            <a:off x="1231301" y="1586865"/>
            <a:ext cx="3344933" cy="3572827"/>
            <a:chOff x="1231301" y="1586865"/>
            <a:chExt cx="3344933" cy="3572827"/>
          </a:xfrm>
        </p:grpSpPr>
        <p:sp>
          <p:nvSpPr>
            <p:cNvPr id="7" name="Freeform 7"/>
            <p:cNvSpPr/>
            <p:nvPr/>
          </p:nvSpPr>
          <p:spPr>
            <a:xfrm>
              <a:off x="1533525" y="1615440"/>
              <a:ext cx="9525" cy="3515678"/>
            </a:xfrm>
            <a:custGeom>
              <a:avLst/>
              <a:gdLst/>
              <a:ahLst/>
              <a:cxnLst/>
              <a:rect l="l" t="t" r="r" b="b"/>
              <a:pathLst>
                <a:path w="9525" h="3515678">
                  <a:moveTo>
                    <a:pt x="0" y="3515678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8" name="Freeform 8"/>
            <p:cNvSpPr/>
            <p:nvPr/>
          </p:nvSpPr>
          <p:spPr>
            <a:xfrm>
              <a:off x="1533525" y="2020252"/>
              <a:ext cx="9525" cy="2801302"/>
            </a:xfrm>
            <a:custGeom>
              <a:avLst/>
              <a:gdLst/>
              <a:ahLst/>
              <a:cxnLst/>
              <a:rect l="l" t="t" r="r" b="b"/>
              <a:pathLst>
                <a:path w="9525" h="2801302">
                  <a:moveTo>
                    <a:pt x="0" y="2801302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485900" y="192500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1565910" y="3366135"/>
              <a:ext cx="2553652" cy="1474470"/>
            </a:xfrm>
            <a:custGeom>
              <a:avLst/>
              <a:gdLst/>
              <a:ahLst/>
              <a:cxnLst/>
              <a:rect l="l" t="t" r="r" b="b"/>
              <a:pathLst>
                <a:path w="2553652" h="1474470">
                  <a:moveTo>
                    <a:pt x="0" y="1474470"/>
                  </a:moveTo>
                  <a:lnTo>
                    <a:pt x="2553652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566862" y="1905000"/>
              <a:ext cx="2551748" cy="1404938"/>
            </a:xfrm>
            <a:custGeom>
              <a:avLst/>
              <a:gdLst/>
              <a:ahLst/>
              <a:cxnLst/>
              <a:rect l="l" t="t" r="r" b="b"/>
              <a:pathLst>
                <a:path w="2551748" h="1404938">
                  <a:moveTo>
                    <a:pt x="0" y="0"/>
                  </a:moveTo>
                  <a:lnTo>
                    <a:pt x="2551748" y="1404938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562100" y="3337560"/>
              <a:ext cx="2549842" cy="9525"/>
            </a:xfrm>
            <a:custGeom>
              <a:avLst/>
              <a:gdLst/>
              <a:ahLst/>
              <a:cxnLst/>
              <a:rect l="l" t="t" r="r" b="b"/>
              <a:pathLst>
                <a:path w="2549842" h="9525">
                  <a:moveTo>
                    <a:pt x="0" y="0"/>
                  </a:moveTo>
                  <a:lnTo>
                    <a:pt x="2549842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3" name="Ellipse 13"/>
            <p:cNvSpPr/>
            <p:nvPr/>
          </p:nvSpPr>
          <p:spPr>
            <a:xfrm>
              <a:off x="1504950" y="483108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504950" y="1858328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4121468" y="3289935"/>
              <a:ext cx="95250" cy="952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1514475" y="3318510"/>
              <a:ext cx="38100" cy="381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1524000" y="514064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1524000" y="158686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2769870" y="325850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801426" y="32875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74147" y="4246721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9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α₁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818914" y="1745456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9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α₂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89661" y="3232309"/>
              <a:ext cx="865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767176" y="4843939"/>
              <a:ext cx="98646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α 都从电流方向量起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231301" y="2498408"/>
              <a:ext cx="577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</p:grpSp>
      <p:grpSp>
        <p:nvGrpSpPr>
          <p:cNvPr id="46" name="c2-table-1"/>
          <p:cNvGrpSpPr/>
          <p:nvPr/>
        </p:nvGrpSpPr>
        <p:grpSpPr>
          <a:xfrm>
            <a:off x="5382578" y="1524000"/>
            <a:ext cx="6276022" cy="2316480"/>
            <a:chOff x="5382578" y="1524000"/>
            <a:chExt cx="6276022" cy="2316480"/>
          </a:xfrm>
        </p:grpSpPr>
        <p:sp>
          <p:nvSpPr>
            <p:cNvPr id="27" name="Rectangle 27"/>
            <p:cNvSpPr/>
            <p:nvPr/>
          </p:nvSpPr>
          <p:spPr>
            <a:xfrm>
              <a:off x="5382578" y="1524000"/>
              <a:ext cx="6276022" cy="46291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624650" y="165592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载流导线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864164" y="1655921"/>
              <a:ext cx="5770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磁场 B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483924" y="2119789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电流元或直导线的延长线上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092889" y="2119789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82578" y="244602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82578" y="2450782"/>
              <a:ext cx="6276022" cy="4629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483924" y="2582704"/>
              <a:ext cx="228785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一段载流直导线（距离 a）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949872" y="2582704"/>
              <a:ext cx="240565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μ₀I(cosα₁ − cosα₂)/(4πa)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82578" y="290893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483924" y="3045619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无限长载流直导线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655368" y="2923222"/>
              <a:ext cx="2993708" cy="4438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689875" y="3045619"/>
              <a:ext cx="9256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μ₀I/(2πa)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82578" y="337280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382578" y="3377565"/>
              <a:ext cx="6276022" cy="4629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483924" y="3509486"/>
              <a:ext cx="229751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圆电流在圆心处（半径 R）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733832" y="3509486"/>
              <a:ext cx="8377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μ₀I/(2R)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82578" y="1524000"/>
              <a:ext cx="6276022" cy="23164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8641080" y="1524000"/>
              <a:ext cx="9525" cy="2316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7" name="c2-card-2"/>
          <p:cNvGrpSpPr/>
          <p:nvPr/>
        </p:nvGrpSpPr>
        <p:grpSpPr>
          <a:xfrm>
            <a:off x="5382578" y="4020502"/>
            <a:ext cx="6276022" cy="1615440"/>
            <a:chOff x="5382578" y="4020502"/>
            <a:chExt cx="6276022" cy="1615440"/>
          </a:xfrm>
        </p:grpSpPr>
        <p:sp>
          <p:nvSpPr>
            <p:cNvPr id="47" name="Rectangle 47"/>
            <p:cNvSpPr/>
            <p:nvPr/>
          </p:nvSpPr>
          <p:spPr>
            <a:xfrm>
              <a:off x="5382578" y="4020502"/>
              <a:ext cx="6276022" cy="1615440"/>
            </a:xfrm>
            <a:prstGeom prst="roundRect">
              <a:avLst>
                <a:gd name="adj" fmla="val 825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5392102" y="4153852"/>
              <a:ext cx="47625" cy="134874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5618798" y="4218622"/>
              <a:ext cx="18097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670233" y="425291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由一段直导线推出其余结果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5626417" y="4639628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783008" y="4579144"/>
              <a:ext cx="517977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无限长：α₁ → 0，α₂ → π，cosα₁ − cosα₂ = 2，得 μ₀I/(2πa)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5626417" y="4956810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783008" y="4897279"/>
              <a:ext cx="51125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半无限长（P 正对端点）：α₁ = π/2，α₂ → π，得 μ₀I/(4πa)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5626417" y="527494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783008" y="5215414"/>
              <a:ext cx="40282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一段圆弧（圆心角 θ）在圆心：B = μ₀Iθ/(4πR)</a:t>
              </a:r>
            </a:p>
          </p:txBody>
        </p:sp>
      </p:grpSp>
      <p:grpSp>
        <p:nvGrpSpPr>
          <p:cNvPr id="63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58" name="Rectangle 58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38188" y="6011230"/>
              <a:ext cx="200023" cy="200023"/>
              <a:chOff x="738188" y="6011230"/>
              <a:chExt cx="200023" cy="200023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38188" y="60112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71538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040511" y="6011704"/>
              <a:ext cx="76608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组合电流求磁场：拆成直线段与圆弧段，分别套公式，最后按方向（右手定则）求矢量和。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第2至8章 内容总结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24782" cy="909257"/>
            <a:chOff x="520446" y="342900"/>
            <a:chExt cx="582478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5763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1275" y="407194"/>
              <a:ext cx="13996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内容总结 · 稳恒磁场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2478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例6 正方形载流线圈中心的磁感应强度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760595" cy="1594485"/>
            <a:chOff x="533400" y="1524000"/>
            <a:chExt cx="4760595" cy="15944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594485"/>
            </a:xfrm>
            <a:prstGeom prst="roundRect">
              <a:avLst>
                <a:gd name="adj" fmla="val 83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2778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3434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7867" y="1763554"/>
              <a:ext cx="2492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例6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393687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边长 a = 0.2 m 的正方形线圈，通有电流 I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A。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692241"/>
              <a:ext cx="282958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线圈中心 O 点的磁感应强度。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3304222"/>
            <a:ext cx="4760595" cy="2090738"/>
            <a:chOff x="533400" y="3304222"/>
            <a:chExt cx="4760595" cy="2090738"/>
          </a:xfrm>
        </p:grpSpPr>
        <p:sp>
          <p:nvSpPr>
            <p:cNvPr id="14" name="Rectangle 14"/>
            <p:cNvSpPr/>
            <p:nvPr/>
          </p:nvSpPr>
          <p:spPr>
            <a:xfrm>
              <a:off x="533400" y="3304222"/>
              <a:ext cx="4760595" cy="2090738"/>
            </a:xfrm>
            <a:prstGeom prst="roundRect">
              <a:avLst>
                <a:gd name="adj" fmla="val 63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437572"/>
              <a:ext cx="47625" cy="182403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75335" y="350805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5543" y="354377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检验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2955" y="394144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39546" y="3880961"/>
              <a:ext cx="318846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同样周长的圆线圈（R = 2a/π）中心 B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μ₀I/(2R) = 4.93×10⁻⁵ T，同一量级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82955" y="4532948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39546" y="4472464"/>
              <a:ext cx="397294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四条边到中心的距离都是 a/2，由对称性四段贡献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相等，方向相同</a:t>
              </a:r>
            </a:p>
          </p:txBody>
        </p:sp>
      </p:grpSp>
      <p:grpSp>
        <p:nvGrpSpPr>
          <p:cNvPr id="40" name="c2-steps-1"/>
          <p:cNvGrpSpPr/>
          <p:nvPr/>
        </p:nvGrpSpPr>
        <p:grpSpPr>
          <a:xfrm>
            <a:off x="5598795" y="1533525"/>
            <a:ext cx="5851703" cy="2411159"/>
            <a:chOff x="5598795" y="1533525"/>
            <a:chExt cx="5851703" cy="2411159"/>
          </a:xfrm>
        </p:grpSpPr>
        <p:sp>
          <p:nvSpPr>
            <p:cNvPr id="23" name="Rectangle 23"/>
            <p:cNvSpPr/>
            <p:nvPr/>
          </p:nvSpPr>
          <p:spPr>
            <a:xfrm>
              <a:off x="5732145" y="1676400"/>
              <a:ext cx="19050" cy="18621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559879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69241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5598795" y="215455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692419" y="22283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5598795" y="277558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692419" y="28494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5598795" y="339566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692419" y="34694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010656" y="1566386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一条边的几何量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011799" y="1846898"/>
              <a:ext cx="47454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中心到边的距离 a/2；中心看一条边的两端，α₁ = 45°，α₂ = 135°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010656" y="218741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一条边的贡献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011799" y="2467927"/>
              <a:ext cx="52383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B₁ = μ₀I(cos45° − cos135°)/(4π·a/2) = √2μ₀I/(2πa) = 1.41×10⁻⁵ T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010656" y="280844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四条边叠加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011799" y="3088957"/>
              <a:ext cx="54386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四段方向都垂直线圈平面、指向相同（右手定则），B = 4B₁ = 2√2μ₀I/(πa)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010656" y="342947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代数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011799" y="3709988"/>
              <a:ext cx="37581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= 2√2 × 4π×10⁻⁷ × 10/(π × 0.2) = 5.66×10⁻⁵ T</a:t>
              </a:r>
            </a:p>
          </p:txBody>
        </p:sp>
      </p:grpSp>
      <p:grpSp>
        <p:nvGrpSpPr>
          <p:cNvPr id="45" name="c2-card-2"/>
          <p:cNvGrpSpPr/>
          <p:nvPr/>
        </p:nvGrpSpPr>
        <p:grpSpPr>
          <a:xfrm>
            <a:off x="5598795" y="4120515"/>
            <a:ext cx="6059805" cy="1274445"/>
            <a:chOff x="5598795" y="4120515"/>
            <a:chExt cx="6059805" cy="1274445"/>
          </a:xfrm>
        </p:grpSpPr>
        <p:sp>
          <p:nvSpPr>
            <p:cNvPr id="41" name="Rectangle 41"/>
            <p:cNvSpPr/>
            <p:nvPr/>
          </p:nvSpPr>
          <p:spPr>
            <a:xfrm>
              <a:off x="5598795" y="4120515"/>
              <a:ext cx="6059805" cy="1274445"/>
            </a:xfrm>
            <a:prstGeom prst="roundRect">
              <a:avLst>
                <a:gd name="adj" fmla="val 10463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802630" y="4324350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897740" y="436006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795391" y="4697254"/>
              <a:ext cx="522630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 = 2√2μ₀I/(πa) ≈ 5.7×10⁻⁵ T，方向垂直线圈平面，与电流绕向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成右手关系。</a:t>
              </a:r>
            </a:p>
          </p:txBody>
        </p:sp>
      </p:grpSp>
      <p:grpSp>
        <p:nvGrpSpPr>
          <p:cNvPr id="52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46" name="Rectangle 46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38188" y="6003608"/>
              <a:ext cx="200026" cy="200025"/>
              <a:chOff x="738188" y="6003608"/>
              <a:chExt cx="200026" cy="200025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738188" y="60036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777926" y="60480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12642" y="61591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040511" y="6004084"/>
              <a:ext cx="775034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变式：正 n 边形线圈中心的磁场同样按一条边乘 n 来算，n → ∞ 时回到圆电流的 μ₀I/(2R)。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第2至8章 内容总结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5763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1275" y="407194"/>
              <a:ext cx="13996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内容总结 · 稳恒磁场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磁通量与磁场的高斯定理：磁感应线是闭合曲线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410200" cy="1254442"/>
            <a:chOff x="533400" y="1524000"/>
            <a:chExt cx="5410200" cy="12544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8774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1739265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17556" y="1750695"/>
              <a:ext cx="16319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1. 用曲线描述磁感应强度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72478" y="2128838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28497" y="2072640"/>
              <a:ext cx="44144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大小：通过某点处垂直于 B 的单位面积的磁感应线条数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72478" y="2431732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8497" y="2375535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方向：曲线上该点的切线方向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2953702"/>
            <a:ext cx="5410200" cy="1480185"/>
            <a:chOff x="533400" y="2953702"/>
            <a:chExt cx="5410200" cy="1480185"/>
          </a:xfrm>
        </p:grpSpPr>
        <p:sp>
          <p:nvSpPr>
            <p:cNvPr id="16" name="Rectangle 16"/>
            <p:cNvSpPr/>
            <p:nvPr/>
          </p:nvSpPr>
          <p:spPr>
            <a:xfrm>
              <a:off x="533400" y="2953702"/>
              <a:ext cx="5410200" cy="1480185"/>
            </a:xfrm>
            <a:prstGeom prst="roundRect">
              <a:avLst>
                <a:gd name="adj" fmla="val 90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3087052"/>
              <a:ext cx="47625" cy="121348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63905" y="3146108"/>
              <a:ext cx="805815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45559" y="3180398"/>
              <a:ext cx="6425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2. 磁通量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formula167"/>
                <p:cNvSpPr txBox="1">
                  <a:spLocks noGrp="1"/>
                </p:cNvSpPr>
                <p:nvPr/>
              </p:nvSpPr>
              <p:spPr>
                <a:xfrm>
                  <a:off x="763905" y="3480435"/>
                  <a:ext cx="4987290" cy="4800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Φ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sub>
                          <m:sup/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sSub>
                              <m:e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Φ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</m:sub>
                            </m:sSub>
                          </m:e>
                        </m:nary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sub>
                          <m:sup/>
                          <m:e>
                            <m:acc>
                              <m:accPr>
                                <m:chr m:val="⃗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e>
                            </m:acc>
                          </m:e>
                        </m:nary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acc>
                          <m:accPr>
                            <m:chr m:val="⃗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e>
                        </m:acc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1" name="TextBox 21"/>
            <p:cNvSpPr txBox="1"/>
            <p:nvPr/>
          </p:nvSpPr>
          <p:spPr>
            <a:xfrm>
              <a:off x="758190" y="4065746"/>
              <a:ext cx="20288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单位 Wb（1 Wb = 1 T·m²）。</a:t>
              </a:r>
            </a:p>
          </p:txBody>
        </p:sp>
      </p:grpSp>
      <p:grpSp>
        <p:nvGrpSpPr>
          <p:cNvPr id="29" name="c1-card-3"/>
          <p:cNvGrpSpPr/>
          <p:nvPr/>
        </p:nvGrpSpPr>
        <p:grpSpPr>
          <a:xfrm>
            <a:off x="533400" y="4609148"/>
            <a:ext cx="5410200" cy="1650682"/>
            <a:chOff x="533400" y="4609148"/>
            <a:chExt cx="5410200" cy="1650682"/>
          </a:xfrm>
        </p:grpSpPr>
        <p:sp>
          <p:nvSpPr>
            <p:cNvPr id="23" name="Rectangle 23"/>
            <p:cNvSpPr/>
            <p:nvPr/>
          </p:nvSpPr>
          <p:spPr>
            <a:xfrm>
              <a:off x="533400" y="4609148"/>
              <a:ext cx="5410200" cy="1650682"/>
            </a:xfrm>
            <a:prstGeom prst="roundRect">
              <a:avLst>
                <a:gd name="adj" fmla="val 80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2925" y="4742498"/>
              <a:ext cx="47625" cy="138398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63905" y="4801552"/>
              <a:ext cx="1022985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30542" y="4835842"/>
              <a:ext cx="8897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B 与 H 的关系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formula168"/>
                <p:cNvSpPr txBox="1">
                  <a:spLocks noGrp="1"/>
                </p:cNvSpPr>
                <p:nvPr/>
              </p:nvSpPr>
              <p:spPr>
                <a:xfrm>
                  <a:off x="763905" y="5135880"/>
                  <a:ext cx="4987290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acc>
                          <m:accPr>
                            <m:chr m:val="⃗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μ</m:t>
                        </m:r>
                        <m:acc>
                          <m:accPr>
                            <m:chr m:val="⃗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μ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</m:sSub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μ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</m:sub>
                        </m:sSub>
                        <m:acc>
                          <m:accPr>
                            <m:chr m:val="⃗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</m:e>
                        </m:acc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8" name="TextBox 28"/>
            <p:cNvSpPr txBox="1"/>
            <p:nvPr/>
          </p:nvSpPr>
          <p:spPr>
            <a:xfrm>
              <a:off x="758190" y="5584031"/>
              <a:ext cx="45609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真空中 μᵣ = 1，B = μ₀H；H 的环流只与传导电流有关（第 34 页）。</a:t>
              </a:r>
            </a:p>
          </p:txBody>
        </p:sp>
      </p:grpSp>
      <p:grpSp>
        <p:nvGrpSpPr>
          <p:cNvPr id="36" name="c2-card-1"/>
          <p:cNvGrpSpPr/>
          <p:nvPr/>
        </p:nvGrpSpPr>
        <p:grpSpPr>
          <a:xfrm>
            <a:off x="6248400" y="1524000"/>
            <a:ext cx="5410200" cy="1936432"/>
            <a:chOff x="6248400" y="1524000"/>
            <a:chExt cx="5410200" cy="1936432"/>
          </a:xfrm>
        </p:grpSpPr>
        <p:sp>
          <p:nvSpPr>
            <p:cNvPr id="30" name="Rectangle 30"/>
            <p:cNvSpPr/>
            <p:nvPr/>
          </p:nvSpPr>
          <p:spPr>
            <a:xfrm>
              <a:off x="6248400" y="1524000"/>
              <a:ext cx="5410200" cy="1936432"/>
            </a:xfrm>
            <a:prstGeom prst="roundRect">
              <a:avLst>
                <a:gd name="adj" fmla="val 68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57925" y="1657350"/>
              <a:ext cx="47625" cy="166973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78905" y="1716405"/>
              <a:ext cx="1339215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44557" y="1750695"/>
              <a:ext cx="12079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3. 磁场的高斯定理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formula169"/>
                <p:cNvSpPr txBox="1">
                  <a:spLocks noGrp="1"/>
                </p:cNvSpPr>
                <p:nvPr/>
              </p:nvSpPr>
              <p:spPr>
                <a:xfrm>
                  <a:off x="6478905" y="2050732"/>
                  <a:ext cx="4987290" cy="6400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nary>
                          <m:naryPr>
                            <m:chr m:val="∮"/>
                            <m:limLoc m:val="subSup"/>
                            <m:grow m:val="off"/>
                            <m:subHide m:val="off"/>
                            <m:supHide m:val="on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sub>
                          <m:sup/>
                          <m:e>
                            <m:acc>
                              <m:accPr>
                                <m:chr m:val="⃗"/>
                                <m:ctrl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e>
                            </m:acc>
                          </m:e>
                        </m:nary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acc>
                          <m:accPr>
                            <m:chr m:val="⃗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5" name="TextBox 35"/>
            <p:cNvSpPr txBox="1"/>
            <p:nvPr/>
          </p:nvSpPr>
          <p:spPr>
            <a:xfrm>
              <a:off x="6472047" y="2799398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穿入闭合曲面的磁感应线条数等于穿出的条数，磁场是无源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场，不存在单独的磁荷。</a:t>
              </a:r>
            </a:p>
          </p:txBody>
        </p:sp>
      </p:grpSp>
      <p:grpSp>
        <p:nvGrpSpPr>
          <p:cNvPr id="42" name="c2-card-2"/>
          <p:cNvGrpSpPr/>
          <p:nvPr/>
        </p:nvGrpSpPr>
        <p:grpSpPr>
          <a:xfrm>
            <a:off x="6248400" y="3635692"/>
            <a:ext cx="5410200" cy="1209675"/>
            <a:chOff x="6248400" y="3635692"/>
            <a:chExt cx="5410200" cy="1209675"/>
          </a:xfrm>
        </p:grpSpPr>
        <p:sp>
          <p:nvSpPr>
            <p:cNvPr id="37" name="Rectangle 37"/>
            <p:cNvSpPr/>
            <p:nvPr/>
          </p:nvSpPr>
          <p:spPr>
            <a:xfrm>
              <a:off x="6248400" y="3635692"/>
              <a:ext cx="5410200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257925" y="3769042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478905" y="382809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70345" y="386238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72047" y="4184332"/>
              <a:ext cx="457428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原课件把磁场高斯定理写成 ∫S B·dS = 0，漏了闭合曲面的记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号。对一般的非闭合曲面，磁通量并不为零，必须写 ∮S。</a:t>
              </a:r>
            </a:p>
          </p:txBody>
        </p:sp>
      </p:grpSp>
      <p:grpSp>
        <p:nvGrpSpPr>
          <p:cNvPr id="59" name="c2-compare-3"/>
          <p:cNvGrpSpPr/>
          <p:nvPr/>
        </p:nvGrpSpPr>
        <p:grpSpPr>
          <a:xfrm>
            <a:off x="6248400" y="5019675"/>
            <a:ext cx="5410200" cy="1240155"/>
            <a:chOff x="6248400" y="5019675"/>
            <a:chExt cx="5410200" cy="1240155"/>
          </a:xfrm>
        </p:grpSpPr>
        <p:sp>
          <p:nvSpPr>
            <p:cNvPr id="43" name="Rectangle 43"/>
            <p:cNvSpPr/>
            <p:nvPr/>
          </p:nvSpPr>
          <p:spPr>
            <a:xfrm>
              <a:off x="6248400" y="5019675"/>
              <a:ext cx="2495550" cy="1240155"/>
            </a:xfrm>
            <a:prstGeom prst="roundRect">
              <a:avLst>
                <a:gd name="adj" fmla="val 1075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257925" y="5153025"/>
              <a:ext cx="47625" cy="97345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472047" y="523494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静电场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487478" y="5610225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643497" y="5554028"/>
              <a:ext cx="10096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∮ D·dS = Σq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487478" y="591312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643497" y="5856923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有源场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9163050" y="5019675"/>
              <a:ext cx="2495550" cy="1240155"/>
            </a:xfrm>
            <a:prstGeom prst="roundRect">
              <a:avLst>
                <a:gd name="adj" fmla="val 1075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9172575" y="5153025"/>
              <a:ext cx="47625" cy="9734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386697" y="523494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稳恒磁场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9402128" y="5610225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558147" y="5554028"/>
              <a:ext cx="9095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∮ B·dS = 0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9402128" y="591312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558147" y="5856923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无源场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8791575" y="5477828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868046" y="5579269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第2至8章 内容总结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51214" cy="909257"/>
            <a:chOff x="520446" y="342900"/>
            <a:chExt cx="89512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5763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1275" y="407194"/>
              <a:ext cx="13996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内容总结 · 稳恒磁场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512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磁场对电流和运动电荷的作用：安培力、磁力矩、洛伦兹力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505902"/>
            <a:chOff x="533400" y="1524000"/>
            <a:chExt cx="5410200" cy="150590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505902"/>
            </a:xfrm>
            <a:prstGeom prst="roundRect">
              <a:avLst>
                <a:gd name="adj" fmla="val 8855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1556385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1511" y="1769269"/>
              <a:ext cx="14392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1. 载流导线：安培力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formula173"/>
                <p:cNvSpPr txBox="1">
                  <a:spLocks noGrp="1"/>
                </p:cNvSpPr>
                <p:nvPr/>
              </p:nvSpPr>
              <p:spPr>
                <a:xfrm>
                  <a:off x="742950" y="2085975"/>
                  <a:ext cx="4991100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6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acc>
                          <m:accPr>
                            <m:chr m:val="⃗"/>
                            <m:ctrlP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6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Id</m:t>
                        </m:r>
                        <m:acc>
                          <m:accPr>
                            <m:chr m:val="⃗"/>
                            <m:ctrlP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acc>
                          <m:accPr>
                            <m:chr m:val="⃗"/>
                            <m:ctrlP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</m:acc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1" name="TextBox 11"/>
            <p:cNvSpPr txBox="1"/>
            <p:nvPr/>
          </p:nvSpPr>
          <p:spPr>
            <a:xfrm>
              <a:off x="736473" y="2621756"/>
              <a:ext cx="28563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匀强磁场中的直导线：F = BIL sinθ。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3220402"/>
            <a:ext cx="5410200" cy="2893695"/>
            <a:chOff x="533400" y="3220402"/>
            <a:chExt cx="5410200" cy="2893695"/>
          </a:xfrm>
        </p:grpSpPr>
        <p:sp>
          <p:nvSpPr>
            <p:cNvPr id="13" name="Rectangle 13"/>
            <p:cNvSpPr/>
            <p:nvPr/>
          </p:nvSpPr>
          <p:spPr>
            <a:xfrm>
              <a:off x="533400" y="3220402"/>
              <a:ext cx="5410200" cy="2893695"/>
            </a:xfrm>
            <a:prstGeom prst="roundRect">
              <a:avLst>
                <a:gd name="adj" fmla="val 4608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42950" y="3429952"/>
              <a:ext cx="1841182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92659" y="3465671"/>
              <a:ext cx="17408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2. 平面载流线圈：磁力矩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formula174"/>
                <p:cNvSpPr txBox="1">
                  <a:spLocks noGrp="1"/>
                </p:cNvSpPr>
                <p:nvPr/>
              </p:nvSpPr>
              <p:spPr>
                <a:xfrm>
                  <a:off x="742950" y="3782378"/>
                  <a:ext cx="49911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acc>
                          <m:accPr>
                            <m:chr m:val="⃗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acc>
                              <m:accPr>
                                <m:chr m:val="⃗"/>
                                <m:ctrlP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</m:acc>
                          </m:e>
                          <m:sub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acc>
                          <m:accPr>
                            <m:chr m:val="⃗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b>
                          <m:e>
                            <m:acc>
                              <m:accPr>
                                <m:chr m:val="⃗"/>
                                <m:ctrlP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</m:acc>
                          </m:e>
                          <m:sub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NIS</m:t>
                        </m:r>
                        <m:acc>
                          <m:accPr>
                            <m:chr m:val="⃗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e>
                        </m:acc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7" name="TextBox 17"/>
            <p:cNvSpPr txBox="1"/>
            <p:nvPr/>
          </p:nvSpPr>
          <p:spPr>
            <a:xfrm>
              <a:off x="736473" y="4280059"/>
              <a:ext cx="46898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是线圈平面法向，与电流绕向成右手关系；M = NISB sinθ。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48665" y="464248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6780" y="4579620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匀强磁场中线圈所受合力为零，只受力矩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48665" y="497776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6780" y="4914900"/>
              <a:ext cx="4463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力矩使 Pm 转向 B 的方向，θ = 0 时 M = 0，是稳定平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衡</a:t>
              </a:r>
            </a:p>
          </p:txBody>
        </p:sp>
      </p:grpSp>
      <p:grpSp>
        <p:nvGrpSpPr>
          <p:cNvPr id="32" name="c2-card-1"/>
          <p:cNvGrpSpPr/>
          <p:nvPr/>
        </p:nvGrpSpPr>
        <p:grpSpPr>
          <a:xfrm>
            <a:off x="6248400" y="1524000"/>
            <a:ext cx="5410200" cy="2176462"/>
            <a:chOff x="6248400" y="1524000"/>
            <a:chExt cx="5410200" cy="2176462"/>
          </a:xfrm>
        </p:grpSpPr>
        <p:sp>
          <p:nvSpPr>
            <p:cNvPr id="23" name="Rectangle 23"/>
            <p:cNvSpPr/>
            <p:nvPr/>
          </p:nvSpPr>
          <p:spPr>
            <a:xfrm>
              <a:off x="6248400" y="1524000"/>
              <a:ext cx="5410200" cy="2176462"/>
            </a:xfrm>
            <a:prstGeom prst="roundRect">
              <a:avLst>
                <a:gd name="adj" fmla="val 6127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457950" y="1733550"/>
              <a:ext cx="1699260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12561" y="1769269"/>
              <a:ext cx="15900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3. 运动电荷：洛伦兹力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formula175"/>
                <p:cNvSpPr txBox="1">
                  <a:spLocks noGrp="1"/>
                </p:cNvSpPr>
                <p:nvPr/>
              </p:nvSpPr>
              <p:spPr>
                <a:xfrm>
                  <a:off x="6457950" y="2085975"/>
                  <a:ext cx="4991100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acc>
                              <m:accPr>
                                <m:chr m:val="⃗"/>
                                <m:ctrlPr>
                                  <a:rPr lang="zh-CN" sz="16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6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</m:e>
                            </m:acc>
                          </m:e>
                          <m:sub>
                            <m: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6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q</m:t>
                        </m:r>
                        <m:acc>
                          <m:accPr>
                            <m:chr m:val="⃗"/>
                            <m:ctrlP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v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acc>
                          <m:accPr>
                            <m:chr m:val="⃗"/>
                            <m:ctrlP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</m:acc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7" name="Ellipse 27"/>
            <p:cNvSpPr/>
            <p:nvPr/>
          </p:nvSpPr>
          <p:spPr>
            <a:xfrm>
              <a:off x="6463665" y="268795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621780" y="2625090"/>
              <a:ext cx="22224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正电荷：与 v × B 同方向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463665" y="302323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621780" y="2960370"/>
              <a:ext cx="22224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负电荷：与 v × B 反方向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51473" y="3292316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洛伦兹力始终垂直于速度，不做功，只改变运动方向。</a:t>
              </a:r>
            </a:p>
          </p:txBody>
        </p:sp>
      </p:grpSp>
      <p:grpSp>
        <p:nvGrpSpPr>
          <p:cNvPr id="41" name="c2-card-2"/>
          <p:cNvGrpSpPr/>
          <p:nvPr/>
        </p:nvGrpSpPr>
        <p:grpSpPr>
          <a:xfrm>
            <a:off x="6248400" y="3890962"/>
            <a:ext cx="5410200" cy="2223135"/>
            <a:chOff x="6248400" y="3890962"/>
            <a:chExt cx="5410200" cy="2223135"/>
          </a:xfrm>
        </p:grpSpPr>
        <p:sp>
          <p:nvSpPr>
            <p:cNvPr id="33" name="Rectangle 33"/>
            <p:cNvSpPr/>
            <p:nvPr/>
          </p:nvSpPr>
          <p:spPr>
            <a:xfrm>
              <a:off x="6248400" y="3890962"/>
              <a:ext cx="5410200" cy="2223135"/>
            </a:xfrm>
            <a:prstGeom prst="roundRect">
              <a:avLst>
                <a:gd name="adj" fmla="val 599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257925" y="4024312"/>
              <a:ext cx="47625" cy="195643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496050" y="410051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86258" y="413623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小例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501765" y="4540568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59880" y="4477702"/>
              <a:ext cx="45491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线圈 N = 50，I = 2 A，S = 0.01 m²，B = 0.5 T：Pm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A·m²，最大磁力矩 M = 0.5 N·m（θ = 90°）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501765" y="5161598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659880" y="5098732"/>
              <a:ext cx="4396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电子以 v = 1.0×10⁶ m/s 垂直射入 B = 0.01 T：F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evB = 1.6×10⁻¹⁵ N，圆周半径 R = mv/(eB) = 0.57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mm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第2至8章 内容总结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58529" cy="909257"/>
            <a:chOff x="520446" y="342900"/>
            <a:chExt cx="755852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5763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1275" y="407194"/>
              <a:ext cx="13996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内容总结 · 稳恒磁场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5852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安培环路定理：H 的环流等于穿过回路的传导电流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182"/>
              <p:cNvSpPr txBox="1">
                <a:spLocks noGrp="1"/>
              </p:cNvSpPr>
              <p:nvPr/>
            </p:nvSpPr>
            <p:spPr>
              <a:xfrm>
                <a:off x="533400" y="1524000"/>
                <a:ext cx="5193982" cy="6286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nary>
                        <m:naryPr>
                          <m:chr m:val="∮"/>
                          <m:limLoc m:val="subSup"/>
                          <m:grow m:val="off"/>
                          <m:subHide m:val="off"/>
                          <m:supHide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</m:e>
                          </m:acc>
                        </m:e>
                      </m:nary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</m:t>
                      </m:r>
                      <m:acc>
                        <m:accPr>
                          <m:chr m:val="⃗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</m:t>
                              </m:r>
                              <m:r>
                                <m:rPr>
                                  <m:nor m:val="on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内</m:t>
                              </m:r>
                            </m:e>
                          </m:d>
                        </m:sub>
                        <m:sup/>
                        <m:e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</a:p>
            </p:txBody>
          </p:sp>
        </mc:Choice>
      </mc:AlternateContent>
      <p:grpSp>
        <p:nvGrpSpPr>
          <p:cNvPr id="16" name="c1-card-2"/>
          <p:cNvGrpSpPr/>
          <p:nvPr/>
        </p:nvGrpSpPr>
        <p:grpSpPr>
          <a:xfrm>
            <a:off x="533400" y="2317432"/>
            <a:ext cx="5193982" cy="1185862"/>
            <a:chOff x="533400" y="2317432"/>
            <a:chExt cx="5193982" cy="1185862"/>
          </a:xfrm>
        </p:grpSpPr>
        <p:sp>
          <p:nvSpPr>
            <p:cNvPr id="8" name="Rectangle 8"/>
            <p:cNvSpPr/>
            <p:nvPr/>
          </p:nvSpPr>
          <p:spPr>
            <a:xfrm>
              <a:off x="533400" y="2317432"/>
              <a:ext cx="5193982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42925" y="2450782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52475" y="2498408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33946" y="253126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电流的正负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62000" y="2890838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17448" y="2838926"/>
              <a:ext cx="35684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电流方向与环路绕行方向满足右手关系，I 取正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62000" y="317563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17448" y="3123724"/>
              <a:ext cx="37407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满足左手关系，I 取负；不穿过环路的电流不计入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3668078"/>
            <a:ext cx="5193982" cy="1185862"/>
            <a:chOff x="533400" y="3668078"/>
            <a:chExt cx="5193982" cy="1185862"/>
          </a:xfrm>
        </p:grpSpPr>
        <p:sp>
          <p:nvSpPr>
            <p:cNvPr id="17" name="Rectangle 17"/>
            <p:cNvSpPr/>
            <p:nvPr/>
          </p:nvSpPr>
          <p:spPr>
            <a:xfrm>
              <a:off x="533400" y="3668078"/>
              <a:ext cx="5193982" cy="1185862"/>
            </a:xfrm>
            <a:prstGeom prst="roundRect">
              <a:avLst>
                <a:gd name="adj" fmla="val 11245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14375" y="3849052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95846" y="388191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环路怎么选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23900" y="4242435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79348" y="4189571"/>
              <a:ext cx="35738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方向：一般与电流成右手关系，使 dl 与 B 平行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23900" y="4527232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79348" y="4474369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形状：圆形（长直电流、圆柱）或矩形（螺线管）</a:t>
              </a:r>
            </a:p>
          </p:txBody>
        </p:sp>
      </p:grpSp>
      <p:grpSp>
        <p:nvGrpSpPr>
          <p:cNvPr id="30" name="c1-card-4"/>
          <p:cNvGrpSpPr/>
          <p:nvPr/>
        </p:nvGrpSpPr>
        <p:grpSpPr>
          <a:xfrm>
            <a:off x="533400" y="5019675"/>
            <a:ext cx="5193982" cy="1278255"/>
            <a:chOff x="533400" y="5019675"/>
            <a:chExt cx="5193982" cy="1278255"/>
          </a:xfrm>
        </p:grpSpPr>
        <p:sp>
          <p:nvSpPr>
            <p:cNvPr id="25" name="Rectangle 25"/>
            <p:cNvSpPr/>
            <p:nvPr/>
          </p:nvSpPr>
          <p:spPr>
            <a:xfrm>
              <a:off x="533400" y="5019675"/>
              <a:ext cx="5193982" cy="1278255"/>
            </a:xfrm>
            <a:prstGeom prst="roundRect">
              <a:avLst>
                <a:gd name="adj" fmla="val 1043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42925" y="5153025"/>
              <a:ext cx="47625" cy="10115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52475" y="520065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45147" y="523351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45998" y="5540216"/>
              <a:ext cx="47054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原课件把环路定理写成 ∫L H·dl，积分号应为闭合回路的 ∮L。</a:t>
              </a:r>
            </a:p>
          </p:txBody>
        </p:sp>
      </p:grpSp>
      <p:grpSp>
        <p:nvGrpSpPr>
          <p:cNvPr id="36" name="c2-card-1"/>
          <p:cNvGrpSpPr/>
          <p:nvPr/>
        </p:nvGrpSpPr>
        <p:grpSpPr>
          <a:xfrm>
            <a:off x="6032182" y="1524000"/>
            <a:ext cx="5626418" cy="1143952"/>
            <a:chOff x="6032182" y="1524000"/>
            <a:chExt cx="5626418" cy="1143952"/>
          </a:xfrm>
        </p:grpSpPr>
        <p:sp>
          <p:nvSpPr>
            <p:cNvPr id="31" name="Rectangle 31"/>
            <p:cNvSpPr/>
            <p:nvPr/>
          </p:nvSpPr>
          <p:spPr>
            <a:xfrm>
              <a:off x="6032182" y="1524000"/>
              <a:ext cx="5626418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041708" y="1657350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251258" y="1704975"/>
              <a:ext cx="40576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45129" y="1737836"/>
              <a:ext cx="2180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例7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244780" y="2045494"/>
              <a:ext cx="495477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长直螺线管长 l = 0.5 m，共 N = 1000 匝，电流 I = 2 A，管内为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真空。</a:t>
              </a: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管内 B。</a:t>
              </a:r>
            </a:p>
          </p:txBody>
        </p:sp>
      </p:grpSp>
      <p:grpSp>
        <p:nvGrpSpPr>
          <p:cNvPr id="54" name="c2-steps-2"/>
          <p:cNvGrpSpPr/>
          <p:nvPr/>
        </p:nvGrpSpPr>
        <p:grpSpPr>
          <a:xfrm>
            <a:off x="6032182" y="2842260"/>
            <a:ext cx="4742707" cy="2149411"/>
            <a:chOff x="6032182" y="2842260"/>
            <a:chExt cx="4742707" cy="2149411"/>
          </a:xfrm>
        </p:grpSpPr>
        <p:sp>
          <p:nvSpPr>
            <p:cNvPr id="37" name="Rectangle 37"/>
            <p:cNvSpPr/>
            <p:nvPr/>
          </p:nvSpPr>
          <p:spPr>
            <a:xfrm>
              <a:off x="6165532" y="2985135"/>
              <a:ext cx="19050" cy="1659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6032182" y="284226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125806" y="291607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032182" y="339566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125806" y="34694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032182" y="394811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125806" y="40219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032182" y="450151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125806" y="45753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44806" y="287321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选矩形回路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445948" y="3128010"/>
              <a:ext cx="43289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一条边 ab（长 l′）在管内平行轴线，对边在管外，两条侧边垂直轴线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444806" y="342566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算环流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45948" y="3680460"/>
              <a:ext cx="33704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管外 H ≈ 0，侧边上 H ⊥ dl，只剩 ab 段：∮H·dl = H l′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444806" y="397906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数电流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445948" y="4233862"/>
              <a:ext cx="39088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回路包围 n l′ 匝，n = N/l = 2000 匝/m：H l′ = n l′ I ⇒ H = nI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44806" y="453247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代数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445948" y="4786312"/>
              <a:ext cx="30121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= μ₀nI = 4π×10⁻⁷ × 2000 × 2 = 5.03×10⁻³ T</a:t>
              </a:r>
            </a:p>
          </p:txBody>
        </p:sp>
      </p:grpSp>
      <p:grpSp>
        <p:nvGrpSpPr>
          <p:cNvPr id="59" name="c2-card-3"/>
          <p:cNvGrpSpPr/>
          <p:nvPr/>
        </p:nvGrpSpPr>
        <p:grpSpPr>
          <a:xfrm>
            <a:off x="6032182" y="5153978"/>
            <a:ext cx="5626418" cy="1143952"/>
            <a:chOff x="6032182" y="5153978"/>
            <a:chExt cx="5626418" cy="1143952"/>
          </a:xfrm>
        </p:grpSpPr>
        <p:sp>
          <p:nvSpPr>
            <p:cNvPr id="55" name="Rectangle 55"/>
            <p:cNvSpPr/>
            <p:nvPr/>
          </p:nvSpPr>
          <p:spPr>
            <a:xfrm>
              <a:off x="6032182" y="5153978"/>
              <a:ext cx="5626418" cy="1143952"/>
            </a:xfrm>
            <a:prstGeom prst="roundRect">
              <a:avLst>
                <a:gd name="adj" fmla="val 11657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213158" y="5334952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308928" y="5367814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206680" y="5674519"/>
              <a:ext cx="492226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 = μ₀nI ≈ 5.0×10⁻³ T，方向沿轴线，与电流绕向成右手关系。nI 是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单位长度上的电流。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第2至8章 内容总结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852160" cy="3351847"/>
            <a:chOff x="667512" y="1835468"/>
            <a:chExt cx="5852160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85216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电磁感应与麦克斯韦方程组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变化的磁场产生电场，变化的电场产生磁场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法拉第电磁感应定律与感应电量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动生电动势与感生电动势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磁场能量与位移电流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麦克斯韦方程组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第2至8章 内容总结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1462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7772" y="407194"/>
              <a:ext cx="26058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内容总结 · 电磁感应与麦克斯韦方程组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法拉第电磁感应定律：电动势等于磁通量变化率的负值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5410200" cy="4063365"/>
            <a:chOff x="533400" y="1524000"/>
            <a:chExt cx="5410200" cy="40633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063365"/>
            </a:xfrm>
            <a:prstGeom prst="roundRect">
              <a:avLst>
                <a:gd name="adj" fmla="val 3282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1605915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83456" y="1750695"/>
              <a:ext cx="14906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1. 法拉第电磁感应定律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formula195"/>
                <p:cNvSpPr txBox="1">
                  <a:spLocks noGrp="1"/>
                </p:cNvSpPr>
                <p:nvPr/>
              </p:nvSpPr>
              <p:spPr>
                <a:xfrm>
                  <a:off x="725805" y="2050732"/>
                  <a:ext cx="5025390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ε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=−</m:t>
                        </m:r>
                        <m:f>
                          <m:fPr>
                            <m:type m:val="bar"/>
                            <m:ctrlP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Φ</m:t>
                            </m:r>
                          </m:num>
                          <m:den>
                            <m: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dt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1" name="TextBox 11"/>
            <p:cNvSpPr txBox="1"/>
            <p:nvPr/>
          </p:nvSpPr>
          <p:spPr>
            <a:xfrm>
              <a:off x="718947" y="2725102"/>
              <a:ext cx="27528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 N 匝回路（Ψ = NΦ₁ 为磁链）：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196"/>
                <p:cNvSpPr txBox="1">
                  <a:spLocks noGrp="1"/>
                </p:cNvSpPr>
                <p:nvPr/>
              </p:nvSpPr>
              <p:spPr>
                <a:xfrm>
                  <a:off x="725805" y="3006090"/>
                  <a:ext cx="5025390" cy="4629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ε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=−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sSub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Φ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dt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=−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Ψ</m:t>
                            </m:r>
                          </m:num>
                          <m:den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dt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20090" y="3574256"/>
              <a:ext cx="42331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负号表示楞次定律：感应电流的磁场总是阻碍原磁通量的变化。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34378" y="3897630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90397" y="3841432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判方向口诀：原磁通增加，感应电流的磁场与原磁场反向；减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少则同向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34378" y="4456748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90397" y="4400550"/>
              <a:ext cx="40806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感应电流 I = ε/R，与回路电阻有关；ε 与电阻无关</a:t>
              </a:r>
            </a:p>
          </p:txBody>
        </p:sp>
      </p:grpSp>
      <p:grpSp>
        <p:nvGrpSpPr>
          <p:cNvPr id="28" name="c2-card-1"/>
          <p:cNvGrpSpPr/>
          <p:nvPr/>
        </p:nvGrpSpPr>
        <p:grpSpPr>
          <a:xfrm>
            <a:off x="6248400" y="1524000"/>
            <a:ext cx="5410200" cy="1855470"/>
            <a:chOff x="6248400" y="1524000"/>
            <a:chExt cx="5410200" cy="1855470"/>
          </a:xfrm>
        </p:grpSpPr>
        <p:sp>
          <p:nvSpPr>
            <p:cNvPr id="19" name="Rectangle 19"/>
            <p:cNvSpPr/>
            <p:nvPr/>
          </p:nvSpPr>
          <p:spPr>
            <a:xfrm>
              <a:off x="6248400" y="1524000"/>
              <a:ext cx="5410200" cy="1855470"/>
            </a:xfrm>
            <a:prstGeom prst="roundRect">
              <a:avLst>
                <a:gd name="adj" fmla="val 718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257925" y="1657350"/>
              <a:ext cx="47625" cy="158877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478905" y="1716405"/>
              <a:ext cx="2139315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20554" y="1750695"/>
              <a:ext cx="20560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2. 通过回路任一截面的感应电量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formula197"/>
                <p:cNvSpPr txBox="1">
                  <a:spLocks noGrp="1"/>
                </p:cNvSpPr>
                <p:nvPr/>
              </p:nvSpPr>
              <p:spPr>
                <a:xfrm>
                  <a:off x="6478905" y="2050732"/>
                  <a:ext cx="4987290" cy="5143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q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</m:den>
                        </m:f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Φ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Φ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4" name="Ellipse 24"/>
            <p:cNvSpPr/>
            <p:nvPr/>
          </p:nvSpPr>
          <p:spPr>
            <a:xfrm>
              <a:off x="6487478" y="2729865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643497" y="2673668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只与磁通量的变化量有关，与变化快慢无关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6487478" y="303276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643497" y="2976562"/>
              <a:ext cx="29123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匝线圈时乘 N：q = N(Φ₁ − Φ₂)/R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3554730"/>
            <a:ext cx="5410200" cy="2032635"/>
            <a:chOff x="6248400" y="3554730"/>
            <a:chExt cx="5410200" cy="2032635"/>
          </a:xfrm>
        </p:grpSpPr>
        <p:sp>
          <p:nvSpPr>
            <p:cNvPr id="29" name="Rectangle 29"/>
            <p:cNvSpPr/>
            <p:nvPr/>
          </p:nvSpPr>
          <p:spPr>
            <a:xfrm>
              <a:off x="6248400" y="3554730"/>
              <a:ext cx="5410200" cy="2032635"/>
            </a:xfrm>
            <a:prstGeom prst="roundRect">
              <a:avLst>
                <a:gd name="adj" fmla="val 656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257925" y="3688080"/>
              <a:ext cx="47625" cy="176593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478905" y="374713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70345" y="378142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小例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72047" y="4104322"/>
              <a:ext cx="471144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100 匝、总电阻 R = 10 Ω 的线圈，磁通量从 5×10⁻³ Wb 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 0：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72047" y="4663440"/>
              <a:ext cx="452285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 = 100 × 5×10⁻³/10 = 0.05 C。不管用 0.1 s 还是 10 s 抽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走磁铁，通过的电量都一样。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73190" y="5219224"/>
              <a:ext cx="35288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冲击电流计测磁场就是用这一条：测出 q，反推 ΔΦ。</a:t>
              </a:r>
            </a:p>
          </p:txBody>
        </p:sp>
      </p:grpSp>
      <p:grpSp>
        <p:nvGrpSpPr>
          <p:cNvPr id="43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37" name="Rectangle 37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26129" y="6014203"/>
              <a:ext cx="224134" cy="192560"/>
              <a:chOff x="726129" y="6014203"/>
              <a:chExt cx="224134" cy="19256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838200" y="60845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26129" y="60142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38200" y="61623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40892" y="6023610"/>
              <a:ext cx="103660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易错：定律里的 Φ 是穿过整个回路的磁通量。判断方向时先定回路正方向，Φ 按右手关系取正负，算出 ε &gt; 0 表示与正方向相同。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第2至8章 内容总结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1462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7772" y="407194"/>
              <a:ext cx="26058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内容总结 · 电磁感应与麦克斯韦方程组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动生电动势来自洛伦兹力，感生电动势来自涡旋电场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card-1"/>
          <p:cNvGrpSpPr/>
          <p:nvPr/>
        </p:nvGrpSpPr>
        <p:grpSpPr>
          <a:xfrm>
            <a:off x="533400" y="1524000"/>
            <a:ext cx="5410200" cy="3861435"/>
            <a:chOff x="533400" y="1524000"/>
            <a:chExt cx="5410200" cy="38614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3861435"/>
            </a:xfrm>
            <a:prstGeom prst="roundRect">
              <a:avLst>
                <a:gd name="adj" fmla="val 3453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2552700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71958" y="1769269"/>
              <a:ext cx="24946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3. 动生电动势（导体在磁场中运动）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formula200"/>
                <p:cNvSpPr txBox="1">
                  <a:spLocks noGrp="1"/>
                </p:cNvSpPr>
                <p:nvPr/>
              </p:nvSpPr>
              <p:spPr>
                <a:xfrm>
                  <a:off x="742950" y="2085975"/>
                  <a:ext cx="4991100" cy="5067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ε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n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</m:sub>
                          <m:sup/>
                          <m:e>
                            <m:sSub>
                              <m:e>
                                <m:acc>
                                  <m:accPr>
                                    <m:chr m:val="⃗"/>
                                    <m:ctrlP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</m:sSub>
                          </m:e>
                        </m:nary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acc>
                          <m:accPr>
                            <m:chr m:val="⃗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n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</m:sub>
                          <m:sup/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⃗"/>
                                    <m:ctrlP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v</m:t>
                                    </m:r>
                                  </m:e>
                                </m:acc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×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B</m:t>
                                    </m:r>
                                  </m:e>
                                </m:acc>
                              </m:e>
                            </m:d>
                          </m:e>
                        </m:nary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acc>
                          <m:accPr>
                            <m:chr m:val="⃗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</m:e>
                        </m:acc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1" name="Ellipse 11"/>
            <p:cNvSpPr/>
            <p:nvPr/>
          </p:nvSpPr>
          <p:spPr>
            <a:xfrm>
              <a:off x="748665" y="277558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06780" y="2712720"/>
              <a:ext cx="29689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非静电力是洛伦兹力，Ek = v × B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48665" y="311086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06780" y="3048000"/>
              <a:ext cx="45396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方向：沿 v × B 在 l 上的投影，在导体内从低电势指向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高电势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36473" y="3665696"/>
              <a:ext cx="26873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匀强场中直棒 v ⊥ B ⊥ l：ε = BLv。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48665" y="4028123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3965258"/>
              <a:ext cx="45396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也可用 |ε| = dΦ/dt 求：dΦ 是导体在 dt 内扫过的面积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上的磁通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48665" y="4649152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6780" y="4586288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洛伦兹力总功为零：它推动电荷做正功，同时阻碍导体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运动做负功，外力的功转化为电能</a:t>
              </a:r>
            </a:p>
          </p:txBody>
        </p:sp>
      </p:grpSp>
      <p:grpSp>
        <p:nvGrpSpPr>
          <p:cNvPr id="29" name="c2-card-1"/>
          <p:cNvGrpSpPr/>
          <p:nvPr/>
        </p:nvGrpSpPr>
        <p:grpSpPr>
          <a:xfrm>
            <a:off x="6248400" y="1524000"/>
            <a:ext cx="5410200" cy="1967865"/>
            <a:chOff x="6248400" y="1524000"/>
            <a:chExt cx="5410200" cy="1967865"/>
          </a:xfrm>
        </p:grpSpPr>
        <p:sp>
          <p:nvSpPr>
            <p:cNvPr id="21" name="Rectangle 21"/>
            <p:cNvSpPr/>
            <p:nvPr/>
          </p:nvSpPr>
          <p:spPr>
            <a:xfrm>
              <a:off x="6248400" y="1524000"/>
              <a:ext cx="5410200" cy="1967865"/>
            </a:xfrm>
            <a:prstGeom prst="roundRect">
              <a:avLst>
                <a:gd name="adj" fmla="val 6776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57950" y="1733550"/>
              <a:ext cx="2409825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90908" y="1769269"/>
              <a:ext cx="23439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4. 感生电动势（磁场随时间变化）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formula201"/>
                <p:cNvSpPr txBox="1">
                  <a:spLocks noGrp="1"/>
                </p:cNvSpPr>
                <p:nvPr/>
              </p:nvSpPr>
              <p:spPr>
                <a:xfrm>
                  <a:off x="6457950" y="2085975"/>
                  <a:ext cx="4991100" cy="5067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ε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∮"/>
                            <m:limLoc m:val="subSup"/>
                            <m:grow m:val="off"/>
                            <m:subHide m:val="off"/>
                            <m:supHide m:val="on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</m:sub>
                          <m:sup/>
                          <m:e>
                            <m:sSub>
                              <m:e>
                                <m:acc>
                                  <m:accPr>
                                    <m:chr m:val="⃗"/>
                                    <m:ctrlP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</m:sSub>
                          </m:e>
                        </m:nary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acc>
                          <m:accPr>
                            <m:chr m:val="⃗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=−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sSub>
                              <m:e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Φ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</m:sub>
                            </m:sSub>
                          </m:num>
                          <m:den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dt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5" name="Ellipse 25"/>
            <p:cNvSpPr/>
            <p:nvPr/>
          </p:nvSpPr>
          <p:spPr>
            <a:xfrm>
              <a:off x="6463665" y="277558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621780" y="2712720"/>
              <a:ext cx="47564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非静电力是感生（涡旋）电场 EK，由变化的磁场激发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463665" y="311086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621780" y="304800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感生电场线闭合，环流不为零，不是保守场</a:t>
              </a:r>
            </a:p>
          </p:txBody>
        </p:sp>
      </p:grpSp>
      <p:grpSp>
        <p:nvGrpSpPr>
          <p:cNvPr id="50" name="c2-compare-2"/>
          <p:cNvGrpSpPr/>
          <p:nvPr/>
        </p:nvGrpSpPr>
        <p:grpSpPr>
          <a:xfrm>
            <a:off x="6248400" y="3682365"/>
            <a:ext cx="5410200" cy="1703070"/>
            <a:chOff x="6248400" y="3682365"/>
            <a:chExt cx="5410200" cy="1703070"/>
          </a:xfrm>
        </p:grpSpPr>
        <p:sp>
          <p:nvSpPr>
            <p:cNvPr id="30" name="Rectangle 30"/>
            <p:cNvSpPr/>
            <p:nvPr/>
          </p:nvSpPr>
          <p:spPr>
            <a:xfrm>
              <a:off x="6248400" y="3682365"/>
              <a:ext cx="2495550" cy="1703070"/>
            </a:xfrm>
            <a:prstGeom prst="roundRect">
              <a:avLst>
                <a:gd name="adj" fmla="val 78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57925" y="3815715"/>
              <a:ext cx="47625" cy="143637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488430" y="391668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静电场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501765" y="433387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659880" y="427101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由静止电荷产生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501765" y="466915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659880" y="4606290"/>
              <a:ext cx="1344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环流 ∮E·dl = 0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501765" y="500443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59880" y="494157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电场线不闭合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9163050" y="3682365"/>
              <a:ext cx="2495550" cy="1703070"/>
            </a:xfrm>
            <a:prstGeom prst="roundRect">
              <a:avLst>
                <a:gd name="adj" fmla="val 78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9172575" y="3815715"/>
              <a:ext cx="47625" cy="143637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403080" y="391668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感生电场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9416415" y="433387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574530" y="427101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由变化磁场产生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9416415" y="466915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574530" y="4606290"/>
              <a:ext cx="14810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环流 = −dΦm/dt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9416415" y="500443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574530" y="494157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电场线闭合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8791575" y="4371975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861915" y="446817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56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1" name="Rectangle 51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1040130" y="5991225"/>
              <a:ext cx="95026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法拉第电磁感应定律对动生、感生两种情况都成立；只有一段不闭合的导体时，用 ∫(v × B)·dl 直接积分。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第2至8章 内容总结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21627" cy="909257"/>
            <a:chOff x="520446" y="342900"/>
            <a:chExt cx="752162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1462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7772" y="407194"/>
              <a:ext cx="26058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内容总结 · 电磁感应与麦克斯韦方程组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2162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例8 长直电流旁运动的导体棒：B 不均匀时要积分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760595" cy="1768792"/>
            <a:chOff x="533400" y="1524000"/>
            <a:chExt cx="4760595" cy="17687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768792"/>
            </a:xfrm>
            <a:prstGeom prst="roundRect">
              <a:avLst>
                <a:gd name="adj" fmla="val 75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0209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20052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6630" y="1750695"/>
              <a:ext cx="2336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例8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400850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无限长直导线电流 I = 10 A；导体棒长 L = 0.2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m，与导线共面且垂直，近端距导线 a = 0.1 m，以 v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5 m/s 平行于导线（沿电流方向）匀速运动。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889885"/>
              <a:ext cx="37029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棒中动生电动势的大小，指出哪端电势高。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3468052"/>
            <a:ext cx="4760595" cy="2053590"/>
            <a:chOff x="533400" y="3468052"/>
            <a:chExt cx="4760595" cy="2053590"/>
          </a:xfrm>
        </p:grpSpPr>
        <p:sp>
          <p:nvSpPr>
            <p:cNvPr id="14" name="Rectangle 14"/>
            <p:cNvSpPr/>
            <p:nvPr/>
          </p:nvSpPr>
          <p:spPr>
            <a:xfrm>
              <a:off x="533400" y="3468052"/>
              <a:ext cx="4760595" cy="2053590"/>
            </a:xfrm>
            <a:prstGeom prst="roundRect">
              <a:avLst>
                <a:gd name="adj" fmla="val 6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601402"/>
              <a:ext cx="47625" cy="178689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63905" y="366045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55345" y="369474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检验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72478" y="4073842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28497" y="4017645"/>
              <a:ext cx="381990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若把 B 取棒中点处的值 μ₀I/(2π × 0.2 m)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1×10⁻⁵ T，估算 ε ≈ BLv = 1.0×10⁻⁵ V，与精确值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同量级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72478" y="4890135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28497" y="4833937"/>
              <a:ext cx="38555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量纲：μ₀I v 的单位是 T·m·m/s = V，ln 无量纲</a:t>
              </a:r>
            </a:p>
          </p:txBody>
        </p:sp>
      </p:grpSp>
      <p:grpSp>
        <p:nvGrpSpPr>
          <p:cNvPr id="44" name="c2-steps-1"/>
          <p:cNvGrpSpPr/>
          <p:nvPr/>
        </p:nvGrpSpPr>
        <p:grpSpPr>
          <a:xfrm>
            <a:off x="5598795" y="1533525"/>
            <a:ext cx="5805541" cy="2867502"/>
            <a:chOff x="5598795" y="1533525"/>
            <a:chExt cx="5805541" cy="2867502"/>
          </a:xfrm>
        </p:grpSpPr>
        <p:sp>
          <p:nvSpPr>
            <p:cNvPr id="23" name="Rectangle 23"/>
            <p:cNvSpPr/>
            <p:nvPr/>
          </p:nvSpPr>
          <p:spPr>
            <a:xfrm>
              <a:off x="5732145" y="1676400"/>
              <a:ext cx="19050" cy="234791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559879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69241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5598795" y="212026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692419" y="2194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5598795" y="270700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692419" y="27808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5598795" y="329469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692419" y="33685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5598795" y="388143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692419" y="39552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011037" y="1564957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取线元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012180" y="1833086"/>
              <a:ext cx="37244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距导线 r 处取 dr，B = μ₀I/(2πr)，v、B、dr 两两垂直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011037" y="2152650"/>
              <a:ext cx="4626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 dε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012180" y="2419826"/>
              <a:ext cx="28210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dε = (v × B)·dl = vB dr = μ₀Iv dr/(2πr)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011037" y="273939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积分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012180" y="3006566"/>
              <a:ext cx="40445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ε = ∫(a→a+L) μ₀Iv/(2πr) dr = μ₀Iv/(2π) · ln((a + L)/a)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011037" y="332613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代数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012180" y="3593306"/>
              <a:ext cx="28325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ε = 2×10⁻⁷ × 10 × 5 × ln3 = 1.10×10⁻⁵ V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011037" y="391287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判方向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012180" y="4180999"/>
              <a:ext cx="53921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电流向上时导线右侧 B 垂直纸面向里，v 向上，v × B 指向导线，所以近端电势高</a:t>
              </a:r>
            </a:p>
          </p:txBody>
        </p:sp>
      </p:grpSp>
      <p:grpSp>
        <p:nvGrpSpPr>
          <p:cNvPr id="49" name="c2-card-2"/>
          <p:cNvGrpSpPr/>
          <p:nvPr/>
        </p:nvGrpSpPr>
        <p:grpSpPr>
          <a:xfrm>
            <a:off x="5598795" y="4569142"/>
            <a:ext cx="6059805" cy="952500"/>
            <a:chOff x="5598795" y="4569142"/>
            <a:chExt cx="6059805" cy="952500"/>
          </a:xfrm>
        </p:grpSpPr>
        <p:sp>
          <p:nvSpPr>
            <p:cNvPr id="45" name="Rectangle 45"/>
            <p:cNvSpPr/>
            <p:nvPr/>
          </p:nvSpPr>
          <p:spPr>
            <a:xfrm>
              <a:off x="5598795" y="4569142"/>
              <a:ext cx="6059805" cy="952500"/>
            </a:xfrm>
            <a:prstGeom prst="roundRect">
              <a:avLst>
                <a:gd name="adj" fmla="val 14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5791200" y="4761548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886641" y="479583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784342" y="5118735"/>
              <a:ext cx="48670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ε = μ₀Iv ln3/(2π) ≈ 1.1×10⁻⁵ V，靠近导线的一端电势高。</a:t>
              </a:r>
            </a:p>
          </p:txBody>
        </p:sp>
      </p:grpSp>
      <p:grpSp>
        <p:nvGrpSpPr>
          <p:cNvPr id="56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0" name="Rectangle 50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1040892" y="6023610"/>
              <a:ext cx="53341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变式：棒绕近端以 ω 转动时，dε = ωrB dr；B 均匀时 ε = ½BωL²。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第2至8章 内容总结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1462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7772" y="407194"/>
              <a:ext cx="26058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内容总结 · 电磁感应与麦克斯韦方程组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磁场的能量与位移电流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760595" cy="1704975"/>
            <a:chOff x="533400" y="1524000"/>
            <a:chExt cx="4760595" cy="17049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704975"/>
            </a:xfrm>
            <a:prstGeom prst="roundRect">
              <a:avLst>
                <a:gd name="adj" fmla="val 78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3827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1129665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6697" y="1763554"/>
              <a:ext cx="9869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5. 磁场的能量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formula208"/>
                <p:cNvSpPr txBox="1">
                  <a:spLocks noGrp="1"/>
                </p:cNvSpPr>
                <p:nvPr/>
              </p:nvSpPr>
              <p:spPr>
                <a:xfrm>
                  <a:off x="775335" y="2077402"/>
                  <a:ext cx="4314825" cy="4267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W</m:t>
                            </m:r>
                          </m:e>
                          <m:sub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V</m:t>
                            </m:r>
                          </m:sub>
                          <m:sup/>
                          <m:e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w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</m:sub>
                            </m:sSub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dV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b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w</m:t>
                            </m:r>
                          </m:e>
                          <m:sub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e>
                              <m:sup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μ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μ</m:t>
                        </m:r>
                        <m:sSup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</m:e>
                          <m:sup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2" name="TextBox 12"/>
            <p:cNvSpPr txBox="1"/>
            <p:nvPr/>
          </p:nvSpPr>
          <p:spPr>
            <a:xfrm>
              <a:off x="769239" y="2616518"/>
              <a:ext cx="376885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例7 的螺线管：wm = B²/(2μ₀) = 10.1 J/m³，截面 S =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10⁻³ m² 时 Wm = 5.0×10⁻³ J，与 ½LI² 一致。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3413760"/>
            <a:ext cx="4760595" cy="2813685"/>
            <a:chOff x="533400" y="3413760"/>
            <a:chExt cx="4760595" cy="2813685"/>
          </a:xfrm>
        </p:grpSpPr>
        <p:sp>
          <p:nvSpPr>
            <p:cNvPr id="14" name="Rectangle 14"/>
            <p:cNvSpPr/>
            <p:nvPr/>
          </p:nvSpPr>
          <p:spPr>
            <a:xfrm>
              <a:off x="533400" y="3413760"/>
              <a:ext cx="4760595" cy="2813685"/>
            </a:xfrm>
            <a:prstGeom prst="roundRect">
              <a:avLst>
                <a:gd name="adj" fmla="val 4739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37235" y="3617595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14642" y="365331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全电流定律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formula209"/>
                <p:cNvSpPr txBox="1">
                  <a:spLocks noGrp="1"/>
                </p:cNvSpPr>
                <p:nvPr/>
              </p:nvSpPr>
              <p:spPr>
                <a:xfrm>
                  <a:off x="737235" y="3967162"/>
                  <a:ext cx="4352925" cy="4267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nary>
                          <m:naryPr>
                            <m:chr m:val="∮"/>
                            <m:limLoc m:val="subSup"/>
                            <m:grow m:val="off"/>
                            <m:subHide m:val="off"/>
                            <m:supHide m:val="on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</m:sub>
                          <m:sup/>
                          <m:e>
                            <m:acc>
                              <m:accPr>
                                <m:chr m:val="⃗"/>
                                <m:ctrl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H</m:t>
                                </m:r>
                              </m:e>
                            </m:acc>
                          </m:e>
                        </m:nary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acc>
                          <m:accPr>
                            <m:chr m:val="⃗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n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sub>
                          <m:sup/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⃗"/>
                                    <m:ctrlP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e>
                                </m:acc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∂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zh-CN" sz="120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sz="120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D</m:t>
                                        </m:r>
                                      </m:e>
                                    </m:acc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∂</m:t>
                                    </m:r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t</m:t>
                                    </m:r>
                                  </m:den>
                                </m:f>
                              </m:e>
                            </m:d>
                          </m:e>
                        </m:nary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acc>
                          <m:accPr>
                            <m:chr m:val="⃗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nor m:val="on"/>
                              </m:r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全</m:t>
                            </m:r>
                          </m:sub>
                        </m:sSub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8" name="Ellipse 18"/>
            <p:cNvSpPr/>
            <p:nvPr/>
          </p:nvSpPr>
          <p:spPr>
            <a:xfrm>
              <a:off x="744855" y="4570095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1446" y="4509611"/>
              <a:ext cx="385572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全电流 = 传导电流 + 位移电流，沿任何闭合曲面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都连续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44855" y="5161598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1446" y="5101114"/>
              <a:ext cx="392785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平板电容器（真空）：Id = ε₀S dE/dt，等于导线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中的充电电流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31139" y="5689282"/>
              <a:ext cx="33979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更正：原课件左边写作 ∫L，应为闭合环路 ∮L。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5598795" y="1524000"/>
            <a:ext cx="6059805" cy="1855470"/>
            <a:chOff x="5598795" y="1524000"/>
            <a:chExt cx="6059805" cy="1855470"/>
          </a:xfrm>
        </p:grpSpPr>
        <p:sp>
          <p:nvSpPr>
            <p:cNvPr id="24" name="Rectangle 24"/>
            <p:cNvSpPr/>
            <p:nvPr/>
          </p:nvSpPr>
          <p:spPr>
            <a:xfrm>
              <a:off x="5598795" y="1524000"/>
              <a:ext cx="6059805" cy="1855470"/>
            </a:xfrm>
            <a:prstGeom prst="roundRect">
              <a:avLst>
                <a:gd name="adj" fmla="val 718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608320" y="1657350"/>
              <a:ext cx="47625" cy="158877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840730" y="1727835"/>
              <a:ext cx="98774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916995" y="1763554"/>
              <a:ext cx="8361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6. 位移电流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formula210"/>
                <p:cNvSpPr txBox="1">
                  <a:spLocks noGrp="1"/>
                </p:cNvSpPr>
                <p:nvPr/>
              </p:nvSpPr>
              <p:spPr>
                <a:xfrm>
                  <a:off x="5840730" y="2077402"/>
                  <a:ext cx="5614035" cy="4886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sSub>
                              <m:e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Φ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sub>
                            </m:sSub>
                          </m:num>
                          <m:den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dt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b>
                          <m:e>
                            <m:acc>
                              <m:accPr>
                                <m:chr m:val="⃗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e>
                            </m:acc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∂</m:t>
                            </m:r>
                            <m:acc>
                              <m:accPr>
                                <m:chr m:val="⃗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</m:e>
                            </m:acc>
                          </m:num>
                          <m:den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∂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9" name="TextBox 29"/>
            <p:cNvSpPr txBox="1"/>
            <p:nvPr/>
          </p:nvSpPr>
          <p:spPr>
            <a:xfrm>
              <a:off x="5833491" y="2681764"/>
              <a:ext cx="52443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实质是变化的电场。电容器充电时，极板间没有传导电流，位移电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流把电流「接」了过去，全电流处处连续。</a:t>
              </a:r>
            </a:p>
          </p:txBody>
        </p:sp>
      </p:grpSp>
      <p:grpSp>
        <p:nvGrpSpPr>
          <p:cNvPr id="51" name="c2-table-2"/>
          <p:cNvGrpSpPr/>
          <p:nvPr/>
        </p:nvGrpSpPr>
        <p:grpSpPr>
          <a:xfrm>
            <a:off x="5598795" y="3565208"/>
            <a:ext cx="6059805" cy="1720215"/>
            <a:chOff x="5598795" y="3565208"/>
            <a:chExt cx="6059805" cy="1720215"/>
          </a:xfrm>
        </p:grpSpPr>
        <p:sp>
          <p:nvSpPr>
            <p:cNvPr id="31" name="Rectangle 31"/>
            <p:cNvSpPr/>
            <p:nvPr/>
          </p:nvSpPr>
          <p:spPr>
            <a:xfrm>
              <a:off x="5598795" y="3565208"/>
              <a:ext cx="6059805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158865" y="369665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875651" y="369665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传导电流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177843" y="369665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位移电流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704142" y="412623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产生磁场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117967" y="412623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9365932" y="4005262"/>
              <a:ext cx="2283142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0016299" y="412623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能，二者等效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598795" y="442055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598795" y="4425315"/>
              <a:ext cx="605980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704142" y="45567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产生原因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714107" y="45567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电荷定向移动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935528" y="45567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电场随时间变化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598795" y="485108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704142" y="498729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焦耳热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117967" y="498729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420159" y="498729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598795" y="3565208"/>
              <a:ext cx="6059805" cy="17202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7048500" y="3565208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9351645" y="3565208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8" name="c2-callout-3"/>
          <p:cNvGrpSpPr/>
          <p:nvPr/>
        </p:nvGrpSpPr>
        <p:grpSpPr>
          <a:xfrm>
            <a:off x="5598795" y="5471160"/>
            <a:ext cx="6059805" cy="756285"/>
            <a:chOff x="5598795" y="5471160"/>
            <a:chExt cx="6059805" cy="756285"/>
          </a:xfrm>
        </p:grpSpPr>
        <p:sp>
          <p:nvSpPr>
            <p:cNvPr id="52" name="Rectangle 52"/>
            <p:cNvSpPr/>
            <p:nvPr/>
          </p:nvSpPr>
          <p:spPr>
            <a:xfrm>
              <a:off x="5598795" y="5471160"/>
              <a:ext cx="6059805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5803583" y="5749290"/>
              <a:ext cx="200026" cy="200025"/>
              <a:chOff x="5803583" y="5749290"/>
              <a:chExt cx="200026" cy="200025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5803583" y="574929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5843321" y="579374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5878037" y="590486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6105906" y="5618321"/>
              <a:ext cx="5018913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圆板电容器 R = 0.1 m，dE/dt = 10¹² V/(m·s)：Id = ε₀πR² ×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dE/dt ≈ 0.28 A。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第2至8章 内容总结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1462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7772" y="407194"/>
              <a:ext cx="26058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内容总结 · 电磁感应与麦克斯韦方程组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麦克斯韦方程组（积分形式）：每个方程各说一件事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9" name="c1-table-1"/>
          <p:cNvGrpSpPr/>
          <p:nvPr/>
        </p:nvGrpSpPr>
        <p:grpSpPr>
          <a:xfrm>
            <a:off x="533400" y="1524000"/>
            <a:ext cx="11125200" cy="2345055"/>
            <a:chOff x="533400" y="1524000"/>
            <a:chExt cx="11125200" cy="23450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686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003781" y="165877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673638" y="165877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名称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52335" y="165877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物理含义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045078" y="165877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常见错误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7604" y="2128361"/>
              <a:ext cx="11144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∮S D·dS = q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975164" y="2128361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电场的高斯定理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977318" y="2128361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电场由电荷激发，是有源场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314878" y="2128361"/>
              <a:ext cx="170624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 只算面内自由电荷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45745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462212"/>
              <a:ext cx="11125200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2471738"/>
              <a:ext cx="3318510" cy="4495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7604" y="2596991"/>
              <a:ext cx="248849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∮L E·dl = −∫S (∂B/∂t)·dS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975164" y="2596991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电场的环路定理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977318" y="2596991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变化的磁场激发涡旋电场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314878" y="259699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漏掉负号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292608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7604" y="3065621"/>
              <a:ext cx="112344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∮S B·dS = 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975164" y="3065621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磁场的高斯定理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977318" y="3065621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磁场无源，磁感应线闭合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314878" y="3065621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右边写成电流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39566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3400" y="3400425"/>
              <a:ext cx="11125200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3409950"/>
              <a:ext cx="3318510" cy="4495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7604" y="3535204"/>
              <a:ext cx="273319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∮L H·dl = ∫S (J + ∂D/∂t)·dS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975164" y="3535204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全电流安培环路定理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977318" y="3535204"/>
              <a:ext cx="2881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传导电流和变化的电场都激发磁场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314878" y="3535204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漏掉位移电流项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1524000"/>
              <a:ext cx="11125200" cy="23450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3866198" y="1524000"/>
              <a:ext cx="9525" cy="23450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868352" y="1524000"/>
              <a:ext cx="9525" cy="23450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9205912" y="1524000"/>
              <a:ext cx="9525" cy="23450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6" name="c1-compare-2"/>
          <p:cNvGrpSpPr/>
          <p:nvPr/>
        </p:nvGrpSpPr>
        <p:grpSpPr>
          <a:xfrm>
            <a:off x="533400" y="4054792"/>
            <a:ext cx="11125200" cy="1381125"/>
            <a:chOff x="533400" y="4054792"/>
            <a:chExt cx="11125200" cy="1381125"/>
          </a:xfrm>
        </p:grpSpPr>
        <p:sp>
          <p:nvSpPr>
            <p:cNvPr id="40" name="Rectangle 40"/>
            <p:cNvSpPr/>
            <p:nvPr/>
          </p:nvSpPr>
          <p:spPr>
            <a:xfrm>
              <a:off x="533400" y="4054792"/>
              <a:ext cx="5314950" cy="1381125"/>
            </a:xfrm>
            <a:prstGeom prst="roundRect">
              <a:avLst>
                <a:gd name="adj" fmla="val 965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542925" y="4188142"/>
              <a:ext cx="47625" cy="111442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8096" y="4281964"/>
              <a:ext cx="158342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变化的磁场 → 电场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82955" y="468058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39546" y="4620101"/>
              <a:ext cx="25256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第二式：∂B/∂t 产生涡旋电场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82955" y="500062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39546" y="4940141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负号对应楞次定律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343650" y="4054792"/>
              <a:ext cx="5314950" cy="1381125"/>
            </a:xfrm>
            <a:prstGeom prst="roundRect">
              <a:avLst>
                <a:gd name="adj" fmla="val 965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353175" y="4188142"/>
              <a:ext cx="47625" cy="111442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578346" y="4281964"/>
              <a:ext cx="158342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变化的电场 → 磁场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593205" y="468058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49796" y="4620101"/>
              <a:ext cx="214330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第四式：∂D/∂t 产生磁场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593205" y="500062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749796" y="4940141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二者互相激发，形成电磁波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5895975" y="4544378"/>
              <a:ext cx="400050" cy="4000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949315" y="467963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对称</a:t>
              </a:r>
            </a:p>
          </p:txBody>
        </p:sp>
      </p:grpSp>
      <p:grpSp>
        <p:nvGrpSpPr>
          <p:cNvPr id="63" name="takeaway"/>
          <p:cNvGrpSpPr/>
          <p:nvPr/>
        </p:nvGrpSpPr>
        <p:grpSpPr>
          <a:xfrm>
            <a:off x="533400" y="5606415"/>
            <a:ext cx="11125200" cy="756285"/>
            <a:chOff x="533400" y="5606415"/>
            <a:chExt cx="11125200" cy="756285"/>
          </a:xfrm>
        </p:grpSpPr>
        <p:sp>
          <p:nvSpPr>
            <p:cNvPr id="57" name="Rectangle 57"/>
            <p:cNvSpPr/>
            <p:nvPr/>
          </p:nvSpPr>
          <p:spPr>
            <a:xfrm>
              <a:off x="533400" y="5606415"/>
              <a:ext cx="11125200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38188" y="5884545"/>
              <a:ext cx="200026" cy="200026"/>
              <a:chOff x="738188" y="5884545"/>
              <a:chExt cx="200026" cy="200026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738188" y="588454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38200" y="59512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27088" y="598455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040511" y="5753576"/>
              <a:ext cx="993317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原课件此页标「纠错」，是提醒这四个式子最常被写错：积分号是否闭合、右边是 q 还是 0、负号和位移电流项有没有漏。本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页四式已核对无误。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第2至8章 内容总结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469130" cy="3351847"/>
            <a:chOff x="667512" y="1835468"/>
            <a:chExt cx="4469130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光的干涉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光程差决定明暗：算对光程差，别漏半波损失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相干条件与获得相干光的两种方法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杨氏双缝与劳埃德镜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薄膜干涉（等倾）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劈尖干涉（等厚）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第2至8章 内容总结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5763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1275" y="407194"/>
              <a:ext cx="13996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内容总结 · 光的干涉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相干光从哪来：分波阵面法与分振幅法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card-1"/>
          <p:cNvGrpSpPr/>
          <p:nvPr/>
        </p:nvGrpSpPr>
        <p:grpSpPr>
          <a:xfrm>
            <a:off x="533400" y="1524000"/>
            <a:ext cx="4544378" cy="3786188"/>
            <a:chOff x="533400" y="1524000"/>
            <a:chExt cx="4544378" cy="378618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544378" cy="3786188"/>
            </a:xfrm>
            <a:prstGeom prst="roundRect">
              <a:avLst>
                <a:gd name="adj" fmla="val 352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519488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9343" y="175069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一、相干条件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63905" y="2061210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19583" y="209959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44702" y="207264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频率相同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63905" y="2363152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9583" y="240153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44702" y="237553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振动方向相同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63905" y="2666048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19583" y="270443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44702" y="267843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相位差恒定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63905" y="2967990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9583" y="300732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44702" y="298037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振幅相差不能太大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63905" y="3270885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19583" y="330927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44702" y="32832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光程差不能太大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8190" y="3581876"/>
              <a:ext cx="3479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前三条是必要条件，后两条决定条纹是否清晰可见。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72478" y="390525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28497" y="3849052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振幅相差太大：暗纹不够暗，条纹对比度差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72478" y="4208145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28497" y="4151948"/>
              <a:ext cx="36141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光程差超过一个波列的长度：两束光来自不同波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列，不再相干</a:t>
              </a:r>
            </a:p>
          </p:txBody>
        </p:sp>
      </p:grpSp>
      <p:grpSp>
        <p:nvGrpSpPr>
          <p:cNvPr id="47" name="c2-table-1"/>
          <p:cNvGrpSpPr/>
          <p:nvPr/>
        </p:nvGrpSpPr>
        <p:grpSpPr>
          <a:xfrm>
            <a:off x="5382578" y="1524000"/>
            <a:ext cx="6276022" cy="2054543"/>
            <a:chOff x="5382578" y="1524000"/>
            <a:chExt cx="6276022" cy="2054543"/>
          </a:xfrm>
        </p:grpSpPr>
        <p:sp>
          <p:nvSpPr>
            <p:cNvPr id="32" name="Rectangle 32"/>
            <p:cNvSpPr/>
            <p:nvPr/>
          </p:nvSpPr>
          <p:spPr>
            <a:xfrm>
              <a:off x="5382578" y="1524000"/>
              <a:ext cx="6276022" cy="68484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551932" y="1651635"/>
              <a:ext cx="104241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890"/>
                </a:lnSpc>
              </a:pPr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二、获得相干</a:t>
              </a:r>
              <a:br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光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955280" y="177165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221468" y="177165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典型装置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481447" y="245649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分波阵面法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862572" y="2336482"/>
              <a:ext cx="241401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从同一波阵面上取出两部分作为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两个子波源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623870" y="245649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杨氏双缝、劳埃德镜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82578" y="288893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382578" y="2893695"/>
              <a:ext cx="6276022" cy="68484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481447" y="314134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分振幅法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862572" y="3021330"/>
              <a:ext cx="241401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让同一束光在薄膜上下表面分别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反射，振幅（能量）一分为二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623870" y="3021330"/>
              <a:ext cx="172821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薄膜干涉、劈尖、牛顿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82578" y="1524000"/>
              <a:ext cx="6276022" cy="20535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758940" y="1524000"/>
              <a:ext cx="9525" cy="2053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9520238" y="1524000"/>
              <a:ext cx="9525" cy="2053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7" name="c2-card-2"/>
          <p:cNvGrpSpPr/>
          <p:nvPr/>
        </p:nvGrpSpPr>
        <p:grpSpPr>
          <a:xfrm>
            <a:off x="5382578" y="3752850"/>
            <a:ext cx="6276022" cy="1557338"/>
            <a:chOff x="5382578" y="3752850"/>
            <a:chExt cx="6276022" cy="1557338"/>
          </a:xfrm>
        </p:grpSpPr>
        <p:sp>
          <p:nvSpPr>
            <p:cNvPr id="48" name="Rectangle 48"/>
            <p:cNvSpPr/>
            <p:nvPr/>
          </p:nvSpPr>
          <p:spPr>
            <a:xfrm>
              <a:off x="5382578" y="3752850"/>
              <a:ext cx="6276022" cy="1557338"/>
            </a:xfrm>
            <a:prstGeom prst="roundRect">
              <a:avLst>
                <a:gd name="adj" fmla="val 8563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5574982" y="394525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666422" y="397954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光程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5583555" y="4358640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739574" y="4302442"/>
              <a:ext cx="40846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光在折射率 n 的介质中走过几何路程 r，光程为 nr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5583555" y="4660582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739574" y="4604385"/>
              <a:ext cx="45674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光程差 δ 与相位差的关系：Δφ = 2πδ/λ（λ 为真空波长）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5583555" y="4963478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739574" y="4907280"/>
              <a:ext cx="27488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明纹 δ = kλ；暗纹 δ = (2k+1)λ/2</a:t>
              </a:r>
            </a:p>
          </p:txBody>
        </p:sp>
      </p:grpSp>
      <p:grpSp>
        <p:nvGrpSpPr>
          <p:cNvPr id="64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8" name="Rectangle 58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726129" y="6014203"/>
              <a:ext cx="224134" cy="192560"/>
              <a:chOff x="726129" y="6014203"/>
              <a:chExt cx="224134" cy="19256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838200" y="60845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726129" y="60142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38200" y="61623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1040892" y="6023610"/>
              <a:ext cx="103727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两个普通光源（两盏灯）发出的光不相干：原子发光是一段段独立的波列，相位差随机变化，所以相干光只能从同一光源分出来。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第2至8章 内容总结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442296" cy="909257"/>
            <a:chOff x="520446" y="342900"/>
            <a:chExt cx="544229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5763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1275" y="407194"/>
              <a:ext cx="13996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内容总结 · 光的干涉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44229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杨氏双缝：明纹等间距，Δx = Dλ/a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7" name="c1-graph-1"/>
          <p:cNvGrpSpPr/>
          <p:nvPr/>
        </p:nvGrpSpPr>
        <p:grpSpPr>
          <a:xfrm>
            <a:off x="702945" y="1707832"/>
            <a:ext cx="4824361" cy="4471036"/>
            <a:chOff x="702945" y="1707832"/>
            <a:chExt cx="4824361" cy="4471036"/>
          </a:xfrm>
        </p:grpSpPr>
        <p:sp>
          <p:nvSpPr>
            <p:cNvPr id="7" name="Freeform 7"/>
            <p:cNvSpPr/>
            <p:nvPr/>
          </p:nvSpPr>
          <p:spPr>
            <a:xfrm>
              <a:off x="1676400" y="1736408"/>
              <a:ext cx="9525" cy="4413885"/>
            </a:xfrm>
            <a:custGeom>
              <a:avLst/>
              <a:gdLst/>
              <a:ahLst/>
              <a:cxnLst/>
              <a:rect l="l" t="t" r="r" b="b"/>
              <a:pathLst>
                <a:path w="9525" h="4413885">
                  <a:moveTo>
                    <a:pt x="0" y="0"/>
                  </a:moveTo>
                  <a:lnTo>
                    <a:pt x="0" y="4413885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5208270" y="1736408"/>
              <a:ext cx="9525" cy="4413885"/>
            </a:xfrm>
            <a:custGeom>
              <a:avLst/>
              <a:gdLst/>
              <a:ahLst/>
              <a:cxnLst/>
              <a:rect l="l" t="t" r="r" b="b"/>
              <a:pathLst>
                <a:path w="9525" h="4413885">
                  <a:moveTo>
                    <a:pt x="0" y="0"/>
                  </a:moveTo>
                  <a:lnTo>
                    <a:pt x="0" y="4413885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782002" y="3388042"/>
              <a:ext cx="853440" cy="530542"/>
            </a:xfrm>
            <a:custGeom>
              <a:avLst/>
              <a:gdLst/>
              <a:ahLst/>
              <a:cxnLst/>
              <a:rect l="l" t="t" r="r" b="b"/>
              <a:pathLst>
                <a:path w="853440" h="530542">
                  <a:moveTo>
                    <a:pt x="0" y="530542"/>
                  </a:moveTo>
                  <a:lnTo>
                    <a:pt x="85344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782002" y="3968115"/>
              <a:ext cx="853440" cy="530542"/>
            </a:xfrm>
            <a:custGeom>
              <a:avLst/>
              <a:gdLst/>
              <a:ahLst/>
              <a:cxnLst/>
              <a:rect l="l" t="t" r="r" b="b"/>
              <a:pathLst>
                <a:path w="853440" h="530542">
                  <a:moveTo>
                    <a:pt x="0" y="0"/>
                  </a:moveTo>
                  <a:lnTo>
                    <a:pt x="853440" y="530542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722120" y="2598420"/>
              <a:ext cx="3439477" cy="754380"/>
            </a:xfrm>
            <a:custGeom>
              <a:avLst/>
              <a:gdLst/>
              <a:ahLst/>
              <a:cxnLst/>
              <a:rect l="l" t="t" r="r" b="b"/>
              <a:pathLst>
                <a:path w="3439477" h="754380">
                  <a:moveTo>
                    <a:pt x="0" y="754380"/>
                  </a:moveTo>
                  <a:lnTo>
                    <a:pt x="3439477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717358" y="2611755"/>
              <a:ext cx="3449002" cy="1889760"/>
            </a:xfrm>
            <a:custGeom>
              <a:avLst/>
              <a:gdLst/>
              <a:ahLst/>
              <a:cxnLst/>
              <a:rect l="l" t="t" r="r" b="b"/>
              <a:pathLst>
                <a:path w="3449002" h="1889760">
                  <a:moveTo>
                    <a:pt x="0" y="1889760"/>
                  </a:moveTo>
                  <a:lnTo>
                    <a:pt x="3449002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695450" y="3943350"/>
              <a:ext cx="3474720" cy="9525"/>
            </a:xfrm>
            <a:custGeom>
              <a:avLst/>
              <a:gdLst/>
              <a:ahLst/>
              <a:cxnLst/>
              <a:rect l="l" t="t" r="r" b="b"/>
              <a:pathLst>
                <a:path w="3474720" h="9525">
                  <a:moveTo>
                    <a:pt x="0" y="0"/>
                  </a:moveTo>
                  <a:lnTo>
                    <a:pt x="347472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4" name="Ellipse 14"/>
            <p:cNvSpPr/>
            <p:nvPr/>
          </p:nvSpPr>
          <p:spPr>
            <a:xfrm>
              <a:off x="702945" y="3905250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1638300" y="3324225"/>
              <a:ext cx="76200" cy="7620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1638300" y="4486275"/>
              <a:ext cx="76200" cy="7620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1666875" y="170783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1666875" y="615981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5198745" y="170783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5198745" y="615981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5170170" y="2550795"/>
              <a:ext cx="76200" cy="7620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666875" y="393382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5179695" y="391477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3346132" y="2896552"/>
              <a:ext cx="19050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376859" y="292655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r₁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3346132" y="3477578"/>
              <a:ext cx="19050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376859" y="350662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r₂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366135" y="386524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395972" y="3894296"/>
              <a:ext cx="7367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295067" y="3079909"/>
              <a:ext cx="13782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S₁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295067" y="4724876"/>
              <a:ext cx="13782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33636" y="38542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430512" y="2499836"/>
              <a:ext cx="7367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418849" y="3854291"/>
              <a:ext cx="97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432231" y="31770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407393" y="5789771"/>
              <a:ext cx="1199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屏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formula221"/>
              <p:cNvSpPr txBox="1">
                <a:spLocks noGrp="1"/>
              </p:cNvSpPr>
              <p:nvPr/>
            </p:nvSpPr>
            <p:spPr>
              <a:xfrm>
                <a:off x="6032182" y="1524000"/>
                <a:ext cx="5626418" cy="8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δ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sSub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≈</m:t>
                      </m:r>
                      <m:f>
                        <m:fPr>
                          <m:type m:val="bar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num>
                        <m:den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den>
                      </m:f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sepChr m:val=""/>
                          <m:endChr m:val="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eqArr>
                            <m:eqArrPr>
                              <m:baseJc m:val="center"/>
                            </m:eqArrPr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±</m:t>
                              </m:r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2k</m:t>
                              </m:r>
                              <m:f>
                                <m:fPr>
                                  <m:type m:val="bar"/>
                                  <m:ctrl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λ</m:t>
                                  </m:r>
                                </m:num>
                                <m:den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m:rPr>
                                  <m:nor m:val="on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明纹</m:t>
                              </m:r>
                            </m:e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±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2k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+</m:t>
                                  </m:r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d>
                              <m:f>
                                <m:fPr>
                                  <m:type m:val="bar"/>
                                  <m:ctrl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λ</m:t>
                                  </m:r>
                                </m:num>
                                <m:den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m:rPr>
                                  <m:nor m:val="on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暗纹</m:t>
                              </m:r>
                            </m:e>
                          </m:eqArr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formula222"/>
              <p:cNvSpPr txBox="1">
                <a:spLocks noGrp="1"/>
              </p:cNvSpPr>
              <p:nvPr/>
            </p:nvSpPr>
            <p:spPr>
              <a:xfrm>
                <a:off x="6032182" y="2531745"/>
                <a:ext cx="5626418" cy="8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sepChr m:val=""/>
                          <m:endChr m:val="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eqArr>
                            <m:eqArrPr>
                              <m:baseJc m:val="center"/>
                            </m:eqArrPr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±</m:t>
                              </m:r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  <m:f>
                                <m:fPr>
                                  <m:type m:val="bar"/>
                                  <m:ctrl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D</m:t>
                                  </m:r>
                                </m:num>
                                <m:den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den>
                              </m:f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λ</m:t>
                              </m:r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m:rPr>
                                  <m:nor m:val="on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明纹</m:t>
                              </m:r>
                            </m:e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±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2k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+</m:t>
                                  </m:r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d>
                              <m:f>
                                <m:fPr>
                                  <m:type m:val="bar"/>
                                  <m:ctrl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D</m:t>
                                  </m:r>
                                </m:num>
                                <m:den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⋅</m:t>
                              </m:r>
                              <m:f>
                                <m:fPr>
                                  <m:type m:val="bar"/>
                                  <m:ctrl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λ</m:t>
                                  </m:r>
                                </m:num>
                                <m:den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m:rPr>
                                  <m:nor m:val="on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暗纹</m:t>
                              </m:r>
                            </m:e>
                          </m:eqArr>
                        </m:e>
                      </m:d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Δ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num>
                        <m:den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den>
                      </m:f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λ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45" name="c2-card-3"/>
          <p:cNvGrpSpPr/>
          <p:nvPr/>
        </p:nvGrpSpPr>
        <p:grpSpPr>
          <a:xfrm>
            <a:off x="6032182" y="3540442"/>
            <a:ext cx="5626418" cy="1185862"/>
            <a:chOff x="6032182" y="3540442"/>
            <a:chExt cx="5626418" cy="1185862"/>
          </a:xfrm>
        </p:grpSpPr>
        <p:sp>
          <p:nvSpPr>
            <p:cNvPr id="40" name="Rectangle 40"/>
            <p:cNvSpPr/>
            <p:nvPr/>
          </p:nvSpPr>
          <p:spPr>
            <a:xfrm>
              <a:off x="6032182" y="3540442"/>
              <a:ext cx="5626418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041708" y="3673792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256972" y="372713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48692" y="375999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记号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250114" y="4070985"/>
              <a:ext cx="485717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a：双缝间距；D：缝到屏的距离（D ≫ a）；x：屏上到中心 O 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距离；k = 0, 1, 2, …</a:t>
              </a:r>
            </a:p>
          </p:txBody>
        </p:sp>
      </p:grpSp>
      <p:grpSp>
        <p:nvGrpSpPr>
          <p:cNvPr id="50" name="c2-card-4"/>
          <p:cNvGrpSpPr/>
          <p:nvPr/>
        </p:nvGrpSpPr>
        <p:grpSpPr>
          <a:xfrm>
            <a:off x="6032182" y="4895850"/>
            <a:ext cx="5626418" cy="1443038"/>
            <a:chOff x="6032182" y="4895850"/>
            <a:chExt cx="5626418" cy="1443038"/>
          </a:xfrm>
        </p:grpSpPr>
        <p:sp>
          <p:nvSpPr>
            <p:cNvPr id="46" name="Rectangle 46"/>
            <p:cNvSpPr/>
            <p:nvPr/>
          </p:nvSpPr>
          <p:spPr>
            <a:xfrm>
              <a:off x="6032182" y="4895850"/>
              <a:ext cx="5626418" cy="1443038"/>
            </a:xfrm>
            <a:prstGeom prst="roundRect">
              <a:avLst>
                <a:gd name="adj" fmla="val 9241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218872" y="508254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303442" y="511540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劳埃德镜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212014" y="5426392"/>
              <a:ext cx="49857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光源和它在平面镜中的虚像构成一对相干光源。屏贴到镜端时，交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点处本应是零光程差的明纹，实际是暗纹，这验证了反射光的半波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损失。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第2至8章 内容总结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11344" cy="909257"/>
            <a:chOff x="520446" y="342900"/>
            <a:chExt cx="651134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5763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1275" y="407194"/>
              <a:ext cx="13996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内容总结 · 光的干涉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1134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例9 杨氏双缝：求条纹间距和指定条纹位置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760595" cy="1840230"/>
            <a:chOff x="533400" y="1524000"/>
            <a:chExt cx="4760595" cy="184023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840230"/>
            </a:xfrm>
            <a:prstGeom prst="roundRect">
              <a:avLst>
                <a:gd name="adj" fmla="val 724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7353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420052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2345" y="1756410"/>
              <a:ext cx="2336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例9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404507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双缝间距 a = 0.2 mm，缝到屏 D = 1 m，入射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 λ = 600 nm。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381" y="2672239"/>
              <a:ext cx="408114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（1）相邻明纹间距；（2）第 3 级明纹到中心的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距离；（3）第 2 条暗纹的位置。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3544252"/>
            <a:ext cx="4760595" cy="2098358"/>
            <a:chOff x="533400" y="3544252"/>
            <a:chExt cx="4760595" cy="2098358"/>
          </a:xfrm>
        </p:grpSpPr>
        <p:sp>
          <p:nvSpPr>
            <p:cNvPr id="14" name="Rectangle 14"/>
            <p:cNvSpPr/>
            <p:nvPr/>
          </p:nvSpPr>
          <p:spPr>
            <a:xfrm>
              <a:off x="533400" y="3544252"/>
              <a:ext cx="4760595" cy="2098358"/>
            </a:xfrm>
            <a:prstGeom prst="roundRect">
              <a:avLst>
                <a:gd name="adj" fmla="val 635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677602"/>
              <a:ext cx="47625" cy="183165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69620" y="374237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1060" y="377666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检验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77240" y="4163378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33831" y="4102894"/>
              <a:ext cx="363931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暗纹正好落在相邻明纹正中：第 2 条暗纹 4.5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mm 在第 1、2 级明纹（3、6 mm）之间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77240" y="475297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33831" y="4692491"/>
              <a:ext cx="399999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Δx 与 λ 成正比：换成 λ = 400 nm 的紫光，间距缩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 2 mm</a:t>
              </a:r>
            </a:p>
          </p:txBody>
        </p:sp>
      </p:grpSp>
      <p:grpSp>
        <p:nvGrpSpPr>
          <p:cNvPr id="36" name="c2-steps-1"/>
          <p:cNvGrpSpPr/>
          <p:nvPr/>
        </p:nvGrpSpPr>
        <p:grpSpPr>
          <a:xfrm>
            <a:off x="5598795" y="1533525"/>
            <a:ext cx="5492496" cy="2002536"/>
            <a:chOff x="5598795" y="1533525"/>
            <a:chExt cx="5492496" cy="2002536"/>
          </a:xfrm>
        </p:grpSpPr>
        <p:sp>
          <p:nvSpPr>
            <p:cNvPr id="23" name="Rectangle 23"/>
            <p:cNvSpPr/>
            <p:nvPr/>
          </p:nvSpPr>
          <p:spPr>
            <a:xfrm>
              <a:off x="5732145" y="1676400"/>
              <a:ext cx="19050" cy="123348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559879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69241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5598795" y="215074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692419" y="22245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5598795" y="276701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692419" y="28408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010656" y="156638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条纹间距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011799" y="1846898"/>
              <a:ext cx="47550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Δx = Dλ/a = 1 × 600×10⁻⁹/(0.2×10⁻³) = 3.0×10⁻³ m = 3.0 mm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010656" y="2183606"/>
              <a:ext cx="10099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 级明纹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011799" y="2464118"/>
              <a:ext cx="37297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x₃ = 3Dλ/a = 3 × 3.0 mm = 9.0 mm（两侧各一条）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010656" y="2799874"/>
              <a:ext cx="10099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条暗纹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011799" y="3080385"/>
              <a:ext cx="50794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暗纹 x = (2k+1)Dλ/(2a)，第 1 条 k = 0，第 2 条 k = 1：x = 3 × 1.5 mm =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4.5 mm</a:t>
              </a:r>
            </a:p>
          </p:txBody>
        </p:sp>
      </p:grpSp>
      <p:grpSp>
        <p:nvGrpSpPr>
          <p:cNvPr id="41" name="c2-card-2"/>
          <p:cNvGrpSpPr/>
          <p:nvPr/>
        </p:nvGrpSpPr>
        <p:grpSpPr>
          <a:xfrm>
            <a:off x="5598795" y="3707130"/>
            <a:ext cx="6059805" cy="1250632"/>
            <a:chOff x="5598795" y="3707130"/>
            <a:chExt cx="6059805" cy="1250632"/>
          </a:xfrm>
        </p:grpSpPr>
        <p:sp>
          <p:nvSpPr>
            <p:cNvPr id="37" name="Rectangle 37"/>
            <p:cNvSpPr/>
            <p:nvPr/>
          </p:nvSpPr>
          <p:spPr>
            <a:xfrm>
              <a:off x="5598795" y="3707130"/>
              <a:ext cx="6059805" cy="1250632"/>
            </a:xfrm>
            <a:prstGeom prst="roundRect">
              <a:avLst>
                <a:gd name="adj" fmla="val 10663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796915" y="3905250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892356" y="393954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789676" y="4266724"/>
              <a:ext cx="52443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（1）3.0 mm；（2）9.0 mm；（3）4.5 mm（中心两侧对称各一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条）</a:t>
              </a:r>
            </a:p>
          </p:txBody>
        </p:sp>
      </p:grpSp>
      <p:grpSp>
        <p:nvGrpSpPr>
          <p:cNvPr id="48" name="c2-callout-3"/>
          <p:cNvGrpSpPr/>
          <p:nvPr/>
        </p:nvGrpSpPr>
        <p:grpSpPr>
          <a:xfrm>
            <a:off x="5598795" y="5138738"/>
            <a:ext cx="6059805" cy="503872"/>
            <a:chOff x="5598795" y="5138738"/>
            <a:chExt cx="6059805" cy="503872"/>
          </a:xfrm>
        </p:grpSpPr>
        <p:sp>
          <p:nvSpPr>
            <p:cNvPr id="42" name="Rectangle 42"/>
            <p:cNvSpPr/>
            <p:nvPr/>
          </p:nvSpPr>
          <p:spPr>
            <a:xfrm>
              <a:off x="5598795" y="5138738"/>
              <a:ext cx="6059805" cy="503872"/>
            </a:xfrm>
            <a:prstGeom prst="roundRect">
              <a:avLst>
                <a:gd name="adj" fmla="val 22684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5791524" y="5286493"/>
              <a:ext cx="224134" cy="192560"/>
              <a:chOff x="5791524" y="5286493"/>
              <a:chExt cx="224134" cy="19256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5903595" y="535686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5791524" y="528649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5903595" y="54346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6105906" y="5290661"/>
              <a:ext cx="538608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易错：暗纹从 k = 0 数起，第 2 条暗纹对应 k = 1，不是 k = 2。</a:t>
              </a:r>
            </a:p>
          </p:txBody>
        </p:sp>
      </p:grpSp>
      <p:grpSp>
        <p:nvGrpSpPr>
          <p:cNvPr id="55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49" name="Rectangle 49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38188" y="6011228"/>
              <a:ext cx="200026" cy="200025"/>
              <a:chOff x="738188" y="6011228"/>
              <a:chExt cx="200026" cy="200025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738188" y="601122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77926" y="605567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12642" y="616680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0511" y="6011704"/>
              <a:ext cx="76627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变式：把整个装置浸入折射率 n 的水中，光程差变为 n·ax/D，条纹间距缩小为 Dλ/(na)。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第2至8章 内容总结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07834" cy="909257"/>
            <a:chOff x="520446" y="342900"/>
            <a:chExt cx="690783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5763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1275" y="407194"/>
              <a:ext cx="13996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内容总结 · 光的干涉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0783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薄膜干涉（等倾）：先判断有没有额外的 λ/2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2030730"/>
            <a:chOff x="533400" y="1524000"/>
            <a:chExt cx="5410200" cy="203073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030730"/>
            </a:xfrm>
            <a:prstGeom prst="roundRect">
              <a:avLst>
                <a:gd name="adj" fmla="val 6567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2141220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84275" y="1769269"/>
              <a:ext cx="20585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（1）反射光干涉（垂直入射）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formula224"/>
                <p:cNvSpPr txBox="1">
                  <a:spLocks noGrp="1"/>
                </p:cNvSpPr>
                <p:nvPr/>
              </p:nvSpPr>
              <p:spPr>
                <a:xfrm>
                  <a:off x="742950" y="2085975"/>
                  <a:ext cx="4991100" cy="7086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δ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  <m:sSub>
                          <m:e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e>
                          <m:sub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num>
                              <m:den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{"/>
                            <m:sepChr m:val=""/>
                            <m:endChr m:val=""/>
                            <m:grow m:val="on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eqArr>
                              <m:eqArrPr>
                                <m:baseJc m:val="center"/>
                              </m:eqArrPr>
                              <m:e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kλ</m:t>
                                </m:r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r>
                                  <m:rPr>
                                    <m:nor m:val="on"/>
                                  </m:r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明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 </m:t>
                                </m:r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,⋯</m:t>
                                </m:r>
                              </m:e>
                              <m:e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2k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</m:t>
                                    </m:r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  <m:f>
                                  <m:fPr>
                                    <m:type m:val="bar"/>
                                    <m:ctrlP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λ</m:t>
                                    </m:r>
                                  </m:num>
                                  <m:den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r>
                                  <m:rPr>
                                    <m:nor m:val="on"/>
                                  </m:r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暗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 </m:t>
                                </m:r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,⋯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1" name="TextBox 11"/>
            <p:cNvSpPr txBox="1"/>
            <p:nvPr/>
          </p:nvSpPr>
          <p:spPr>
            <a:xfrm>
              <a:off x="736473" y="2911316"/>
              <a:ext cx="46459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括号里的 λ/2 只在有半波损失时才加，e 为膜厚，n₂ 为膜的折射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率。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745230"/>
            <a:ext cx="5410200" cy="1847850"/>
            <a:chOff x="533400" y="3745230"/>
            <a:chExt cx="5410200" cy="1847850"/>
          </a:xfrm>
        </p:grpSpPr>
        <p:sp>
          <p:nvSpPr>
            <p:cNvPr id="13" name="Rectangle 13"/>
            <p:cNvSpPr/>
            <p:nvPr/>
          </p:nvSpPr>
          <p:spPr>
            <a:xfrm>
              <a:off x="533400" y="3745230"/>
              <a:ext cx="5410200" cy="1847850"/>
            </a:xfrm>
            <a:prstGeom prst="roundRect">
              <a:avLst>
                <a:gd name="adj" fmla="val 7216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42950" y="3954780"/>
              <a:ext cx="2141220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84275" y="3990499"/>
              <a:ext cx="20585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（2）透射光干涉（垂直入射）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5330" y="4331970"/>
              <a:ext cx="46348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透射光的额外 λ/2 与反射光正好相反：反射光有时透射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光没有，反射光没有时透射光有。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6473" y="4948714"/>
              <a:ext cx="47271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反射光的干涉与透射光的干涉是</a:t>
              </a:r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互补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的：反射加强的波长，透射一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定减弱。</a:t>
              </a:r>
            </a:p>
          </p:txBody>
        </p:sp>
      </p:grpSp>
      <p:grpSp>
        <p:nvGrpSpPr>
          <p:cNvPr id="38" name="c2-table-1"/>
          <p:cNvGrpSpPr/>
          <p:nvPr/>
        </p:nvGrpSpPr>
        <p:grpSpPr>
          <a:xfrm>
            <a:off x="6242685" y="1524000"/>
            <a:ext cx="5415915" cy="2734152"/>
            <a:chOff x="6242685" y="1524000"/>
            <a:chExt cx="5415915" cy="2734152"/>
          </a:xfrm>
        </p:grpSpPr>
        <p:sp>
          <p:nvSpPr>
            <p:cNvPr id="19" name="Rectangle 19"/>
            <p:cNvSpPr/>
            <p:nvPr/>
          </p:nvSpPr>
          <p:spPr>
            <a:xfrm>
              <a:off x="6248400" y="1524000"/>
              <a:ext cx="5410200" cy="48768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021830" y="166306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三种介质折射率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823099" y="1663065"/>
              <a:ext cx="12364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反射光的 λ/2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34911" y="2150745"/>
              <a:ext cx="12025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n₁ &lt; n₂ &gt; n₃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231755" y="215074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要加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248400" y="249459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48400" y="2499360"/>
              <a:ext cx="5410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134911" y="2638425"/>
              <a:ext cx="12025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n₁ &gt; n₂ &lt; n₃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231755" y="26384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要加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248400" y="298227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134911" y="3126105"/>
              <a:ext cx="12025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n₁ &lt; n₂ &lt; n₃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231755" y="312610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不加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248400" y="346995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48400" y="3474720"/>
              <a:ext cx="5410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134911" y="3613785"/>
              <a:ext cx="12025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n₁ &gt; n₂ &gt; n₃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231755" y="361378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不加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248400" y="1524000"/>
              <a:ext cx="5410200" cy="24384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9219248" y="1524000"/>
              <a:ext cx="9525" cy="2438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242685" y="4038124"/>
              <a:ext cx="30570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n₁ 为入射一侧，n₂ 为薄膜，n₃ 为膜下方介质</a:t>
              </a:r>
            </a:p>
          </p:txBody>
        </p:sp>
      </p:grpSp>
      <p:grpSp>
        <p:nvGrpSpPr>
          <p:cNvPr id="45" name="c2-callout-2"/>
          <p:cNvGrpSpPr/>
          <p:nvPr/>
        </p:nvGrpSpPr>
        <p:grpSpPr>
          <a:xfrm>
            <a:off x="6248400" y="4404360"/>
            <a:ext cx="5410200" cy="1187768"/>
            <a:chOff x="6248400" y="4404360"/>
            <a:chExt cx="5410200" cy="1187768"/>
          </a:xfrm>
        </p:grpSpPr>
        <p:sp>
          <p:nvSpPr>
            <p:cNvPr id="39" name="Rectangle 39"/>
            <p:cNvSpPr/>
            <p:nvPr/>
          </p:nvSpPr>
          <p:spPr>
            <a:xfrm>
              <a:off x="6248400" y="4404360"/>
              <a:ext cx="5410200" cy="1187768"/>
            </a:xfrm>
            <a:prstGeom prst="roundRect">
              <a:avLst>
                <a:gd name="adj" fmla="val 962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6453188" y="4898708"/>
              <a:ext cx="200026" cy="200025"/>
              <a:chOff x="6453188" y="4898708"/>
              <a:chExt cx="200026" cy="200025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6453188" y="48987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492926" y="49431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527642" y="50542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6755130" y="4617720"/>
              <a:ext cx="44348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口诀：膜的折射率夹在中间（n₂ 介于 n₁、n₃ 之间）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时两次反射都有或都没有半波损失，互相抵消，不加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λ/2；膜最大或最小时要加。</a:t>
              </a:r>
            </a:p>
          </p:txBody>
        </p:sp>
      </p:grpSp>
      <p:grpSp>
        <p:nvGrpSpPr>
          <p:cNvPr id="52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6" name="Rectangle 46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040130" y="5991225"/>
              <a:ext cx="94352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易错：光程差里的膜厚要乘膜的折射率 n₂，写成 2e 会漏掉；斜入射时 2n₂e 换成 2e√(n₂² − n₁²sin²i)。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第2至8章 内容总结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023027" cy="909257"/>
            <a:chOff x="520446" y="342900"/>
            <a:chExt cx="602302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5763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1275" y="407194"/>
              <a:ext cx="13996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内容总结 · 光的干涉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02302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例10 肥皂膜反射什么颜色，增透膜多厚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185862"/>
            <a:chOff x="533400" y="1524000"/>
            <a:chExt cx="5410200" cy="11858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79819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0161" y="1743551"/>
              <a:ext cx="6342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例10（1）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460000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空气中的肥皂膜 n = 1.33，厚 e = 380 nm，白光垂直照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射。</a:t>
              </a: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反射光中哪些可见光加强。</a:t>
              </a:r>
            </a:p>
          </p:txBody>
        </p:sp>
      </p:grpSp>
      <p:grpSp>
        <p:nvGrpSpPr>
          <p:cNvPr id="26" name="c1-steps-2"/>
          <p:cNvGrpSpPr/>
          <p:nvPr/>
        </p:nvGrpSpPr>
        <p:grpSpPr>
          <a:xfrm>
            <a:off x="533400" y="2888932"/>
            <a:ext cx="4880199" cy="1685450"/>
            <a:chOff x="533400" y="2888932"/>
            <a:chExt cx="4880199" cy="1685450"/>
          </a:xfrm>
        </p:grpSpPr>
        <p:sp>
          <p:nvSpPr>
            <p:cNvPr id="13" name="Rectangle 13"/>
            <p:cNvSpPr/>
            <p:nvPr/>
          </p:nvSpPr>
          <p:spPr>
            <a:xfrm>
              <a:off x="666750" y="3031808"/>
              <a:ext cx="19050" cy="11658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533400" y="288893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29627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47186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5456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405479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41286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642" y="29213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判半波损失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785" y="3188494"/>
              <a:ext cx="30947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空气 1 &lt; 膜 1.33 &gt; 空气 1，膜最大，要加 λ/2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642" y="350424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列加强条件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785" y="3771424"/>
              <a:ext cx="27781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2ne + λ/2 = kλ ⇒ λ = 1010.8 nm/(k − ½)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642" y="4087177"/>
              <a:ext cx="7211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逐个试 k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785" y="4354354"/>
              <a:ext cx="44668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= 1：2022 nm；k = 2：674 nm；k = 3：404 nm；k = 4：289 nm</a:t>
              </a:r>
            </a:p>
          </p:txBody>
        </p:sp>
      </p:grpSp>
      <p:grpSp>
        <p:nvGrpSpPr>
          <p:cNvPr id="31" name="c1-card-3"/>
          <p:cNvGrpSpPr/>
          <p:nvPr/>
        </p:nvGrpSpPr>
        <p:grpSpPr>
          <a:xfrm>
            <a:off x="533400" y="4737735"/>
            <a:ext cx="5410200" cy="939165"/>
            <a:chOff x="533400" y="4737735"/>
            <a:chExt cx="5410200" cy="939165"/>
          </a:xfrm>
        </p:grpSpPr>
        <p:sp>
          <p:nvSpPr>
            <p:cNvPr id="27" name="Rectangle 27"/>
            <p:cNvSpPr/>
            <p:nvPr/>
          </p:nvSpPr>
          <p:spPr>
            <a:xfrm>
              <a:off x="533400" y="4737735"/>
              <a:ext cx="5410200" cy="939165"/>
            </a:xfrm>
            <a:prstGeom prst="roundRect">
              <a:avLst>
                <a:gd name="adj" fmla="val 14199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20090" y="4924425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15861" y="495728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13232" y="5269230"/>
              <a:ext cx="38483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可见光中 674 nm（红）和 404 nm（紫）加强。</a:t>
              </a:r>
            </a:p>
          </p:txBody>
        </p:sp>
      </p:grpSp>
      <p:grpSp>
        <p:nvGrpSpPr>
          <p:cNvPr id="34" name="c2-image-1"/>
          <p:cNvGrpSpPr/>
          <p:nvPr/>
        </p:nvGrpSpPr>
        <p:grpSpPr>
          <a:xfrm>
            <a:off x="7563307" y="1524000"/>
            <a:ext cx="2780386" cy="1959006"/>
            <a:chOff x="7563307" y="1524000"/>
            <a:chExt cx="2780386" cy="1959006"/>
          </a:xfrm>
        </p:grpSpPr>
        <p:pic>
          <p:nvPicPr>
            <p:cNvPr id="32" name="Image 32"/>
            <p:cNvPicPr>
              <a:picLocks noChangeAspect="1"/>
            </p:cNvPicPr>
            <p:nvPr/>
          </p:nvPicPr>
          <p:blipFill>
            <a:blip r:embed="rId2"/>
            <a:srcRect l="0" t="12506" r="0" b="12505"/>
            <a:stretch>
              <a:fillRect/>
            </a:stretch>
          </p:blipFill>
          <p:spPr>
            <a:xfrm>
              <a:off x="7836218" y="1524000"/>
              <a:ext cx="2235518" cy="1676400"/>
            </a:xfrm>
            <a:prstGeom prst="roundRect">
              <a:avLst>
                <a:gd name="adj" fmla="val 7954"/>
              </a:avLst>
            </a:prstGeom>
          </p:spPr>
        </p:pic>
        <p:sp>
          <p:nvSpPr>
            <p:cNvPr id="33" name="TextBox 33"/>
            <p:cNvSpPr txBox="1"/>
            <p:nvPr/>
          </p:nvSpPr>
          <p:spPr>
            <a:xfrm>
              <a:off x="7563307" y="3292316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膜厚自上而下增加，不同厚度处加强的颜色不同</a:t>
              </a:r>
            </a:p>
          </p:txBody>
        </p:sp>
      </p:grpSp>
      <p:grpSp>
        <p:nvGrpSpPr>
          <p:cNvPr id="44" name="c2-card-2"/>
          <p:cNvGrpSpPr/>
          <p:nvPr/>
        </p:nvGrpSpPr>
        <p:grpSpPr>
          <a:xfrm>
            <a:off x="6248400" y="3633788"/>
            <a:ext cx="5410200" cy="2043112"/>
            <a:chOff x="6248400" y="3633788"/>
            <a:chExt cx="5410200" cy="2043112"/>
          </a:xfrm>
        </p:grpSpPr>
        <p:sp>
          <p:nvSpPr>
            <p:cNvPr id="35" name="Rectangle 35"/>
            <p:cNvSpPr/>
            <p:nvPr/>
          </p:nvSpPr>
          <p:spPr>
            <a:xfrm>
              <a:off x="6248400" y="3633788"/>
              <a:ext cx="5410200" cy="2043112"/>
            </a:xfrm>
            <a:prstGeom prst="roundRect">
              <a:avLst>
                <a:gd name="adj" fmla="val 652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257925" y="3767138"/>
              <a:ext cx="47625" cy="177641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73190" y="3820478"/>
              <a:ext cx="79819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55161" y="3853339"/>
              <a:ext cx="6342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例10（2）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66332" y="4165282"/>
              <a:ext cx="472001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玻璃（n₃ = 1.50）表面镀 MgF₂（n₂ = 1.38）增透膜，λ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550 nm。</a:t>
              </a: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最小膜厚。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481762" y="4778692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637782" y="4722495"/>
              <a:ext cx="33940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&lt; 1.38 &lt; 1.50，n₂ 夹在中间，不加 λ/2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481762" y="507873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637782" y="5022533"/>
              <a:ext cx="422281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反射相消：2n₂e = (2k+1)λ/2，k = 0 时 e = λ/(4n₂) =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99.6 nm</a:t>
              </a:r>
            </a:p>
          </p:txBody>
        </p:sp>
      </p:grpSp>
      <p:grpSp>
        <p:nvGrpSpPr>
          <p:cNvPr id="51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45" name="Rectangle 45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38188" y="6022658"/>
              <a:ext cx="200026" cy="200025"/>
              <a:chOff x="738188" y="6022658"/>
              <a:chExt cx="200026" cy="200025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738188" y="60226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77926" y="60671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12642" y="61782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040892" y="6028373"/>
              <a:ext cx="89551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增透膜让反射光相消，由互补关系，透射光在该波长加强；最小厚度是膜内波长的 1/4，所以也叫 1/4 波长膜。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第2至8章 内容总结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566739" cy="909257"/>
            <a:chOff x="520446" y="342900"/>
            <a:chExt cx="856673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5763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1275" y="407194"/>
              <a:ext cx="13996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内容总结 · 光的干涉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56673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劈尖干涉（等厚）：条纹平行于棱边，间隔 l = λ/(2nθ)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9" name="c1-graph-1"/>
          <p:cNvGrpSpPr/>
          <p:nvPr/>
        </p:nvGrpSpPr>
        <p:grpSpPr>
          <a:xfrm>
            <a:off x="816292" y="2150269"/>
            <a:ext cx="4721340" cy="1464945"/>
            <a:chOff x="816292" y="2150269"/>
            <a:chExt cx="4721340" cy="1464945"/>
          </a:xfrm>
        </p:grpSpPr>
        <p:sp>
          <p:nvSpPr>
            <p:cNvPr id="7" name="Freeform 7"/>
            <p:cNvSpPr/>
            <p:nvPr/>
          </p:nvSpPr>
          <p:spPr>
            <a:xfrm>
              <a:off x="882968" y="3291840"/>
              <a:ext cx="4617720" cy="9525"/>
            </a:xfrm>
            <a:custGeom>
              <a:avLst/>
              <a:gdLst/>
              <a:ahLst/>
              <a:cxnLst/>
              <a:rect l="l" t="t" r="r" b="b"/>
              <a:pathLst>
                <a:path w="4617720" h="9525">
                  <a:moveTo>
                    <a:pt x="0" y="0"/>
                  </a:moveTo>
                  <a:lnTo>
                    <a:pt x="4617720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882968" y="2495550"/>
              <a:ext cx="4410075" cy="789622"/>
            </a:xfrm>
            <a:custGeom>
              <a:avLst/>
              <a:gdLst/>
              <a:ahLst/>
              <a:cxnLst/>
              <a:rect l="l" t="t" r="r" b="b"/>
              <a:pathLst>
                <a:path w="4410075" h="789622">
                  <a:moveTo>
                    <a:pt x="0" y="789622"/>
                  </a:moveTo>
                  <a:lnTo>
                    <a:pt x="4410075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5312092" y="2606992"/>
              <a:ext cx="9525" cy="570548"/>
            </a:xfrm>
            <a:custGeom>
              <a:avLst/>
              <a:gdLst/>
              <a:ahLst/>
              <a:cxnLst/>
              <a:rect l="l" t="t" r="r" b="b"/>
              <a:pathLst>
                <a:path w="9525" h="570548">
                  <a:moveTo>
                    <a:pt x="0" y="570548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5264468" y="251174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5264468" y="317754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1987868" y="3107055"/>
              <a:ext cx="9525" cy="165735"/>
            </a:xfrm>
            <a:custGeom>
              <a:avLst/>
              <a:gdLst/>
              <a:ahLst/>
              <a:cxnLst/>
              <a:rect l="l" t="t" r="r" b="b"/>
              <a:pathLst>
                <a:path w="9525" h="165735">
                  <a:moveTo>
                    <a:pt x="0" y="0"/>
                  </a:moveTo>
                  <a:lnTo>
                    <a:pt x="0" y="165735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13" name="Freeform 13"/>
            <p:cNvSpPr/>
            <p:nvPr/>
          </p:nvSpPr>
          <p:spPr>
            <a:xfrm>
              <a:off x="3129915" y="2903220"/>
              <a:ext cx="9525" cy="369570"/>
            </a:xfrm>
            <a:custGeom>
              <a:avLst/>
              <a:gdLst/>
              <a:ahLst/>
              <a:cxnLst/>
              <a:rect l="l" t="t" r="r" b="b"/>
              <a:pathLst>
                <a:path w="9525" h="369570">
                  <a:moveTo>
                    <a:pt x="0" y="0"/>
                  </a:moveTo>
                  <a:lnTo>
                    <a:pt x="0" y="369570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14" name="Freeform 14"/>
            <p:cNvSpPr/>
            <p:nvPr/>
          </p:nvSpPr>
          <p:spPr>
            <a:xfrm>
              <a:off x="4272915" y="2696528"/>
              <a:ext cx="9525" cy="576262"/>
            </a:xfrm>
            <a:custGeom>
              <a:avLst/>
              <a:gdLst/>
              <a:ahLst/>
              <a:cxnLst/>
              <a:rect l="l" t="t" r="r" b="b"/>
              <a:pathLst>
                <a:path w="9525" h="576262">
                  <a:moveTo>
                    <a:pt x="0" y="0"/>
                  </a:moveTo>
                  <a:lnTo>
                    <a:pt x="0" y="576262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15" name="Freeform 15"/>
            <p:cNvSpPr/>
            <p:nvPr/>
          </p:nvSpPr>
          <p:spPr>
            <a:xfrm>
              <a:off x="2102168" y="3502342"/>
              <a:ext cx="913448" cy="9525"/>
            </a:xfrm>
            <a:custGeom>
              <a:avLst/>
              <a:gdLst/>
              <a:ahLst/>
              <a:cxnLst/>
              <a:rect l="l" t="t" r="r" b="b"/>
              <a:pathLst>
                <a:path w="913448" h="9525">
                  <a:moveTo>
                    <a:pt x="0" y="0"/>
                  </a:moveTo>
                  <a:lnTo>
                    <a:pt x="913448" y="0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015615" y="345471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006918" y="345471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816292" y="326326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5510212" y="328231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5302568" y="248316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5302568" y="328231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5302568" y="248316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1978342" y="307848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1978342" y="328231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3120390" y="287464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120390" y="328231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4263390" y="266795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4263390" y="328231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1978342" y="349281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3120390" y="349281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245418" y="281368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276973" y="284273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2505075" y="3424238"/>
              <a:ext cx="107632" cy="146685"/>
            </a:xfrm>
            <a:prstGeom prst="roundRect">
              <a:avLst>
                <a:gd name="adj" fmla="val 3539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538047" y="3453289"/>
              <a:ext cx="4264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l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274464" y="30270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9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θ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43928" y="3413284"/>
              <a:ext cx="5614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棱边：暗纹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086553" y="2193131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细丝直径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102726" y="2150269"/>
              <a:ext cx="122379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虚线处为暗纹，间隔相等</a:t>
              </a:r>
            </a:p>
          </p:txBody>
        </p:sp>
      </p:grpSp>
      <p:grpSp>
        <p:nvGrpSpPr>
          <p:cNvPr id="46" name="c1-card-2"/>
          <p:cNvGrpSpPr/>
          <p:nvPr/>
        </p:nvGrpSpPr>
        <p:grpSpPr>
          <a:xfrm>
            <a:off x="533400" y="3793808"/>
            <a:ext cx="5193982" cy="2265045"/>
            <a:chOff x="533400" y="3793808"/>
            <a:chExt cx="5193982" cy="2265045"/>
          </a:xfrm>
        </p:grpSpPr>
        <p:sp>
          <p:nvSpPr>
            <p:cNvPr id="40" name="Rectangle 40"/>
            <p:cNvSpPr/>
            <p:nvPr/>
          </p:nvSpPr>
          <p:spPr>
            <a:xfrm>
              <a:off x="533400" y="3793808"/>
              <a:ext cx="5193982" cy="2265045"/>
            </a:xfrm>
            <a:prstGeom prst="roundRect">
              <a:avLst>
                <a:gd name="adj" fmla="val 588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542925" y="3927158"/>
              <a:ext cx="47625" cy="19983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752475" y="397478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147" y="400764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45998" y="4315301"/>
              <a:ext cx="4597146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原课件在「空气劈尖 Δe = λ/2」后注「证明了半波损失」。证明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半波损失的是棱边 e = 0 处出现暗纹（δ = λ/2），Δe = λ/2 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 n = 1 时的厚度差。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47141" y="5081588"/>
              <a:ext cx="4611243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棱边处 e = 0，两束反射光的几何路程相同，只差半波损失带来的 λ/2，所以是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暗纹。若没有半波损失，棱边应是明纹。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formula237"/>
              <p:cNvSpPr txBox="1">
                <a:spLocks noGrp="1"/>
              </p:cNvSpPr>
              <p:nvPr/>
            </p:nvSpPr>
            <p:spPr>
              <a:xfrm>
                <a:off x="6032182" y="1524000"/>
                <a:ext cx="5626418" cy="6648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δ</m:t>
                      </m:r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sSub>
                        <m:e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  <m:sub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</m:t>
                      </m:r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f>
                        <m:fPr>
                          <m:type m:val="bar"/>
                          <m:ctrl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λ</m:t>
                          </m:r>
                        </m:num>
                        <m:den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sepChr m:val=""/>
                          <m:endChr m:val=""/>
                          <m:grow m:val="on"/>
                          <m:ctrl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eqArr>
                            <m:eqArrPr>
                              <m:baseJc m:val="center"/>
                            </m:eqArrPr>
                            <m:e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kλ</m:t>
                              </m:r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m:rPr>
                                  <m:nor m:val="on"/>
                                </m:rP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明纹</m:t>
                              </m:r>
                            </m:e>
                            <m:e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2k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+</m:t>
                                  </m:r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d>
                              <m:f>
                                <m:fPr>
                                  <m:type m:val="bar"/>
                                  <m:ctrlP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λ</m:t>
                                  </m:r>
                                </m:num>
                                <m:den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m:rPr>
                                  <m:nor m:val="on"/>
                                </m:rP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暗纹</m:t>
                              </m:r>
                            </m:e>
                          </m:eqAr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54" name="c2-callout-2"/>
          <p:cNvGrpSpPr/>
          <p:nvPr/>
        </p:nvGrpSpPr>
        <p:grpSpPr>
          <a:xfrm>
            <a:off x="6032182" y="2353628"/>
            <a:ext cx="5626418" cy="702945"/>
            <a:chOff x="6032182" y="2353628"/>
            <a:chExt cx="5626418" cy="702945"/>
          </a:xfrm>
        </p:grpSpPr>
        <p:sp>
          <p:nvSpPr>
            <p:cNvPr id="48" name="Rectangle 48"/>
            <p:cNvSpPr/>
            <p:nvPr/>
          </p:nvSpPr>
          <p:spPr>
            <a:xfrm>
              <a:off x="6032182" y="2353628"/>
              <a:ext cx="5626418" cy="702945"/>
            </a:xfrm>
            <a:prstGeom prst="roundRect">
              <a:avLst>
                <a:gd name="adj" fmla="val 1626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6224912" y="2600443"/>
              <a:ext cx="224134" cy="192560"/>
              <a:chOff x="6224912" y="2600443"/>
              <a:chExt cx="224134" cy="19256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6336983" y="267081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224912" y="260044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336983" y="274859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6540056" y="2497931"/>
              <a:ext cx="47271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只要劈尖两侧介质相同（如玻璃中夹空气、空气中的玻璃劈），反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射光就有 λ/2。</a:t>
              </a:r>
            </a:p>
          </p:txBody>
        </p:sp>
      </p:grpSp>
      <p:grpSp>
        <p:nvGrpSpPr>
          <p:cNvPr id="71" name="c2-table-3"/>
          <p:cNvGrpSpPr/>
          <p:nvPr/>
        </p:nvGrpSpPr>
        <p:grpSpPr>
          <a:xfrm>
            <a:off x="6032182" y="3220402"/>
            <a:ext cx="5626418" cy="1487805"/>
            <a:chOff x="6032182" y="3220402"/>
            <a:chExt cx="5626418" cy="1487805"/>
          </a:xfrm>
        </p:grpSpPr>
        <p:sp>
          <p:nvSpPr>
            <p:cNvPr id="55" name="Rectangle 55"/>
            <p:cNvSpPr/>
            <p:nvPr/>
          </p:nvSpPr>
          <p:spPr>
            <a:xfrm>
              <a:off x="6032182" y="3220402"/>
              <a:ext cx="5626418" cy="420052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008254" y="334184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量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891867" y="334184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公式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087722" y="3341846"/>
              <a:ext cx="14539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空气劈尖（n = 1）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125718" y="3761899"/>
              <a:ext cx="18011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相邻明纹（或暗纹）对应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的膜厚差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579244" y="3875246"/>
              <a:ext cx="9828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Δe = λ/(2n)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666049" y="3875246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λ/2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032182" y="428339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6032182" y="4288155"/>
              <a:ext cx="5626418" cy="42005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125718" y="440864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相邻条纹间隔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8180070" y="4297680"/>
              <a:ext cx="1781175" cy="40100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607549" y="4408646"/>
              <a:ext cx="9262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 = λ/(2nθ)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523891" y="4408646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λ/(2θ)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6032182" y="3220402"/>
              <a:ext cx="5626418" cy="14878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8165782" y="3220402"/>
              <a:ext cx="9525" cy="14878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9966008" y="3220402"/>
              <a:ext cx="9525" cy="14878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0" name="c2-card-4"/>
          <p:cNvGrpSpPr/>
          <p:nvPr/>
        </p:nvGrpSpPr>
        <p:grpSpPr>
          <a:xfrm>
            <a:off x="6032182" y="4872990"/>
            <a:ext cx="5626418" cy="1185862"/>
            <a:chOff x="6032182" y="4872990"/>
            <a:chExt cx="5626418" cy="1185862"/>
          </a:xfrm>
        </p:grpSpPr>
        <p:sp>
          <p:nvSpPr>
            <p:cNvPr id="72" name="Rectangle 72"/>
            <p:cNvSpPr/>
            <p:nvPr/>
          </p:nvSpPr>
          <p:spPr>
            <a:xfrm>
              <a:off x="6032182" y="4872990"/>
              <a:ext cx="5626418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6041708" y="5006340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6251258" y="505396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342977" y="508682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用法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6260782" y="544639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416230" y="5393531"/>
              <a:ext cx="36143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 变大，条纹变密；测出 l 可反推 θ 或细丝直径</a:t>
              </a:r>
            </a:p>
          </p:txBody>
        </p:sp>
        <p:sp>
          <p:nvSpPr>
            <p:cNvPr id="78" name="Ellipse 78"/>
            <p:cNvSpPr/>
            <p:nvPr/>
          </p:nvSpPr>
          <p:spPr>
            <a:xfrm>
              <a:off x="6260782" y="5731192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416230" y="5679281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某处条纹弯曲：说明该处表面有凹凸，可用来检查平面度</a:t>
              </a:r>
            </a:p>
          </p:txBody>
        </p:sp>
      </p:grpSp>
      <p:grpSp>
        <p:nvGrpSpPr>
          <p:cNvPr id="8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1" name="TextBox 81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第2至8章 内容总结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306622" cy="909257"/>
            <a:chOff x="520446" y="342900"/>
            <a:chExt cx="430662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5763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1275" y="407194"/>
              <a:ext cx="13996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内容总结 · 光的干涉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30662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例11 用空气劈尖测细丝直径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760595" cy="2111692"/>
            <a:chOff x="533400" y="1524000"/>
            <a:chExt cx="4760595" cy="21116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2111692"/>
            </a:xfrm>
            <a:prstGeom prst="roundRect">
              <a:avLst>
                <a:gd name="adj" fmla="val 63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4499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497205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0583" y="1756410"/>
              <a:ext cx="3152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例11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4045077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两块平板玻璃一端接触，另一端夹一根细丝，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形成空气劈尖；棱边到细丝距离 L = 28.880 mm。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λ = 589.3 nm 的钠光垂直照射，测得 30 条明纹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之间的距离为 4.295 mm。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381" y="3215164"/>
              <a:ext cx="138127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细丝直径 d。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3815715"/>
            <a:ext cx="4760595" cy="1840230"/>
            <a:chOff x="533400" y="3815715"/>
            <a:chExt cx="4760595" cy="1840230"/>
          </a:xfrm>
        </p:grpSpPr>
        <p:sp>
          <p:nvSpPr>
            <p:cNvPr id="14" name="Rectangle 14"/>
            <p:cNvSpPr/>
            <p:nvPr/>
          </p:nvSpPr>
          <p:spPr>
            <a:xfrm>
              <a:off x="533400" y="3815715"/>
              <a:ext cx="4760595" cy="1840230"/>
            </a:xfrm>
            <a:prstGeom prst="roundRect">
              <a:avLst>
                <a:gd name="adj" fmla="val 724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949065"/>
              <a:ext cx="47625" cy="157353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69620" y="401383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1060" y="404812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检验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77240" y="4434840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33831" y="4374356"/>
              <a:ext cx="381965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细丝处厚度 d 对应的条纹数 d/(λ/2) ≈ 195，即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细丝与棱边之间约有 195 条条纹，量级合理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77240" y="502348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33831" y="4963954"/>
              <a:ext cx="389178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反代：L/l = 28.880/0.1481 ≈ 195，与上一条一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致</a:t>
              </a:r>
            </a:p>
          </p:txBody>
        </p:sp>
      </p:grpSp>
      <p:grpSp>
        <p:nvGrpSpPr>
          <p:cNvPr id="36" name="c2-steps-1"/>
          <p:cNvGrpSpPr/>
          <p:nvPr/>
        </p:nvGrpSpPr>
        <p:grpSpPr>
          <a:xfrm>
            <a:off x="5598795" y="1533525"/>
            <a:ext cx="5370576" cy="2002536"/>
            <a:chOff x="5598795" y="1533525"/>
            <a:chExt cx="5370576" cy="2002536"/>
          </a:xfrm>
        </p:grpSpPr>
        <p:sp>
          <p:nvSpPr>
            <p:cNvPr id="23" name="Rectangle 23"/>
            <p:cNvSpPr/>
            <p:nvPr/>
          </p:nvSpPr>
          <p:spPr>
            <a:xfrm>
              <a:off x="5732145" y="1676400"/>
              <a:ext cx="19050" cy="145446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559879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69241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5598795" y="215074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692419" y="22245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5598795" y="298799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692419" y="30618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010656" y="156638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算条纹间隔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011799" y="1846898"/>
              <a:ext cx="40831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 条明纹之间有 29 个间隔：l = 4.295/29 = 0.1481 mm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010656" y="218360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求劈尖角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011799" y="2464118"/>
              <a:ext cx="495757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空气 n = 1：θ = λ/(2l) = 589.3×10⁻⁹/(2 × 0.1481×10⁻³) = 1.99×10⁻³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rad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010656" y="3020854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求直径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011799" y="3301365"/>
              <a:ext cx="46085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= Lθ = Lλ/(2l) = 28.880×10⁻³ × 1.99×10⁻³ = 5.75×10⁻⁵ m</a:t>
              </a:r>
            </a:p>
          </p:txBody>
        </p:sp>
      </p:grpSp>
      <p:grpSp>
        <p:nvGrpSpPr>
          <p:cNvPr id="41" name="c2-card-2"/>
          <p:cNvGrpSpPr/>
          <p:nvPr/>
        </p:nvGrpSpPr>
        <p:grpSpPr>
          <a:xfrm>
            <a:off x="5598795" y="3707130"/>
            <a:ext cx="6059805" cy="979170"/>
            <a:chOff x="5598795" y="3707130"/>
            <a:chExt cx="6059805" cy="979170"/>
          </a:xfrm>
        </p:grpSpPr>
        <p:sp>
          <p:nvSpPr>
            <p:cNvPr id="37" name="Rectangle 37"/>
            <p:cNvSpPr/>
            <p:nvPr/>
          </p:nvSpPr>
          <p:spPr>
            <a:xfrm>
              <a:off x="5598795" y="3707130"/>
              <a:ext cx="6059805" cy="979170"/>
            </a:xfrm>
            <a:prstGeom prst="roundRect">
              <a:avLst>
                <a:gd name="adj" fmla="val 13619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796915" y="3905250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892356" y="393954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789676" y="4266724"/>
              <a:ext cx="392197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 = Lλ/(2l) ≈ 5.75×10⁻⁵ m，约 0.057 mm。</a:t>
              </a:r>
            </a:p>
          </p:txBody>
        </p:sp>
      </p:grpSp>
      <p:grpSp>
        <p:nvGrpSpPr>
          <p:cNvPr id="48" name="c2-callout-3"/>
          <p:cNvGrpSpPr/>
          <p:nvPr/>
        </p:nvGrpSpPr>
        <p:grpSpPr>
          <a:xfrm>
            <a:off x="5598795" y="4867275"/>
            <a:ext cx="6059805" cy="788670"/>
            <a:chOff x="5598795" y="4867275"/>
            <a:chExt cx="6059805" cy="788670"/>
          </a:xfrm>
        </p:grpSpPr>
        <p:sp>
          <p:nvSpPr>
            <p:cNvPr id="42" name="Rectangle 42"/>
            <p:cNvSpPr/>
            <p:nvPr/>
          </p:nvSpPr>
          <p:spPr>
            <a:xfrm>
              <a:off x="5598795" y="4867275"/>
              <a:ext cx="6059805" cy="788670"/>
            </a:xfrm>
            <a:prstGeom prst="roundRect">
              <a:avLst>
                <a:gd name="adj" fmla="val 1449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5791524" y="5157906"/>
              <a:ext cx="224134" cy="192560"/>
              <a:chOff x="5791524" y="5157906"/>
              <a:chExt cx="224134" cy="19256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5903595" y="522827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5791524" y="515790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5903595" y="530606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6105906" y="5030629"/>
              <a:ext cx="5009896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易错：N 条条纹之间只有 N − 1 个间隔，用 4.295/30 会得到偏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大的 d。</a:t>
              </a:r>
            </a:p>
          </p:txBody>
        </p:sp>
      </p:grpSp>
      <p:grpSp>
        <p:nvGrpSpPr>
          <p:cNvPr id="55" name="takeaway"/>
          <p:cNvGrpSpPr/>
          <p:nvPr/>
        </p:nvGrpSpPr>
        <p:grpSpPr>
          <a:xfrm>
            <a:off x="533400" y="5858828"/>
            <a:ext cx="11130991" cy="503872"/>
            <a:chOff x="533400" y="5858828"/>
            <a:chExt cx="11130991" cy="503872"/>
          </a:xfrm>
        </p:grpSpPr>
        <p:sp>
          <p:nvSpPr>
            <p:cNvPr id="49" name="Rectangle 49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38188" y="6011228"/>
              <a:ext cx="200026" cy="200025"/>
              <a:chOff x="738188" y="6011228"/>
              <a:chExt cx="200026" cy="200025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738188" y="601122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77926" y="605567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12642" y="616680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0511" y="6011704"/>
              <a:ext cx="106238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变式：劈尖内充满折射率 n 的液体，条纹间隔变为 λ/(2nθ)，条纹变密；同一 θ 下 l 与 n 成反比，可以反过来测液体折射率。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第2至8章 内容总结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357622" cy="3351847"/>
            <a:chOff x="667512" y="1835468"/>
            <a:chExt cx="5357622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光的衍射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347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单缝给出衍射包络，光栅在包络里排出细而亮的主极大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夫琅禾费单缝衍射的明暗条件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条纹位置与宽度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光栅方程与斜入射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缺级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第2至8章 内容总结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5763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1275" y="407194"/>
              <a:ext cx="13996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内容总结 · 光的衍射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单缝衍射：按半波带数定明暗，中央明纹最亮最宽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240"/>
              <p:cNvSpPr txBox="1">
                <a:spLocks noGrp="1"/>
              </p:cNvSpPr>
              <p:nvPr/>
            </p:nvSpPr>
            <p:spPr>
              <a:xfrm>
                <a:off x="533400" y="1524000"/>
                <a:ext cx="5410200" cy="1059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δ</m:t>
                          </m:r>
                        </m:e>
                        <m: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sin</m:t>
                          </m:r>
                        </m:fName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φ</m:t>
                          </m:r>
                        </m:e>
                      </m:func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sepChr m:val=""/>
                          <m:endChr m:val="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eqArr>
                            <m:eqArrPr>
                              <m:baseJc m:val="center"/>
                            </m:eqArrPr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m:rPr>
                                  <m:nor m:val="on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中央明纹</m:t>
                              </m:r>
                            </m:e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±</m:t>
                              </m:r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2k</m:t>
                              </m:r>
                              <m:f>
                                <m:fPr>
                                  <m:type m:val="bar"/>
                                  <m:ctrl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λ</m:t>
                                  </m:r>
                                </m:num>
                                <m:den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m:rPr>
                                  <m:nor m:val="on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暗纹</m:t>
                              </m:r>
                            </m:e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±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2k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+</m:t>
                                  </m:r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d>
                              <m:f>
                                <m:fPr>
                                  <m:type m:val="bar"/>
                                  <m:ctrl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λ</m:t>
                                  </m:r>
                                </m:num>
                                <m:den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m:rPr>
                                  <m:nor m:val="on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明纹</m:t>
                              </m:r>
                            </m:e>
                          </m:eqArr>
                        </m:e>
                      </m:d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k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,⋯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17" name="c1-card-2"/>
          <p:cNvGrpSpPr/>
          <p:nvPr/>
        </p:nvGrpSpPr>
        <p:grpSpPr>
          <a:xfrm>
            <a:off x="533400" y="2768918"/>
            <a:ext cx="5410200" cy="1914525"/>
            <a:chOff x="533400" y="2768918"/>
            <a:chExt cx="5410200" cy="1914525"/>
          </a:xfrm>
        </p:grpSpPr>
        <p:sp>
          <p:nvSpPr>
            <p:cNvPr id="8" name="Rectangle 8"/>
            <p:cNvSpPr/>
            <p:nvPr/>
          </p:nvSpPr>
          <p:spPr>
            <a:xfrm>
              <a:off x="533400" y="2768918"/>
              <a:ext cx="5410200" cy="1914525"/>
            </a:xfrm>
            <a:prstGeom prst="roundRect">
              <a:avLst>
                <a:gd name="adj" fmla="val 696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42925" y="2902268"/>
              <a:ext cx="47625" cy="164782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75335" y="2972752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57644" y="300847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半波带法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3345656"/>
              <a:ext cx="466725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把缝宽 a 按边缘光线的光程差 a sinφ 分成若干个 λ/2 宽的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半波带，相邻两带的光在屏上互相抵消。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2955" y="3996690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9546" y="3937159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偶数个半波带：两两抵消，暗纹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2955" y="4316730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39546" y="4257199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奇数个半波带：剩一个，明纹</a:t>
              </a:r>
            </a:p>
          </p:txBody>
        </p:sp>
      </p:grpSp>
      <p:grpSp>
        <p:nvGrpSpPr>
          <p:cNvPr id="24" name="c1-callout-3"/>
          <p:cNvGrpSpPr/>
          <p:nvPr/>
        </p:nvGrpSpPr>
        <p:grpSpPr>
          <a:xfrm>
            <a:off x="533400" y="4869180"/>
            <a:ext cx="5410200" cy="1384935"/>
            <a:chOff x="533400" y="4869180"/>
            <a:chExt cx="5410200" cy="1384935"/>
          </a:xfrm>
        </p:grpSpPr>
        <p:sp>
          <p:nvSpPr>
            <p:cNvPr id="18" name="Rectangle 18"/>
            <p:cNvSpPr/>
            <p:nvPr/>
          </p:nvSpPr>
          <p:spPr>
            <a:xfrm>
              <a:off x="533400" y="4869180"/>
              <a:ext cx="5410200" cy="1384935"/>
            </a:xfrm>
            <a:prstGeom prst="roundRect">
              <a:avLst>
                <a:gd name="adj" fmla="val 825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26129" y="5457943"/>
              <a:ext cx="224134" cy="192560"/>
              <a:chOff x="726129" y="5457943"/>
              <a:chExt cx="224134" cy="19256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838200" y="552831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26129" y="545794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38200" y="560609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40511" y="5330666"/>
              <a:ext cx="4459859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易错：单缝的暗纹条件 a sinφ = kλ 与双缝、光栅的明纹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条件形式相同，别背混。</a:t>
              </a:r>
            </a:p>
          </p:txBody>
        </p:sp>
      </p:grpSp>
      <p:grpSp>
        <p:nvGrpSpPr>
          <p:cNvPr id="39" name="c2-graph-1"/>
          <p:cNvGrpSpPr/>
          <p:nvPr/>
        </p:nvGrpSpPr>
        <p:grpSpPr>
          <a:xfrm>
            <a:off x="6400800" y="1801178"/>
            <a:ext cx="5235889" cy="1972626"/>
            <a:chOff x="6400800" y="1801178"/>
            <a:chExt cx="5235889" cy="1972626"/>
          </a:xfrm>
        </p:grpSpPr>
        <p:sp>
          <p:nvSpPr>
            <p:cNvPr id="25" name="Freeform 25"/>
            <p:cNvSpPr/>
            <p:nvPr/>
          </p:nvSpPr>
          <p:spPr>
            <a:xfrm>
              <a:off x="6429375" y="3510915"/>
              <a:ext cx="4812030" cy="9525"/>
            </a:xfrm>
            <a:custGeom>
              <a:avLst/>
              <a:gdLst/>
              <a:ahLst/>
              <a:cxnLst/>
              <a:rect l="l" t="t" r="r" b="b"/>
              <a:pathLst>
                <a:path w="4812030" h="9525">
                  <a:moveTo>
                    <a:pt x="0" y="0"/>
                  </a:moveTo>
                  <a:lnTo>
                    <a:pt x="481203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11241405" y="346329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6592252" y="1801178"/>
              <a:ext cx="4722495" cy="1709738"/>
            </a:xfrm>
            <a:custGeom>
              <a:avLst/>
              <a:gdLst/>
              <a:ahLst/>
              <a:cxnLst/>
              <a:rect l="l" t="t" r="r" b="b"/>
              <a:pathLst>
                <a:path w="4722495" h="1709738">
                  <a:moveTo>
                    <a:pt x="0" y="1695450"/>
                  </a:moveTo>
                  <a:lnTo>
                    <a:pt x="13335" y="1695450"/>
                  </a:lnTo>
                  <a:lnTo>
                    <a:pt x="40005" y="1695450"/>
                  </a:lnTo>
                  <a:lnTo>
                    <a:pt x="72390" y="1695450"/>
                  </a:lnTo>
                  <a:lnTo>
                    <a:pt x="100012" y="1697355"/>
                  </a:lnTo>
                  <a:lnTo>
                    <a:pt x="132397" y="1700213"/>
                  </a:lnTo>
                  <a:lnTo>
                    <a:pt x="159067" y="1702118"/>
                  </a:lnTo>
                  <a:lnTo>
                    <a:pt x="186690" y="1704975"/>
                  </a:lnTo>
                  <a:lnTo>
                    <a:pt x="219075" y="1704975"/>
                  </a:lnTo>
                  <a:lnTo>
                    <a:pt x="245745" y="1706880"/>
                  </a:lnTo>
                  <a:lnTo>
                    <a:pt x="278130" y="1709738"/>
                  </a:lnTo>
                  <a:lnTo>
                    <a:pt x="310515" y="1709738"/>
                  </a:lnTo>
                  <a:lnTo>
                    <a:pt x="338138" y="1709738"/>
                  </a:lnTo>
                  <a:lnTo>
                    <a:pt x="370522" y="1709738"/>
                  </a:lnTo>
                  <a:lnTo>
                    <a:pt x="397192" y="1706880"/>
                  </a:lnTo>
                  <a:lnTo>
                    <a:pt x="424815" y="1704975"/>
                  </a:lnTo>
                  <a:lnTo>
                    <a:pt x="457200" y="1702118"/>
                  </a:lnTo>
                  <a:lnTo>
                    <a:pt x="483870" y="1697355"/>
                  </a:lnTo>
                  <a:lnTo>
                    <a:pt x="516255" y="1695450"/>
                  </a:lnTo>
                  <a:lnTo>
                    <a:pt x="543878" y="1690688"/>
                  </a:lnTo>
                  <a:lnTo>
                    <a:pt x="576262" y="1688782"/>
                  </a:lnTo>
                  <a:lnTo>
                    <a:pt x="608647" y="1684020"/>
                  </a:lnTo>
                  <a:lnTo>
                    <a:pt x="635317" y="1684020"/>
                  </a:lnTo>
                  <a:lnTo>
                    <a:pt x="667703" y="1681163"/>
                  </a:lnTo>
                  <a:lnTo>
                    <a:pt x="695325" y="1681163"/>
                  </a:lnTo>
                  <a:lnTo>
                    <a:pt x="727710" y="1681163"/>
                  </a:lnTo>
                  <a:lnTo>
                    <a:pt x="754380" y="1684020"/>
                  </a:lnTo>
                  <a:lnTo>
                    <a:pt x="781050" y="1685925"/>
                  </a:lnTo>
                  <a:lnTo>
                    <a:pt x="814388" y="1690688"/>
                  </a:lnTo>
                  <a:lnTo>
                    <a:pt x="841057" y="1693545"/>
                  </a:lnTo>
                  <a:lnTo>
                    <a:pt x="873442" y="1697355"/>
                  </a:lnTo>
                  <a:lnTo>
                    <a:pt x="905828" y="1702118"/>
                  </a:lnTo>
                  <a:lnTo>
                    <a:pt x="932497" y="1704975"/>
                  </a:lnTo>
                  <a:lnTo>
                    <a:pt x="965835" y="1706880"/>
                  </a:lnTo>
                  <a:lnTo>
                    <a:pt x="992505" y="1709738"/>
                  </a:lnTo>
                  <a:lnTo>
                    <a:pt x="1019175" y="1709738"/>
                  </a:lnTo>
                  <a:lnTo>
                    <a:pt x="1051560" y="1706880"/>
                  </a:lnTo>
                  <a:lnTo>
                    <a:pt x="1079182" y="1702118"/>
                  </a:lnTo>
                  <a:lnTo>
                    <a:pt x="1111567" y="1697355"/>
                  </a:lnTo>
                  <a:lnTo>
                    <a:pt x="1138238" y="1690688"/>
                  </a:lnTo>
                  <a:lnTo>
                    <a:pt x="1170622" y="1681163"/>
                  </a:lnTo>
                  <a:lnTo>
                    <a:pt x="1203007" y="1672590"/>
                  </a:lnTo>
                  <a:lnTo>
                    <a:pt x="1230630" y="1661160"/>
                  </a:lnTo>
                  <a:lnTo>
                    <a:pt x="1263015" y="1651635"/>
                  </a:lnTo>
                  <a:lnTo>
                    <a:pt x="1289685" y="1642110"/>
                  </a:lnTo>
                  <a:lnTo>
                    <a:pt x="1322070" y="1635443"/>
                  </a:lnTo>
                  <a:lnTo>
                    <a:pt x="1349692" y="1630680"/>
                  </a:lnTo>
                  <a:lnTo>
                    <a:pt x="1376362" y="1628775"/>
                  </a:lnTo>
                  <a:lnTo>
                    <a:pt x="1408747" y="1628775"/>
                  </a:lnTo>
                  <a:lnTo>
                    <a:pt x="1436370" y="1632585"/>
                  </a:lnTo>
                  <a:lnTo>
                    <a:pt x="1468755" y="1640205"/>
                  </a:lnTo>
                  <a:lnTo>
                    <a:pt x="1501140" y="1648778"/>
                  </a:lnTo>
                  <a:lnTo>
                    <a:pt x="1527810" y="1661160"/>
                  </a:lnTo>
                  <a:lnTo>
                    <a:pt x="1560195" y="1672590"/>
                  </a:lnTo>
                  <a:lnTo>
                    <a:pt x="1587817" y="1685925"/>
                  </a:lnTo>
                  <a:lnTo>
                    <a:pt x="1614488" y="1697355"/>
                  </a:lnTo>
                  <a:lnTo>
                    <a:pt x="1646872" y="1704975"/>
                  </a:lnTo>
                  <a:lnTo>
                    <a:pt x="1674495" y="1709738"/>
                  </a:lnTo>
                  <a:lnTo>
                    <a:pt x="1706880" y="1706880"/>
                  </a:lnTo>
                  <a:lnTo>
                    <a:pt x="1733550" y="1695450"/>
                  </a:lnTo>
                  <a:lnTo>
                    <a:pt x="1765935" y="1677352"/>
                  </a:lnTo>
                  <a:lnTo>
                    <a:pt x="1798320" y="1644968"/>
                  </a:lnTo>
                  <a:lnTo>
                    <a:pt x="1825942" y="1603057"/>
                  </a:lnTo>
                  <a:lnTo>
                    <a:pt x="1852612" y="1547813"/>
                  </a:lnTo>
                  <a:lnTo>
                    <a:pt x="1884997" y="1478280"/>
                  </a:lnTo>
                  <a:lnTo>
                    <a:pt x="1917382" y="1397318"/>
                  </a:lnTo>
                  <a:lnTo>
                    <a:pt x="1945005" y="1303020"/>
                  </a:lnTo>
                  <a:lnTo>
                    <a:pt x="1977390" y="1199198"/>
                  </a:lnTo>
                  <a:lnTo>
                    <a:pt x="2004060" y="1085850"/>
                  </a:lnTo>
                  <a:lnTo>
                    <a:pt x="2031682" y="962978"/>
                  </a:lnTo>
                  <a:lnTo>
                    <a:pt x="2064067" y="838200"/>
                  </a:lnTo>
                  <a:lnTo>
                    <a:pt x="2096453" y="711518"/>
                  </a:lnTo>
                  <a:lnTo>
                    <a:pt x="2123122" y="586740"/>
                  </a:lnTo>
                  <a:lnTo>
                    <a:pt x="2149792" y="466725"/>
                  </a:lnTo>
                  <a:lnTo>
                    <a:pt x="2183130" y="353377"/>
                  </a:lnTo>
                  <a:lnTo>
                    <a:pt x="2209800" y="251460"/>
                  </a:lnTo>
                  <a:lnTo>
                    <a:pt x="2242185" y="166688"/>
                  </a:lnTo>
                  <a:lnTo>
                    <a:pt x="2274570" y="94298"/>
                  </a:lnTo>
                  <a:lnTo>
                    <a:pt x="2302192" y="41910"/>
                  </a:lnTo>
                  <a:lnTo>
                    <a:pt x="2328862" y="11430"/>
                  </a:lnTo>
                  <a:lnTo>
                    <a:pt x="2361248" y="0"/>
                  </a:lnTo>
                  <a:lnTo>
                    <a:pt x="2393632" y="11430"/>
                  </a:lnTo>
                  <a:lnTo>
                    <a:pt x="2420302" y="41910"/>
                  </a:lnTo>
                  <a:lnTo>
                    <a:pt x="2447925" y="94298"/>
                  </a:lnTo>
                  <a:lnTo>
                    <a:pt x="2480310" y="166688"/>
                  </a:lnTo>
                  <a:lnTo>
                    <a:pt x="2512695" y="251460"/>
                  </a:lnTo>
                  <a:lnTo>
                    <a:pt x="2539365" y="353377"/>
                  </a:lnTo>
                  <a:lnTo>
                    <a:pt x="2572702" y="466725"/>
                  </a:lnTo>
                  <a:lnTo>
                    <a:pt x="2599372" y="586740"/>
                  </a:lnTo>
                  <a:lnTo>
                    <a:pt x="2626042" y="711518"/>
                  </a:lnTo>
                  <a:lnTo>
                    <a:pt x="2658428" y="838200"/>
                  </a:lnTo>
                  <a:lnTo>
                    <a:pt x="2690812" y="962978"/>
                  </a:lnTo>
                  <a:lnTo>
                    <a:pt x="2718435" y="1085850"/>
                  </a:lnTo>
                  <a:lnTo>
                    <a:pt x="2745105" y="1199198"/>
                  </a:lnTo>
                  <a:lnTo>
                    <a:pt x="2777490" y="1303020"/>
                  </a:lnTo>
                  <a:lnTo>
                    <a:pt x="2805112" y="1397318"/>
                  </a:lnTo>
                  <a:lnTo>
                    <a:pt x="2837498" y="1478280"/>
                  </a:lnTo>
                  <a:lnTo>
                    <a:pt x="2869882" y="1547813"/>
                  </a:lnTo>
                  <a:lnTo>
                    <a:pt x="2896552" y="1603057"/>
                  </a:lnTo>
                  <a:lnTo>
                    <a:pt x="2924175" y="1644968"/>
                  </a:lnTo>
                  <a:lnTo>
                    <a:pt x="2956560" y="1677352"/>
                  </a:lnTo>
                  <a:lnTo>
                    <a:pt x="2988945" y="1695450"/>
                  </a:lnTo>
                  <a:lnTo>
                    <a:pt x="3015615" y="1706880"/>
                  </a:lnTo>
                  <a:lnTo>
                    <a:pt x="3043238" y="1709738"/>
                  </a:lnTo>
                  <a:lnTo>
                    <a:pt x="3075622" y="1704975"/>
                  </a:lnTo>
                  <a:lnTo>
                    <a:pt x="3108007" y="1697355"/>
                  </a:lnTo>
                  <a:lnTo>
                    <a:pt x="3134678" y="1685925"/>
                  </a:lnTo>
                  <a:lnTo>
                    <a:pt x="3167062" y="1672590"/>
                  </a:lnTo>
                  <a:lnTo>
                    <a:pt x="3194685" y="1661160"/>
                  </a:lnTo>
                  <a:lnTo>
                    <a:pt x="3221355" y="1648778"/>
                  </a:lnTo>
                  <a:lnTo>
                    <a:pt x="3253740" y="1640205"/>
                  </a:lnTo>
                  <a:lnTo>
                    <a:pt x="3286125" y="1632585"/>
                  </a:lnTo>
                  <a:lnTo>
                    <a:pt x="3313748" y="1628775"/>
                  </a:lnTo>
                  <a:lnTo>
                    <a:pt x="3340417" y="1628775"/>
                  </a:lnTo>
                  <a:lnTo>
                    <a:pt x="3372802" y="1630680"/>
                  </a:lnTo>
                  <a:lnTo>
                    <a:pt x="3400425" y="1635443"/>
                  </a:lnTo>
                  <a:lnTo>
                    <a:pt x="3432810" y="1642110"/>
                  </a:lnTo>
                  <a:lnTo>
                    <a:pt x="3465195" y="1651635"/>
                  </a:lnTo>
                  <a:lnTo>
                    <a:pt x="3491865" y="1661160"/>
                  </a:lnTo>
                  <a:lnTo>
                    <a:pt x="3524250" y="1672590"/>
                  </a:lnTo>
                  <a:lnTo>
                    <a:pt x="3551872" y="1681163"/>
                  </a:lnTo>
                  <a:lnTo>
                    <a:pt x="3578542" y="1690688"/>
                  </a:lnTo>
                  <a:lnTo>
                    <a:pt x="3610928" y="1697355"/>
                  </a:lnTo>
                  <a:lnTo>
                    <a:pt x="3637598" y="1702118"/>
                  </a:lnTo>
                  <a:lnTo>
                    <a:pt x="3670935" y="1706880"/>
                  </a:lnTo>
                  <a:lnTo>
                    <a:pt x="3703320" y="1709738"/>
                  </a:lnTo>
                  <a:lnTo>
                    <a:pt x="3729990" y="1709738"/>
                  </a:lnTo>
                  <a:lnTo>
                    <a:pt x="3762375" y="1706880"/>
                  </a:lnTo>
                  <a:lnTo>
                    <a:pt x="3789998" y="1704975"/>
                  </a:lnTo>
                  <a:lnTo>
                    <a:pt x="3822383" y="1702118"/>
                  </a:lnTo>
                  <a:lnTo>
                    <a:pt x="3849052" y="1697355"/>
                  </a:lnTo>
                  <a:lnTo>
                    <a:pt x="3875722" y="1693545"/>
                  </a:lnTo>
                  <a:lnTo>
                    <a:pt x="3908108" y="1690688"/>
                  </a:lnTo>
                  <a:lnTo>
                    <a:pt x="3935730" y="1685925"/>
                  </a:lnTo>
                  <a:lnTo>
                    <a:pt x="3968115" y="1684020"/>
                  </a:lnTo>
                  <a:lnTo>
                    <a:pt x="3994785" y="1681163"/>
                  </a:lnTo>
                  <a:lnTo>
                    <a:pt x="4027170" y="1681163"/>
                  </a:lnTo>
                  <a:lnTo>
                    <a:pt x="4060508" y="1681163"/>
                  </a:lnTo>
                  <a:lnTo>
                    <a:pt x="4087178" y="1684020"/>
                  </a:lnTo>
                  <a:lnTo>
                    <a:pt x="4119562" y="1684020"/>
                  </a:lnTo>
                  <a:lnTo>
                    <a:pt x="4146233" y="1688782"/>
                  </a:lnTo>
                  <a:lnTo>
                    <a:pt x="4173855" y="1690688"/>
                  </a:lnTo>
                  <a:lnTo>
                    <a:pt x="4206240" y="1695450"/>
                  </a:lnTo>
                  <a:lnTo>
                    <a:pt x="4232910" y="1697355"/>
                  </a:lnTo>
                  <a:lnTo>
                    <a:pt x="4265295" y="1702118"/>
                  </a:lnTo>
                  <a:lnTo>
                    <a:pt x="4297680" y="1704975"/>
                  </a:lnTo>
                  <a:lnTo>
                    <a:pt x="4325302" y="1706880"/>
                  </a:lnTo>
                  <a:lnTo>
                    <a:pt x="4357687" y="1709738"/>
                  </a:lnTo>
                  <a:lnTo>
                    <a:pt x="4384358" y="1709738"/>
                  </a:lnTo>
                  <a:lnTo>
                    <a:pt x="4416742" y="1709738"/>
                  </a:lnTo>
                  <a:lnTo>
                    <a:pt x="4444365" y="1709738"/>
                  </a:lnTo>
                  <a:lnTo>
                    <a:pt x="4471035" y="1706880"/>
                  </a:lnTo>
                  <a:lnTo>
                    <a:pt x="4503420" y="1704975"/>
                  </a:lnTo>
                  <a:lnTo>
                    <a:pt x="4531042" y="1704975"/>
                  </a:lnTo>
                  <a:lnTo>
                    <a:pt x="4563428" y="1702118"/>
                  </a:lnTo>
                  <a:lnTo>
                    <a:pt x="4590098" y="1700213"/>
                  </a:lnTo>
                  <a:lnTo>
                    <a:pt x="4622483" y="1697355"/>
                  </a:lnTo>
                  <a:lnTo>
                    <a:pt x="4654867" y="1695450"/>
                  </a:lnTo>
                  <a:lnTo>
                    <a:pt x="4682490" y="1695450"/>
                  </a:lnTo>
                  <a:lnTo>
                    <a:pt x="4714875" y="1695450"/>
                  </a:lnTo>
                  <a:lnTo>
                    <a:pt x="4722495" y="169545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6563678" y="348710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11324272" y="348710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6400800" y="350139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1356661" y="3449479"/>
              <a:ext cx="2800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sinφ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915419" y="359759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530772" y="3597592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λ/a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33474" y="3597592"/>
              <a:ext cx="2760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−λ/a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173729" y="3597592"/>
              <a:ext cx="2760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2λ/a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423880" y="3597592"/>
              <a:ext cx="3427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−2λ/a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766732" y="183499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中央明纹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990239" y="2905125"/>
              <a:ext cx="117264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次极大不到中央的 5%</a:t>
              </a:r>
            </a:p>
          </p:txBody>
        </p:sp>
      </p:grpSp>
      <p:grpSp>
        <p:nvGrpSpPr>
          <p:cNvPr id="50" name="c2-card-2"/>
          <p:cNvGrpSpPr/>
          <p:nvPr/>
        </p:nvGrpSpPr>
        <p:grpSpPr>
          <a:xfrm>
            <a:off x="6248400" y="4019550"/>
            <a:ext cx="5410200" cy="2234565"/>
            <a:chOff x="6248400" y="4019550"/>
            <a:chExt cx="5410200" cy="2234565"/>
          </a:xfrm>
        </p:grpSpPr>
        <p:sp>
          <p:nvSpPr>
            <p:cNvPr id="40" name="Rectangle 40"/>
            <p:cNvSpPr/>
            <p:nvPr/>
          </p:nvSpPr>
          <p:spPr>
            <a:xfrm>
              <a:off x="6248400" y="4019550"/>
              <a:ext cx="5410200" cy="2234565"/>
            </a:xfrm>
            <a:prstGeom prst="roundRect">
              <a:avLst>
                <a:gd name="adj" fmla="val 5968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452235" y="422338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34544" y="425910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光强特点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44996" y="4596289"/>
              <a:ext cx="424868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中央明纹最亮，其他明纹随着 φ 增大而显著减弱。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459855" y="4975860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616446" y="4916329"/>
              <a:ext cx="36178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缝越窄（a 越小），条纹越宽，衍射越明显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459855" y="5295900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616446" y="5236369"/>
              <a:ext cx="449592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λ 越大，条纹越宽；白光入射时中央为白色，两侧为内紫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外红的彩色条纹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459855" y="5887402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616446" y="5827871"/>
              <a:ext cx="39428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 ≫ λ 时各级条纹挤向中央，光近似沿直线传播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第2至8章 内容总结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5763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1275" y="407194"/>
              <a:ext cx="13996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内容总结 · 光的衍射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单缝条纹的位置与宽度：中央明纹是其他明纹的两倍宽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253"/>
              <p:cNvSpPr txBox="1">
                <a:spLocks noGrp="1"/>
              </p:cNvSpPr>
              <p:nvPr/>
            </p:nvSpPr>
            <p:spPr>
              <a:xfrm>
                <a:off x="533400" y="1524000"/>
                <a:ext cx="5193982" cy="8905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b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sepChr m:val=""/>
                          <m:endChr m:val=""/>
                          <m:grow m:val="on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eqArr>
                            <m:eqArrPr>
                              <m:baseJc m:val="center"/>
                            </m:eqArrPr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±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kλ</m:t>
                              </m:r>
                              <m:f>
                                <m:fPr>
                                  <m:type m:val="bar"/>
                                  <m:ctrl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f</m:t>
                                  </m:r>
                                </m:num>
                                <m:den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den>
                              </m:f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m:rPr>
                                  <m:nor m:val="on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暗</m:t>
                              </m:r>
                            </m:e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±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2k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+</m:t>
                                  </m:r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d>
                              <m:f>
                                <m:fPr>
                                  <m:type m:val="bar"/>
                                  <m:ctrl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fλ</m:t>
                                  </m:r>
                                </m:num>
                                <m:den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2a</m:t>
                                  </m:r>
                                </m:den>
                              </m:f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m:rPr>
                                  <m:nor m:val="on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明</m:t>
                              </m:r>
                            </m:e>
                          </m:eqArr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formula254"/>
              <p:cNvSpPr txBox="1">
                <a:spLocks noGrp="1"/>
              </p:cNvSpPr>
              <p:nvPr/>
            </p:nvSpPr>
            <p:spPr>
              <a:xfrm>
                <a:off x="533400" y="2579370"/>
                <a:ext cx="5193982" cy="4886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2f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λ</m:t>
                          </m:r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l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λ</m:t>
                          </m:r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19" name="c1-card-3"/>
          <p:cNvGrpSpPr/>
          <p:nvPr/>
        </p:nvGrpSpPr>
        <p:grpSpPr>
          <a:xfrm>
            <a:off x="533400" y="3232785"/>
            <a:ext cx="5193982" cy="2268855"/>
            <a:chOff x="533400" y="3232785"/>
            <a:chExt cx="5193982" cy="2268855"/>
          </a:xfrm>
        </p:grpSpPr>
        <p:sp>
          <p:nvSpPr>
            <p:cNvPr id="9" name="Rectangle 9"/>
            <p:cNvSpPr/>
            <p:nvPr/>
          </p:nvSpPr>
          <p:spPr>
            <a:xfrm>
              <a:off x="533400" y="3232785"/>
              <a:ext cx="5193982" cy="2268855"/>
            </a:xfrm>
            <a:prstGeom prst="roundRect">
              <a:avLst>
                <a:gd name="adj" fmla="val 587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3366135"/>
              <a:ext cx="47625" cy="200215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2475" y="341376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5147" y="344662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记号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5998" y="3754279"/>
              <a:ext cx="418261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f：透镜焦距（屏在焦平面上）；a：缝宽；小角度下 x ≈ f</a:t>
              </a:r>
              <a:br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sinφ ≈ fφ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7141" y="4277678"/>
              <a:ext cx="28588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中央明纹宽度是两侧第 1 级暗纹之间的距离。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2000" y="4580572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17448" y="4527709"/>
              <a:ext cx="35367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中央明纹的角宽度 2λ/a，其他明纹角宽度 λ/a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62000" y="486537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17448" y="4812506"/>
              <a:ext cx="24511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缝宽 a 减半，所有条纹宽度加倍</a:t>
              </a:r>
            </a:p>
          </p:txBody>
        </p:sp>
      </p:grpSp>
      <p:grpSp>
        <p:nvGrpSpPr>
          <p:cNvPr id="25" name="c2-card-1"/>
          <p:cNvGrpSpPr/>
          <p:nvPr/>
        </p:nvGrpSpPr>
        <p:grpSpPr>
          <a:xfrm>
            <a:off x="6032182" y="1524000"/>
            <a:ext cx="5626418" cy="1143952"/>
            <a:chOff x="6032182" y="1524000"/>
            <a:chExt cx="5626418" cy="1143952"/>
          </a:xfrm>
        </p:grpSpPr>
        <p:sp>
          <p:nvSpPr>
            <p:cNvPr id="20" name="Rectangle 20"/>
            <p:cNvSpPr/>
            <p:nvPr/>
          </p:nvSpPr>
          <p:spPr>
            <a:xfrm>
              <a:off x="6032182" y="1524000"/>
              <a:ext cx="5626418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041708" y="1657350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251258" y="1704975"/>
              <a:ext cx="47815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43230" y="1737836"/>
              <a:ext cx="2942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例12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244780" y="2045494"/>
              <a:ext cx="498729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缝宽 a = 0.5 mm，焦距 f = 1 m，λ = 500 nm。</a:t>
              </a: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各明纹宽度，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级明纹位置及半波带数。</a:t>
              </a:r>
            </a:p>
          </p:txBody>
        </p:sp>
      </p:grpSp>
      <p:grpSp>
        <p:nvGrpSpPr>
          <p:cNvPr id="39" name="c2-steps-2"/>
          <p:cNvGrpSpPr/>
          <p:nvPr/>
        </p:nvGrpSpPr>
        <p:grpSpPr>
          <a:xfrm>
            <a:off x="6032182" y="2842260"/>
            <a:ext cx="4099560" cy="1596961"/>
            <a:chOff x="6032182" y="2842260"/>
            <a:chExt cx="4099560" cy="1596961"/>
          </a:xfrm>
        </p:grpSpPr>
        <p:sp>
          <p:nvSpPr>
            <p:cNvPr id="26" name="Rectangle 26"/>
            <p:cNvSpPr/>
            <p:nvPr/>
          </p:nvSpPr>
          <p:spPr>
            <a:xfrm>
              <a:off x="6165532" y="2985135"/>
              <a:ext cx="19050" cy="1105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6032182" y="284226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125806" y="291607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032182" y="339566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125806" y="34694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032182" y="394811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125806" y="40219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44806" y="287321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中央明纹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45948" y="3128010"/>
              <a:ext cx="34525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l₀ = 2fλ/a = 2 × 1 × 500×10⁻⁹/(0.5×10⁻³) = 2.0 mm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44806" y="342566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其他明纹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45948" y="3680460"/>
              <a:ext cx="24489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 = fλ/a = 1.0 mm，正好是中央的一半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44806" y="3979069"/>
              <a:ext cx="9102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级明纹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45948" y="4233862"/>
              <a:ext cx="36857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3fλ/(2a) = 1.5 mm；a sinφ = 3λ/2，分成 3 个半波带</a:t>
              </a:r>
            </a:p>
          </p:txBody>
        </p:sp>
      </p:grpSp>
      <p:grpSp>
        <p:nvGrpSpPr>
          <p:cNvPr id="44" name="c2-card-3"/>
          <p:cNvGrpSpPr/>
          <p:nvPr/>
        </p:nvGrpSpPr>
        <p:grpSpPr>
          <a:xfrm>
            <a:off x="6032182" y="4600575"/>
            <a:ext cx="5626418" cy="901065"/>
            <a:chOff x="6032182" y="4600575"/>
            <a:chExt cx="5626418" cy="901065"/>
          </a:xfrm>
        </p:grpSpPr>
        <p:sp>
          <p:nvSpPr>
            <p:cNvPr id="40" name="Rectangle 40"/>
            <p:cNvSpPr/>
            <p:nvPr/>
          </p:nvSpPr>
          <p:spPr>
            <a:xfrm>
              <a:off x="6032182" y="4600575"/>
              <a:ext cx="5626418" cy="901065"/>
            </a:xfrm>
            <a:prstGeom prst="roundRect">
              <a:avLst>
                <a:gd name="adj" fmla="val 14799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213158" y="4781550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08928" y="4814411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206680" y="5122069"/>
              <a:ext cx="51478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l₀ = 2.0 mm，l = 1.0 mm；第 1 级明纹 x = 1.5 mm，3 个半波带。</a:t>
              </a:r>
            </a:p>
          </p:txBody>
        </p:sp>
      </p:grpSp>
      <p:grpSp>
        <p:nvGrpSpPr>
          <p:cNvPr id="51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5" name="Rectangle 45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041273" y="6039326"/>
              <a:ext cx="105757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易错：明纹位置 (2k+1)fλ/(2a) 是近似值（次极大实际略偏向中央），考试按此公式计算即可；k 从 1 开始，k = 0 那一项就是中央明纹。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第2至8章 内容总结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5763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1275" y="407194"/>
              <a:ext cx="13996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内容总结 · 光的衍射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光栅：主极大由光栅方程决定，单缝衍射造成缺级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419225"/>
            <a:chOff x="533400" y="1524000"/>
            <a:chExt cx="5410200" cy="14192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419225"/>
            </a:xfrm>
            <a:prstGeom prst="roundRect">
              <a:avLst>
                <a:gd name="adj" fmla="val 9396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37235" y="1727835"/>
              <a:ext cx="2409825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70193" y="1763554"/>
              <a:ext cx="23439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1. 垂直入射的主极大（明纹）条件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formula261"/>
                <p:cNvSpPr txBox="1">
                  <a:spLocks noGrp="1"/>
                </p:cNvSpPr>
                <p:nvPr/>
              </p:nvSpPr>
              <p:spPr>
                <a:xfrm>
                  <a:off x="737235" y="2077402"/>
                  <a:ext cx="5002530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</m:d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sin</m:t>
                            </m:r>
                          </m:fName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φ</m:t>
                            </m:r>
                          </m:e>
                        </m:func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kλ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,±</m:t>
                        </m:r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,±</m:t>
                        </m:r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,⋯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1" name="TextBox 11"/>
            <p:cNvSpPr txBox="1"/>
            <p:nvPr/>
          </p:nvSpPr>
          <p:spPr>
            <a:xfrm>
              <a:off x="731139" y="2551748"/>
              <a:ext cx="36307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 + b = d 为光栅常数（缝宽 + 缝间不透光部分）。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128010"/>
            <a:ext cx="5410200" cy="1419225"/>
            <a:chOff x="533400" y="3128010"/>
            <a:chExt cx="5410200" cy="1419225"/>
          </a:xfrm>
        </p:grpSpPr>
        <p:sp>
          <p:nvSpPr>
            <p:cNvPr id="13" name="Rectangle 13"/>
            <p:cNvSpPr/>
            <p:nvPr/>
          </p:nvSpPr>
          <p:spPr>
            <a:xfrm>
              <a:off x="533400" y="3128010"/>
              <a:ext cx="5410200" cy="1419225"/>
            </a:xfrm>
            <a:prstGeom prst="roundRect">
              <a:avLst>
                <a:gd name="adj" fmla="val 9396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37235" y="3331845"/>
              <a:ext cx="1645920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93069" y="3367564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2. 斜入射（入射角 i）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formula262"/>
                <p:cNvSpPr txBox="1">
                  <a:spLocks noGrp="1"/>
                </p:cNvSpPr>
                <p:nvPr/>
              </p:nvSpPr>
              <p:spPr>
                <a:xfrm>
                  <a:off x="737235" y="3681412"/>
                  <a:ext cx="5002530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func>
                              <m:funcPr/>
                              <m:fName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φ</m:t>
                                </m:r>
                              </m:e>
                            </m:func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±</m:t>
                            </m:r>
                            <m:func>
                              <m:funcPr/>
                              <m:fName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e>
                            </m:func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=±</m:t>
                        </m:r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kλ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7" name="TextBox 17"/>
            <p:cNvSpPr txBox="1"/>
            <p:nvPr/>
          </p:nvSpPr>
          <p:spPr>
            <a:xfrm>
              <a:off x="731139" y="4155757"/>
              <a:ext cx="35176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入射光与衍射光在光栅法线同侧取 +，异侧取 −。</a:t>
              </a:r>
            </a:p>
          </p:txBody>
        </p:sp>
      </p:grpSp>
      <p:grpSp>
        <p:nvGrpSpPr>
          <p:cNvPr id="27" name="c1-card-3"/>
          <p:cNvGrpSpPr/>
          <p:nvPr/>
        </p:nvGrpSpPr>
        <p:grpSpPr>
          <a:xfrm>
            <a:off x="533400" y="4732020"/>
            <a:ext cx="5410200" cy="1594485"/>
            <a:chOff x="533400" y="4732020"/>
            <a:chExt cx="5410200" cy="1594485"/>
          </a:xfrm>
        </p:grpSpPr>
        <p:sp>
          <p:nvSpPr>
            <p:cNvPr id="19" name="Rectangle 19"/>
            <p:cNvSpPr/>
            <p:nvPr/>
          </p:nvSpPr>
          <p:spPr>
            <a:xfrm>
              <a:off x="533400" y="4732020"/>
              <a:ext cx="5410200" cy="1594485"/>
            </a:xfrm>
            <a:prstGeom prst="roundRect">
              <a:avLst>
                <a:gd name="adj" fmla="val 83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42925" y="4865370"/>
              <a:ext cx="47625" cy="132778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75335" y="493585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65543" y="497157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注意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82955" y="5369242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39546" y="5309711"/>
              <a:ext cx="44780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最高级次：φ ≠ 90°，由 |sinφ| &lt; 1 求出 k 后向下取整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782955" y="5689282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39546" y="5629751"/>
              <a:ext cx="453199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计算屏上位置时注意角度大小：角度大时用 x = f tanφ，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不能用 f sinφ 近似</a:t>
              </a:r>
            </a:p>
          </p:txBody>
        </p:sp>
      </p:grpSp>
      <p:grpSp>
        <p:nvGrpSpPr>
          <p:cNvPr id="44" name="c2-graph-1"/>
          <p:cNvGrpSpPr/>
          <p:nvPr/>
        </p:nvGrpSpPr>
        <p:grpSpPr>
          <a:xfrm>
            <a:off x="6400800" y="1801178"/>
            <a:ext cx="5235889" cy="1972626"/>
            <a:chOff x="6400800" y="1801178"/>
            <a:chExt cx="5235889" cy="1972626"/>
          </a:xfrm>
        </p:grpSpPr>
        <p:sp>
          <p:nvSpPr>
            <p:cNvPr id="28" name="Freeform 28"/>
            <p:cNvSpPr/>
            <p:nvPr/>
          </p:nvSpPr>
          <p:spPr>
            <a:xfrm>
              <a:off x="6429375" y="3510915"/>
              <a:ext cx="4812030" cy="9525"/>
            </a:xfrm>
            <a:custGeom>
              <a:avLst/>
              <a:gdLst/>
              <a:ahLst/>
              <a:cxnLst/>
              <a:rect l="l" t="t" r="r" b="b"/>
              <a:pathLst>
                <a:path w="4812030" h="9525">
                  <a:moveTo>
                    <a:pt x="0" y="0"/>
                  </a:moveTo>
                  <a:lnTo>
                    <a:pt x="481203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11241405" y="346329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6583680" y="1801178"/>
              <a:ext cx="4739640" cy="1709738"/>
            </a:xfrm>
            <a:custGeom>
              <a:avLst/>
              <a:gdLst/>
              <a:ahLst/>
              <a:cxnLst/>
              <a:rect l="l" t="t" r="r" b="b"/>
              <a:pathLst>
                <a:path w="4739640" h="1709738">
                  <a:moveTo>
                    <a:pt x="8572" y="1709738"/>
                  </a:moveTo>
                  <a:lnTo>
                    <a:pt x="0" y="1709738"/>
                  </a:lnTo>
                  <a:lnTo>
                    <a:pt x="11430" y="1709738"/>
                  </a:lnTo>
                  <a:lnTo>
                    <a:pt x="21907" y="1709738"/>
                  </a:lnTo>
                  <a:lnTo>
                    <a:pt x="32385" y="1709738"/>
                  </a:lnTo>
                  <a:lnTo>
                    <a:pt x="43815" y="1709738"/>
                  </a:lnTo>
                  <a:lnTo>
                    <a:pt x="60007" y="1709738"/>
                  </a:lnTo>
                  <a:lnTo>
                    <a:pt x="70485" y="1709738"/>
                  </a:lnTo>
                  <a:lnTo>
                    <a:pt x="80962" y="1709738"/>
                  </a:lnTo>
                  <a:lnTo>
                    <a:pt x="92392" y="1709738"/>
                  </a:lnTo>
                  <a:lnTo>
                    <a:pt x="102870" y="1709738"/>
                  </a:lnTo>
                  <a:lnTo>
                    <a:pt x="113347" y="1709738"/>
                  </a:lnTo>
                  <a:lnTo>
                    <a:pt x="124777" y="1709738"/>
                  </a:lnTo>
                  <a:lnTo>
                    <a:pt x="135255" y="1706880"/>
                  </a:lnTo>
                  <a:lnTo>
                    <a:pt x="146685" y="1706880"/>
                  </a:lnTo>
                  <a:lnTo>
                    <a:pt x="157162" y="1706880"/>
                  </a:lnTo>
                  <a:lnTo>
                    <a:pt x="173355" y="1706880"/>
                  </a:lnTo>
                  <a:lnTo>
                    <a:pt x="183832" y="1706880"/>
                  </a:lnTo>
                  <a:lnTo>
                    <a:pt x="195262" y="1706880"/>
                  </a:lnTo>
                  <a:lnTo>
                    <a:pt x="205740" y="1709738"/>
                  </a:lnTo>
                  <a:lnTo>
                    <a:pt x="216217" y="1709738"/>
                  </a:lnTo>
                  <a:lnTo>
                    <a:pt x="227647" y="1709738"/>
                  </a:lnTo>
                  <a:lnTo>
                    <a:pt x="238125" y="1704975"/>
                  </a:lnTo>
                  <a:lnTo>
                    <a:pt x="248602" y="1700213"/>
                  </a:lnTo>
                  <a:lnTo>
                    <a:pt x="260032" y="1690688"/>
                  </a:lnTo>
                  <a:lnTo>
                    <a:pt x="270510" y="1679257"/>
                  </a:lnTo>
                  <a:lnTo>
                    <a:pt x="281940" y="1667828"/>
                  </a:lnTo>
                  <a:lnTo>
                    <a:pt x="298132" y="1653540"/>
                  </a:lnTo>
                  <a:lnTo>
                    <a:pt x="308610" y="1642110"/>
                  </a:lnTo>
                  <a:lnTo>
                    <a:pt x="319088" y="1635443"/>
                  </a:lnTo>
                  <a:lnTo>
                    <a:pt x="330517" y="1632585"/>
                  </a:lnTo>
                  <a:lnTo>
                    <a:pt x="340995" y="1632585"/>
                  </a:lnTo>
                  <a:lnTo>
                    <a:pt x="351472" y="1640205"/>
                  </a:lnTo>
                  <a:lnTo>
                    <a:pt x="362902" y="1651635"/>
                  </a:lnTo>
                  <a:lnTo>
                    <a:pt x="373380" y="1663065"/>
                  </a:lnTo>
                  <a:lnTo>
                    <a:pt x="383857" y="1677352"/>
                  </a:lnTo>
                  <a:lnTo>
                    <a:pt x="395288" y="1688782"/>
                  </a:lnTo>
                  <a:lnTo>
                    <a:pt x="411480" y="1697355"/>
                  </a:lnTo>
                  <a:lnTo>
                    <a:pt x="421957" y="1704975"/>
                  </a:lnTo>
                  <a:lnTo>
                    <a:pt x="433388" y="1709738"/>
                  </a:lnTo>
                  <a:lnTo>
                    <a:pt x="443865" y="1709738"/>
                  </a:lnTo>
                  <a:lnTo>
                    <a:pt x="454342" y="1709738"/>
                  </a:lnTo>
                  <a:lnTo>
                    <a:pt x="465772" y="1706880"/>
                  </a:lnTo>
                  <a:lnTo>
                    <a:pt x="476250" y="1704975"/>
                  </a:lnTo>
                  <a:lnTo>
                    <a:pt x="486727" y="1704975"/>
                  </a:lnTo>
                  <a:lnTo>
                    <a:pt x="498157" y="1704975"/>
                  </a:lnTo>
                  <a:lnTo>
                    <a:pt x="508635" y="1704975"/>
                  </a:lnTo>
                  <a:lnTo>
                    <a:pt x="519112" y="1706880"/>
                  </a:lnTo>
                  <a:lnTo>
                    <a:pt x="535305" y="1709738"/>
                  </a:lnTo>
                  <a:lnTo>
                    <a:pt x="546735" y="1709738"/>
                  </a:lnTo>
                  <a:lnTo>
                    <a:pt x="557212" y="1709738"/>
                  </a:lnTo>
                  <a:lnTo>
                    <a:pt x="568642" y="1709738"/>
                  </a:lnTo>
                  <a:lnTo>
                    <a:pt x="579120" y="1709738"/>
                  </a:lnTo>
                  <a:lnTo>
                    <a:pt x="589597" y="1706880"/>
                  </a:lnTo>
                  <a:lnTo>
                    <a:pt x="601027" y="1706880"/>
                  </a:lnTo>
                  <a:lnTo>
                    <a:pt x="611505" y="1706880"/>
                  </a:lnTo>
                  <a:lnTo>
                    <a:pt x="621982" y="1706880"/>
                  </a:lnTo>
                  <a:lnTo>
                    <a:pt x="633412" y="1709738"/>
                  </a:lnTo>
                  <a:lnTo>
                    <a:pt x="649605" y="1709738"/>
                  </a:lnTo>
                  <a:lnTo>
                    <a:pt x="660082" y="1709738"/>
                  </a:lnTo>
                  <a:lnTo>
                    <a:pt x="670560" y="1709738"/>
                  </a:lnTo>
                  <a:lnTo>
                    <a:pt x="681990" y="1709738"/>
                  </a:lnTo>
                  <a:lnTo>
                    <a:pt x="692467" y="1709738"/>
                  </a:lnTo>
                  <a:lnTo>
                    <a:pt x="703897" y="1709738"/>
                  </a:lnTo>
                  <a:lnTo>
                    <a:pt x="714375" y="1706880"/>
                  </a:lnTo>
                  <a:lnTo>
                    <a:pt x="724852" y="1706880"/>
                  </a:lnTo>
                  <a:lnTo>
                    <a:pt x="736282" y="1709738"/>
                  </a:lnTo>
                  <a:lnTo>
                    <a:pt x="746760" y="1709738"/>
                  </a:lnTo>
                  <a:lnTo>
                    <a:pt x="757238" y="1709738"/>
                  </a:lnTo>
                  <a:lnTo>
                    <a:pt x="773430" y="1709738"/>
                  </a:lnTo>
                  <a:lnTo>
                    <a:pt x="784860" y="1709738"/>
                  </a:lnTo>
                  <a:lnTo>
                    <a:pt x="795338" y="1709738"/>
                  </a:lnTo>
                  <a:lnTo>
                    <a:pt x="805815" y="1709738"/>
                  </a:lnTo>
                  <a:lnTo>
                    <a:pt x="817245" y="1709738"/>
                  </a:lnTo>
                  <a:lnTo>
                    <a:pt x="827722" y="1709738"/>
                  </a:lnTo>
                  <a:lnTo>
                    <a:pt x="839152" y="1709738"/>
                  </a:lnTo>
                  <a:lnTo>
                    <a:pt x="849630" y="1709738"/>
                  </a:lnTo>
                  <a:lnTo>
                    <a:pt x="860107" y="1709738"/>
                  </a:lnTo>
                  <a:lnTo>
                    <a:pt x="871538" y="1709738"/>
                  </a:lnTo>
                  <a:lnTo>
                    <a:pt x="887730" y="1709738"/>
                  </a:lnTo>
                  <a:lnTo>
                    <a:pt x="898207" y="1709738"/>
                  </a:lnTo>
                  <a:lnTo>
                    <a:pt x="908685" y="1709738"/>
                  </a:lnTo>
                  <a:lnTo>
                    <a:pt x="920115" y="1709738"/>
                  </a:lnTo>
                  <a:lnTo>
                    <a:pt x="930592" y="1709738"/>
                  </a:lnTo>
                  <a:lnTo>
                    <a:pt x="941070" y="1709738"/>
                  </a:lnTo>
                  <a:lnTo>
                    <a:pt x="952500" y="1709738"/>
                  </a:lnTo>
                  <a:lnTo>
                    <a:pt x="962977" y="1709738"/>
                  </a:lnTo>
                  <a:lnTo>
                    <a:pt x="974407" y="1709738"/>
                  </a:lnTo>
                  <a:lnTo>
                    <a:pt x="984885" y="1709738"/>
                  </a:lnTo>
                  <a:lnTo>
                    <a:pt x="995362" y="1709738"/>
                  </a:lnTo>
                  <a:lnTo>
                    <a:pt x="1011555" y="1709738"/>
                  </a:lnTo>
                  <a:lnTo>
                    <a:pt x="1022985" y="1709738"/>
                  </a:lnTo>
                  <a:lnTo>
                    <a:pt x="1033462" y="1709738"/>
                  </a:lnTo>
                  <a:lnTo>
                    <a:pt x="1043940" y="1709738"/>
                  </a:lnTo>
                  <a:lnTo>
                    <a:pt x="1055370" y="1706880"/>
                  </a:lnTo>
                  <a:lnTo>
                    <a:pt x="1065847" y="1706880"/>
                  </a:lnTo>
                  <a:lnTo>
                    <a:pt x="1076325" y="1706880"/>
                  </a:lnTo>
                  <a:lnTo>
                    <a:pt x="1087755" y="1709738"/>
                  </a:lnTo>
                  <a:lnTo>
                    <a:pt x="1098232" y="1709738"/>
                  </a:lnTo>
                  <a:lnTo>
                    <a:pt x="1109662" y="1709738"/>
                  </a:lnTo>
                  <a:lnTo>
                    <a:pt x="1125855" y="1709738"/>
                  </a:lnTo>
                  <a:lnTo>
                    <a:pt x="1136332" y="1709738"/>
                  </a:lnTo>
                  <a:lnTo>
                    <a:pt x="1146810" y="1709738"/>
                  </a:lnTo>
                  <a:lnTo>
                    <a:pt x="1158240" y="1709738"/>
                  </a:lnTo>
                  <a:lnTo>
                    <a:pt x="1168717" y="1706880"/>
                  </a:lnTo>
                  <a:lnTo>
                    <a:pt x="1179195" y="1706880"/>
                  </a:lnTo>
                  <a:lnTo>
                    <a:pt x="1190625" y="1706880"/>
                  </a:lnTo>
                  <a:lnTo>
                    <a:pt x="1201102" y="1706880"/>
                  </a:lnTo>
                  <a:lnTo>
                    <a:pt x="1211580" y="1709738"/>
                  </a:lnTo>
                  <a:lnTo>
                    <a:pt x="1223010" y="1709738"/>
                  </a:lnTo>
                  <a:lnTo>
                    <a:pt x="1233488" y="1709738"/>
                  </a:lnTo>
                  <a:lnTo>
                    <a:pt x="1249680" y="1709738"/>
                  </a:lnTo>
                  <a:lnTo>
                    <a:pt x="1261110" y="1709738"/>
                  </a:lnTo>
                  <a:lnTo>
                    <a:pt x="1271588" y="1706880"/>
                  </a:lnTo>
                  <a:lnTo>
                    <a:pt x="1282065" y="1706880"/>
                  </a:lnTo>
                  <a:lnTo>
                    <a:pt x="1293495" y="1706880"/>
                  </a:lnTo>
                  <a:lnTo>
                    <a:pt x="1303972" y="1706880"/>
                  </a:lnTo>
                  <a:lnTo>
                    <a:pt x="1314450" y="1706880"/>
                  </a:lnTo>
                  <a:lnTo>
                    <a:pt x="1325880" y="1706880"/>
                  </a:lnTo>
                  <a:lnTo>
                    <a:pt x="1336357" y="1709738"/>
                  </a:lnTo>
                  <a:lnTo>
                    <a:pt x="1346835" y="1709738"/>
                  </a:lnTo>
                  <a:lnTo>
                    <a:pt x="1363980" y="1709738"/>
                  </a:lnTo>
                  <a:lnTo>
                    <a:pt x="1374457" y="1706880"/>
                  </a:lnTo>
                  <a:lnTo>
                    <a:pt x="1384935" y="1704975"/>
                  </a:lnTo>
                  <a:lnTo>
                    <a:pt x="1396365" y="1704975"/>
                  </a:lnTo>
                  <a:lnTo>
                    <a:pt x="1406842" y="1702118"/>
                  </a:lnTo>
                  <a:lnTo>
                    <a:pt x="1417320" y="1702118"/>
                  </a:lnTo>
                  <a:lnTo>
                    <a:pt x="1428750" y="1704975"/>
                  </a:lnTo>
                  <a:lnTo>
                    <a:pt x="1439227" y="1706880"/>
                  </a:lnTo>
                  <a:lnTo>
                    <a:pt x="1449705" y="1709738"/>
                  </a:lnTo>
                  <a:lnTo>
                    <a:pt x="1461135" y="1709738"/>
                  </a:lnTo>
                  <a:lnTo>
                    <a:pt x="1471612" y="1706880"/>
                  </a:lnTo>
                  <a:lnTo>
                    <a:pt x="1487805" y="1704975"/>
                  </a:lnTo>
                  <a:lnTo>
                    <a:pt x="1499235" y="1700213"/>
                  </a:lnTo>
                  <a:lnTo>
                    <a:pt x="1509712" y="1693545"/>
                  </a:lnTo>
                  <a:lnTo>
                    <a:pt x="1520190" y="1688782"/>
                  </a:lnTo>
                  <a:lnTo>
                    <a:pt x="1531620" y="1685925"/>
                  </a:lnTo>
                  <a:lnTo>
                    <a:pt x="1542097" y="1690688"/>
                  </a:lnTo>
                  <a:lnTo>
                    <a:pt x="1552575" y="1697355"/>
                  </a:lnTo>
                  <a:lnTo>
                    <a:pt x="1564005" y="1704975"/>
                  </a:lnTo>
                  <a:lnTo>
                    <a:pt x="1574482" y="1709738"/>
                  </a:lnTo>
                  <a:lnTo>
                    <a:pt x="1584960" y="1702118"/>
                  </a:lnTo>
                  <a:lnTo>
                    <a:pt x="1601152" y="1679257"/>
                  </a:lnTo>
                  <a:lnTo>
                    <a:pt x="1612582" y="1632585"/>
                  </a:lnTo>
                  <a:lnTo>
                    <a:pt x="1623060" y="1561148"/>
                  </a:lnTo>
                  <a:lnTo>
                    <a:pt x="1634490" y="1468755"/>
                  </a:lnTo>
                  <a:lnTo>
                    <a:pt x="1644967" y="1358265"/>
                  </a:lnTo>
                  <a:lnTo>
                    <a:pt x="1655445" y="1244918"/>
                  </a:lnTo>
                  <a:lnTo>
                    <a:pt x="1666875" y="1141095"/>
                  </a:lnTo>
                  <a:lnTo>
                    <a:pt x="1677352" y="1060132"/>
                  </a:lnTo>
                  <a:lnTo>
                    <a:pt x="1687830" y="1016318"/>
                  </a:lnTo>
                  <a:lnTo>
                    <a:pt x="1699260" y="1016318"/>
                  </a:lnTo>
                  <a:lnTo>
                    <a:pt x="1709738" y="1060132"/>
                  </a:lnTo>
                  <a:lnTo>
                    <a:pt x="1725930" y="1143000"/>
                  </a:lnTo>
                  <a:lnTo>
                    <a:pt x="1736407" y="1251585"/>
                  </a:lnTo>
                  <a:lnTo>
                    <a:pt x="1747838" y="1374457"/>
                  </a:lnTo>
                  <a:lnTo>
                    <a:pt x="1758315" y="1489710"/>
                  </a:lnTo>
                  <a:lnTo>
                    <a:pt x="1769745" y="1586865"/>
                  </a:lnTo>
                  <a:lnTo>
                    <a:pt x="1780222" y="1658302"/>
                  </a:lnTo>
                  <a:lnTo>
                    <a:pt x="1790700" y="1697355"/>
                  </a:lnTo>
                  <a:lnTo>
                    <a:pt x="1802130" y="1709738"/>
                  </a:lnTo>
                  <a:lnTo>
                    <a:pt x="1812607" y="1700213"/>
                  </a:lnTo>
                  <a:lnTo>
                    <a:pt x="1823085" y="1681163"/>
                  </a:lnTo>
                  <a:lnTo>
                    <a:pt x="1839277" y="1663065"/>
                  </a:lnTo>
                  <a:lnTo>
                    <a:pt x="1850707" y="1651635"/>
                  </a:lnTo>
                  <a:lnTo>
                    <a:pt x="1861185" y="1651635"/>
                  </a:lnTo>
                  <a:lnTo>
                    <a:pt x="1871662" y="1661160"/>
                  </a:lnTo>
                  <a:lnTo>
                    <a:pt x="1883092" y="1677352"/>
                  </a:lnTo>
                  <a:lnTo>
                    <a:pt x="1893570" y="1693545"/>
                  </a:lnTo>
                  <a:lnTo>
                    <a:pt x="1905000" y="1704975"/>
                  </a:lnTo>
                  <a:lnTo>
                    <a:pt x="1915477" y="1709738"/>
                  </a:lnTo>
                  <a:lnTo>
                    <a:pt x="1925955" y="1704975"/>
                  </a:lnTo>
                  <a:lnTo>
                    <a:pt x="1937385" y="1695450"/>
                  </a:lnTo>
                  <a:lnTo>
                    <a:pt x="1947862" y="1684020"/>
                  </a:lnTo>
                  <a:lnTo>
                    <a:pt x="1964055" y="1674495"/>
                  </a:lnTo>
                  <a:lnTo>
                    <a:pt x="1974532" y="1669732"/>
                  </a:lnTo>
                  <a:lnTo>
                    <a:pt x="1985962" y="1674495"/>
                  </a:lnTo>
                  <a:lnTo>
                    <a:pt x="1996440" y="1684020"/>
                  </a:lnTo>
                  <a:lnTo>
                    <a:pt x="2006917" y="1695450"/>
                  </a:lnTo>
                  <a:lnTo>
                    <a:pt x="2018347" y="1704975"/>
                  </a:lnTo>
                  <a:lnTo>
                    <a:pt x="2028825" y="1709738"/>
                  </a:lnTo>
                  <a:lnTo>
                    <a:pt x="2040255" y="1704975"/>
                  </a:lnTo>
                  <a:lnTo>
                    <a:pt x="2050732" y="1695450"/>
                  </a:lnTo>
                  <a:lnTo>
                    <a:pt x="2061210" y="1681163"/>
                  </a:lnTo>
                  <a:lnTo>
                    <a:pt x="2077402" y="1669732"/>
                  </a:lnTo>
                  <a:lnTo>
                    <a:pt x="2088832" y="1664970"/>
                  </a:lnTo>
                  <a:lnTo>
                    <a:pt x="2099310" y="1667828"/>
                  </a:lnTo>
                  <a:lnTo>
                    <a:pt x="2109788" y="1677352"/>
                  </a:lnTo>
                  <a:lnTo>
                    <a:pt x="2121217" y="1690688"/>
                  </a:lnTo>
                  <a:lnTo>
                    <a:pt x="2131695" y="1704975"/>
                  </a:lnTo>
                  <a:lnTo>
                    <a:pt x="2142172" y="1709738"/>
                  </a:lnTo>
                  <a:lnTo>
                    <a:pt x="2153602" y="1702118"/>
                  </a:lnTo>
                  <a:lnTo>
                    <a:pt x="2164080" y="1685925"/>
                  </a:lnTo>
                  <a:lnTo>
                    <a:pt x="2175510" y="1661160"/>
                  </a:lnTo>
                  <a:lnTo>
                    <a:pt x="2185988" y="1635443"/>
                  </a:lnTo>
                  <a:lnTo>
                    <a:pt x="2202180" y="1619250"/>
                  </a:lnTo>
                  <a:lnTo>
                    <a:pt x="2212657" y="1617345"/>
                  </a:lnTo>
                  <a:lnTo>
                    <a:pt x="2224088" y="1632585"/>
                  </a:lnTo>
                  <a:lnTo>
                    <a:pt x="2234565" y="1663065"/>
                  </a:lnTo>
                  <a:lnTo>
                    <a:pt x="2245042" y="1695450"/>
                  </a:lnTo>
                  <a:lnTo>
                    <a:pt x="2256472" y="1709738"/>
                  </a:lnTo>
                  <a:lnTo>
                    <a:pt x="2266950" y="1688782"/>
                  </a:lnTo>
                  <a:lnTo>
                    <a:pt x="2277427" y="1612582"/>
                  </a:lnTo>
                  <a:lnTo>
                    <a:pt x="2288857" y="1468755"/>
                  </a:lnTo>
                  <a:lnTo>
                    <a:pt x="2299335" y="1263015"/>
                  </a:lnTo>
                  <a:lnTo>
                    <a:pt x="2315527" y="1004888"/>
                  </a:lnTo>
                  <a:lnTo>
                    <a:pt x="2326957" y="718185"/>
                  </a:lnTo>
                  <a:lnTo>
                    <a:pt x="2337435" y="441008"/>
                  </a:lnTo>
                  <a:lnTo>
                    <a:pt x="2347912" y="210502"/>
                  </a:lnTo>
                  <a:lnTo>
                    <a:pt x="2359342" y="55245"/>
                  </a:lnTo>
                  <a:lnTo>
                    <a:pt x="2369820" y="0"/>
                  </a:lnTo>
                  <a:lnTo>
                    <a:pt x="2380298" y="55245"/>
                  </a:lnTo>
                  <a:lnTo>
                    <a:pt x="2391727" y="210502"/>
                  </a:lnTo>
                  <a:lnTo>
                    <a:pt x="2402205" y="441008"/>
                  </a:lnTo>
                  <a:lnTo>
                    <a:pt x="2412682" y="718185"/>
                  </a:lnTo>
                  <a:lnTo>
                    <a:pt x="2424112" y="1004888"/>
                  </a:lnTo>
                  <a:lnTo>
                    <a:pt x="2440305" y="1263015"/>
                  </a:lnTo>
                  <a:lnTo>
                    <a:pt x="2450782" y="1468755"/>
                  </a:lnTo>
                  <a:lnTo>
                    <a:pt x="2462212" y="1612582"/>
                  </a:lnTo>
                  <a:lnTo>
                    <a:pt x="2472690" y="1688782"/>
                  </a:lnTo>
                  <a:lnTo>
                    <a:pt x="2483167" y="1709738"/>
                  </a:lnTo>
                  <a:lnTo>
                    <a:pt x="2494598" y="1695450"/>
                  </a:lnTo>
                  <a:lnTo>
                    <a:pt x="2505075" y="1663065"/>
                  </a:lnTo>
                  <a:lnTo>
                    <a:pt x="2515552" y="1632585"/>
                  </a:lnTo>
                  <a:lnTo>
                    <a:pt x="2526982" y="1617345"/>
                  </a:lnTo>
                  <a:lnTo>
                    <a:pt x="2537460" y="1619250"/>
                  </a:lnTo>
                  <a:lnTo>
                    <a:pt x="2553652" y="1635443"/>
                  </a:lnTo>
                  <a:lnTo>
                    <a:pt x="2564130" y="1661160"/>
                  </a:lnTo>
                  <a:lnTo>
                    <a:pt x="2575560" y="1685925"/>
                  </a:lnTo>
                  <a:lnTo>
                    <a:pt x="2586038" y="1702118"/>
                  </a:lnTo>
                  <a:lnTo>
                    <a:pt x="2597467" y="1709738"/>
                  </a:lnTo>
                  <a:lnTo>
                    <a:pt x="2607945" y="1704975"/>
                  </a:lnTo>
                  <a:lnTo>
                    <a:pt x="2618422" y="1690688"/>
                  </a:lnTo>
                  <a:lnTo>
                    <a:pt x="2629852" y="1677352"/>
                  </a:lnTo>
                  <a:lnTo>
                    <a:pt x="2640330" y="1667828"/>
                  </a:lnTo>
                  <a:lnTo>
                    <a:pt x="2650807" y="1664970"/>
                  </a:lnTo>
                  <a:lnTo>
                    <a:pt x="2662238" y="1669732"/>
                  </a:lnTo>
                  <a:lnTo>
                    <a:pt x="2678430" y="1681163"/>
                  </a:lnTo>
                  <a:lnTo>
                    <a:pt x="2688907" y="1695450"/>
                  </a:lnTo>
                  <a:lnTo>
                    <a:pt x="2699385" y="1704975"/>
                  </a:lnTo>
                  <a:lnTo>
                    <a:pt x="2710815" y="1709738"/>
                  </a:lnTo>
                  <a:lnTo>
                    <a:pt x="2721292" y="1704975"/>
                  </a:lnTo>
                  <a:lnTo>
                    <a:pt x="2732722" y="1695450"/>
                  </a:lnTo>
                  <a:lnTo>
                    <a:pt x="2743200" y="1684020"/>
                  </a:lnTo>
                  <a:lnTo>
                    <a:pt x="2753677" y="1674495"/>
                  </a:lnTo>
                  <a:lnTo>
                    <a:pt x="2765107" y="1669732"/>
                  </a:lnTo>
                  <a:lnTo>
                    <a:pt x="2775585" y="1674495"/>
                  </a:lnTo>
                  <a:lnTo>
                    <a:pt x="2791777" y="1684020"/>
                  </a:lnTo>
                  <a:lnTo>
                    <a:pt x="2802255" y="1695450"/>
                  </a:lnTo>
                  <a:lnTo>
                    <a:pt x="2813685" y="1704975"/>
                  </a:lnTo>
                  <a:lnTo>
                    <a:pt x="2824162" y="1709738"/>
                  </a:lnTo>
                  <a:lnTo>
                    <a:pt x="2834640" y="1704975"/>
                  </a:lnTo>
                  <a:lnTo>
                    <a:pt x="2846070" y="1693545"/>
                  </a:lnTo>
                  <a:lnTo>
                    <a:pt x="2856548" y="1677352"/>
                  </a:lnTo>
                  <a:lnTo>
                    <a:pt x="2867977" y="1661160"/>
                  </a:lnTo>
                  <a:lnTo>
                    <a:pt x="2878455" y="1651635"/>
                  </a:lnTo>
                  <a:lnTo>
                    <a:pt x="2888932" y="1651635"/>
                  </a:lnTo>
                  <a:lnTo>
                    <a:pt x="2900362" y="1663065"/>
                  </a:lnTo>
                  <a:lnTo>
                    <a:pt x="2916555" y="1681163"/>
                  </a:lnTo>
                  <a:lnTo>
                    <a:pt x="2927032" y="1700213"/>
                  </a:lnTo>
                  <a:lnTo>
                    <a:pt x="2937510" y="1709738"/>
                  </a:lnTo>
                  <a:lnTo>
                    <a:pt x="2948940" y="1697355"/>
                  </a:lnTo>
                  <a:lnTo>
                    <a:pt x="2959417" y="1658302"/>
                  </a:lnTo>
                  <a:lnTo>
                    <a:pt x="2969895" y="1586865"/>
                  </a:lnTo>
                  <a:lnTo>
                    <a:pt x="2981325" y="1489710"/>
                  </a:lnTo>
                  <a:lnTo>
                    <a:pt x="2991802" y="1374457"/>
                  </a:lnTo>
                  <a:lnTo>
                    <a:pt x="3003232" y="1251585"/>
                  </a:lnTo>
                  <a:lnTo>
                    <a:pt x="3013710" y="1143000"/>
                  </a:lnTo>
                  <a:lnTo>
                    <a:pt x="3029902" y="1060132"/>
                  </a:lnTo>
                  <a:lnTo>
                    <a:pt x="3040380" y="1016318"/>
                  </a:lnTo>
                  <a:lnTo>
                    <a:pt x="3051810" y="1016318"/>
                  </a:lnTo>
                  <a:lnTo>
                    <a:pt x="3062288" y="1060132"/>
                  </a:lnTo>
                  <a:lnTo>
                    <a:pt x="3072765" y="1141095"/>
                  </a:lnTo>
                  <a:lnTo>
                    <a:pt x="3084195" y="1244918"/>
                  </a:lnTo>
                  <a:lnTo>
                    <a:pt x="3094672" y="1358265"/>
                  </a:lnTo>
                  <a:lnTo>
                    <a:pt x="3105150" y="1468755"/>
                  </a:lnTo>
                  <a:lnTo>
                    <a:pt x="3116580" y="1561148"/>
                  </a:lnTo>
                  <a:lnTo>
                    <a:pt x="3127057" y="1632585"/>
                  </a:lnTo>
                  <a:lnTo>
                    <a:pt x="3138488" y="1679257"/>
                  </a:lnTo>
                  <a:lnTo>
                    <a:pt x="3154680" y="1702118"/>
                  </a:lnTo>
                  <a:lnTo>
                    <a:pt x="3165157" y="1709738"/>
                  </a:lnTo>
                  <a:lnTo>
                    <a:pt x="3175635" y="1704975"/>
                  </a:lnTo>
                  <a:lnTo>
                    <a:pt x="3187065" y="1697355"/>
                  </a:lnTo>
                  <a:lnTo>
                    <a:pt x="3197543" y="1690688"/>
                  </a:lnTo>
                  <a:lnTo>
                    <a:pt x="3208020" y="1685925"/>
                  </a:lnTo>
                  <a:lnTo>
                    <a:pt x="3219450" y="1688782"/>
                  </a:lnTo>
                  <a:lnTo>
                    <a:pt x="3229927" y="1693545"/>
                  </a:lnTo>
                  <a:lnTo>
                    <a:pt x="3240405" y="1700213"/>
                  </a:lnTo>
                  <a:lnTo>
                    <a:pt x="3251835" y="1704975"/>
                  </a:lnTo>
                  <a:lnTo>
                    <a:pt x="3268027" y="1706880"/>
                  </a:lnTo>
                  <a:lnTo>
                    <a:pt x="3278505" y="1709738"/>
                  </a:lnTo>
                  <a:lnTo>
                    <a:pt x="3289935" y="1709738"/>
                  </a:lnTo>
                  <a:lnTo>
                    <a:pt x="3300412" y="1706880"/>
                  </a:lnTo>
                  <a:lnTo>
                    <a:pt x="3310890" y="1704975"/>
                  </a:lnTo>
                  <a:lnTo>
                    <a:pt x="3322320" y="1702118"/>
                  </a:lnTo>
                  <a:lnTo>
                    <a:pt x="3332797" y="1702118"/>
                  </a:lnTo>
                  <a:lnTo>
                    <a:pt x="3343275" y="1704975"/>
                  </a:lnTo>
                  <a:lnTo>
                    <a:pt x="3354705" y="1704975"/>
                  </a:lnTo>
                  <a:lnTo>
                    <a:pt x="3365182" y="1706880"/>
                  </a:lnTo>
                  <a:lnTo>
                    <a:pt x="3375660" y="1709738"/>
                  </a:lnTo>
                  <a:lnTo>
                    <a:pt x="3392805" y="1709738"/>
                  </a:lnTo>
                  <a:lnTo>
                    <a:pt x="3403282" y="1709738"/>
                  </a:lnTo>
                  <a:lnTo>
                    <a:pt x="3413760" y="1706880"/>
                  </a:lnTo>
                  <a:lnTo>
                    <a:pt x="3425190" y="1706880"/>
                  </a:lnTo>
                  <a:lnTo>
                    <a:pt x="3435668" y="1706880"/>
                  </a:lnTo>
                  <a:lnTo>
                    <a:pt x="3446145" y="1706880"/>
                  </a:lnTo>
                  <a:lnTo>
                    <a:pt x="3457575" y="1706880"/>
                  </a:lnTo>
                  <a:lnTo>
                    <a:pt x="3468052" y="1706880"/>
                  </a:lnTo>
                  <a:lnTo>
                    <a:pt x="3478530" y="1709738"/>
                  </a:lnTo>
                  <a:lnTo>
                    <a:pt x="3489960" y="1709738"/>
                  </a:lnTo>
                  <a:lnTo>
                    <a:pt x="3506152" y="1709738"/>
                  </a:lnTo>
                  <a:lnTo>
                    <a:pt x="3516630" y="1709738"/>
                  </a:lnTo>
                  <a:lnTo>
                    <a:pt x="3528060" y="1709738"/>
                  </a:lnTo>
                  <a:lnTo>
                    <a:pt x="3538538" y="1706880"/>
                  </a:lnTo>
                  <a:lnTo>
                    <a:pt x="3549015" y="1706880"/>
                  </a:lnTo>
                  <a:lnTo>
                    <a:pt x="3560445" y="1706880"/>
                  </a:lnTo>
                  <a:lnTo>
                    <a:pt x="3570922" y="1706880"/>
                  </a:lnTo>
                  <a:lnTo>
                    <a:pt x="3581400" y="1709738"/>
                  </a:lnTo>
                  <a:lnTo>
                    <a:pt x="3592830" y="1709738"/>
                  </a:lnTo>
                  <a:lnTo>
                    <a:pt x="3603307" y="1709738"/>
                  </a:lnTo>
                  <a:lnTo>
                    <a:pt x="3613785" y="1709738"/>
                  </a:lnTo>
                  <a:lnTo>
                    <a:pt x="3629977" y="1709738"/>
                  </a:lnTo>
                  <a:lnTo>
                    <a:pt x="3641407" y="1709738"/>
                  </a:lnTo>
                  <a:lnTo>
                    <a:pt x="3651885" y="1709738"/>
                  </a:lnTo>
                  <a:lnTo>
                    <a:pt x="3663315" y="1706880"/>
                  </a:lnTo>
                  <a:lnTo>
                    <a:pt x="3673793" y="1706880"/>
                  </a:lnTo>
                  <a:lnTo>
                    <a:pt x="3684270" y="1706880"/>
                  </a:lnTo>
                  <a:lnTo>
                    <a:pt x="3695700" y="1709738"/>
                  </a:lnTo>
                  <a:lnTo>
                    <a:pt x="3706177" y="1709738"/>
                  </a:lnTo>
                  <a:lnTo>
                    <a:pt x="3716655" y="1709738"/>
                  </a:lnTo>
                  <a:lnTo>
                    <a:pt x="3728085" y="1709738"/>
                  </a:lnTo>
                  <a:lnTo>
                    <a:pt x="3744277" y="1709738"/>
                  </a:lnTo>
                  <a:lnTo>
                    <a:pt x="3754755" y="1709738"/>
                  </a:lnTo>
                  <a:lnTo>
                    <a:pt x="3765232" y="1709738"/>
                  </a:lnTo>
                  <a:lnTo>
                    <a:pt x="3776662" y="1709738"/>
                  </a:lnTo>
                  <a:lnTo>
                    <a:pt x="3787140" y="1709738"/>
                  </a:lnTo>
                  <a:lnTo>
                    <a:pt x="3798570" y="1709738"/>
                  </a:lnTo>
                  <a:lnTo>
                    <a:pt x="3809047" y="1709738"/>
                  </a:lnTo>
                  <a:lnTo>
                    <a:pt x="3819525" y="1709738"/>
                  </a:lnTo>
                  <a:lnTo>
                    <a:pt x="3830955" y="1709738"/>
                  </a:lnTo>
                  <a:lnTo>
                    <a:pt x="3841432" y="1709738"/>
                  </a:lnTo>
                  <a:lnTo>
                    <a:pt x="3851910" y="1709738"/>
                  </a:lnTo>
                  <a:lnTo>
                    <a:pt x="3868102" y="1709738"/>
                  </a:lnTo>
                  <a:lnTo>
                    <a:pt x="3879532" y="1709738"/>
                  </a:lnTo>
                  <a:lnTo>
                    <a:pt x="3890010" y="1709738"/>
                  </a:lnTo>
                  <a:lnTo>
                    <a:pt x="3900488" y="1709738"/>
                  </a:lnTo>
                  <a:lnTo>
                    <a:pt x="3911918" y="1709738"/>
                  </a:lnTo>
                  <a:lnTo>
                    <a:pt x="3922395" y="1709738"/>
                  </a:lnTo>
                  <a:lnTo>
                    <a:pt x="3933825" y="1709738"/>
                  </a:lnTo>
                  <a:lnTo>
                    <a:pt x="3944302" y="1709738"/>
                  </a:lnTo>
                  <a:lnTo>
                    <a:pt x="3954780" y="1709738"/>
                  </a:lnTo>
                  <a:lnTo>
                    <a:pt x="3966210" y="1709738"/>
                  </a:lnTo>
                  <a:lnTo>
                    <a:pt x="3982402" y="1709738"/>
                  </a:lnTo>
                  <a:lnTo>
                    <a:pt x="3992880" y="1709738"/>
                  </a:lnTo>
                  <a:lnTo>
                    <a:pt x="4003357" y="1709738"/>
                  </a:lnTo>
                  <a:lnTo>
                    <a:pt x="4014788" y="1706880"/>
                  </a:lnTo>
                  <a:lnTo>
                    <a:pt x="4025265" y="1706880"/>
                  </a:lnTo>
                  <a:lnTo>
                    <a:pt x="4035743" y="1709738"/>
                  </a:lnTo>
                  <a:lnTo>
                    <a:pt x="4047172" y="1709738"/>
                  </a:lnTo>
                  <a:lnTo>
                    <a:pt x="4057650" y="1709738"/>
                  </a:lnTo>
                  <a:lnTo>
                    <a:pt x="4069080" y="1709738"/>
                  </a:lnTo>
                  <a:lnTo>
                    <a:pt x="4079557" y="1709738"/>
                  </a:lnTo>
                  <a:lnTo>
                    <a:pt x="4090035" y="1709738"/>
                  </a:lnTo>
                  <a:lnTo>
                    <a:pt x="4106227" y="1709738"/>
                  </a:lnTo>
                  <a:lnTo>
                    <a:pt x="4117657" y="1706880"/>
                  </a:lnTo>
                  <a:lnTo>
                    <a:pt x="4128135" y="1706880"/>
                  </a:lnTo>
                  <a:lnTo>
                    <a:pt x="4138612" y="1706880"/>
                  </a:lnTo>
                  <a:lnTo>
                    <a:pt x="4150043" y="1706880"/>
                  </a:lnTo>
                  <a:lnTo>
                    <a:pt x="4160520" y="1709738"/>
                  </a:lnTo>
                  <a:lnTo>
                    <a:pt x="4170997" y="1709738"/>
                  </a:lnTo>
                  <a:lnTo>
                    <a:pt x="4182427" y="1709738"/>
                  </a:lnTo>
                  <a:lnTo>
                    <a:pt x="4192905" y="1709738"/>
                  </a:lnTo>
                  <a:lnTo>
                    <a:pt x="4204335" y="1709738"/>
                  </a:lnTo>
                  <a:lnTo>
                    <a:pt x="4220527" y="1706880"/>
                  </a:lnTo>
                  <a:lnTo>
                    <a:pt x="4231005" y="1704975"/>
                  </a:lnTo>
                  <a:lnTo>
                    <a:pt x="4241482" y="1704975"/>
                  </a:lnTo>
                  <a:lnTo>
                    <a:pt x="4252912" y="1704975"/>
                  </a:lnTo>
                  <a:lnTo>
                    <a:pt x="4263390" y="1704975"/>
                  </a:lnTo>
                  <a:lnTo>
                    <a:pt x="4273868" y="1706880"/>
                  </a:lnTo>
                  <a:lnTo>
                    <a:pt x="4285297" y="1709738"/>
                  </a:lnTo>
                  <a:lnTo>
                    <a:pt x="4295775" y="1709738"/>
                  </a:lnTo>
                  <a:lnTo>
                    <a:pt x="4306252" y="1709738"/>
                  </a:lnTo>
                  <a:lnTo>
                    <a:pt x="4317682" y="1704975"/>
                  </a:lnTo>
                  <a:lnTo>
                    <a:pt x="4328160" y="1697355"/>
                  </a:lnTo>
                  <a:lnTo>
                    <a:pt x="4344352" y="1688782"/>
                  </a:lnTo>
                  <a:lnTo>
                    <a:pt x="4355782" y="1677352"/>
                  </a:lnTo>
                  <a:lnTo>
                    <a:pt x="4366260" y="1663065"/>
                  </a:lnTo>
                  <a:lnTo>
                    <a:pt x="4376738" y="1651635"/>
                  </a:lnTo>
                  <a:lnTo>
                    <a:pt x="4388168" y="1640205"/>
                  </a:lnTo>
                  <a:lnTo>
                    <a:pt x="4398645" y="1632585"/>
                  </a:lnTo>
                  <a:lnTo>
                    <a:pt x="4409122" y="1632585"/>
                  </a:lnTo>
                  <a:lnTo>
                    <a:pt x="4420552" y="1635443"/>
                  </a:lnTo>
                  <a:lnTo>
                    <a:pt x="4431030" y="1642110"/>
                  </a:lnTo>
                  <a:lnTo>
                    <a:pt x="4441508" y="1653540"/>
                  </a:lnTo>
                  <a:lnTo>
                    <a:pt x="4457700" y="1667828"/>
                  </a:lnTo>
                  <a:lnTo>
                    <a:pt x="4469130" y="1679257"/>
                  </a:lnTo>
                  <a:lnTo>
                    <a:pt x="4479608" y="1690688"/>
                  </a:lnTo>
                  <a:lnTo>
                    <a:pt x="4491038" y="1700213"/>
                  </a:lnTo>
                  <a:lnTo>
                    <a:pt x="4501515" y="1704975"/>
                  </a:lnTo>
                  <a:lnTo>
                    <a:pt x="4511992" y="1709738"/>
                  </a:lnTo>
                  <a:lnTo>
                    <a:pt x="4523422" y="1709738"/>
                  </a:lnTo>
                  <a:lnTo>
                    <a:pt x="4533900" y="1709738"/>
                  </a:lnTo>
                  <a:lnTo>
                    <a:pt x="4544377" y="1706880"/>
                  </a:lnTo>
                  <a:lnTo>
                    <a:pt x="4555808" y="1706880"/>
                  </a:lnTo>
                  <a:lnTo>
                    <a:pt x="4566285" y="1706880"/>
                  </a:lnTo>
                  <a:lnTo>
                    <a:pt x="4582477" y="1706880"/>
                  </a:lnTo>
                  <a:lnTo>
                    <a:pt x="4592955" y="1706880"/>
                  </a:lnTo>
                  <a:lnTo>
                    <a:pt x="4604385" y="1706880"/>
                  </a:lnTo>
                  <a:lnTo>
                    <a:pt x="4614862" y="1709738"/>
                  </a:lnTo>
                  <a:lnTo>
                    <a:pt x="4626292" y="1709738"/>
                  </a:lnTo>
                  <a:lnTo>
                    <a:pt x="4636770" y="1709738"/>
                  </a:lnTo>
                  <a:lnTo>
                    <a:pt x="4647247" y="1709738"/>
                  </a:lnTo>
                  <a:lnTo>
                    <a:pt x="4658677" y="1709738"/>
                  </a:lnTo>
                  <a:lnTo>
                    <a:pt x="4669155" y="1709738"/>
                  </a:lnTo>
                  <a:lnTo>
                    <a:pt x="4679632" y="1709738"/>
                  </a:lnTo>
                  <a:lnTo>
                    <a:pt x="4695825" y="1709738"/>
                  </a:lnTo>
                  <a:lnTo>
                    <a:pt x="4707255" y="1709738"/>
                  </a:lnTo>
                  <a:lnTo>
                    <a:pt x="4717732" y="1709738"/>
                  </a:lnTo>
                  <a:lnTo>
                    <a:pt x="4728210" y="1709738"/>
                  </a:lnTo>
                  <a:lnTo>
                    <a:pt x="4739640" y="1709738"/>
                  </a:lnTo>
                  <a:lnTo>
                    <a:pt x="4731068" y="1709738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6592252" y="1801178"/>
              <a:ext cx="4722495" cy="1709738"/>
            </a:xfrm>
            <a:custGeom>
              <a:avLst/>
              <a:gdLst/>
              <a:ahLst/>
              <a:cxnLst/>
              <a:rect l="l" t="t" r="r" b="b"/>
              <a:pathLst>
                <a:path w="4722495" h="1709738">
                  <a:moveTo>
                    <a:pt x="0" y="1678305"/>
                  </a:moveTo>
                  <a:lnTo>
                    <a:pt x="51435" y="1669732"/>
                  </a:lnTo>
                  <a:lnTo>
                    <a:pt x="116205" y="1658302"/>
                  </a:lnTo>
                  <a:lnTo>
                    <a:pt x="186690" y="1648778"/>
                  </a:lnTo>
                  <a:lnTo>
                    <a:pt x="251460" y="1640205"/>
                  </a:lnTo>
                  <a:lnTo>
                    <a:pt x="321945" y="1632585"/>
                  </a:lnTo>
                  <a:lnTo>
                    <a:pt x="386715" y="1628775"/>
                  </a:lnTo>
                  <a:lnTo>
                    <a:pt x="457200" y="1628775"/>
                  </a:lnTo>
                  <a:lnTo>
                    <a:pt x="526732" y="1632585"/>
                  </a:lnTo>
                  <a:lnTo>
                    <a:pt x="592455" y="1642110"/>
                  </a:lnTo>
                  <a:lnTo>
                    <a:pt x="661988" y="1653540"/>
                  </a:lnTo>
                  <a:lnTo>
                    <a:pt x="727710" y="1667828"/>
                  </a:lnTo>
                  <a:lnTo>
                    <a:pt x="797242" y="1681163"/>
                  </a:lnTo>
                  <a:lnTo>
                    <a:pt x="862965" y="1695450"/>
                  </a:lnTo>
                  <a:lnTo>
                    <a:pt x="932497" y="1704975"/>
                  </a:lnTo>
                  <a:lnTo>
                    <a:pt x="1002982" y="1709738"/>
                  </a:lnTo>
                  <a:lnTo>
                    <a:pt x="1067753" y="1704975"/>
                  </a:lnTo>
                  <a:lnTo>
                    <a:pt x="1138238" y="1688782"/>
                  </a:lnTo>
                  <a:lnTo>
                    <a:pt x="1203007" y="1661160"/>
                  </a:lnTo>
                  <a:lnTo>
                    <a:pt x="1273492" y="1617345"/>
                  </a:lnTo>
                  <a:lnTo>
                    <a:pt x="1338262" y="1554480"/>
                  </a:lnTo>
                  <a:lnTo>
                    <a:pt x="1408747" y="1478280"/>
                  </a:lnTo>
                  <a:lnTo>
                    <a:pt x="1479232" y="1383982"/>
                  </a:lnTo>
                  <a:lnTo>
                    <a:pt x="1544003" y="1275398"/>
                  </a:lnTo>
                  <a:lnTo>
                    <a:pt x="1614488" y="1150620"/>
                  </a:lnTo>
                  <a:lnTo>
                    <a:pt x="1679257" y="1016318"/>
                  </a:lnTo>
                  <a:lnTo>
                    <a:pt x="1749742" y="875348"/>
                  </a:lnTo>
                  <a:lnTo>
                    <a:pt x="1814512" y="729615"/>
                  </a:lnTo>
                  <a:lnTo>
                    <a:pt x="1884997" y="586740"/>
                  </a:lnTo>
                  <a:lnTo>
                    <a:pt x="1955482" y="450533"/>
                  </a:lnTo>
                  <a:lnTo>
                    <a:pt x="2020253" y="323850"/>
                  </a:lnTo>
                  <a:lnTo>
                    <a:pt x="2090738" y="212408"/>
                  </a:lnTo>
                  <a:lnTo>
                    <a:pt x="2155507" y="122873"/>
                  </a:lnTo>
                  <a:lnTo>
                    <a:pt x="2225992" y="55245"/>
                  </a:lnTo>
                  <a:lnTo>
                    <a:pt x="2290762" y="14288"/>
                  </a:lnTo>
                  <a:lnTo>
                    <a:pt x="2361248" y="0"/>
                  </a:lnTo>
                  <a:lnTo>
                    <a:pt x="2431732" y="14288"/>
                  </a:lnTo>
                  <a:lnTo>
                    <a:pt x="2496502" y="55245"/>
                  </a:lnTo>
                  <a:lnTo>
                    <a:pt x="2566988" y="122873"/>
                  </a:lnTo>
                  <a:lnTo>
                    <a:pt x="2631757" y="212408"/>
                  </a:lnTo>
                  <a:lnTo>
                    <a:pt x="2702242" y="323850"/>
                  </a:lnTo>
                  <a:lnTo>
                    <a:pt x="2767012" y="450533"/>
                  </a:lnTo>
                  <a:lnTo>
                    <a:pt x="2837498" y="586740"/>
                  </a:lnTo>
                  <a:lnTo>
                    <a:pt x="2907982" y="729615"/>
                  </a:lnTo>
                  <a:lnTo>
                    <a:pt x="2972752" y="875348"/>
                  </a:lnTo>
                  <a:lnTo>
                    <a:pt x="3043238" y="1016318"/>
                  </a:lnTo>
                  <a:lnTo>
                    <a:pt x="3108007" y="1150620"/>
                  </a:lnTo>
                  <a:lnTo>
                    <a:pt x="3178492" y="1275398"/>
                  </a:lnTo>
                  <a:lnTo>
                    <a:pt x="3243262" y="1383982"/>
                  </a:lnTo>
                  <a:lnTo>
                    <a:pt x="3313748" y="1478280"/>
                  </a:lnTo>
                  <a:lnTo>
                    <a:pt x="3384233" y="1554480"/>
                  </a:lnTo>
                  <a:lnTo>
                    <a:pt x="3449002" y="1617345"/>
                  </a:lnTo>
                  <a:lnTo>
                    <a:pt x="3519487" y="1661160"/>
                  </a:lnTo>
                  <a:lnTo>
                    <a:pt x="3584258" y="1688782"/>
                  </a:lnTo>
                  <a:lnTo>
                    <a:pt x="3654742" y="1704975"/>
                  </a:lnTo>
                  <a:lnTo>
                    <a:pt x="3719512" y="1709738"/>
                  </a:lnTo>
                  <a:lnTo>
                    <a:pt x="3789998" y="1704975"/>
                  </a:lnTo>
                  <a:lnTo>
                    <a:pt x="3859530" y="1695450"/>
                  </a:lnTo>
                  <a:lnTo>
                    <a:pt x="3925252" y="1681163"/>
                  </a:lnTo>
                  <a:lnTo>
                    <a:pt x="3994785" y="1667828"/>
                  </a:lnTo>
                  <a:lnTo>
                    <a:pt x="4060508" y="1653540"/>
                  </a:lnTo>
                  <a:lnTo>
                    <a:pt x="4130040" y="1642110"/>
                  </a:lnTo>
                  <a:lnTo>
                    <a:pt x="4195762" y="1632585"/>
                  </a:lnTo>
                  <a:lnTo>
                    <a:pt x="4265295" y="1628775"/>
                  </a:lnTo>
                  <a:lnTo>
                    <a:pt x="4335780" y="1628775"/>
                  </a:lnTo>
                  <a:lnTo>
                    <a:pt x="4400550" y="1632585"/>
                  </a:lnTo>
                  <a:lnTo>
                    <a:pt x="4471035" y="1640205"/>
                  </a:lnTo>
                  <a:lnTo>
                    <a:pt x="4535805" y="1648778"/>
                  </a:lnTo>
                  <a:lnTo>
                    <a:pt x="4606290" y="1658302"/>
                  </a:lnTo>
                  <a:lnTo>
                    <a:pt x="4671060" y="1669732"/>
                  </a:lnTo>
                  <a:lnTo>
                    <a:pt x="4722495" y="1678305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32" name="Ellipse 32"/>
            <p:cNvSpPr/>
            <p:nvPr/>
          </p:nvSpPr>
          <p:spPr>
            <a:xfrm>
              <a:off x="6563678" y="350139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11324272" y="350139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6563678" y="347281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11324272" y="347281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6400800" y="350139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1356661" y="3449479"/>
              <a:ext cx="2800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sinφ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915419" y="359759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494425" y="3597592"/>
              <a:ext cx="28213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k = 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200111" y="3597592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101034" y="3044190"/>
              <a:ext cx="421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±2 缺级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954722" y="359759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918002" y="1888808"/>
              <a:ext cx="10999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虚线：单缝衍射包络</a:t>
              </a:r>
            </a:p>
          </p:txBody>
        </p:sp>
      </p:grpSp>
      <p:grpSp>
        <p:nvGrpSpPr>
          <p:cNvPr id="51" name="c2-card-2"/>
          <p:cNvGrpSpPr/>
          <p:nvPr/>
        </p:nvGrpSpPr>
        <p:grpSpPr>
          <a:xfrm>
            <a:off x="6248400" y="4019550"/>
            <a:ext cx="5410200" cy="2307908"/>
            <a:chOff x="6248400" y="4019550"/>
            <a:chExt cx="5410200" cy="2307908"/>
          </a:xfrm>
        </p:grpSpPr>
        <p:sp>
          <p:nvSpPr>
            <p:cNvPr id="45" name="Rectangle 45"/>
            <p:cNvSpPr/>
            <p:nvPr/>
          </p:nvSpPr>
          <p:spPr>
            <a:xfrm>
              <a:off x="6248400" y="4019550"/>
              <a:ext cx="5410200" cy="2307908"/>
            </a:xfrm>
            <a:prstGeom prst="roundRect">
              <a:avLst>
                <a:gd name="adj" fmla="val 5778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452235" y="4223385"/>
              <a:ext cx="702945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36399" y="4259104"/>
              <a:ext cx="534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3. 缺级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444996" y="4596289"/>
              <a:ext cx="479348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当 φ 同时满足 (a + b)sinφ = kλ 与 a sinφ = k′λ 时，该主极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大落在单缝暗纹上而消失：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9" name="formula263"/>
                <p:cNvSpPr txBox="1">
                  <a:spLocks noGrp="1"/>
                </p:cNvSpPr>
                <p:nvPr/>
              </p:nvSpPr>
              <p:spPr>
                <a:xfrm>
                  <a:off x="6452235" y="5164455"/>
                  <a:ext cx="5002530" cy="4886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num>
                          <m:den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den>
                        </m:f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k'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k'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=±</m:t>
                        </m:r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,±</m:t>
                        </m:r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,⋯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50" name="TextBox 50"/>
            <p:cNvSpPr txBox="1"/>
            <p:nvPr/>
          </p:nvSpPr>
          <p:spPr>
            <a:xfrm>
              <a:off x="6446139" y="5764530"/>
              <a:ext cx="23626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上图 d = 2a：k = ±2、±4…缺级。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第2至8章 内容总结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052870" cy="909257"/>
            <a:chOff x="520446" y="342900"/>
            <a:chExt cx="705287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5763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1275" y="407194"/>
              <a:ext cx="13996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内容总结 · 光的衍射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05287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例13 光栅：能看到哪几级，斜入射后怎样变化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760595" cy="2137410"/>
            <a:chOff x="533400" y="1524000"/>
            <a:chExt cx="4760595" cy="213741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2137410"/>
            </a:xfrm>
            <a:prstGeom prst="roundRect">
              <a:avLst>
                <a:gd name="adj" fmla="val 62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7071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516255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288" y="1763554"/>
              <a:ext cx="336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例13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389178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光栅每厘米 5000 条缝，缝宽 a = 1.0×10⁻⁶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m，λ = 600 nm，透镜焦距 f = 0.5 m。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692241"/>
              <a:ext cx="4054094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（1）垂直入射时能看到哪几级主极大；（2）第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级明纹在屏上的位置；（3）入射角 i = 30° 时能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看到哪几级。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847148"/>
            <a:ext cx="4760595" cy="1768792"/>
            <a:chOff x="533400" y="3847148"/>
            <a:chExt cx="4760595" cy="1768792"/>
          </a:xfrm>
        </p:grpSpPr>
        <p:sp>
          <p:nvSpPr>
            <p:cNvPr id="14" name="Rectangle 14"/>
            <p:cNvSpPr/>
            <p:nvPr/>
          </p:nvSpPr>
          <p:spPr>
            <a:xfrm>
              <a:off x="533400" y="3847148"/>
              <a:ext cx="4760595" cy="1768792"/>
            </a:xfrm>
            <a:prstGeom prst="roundRect">
              <a:avLst>
                <a:gd name="adj" fmla="val 75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980498"/>
              <a:ext cx="47625" cy="150209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75335" y="405098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5543" y="40867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检验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2955" y="4484370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39546" y="4423886"/>
              <a:ext cx="3918839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 级 sinφ = 0.9，φ = 64.2°，此时 f tanφ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1.03 m，用 f sinφ 估会差一倍多，正是「注意角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度大小」的意思</a:t>
              </a:r>
            </a:p>
          </p:txBody>
        </p:sp>
      </p:grpSp>
      <p:grpSp>
        <p:nvGrpSpPr>
          <p:cNvPr id="38" name="c2-steps-1"/>
          <p:cNvGrpSpPr/>
          <p:nvPr/>
        </p:nvGrpSpPr>
        <p:grpSpPr>
          <a:xfrm>
            <a:off x="5598795" y="1533525"/>
            <a:ext cx="5721096" cy="2632139"/>
            <a:chOff x="5598795" y="1533525"/>
            <a:chExt cx="5721096" cy="2632139"/>
          </a:xfrm>
        </p:grpSpPr>
        <p:sp>
          <p:nvSpPr>
            <p:cNvPr id="21" name="Rectangle 21"/>
            <p:cNvSpPr/>
            <p:nvPr/>
          </p:nvSpPr>
          <p:spPr>
            <a:xfrm>
              <a:off x="5732145" y="1676400"/>
              <a:ext cx="19050" cy="18621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559879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69241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5598795" y="215455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692419" y="22283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5598795" y="277558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692419" y="28494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5598795" y="339566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692419" y="34694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010656" y="156638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光栅常数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011799" y="1846898"/>
              <a:ext cx="40104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= 1 cm/5000 = 2.0×10⁻⁶ m，d/λ = 3.33，最高 k = 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010656" y="218741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去掉缺级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011799" y="2467927"/>
              <a:ext cx="43819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d/a = 2，k = ±2 缺级；垂直入射可见 k = 0, ±1, ±3，共 5 条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010656" y="2808446"/>
              <a:ext cx="10099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级位置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011799" y="3088957"/>
              <a:ext cx="38407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sinφ = λ/d = 0.3，φ = 17.5°，x = f tanφ = 0.157 m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010656" y="3429476"/>
              <a:ext cx="97936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斜入射 30°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011799" y="3709988"/>
              <a:ext cx="53080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同侧：d(sinφ + 0.5) = kλ，−1 &lt; sinφ &lt; 1 ⇒ −1.67 &lt; k &lt; 5，k = −1…4；去掉缺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级 2、4</a:t>
              </a:r>
            </a:p>
          </p:txBody>
        </p:sp>
      </p:grpSp>
      <p:grpSp>
        <p:nvGrpSpPr>
          <p:cNvPr id="43" name="c2-card-2"/>
          <p:cNvGrpSpPr/>
          <p:nvPr/>
        </p:nvGrpSpPr>
        <p:grpSpPr>
          <a:xfrm>
            <a:off x="5598795" y="4341495"/>
            <a:ext cx="6059805" cy="1274445"/>
            <a:chOff x="5598795" y="4341495"/>
            <a:chExt cx="6059805" cy="1274445"/>
          </a:xfrm>
        </p:grpSpPr>
        <p:sp>
          <p:nvSpPr>
            <p:cNvPr id="39" name="Rectangle 39"/>
            <p:cNvSpPr/>
            <p:nvPr/>
          </p:nvSpPr>
          <p:spPr>
            <a:xfrm>
              <a:off x="5598795" y="4341495"/>
              <a:ext cx="6059805" cy="1274445"/>
            </a:xfrm>
            <a:prstGeom prst="roundRect">
              <a:avLst>
                <a:gd name="adj" fmla="val 10463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802630" y="4545330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897740" y="458104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795391" y="4918234"/>
              <a:ext cx="509104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（1）0、±1、±3 级共 5 条；（2）x ≈ 0.157 m；（3）k = −1、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0、1、3 共 4 条，最高级次偏向一侧。</a:t>
              </a:r>
            </a:p>
          </p:txBody>
        </p:sp>
      </p:grpSp>
      <p:grpSp>
        <p:nvGrpSpPr>
          <p:cNvPr id="50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44" name="Rectangle 44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38188" y="6003608"/>
              <a:ext cx="200026" cy="200026"/>
              <a:chOff x="738188" y="6003608"/>
              <a:chExt cx="200026" cy="200026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38188" y="60036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38200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27088" y="610362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40511" y="6004084"/>
              <a:ext cx="997393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斜入射时单缝暗纹条件同样变成 a(sinφ + sin i) = k′λ，与光栅方程的比值不变，所以缺级的级次仍是 d/a 的整数倍。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第2至8章 内容总结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自测题（上）振动、波动与静电场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2993796" cy="308039"/>
            <a:chOff x="525399" y="1550194"/>
            <a:chExt cx="2993796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299379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遮住答案先自己做，算完再对。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67865"/>
            <a:ext cx="3505200" cy="2223135"/>
            <a:chOff x="533400" y="1967865"/>
            <a:chExt cx="3505200" cy="2223135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3505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42950" y="217741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30437" y="221313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35330" y="2554605"/>
              <a:ext cx="2828449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0.06cos(πt + φ) m，t = 0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 x₀ = −0.03 m 且向 +x 运动，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φ。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35330" y="3461385"/>
              <a:ext cx="28060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cosφ = −½，v₀ &gt; 0 要 sinφ &lt;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0，φ = −2π/3（即 4π/3）。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4381500"/>
            <a:ext cx="3505200" cy="1937385"/>
            <a:chOff x="533400" y="4381500"/>
            <a:chExt cx="3505200" cy="1937385"/>
          </a:xfrm>
        </p:grpSpPr>
        <p:sp>
          <p:nvSpPr>
            <p:cNvPr id="15" name="Rectangle 15"/>
            <p:cNvSpPr/>
            <p:nvPr/>
          </p:nvSpPr>
          <p:spPr>
            <a:xfrm>
              <a:off x="533400" y="4381500"/>
              <a:ext cx="3505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42950" y="45910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30437" y="46267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35330" y="4968240"/>
              <a:ext cx="2770823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两端固定、长 1.2 m 的弦上形成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个波腹的驻波，波长多少？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35330" y="5589270"/>
              <a:ext cx="28536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 = nλ/2，n = 4，λ = 2L/4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 m。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4343400" y="1967865"/>
            <a:ext cx="3505200" cy="1651635"/>
            <a:chOff x="4343400" y="1967865"/>
            <a:chExt cx="3505200" cy="1651635"/>
          </a:xfrm>
        </p:grpSpPr>
        <p:sp>
          <p:nvSpPr>
            <p:cNvPr id="21" name="Rectangle 21"/>
            <p:cNvSpPr/>
            <p:nvPr/>
          </p:nvSpPr>
          <p:spPr>
            <a:xfrm>
              <a:off x="4343400" y="1967865"/>
              <a:ext cx="3505200" cy="1651635"/>
            </a:xfrm>
            <a:prstGeom prst="roundRect">
              <a:avLst>
                <a:gd name="adj" fmla="val 80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552950" y="217741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640437" y="221313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45330" y="2554605"/>
              <a:ext cx="2872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振幅加倍、频率不变的弹簧振子，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总能量变为原来的几倍？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45330" y="3175635"/>
              <a:ext cx="24782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= ½kA²，变为 4 倍。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4343400" y="3810000"/>
            <a:ext cx="3505200" cy="2508885"/>
            <a:chOff x="4343400" y="3810000"/>
            <a:chExt cx="3505200" cy="2508885"/>
          </a:xfrm>
        </p:grpSpPr>
        <p:sp>
          <p:nvSpPr>
            <p:cNvPr id="27" name="Rectangle 27"/>
            <p:cNvSpPr/>
            <p:nvPr/>
          </p:nvSpPr>
          <p:spPr>
            <a:xfrm>
              <a:off x="4343400" y="3810000"/>
              <a:ext cx="3505200" cy="2508885"/>
            </a:xfrm>
            <a:prstGeom prst="roundRect">
              <a:avLst>
                <a:gd name="adj" fmla="val 531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4552950" y="4019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640437" y="4055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45330" y="4396740"/>
              <a:ext cx="2891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均匀带电球面内一点，E 和 U 各是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多少？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45330" y="5017770"/>
              <a:ext cx="28536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= 0；U = q/(4πε₀R)，等于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球面电势。</a:t>
              </a:r>
            </a:p>
          </p:txBody>
        </p:sp>
      </p:grpSp>
      <p:grpSp>
        <p:nvGrpSpPr>
          <p:cNvPr id="38" name="c3-card-1"/>
          <p:cNvGrpSpPr/>
          <p:nvPr/>
        </p:nvGrpSpPr>
        <p:grpSpPr>
          <a:xfrm>
            <a:off x="8153400" y="1967865"/>
            <a:ext cx="3505200" cy="1937385"/>
            <a:chOff x="8153400" y="1967865"/>
            <a:chExt cx="3505200" cy="1937385"/>
          </a:xfrm>
        </p:grpSpPr>
        <p:sp>
          <p:nvSpPr>
            <p:cNvPr id="33" name="Rectangle 33"/>
            <p:cNvSpPr/>
            <p:nvPr/>
          </p:nvSpPr>
          <p:spPr>
            <a:xfrm>
              <a:off x="8153400" y="1967865"/>
              <a:ext cx="3505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8362950" y="217741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450437" y="221313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55330" y="2554605"/>
              <a:ext cx="27298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波沿 −x 传播，原点振动 yO = A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cos(ωt + φ)，写波函数。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55330" y="3175635"/>
              <a:ext cx="2872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= A cos[ω(t + x/u) + φ]，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沿 −x 取加号。</a:t>
              </a:r>
            </a:p>
          </p:txBody>
        </p:sp>
      </p:grpSp>
      <p:grpSp>
        <p:nvGrpSpPr>
          <p:cNvPr id="44" name="c3-card-2"/>
          <p:cNvGrpSpPr/>
          <p:nvPr/>
        </p:nvGrpSpPr>
        <p:grpSpPr>
          <a:xfrm>
            <a:off x="8153400" y="4095750"/>
            <a:ext cx="3505200" cy="2223135"/>
            <a:chOff x="8153400" y="4095750"/>
            <a:chExt cx="3505200" cy="2223135"/>
          </a:xfrm>
        </p:grpSpPr>
        <p:sp>
          <p:nvSpPr>
            <p:cNvPr id="39" name="Rectangle 39"/>
            <p:cNvSpPr/>
            <p:nvPr/>
          </p:nvSpPr>
          <p:spPr>
            <a:xfrm>
              <a:off x="8153400" y="4095750"/>
              <a:ext cx="3505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8362950" y="430530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450437" y="434101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55330" y="4682490"/>
              <a:ext cx="2852261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导体球壳内放点电荷 q（壳原不带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电），内外表面各带多少电荷？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55330" y="5303520"/>
              <a:ext cx="25999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内表面 −q，外表面 +q。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第2至8章 内容总结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自测题（下）磁场、电磁感应与波动光学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3505200" cy="1937385"/>
            <a:chOff x="533400" y="1524000"/>
            <a:chExt cx="3505200" cy="19373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330" y="2110740"/>
              <a:ext cx="282130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半径 R 的半圆形电流 I，圆心处 B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是多少？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5330" y="2731770"/>
              <a:ext cx="26727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圆弧公式 μ₀Iθ/(4πR)，θ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π，B = μ₀I/(4R)。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651885"/>
            <a:ext cx="3505200" cy="2223135"/>
            <a:chOff x="533400" y="3651885"/>
            <a:chExt cx="3505200" cy="2223135"/>
          </a:xfrm>
        </p:grpSpPr>
        <p:sp>
          <p:nvSpPr>
            <p:cNvPr id="13" name="Rectangle 13"/>
            <p:cNvSpPr/>
            <p:nvPr/>
          </p:nvSpPr>
          <p:spPr>
            <a:xfrm>
              <a:off x="533400" y="3651885"/>
              <a:ext cx="3505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42950" y="38614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0437" y="38971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5330" y="4238625"/>
              <a:ext cx="291226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杨氏双缝中把双缝间距 a 减半，条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纹间距怎样变？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5330" y="4859655"/>
              <a:ext cx="25488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Δx = Dλ/a，变为原来的 2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倍。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4343400" y="1524000"/>
            <a:ext cx="3505200" cy="1937385"/>
            <a:chOff x="4343400" y="1524000"/>
            <a:chExt cx="3505200" cy="1937385"/>
          </a:xfrm>
        </p:grpSpPr>
        <p:sp>
          <p:nvSpPr>
            <p:cNvPr id="19" name="Rectangle 19"/>
            <p:cNvSpPr/>
            <p:nvPr/>
          </p:nvSpPr>
          <p:spPr>
            <a:xfrm>
              <a:off x="4343400" y="1524000"/>
              <a:ext cx="3505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5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4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45330" y="2110740"/>
              <a:ext cx="2949893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真空中 n = 1000 匝/m 的长直螺线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管通 1 A，管内 B？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45330" y="2731770"/>
              <a:ext cx="22059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el-GR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= μ₀nI = 4π×10⁻⁴ ≈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1.26×10⁻³ T。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4343400" y="3651885"/>
            <a:ext cx="3505200" cy="2223135"/>
            <a:chOff x="4343400" y="3651885"/>
            <a:chExt cx="3505200" cy="2223135"/>
          </a:xfrm>
        </p:grpSpPr>
        <p:sp>
          <p:nvSpPr>
            <p:cNvPr id="25" name="Rectangle 25"/>
            <p:cNvSpPr/>
            <p:nvPr/>
          </p:nvSpPr>
          <p:spPr>
            <a:xfrm>
              <a:off x="4343400" y="3651885"/>
              <a:ext cx="3505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552950" y="38614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40437" y="38971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45330" y="4238625"/>
              <a:ext cx="286893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空气中 n = 1.5 的薄膜对 λ = 600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nm 反射相消，最小厚度？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45330" y="4859655"/>
              <a:ext cx="28251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要加 λ/2：2ne + λ/2 = 3λ/2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（k = 1），e = λ/(2n) = 200 nm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（e = 0 不算）。</a:t>
              </a:r>
            </a:p>
          </p:txBody>
        </p:sp>
      </p:grpSp>
      <p:grpSp>
        <p:nvGrpSpPr>
          <p:cNvPr id="36" name="c3-card-1"/>
          <p:cNvGrpSpPr/>
          <p:nvPr/>
        </p:nvGrpSpPr>
        <p:grpSpPr>
          <a:xfrm>
            <a:off x="8153400" y="1524000"/>
            <a:ext cx="3505200" cy="1937385"/>
            <a:chOff x="8153400" y="1524000"/>
            <a:chExt cx="3505200" cy="1937385"/>
          </a:xfrm>
        </p:grpSpPr>
        <p:sp>
          <p:nvSpPr>
            <p:cNvPr id="31" name="Rectangle 31"/>
            <p:cNvSpPr/>
            <p:nvPr/>
          </p:nvSpPr>
          <p:spPr>
            <a:xfrm>
              <a:off x="8153400" y="1524000"/>
              <a:ext cx="3505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36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5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55330" y="2110740"/>
              <a:ext cx="2778443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长 0.5 m 的棒在 B = 0.4 T 中以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m/s 垂直切割磁感应线，ε？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55330" y="2731770"/>
              <a:ext cx="25869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el-GR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ε = BLv = 0.4 × 0.5 × 2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 V。</a:t>
              </a:r>
            </a:p>
          </p:txBody>
        </p:sp>
      </p:grpSp>
      <p:grpSp>
        <p:nvGrpSpPr>
          <p:cNvPr id="42" name="c3-card-2"/>
          <p:cNvGrpSpPr/>
          <p:nvPr/>
        </p:nvGrpSpPr>
        <p:grpSpPr>
          <a:xfrm>
            <a:off x="8153400" y="3651885"/>
            <a:ext cx="3505200" cy="2223135"/>
            <a:chOff x="8153400" y="3651885"/>
            <a:chExt cx="3505200" cy="2223135"/>
          </a:xfrm>
        </p:grpSpPr>
        <p:sp>
          <p:nvSpPr>
            <p:cNvPr id="37" name="Rectangle 37"/>
            <p:cNvSpPr/>
            <p:nvPr/>
          </p:nvSpPr>
          <p:spPr>
            <a:xfrm>
              <a:off x="8153400" y="3651885"/>
              <a:ext cx="3505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362950" y="38614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50437" y="38971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55330" y="4238625"/>
              <a:ext cx="2921318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光栅 d = 3a，垂直入射时哪些级次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缺级？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55330" y="4859655"/>
              <a:ext cx="28624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= 3k′：±3、±6、…缺级。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第2至8章 内容总结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83534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44284" y="4071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内容总结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bullets-1"/>
          <p:cNvGrpSpPr/>
          <p:nvPr/>
        </p:nvGrpSpPr>
        <p:grpSpPr>
          <a:xfrm>
            <a:off x="533400" y="1533525"/>
            <a:ext cx="5346730" cy="2404396"/>
            <a:chOff x="533400" y="1533525"/>
            <a:chExt cx="5346730" cy="2404396"/>
          </a:xfrm>
        </p:grpSpPr>
        <p:sp>
          <p:nvSpPr>
            <p:cNvPr id="7" name="Ellipse 7"/>
            <p:cNvSpPr/>
            <p:nvPr/>
          </p:nvSpPr>
          <p:spPr>
            <a:xfrm>
              <a:off x="533400" y="1533525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85307" y="156914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03148" y="1545431"/>
              <a:ext cx="50769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振动：x = A cos(ωt + φ)，A、φ 由 x₀、v₀ 定，用旋转矢量挑初相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1826895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85307" y="1862519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03148" y="1837849"/>
              <a:ext cx="462965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波：已知某点振动，按传播方向和 x − x₀ 延时写波函数；干涉看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Δφ，驻波相邻波节距 λ/2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363152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85307" y="239877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03148" y="2374106"/>
              <a:ext cx="49303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静电场：对称分布用高斯定理求 E，再积分求 U；导体内 E = 0，电荷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在表面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2899410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5307" y="293408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3148" y="2910364"/>
              <a:ext cx="479221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磁场：毕奥-萨伐尔定律加典型结论，对称电流用安培环路定理；εi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−dΦ/dt 管动生和感生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3434715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85307" y="347033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3148" y="3445669"/>
              <a:ext cx="494665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光学：算准光程差并判断半波损失；单缝暗纹 a sinφ = kλ，光栅明纹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sinφ = kλ，比值决定缺级</a:t>
              </a:r>
            </a:p>
          </p:txBody>
        </p:sp>
      </p:grpSp>
      <p:grpSp>
        <p:nvGrpSpPr>
          <p:cNvPr id="31" name="c1-card-2"/>
          <p:cNvGrpSpPr/>
          <p:nvPr/>
        </p:nvGrpSpPr>
        <p:grpSpPr>
          <a:xfrm>
            <a:off x="533400" y="4052888"/>
            <a:ext cx="5410200" cy="1306830"/>
            <a:chOff x="533400" y="4052888"/>
            <a:chExt cx="5410200" cy="1306830"/>
          </a:xfrm>
        </p:grpSpPr>
        <p:sp>
          <p:nvSpPr>
            <p:cNvPr id="23" name="Rectangle 23"/>
            <p:cNvSpPr/>
            <p:nvPr/>
          </p:nvSpPr>
          <p:spPr>
            <a:xfrm>
              <a:off x="533400" y="4052888"/>
              <a:ext cx="5410200" cy="1306830"/>
            </a:xfrm>
            <a:prstGeom prst="roundRect">
              <a:avLst>
                <a:gd name="adj" fmla="val 102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2925" y="4186238"/>
              <a:ext cx="47625" cy="104013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52475" y="4233862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25843" y="4266724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通量与环流对照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62000" y="4626292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17448" y="4574381"/>
              <a:ext cx="38812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静电场：∮D·dS = Σq（有源），∮E·dl = 0（保守）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62000" y="491109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17448" y="4859179"/>
              <a:ext cx="41951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稳恒磁场：∮B·dS = 0（无源），∮H·dl = ΣI（非保守）</a:t>
              </a:r>
            </a:p>
          </p:txBody>
        </p:sp>
      </p:grpSp>
      <p:grpSp>
        <p:nvGrpSpPr>
          <p:cNvPr id="46" name="c2-card-1"/>
          <p:cNvGrpSpPr/>
          <p:nvPr/>
        </p:nvGrpSpPr>
        <p:grpSpPr>
          <a:xfrm>
            <a:off x="6248400" y="1524000"/>
            <a:ext cx="5410200" cy="2526982"/>
            <a:chOff x="6248400" y="1524000"/>
            <a:chExt cx="5410200" cy="2526982"/>
          </a:xfrm>
        </p:grpSpPr>
        <p:sp>
          <p:nvSpPr>
            <p:cNvPr id="32" name="Rectangle 32"/>
            <p:cNvSpPr/>
            <p:nvPr/>
          </p:nvSpPr>
          <p:spPr>
            <a:xfrm>
              <a:off x="6248400" y="1524000"/>
              <a:ext cx="5410200" cy="2526982"/>
            </a:xfrm>
            <a:prstGeom prst="roundRect">
              <a:avLst>
                <a:gd name="adj" fmla="val 527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257925" y="1657350"/>
              <a:ext cx="47625" cy="226028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467475" y="1704975"/>
              <a:ext cx="145446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29642" y="1737836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本讲义对原课件的更正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477000" y="209740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632448" y="2045494"/>
              <a:ext cx="44020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电场线止于负电荷，括号内应为「自由负电荷和极化负电荷」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（第 20 页）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477000" y="262509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632448" y="2573179"/>
              <a:ext cx="42949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导体表面 σ 与曲率只是定性关系，不是正比（第 25 页）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477000" y="291084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632448" y="2857976"/>
              <a:ext cx="45646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磁场高斯定理、安培环路定理、全电流定律的积分号应为闭合的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∮（第 32、34、39 页）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477000" y="343852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632448" y="3385661"/>
              <a:ext cx="48341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证明半波损失的是劈尖棱边的暗纹，不是 Δe = λ/2（第 47 页）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477000" y="3723322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632448" y="3670459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笔误「单择题」「迭加」改为「单选题」「叠加」</a:t>
              </a:r>
            </a:p>
          </p:txBody>
        </p:sp>
      </p:grpSp>
      <p:grpSp>
        <p:nvGrpSpPr>
          <p:cNvPr id="51" name="c2-card-2"/>
          <p:cNvGrpSpPr/>
          <p:nvPr/>
        </p:nvGrpSpPr>
        <p:grpSpPr>
          <a:xfrm>
            <a:off x="6248400" y="4215765"/>
            <a:ext cx="5410200" cy="1143952"/>
            <a:chOff x="6248400" y="4215765"/>
            <a:chExt cx="5410200" cy="1143952"/>
          </a:xfrm>
        </p:grpSpPr>
        <p:sp>
          <p:nvSpPr>
            <p:cNvPr id="47" name="Rectangle 47"/>
            <p:cNvSpPr/>
            <p:nvPr/>
          </p:nvSpPr>
          <p:spPr>
            <a:xfrm>
              <a:off x="6248400" y="4215765"/>
              <a:ext cx="5410200" cy="1143952"/>
            </a:xfrm>
            <a:prstGeom prst="roundRect">
              <a:avLst>
                <a:gd name="adj" fmla="val 11657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429375" y="4396740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502743" y="4429601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补充进来的内容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422898" y="4737259"/>
              <a:ext cx="48491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13 道例题、12 道自测题；合振动初相公式；E、H、B 换算；导体空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腔推论；位移电流对照表；麦克斯韦方程组逐式含义。</a:t>
              </a:r>
            </a:p>
          </p:txBody>
        </p:sp>
      </p:grpSp>
      <p:grpSp>
        <p:nvGrpSpPr>
          <p:cNvPr id="57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2" name="Rectangle 52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041273" y="6039326"/>
              <a:ext cx="86286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自检：合上讲义，能否默写麦克斯韦方程组四式并说出含义？复习按三遍走：背结论，独立做例题，限时做自测。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1929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第2至8章 内容总结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hys_summary">
  <a:themeElements>
    <a:clrScheme name="phys_summary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hys_summary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hys_summar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2026-09-23T07:27:05Z</dcterms:created>
  <dcterms:modified xsi:type="dcterms:W3CDTF">2026-09-23T07:27:05Z</dcterms:modified>
  <cp:category/>
  <cp:contentStatus/>
</cp:coreProperties>
</file>