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mpiler_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mpiler_re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c4a980a44f4e15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ca72c9d152e2e77.png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a1a63962922ce1c.png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5556" t="0" r="555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874514" cy="3437763"/>
            <a:chOff x="666750" y="1619250"/>
            <a:chExt cx="487451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507932" cy="3429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6578" y="1718310"/>
              <a:ext cx="2307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编译原理及实现技术 · 期末复习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73943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编译原理 期末复习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按考点梳理：正则式到自动机，文法到四元式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101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词法：正则式、NFA、DFA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3591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语法：句柄、左递归、LL(1)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符号表局部化与代码优化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活动记录与静态链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96454" cy="205359"/>
            <a:chOff x="680466" y="6192202"/>
            <a:chExt cx="469645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9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自学复习版｜据吉林大学《编译原理及实现技术》复习课件整理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6490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4545" y="407194"/>
              <a:ext cx="963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编译程序总览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七个阶段，表处理和错误处理贯穿全程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词法分析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9384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正则式与自动机互相转换、确定化、极小化、Token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语法分析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132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语法树与句柄、二义性、文法变换、LL(1)、递归下降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807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局部化处理，带分程序的 C 程序建表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中间代码优化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常表达式节省、公共表达式节省、循环不变式外提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运行时存储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6284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活动记录、静态链与 Display 表、目标代码生成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865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把正则表达式经 NFA、DFA 做到最小 DFA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50888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44602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由语法树找出句型的短语、简单短语和句柄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28441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27813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消除直接左递归，求 FIRST、FOLLOW 并造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LL(1) 分析表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4651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40233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对四元式划分基本块，做三种优化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380047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373761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画出给定调用链的动态链和静态链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324338" cy="909257"/>
            <a:chOff x="520446" y="342900"/>
            <a:chExt cx="103243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6490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4545" y="407194"/>
              <a:ext cx="963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3243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编译程序的组成：六个阶段串成一条线，表处理和错误处理贯穿全程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660894" cy="278702"/>
            <a:chOff x="526161" y="1547336"/>
            <a:chExt cx="766089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660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考前要记住这张图：各阶段的先后与分工，每个阶段都要查填符号表，也都可能发现错误。</a:t>
              </a:r>
            </a:p>
          </p:txBody>
        </p:sp>
      </p:grpSp>
      <p:grpSp>
        <p:nvGrpSpPr>
          <p:cNvPr id="81" name="c1-graph-1"/>
          <p:cNvGrpSpPr/>
          <p:nvPr/>
        </p:nvGrpSpPr>
        <p:grpSpPr>
          <a:xfrm>
            <a:off x="647700" y="1989772"/>
            <a:ext cx="10896600" cy="1680210"/>
            <a:chOff x="647700" y="1989772"/>
            <a:chExt cx="10896600" cy="1680210"/>
          </a:xfrm>
        </p:grpSpPr>
        <p:sp>
          <p:nvSpPr>
            <p:cNvPr id="9" name="Freeform 9"/>
            <p:cNvSpPr/>
            <p:nvPr/>
          </p:nvSpPr>
          <p:spPr>
            <a:xfrm>
              <a:off x="1375410" y="2829878"/>
              <a:ext cx="461962" cy="9525"/>
            </a:xfrm>
            <a:custGeom>
              <a:avLst/>
              <a:gdLst/>
              <a:ahLst/>
              <a:cxnLst/>
              <a:rect l="l" t="t" r="r" b="b"/>
              <a:pathLst>
                <a:path w="461962" h="9525">
                  <a:moveTo>
                    <a:pt x="0" y="0"/>
                  </a:moveTo>
                  <a:lnTo>
                    <a:pt x="4619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37372" y="27822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938462" y="2829878"/>
              <a:ext cx="367665" cy="9525"/>
            </a:xfrm>
            <a:custGeom>
              <a:avLst/>
              <a:gdLst/>
              <a:ahLst/>
              <a:cxnLst/>
              <a:rect l="l" t="t" r="r" b="b"/>
              <a:pathLst>
                <a:path w="367665" h="9525">
                  <a:moveTo>
                    <a:pt x="0" y="0"/>
                  </a:moveTo>
                  <a:lnTo>
                    <a:pt x="3676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06128" y="27822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407218" y="2829878"/>
              <a:ext cx="356235" cy="9525"/>
            </a:xfrm>
            <a:custGeom>
              <a:avLst/>
              <a:gdLst/>
              <a:ahLst/>
              <a:cxnLst/>
              <a:rect l="l" t="t" r="r" b="b"/>
              <a:pathLst>
                <a:path w="356235" h="9525">
                  <a:moveTo>
                    <a:pt x="0" y="0"/>
                  </a:moveTo>
                  <a:lnTo>
                    <a:pt x="3562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63452" y="27822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864542" y="2829878"/>
              <a:ext cx="367665" cy="9525"/>
            </a:xfrm>
            <a:custGeom>
              <a:avLst/>
              <a:gdLst/>
              <a:ahLst/>
              <a:cxnLst/>
              <a:rect l="l" t="t" r="r" b="b"/>
              <a:pathLst>
                <a:path w="367665" h="9525">
                  <a:moveTo>
                    <a:pt x="0" y="0"/>
                  </a:moveTo>
                  <a:lnTo>
                    <a:pt x="3676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232208" y="27822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7333298" y="2829878"/>
              <a:ext cx="356235" cy="9525"/>
            </a:xfrm>
            <a:custGeom>
              <a:avLst/>
              <a:gdLst/>
              <a:ahLst/>
              <a:cxnLst/>
              <a:rect l="l" t="t" r="r" b="b"/>
              <a:pathLst>
                <a:path w="356235" h="9525">
                  <a:moveTo>
                    <a:pt x="0" y="0"/>
                  </a:moveTo>
                  <a:lnTo>
                    <a:pt x="3562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689532" y="27822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8790622" y="2829878"/>
              <a:ext cx="367665" cy="9525"/>
            </a:xfrm>
            <a:custGeom>
              <a:avLst/>
              <a:gdLst/>
              <a:ahLst/>
              <a:cxnLst/>
              <a:rect l="l" t="t" r="r" b="b"/>
              <a:pathLst>
                <a:path w="367665" h="9525">
                  <a:moveTo>
                    <a:pt x="0" y="0"/>
                  </a:moveTo>
                  <a:lnTo>
                    <a:pt x="3676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9158288" y="27822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0259378" y="2829878"/>
              <a:ext cx="461962" cy="9525"/>
            </a:xfrm>
            <a:custGeom>
              <a:avLst/>
              <a:gdLst/>
              <a:ahLst/>
              <a:cxnLst/>
              <a:rect l="l" t="t" r="r" b="b"/>
              <a:pathLst>
                <a:path w="461962" h="9525">
                  <a:moveTo>
                    <a:pt x="0" y="0"/>
                  </a:moveTo>
                  <a:lnTo>
                    <a:pt x="4619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721340" y="27822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435542" y="2481262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304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2387918" y="23860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387918" y="25117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3904298" y="2481262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304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7" name="Freeform 27"/>
            <p:cNvSpPr/>
            <p:nvPr/>
          </p:nvSpPr>
          <p:spPr>
            <a:xfrm>
              <a:off x="3856672" y="23860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3856672" y="25117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5361622" y="2481262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304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5313998" y="23860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5313998" y="25117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830378" y="2481262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304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3" name="Freeform 33"/>
            <p:cNvSpPr/>
            <p:nvPr/>
          </p:nvSpPr>
          <p:spPr>
            <a:xfrm>
              <a:off x="6782752" y="23860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6782752" y="25117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287702" y="2481262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304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8240078" y="23860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240078" y="25117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756458" y="2481262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304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9" name="Freeform 39"/>
            <p:cNvSpPr/>
            <p:nvPr/>
          </p:nvSpPr>
          <p:spPr>
            <a:xfrm>
              <a:off x="9708832" y="23860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9708832" y="25117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2435542" y="3053715"/>
              <a:ext cx="9525" cy="124777"/>
            </a:xfrm>
            <a:custGeom>
              <a:avLst/>
              <a:gdLst/>
              <a:ahLst/>
              <a:cxnLst/>
              <a:rect l="l" t="t" r="r" b="b"/>
              <a:pathLst>
                <a:path w="9525" h="124777">
                  <a:moveTo>
                    <a:pt x="0" y="0"/>
                  </a:moveTo>
                  <a:lnTo>
                    <a:pt x="0" y="124777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2" name="Freeform 42"/>
            <p:cNvSpPr/>
            <p:nvPr/>
          </p:nvSpPr>
          <p:spPr>
            <a:xfrm>
              <a:off x="2387918" y="31784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3904298" y="3053715"/>
              <a:ext cx="9525" cy="124777"/>
            </a:xfrm>
            <a:custGeom>
              <a:avLst/>
              <a:gdLst/>
              <a:ahLst/>
              <a:cxnLst/>
              <a:rect l="l" t="t" r="r" b="b"/>
              <a:pathLst>
                <a:path w="9525" h="124777">
                  <a:moveTo>
                    <a:pt x="0" y="0"/>
                  </a:moveTo>
                  <a:lnTo>
                    <a:pt x="0" y="124777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4" name="Freeform 44"/>
            <p:cNvSpPr/>
            <p:nvPr/>
          </p:nvSpPr>
          <p:spPr>
            <a:xfrm>
              <a:off x="3856672" y="31784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5361622" y="3053715"/>
              <a:ext cx="9525" cy="124777"/>
            </a:xfrm>
            <a:custGeom>
              <a:avLst/>
              <a:gdLst/>
              <a:ahLst/>
              <a:cxnLst/>
              <a:rect l="l" t="t" r="r" b="b"/>
              <a:pathLst>
                <a:path w="9525" h="124777">
                  <a:moveTo>
                    <a:pt x="0" y="0"/>
                  </a:moveTo>
                  <a:lnTo>
                    <a:pt x="0" y="124777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6" name="Freeform 46"/>
            <p:cNvSpPr/>
            <p:nvPr/>
          </p:nvSpPr>
          <p:spPr>
            <a:xfrm>
              <a:off x="5313998" y="31784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6830378" y="3053715"/>
              <a:ext cx="9525" cy="124777"/>
            </a:xfrm>
            <a:custGeom>
              <a:avLst/>
              <a:gdLst/>
              <a:ahLst/>
              <a:cxnLst/>
              <a:rect l="l" t="t" r="r" b="b"/>
              <a:pathLst>
                <a:path w="9525" h="124777">
                  <a:moveTo>
                    <a:pt x="0" y="0"/>
                  </a:moveTo>
                  <a:lnTo>
                    <a:pt x="0" y="124777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8" name="Freeform 48"/>
            <p:cNvSpPr/>
            <p:nvPr/>
          </p:nvSpPr>
          <p:spPr>
            <a:xfrm>
              <a:off x="6782752" y="31784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8287702" y="3053715"/>
              <a:ext cx="9525" cy="124777"/>
            </a:xfrm>
            <a:custGeom>
              <a:avLst/>
              <a:gdLst/>
              <a:ahLst/>
              <a:cxnLst/>
              <a:rect l="l" t="t" r="r" b="b"/>
              <a:pathLst>
                <a:path w="9525" h="124777">
                  <a:moveTo>
                    <a:pt x="0" y="0"/>
                  </a:moveTo>
                  <a:lnTo>
                    <a:pt x="0" y="124777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0" name="Freeform 50"/>
            <p:cNvSpPr/>
            <p:nvPr/>
          </p:nvSpPr>
          <p:spPr>
            <a:xfrm>
              <a:off x="8240078" y="31784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9756458" y="3053715"/>
              <a:ext cx="9525" cy="124777"/>
            </a:xfrm>
            <a:custGeom>
              <a:avLst/>
              <a:gdLst/>
              <a:ahLst/>
              <a:cxnLst/>
              <a:rect l="l" t="t" r="r" b="b"/>
              <a:pathLst>
                <a:path w="9525" h="124777">
                  <a:moveTo>
                    <a:pt x="0" y="0"/>
                  </a:moveTo>
                  <a:lnTo>
                    <a:pt x="0" y="124777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2" name="Freeform 52"/>
            <p:cNvSpPr/>
            <p:nvPr/>
          </p:nvSpPr>
          <p:spPr>
            <a:xfrm>
              <a:off x="9708832" y="31784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2265045" y="1989772"/>
              <a:ext cx="7661910" cy="294322"/>
            </a:xfrm>
            <a:prstGeom prst="roundRect">
              <a:avLst>
                <a:gd name="adj" fmla="val 32362"/>
              </a:avLst>
            </a:prstGeom>
            <a:solidFill>
              <a:srgbClr val="F7E8E9"/>
            </a:solidFill>
            <a:ln w="17145">
              <a:solidFill>
                <a:srgbClr val="A1343C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2265045" y="3375660"/>
              <a:ext cx="7661910" cy="294322"/>
            </a:xfrm>
            <a:prstGeom prst="roundRect">
              <a:avLst>
                <a:gd name="adj" fmla="val 32362"/>
              </a:avLst>
            </a:prstGeom>
            <a:solidFill>
              <a:srgbClr val="F7E8E9"/>
            </a:solidFill>
            <a:ln w="17145">
              <a:solidFill>
                <a:srgbClr val="A1343C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700" y="2606992"/>
              <a:ext cx="727710" cy="446722"/>
            </a:xfrm>
            <a:prstGeom prst="roundRect">
              <a:avLst>
                <a:gd name="adj" fmla="val 2132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932622" y="2606992"/>
              <a:ext cx="1005840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3401378" y="2606992"/>
              <a:ext cx="1005840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858702" y="2606992"/>
              <a:ext cx="1005840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327458" y="2606992"/>
              <a:ext cx="1005840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784782" y="2606992"/>
              <a:ext cx="1005840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9253538" y="2606992"/>
              <a:ext cx="1005840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816590" y="2606992"/>
              <a:ext cx="727710" cy="446722"/>
            </a:xfrm>
            <a:prstGeom prst="roundRect">
              <a:avLst>
                <a:gd name="adj" fmla="val 2132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834114" y="2071688"/>
              <a:ext cx="5237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表 处 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741176" y="3457575"/>
              <a:ext cx="709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错 误 处 理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35546" y="268128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4870" y="28479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288858" y="2681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词法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288858" y="28479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757612" y="2681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757612" y="28479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214938" y="2681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214938" y="28479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42342" y="26812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中间代码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83692" y="28479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999667" y="26812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中间代码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141018" y="28479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468422" y="26812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目标代码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609772" y="28479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033760" y="2681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033760" y="28479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</p:grpSp>
      <p:grpSp>
        <p:nvGrpSpPr>
          <p:cNvPr id="117" name="c1-table-2"/>
          <p:cNvGrpSpPr/>
          <p:nvPr/>
        </p:nvGrpSpPr>
        <p:grpSpPr>
          <a:xfrm>
            <a:off x="533400" y="3893820"/>
            <a:ext cx="11125200" cy="2434590"/>
            <a:chOff x="533400" y="3893820"/>
            <a:chExt cx="11125200" cy="2434590"/>
          </a:xfrm>
        </p:grpSpPr>
        <p:sp>
          <p:nvSpPr>
            <p:cNvPr id="82" name="Rectangle 82"/>
            <p:cNvSpPr/>
            <p:nvPr/>
          </p:nvSpPr>
          <p:spPr>
            <a:xfrm>
              <a:off x="533400" y="3893820"/>
              <a:ext cx="11125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266546" y="40181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3491586" y="40181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384328" y="40181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269565" y="401812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本讲义的复习重点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33412" y="44238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词法分析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413635" y="442388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源程序字符串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083492" y="4423886"/>
              <a:ext cx="7780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Token 序列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198167" y="4423886"/>
              <a:ext cx="19842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正则式、自动机、Token 设计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533400" y="47005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533400" y="470535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33412" y="48296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语法分析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2413635" y="4829651"/>
              <a:ext cx="7780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Token 序列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083492" y="482965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语法树（判定语法是否正确）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198167" y="4829651"/>
              <a:ext cx="24095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句柄、文法变换、LL(1)、递归下降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533400" y="51063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33412" y="52354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语义分析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2413635" y="52354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语法结构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5083492" y="523541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类型等检查结果，填好的符号表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198167" y="523541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符号表的局部化处理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533400" y="55121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533400" y="551688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33412" y="56411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中间代码生成与优化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2413635" y="56411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语法结构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5083492" y="564118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四元式，再改写成更省的四元式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198167" y="564118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常表达式、公共表达式、循环不变式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533400" y="59178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33412" y="604694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目标代码生成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2413635" y="604694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四元式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5083492" y="60469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目标程序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198167" y="604694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活动记录、非局部数据访问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533400" y="3893820"/>
              <a:ext cx="11125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2308860" y="389382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4978718" y="389382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8093392" y="389382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8" name="TextBox 118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580638" cy="3351847"/>
            <a:chOff x="667512" y="1835468"/>
            <a:chExt cx="358063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词法分析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一个核心、两个工具、三个转换算法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词法分析器的接口与单词的描述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正则表达式与自动机互相转换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3248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NFA 确定化与 DFA 极小化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5167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自动机的实现与 Token 设计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89893" cy="909257"/>
            <a:chOff x="520446" y="342900"/>
            <a:chExt cx="86898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词法分析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898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词法分析器读字符、交出 Token，与语法分析有两种接法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graph-1"/>
          <p:cNvGrpSpPr/>
          <p:nvPr/>
        </p:nvGrpSpPr>
        <p:grpSpPr>
          <a:xfrm>
            <a:off x="648653" y="1609249"/>
            <a:ext cx="5680709" cy="3454718"/>
            <a:chOff x="648653" y="1609249"/>
            <a:chExt cx="5680709" cy="3454718"/>
          </a:xfrm>
        </p:grpSpPr>
        <p:sp>
          <p:nvSpPr>
            <p:cNvPr id="7" name="Freeform 7"/>
            <p:cNvSpPr/>
            <p:nvPr/>
          </p:nvSpPr>
          <p:spPr>
            <a:xfrm>
              <a:off x="1645920" y="2913698"/>
              <a:ext cx="1617345" cy="298133"/>
            </a:xfrm>
            <a:custGeom>
              <a:avLst/>
              <a:gdLst/>
              <a:ahLst/>
              <a:cxnLst/>
              <a:rect l="l" t="t" r="r" b="b"/>
              <a:pathLst>
                <a:path w="1617345" h="298133">
                  <a:moveTo>
                    <a:pt x="1617345" y="0"/>
                  </a:moveTo>
                  <a:cubicBezTo>
                    <a:pt x="1049655" y="283845"/>
                    <a:pt x="510540" y="298133"/>
                    <a:pt x="0" y="4286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60195" y="2913698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0"/>
                  </a:moveTo>
                  <a:lnTo>
                    <a:pt x="106680" y="0"/>
                  </a:lnTo>
                  <a:lnTo>
                    <a:pt x="63817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60195" y="2316480"/>
              <a:ext cx="1617345" cy="297180"/>
            </a:xfrm>
            <a:custGeom>
              <a:avLst/>
              <a:gdLst/>
              <a:ahLst/>
              <a:cxnLst/>
              <a:rect l="l" t="t" r="r" b="b"/>
              <a:pathLst>
                <a:path w="1617345" h="297180">
                  <a:moveTo>
                    <a:pt x="0" y="297180"/>
                  </a:moveTo>
                  <a:cubicBezTo>
                    <a:pt x="567690" y="13970"/>
                    <a:pt x="1106805" y="0"/>
                    <a:pt x="1617345" y="25527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56585" y="2528888"/>
              <a:ext cx="106680" cy="84772"/>
            </a:xfrm>
            <a:custGeom>
              <a:avLst/>
              <a:gdLst/>
              <a:ahLst/>
              <a:cxnLst/>
              <a:rect l="l" t="t" r="r" b="b"/>
              <a:pathLst>
                <a:path w="106680" h="84772">
                  <a:moveTo>
                    <a:pt x="106680" y="84772"/>
                  </a:moveTo>
                  <a:lnTo>
                    <a:pt x="0" y="84772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948112" y="2913698"/>
              <a:ext cx="1557338" cy="287973"/>
            </a:xfrm>
            <a:custGeom>
              <a:avLst/>
              <a:gdLst/>
              <a:ahLst/>
              <a:cxnLst/>
              <a:rect l="l" t="t" r="r" b="b"/>
              <a:pathLst>
                <a:path w="1557338" h="287973">
                  <a:moveTo>
                    <a:pt x="1557338" y="0"/>
                  </a:moveTo>
                  <a:cubicBezTo>
                    <a:pt x="1009967" y="273685"/>
                    <a:pt x="490855" y="287973"/>
                    <a:pt x="0" y="4286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63340" y="2913698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0"/>
                  </a:moveTo>
                  <a:lnTo>
                    <a:pt x="106680" y="0"/>
                  </a:lnTo>
                  <a:lnTo>
                    <a:pt x="63817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863340" y="2326640"/>
              <a:ext cx="1556385" cy="287020"/>
            </a:xfrm>
            <a:custGeom>
              <a:avLst/>
              <a:gdLst/>
              <a:ahLst/>
              <a:cxnLst/>
              <a:rect l="l" t="t" r="r" b="b"/>
              <a:pathLst>
                <a:path w="1556385" h="287020">
                  <a:moveTo>
                    <a:pt x="0" y="287020"/>
                  </a:moveTo>
                  <a:cubicBezTo>
                    <a:pt x="547370" y="13970"/>
                    <a:pt x="1066165" y="0"/>
                    <a:pt x="1556385" y="24511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98770" y="2528888"/>
              <a:ext cx="106680" cy="84772"/>
            </a:xfrm>
            <a:custGeom>
              <a:avLst/>
              <a:gdLst/>
              <a:ahLst/>
              <a:cxnLst/>
              <a:rect l="l" t="t" r="r" b="b"/>
              <a:pathLst>
                <a:path w="106680" h="84772">
                  <a:moveTo>
                    <a:pt x="106680" y="84772"/>
                  </a:moveTo>
                  <a:lnTo>
                    <a:pt x="0" y="84772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717358" y="4913948"/>
              <a:ext cx="1226820" cy="9525"/>
            </a:xfrm>
            <a:custGeom>
              <a:avLst/>
              <a:gdLst/>
              <a:ahLst/>
              <a:cxnLst/>
              <a:rect l="l" t="t" r="r" b="b"/>
              <a:pathLst>
                <a:path w="1226820" h="9525">
                  <a:moveTo>
                    <a:pt x="0" y="0"/>
                  </a:moveTo>
                  <a:lnTo>
                    <a:pt x="12268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44178" y="48663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087178" y="4913948"/>
              <a:ext cx="1099185" cy="9525"/>
            </a:xfrm>
            <a:custGeom>
              <a:avLst/>
              <a:gdLst/>
              <a:ahLst/>
              <a:cxnLst/>
              <a:rect l="l" t="t" r="r" b="b"/>
              <a:pathLst>
                <a:path w="1099185" h="9525">
                  <a:moveTo>
                    <a:pt x="0" y="0"/>
                  </a:moveTo>
                  <a:lnTo>
                    <a:pt x="10991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186362" y="48663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2958" y="2613660"/>
              <a:ext cx="91440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039428" y="2613660"/>
              <a:ext cx="1047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281612" y="2613660"/>
              <a:ext cx="1047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02958" y="4763452"/>
              <a:ext cx="91440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039428" y="4763452"/>
              <a:ext cx="1047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281612" y="4763452"/>
              <a:ext cx="1047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8281" y="269414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源程序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56039" y="26941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词法分析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98224" y="26941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语法分析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8281" y="484393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源程序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56039" y="48439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词法分析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98224" y="48439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语法分析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247900" y="3041332"/>
              <a:ext cx="32766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273694" y="3073718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read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247900" y="2315528"/>
              <a:ext cx="32766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273694" y="2347912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char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549140" y="3033712"/>
              <a:ext cx="27051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76648" y="3066098"/>
              <a:ext cx="215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call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489132" y="2323148"/>
              <a:ext cx="39052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11154" y="2355532"/>
              <a:ext cx="3464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Token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214562" y="4828222"/>
              <a:ext cx="32766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240356" y="485965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char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357688" y="4828222"/>
              <a:ext cx="65341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371617" y="4859655"/>
              <a:ext cx="6255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Token 序列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653" y="1609249"/>
              <a:ext cx="1653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① 作为语法分析的子程序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653" y="3882866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② 作为独立的一遍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898005" y="1524000"/>
            <a:ext cx="4760595" cy="1917382"/>
            <a:chOff x="6898005" y="1524000"/>
            <a:chExt cx="4760595" cy="1917382"/>
          </a:xfrm>
        </p:grpSpPr>
        <p:sp>
          <p:nvSpPr>
            <p:cNvPr id="46" name="Rectangle 46"/>
            <p:cNvSpPr/>
            <p:nvPr/>
          </p:nvSpPr>
          <p:spPr>
            <a:xfrm>
              <a:off x="6898005" y="1524000"/>
              <a:ext cx="4760595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07530" y="1657350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45655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32398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接法 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73365" y="176879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语法分析要一个单词，就调用一次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38035" y="2129790"/>
              <a:ext cx="4072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语法分析器 call 词法分析器；词法分析器从源程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 read 字符，拼出一个单词，把它的 Token 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39178" y="3033236"/>
              <a:ext cx="33537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不必保存整份 Token 序列，常用这种接法。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898005" y="3631882"/>
            <a:ext cx="4760595" cy="1917382"/>
            <a:chOff x="6898005" y="3631882"/>
            <a:chExt cx="4760595" cy="1917382"/>
          </a:xfrm>
        </p:grpSpPr>
        <p:sp>
          <p:nvSpPr>
            <p:cNvPr id="54" name="Rectangle 54"/>
            <p:cNvSpPr/>
            <p:nvPr/>
          </p:nvSpPr>
          <p:spPr>
            <a:xfrm>
              <a:off x="6898005" y="3631882"/>
              <a:ext cx="4760595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07530" y="3765232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145655" y="3841432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32398" y="387715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接法 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73365" y="3876675"/>
              <a:ext cx="29548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先把整个源程序扫成 Token 序列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38035" y="4237672"/>
              <a:ext cx="4025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词法分析作为编译器单独的一遍，输出完整的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Token 序列（常存成中间文件），语法分析再从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头读它。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39178" y="514111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两部分完全分开，结构清楚，代价是多一遍读写。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2" name="Rectangle 6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130" y="5991225"/>
              <a:ext cx="99268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两种接法下词法分析器做的事相同：跳过空格和注释，识别出单词，把标识符、常量登入索引表，生成 Token。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词法分析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用正则表达式描述各类单词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table-1"/>
          <p:cNvGrpSpPr/>
          <p:nvPr/>
        </p:nvGrpSpPr>
        <p:grpSpPr>
          <a:xfrm>
            <a:off x="527685" y="1524000"/>
            <a:ext cx="6497955" cy="4113372"/>
            <a:chOff x="527685" y="1524000"/>
            <a:chExt cx="6497955" cy="41133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617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单词类别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6311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正则表达式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8382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09940" y="2108359"/>
              <a:ext cx="668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L(L|D)*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06456" y="2108359"/>
              <a:ext cx="25178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A|B|…|Z|a|b|…|z，D = 0|1|…|9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9940" y="2556986"/>
              <a:ext cx="1515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(+|-|ε)(D1 D*) | 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06456" y="2556986"/>
              <a:ext cx="2511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D1 = 1|2|…|9，非零数不带前导 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1189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09940" y="3118961"/>
              <a:ext cx="18182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(+|-|ε)(D1 D*|0) . D*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06456" y="3005614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整数部分同上，小数部分可以为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6809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09940" y="3680936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while|if|for|…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06456" y="368093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有限个，直接枚举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900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1305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09940" y="4130516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+|-|*|…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06456" y="41305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3865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44341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5791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分界符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09940" y="4579144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{|}|;|…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06456" y="45791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8872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223" y="50277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09940" y="5027771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\t|\0|…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06456" y="50277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6492240" cy="38176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697355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293870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7685" y="541734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特殊符号（后四类）都用枚举的方式表示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7330440" y="1524000"/>
            <a:ext cx="4328160" cy="2844165"/>
            <a:chOff x="7330440" y="1524000"/>
            <a:chExt cx="4328160" cy="2844165"/>
          </a:xfrm>
        </p:grpSpPr>
        <p:sp>
          <p:nvSpPr>
            <p:cNvPr id="46" name="Rectangle 46"/>
            <p:cNvSpPr/>
            <p:nvPr/>
          </p:nvSpPr>
          <p:spPr>
            <a:xfrm>
              <a:off x="7330440" y="1524000"/>
              <a:ext cx="4328160" cy="2844165"/>
            </a:xfrm>
            <a:prstGeom prst="roundRect">
              <a:avLst>
                <a:gd name="adj" fmla="val 4689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39990" y="1733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00645" y="1769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正则表达式表示什么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32370" y="2110740"/>
              <a:ext cx="3758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正则表达式 R 表示一个串的集合 L(R)，称为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正则集；串里能出现的全部字符组成字母表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545705" y="30803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03820" y="301752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一个保留字本身就是一个正则表达式：</a:t>
              </a:r>
              <a:br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L(while) = {while}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545705" y="370141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03820" y="3638550"/>
              <a:ext cx="3415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R1|R2 取并集，R1R2 连接，R* 重复 0 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任意次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7330440" y="4558665"/>
            <a:ext cx="4328160" cy="1602105"/>
            <a:chOff x="7330440" y="4558665"/>
            <a:chExt cx="4328160" cy="1602105"/>
          </a:xfrm>
        </p:grpSpPr>
        <p:sp>
          <p:nvSpPr>
            <p:cNvPr id="55" name="Rectangle 55"/>
            <p:cNvSpPr/>
            <p:nvPr/>
          </p:nvSpPr>
          <p:spPr>
            <a:xfrm>
              <a:off x="7330440" y="4558665"/>
              <a:ext cx="432816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39965" y="469201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578090" y="47682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668298" y="48039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70470" y="5145405"/>
              <a:ext cx="37109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(+|-|ε) 表示符号位可以是 +、- 或没有；ε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是空串，原课件写成 (+|-|) 时空着的那一项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 ε。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词法分析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正则表达式描述不了配对、嵌套和重复串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1713548"/>
            <a:chOff x="533400" y="1524000"/>
            <a:chExt cx="5410200" cy="17135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13548"/>
            </a:xfrm>
            <a:prstGeom prst="roundRect">
              <a:avLst>
                <a:gd name="adj" fmla="val 77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4684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局限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两类结构超出正则表达式的能力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58190" y="2059305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3868" y="20976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8987" y="207168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配对或嵌套的结构：括号要成对，而且可以一层套一层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8190" y="2359342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3868" y="23986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8987" y="237172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重复串：同一个串要出现两次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2475" y="2668429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有限自动机只有有限个状态，没法记住任意多的左括号个数，也没法记住任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意长的串 w。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408045"/>
            <a:ext cx="5410200" cy="2945130"/>
            <a:chOff x="533400" y="3408045"/>
            <a:chExt cx="5410200" cy="2945130"/>
          </a:xfrm>
        </p:grpSpPr>
        <p:sp>
          <p:nvSpPr>
            <p:cNvPr id="20" name="Rectangle 20"/>
            <p:cNvSpPr/>
            <p:nvPr/>
          </p:nvSpPr>
          <p:spPr>
            <a:xfrm>
              <a:off x="533400" y="3408045"/>
              <a:ext cx="5410200" cy="2945130"/>
            </a:xfrm>
            <a:prstGeom prst="roundRect">
              <a:avLst>
                <a:gd name="adj" fmla="val 45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541395"/>
              <a:ext cx="47625" cy="26784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8190" y="359473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3961" y="362759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6762" y="399478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2782" y="3938588"/>
              <a:ext cx="46000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{wcw | w 是 a 和 b 组成的串}：两边的 w 必须相同，无法用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正则表达式表示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6762" y="455295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2782" y="4496752"/>
              <a:ext cx="44114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算术表达式 AE：n ∈ AE；(AE) ∈ AE；AE+AE ∈ AE，括号配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对且任意嵌套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1760220"/>
            <a:chOff x="6248400" y="1524000"/>
            <a:chExt cx="5410200" cy="1760220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1657350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3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65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思考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38784" y="1745932"/>
              <a:ext cx="1322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a*ca* 对称吗？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6332" y="2071688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不对称。a*ca* 表示 {aᵐ c aⁿ | m, n ≥ 0}，两边 a 的个数互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不约束，aaca、c 这样的串都属于它。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6332" y="2628900"/>
              <a:ext cx="46771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要求两边个数相等的 {aⁿ c aⁿ | n ≥ 0} 不是正则集：识别它要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记住左边 a 的个数，这个数没有上限。</a:t>
              </a:r>
            </a:p>
          </p:txBody>
        </p:sp>
      </p:grpSp>
      <p:grpSp>
        <p:nvGrpSpPr>
          <p:cNvPr id="55" name="c2-table-2"/>
          <p:cNvGrpSpPr/>
          <p:nvPr/>
        </p:nvGrpSpPr>
        <p:grpSpPr>
          <a:xfrm>
            <a:off x="6248400" y="3453765"/>
            <a:ext cx="5410200" cy="2000250"/>
            <a:chOff x="6248400" y="3453765"/>
            <a:chExt cx="5410200" cy="2000250"/>
          </a:xfrm>
        </p:grpSpPr>
        <p:sp>
          <p:nvSpPr>
            <p:cNvPr id="37" name="Rectangle 37"/>
            <p:cNvSpPr/>
            <p:nvPr/>
          </p:nvSpPr>
          <p:spPr>
            <a:xfrm>
              <a:off x="6248400" y="3453765"/>
              <a:ext cx="541020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98753" y="35752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51530" y="357520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能用正则式描述吗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45555" y="3975259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a*ca*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59240" y="397525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能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，两边个数任意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42491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425386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5555" y="4375309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{aⁿcaⁿ | n ≥ 0}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59240" y="4375309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不能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，要数 a 的个数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46491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5555" y="477535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配对的括号串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59240" y="477535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不能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，嵌套层数无上限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50492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505396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5555" y="5175409"/>
              <a:ext cx="1116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标识符 L(L|D)*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159240" y="517540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3453765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057322" y="345376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llout-3"/>
          <p:cNvGrpSpPr/>
          <p:nvPr/>
        </p:nvGrpSpPr>
        <p:grpSpPr>
          <a:xfrm>
            <a:off x="6248400" y="5623560"/>
            <a:ext cx="5410200" cy="729615"/>
            <a:chOff x="6248400" y="5623560"/>
            <a:chExt cx="5410200" cy="729615"/>
          </a:xfrm>
        </p:grpSpPr>
        <p:sp>
          <p:nvSpPr>
            <p:cNvPr id="56" name="Rectangle 56"/>
            <p:cNvSpPr/>
            <p:nvPr/>
          </p:nvSpPr>
          <p:spPr>
            <a:xfrm>
              <a:off x="6248400" y="562356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53188" y="5888357"/>
              <a:ext cx="200023" cy="200023"/>
              <a:chOff x="6453188" y="5888357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53188" y="58883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86538" y="59550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55892" y="5770245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这些结构交给语法分析，用上下文无关文法描述，分析时借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助一个栈来记住未配对的部分。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71339" cy="909257"/>
            <a:chOff x="520446" y="342900"/>
            <a:chExt cx="72713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词法分析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71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正则式 → NFA：从一条弧开始，按运算逐步拆开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steps-1"/>
          <p:cNvGrpSpPr/>
          <p:nvPr/>
        </p:nvGrpSpPr>
        <p:grpSpPr>
          <a:xfrm>
            <a:off x="533400" y="1533525"/>
            <a:ext cx="4164457" cy="1696689"/>
            <a:chOff x="533400" y="1533525"/>
            <a:chExt cx="4164457" cy="169668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885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880" y="1567815"/>
              <a:ext cx="10657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step1 起步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023" y="1861661"/>
              <a:ext cx="36380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构造初态 S 和终态 Z，由 S 向 Z 画一条弧，弧上标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整个正则表达式 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2453640"/>
              <a:ext cx="14696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step2 反复拆弧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2746534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按右边三条替换规则拆分弧上的表达式，直到每条弧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上都是 Σ 中的单个字符或 ε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408998"/>
            <a:ext cx="4328160" cy="1847850"/>
            <a:chOff x="533400" y="3408998"/>
            <a:chExt cx="4328160" cy="1847850"/>
          </a:xfrm>
        </p:grpSpPr>
        <p:sp>
          <p:nvSpPr>
            <p:cNvPr id="17" name="Rectangle 17"/>
            <p:cNvSpPr/>
            <p:nvPr/>
          </p:nvSpPr>
          <p:spPr>
            <a:xfrm>
              <a:off x="533400" y="3408998"/>
              <a:ext cx="4328160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542348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3618548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8904" y="365426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没有直接规则的运算先改写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3995738"/>
              <a:ext cx="3729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b⁺ 表示 b 至少出现一次，先写成 bb*，再按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连接和闭包拆。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573" y="4613434"/>
              <a:ext cx="3589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表达式的运算是结构化的，拆到只剩单个字符时，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状态图就是所求的 NFA。</a:t>
              </a:r>
            </a:p>
          </p:txBody>
        </p:sp>
      </p:grpSp>
      <p:grpSp>
        <p:nvGrpSpPr>
          <p:cNvPr id="97" name="c2-graph-1"/>
          <p:cNvGrpSpPr/>
          <p:nvPr/>
        </p:nvGrpSpPr>
        <p:grpSpPr>
          <a:xfrm>
            <a:off x="5338762" y="1555909"/>
            <a:ext cx="6082666" cy="3435000"/>
            <a:chOff x="5338762" y="1555909"/>
            <a:chExt cx="6082666" cy="3435000"/>
          </a:xfrm>
        </p:grpSpPr>
        <p:sp>
          <p:nvSpPr>
            <p:cNvPr id="24" name="Freeform 24"/>
            <p:cNvSpPr/>
            <p:nvPr/>
          </p:nvSpPr>
          <p:spPr>
            <a:xfrm>
              <a:off x="5653088" y="2195512"/>
              <a:ext cx="1008697" cy="9525"/>
            </a:xfrm>
            <a:custGeom>
              <a:avLst/>
              <a:gdLst/>
              <a:ahLst/>
              <a:cxnLst/>
              <a:rect l="l" t="t" r="r" b="b"/>
              <a:pathLst>
                <a:path w="1008697" h="9525">
                  <a:moveTo>
                    <a:pt x="0" y="0"/>
                  </a:moveTo>
                  <a:lnTo>
                    <a:pt x="100869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661785" y="21478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8444865" y="2195512"/>
              <a:ext cx="1073467" cy="9525"/>
            </a:xfrm>
            <a:custGeom>
              <a:avLst/>
              <a:gdLst/>
              <a:ahLst/>
              <a:cxnLst/>
              <a:rect l="l" t="t" r="r" b="b"/>
              <a:pathLst>
                <a:path w="1073467" h="9525">
                  <a:moveTo>
                    <a:pt x="0" y="0"/>
                  </a:moveTo>
                  <a:lnTo>
                    <a:pt x="107346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518332" y="21478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937432" y="2195512"/>
              <a:ext cx="1074420" cy="9525"/>
            </a:xfrm>
            <a:custGeom>
              <a:avLst/>
              <a:gdLst/>
              <a:ahLst/>
              <a:cxnLst/>
              <a:rect l="l" t="t" r="r" b="b"/>
              <a:pathLst>
                <a:path w="1074420" h="9525">
                  <a:moveTo>
                    <a:pt x="0" y="0"/>
                  </a:moveTo>
                  <a:lnTo>
                    <a:pt x="10744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1011852" y="21478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5653088" y="3465195"/>
              <a:ext cx="1008697" cy="9525"/>
            </a:xfrm>
            <a:custGeom>
              <a:avLst/>
              <a:gdLst/>
              <a:ahLst/>
              <a:cxnLst/>
              <a:rect l="l" t="t" r="r" b="b"/>
              <a:pathLst>
                <a:path w="1008697" h="9525">
                  <a:moveTo>
                    <a:pt x="0" y="0"/>
                  </a:moveTo>
                  <a:lnTo>
                    <a:pt x="100869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661785" y="34175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692515" y="3104515"/>
              <a:ext cx="2078355" cy="300672"/>
            </a:xfrm>
            <a:custGeom>
              <a:avLst/>
              <a:gdLst/>
              <a:ahLst/>
              <a:cxnLst/>
              <a:rect l="l" t="t" r="r" b="b"/>
              <a:pathLst>
                <a:path w="2078355" h="300672">
                  <a:moveTo>
                    <a:pt x="0" y="300672"/>
                  </a:moveTo>
                  <a:cubicBezTo>
                    <a:pt x="721995" y="11748"/>
                    <a:pt x="1414780" y="0"/>
                    <a:pt x="2078355" y="26543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752772" y="3325178"/>
              <a:ext cx="106680" cy="88582"/>
            </a:xfrm>
            <a:custGeom>
              <a:avLst/>
              <a:gdLst/>
              <a:ahLst/>
              <a:cxnLst/>
              <a:rect l="l" t="t" r="r" b="b"/>
              <a:pathLst>
                <a:path w="106680" h="88582">
                  <a:moveTo>
                    <a:pt x="106680" y="80010"/>
                  </a:moveTo>
                  <a:lnTo>
                    <a:pt x="0" y="88582"/>
                  </a:lnTo>
                  <a:lnTo>
                    <a:pt x="3524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692515" y="3525202"/>
              <a:ext cx="2078355" cy="300672"/>
            </a:xfrm>
            <a:custGeom>
              <a:avLst/>
              <a:gdLst/>
              <a:ahLst/>
              <a:cxnLst/>
              <a:rect l="l" t="t" r="r" b="b"/>
              <a:pathLst>
                <a:path w="2078355" h="300672">
                  <a:moveTo>
                    <a:pt x="0" y="0"/>
                  </a:moveTo>
                  <a:cubicBezTo>
                    <a:pt x="721995" y="288925"/>
                    <a:pt x="1414780" y="300672"/>
                    <a:pt x="2078355" y="3524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752772" y="3516630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8573"/>
                  </a:moveTo>
                  <a:lnTo>
                    <a:pt x="35242" y="88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653088" y="4809172"/>
              <a:ext cx="1008697" cy="9525"/>
            </a:xfrm>
            <a:custGeom>
              <a:avLst/>
              <a:gdLst/>
              <a:ahLst/>
              <a:cxnLst/>
              <a:rect l="l" t="t" r="r" b="b"/>
              <a:pathLst>
                <a:path w="1008697" h="9525">
                  <a:moveTo>
                    <a:pt x="0" y="0"/>
                  </a:moveTo>
                  <a:lnTo>
                    <a:pt x="100869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661785" y="47615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444865" y="4809172"/>
              <a:ext cx="1073467" cy="9525"/>
            </a:xfrm>
            <a:custGeom>
              <a:avLst/>
              <a:gdLst/>
              <a:ahLst/>
              <a:cxnLst/>
              <a:rect l="l" t="t" r="r" b="b"/>
              <a:pathLst>
                <a:path w="1073467" h="9525">
                  <a:moveTo>
                    <a:pt x="0" y="0"/>
                  </a:moveTo>
                  <a:lnTo>
                    <a:pt x="107346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518332" y="47615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9504998" y="4222432"/>
              <a:ext cx="541020" cy="434340"/>
            </a:xfrm>
            <a:custGeom>
              <a:avLst/>
              <a:gdLst/>
              <a:ahLst/>
              <a:cxnLst/>
              <a:rect l="l" t="t" r="r" b="b"/>
              <a:pathLst>
                <a:path w="541020" h="434340">
                  <a:moveTo>
                    <a:pt x="201930" y="434340"/>
                  </a:moveTo>
                  <a:cubicBezTo>
                    <a:pt x="0" y="0"/>
                    <a:pt x="541020" y="0"/>
                    <a:pt x="339090" y="4343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841230" y="4560570"/>
              <a:ext cx="78105" cy="96202"/>
            </a:xfrm>
            <a:custGeom>
              <a:avLst/>
              <a:gdLst/>
              <a:ahLst/>
              <a:cxnLst/>
              <a:rect l="l" t="t" r="r" b="b"/>
              <a:pathLst>
                <a:path w="78105" h="96202">
                  <a:moveTo>
                    <a:pt x="2857" y="96202"/>
                  </a:moveTo>
                  <a:lnTo>
                    <a:pt x="0" y="0"/>
                  </a:lnTo>
                  <a:lnTo>
                    <a:pt x="78105" y="361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937432" y="4809172"/>
              <a:ext cx="1074420" cy="9525"/>
            </a:xfrm>
            <a:custGeom>
              <a:avLst/>
              <a:gdLst/>
              <a:ahLst/>
              <a:cxnLst/>
              <a:rect l="l" t="t" r="r" b="b"/>
              <a:pathLst>
                <a:path w="1074420" h="9525">
                  <a:moveTo>
                    <a:pt x="0" y="0"/>
                  </a:moveTo>
                  <a:lnTo>
                    <a:pt x="10744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1011852" y="47615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5338762" y="204311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6766560" y="204311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8130540" y="204311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9623108" y="204311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1116628" y="204311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5338762" y="331279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766560" y="331279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389620" y="331279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0856595" y="331279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5338762" y="465677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6766560" y="465677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8130540" y="465677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9623108" y="465677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11116628" y="465677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441911" y="21255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69709" y="21255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33689" y="21255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26256" y="21255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19776" y="21255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441911" y="33951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69709" y="33951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92769" y="33951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959744" y="33951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441911" y="47391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69709" y="47391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33689" y="47391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726256" y="47391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219776" y="47391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083618" y="2081212"/>
              <a:ext cx="243840" cy="21336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105563" y="212407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AB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949690" y="2081212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976665" y="212407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0442258" y="2081212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469232" y="212407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060758" y="3350895"/>
              <a:ext cx="289560" cy="21336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079960" y="3393757"/>
              <a:ext cx="2511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A|B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695498" y="3073718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722472" y="311658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695498" y="3628072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722472" y="366998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083618" y="4694872"/>
              <a:ext cx="243840" cy="21336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105563" y="473773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A*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8949690" y="4694872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979179" y="47377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ε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722472" y="415004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10442258" y="4694872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471747" y="47377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ε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528430" y="2055495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⇒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528430" y="3324225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⇒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528430" y="466820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⇒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026747" y="15559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连接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112904" y="280463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或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026747" y="4148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闭包</a:t>
              </a:r>
            </a:p>
          </p:txBody>
        </p:sp>
      </p:grpSp>
      <p:grpSp>
        <p:nvGrpSpPr>
          <p:cNvPr id="10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98" name="Rectangle 9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1040130" y="5991225"/>
              <a:ext cx="9804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 代表任意子表达式。闭包规则中间多出一个状态 3，并用两条 ε 弧连进连出，下一页说明为什么不能省。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2759" cy="909257"/>
            <a:chOff x="520446" y="342900"/>
            <a:chExt cx="69627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词法分析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27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闭包规则为什么要两条 ε 弧：省掉会多接受串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graph-1"/>
          <p:cNvGrpSpPr/>
          <p:nvPr/>
        </p:nvGrpSpPr>
        <p:grpSpPr>
          <a:xfrm>
            <a:off x="640080" y="1604486"/>
            <a:ext cx="5053965" cy="3917538"/>
            <a:chOff x="640080" y="1604486"/>
            <a:chExt cx="5053965" cy="3917538"/>
          </a:xfrm>
        </p:grpSpPr>
        <p:sp>
          <p:nvSpPr>
            <p:cNvPr id="7" name="Freeform 7"/>
            <p:cNvSpPr/>
            <p:nvPr/>
          </p:nvSpPr>
          <p:spPr>
            <a:xfrm>
              <a:off x="1258252" y="2654618"/>
              <a:ext cx="1718310" cy="9525"/>
            </a:xfrm>
            <a:custGeom>
              <a:avLst/>
              <a:gdLst/>
              <a:ahLst/>
              <a:cxnLst/>
              <a:rect l="l" t="t" r="r" b="b"/>
              <a:pathLst>
                <a:path w="1718310" h="9525">
                  <a:moveTo>
                    <a:pt x="0" y="0"/>
                  </a:moveTo>
                  <a:lnTo>
                    <a:pt x="17183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976562" y="26069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963228" y="2067878"/>
              <a:ext cx="541020" cy="434340"/>
            </a:xfrm>
            <a:custGeom>
              <a:avLst/>
              <a:gdLst/>
              <a:ahLst/>
              <a:cxnLst/>
              <a:rect l="l" t="t" r="r" b="b"/>
              <a:pathLst>
                <a:path w="541020" h="434340">
                  <a:moveTo>
                    <a:pt x="201930" y="434340"/>
                  </a:moveTo>
                  <a:cubicBezTo>
                    <a:pt x="0" y="0"/>
                    <a:pt x="541020" y="0"/>
                    <a:pt x="339090" y="4343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300412" y="2406015"/>
              <a:ext cx="77153" cy="96202"/>
            </a:xfrm>
            <a:custGeom>
              <a:avLst/>
              <a:gdLst/>
              <a:ahLst/>
              <a:cxnLst/>
              <a:rect l="l" t="t" r="r" b="b"/>
              <a:pathLst>
                <a:path w="77153" h="96202">
                  <a:moveTo>
                    <a:pt x="1905" y="96202"/>
                  </a:moveTo>
                  <a:lnTo>
                    <a:pt x="0" y="0"/>
                  </a:lnTo>
                  <a:lnTo>
                    <a:pt x="77153" y="361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395662" y="2654618"/>
              <a:ext cx="1662112" cy="9525"/>
            </a:xfrm>
            <a:custGeom>
              <a:avLst/>
              <a:gdLst/>
              <a:ahLst/>
              <a:cxnLst/>
              <a:rect l="l" t="t" r="r" b="b"/>
              <a:pathLst>
                <a:path w="1662112" h="9525">
                  <a:moveTo>
                    <a:pt x="0" y="0"/>
                  </a:moveTo>
                  <a:lnTo>
                    <a:pt x="16621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057775" y="26069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96328" y="2816542"/>
              <a:ext cx="4275772" cy="523875"/>
            </a:xfrm>
            <a:custGeom>
              <a:avLst/>
              <a:gdLst/>
              <a:ahLst/>
              <a:cxnLst/>
              <a:rect l="l" t="t" r="r" b="b"/>
              <a:pathLst>
                <a:path w="4275772" h="523875">
                  <a:moveTo>
                    <a:pt x="0" y="0"/>
                  </a:moveTo>
                  <a:lnTo>
                    <a:pt x="0" y="523875"/>
                  </a:lnTo>
                  <a:lnTo>
                    <a:pt x="4275772" y="523875"/>
                  </a:lnTo>
                  <a:lnTo>
                    <a:pt x="4275772" y="1524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24475" y="28736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258252" y="4672012"/>
              <a:ext cx="3799522" cy="9525"/>
            </a:xfrm>
            <a:custGeom>
              <a:avLst/>
              <a:gdLst/>
              <a:ahLst/>
              <a:cxnLst/>
              <a:rect l="l" t="t" r="r" b="b"/>
              <a:pathLst>
                <a:path w="3799522" h="9525">
                  <a:moveTo>
                    <a:pt x="0" y="0"/>
                  </a:moveTo>
                  <a:lnTo>
                    <a:pt x="37995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057775" y="46243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050155" y="3993832"/>
              <a:ext cx="643890" cy="468630"/>
            </a:xfrm>
            <a:custGeom>
              <a:avLst/>
              <a:gdLst/>
              <a:ahLst/>
              <a:cxnLst/>
              <a:rect l="l" t="t" r="r" b="b"/>
              <a:pathLst>
                <a:path w="643890" h="468630">
                  <a:moveTo>
                    <a:pt x="227647" y="468630"/>
                  </a:moveTo>
                  <a:cubicBezTo>
                    <a:pt x="0" y="0"/>
                    <a:pt x="643890" y="0"/>
                    <a:pt x="416242" y="46863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465445" y="4367212"/>
              <a:ext cx="77153" cy="95250"/>
            </a:xfrm>
            <a:custGeom>
              <a:avLst/>
              <a:gdLst/>
              <a:ahLst/>
              <a:cxnLst/>
              <a:rect l="l" t="t" r="r" b="b"/>
              <a:pathLst>
                <a:path w="77153" h="95250">
                  <a:moveTo>
                    <a:pt x="953" y="95250"/>
                  </a:moveTo>
                  <a:lnTo>
                    <a:pt x="0" y="0"/>
                  </a:lnTo>
                  <a:lnTo>
                    <a:pt x="77153" y="3714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096328" y="4833938"/>
              <a:ext cx="4275772" cy="524828"/>
            </a:xfrm>
            <a:custGeom>
              <a:avLst/>
              <a:gdLst/>
              <a:ahLst/>
              <a:cxnLst/>
              <a:rect l="l" t="t" r="r" b="b"/>
              <a:pathLst>
                <a:path w="4275772" h="524828">
                  <a:moveTo>
                    <a:pt x="0" y="0"/>
                  </a:moveTo>
                  <a:lnTo>
                    <a:pt x="0" y="524828"/>
                  </a:lnTo>
                  <a:lnTo>
                    <a:pt x="4275772" y="524828"/>
                  </a:lnTo>
                  <a:lnTo>
                    <a:pt x="4275772" y="1524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324475" y="48910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43928" y="250221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081338" y="250221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162550" y="244506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219700" y="250221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43928" y="451961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162550" y="44624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5219700" y="451961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47076" y="25846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84486" y="25846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22849" y="25846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7076" y="46020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22849" y="46020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085022" y="2540318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114512" y="258222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ε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83217" y="199548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194810" y="2540318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224299" y="258222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ε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153728" y="3226118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183217" y="32689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125152" y="4557712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154642" y="460057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ε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21579" y="393001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153728" y="5244465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183217" y="528732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0080" y="1604486"/>
              <a:ext cx="1121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按规则构造 a*|b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0080" y="3662839"/>
              <a:ext cx="2136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省掉 3 → 2 的 ε，自环挂到 2 上</a:t>
              </a:r>
            </a:p>
          </p:txBody>
        </p:sp>
      </p:grpSp>
      <p:grpSp>
        <p:nvGrpSpPr>
          <p:cNvPr id="85" name="c2-table-1"/>
          <p:cNvGrpSpPr/>
          <p:nvPr/>
        </p:nvGrpSpPr>
        <p:grpSpPr>
          <a:xfrm>
            <a:off x="6458902" y="1524000"/>
            <a:ext cx="5199698" cy="2877027"/>
            <a:chOff x="6458902" y="1524000"/>
            <a:chExt cx="5199698" cy="2877027"/>
          </a:xfrm>
        </p:grpSpPr>
        <p:sp>
          <p:nvSpPr>
            <p:cNvPr id="48" name="Rectangle 48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67716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输入串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35808" y="1655445"/>
              <a:ext cx="684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正确 NFA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66686" y="1655445"/>
              <a:ext cx="691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省掉 ε 后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07847" y="1655445"/>
              <a:ext cx="878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属于 a*|b？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40298" y="2085022"/>
              <a:ext cx="751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ε（空串）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10550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44990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860214" y="208502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64618" y="23793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64618" y="2384108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16740" y="251555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aa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10550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444990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860214" y="251555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64618" y="28098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63386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10550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444990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860214" y="294608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464618" y="32394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64618" y="3244215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016740" y="3375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10550" y="3375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999220" y="3253740"/>
              <a:ext cx="1227772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444990" y="3375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接受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860214" y="33756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464618" y="36699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016740" y="38061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bb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210550" y="38061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444990" y="38061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860214" y="380619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464618" y="1524000"/>
              <a:ext cx="5193982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762875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8984932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10231755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458902" y="4180999"/>
              <a:ext cx="4960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用程序逐串模拟两台 NFA 得到（复核脚本 compiler_review_verify.py）</a:t>
              </a:r>
            </a:p>
          </p:txBody>
        </p:sp>
      </p:grpSp>
      <p:grpSp>
        <p:nvGrpSpPr>
          <p:cNvPr id="92" name="c2-callout-2"/>
          <p:cNvGrpSpPr/>
          <p:nvPr/>
        </p:nvGrpSpPr>
        <p:grpSpPr>
          <a:xfrm>
            <a:off x="6464618" y="4541520"/>
            <a:ext cx="5193982" cy="1018222"/>
            <a:chOff x="6464618" y="4541520"/>
            <a:chExt cx="5193982" cy="1018222"/>
          </a:xfrm>
        </p:grpSpPr>
        <p:sp>
          <p:nvSpPr>
            <p:cNvPr id="86" name="Rectangle 86"/>
            <p:cNvSpPr/>
            <p:nvPr/>
          </p:nvSpPr>
          <p:spPr>
            <a:xfrm>
              <a:off x="6464618" y="4541520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6657347" y="4947403"/>
              <a:ext cx="224134" cy="192560"/>
              <a:chOff x="6657347" y="4947403"/>
              <a:chExt cx="224134" cy="19256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6769418" y="50177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6657347" y="49474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769418" y="50955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6971729" y="4688681"/>
              <a:ext cx="4261485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省掉后一条 ε，自环就长在弧的终点 2 上；别的弧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（这里是 b）也进入 2，读完 b 还能绕 a 圈，于是多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接受了 ba。省掉前一条 ε 同理，自环会长到起点上。</a:t>
              </a:r>
            </a:p>
          </p:txBody>
        </p:sp>
      </p:grpSp>
      <p:grpSp>
        <p:nvGrpSpPr>
          <p:cNvPr id="9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93" name="Rectangle 9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1040511" y="6004084"/>
              <a:ext cx="71160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闭包的自环要放在一个只属于它自己的新状态上，两条 ε 弧把这个状态和外面隔开。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14620" cy="909257"/>
            <a:chOff x="520446" y="342900"/>
            <a:chExt cx="76146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词法分析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146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NFA → 正则式：把三条规则反过来用，逐步合并弧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410200" cy="1720215"/>
            <a:chOff x="533400" y="1524000"/>
            <a:chExt cx="5410200" cy="1720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819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41816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自动机片段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7507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4569" y="2085022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1 −a→ 2 −b→ 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09669" y="2085022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1 −ab→ 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04569" y="2515552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1 −a→ 2 和 1 −b→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09669" y="2515552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1 −a|b→ 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04569" y="2946082"/>
              <a:ext cx="2338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1 −a→ 2，2 上有自环 b，2 −c→ 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09669" y="29460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1 −ab*c→ 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39446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9956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3429952"/>
            <a:ext cx="5410200" cy="1643062"/>
            <a:chOff x="533400" y="3429952"/>
            <a:chExt cx="5410200" cy="1643062"/>
          </a:xfrm>
        </p:grpSpPr>
        <p:sp>
          <p:nvSpPr>
            <p:cNvPr id="27" name="Rectangle 27"/>
            <p:cNvSpPr/>
            <p:nvPr/>
          </p:nvSpPr>
          <p:spPr>
            <a:xfrm>
              <a:off x="533400" y="3429952"/>
              <a:ext cx="5410200" cy="1643062"/>
            </a:xfrm>
            <a:prstGeom prst="roundRect">
              <a:avLst>
                <a:gd name="adj" fmla="val 8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563302"/>
              <a:ext cx="47625" cy="13763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75335" y="363378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7644" y="36695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语义解释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2955" y="406717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9546" y="4006691"/>
              <a:ext cx="25282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串联：先读 a 再读 b 才能到 3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2955" y="438721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9546" y="432673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并联：走上面还是下面都行，读 a 或 b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2955" y="470725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9546" y="4646771"/>
              <a:ext cx="41626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自环：a 必须有，b 可以绕 0 到任意次，c 必须有</a:t>
              </a:r>
            </a:p>
          </p:txBody>
        </p:sp>
      </p:grpSp>
      <p:grpSp>
        <p:nvGrpSpPr>
          <p:cNvPr id="44" name="c1-callout-3"/>
          <p:cNvGrpSpPr/>
          <p:nvPr/>
        </p:nvGrpSpPr>
        <p:grpSpPr>
          <a:xfrm>
            <a:off x="533400" y="5258752"/>
            <a:ext cx="5410200" cy="1018222"/>
            <a:chOff x="533400" y="5258752"/>
            <a:chExt cx="5410200" cy="1018222"/>
          </a:xfrm>
        </p:grpSpPr>
        <p:sp>
          <p:nvSpPr>
            <p:cNvPr id="38" name="Rectangle 38"/>
            <p:cNvSpPr/>
            <p:nvPr/>
          </p:nvSpPr>
          <p:spPr>
            <a:xfrm>
              <a:off x="533400" y="5258752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26129" y="5664636"/>
              <a:ext cx="224134" cy="192560"/>
              <a:chOff x="726129" y="5664636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8200" y="57350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6129" y="56646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58127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511" y="5405914"/>
              <a:ext cx="45229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结构化的自动机反复套用这三条就能化完；几个回路交叉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套在一起时，只靠它们很难一眼看出结果，要一个个消去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中间状态。</a:t>
              </a:r>
            </a:p>
          </p:txBody>
        </p:sp>
      </p:grpSp>
      <p:grpSp>
        <p:nvGrpSpPr>
          <p:cNvPr id="96" name="c2-graph-1"/>
          <p:cNvGrpSpPr/>
          <p:nvPr/>
        </p:nvGrpSpPr>
        <p:grpSpPr>
          <a:xfrm>
            <a:off x="6351270" y="1553051"/>
            <a:ext cx="5084445" cy="2508409"/>
            <a:chOff x="6351270" y="1553051"/>
            <a:chExt cx="5084445" cy="2508409"/>
          </a:xfrm>
        </p:grpSpPr>
        <p:sp>
          <p:nvSpPr>
            <p:cNvPr id="45" name="Freeform 45"/>
            <p:cNvSpPr/>
            <p:nvPr/>
          </p:nvSpPr>
          <p:spPr>
            <a:xfrm>
              <a:off x="6789420" y="2355532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884795" y="23079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281035" y="1997710"/>
              <a:ext cx="1209675" cy="274955"/>
            </a:xfrm>
            <a:custGeom>
              <a:avLst/>
              <a:gdLst/>
              <a:ahLst/>
              <a:cxnLst/>
              <a:rect l="l" t="t" r="r" b="b"/>
              <a:pathLst>
                <a:path w="1209675" h="274955">
                  <a:moveTo>
                    <a:pt x="0" y="274955"/>
                  </a:moveTo>
                  <a:cubicBezTo>
                    <a:pt x="430530" y="16510"/>
                    <a:pt x="833755" y="0"/>
                    <a:pt x="1209675" y="22542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465945" y="2182178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90488"/>
                  </a:moveTo>
                  <a:lnTo>
                    <a:pt x="0" y="81915"/>
                  </a:lnTo>
                  <a:lnTo>
                    <a:pt x="4857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8362950" y="2438400"/>
              <a:ext cx="1208722" cy="274955"/>
            </a:xfrm>
            <a:custGeom>
              <a:avLst/>
              <a:gdLst/>
              <a:ahLst/>
              <a:cxnLst/>
              <a:rect l="l" t="t" r="r" b="b"/>
              <a:pathLst>
                <a:path w="1208722" h="274955">
                  <a:moveTo>
                    <a:pt x="1208722" y="0"/>
                  </a:moveTo>
                  <a:cubicBezTo>
                    <a:pt x="778827" y="258445"/>
                    <a:pt x="375920" y="274955"/>
                    <a:pt x="0" y="4953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281035" y="2438400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0" y="0"/>
                  </a:moveTo>
                  <a:lnTo>
                    <a:pt x="105728" y="8572"/>
                  </a:lnTo>
                  <a:lnTo>
                    <a:pt x="57150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9872662" y="2355532"/>
              <a:ext cx="1039177" cy="9525"/>
            </a:xfrm>
            <a:custGeom>
              <a:avLst/>
              <a:gdLst/>
              <a:ahLst/>
              <a:cxnLst/>
              <a:rect l="l" t="t" r="r" b="b"/>
              <a:pathLst>
                <a:path w="1039177" h="9525">
                  <a:moveTo>
                    <a:pt x="0" y="0"/>
                  </a:moveTo>
                  <a:lnTo>
                    <a:pt x="103917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911840" y="23079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789420" y="3851910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884795" y="38042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8303895" y="3851910"/>
              <a:ext cx="1149668" cy="9525"/>
            </a:xfrm>
            <a:custGeom>
              <a:avLst/>
              <a:gdLst/>
              <a:ahLst/>
              <a:cxnLst/>
              <a:rect l="l" t="t" r="r" b="b"/>
              <a:pathLst>
                <a:path w="1149668" h="9525">
                  <a:moveTo>
                    <a:pt x="0" y="0"/>
                  </a:moveTo>
                  <a:lnTo>
                    <a:pt x="11496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453562" y="38042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9440228" y="3265170"/>
              <a:ext cx="541020" cy="434340"/>
            </a:xfrm>
            <a:custGeom>
              <a:avLst/>
              <a:gdLst/>
              <a:ahLst/>
              <a:cxnLst/>
              <a:rect l="l" t="t" r="r" b="b"/>
              <a:pathLst>
                <a:path w="541020" h="434340">
                  <a:moveTo>
                    <a:pt x="201930" y="434340"/>
                  </a:moveTo>
                  <a:cubicBezTo>
                    <a:pt x="0" y="0"/>
                    <a:pt x="541020" y="0"/>
                    <a:pt x="339090" y="4343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9776460" y="3604260"/>
              <a:ext cx="78105" cy="95250"/>
            </a:xfrm>
            <a:custGeom>
              <a:avLst/>
              <a:gdLst/>
              <a:ahLst/>
              <a:cxnLst/>
              <a:rect l="l" t="t" r="r" b="b"/>
              <a:pathLst>
                <a:path w="78105" h="95250">
                  <a:moveTo>
                    <a:pt x="2857" y="95250"/>
                  </a:moveTo>
                  <a:lnTo>
                    <a:pt x="0" y="0"/>
                  </a:lnTo>
                  <a:lnTo>
                    <a:pt x="78105" y="361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9872662" y="3851910"/>
              <a:ext cx="1039177" cy="9525"/>
            </a:xfrm>
            <a:custGeom>
              <a:avLst/>
              <a:gdLst/>
              <a:ahLst/>
              <a:cxnLst/>
              <a:rect l="l" t="t" r="r" b="b"/>
              <a:pathLst>
                <a:path w="1039177" h="9525">
                  <a:moveTo>
                    <a:pt x="0" y="0"/>
                  </a:moveTo>
                  <a:lnTo>
                    <a:pt x="103917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0911840" y="38042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6475095" y="220313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7989570" y="220313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9558338" y="220313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11016615" y="214598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11073765" y="220313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6475095" y="369951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7989570" y="369951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9558338" y="369951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11016615" y="364236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11073765" y="369951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78244" y="22855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92719" y="22855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661486" y="22855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176914" y="22855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578244" y="3781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092719" y="3781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661486" y="3781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176914" y="3781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304722" y="2241232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334212" y="22840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846820" y="1964055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876309" y="200691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8846820" y="2518410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876309" y="25612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0359390" y="2241232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388879" y="22840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304722" y="3737610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334212" y="37804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846820" y="3737610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876309" y="37804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615792" y="319373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ba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10359390" y="3737610"/>
              <a:ext cx="160020" cy="2133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0388879" y="37804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351270" y="155305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例：原自动机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351270" y="2955131"/>
              <a:ext cx="2302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回路 3→2→3 合并成 3 上的自环 ba</a:t>
              </a:r>
            </a:p>
          </p:txBody>
        </p:sp>
      </p:grpSp>
      <p:grpSp>
        <p:nvGrpSpPr>
          <p:cNvPr id="114" name="c2-steps-2"/>
          <p:cNvGrpSpPr/>
          <p:nvPr/>
        </p:nvGrpSpPr>
        <p:grpSpPr>
          <a:xfrm>
            <a:off x="6248400" y="4481512"/>
            <a:ext cx="5410200" cy="1398270"/>
            <a:chOff x="6248400" y="4481512"/>
            <a:chExt cx="5410200" cy="1398270"/>
          </a:xfrm>
        </p:grpSpPr>
        <p:sp>
          <p:nvSpPr>
            <p:cNvPr id="97" name="Rectangle 97"/>
            <p:cNvSpPr/>
            <p:nvPr/>
          </p:nvSpPr>
          <p:spPr>
            <a:xfrm>
              <a:off x="6248400" y="4481512"/>
              <a:ext cx="1612582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6381750" y="461486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471883" y="46853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374511" y="5019199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合并回路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375654" y="5318760"/>
              <a:ext cx="11628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3 −b→ 2 −a→ 3 变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3 上的自环 ba</a:t>
              </a:r>
            </a:p>
          </p:txBody>
        </p:sp>
        <p:sp>
          <p:nvSpPr>
            <p:cNvPr id="102" name="Freeform 102"/>
            <p:cNvSpPr/>
            <p:nvPr/>
          </p:nvSpPr>
          <p:spPr>
            <a:xfrm>
              <a:off x="7937182" y="509492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8146732" y="4481512"/>
              <a:ext cx="1612582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8280082" y="461486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8370216" y="46853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272844" y="5019199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自环规则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273986" y="5318760"/>
              <a:ext cx="11170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2 −a→ 3 ⟲ba −d→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化为 a(ba)*d</a:t>
              </a:r>
            </a:p>
          </p:txBody>
        </p:sp>
        <p:sp>
          <p:nvSpPr>
            <p:cNvPr id="108" name="Freeform 108"/>
            <p:cNvSpPr/>
            <p:nvPr/>
          </p:nvSpPr>
          <p:spPr>
            <a:xfrm>
              <a:off x="9836468" y="509492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10046018" y="4481512"/>
              <a:ext cx="1612582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10179368" y="461486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10269501" y="46853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0172128" y="5019199"/>
              <a:ext cx="567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串联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173272" y="5318760"/>
              <a:ext cx="1150620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前面接上 1 −a→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2，得 </a:t>
              </a:r>
              <a:r>
                <a:rPr lang="en-US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aa(ba)*d</a:t>
              </a:r>
            </a:p>
          </p:txBody>
        </p:sp>
      </p:grpSp>
      <p:grpSp>
        <p:nvGrpSpPr>
          <p:cNvPr id="1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5" name="TextBox 115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47170" cy="909257"/>
            <a:chOff x="520446" y="342900"/>
            <a:chExt cx="70471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词法分析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471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① 正则式 (a|b)(c|d)*(e|f) 先拆成 NFA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35040" cy="264033"/>
            <a:chOff x="526542" y="1545907"/>
            <a:chExt cx="603504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35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考试典型题的完整链条：正则式 → NFA → DFA → 最小化。这一页做第一步。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38338"/>
            <a:ext cx="4375104" cy="2268379"/>
            <a:chOff x="533400" y="1938338"/>
            <a:chExt cx="4375104" cy="2268379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2126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95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0419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78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68712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7609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9697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237899"/>
              <a:ext cx="3109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0 −(a|b)(c|d)*(e|f)→ 4，0 为初态，4 为终态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5527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拆连接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820829"/>
              <a:ext cx="2325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0 −(a|b)→ 1 −(c|d)*→ 3 −(e|f)→ 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13563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拆闭包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403759"/>
              <a:ext cx="2325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1 −ε→ 2，2 上自环 (c|d)，2 −ε→ 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71856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986689"/>
              <a:ext cx="3961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 成两条平行弧；c、d 成两个自环；e、f 成两条平行弧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4370070"/>
            <a:ext cx="4544378" cy="1946910"/>
            <a:chOff x="533400" y="4370070"/>
            <a:chExt cx="4544378" cy="1946910"/>
          </a:xfrm>
        </p:grpSpPr>
        <p:sp>
          <p:nvSpPr>
            <p:cNvPr id="27" name="Rectangle 27"/>
            <p:cNvSpPr/>
            <p:nvPr/>
          </p:nvSpPr>
          <p:spPr>
            <a:xfrm>
              <a:off x="533400" y="4370070"/>
              <a:ext cx="4544378" cy="1946910"/>
            </a:xfrm>
            <a:prstGeom prst="roundRect">
              <a:avLst>
                <a:gd name="adj" fmla="val 68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503420"/>
              <a:ext cx="47625" cy="168021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8190" y="455676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5609" y="458962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先拆哪个运算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332" y="4900612"/>
              <a:ext cx="39570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先拆优先级最低、位于最外层的运算。本题最外层是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三段连接，所以第一刀按连接拆成三条弧，括号里的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“或”和闭包留到后面。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2475" y="5711666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弧上只剩单个字符或 ε 时停止。</a:t>
              </a:r>
            </a:p>
          </p:txBody>
        </p:sp>
      </p:grpSp>
      <p:grpSp>
        <p:nvGrpSpPr>
          <p:cNvPr id="77" name="c2-graph-1"/>
          <p:cNvGrpSpPr/>
          <p:nvPr/>
        </p:nvGrpSpPr>
        <p:grpSpPr>
          <a:xfrm>
            <a:off x="5483542" y="2082165"/>
            <a:ext cx="6008370" cy="1358837"/>
            <a:chOff x="5483542" y="2082165"/>
            <a:chExt cx="6008370" cy="1358837"/>
          </a:xfrm>
        </p:grpSpPr>
        <p:sp>
          <p:nvSpPr>
            <p:cNvPr id="34" name="Freeform 34"/>
            <p:cNvSpPr/>
            <p:nvPr/>
          </p:nvSpPr>
          <p:spPr>
            <a:xfrm>
              <a:off x="5483542" y="2725102"/>
              <a:ext cx="206692" cy="9525"/>
            </a:xfrm>
            <a:custGeom>
              <a:avLst/>
              <a:gdLst/>
              <a:ahLst/>
              <a:cxnLst/>
              <a:rect l="l" t="t" r="r" b="b"/>
              <a:pathLst>
                <a:path w="206692" h="9525">
                  <a:moveTo>
                    <a:pt x="0" y="0"/>
                  </a:moveTo>
                  <a:lnTo>
                    <a:pt x="20669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690235" y="26774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086475" y="2404745"/>
              <a:ext cx="1021080" cy="236538"/>
            </a:xfrm>
            <a:custGeom>
              <a:avLst/>
              <a:gdLst/>
              <a:ahLst/>
              <a:cxnLst/>
              <a:rect l="l" t="t" r="r" b="b"/>
              <a:pathLst>
                <a:path w="1021080" h="236538">
                  <a:moveTo>
                    <a:pt x="0" y="236538"/>
                  </a:moveTo>
                  <a:cubicBezTo>
                    <a:pt x="367665" y="16192"/>
                    <a:pt x="708025" y="0"/>
                    <a:pt x="1021080" y="18796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082790" y="2551748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106680" y="89535"/>
                  </a:moveTo>
                  <a:lnTo>
                    <a:pt x="0" y="81915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6086475" y="2807970"/>
              <a:ext cx="1021080" cy="237490"/>
            </a:xfrm>
            <a:custGeom>
              <a:avLst/>
              <a:gdLst/>
              <a:ahLst/>
              <a:cxnLst/>
              <a:rect l="l" t="t" r="r" b="b"/>
              <a:pathLst>
                <a:path w="1021080" h="237490">
                  <a:moveTo>
                    <a:pt x="0" y="0"/>
                  </a:moveTo>
                  <a:cubicBezTo>
                    <a:pt x="367665" y="220980"/>
                    <a:pt x="708025" y="237490"/>
                    <a:pt x="1021080" y="4953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082790" y="2807970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0"/>
                  </a:moveTo>
                  <a:lnTo>
                    <a:pt x="49530" y="90488"/>
                  </a:lnTo>
                  <a:lnTo>
                    <a:pt x="0" y="857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7490460" y="2725102"/>
              <a:ext cx="961072" cy="9525"/>
            </a:xfrm>
            <a:custGeom>
              <a:avLst/>
              <a:gdLst/>
              <a:ahLst/>
              <a:cxnLst/>
              <a:rect l="l" t="t" r="r" b="b"/>
              <a:pathLst>
                <a:path w="961072" h="9525">
                  <a:moveTo>
                    <a:pt x="0" y="0"/>
                  </a:moveTo>
                  <a:lnTo>
                    <a:pt x="9610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451532" y="26774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438198" y="2138362"/>
              <a:ext cx="541020" cy="434340"/>
            </a:xfrm>
            <a:custGeom>
              <a:avLst/>
              <a:gdLst/>
              <a:ahLst/>
              <a:cxnLst/>
              <a:rect l="l" t="t" r="r" b="b"/>
              <a:pathLst>
                <a:path w="541020" h="434340">
                  <a:moveTo>
                    <a:pt x="201930" y="434340"/>
                  </a:moveTo>
                  <a:cubicBezTo>
                    <a:pt x="0" y="0"/>
                    <a:pt x="541020" y="0"/>
                    <a:pt x="339090" y="4343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774430" y="2476500"/>
              <a:ext cx="78105" cy="96203"/>
            </a:xfrm>
            <a:custGeom>
              <a:avLst/>
              <a:gdLst/>
              <a:ahLst/>
              <a:cxnLst/>
              <a:rect l="l" t="t" r="r" b="b"/>
              <a:pathLst>
                <a:path w="78105" h="96203">
                  <a:moveTo>
                    <a:pt x="2857" y="96203"/>
                  </a:moveTo>
                  <a:lnTo>
                    <a:pt x="0" y="0"/>
                  </a:lnTo>
                  <a:lnTo>
                    <a:pt x="78105" y="361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438198" y="2877502"/>
              <a:ext cx="541020" cy="434340"/>
            </a:xfrm>
            <a:custGeom>
              <a:avLst/>
              <a:gdLst/>
              <a:ahLst/>
              <a:cxnLst/>
              <a:rect l="l" t="t" r="r" b="b"/>
              <a:pathLst>
                <a:path w="541020" h="434340">
                  <a:moveTo>
                    <a:pt x="201930" y="0"/>
                  </a:moveTo>
                  <a:cubicBezTo>
                    <a:pt x="0" y="434340"/>
                    <a:pt x="541020" y="434340"/>
                    <a:pt x="339090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774430" y="2877502"/>
              <a:ext cx="78105" cy="95250"/>
            </a:xfrm>
            <a:custGeom>
              <a:avLst/>
              <a:gdLst/>
              <a:ahLst/>
              <a:cxnLst/>
              <a:rect l="l" t="t" r="r" b="b"/>
              <a:pathLst>
                <a:path w="78105" h="95250">
                  <a:moveTo>
                    <a:pt x="2857" y="0"/>
                  </a:moveTo>
                  <a:lnTo>
                    <a:pt x="78105" y="5905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870632" y="2725102"/>
              <a:ext cx="899160" cy="9525"/>
            </a:xfrm>
            <a:custGeom>
              <a:avLst/>
              <a:gdLst/>
              <a:ahLst/>
              <a:cxnLst/>
              <a:rect l="l" t="t" r="r" b="b"/>
              <a:pathLst>
                <a:path w="899160" h="9525">
                  <a:moveTo>
                    <a:pt x="0" y="0"/>
                  </a:moveTo>
                  <a:lnTo>
                    <a:pt x="8991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769792" y="26774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10166032" y="2419668"/>
              <a:ext cx="846773" cy="221615"/>
            </a:xfrm>
            <a:custGeom>
              <a:avLst/>
              <a:gdLst/>
              <a:ahLst/>
              <a:cxnLst/>
              <a:rect l="l" t="t" r="r" b="b"/>
              <a:pathLst>
                <a:path w="846773" h="221615">
                  <a:moveTo>
                    <a:pt x="0" y="221615"/>
                  </a:moveTo>
                  <a:cubicBezTo>
                    <a:pt x="325755" y="26035"/>
                    <a:pt x="608012" y="0"/>
                    <a:pt x="846773" y="14351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0988040" y="252222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89535"/>
                  </a:moveTo>
                  <a:lnTo>
                    <a:pt x="0" y="81915"/>
                  </a:lnTo>
                  <a:lnTo>
                    <a:pt x="4857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0166032" y="2807970"/>
              <a:ext cx="846773" cy="221933"/>
            </a:xfrm>
            <a:custGeom>
              <a:avLst/>
              <a:gdLst/>
              <a:ahLst/>
              <a:cxnLst/>
              <a:rect l="l" t="t" r="r" b="b"/>
              <a:pathLst>
                <a:path w="846773" h="221933">
                  <a:moveTo>
                    <a:pt x="0" y="0"/>
                  </a:moveTo>
                  <a:cubicBezTo>
                    <a:pt x="325755" y="195580"/>
                    <a:pt x="608012" y="221933"/>
                    <a:pt x="846773" y="7905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988040" y="2837498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0"/>
                  </a:moveTo>
                  <a:lnTo>
                    <a:pt x="48578" y="89535"/>
                  </a:lnTo>
                  <a:lnTo>
                    <a:pt x="0" y="857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5795010" y="25727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7176135" y="25727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8556308" y="25727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9874568" y="25727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11072812" y="251555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11129962" y="25727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01261" y="26593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82386" y="26593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62558" y="26593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80818" y="26593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36213" y="26593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562725" y="2376488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93767" y="241363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562725" y="2873692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93767" y="291084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943850" y="2625090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973939" y="266223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ε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64502" y="20821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64502" y="323564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293542" y="2625090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323632" y="266223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ε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0567035" y="2387918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598077" y="24250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0567035" y="2862262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598077" y="28994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115" name="c2-table-2"/>
          <p:cNvGrpSpPr/>
          <p:nvPr/>
        </p:nvGrpSpPr>
        <p:grpSpPr>
          <a:xfrm>
            <a:off x="5377624" y="3690938"/>
            <a:ext cx="6280976" cy="2664808"/>
            <a:chOff x="5377624" y="3690938"/>
            <a:chExt cx="6280976" cy="2664808"/>
          </a:xfrm>
        </p:grpSpPr>
        <p:sp>
          <p:nvSpPr>
            <p:cNvPr id="78" name="Rectangle 78"/>
            <p:cNvSpPr/>
            <p:nvPr/>
          </p:nvSpPr>
          <p:spPr>
            <a:xfrm>
              <a:off x="5382578" y="3690938"/>
              <a:ext cx="6276022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632591" y="3812381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NFA 状态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839229" y="38123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72654" y="38123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307031" y="38123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040456" y="38123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774834" y="38123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508259" y="38123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242636" y="38123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ε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601373" y="4212431"/>
              <a:ext cx="7016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0（初态）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758376" y="42124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{1}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491801" y="42124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{1}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5382578" y="44862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5382578" y="4491038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5902921" y="4612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161784" y="461248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{2}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5382578" y="488632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902921" y="50125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226179" y="50125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{2}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959604" y="50125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{2}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161784" y="50125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{3}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5382578" y="52863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5382578" y="5291138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5902921" y="5412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693981" y="541258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{4}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427406" y="541258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{4}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5382578" y="568642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5601373" y="5812631"/>
              <a:ext cx="7016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4（终态）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5382578" y="3690938"/>
              <a:ext cx="6276022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6517005" y="369093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7250430" y="369093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7984808" y="369093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8718232" y="369093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9452610" y="369093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10186035" y="369093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10920412" y="369093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5377624" y="6165056"/>
              <a:ext cx="46273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左端短箭头指向初态，双圈是终态。写成转换表后，确定化时对着表查不容易漏</a:t>
              </a:r>
            </a:p>
          </p:txBody>
        </p:sp>
      </p:grpSp>
      <p:grpSp>
        <p:nvGrpSpPr>
          <p:cNvPr id="11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6" name="TextBox 116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201371" cy="909257"/>
            <a:chOff x="520446" y="342900"/>
            <a:chExt cx="420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词法分析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20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NFA 确定化：子集法分三步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830697" cy="2582514"/>
            <a:chOff x="533400" y="1533525"/>
            <a:chExt cx="5830697" cy="2582514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30422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1523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确定初始状态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49567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I₀ = ε-CLOSURE(S₀) 作为 DFA 的初态，S₀ 是 NFA 的初态集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25333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依次确定后续状态及转换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533679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任选一个还没处理过的 DFA 状态 Sᵢ，对每个 a ∈ Σ 计算 Sⱼ = Sᵢₐ；若 Sⱼ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≠ Φ，令 f(Sᵢ, a) = Sⱼ，Sⱼ 还不是 DFA 的状态就把它加进来。重复本步，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直到所有状态都处理过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338512"/>
              <a:ext cx="1523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确定终止状态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632359"/>
              <a:ext cx="5418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DFA 状态 S' = [S₁, …, Sₙ] 中有某个 Sᵢ 是 NFA 的终态，S' 就是 DFA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终态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294822"/>
            <a:ext cx="6059805" cy="1698308"/>
            <a:chOff x="533400" y="4294822"/>
            <a:chExt cx="6059805" cy="1698308"/>
          </a:xfrm>
        </p:grpSpPr>
        <p:sp>
          <p:nvSpPr>
            <p:cNvPr id="21" name="Rectangle 21"/>
            <p:cNvSpPr/>
            <p:nvPr/>
          </p:nvSpPr>
          <p:spPr>
            <a:xfrm>
              <a:off x="533400" y="4294822"/>
              <a:ext cx="6059805" cy="1698308"/>
            </a:xfrm>
            <a:prstGeom prst="roundRect">
              <a:avLst>
                <a:gd name="adj" fmla="val 78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428172"/>
              <a:ext cx="47625" cy="14316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4504372"/>
              <a:ext cx="1683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6064" y="4540091"/>
              <a:ext cx="15939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用上一页的 NFA 算一次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6765" y="4944428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4881562"/>
              <a:ext cx="34944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ε-CLOSURE({0}) = {0}：0 没有 ε 弧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5279708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5216842"/>
              <a:ext cx="4703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{0}ₐ：0 经 a 到 1，ε-CLOSURE({1}) = {1, 2, 3}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573" y="5548789"/>
              <a:ext cx="39244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经 ε 到 2，2 经 ε 到 3，所以闭包要一路走到底。</a:t>
              </a:r>
            </a:p>
          </p:txBody>
        </p:sp>
      </p:grpSp>
      <p:grpSp>
        <p:nvGrpSpPr>
          <p:cNvPr id="39" name="c2-kv-1"/>
          <p:cNvGrpSpPr/>
          <p:nvPr/>
        </p:nvGrpSpPr>
        <p:grpSpPr>
          <a:xfrm>
            <a:off x="6890385" y="1548765"/>
            <a:ext cx="4768215" cy="1737360"/>
            <a:chOff x="6890385" y="1548765"/>
            <a:chExt cx="4768215" cy="1737360"/>
          </a:xfrm>
        </p:grpSpPr>
        <p:sp>
          <p:nvSpPr>
            <p:cNvPr id="31" name="TextBox 31"/>
            <p:cNvSpPr txBox="1"/>
            <p:nvPr/>
          </p:nvSpPr>
          <p:spPr>
            <a:xfrm>
              <a:off x="6890385" y="1548765"/>
              <a:ext cx="1473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ε-CLOSURE(I)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02015" y="1548765"/>
              <a:ext cx="27965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中的状态，加上从它们出发只经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弧能到达的所有状态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98005" y="21507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90385" y="2270760"/>
              <a:ext cx="205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Iₐ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02015" y="2270760"/>
              <a:ext cx="28822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I 中状态出发经一条 a 弧到达的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状态集，再取 ε-CLOSURE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898005" y="287274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90385" y="2992755"/>
              <a:ext cx="911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f(Sᵢ, a)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02015" y="2992755"/>
              <a:ext cx="26525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DFA 的转换函数：集合到集合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898005" y="3417570"/>
            <a:ext cx="4760595" cy="1602105"/>
            <a:chOff x="6898005" y="3417570"/>
            <a:chExt cx="4760595" cy="1602105"/>
          </a:xfrm>
        </p:grpSpPr>
        <p:sp>
          <p:nvSpPr>
            <p:cNvPr id="40" name="Rectangle 40"/>
            <p:cNvSpPr/>
            <p:nvPr/>
          </p:nvSpPr>
          <p:spPr>
            <a:xfrm>
              <a:off x="6898005" y="3417570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07555" y="362712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76110" y="366283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为什么一定会停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99935" y="4004310"/>
              <a:ext cx="4168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NFA 只有 n 个状态，子集最多 2ⁿ 个；求到一定程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度就不再出现新集合，DFA 的状态集、转换函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数、初态、终态也就全部确定。</a:t>
              </a:r>
            </a:p>
          </p:txBody>
        </p:sp>
      </p:grpSp>
      <p:grpSp>
        <p:nvGrpSpPr>
          <p:cNvPr id="51" name="c2-callout-3"/>
          <p:cNvGrpSpPr/>
          <p:nvPr/>
        </p:nvGrpSpPr>
        <p:grpSpPr>
          <a:xfrm>
            <a:off x="6898005" y="5210175"/>
            <a:ext cx="4760595" cy="782955"/>
            <a:chOff x="6898005" y="5210175"/>
            <a:chExt cx="4760595" cy="782955"/>
          </a:xfrm>
        </p:grpSpPr>
        <p:sp>
          <p:nvSpPr>
            <p:cNvPr id="45" name="Rectangle 45"/>
            <p:cNvSpPr/>
            <p:nvPr/>
          </p:nvSpPr>
          <p:spPr>
            <a:xfrm>
              <a:off x="6898005" y="521017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102793" y="5501640"/>
              <a:ext cx="200026" cy="200025"/>
              <a:chOff x="7102793" y="5501640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102793" y="55016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142531" y="55460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177247" y="56572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7404735" y="5358765"/>
              <a:ext cx="3891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字母表 Σ 不变。DFA 的每个状态是 NFA 状态的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一个集合。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28774" cy="909257"/>
            <a:chOff x="520446" y="342900"/>
            <a:chExt cx="73287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词法分析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28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② 从 {0} 出发求子集，得到 4 个 DFA 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2" name="c1-table-1"/>
          <p:cNvGrpSpPr/>
          <p:nvPr/>
        </p:nvGrpSpPr>
        <p:grpSpPr>
          <a:xfrm>
            <a:off x="528447" y="1524000"/>
            <a:ext cx="5956173" cy="2170461"/>
            <a:chOff x="528447" y="1524000"/>
            <a:chExt cx="5956173" cy="217046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0066" y="1641157"/>
              <a:ext cx="599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DFA 状态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10000" y="1641157"/>
              <a:ext cx="7405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NFA 状态集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27556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21916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47708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02076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56443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10811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363" y="2023110"/>
              <a:ext cx="7485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S₀（初态）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58311" y="2023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{0}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27299" y="2023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21659" y="2023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4965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0401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5838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12754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28219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2286952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61191" y="240411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60420" y="2404110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2, 3}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2949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2385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47452" y="2404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01819" y="2404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56187" y="2404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10554" y="2404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266319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61191" y="278511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59366" y="2785110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{2, 3}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2949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2385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47452" y="2785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01819" y="2785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56187" y="2785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10554" y="2785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0451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3049905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8489" y="3167062"/>
              <a:ext cx="6623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C（终态）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58311" y="3167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{4}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929499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23859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49652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804019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58387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12754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1524000"/>
              <a:ext cx="595122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481138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267081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266122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386143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4515802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17017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82549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8447" y="3503771"/>
              <a:ext cx="1673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“−”表示没有转换（Sⱼ = Φ）</a:t>
              </a:r>
            </a:p>
          </p:txBody>
        </p:sp>
      </p:grpSp>
      <p:grpSp>
        <p:nvGrpSpPr>
          <p:cNvPr id="76" name="c1-steps-2"/>
          <p:cNvGrpSpPr/>
          <p:nvPr/>
        </p:nvGrpSpPr>
        <p:grpSpPr>
          <a:xfrm>
            <a:off x="533400" y="3830955"/>
            <a:ext cx="4516012" cy="1596009"/>
            <a:chOff x="533400" y="3830955"/>
            <a:chExt cx="4516012" cy="1596009"/>
          </a:xfrm>
        </p:grpSpPr>
        <p:sp>
          <p:nvSpPr>
            <p:cNvPr id="63" name="Rectangle 63"/>
            <p:cNvSpPr/>
            <p:nvPr/>
          </p:nvSpPr>
          <p:spPr>
            <a:xfrm>
              <a:off x="666750" y="397383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533400" y="383095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7024" y="39047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33400" y="438340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7024" y="44572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33400" y="493680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27024" y="50106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6023" y="3860959"/>
              <a:ext cx="7585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S₀ = {0}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7166" y="4115752"/>
              <a:ext cx="25829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 a 或 b 到 {1}，闭包 {1, 2, 3} 记为 A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46023" y="4414361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 A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47166" y="4669155"/>
              <a:ext cx="41022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 c 或 d 到 {2}，闭包 {2, 3} 记为 B；经 e 或 f 到 {4}，记为 C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46023" y="4967764"/>
              <a:ext cx="797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 B、C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47166" y="5221605"/>
              <a:ext cx="31219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的转换与 A 相同，C 没有出弧，不再出现新集合</a:t>
              </a:r>
            </a:p>
          </p:txBody>
        </p:sp>
      </p:grpSp>
      <p:grpSp>
        <p:nvGrpSpPr>
          <p:cNvPr id="111" name="c2-graph-1"/>
          <p:cNvGrpSpPr/>
          <p:nvPr/>
        </p:nvGrpSpPr>
        <p:grpSpPr>
          <a:xfrm>
            <a:off x="6924675" y="1721168"/>
            <a:ext cx="4456747" cy="3363753"/>
            <a:chOff x="6924675" y="1721168"/>
            <a:chExt cx="4456747" cy="3363753"/>
          </a:xfrm>
        </p:grpSpPr>
        <p:sp>
          <p:nvSpPr>
            <p:cNvPr id="77" name="Freeform 77"/>
            <p:cNvSpPr/>
            <p:nvPr/>
          </p:nvSpPr>
          <p:spPr>
            <a:xfrm>
              <a:off x="6924675" y="4715828"/>
              <a:ext cx="172403" cy="9525"/>
            </a:xfrm>
            <a:custGeom>
              <a:avLst/>
              <a:gdLst/>
              <a:ahLst/>
              <a:cxnLst/>
              <a:rect l="l" t="t" r="r" b="b"/>
              <a:pathLst>
                <a:path w="172403" h="9525">
                  <a:moveTo>
                    <a:pt x="0" y="0"/>
                  </a:moveTo>
                  <a:lnTo>
                    <a:pt x="17240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7097078" y="46682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9" name="Freeform 79"/>
            <p:cNvSpPr/>
            <p:nvPr/>
          </p:nvSpPr>
          <p:spPr>
            <a:xfrm>
              <a:off x="7555230" y="4715828"/>
              <a:ext cx="1022032" cy="9525"/>
            </a:xfrm>
            <a:custGeom>
              <a:avLst/>
              <a:gdLst/>
              <a:ahLst/>
              <a:cxnLst/>
              <a:rect l="l" t="t" r="r" b="b"/>
              <a:pathLst>
                <a:path w="1022032" h="9525">
                  <a:moveTo>
                    <a:pt x="0" y="0"/>
                  </a:moveTo>
                  <a:lnTo>
                    <a:pt x="10220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8577262" y="46682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1" name="Freeform 81"/>
            <p:cNvSpPr/>
            <p:nvPr/>
          </p:nvSpPr>
          <p:spPr>
            <a:xfrm>
              <a:off x="8906828" y="2594610"/>
              <a:ext cx="982028" cy="1975485"/>
            </a:xfrm>
            <a:custGeom>
              <a:avLst/>
              <a:gdLst/>
              <a:ahLst/>
              <a:cxnLst/>
              <a:rect l="l" t="t" r="r" b="b"/>
              <a:pathLst>
                <a:path w="982028" h="1975485">
                  <a:moveTo>
                    <a:pt x="0" y="1975485"/>
                  </a:moveTo>
                  <a:lnTo>
                    <a:pt x="9820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9845992" y="2508885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4772" y="0"/>
                  </a:moveTo>
                  <a:lnTo>
                    <a:pt x="85725" y="106680"/>
                  </a:lnTo>
                  <a:lnTo>
                    <a:pt x="0" y="6381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3" name="Freeform 83"/>
            <p:cNvSpPr/>
            <p:nvPr/>
          </p:nvSpPr>
          <p:spPr>
            <a:xfrm>
              <a:off x="8996362" y="4715828"/>
              <a:ext cx="1861185" cy="9525"/>
            </a:xfrm>
            <a:custGeom>
              <a:avLst/>
              <a:gdLst/>
              <a:ahLst/>
              <a:cxnLst/>
              <a:rect l="l" t="t" r="r" b="b"/>
              <a:pathLst>
                <a:path w="1861185" h="9525">
                  <a:moveTo>
                    <a:pt x="0" y="0"/>
                  </a:moveTo>
                  <a:lnTo>
                    <a:pt x="18611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10857548" y="46682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5" name="Freeform 85"/>
            <p:cNvSpPr/>
            <p:nvPr/>
          </p:nvSpPr>
          <p:spPr>
            <a:xfrm>
              <a:off x="9732645" y="1777365"/>
              <a:ext cx="541020" cy="434340"/>
            </a:xfrm>
            <a:custGeom>
              <a:avLst/>
              <a:gdLst/>
              <a:ahLst/>
              <a:cxnLst/>
              <a:rect l="l" t="t" r="r" b="b"/>
              <a:pathLst>
                <a:path w="541020" h="434340">
                  <a:moveTo>
                    <a:pt x="201930" y="434340"/>
                  </a:moveTo>
                  <a:cubicBezTo>
                    <a:pt x="0" y="0"/>
                    <a:pt x="541020" y="0"/>
                    <a:pt x="339090" y="4343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10068878" y="2115502"/>
              <a:ext cx="78105" cy="96202"/>
            </a:xfrm>
            <a:custGeom>
              <a:avLst/>
              <a:gdLst/>
              <a:ahLst/>
              <a:cxnLst/>
              <a:rect l="l" t="t" r="r" b="b"/>
              <a:pathLst>
                <a:path w="78105" h="96202">
                  <a:moveTo>
                    <a:pt x="2858" y="96202"/>
                  </a:moveTo>
                  <a:lnTo>
                    <a:pt x="0" y="0"/>
                  </a:lnTo>
                  <a:lnTo>
                    <a:pt x="78105" y="361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7" name="Freeform 87"/>
            <p:cNvSpPr/>
            <p:nvPr/>
          </p:nvSpPr>
          <p:spPr>
            <a:xfrm>
              <a:off x="10075545" y="2508885"/>
              <a:ext cx="956310" cy="1925003"/>
            </a:xfrm>
            <a:custGeom>
              <a:avLst/>
              <a:gdLst/>
              <a:ahLst/>
              <a:cxnLst/>
              <a:rect l="l" t="t" r="r" b="b"/>
              <a:pathLst>
                <a:path w="956310" h="1925003">
                  <a:moveTo>
                    <a:pt x="0" y="0"/>
                  </a:moveTo>
                  <a:lnTo>
                    <a:pt x="956310" y="19250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10988992" y="4412932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4772" y="106680"/>
                  </a:moveTo>
                  <a:lnTo>
                    <a:pt x="0" y="41910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7200900" y="4543425"/>
              <a:ext cx="344805" cy="3448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8682038" y="456342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91" name="Ellipse 91"/>
            <p:cNvSpPr/>
            <p:nvPr/>
          </p:nvSpPr>
          <p:spPr>
            <a:xfrm>
              <a:off x="9850755" y="221170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10962322" y="450627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93" name="Ellipse 93"/>
            <p:cNvSpPr/>
            <p:nvPr/>
          </p:nvSpPr>
          <p:spPr>
            <a:xfrm>
              <a:off x="11019472" y="456342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281718" y="465010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S₀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277470" y="4922996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{0}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785978" y="465010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617177" y="4902994"/>
              <a:ext cx="4345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{1,2,3}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954696" y="22983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207942" y="2312194"/>
              <a:ext cx="3130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{2,3}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123413" y="465010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076040" y="490299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{4}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7945755" y="4615815"/>
              <a:ext cx="336232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971196" y="4652962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a, b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9250680" y="3439478"/>
              <a:ext cx="336232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9275169" y="3476625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c, d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9805988" y="4615815"/>
              <a:ext cx="336232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9831429" y="4652962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e, f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860004" y="1721168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c, d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10407015" y="3413760"/>
              <a:ext cx="336232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10431504" y="3451860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e, f</a:t>
              </a:r>
            </a:p>
          </p:txBody>
        </p:sp>
      </p:grpSp>
      <p:grpSp>
        <p:nvGrpSpPr>
          <p:cNvPr id="11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12" name="Rectangle 11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6" name="Group 11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7" name="TextBox 117"/>
            <p:cNvSpPr txBox="1"/>
            <p:nvPr/>
          </p:nvSpPr>
          <p:spPr>
            <a:xfrm>
              <a:off x="1041273" y="6039326"/>
              <a:ext cx="75741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 含 NFA 终态 4，所以是 DFA 终态。用程序对长度 ≤ 5 的全部串比较此 DFA 与正则式，结果一致。</a:t>
              </a:r>
            </a:p>
          </p:txBody>
        </p:sp>
      </p:grpSp>
      <p:grpSp>
        <p:nvGrpSpPr>
          <p:cNvPr id="1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9" name="TextBox 119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2759" cy="909257"/>
            <a:chOff x="520446" y="342900"/>
            <a:chExt cx="69627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词法分析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27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③ 极小化：看经同一字符是否到达同一组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627497" cy="2998755"/>
            <a:chOff x="533400" y="1533525"/>
            <a:chExt cx="5627497" cy="299875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95573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初始划分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27114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终态组 {C}，非终态组 {S₀, A, B}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1606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 {S₀, A, B}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51823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 e：S₀ 没有转换，A、B 都到 {C} 组，S₀ 与 A、B 不同，拆成 {S₀} 和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{A, B}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1169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 {A, B}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 c、d 都到 {A, B} 组，经 e、f 都到 {C} 组，经 a、b 都没有转换：不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再可分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99002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282916"/>
              <a:ext cx="38192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 合成一个状态 q₁，得到 3 个状态的最简 DFA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711065"/>
            <a:ext cx="5951220" cy="1137285"/>
            <a:chOff x="533400" y="4711065"/>
            <a:chExt cx="5951220" cy="1137285"/>
          </a:xfrm>
        </p:grpSpPr>
        <p:sp>
          <p:nvSpPr>
            <p:cNvPr id="25" name="Rectangle 25"/>
            <p:cNvSpPr/>
            <p:nvPr/>
          </p:nvSpPr>
          <p:spPr>
            <a:xfrm>
              <a:off x="533400" y="4711065"/>
              <a:ext cx="5951220" cy="1137285"/>
            </a:xfrm>
            <a:prstGeom prst="roundRect">
              <a:avLst>
                <a:gd name="adj" fmla="val 1005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6129" y="5176003"/>
              <a:ext cx="224134" cy="192560"/>
              <a:chOff x="726129" y="5176003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8200" y="52463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6129" y="51760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3241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898708"/>
              <a:ext cx="4968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划分时看是否到达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同一组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，不要求到达同一个状态。两个状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态经 c 分别到 B 和 D，只要 B、D 当前在同一组，这一字符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就不把它们分开。</a:t>
              </a:r>
            </a:p>
          </p:txBody>
        </p:sp>
      </p:grpSp>
      <p:grpSp>
        <p:nvGrpSpPr>
          <p:cNvPr id="55" name="c2-graph-1"/>
          <p:cNvGrpSpPr/>
          <p:nvPr/>
        </p:nvGrpSpPr>
        <p:grpSpPr>
          <a:xfrm>
            <a:off x="6924675" y="2077402"/>
            <a:ext cx="4359593" cy="1115092"/>
            <a:chOff x="6924675" y="2077402"/>
            <a:chExt cx="4359593" cy="1115092"/>
          </a:xfrm>
        </p:grpSpPr>
        <p:sp>
          <p:nvSpPr>
            <p:cNvPr id="32" name="Freeform 32"/>
            <p:cNvSpPr/>
            <p:nvPr/>
          </p:nvSpPr>
          <p:spPr>
            <a:xfrm>
              <a:off x="6924675" y="2781300"/>
              <a:ext cx="258128" cy="9525"/>
            </a:xfrm>
            <a:custGeom>
              <a:avLst/>
              <a:gdLst/>
              <a:ahLst/>
              <a:cxnLst/>
              <a:rect l="l" t="t" r="r" b="b"/>
              <a:pathLst>
                <a:path w="258128" h="9525">
                  <a:moveTo>
                    <a:pt x="0" y="0"/>
                  </a:moveTo>
                  <a:lnTo>
                    <a:pt x="2581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182802" y="2733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663815" y="2781300"/>
              <a:ext cx="1369695" cy="9525"/>
            </a:xfrm>
            <a:custGeom>
              <a:avLst/>
              <a:gdLst/>
              <a:ahLst/>
              <a:cxnLst/>
              <a:rect l="l" t="t" r="r" b="b"/>
              <a:pathLst>
                <a:path w="1369695" h="9525">
                  <a:moveTo>
                    <a:pt x="0" y="0"/>
                  </a:moveTo>
                  <a:lnTo>
                    <a:pt x="13696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033510" y="2733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023032" y="2145030"/>
              <a:ext cx="596265" cy="453390"/>
            </a:xfrm>
            <a:custGeom>
              <a:avLst/>
              <a:gdLst/>
              <a:ahLst/>
              <a:cxnLst/>
              <a:rect l="l" t="t" r="r" b="b"/>
              <a:pathLst>
                <a:path w="596265" h="453390">
                  <a:moveTo>
                    <a:pt x="216218" y="453390"/>
                  </a:moveTo>
                  <a:cubicBezTo>
                    <a:pt x="0" y="0"/>
                    <a:pt x="596265" y="0"/>
                    <a:pt x="381000" y="45339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402128" y="2502218"/>
              <a:ext cx="77153" cy="96203"/>
            </a:xfrm>
            <a:custGeom>
              <a:avLst/>
              <a:gdLst/>
              <a:ahLst/>
              <a:cxnLst/>
              <a:rect l="l" t="t" r="r" b="b"/>
              <a:pathLst>
                <a:path w="77153" h="96203">
                  <a:moveTo>
                    <a:pt x="1905" y="96203"/>
                  </a:moveTo>
                  <a:lnTo>
                    <a:pt x="0" y="0"/>
                  </a:lnTo>
                  <a:lnTo>
                    <a:pt x="77153" y="3714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514522" y="2781300"/>
              <a:ext cx="1245870" cy="9525"/>
            </a:xfrm>
            <a:custGeom>
              <a:avLst/>
              <a:gdLst/>
              <a:ahLst/>
              <a:cxnLst/>
              <a:rect l="l" t="t" r="r" b="b"/>
              <a:pathLst>
                <a:path w="1245870" h="9525">
                  <a:moveTo>
                    <a:pt x="0" y="0"/>
                  </a:moveTo>
                  <a:lnTo>
                    <a:pt x="12458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760392" y="2733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7288530" y="2598420"/>
              <a:ext cx="365760" cy="3657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9138285" y="2598420"/>
              <a:ext cx="365760" cy="3657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0865168" y="257175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922318" y="26289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72022" y="27070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13122" y="3001804"/>
              <a:ext cx="316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{S₀}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21777" y="27070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03634" y="3001804"/>
              <a:ext cx="4350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{A, B}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75330" y="27070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54763" y="2971324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{C}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209598" y="2667000"/>
              <a:ext cx="373380" cy="21336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32686" y="2709862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a, 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157564" y="2077402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c, d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998392" y="2667000"/>
              <a:ext cx="373380" cy="21336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021481" y="2709862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e, f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789420" y="4000500"/>
            <a:ext cx="4869180" cy="1847850"/>
            <a:chOff x="6789420" y="4000500"/>
            <a:chExt cx="4869180" cy="1847850"/>
          </a:xfrm>
        </p:grpSpPr>
        <p:sp>
          <p:nvSpPr>
            <p:cNvPr id="56" name="Rectangle 56"/>
            <p:cNvSpPr/>
            <p:nvPr/>
          </p:nvSpPr>
          <p:spPr>
            <a:xfrm>
              <a:off x="6789420" y="4000500"/>
              <a:ext cx="4869180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798945" y="4133850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037070" y="42100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27278" y="42457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29450" y="4587240"/>
              <a:ext cx="3910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最简 DFA：q₀ 读 a 或 b 到 q₁，q₁ 上可反复读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c、d，再读 e 或 f 到终态 q₂。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30593" y="5204936"/>
              <a:ext cx="42232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与直观理解一致：先一个 a/b，中间任意多个 c/d，最后一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个 e/f。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词法分析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自动机的两种实现：直接转换法与状态转换矩阵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167438" cy="4762500"/>
            <a:chOff x="533400" y="1524000"/>
            <a:chExt cx="6167438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4762500"/>
            </a:xfrm>
            <a:prstGeom prst="roundRect">
              <a:avLst>
                <a:gd name="adj" fmla="val 200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4703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识别标识符 L(L|D)* 的两种写法（已用 zig cc 编译运行）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453638" cy="427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直接转换法：每个状态一个 case */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scan_switch(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 =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(;; s++)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switch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(state)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0: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(isalpha(*s)) state 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(isalnum(*s)) state 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1;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状态转换矩阵：列为 字母、数字、其他 */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M[2][3] = { { 1, -1, -1 },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{ 1,  1, -1 } };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scan_matrix(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 = 0, next;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((next = M[state][col(*s)]) != -1)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{ state = next; s++;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 == 1;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停在终态才接受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2-card-1"/>
          <p:cNvGrpSpPr/>
          <p:nvPr/>
        </p:nvGrpSpPr>
        <p:grpSpPr>
          <a:xfrm>
            <a:off x="7005638" y="1524000"/>
            <a:ext cx="4652962" cy="1612582"/>
            <a:chOff x="7005638" y="1524000"/>
            <a:chExt cx="4652962" cy="1612582"/>
          </a:xfrm>
        </p:grpSpPr>
        <p:sp>
          <p:nvSpPr>
            <p:cNvPr id="11" name="Rectangle 11"/>
            <p:cNvSpPr/>
            <p:nvPr/>
          </p:nvSpPr>
          <p:spPr>
            <a:xfrm>
              <a:off x="7005638" y="1524000"/>
              <a:ext cx="4652962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015162" y="1657350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253288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3164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直接转换法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45668" y="2110740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每个状态对应一段带标号的 switch 分支（或语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句标号），转向边对应 goto 或给 state 赋值。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6811" y="272843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状态不多时好写、执行快；改自动机就要改程序。</a:t>
              </a:r>
            </a:p>
          </p:txBody>
        </p:sp>
      </p:grpSp>
      <p:grpSp>
        <p:nvGrpSpPr>
          <p:cNvPr id="24" name="c2-card-2"/>
          <p:cNvGrpSpPr/>
          <p:nvPr/>
        </p:nvGrpSpPr>
        <p:grpSpPr>
          <a:xfrm>
            <a:off x="7005638" y="3327082"/>
            <a:ext cx="4652962" cy="1612582"/>
            <a:chOff x="7005638" y="3327082"/>
            <a:chExt cx="4652962" cy="1612582"/>
          </a:xfrm>
        </p:grpSpPr>
        <p:sp>
          <p:nvSpPr>
            <p:cNvPr id="18" name="Rectangle 18"/>
            <p:cNvSpPr/>
            <p:nvPr/>
          </p:nvSpPr>
          <p:spPr>
            <a:xfrm>
              <a:off x="7005638" y="3327082"/>
              <a:ext cx="4652962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15162" y="3460432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3288" y="3536632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26744" y="357235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状态转换矩阵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45668" y="3913822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自动机存成矩阵 M[状态][字符类]，程序只剩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一个查表循环，每读一个字符查一次表再跳转。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46811" y="453151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状态多时用它；换一个自动机只需换表。</a:t>
              </a:r>
            </a:p>
          </p:txBody>
        </p:sp>
      </p:grpSp>
      <p:grpSp>
        <p:nvGrpSpPr>
          <p:cNvPr id="30" name="c2-callout-3"/>
          <p:cNvGrpSpPr/>
          <p:nvPr/>
        </p:nvGrpSpPr>
        <p:grpSpPr>
          <a:xfrm>
            <a:off x="7005638" y="5130165"/>
            <a:ext cx="4652962" cy="1156335"/>
            <a:chOff x="7005638" y="5130165"/>
            <a:chExt cx="4652962" cy="1156335"/>
          </a:xfrm>
        </p:grpSpPr>
        <p:sp>
          <p:nvSpPr>
            <p:cNvPr id="25" name="Rectangle 25"/>
            <p:cNvSpPr/>
            <p:nvPr/>
          </p:nvSpPr>
          <p:spPr>
            <a:xfrm>
              <a:off x="7005638" y="5130165"/>
              <a:ext cx="4652962" cy="1156335"/>
            </a:xfrm>
            <a:prstGeom prst="roundRect">
              <a:avLst>
                <a:gd name="adj" fmla="val 98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210425" y="5608320"/>
              <a:ext cx="200026" cy="200026"/>
              <a:chOff x="7210425" y="5608320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210425" y="56083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77100" y="568610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512368" y="5465445"/>
              <a:ext cx="37204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实跑结果：x1、abc 两种写法都接受，9a 和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空串都拒绝。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16769" cy="909257"/>
            <a:chOff x="520446" y="342900"/>
            <a:chExt cx="73167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词法分析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167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Token 设计：类型码反映语法信息，内容反映值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7685" y="1524000"/>
            <a:ext cx="6281737" cy="2317909"/>
            <a:chOff x="527685" y="1524000"/>
            <a:chExt cx="6281737" cy="231790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9567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4163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3810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24316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32186" y="210835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在标识符索引表中的位置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24316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32186" y="255698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在常量索引表中的位置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11896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保留字、特殊符号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4316" y="3005614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该符号在表中的编号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（3～56）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2186" y="3118961"/>
              <a:ext cx="1038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空，写作 “−”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276022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11730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19600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3621881"/>
              <a:ext cx="19616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Token 结构 =（类型，内容）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3988118"/>
            <a:ext cx="6276022" cy="2275522"/>
            <a:chOff x="533400" y="3988118"/>
            <a:chExt cx="6276022" cy="2275522"/>
          </a:xfrm>
        </p:grpSpPr>
        <p:sp>
          <p:nvSpPr>
            <p:cNvPr id="28" name="Rectangle 28"/>
            <p:cNvSpPr/>
            <p:nvPr/>
          </p:nvSpPr>
          <p:spPr>
            <a:xfrm>
              <a:off x="533400" y="3988118"/>
              <a:ext cx="6276022" cy="2275522"/>
            </a:xfrm>
            <a:prstGeom prst="roundRect">
              <a:avLst>
                <a:gd name="adj" fmla="val 58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121468"/>
              <a:ext cx="47625" cy="200882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1050" y="419766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4507" y="423338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为什么这样分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3430" y="4574858"/>
              <a:ext cx="5539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单词分成标识符、常量、保留字、特殊符号四大类。保留字和特殊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符号数量有限，给每一个编一个号就能区分，不需要内容；标识符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和常量数量不定，统一填类型 1、2，具体是哪一个由内容（索引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表位置）给出。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4573" y="5763101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这是实践中用过的一种可行设计，并不唯一，能把需要的信息表示出来就行。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7108508" y="1524000"/>
            <a:ext cx="4550092" cy="4783932"/>
            <a:chOff x="7108508" y="1524000"/>
            <a:chExt cx="4550092" cy="4783932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2792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82696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保留字、特殊符号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5048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60866" y="2108359"/>
              <a:ext cx="4351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114222" y="24164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14222" y="2421255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95048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98717" y="2556986"/>
              <a:ext cx="159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114222" y="286607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5048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2456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114222" y="33147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14222" y="3319462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5048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2456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114222" y="376332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50482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24564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14222" y="421195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14222" y="4216718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950482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24564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114222" y="466058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950482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24564" y="4801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;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114222" y="511016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114222" y="5114925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950482" y="52497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224564" y="524970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114222" y="55587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900727" y="56983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224564" y="569833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}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114222" y="1524000"/>
              <a:ext cx="4544378" cy="44881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893492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108508" y="6087904"/>
              <a:ext cx="2077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编号 1、2 已留给标识符和常量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78455" cy="909257"/>
            <a:chOff x="520446" y="342900"/>
            <a:chExt cx="53784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词法分析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784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例：if (x&gt;0) y=x; 的 Token 序列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cells-1"/>
          <p:cNvGrpSpPr/>
          <p:nvPr/>
        </p:nvGrpSpPr>
        <p:grpSpPr>
          <a:xfrm>
            <a:off x="527685" y="1524000"/>
            <a:ext cx="6930390" cy="918210"/>
            <a:chOff x="527685" y="1524000"/>
            <a:chExt cx="6930390" cy="918210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444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单词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77278" y="152400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23367" y="1644491"/>
              <a:ext cx="145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715452" y="152400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85289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53628" y="152400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623464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991802" y="152400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61639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629978" y="152400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899814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68152" y="152400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37989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906328" y="152400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176164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544502" y="152400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14339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182678" y="152400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52514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819900" y="152400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89736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7685" y="2181701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Token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77278" y="206121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72969" y="218170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&lt;4,−&gt;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715452" y="206121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811144" y="218170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&lt;5,−&gt;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353628" y="2061210"/>
              <a:ext cx="63817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449319" y="218170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&lt;1,1&gt;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991802" y="206121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087494" y="218170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&lt;7,−&gt;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629978" y="2061210"/>
              <a:ext cx="63817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725669" y="218170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&lt;2,1&gt;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268152" y="206121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363844" y="218170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&lt;6,−&gt;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06328" y="2061210"/>
              <a:ext cx="63817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02019" y="218170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&lt;1,2&gt;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544502" y="206121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40194" y="218170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&lt;8,−&gt;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182678" y="2061210"/>
              <a:ext cx="63817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78369" y="218170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&lt;1,1&gt;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19900" y="2061210"/>
              <a:ext cx="6381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15592" y="218170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&lt;9,−&gt;</a:t>
              </a:r>
            </a:p>
          </p:txBody>
        </p:sp>
      </p:grpSp>
      <p:grpSp>
        <p:nvGrpSpPr>
          <p:cNvPr id="67" name="c1-steps-2"/>
          <p:cNvGrpSpPr/>
          <p:nvPr/>
        </p:nvGrpSpPr>
        <p:grpSpPr>
          <a:xfrm>
            <a:off x="533400" y="2626995"/>
            <a:ext cx="5716996" cy="2280762"/>
            <a:chOff x="533400" y="2626995"/>
            <a:chExt cx="5716996" cy="2280762"/>
          </a:xfrm>
        </p:grpSpPr>
        <p:sp>
          <p:nvSpPr>
            <p:cNvPr id="50" name="Rectangle 50"/>
            <p:cNvSpPr/>
            <p:nvPr/>
          </p:nvSpPr>
          <p:spPr>
            <a:xfrm>
              <a:off x="666750" y="276987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533400" y="262699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7024" y="27008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33400" y="321468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7024" y="3288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33400" y="380142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7024" y="38752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33400" y="438816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7024" y="44619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5642" y="26593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保留字和特殊符号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6785" y="2926556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( &gt; ) = ; 查表得编号 4、5、7、6、8、9，内容为空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45642" y="324612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标识符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6785" y="3513296"/>
              <a:ext cx="5303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第一次出现，登入标识符索引表第 1 项，得 &lt;1,1&gt;；y 登入第 2 项，得 &lt;1,2&gt;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45642" y="383286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同名再现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6785" y="4100989"/>
              <a:ext cx="3509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 x 查到表中已有，仍是 &lt;1,1&gt;，不再新增表项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45642" y="44196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46785" y="4687729"/>
              <a:ext cx="2431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登入常量索引表第 1 项，得 &lt;2,1&gt;</a:t>
              </a:r>
            </a:p>
          </p:txBody>
        </p:sp>
      </p:grpSp>
      <p:grpSp>
        <p:nvGrpSpPr>
          <p:cNvPr id="73" name="c1-card-3"/>
          <p:cNvGrpSpPr/>
          <p:nvPr/>
        </p:nvGrpSpPr>
        <p:grpSpPr>
          <a:xfrm>
            <a:off x="533400" y="5076825"/>
            <a:ext cx="6924675" cy="1209675"/>
            <a:chOff x="533400" y="5076825"/>
            <a:chExt cx="6924675" cy="1209675"/>
          </a:xfrm>
        </p:grpSpPr>
        <p:sp>
          <p:nvSpPr>
            <p:cNvPr id="68" name="Rectangle 68"/>
            <p:cNvSpPr/>
            <p:nvPr/>
          </p:nvSpPr>
          <p:spPr>
            <a:xfrm>
              <a:off x="533400" y="5076825"/>
              <a:ext cx="692467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42925" y="521017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63905" y="526923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47344" y="530352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反过来读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7047" y="5625465"/>
              <a:ext cx="59801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&lt;1,2&gt;：类型 1 是标识符，到标识符索引表第 2 项取出 y；&lt;8,−&gt;：编号 8 就是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=，不需要内容。</a:t>
              </a:r>
            </a:p>
          </p:txBody>
        </p:sp>
      </p:grpSp>
      <p:grpSp>
        <p:nvGrpSpPr>
          <p:cNvPr id="88" name="c2-table-1"/>
          <p:cNvGrpSpPr/>
          <p:nvPr/>
        </p:nvGrpSpPr>
        <p:grpSpPr>
          <a:xfrm>
            <a:off x="7762875" y="1524000"/>
            <a:ext cx="3895725" cy="1623060"/>
            <a:chOff x="7762875" y="1524000"/>
            <a:chExt cx="3895725" cy="1623060"/>
          </a:xfrm>
        </p:grpSpPr>
        <p:sp>
          <p:nvSpPr>
            <p:cNvPr id="74" name="Rectangle 74"/>
            <p:cNvSpPr/>
            <p:nvPr/>
          </p:nvSpPr>
          <p:spPr>
            <a:xfrm>
              <a:off x="7762875" y="1524000"/>
              <a:ext cx="389572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43791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序号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084232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标识符索引表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545156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49509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762875" y="2330768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7762875" y="2335530"/>
              <a:ext cx="389572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545156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495092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762875" y="2736532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545156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495092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762875" y="1524000"/>
              <a:ext cx="389572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942213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0" name="c2-table-2"/>
          <p:cNvGrpSpPr/>
          <p:nvPr/>
        </p:nvGrpSpPr>
        <p:grpSpPr>
          <a:xfrm>
            <a:off x="7762875" y="3322320"/>
            <a:ext cx="3895725" cy="1217295"/>
            <a:chOff x="7762875" y="3322320"/>
            <a:chExt cx="3895725" cy="1217295"/>
          </a:xfrm>
        </p:grpSpPr>
        <p:sp>
          <p:nvSpPr>
            <p:cNvPr id="89" name="Rectangle 89"/>
            <p:cNvSpPr/>
            <p:nvPr/>
          </p:nvSpPr>
          <p:spPr>
            <a:xfrm>
              <a:off x="7762875" y="3322320"/>
              <a:ext cx="389572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474113" y="34466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序号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195814" y="344662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常量索引表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581351" y="3852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531287" y="38523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7762875" y="4129088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7762875" y="4133850"/>
              <a:ext cx="389572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581351" y="42581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531287" y="4258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7762875" y="3322320"/>
              <a:ext cx="3895725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9492615" y="332232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7" name="c2-callout-3"/>
          <p:cNvGrpSpPr/>
          <p:nvPr/>
        </p:nvGrpSpPr>
        <p:grpSpPr>
          <a:xfrm>
            <a:off x="7762875" y="4714875"/>
            <a:ext cx="3895725" cy="1571625"/>
            <a:chOff x="7762875" y="4714875"/>
            <a:chExt cx="3895725" cy="1571625"/>
          </a:xfrm>
        </p:grpSpPr>
        <p:sp>
          <p:nvSpPr>
            <p:cNvPr id="101" name="Rectangle 101"/>
            <p:cNvSpPr/>
            <p:nvPr/>
          </p:nvSpPr>
          <p:spPr>
            <a:xfrm>
              <a:off x="7762875" y="4714875"/>
              <a:ext cx="3895725" cy="1571625"/>
            </a:xfrm>
            <a:prstGeom prst="roundRect">
              <a:avLst>
                <a:gd name="adj" fmla="val 727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7967663" y="5400675"/>
              <a:ext cx="200026" cy="200025"/>
              <a:chOff x="7967663" y="5400675"/>
              <a:chExt cx="200026" cy="200025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7967663" y="54006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007401" y="54451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8042117" y="55562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8270367" y="5157788"/>
              <a:ext cx="305695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Token 序列共 10 个单词。标识符和常量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 Token 只存位置，名字和值要回到索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引表里取。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词法分析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词法分析小结：一个核心、两个工具、三个转换算法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ree-1"/>
          <p:cNvGrpSpPr/>
          <p:nvPr/>
        </p:nvGrpSpPr>
        <p:grpSpPr>
          <a:xfrm>
            <a:off x="533400" y="1696402"/>
            <a:ext cx="6276022" cy="4493896"/>
            <a:chOff x="533400" y="1696402"/>
            <a:chExt cx="6276022" cy="4493896"/>
          </a:xfrm>
        </p:grpSpPr>
        <p:sp>
          <p:nvSpPr>
            <p:cNvPr id="7" name="Freeform 7"/>
            <p:cNvSpPr/>
            <p:nvPr/>
          </p:nvSpPr>
          <p:spPr>
            <a:xfrm>
              <a:off x="4004310" y="1869758"/>
              <a:ext cx="419100" cy="345757"/>
            </a:xfrm>
            <a:custGeom>
              <a:avLst/>
              <a:gdLst/>
              <a:ahLst/>
              <a:cxnLst/>
              <a:rect l="l" t="t" r="r" b="b"/>
              <a:pathLst>
                <a:path w="419100" h="345757">
                  <a:moveTo>
                    <a:pt x="0" y="345757"/>
                  </a:moveTo>
                  <a:lnTo>
                    <a:pt x="209550" y="34575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004310" y="2215515"/>
              <a:ext cx="419100" cy="345757"/>
            </a:xfrm>
            <a:custGeom>
              <a:avLst/>
              <a:gdLst/>
              <a:ahLst/>
              <a:cxnLst/>
              <a:rect l="l" t="t" r="r" b="b"/>
              <a:pathLst>
                <a:path w="419100" h="345757">
                  <a:moveTo>
                    <a:pt x="0" y="0"/>
                  </a:moveTo>
                  <a:lnTo>
                    <a:pt x="209550" y="0"/>
                  </a:lnTo>
                  <a:lnTo>
                    <a:pt x="209550" y="345757"/>
                  </a:lnTo>
                  <a:lnTo>
                    <a:pt x="419100" y="34575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004310" y="3251835"/>
              <a:ext cx="419100" cy="345758"/>
            </a:xfrm>
            <a:custGeom>
              <a:avLst/>
              <a:gdLst/>
              <a:ahLst/>
              <a:cxnLst/>
              <a:rect l="l" t="t" r="r" b="b"/>
              <a:pathLst>
                <a:path w="419100" h="345758">
                  <a:moveTo>
                    <a:pt x="0" y="345758"/>
                  </a:moveTo>
                  <a:lnTo>
                    <a:pt x="209550" y="34575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004310" y="3597592"/>
              <a:ext cx="419100" cy="345758"/>
            </a:xfrm>
            <a:custGeom>
              <a:avLst/>
              <a:gdLst/>
              <a:ahLst/>
              <a:cxnLst/>
              <a:rect l="l" t="t" r="r" b="b"/>
              <a:pathLst>
                <a:path w="419100" h="345758">
                  <a:moveTo>
                    <a:pt x="0" y="0"/>
                  </a:moveTo>
                  <a:lnTo>
                    <a:pt x="209550" y="0"/>
                  </a:lnTo>
                  <a:lnTo>
                    <a:pt x="209550" y="345758"/>
                  </a:lnTo>
                  <a:lnTo>
                    <a:pt x="419100" y="34575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004310" y="4634865"/>
              <a:ext cx="419100" cy="690562"/>
            </a:xfrm>
            <a:custGeom>
              <a:avLst/>
              <a:gdLst/>
              <a:ahLst/>
              <a:cxnLst/>
              <a:rect l="l" t="t" r="r" b="b"/>
              <a:pathLst>
                <a:path w="419100" h="690562">
                  <a:moveTo>
                    <a:pt x="0" y="690562"/>
                  </a:moveTo>
                  <a:lnTo>
                    <a:pt x="209550" y="69056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004310" y="532542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004310" y="5325428"/>
              <a:ext cx="419100" cy="691515"/>
            </a:xfrm>
            <a:custGeom>
              <a:avLst/>
              <a:gdLst/>
              <a:ahLst/>
              <a:cxnLst/>
              <a:rect l="l" t="t" r="r" b="b"/>
              <a:pathLst>
                <a:path w="419100" h="691515">
                  <a:moveTo>
                    <a:pt x="0" y="0"/>
                  </a:moveTo>
                  <a:lnTo>
                    <a:pt x="209550" y="0"/>
                  </a:lnTo>
                  <a:lnTo>
                    <a:pt x="209550" y="691515"/>
                  </a:lnTo>
                  <a:lnTo>
                    <a:pt x="419100" y="6915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16430" y="2215515"/>
              <a:ext cx="419100" cy="1555432"/>
            </a:xfrm>
            <a:custGeom>
              <a:avLst/>
              <a:gdLst/>
              <a:ahLst/>
              <a:cxnLst/>
              <a:rect l="l" t="t" r="r" b="b"/>
              <a:pathLst>
                <a:path w="419100" h="1555432">
                  <a:moveTo>
                    <a:pt x="0" y="1555432"/>
                  </a:moveTo>
                  <a:lnTo>
                    <a:pt x="209550" y="155543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916430" y="3597592"/>
              <a:ext cx="419100" cy="173355"/>
            </a:xfrm>
            <a:custGeom>
              <a:avLst/>
              <a:gdLst/>
              <a:ahLst/>
              <a:cxnLst/>
              <a:rect l="l" t="t" r="r" b="b"/>
              <a:pathLst>
                <a:path w="419100" h="173355">
                  <a:moveTo>
                    <a:pt x="0" y="173355"/>
                  </a:moveTo>
                  <a:lnTo>
                    <a:pt x="209550" y="1733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916430" y="3770948"/>
              <a:ext cx="419100" cy="1554480"/>
            </a:xfrm>
            <a:custGeom>
              <a:avLst/>
              <a:gdLst/>
              <a:ahLst/>
              <a:cxnLst/>
              <a:rect l="l" t="t" r="r" b="b"/>
              <a:pathLst>
                <a:path w="419100" h="1554480">
                  <a:moveTo>
                    <a:pt x="0" y="0"/>
                  </a:moveTo>
                  <a:lnTo>
                    <a:pt x="209550" y="0"/>
                  </a:lnTo>
                  <a:lnTo>
                    <a:pt x="209550" y="1554480"/>
                  </a:lnTo>
                  <a:lnTo>
                    <a:pt x="419100" y="155448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23410" y="1696402"/>
              <a:ext cx="238601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423410" y="2387918"/>
              <a:ext cx="238601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335530" y="2042160"/>
              <a:ext cx="1667828" cy="346710"/>
            </a:xfrm>
            <a:prstGeom prst="roundRect">
              <a:avLst>
                <a:gd name="adj" fmla="val 27473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23410" y="3078480"/>
              <a:ext cx="238601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23410" y="3769995"/>
              <a:ext cx="238601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35530" y="3424238"/>
              <a:ext cx="1667828" cy="346710"/>
            </a:xfrm>
            <a:prstGeom prst="roundRect">
              <a:avLst>
                <a:gd name="adj" fmla="val 27473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423410" y="4461510"/>
              <a:ext cx="238601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423410" y="5152072"/>
              <a:ext cx="238601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23410" y="5843588"/>
              <a:ext cx="238601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335530" y="5152072"/>
              <a:ext cx="1667828" cy="346710"/>
            </a:xfrm>
            <a:prstGeom prst="roundRect">
              <a:avLst>
                <a:gd name="adj" fmla="val 27473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597592"/>
              <a:ext cx="1383030" cy="346710"/>
            </a:xfrm>
            <a:prstGeom prst="roundRect">
              <a:avLst>
                <a:gd name="adj" fmla="val 2747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12945" y="179117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词法分析器的设计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2945" y="2482691"/>
              <a:ext cx="1682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Token 结构与自动机实现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25065" y="21369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一个核心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2945" y="31732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正则表达式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12945" y="3864769"/>
              <a:ext cx="1522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有限自动机 NFA / DFA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25065" y="35190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两个工具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12945" y="4556284"/>
              <a:ext cx="12358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NFA 确定化为 DFA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2945" y="5246846"/>
              <a:ext cx="7744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DFA 极小化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12945" y="593836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正则式与自动机互相转换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25065" y="524684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三个转换算法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935" y="36923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词法分析</a:t>
              </a:r>
            </a:p>
          </p:txBody>
        </p:sp>
      </p:grpSp>
      <p:grpSp>
        <p:nvGrpSpPr>
          <p:cNvPr id="53" name="c2-steps-1"/>
          <p:cNvGrpSpPr/>
          <p:nvPr/>
        </p:nvGrpSpPr>
        <p:grpSpPr>
          <a:xfrm>
            <a:off x="7114222" y="1533525"/>
            <a:ext cx="3304607" cy="1685449"/>
            <a:chOff x="7114222" y="1533525"/>
            <a:chExt cx="3304607" cy="1685449"/>
          </a:xfrm>
        </p:grpSpPr>
        <p:sp>
          <p:nvSpPr>
            <p:cNvPr id="40" name="Rectangle 40"/>
            <p:cNvSpPr/>
            <p:nvPr/>
          </p:nvSpPr>
          <p:spPr>
            <a:xfrm>
              <a:off x="7247572" y="1676400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114222" y="211645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07846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114222" y="269938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07846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26464" y="1564957"/>
              <a:ext cx="1123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正则式 → NFA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27608" y="1833086"/>
              <a:ext cx="2751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S −R→ Z 出发，按连接、或、闭包拆弧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26464" y="2147888"/>
              <a:ext cx="910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NFA → DFA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27608" y="2416016"/>
              <a:ext cx="2622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子集法：ε-闭包加 Iₐ，直到没有新集合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26464" y="2730818"/>
              <a:ext cx="1334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DFA → 最简 DFA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27608" y="2998946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先分终态和非终态，再按“到达哪一组”细分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7114222" y="3382328"/>
            <a:ext cx="4544378" cy="2043112"/>
            <a:chOff x="7114222" y="3382328"/>
            <a:chExt cx="4544378" cy="2043112"/>
          </a:xfrm>
        </p:grpSpPr>
        <p:sp>
          <p:nvSpPr>
            <p:cNvPr id="54" name="Rectangle 54"/>
            <p:cNvSpPr/>
            <p:nvPr/>
          </p:nvSpPr>
          <p:spPr>
            <a:xfrm>
              <a:off x="7114222" y="3382328"/>
              <a:ext cx="4544378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23748" y="3515678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39012" y="356901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12380" y="360187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自动机是五元组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32154" y="3913822"/>
              <a:ext cx="36484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NFA 和 DFA 都写成 M = (Σ, S, S₀, f, Z)：字母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表、状态集、初态、转换函数、终态集。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347585" y="452723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503604" y="4471035"/>
              <a:ext cx="37256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NFA：f 映到状态集合，允许 ε 弧，初态可以是一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个集合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347585" y="508444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503604" y="5028248"/>
              <a:ext cx="26931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DFA：f 映到唯一状态，没有 ε 弧</a:t>
              </a:r>
            </a:p>
          </p:txBody>
        </p:sp>
      </p:grpSp>
      <p:grpSp>
        <p:nvGrpSpPr>
          <p:cNvPr id="70" name="c2-callout-3"/>
          <p:cNvGrpSpPr/>
          <p:nvPr/>
        </p:nvGrpSpPr>
        <p:grpSpPr>
          <a:xfrm>
            <a:off x="7114222" y="5595938"/>
            <a:ext cx="4544378" cy="729615"/>
            <a:chOff x="7114222" y="5595938"/>
            <a:chExt cx="4544378" cy="729615"/>
          </a:xfrm>
        </p:grpSpPr>
        <p:sp>
          <p:nvSpPr>
            <p:cNvPr id="64" name="Rectangle 64"/>
            <p:cNvSpPr/>
            <p:nvPr/>
          </p:nvSpPr>
          <p:spPr>
            <a:xfrm>
              <a:off x="7114222" y="5595938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06952" y="5857041"/>
              <a:ext cx="224134" cy="192560"/>
              <a:chOff x="7306952" y="5857041"/>
              <a:chExt cx="224134" cy="1925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419023" y="59274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306952" y="58570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419023" y="60051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7621714" y="5741670"/>
              <a:ext cx="36141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极小化最容易错的一点：看是否到达同一组，而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非到达同一个状态。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84953" cy="3351847"/>
            <a:chOff x="667512" y="1835468"/>
            <a:chExt cx="51849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语法分析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750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语法树、二义性、文法等价变换、LL(1) 与递归下降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由语法树读出短语、简单短语、句柄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二义性文法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提取公共前缀与消除左递归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833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LL(1) 分析器与递归下降法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语法树与句型、短语、简单短语、句柄的对应关系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951220" cy="2244090"/>
            <a:chOff x="533400" y="1524000"/>
            <a:chExt cx="5951220" cy="22440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84529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语法树中取的部分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01668" y="16597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叶子从左到右连成的串是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整棵语法树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35895" y="2108359"/>
              <a:ext cx="7539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一个 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任意一棵子树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35895" y="2556986"/>
              <a:ext cx="7539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一个 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短语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简单子树（只有一层分支）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35895" y="30056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一个简单短语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5424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最左边的简单子树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35895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句柄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95122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2331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kv-2"/>
          <p:cNvGrpSpPr/>
          <p:nvPr/>
        </p:nvGrpSpPr>
        <p:grpSpPr>
          <a:xfrm>
            <a:off x="525780" y="3983355"/>
            <a:ext cx="5958840" cy="2177415"/>
            <a:chOff x="525780" y="3983355"/>
            <a:chExt cx="5958840" cy="2177415"/>
          </a:xfrm>
        </p:grpSpPr>
        <p:sp>
          <p:nvSpPr>
            <p:cNvPr id="26" name="TextBox 26"/>
            <p:cNvSpPr txBox="1"/>
            <p:nvPr/>
          </p:nvSpPr>
          <p:spPr>
            <a:xfrm>
              <a:off x="525780" y="39833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句型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66862" y="3983355"/>
              <a:ext cx="4587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从开始符出发推导出的符号串；只含终极符的句型是句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58533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5780" y="47053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短语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66862" y="4705350"/>
              <a:ext cx="44253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S ⇒* αAδ 且 A ⇒⁺ β，则 β 是句型 αβδ 相对于 A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短语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30733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5780" y="54273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简单短语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66862" y="5427345"/>
              <a:ext cx="38758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上面的 A ⇒⁺ β 只用一步（A → β 是产生式）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74738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5780" y="58674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句柄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66862" y="58674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句型最左边的简单短语</a:t>
              </a:r>
            </a:p>
          </p:txBody>
        </p:sp>
      </p:grpSp>
      <p:grpSp>
        <p:nvGrpSpPr>
          <p:cNvPr id="58" name="c2-compare-1"/>
          <p:cNvGrpSpPr/>
          <p:nvPr/>
        </p:nvGrpSpPr>
        <p:grpSpPr>
          <a:xfrm>
            <a:off x="6789420" y="1524000"/>
            <a:ext cx="4869180" cy="2846070"/>
            <a:chOff x="6789420" y="1524000"/>
            <a:chExt cx="4869180" cy="2846070"/>
          </a:xfrm>
        </p:grpSpPr>
        <p:sp>
          <p:nvSpPr>
            <p:cNvPr id="38" name="Rectangle 38"/>
            <p:cNvSpPr/>
            <p:nvPr/>
          </p:nvSpPr>
          <p:spPr>
            <a:xfrm>
              <a:off x="6789420" y="1524000"/>
              <a:ext cx="2225040" cy="2846070"/>
            </a:xfrm>
            <a:prstGeom prst="roundRect">
              <a:avLst>
                <a:gd name="adj" fmla="val 5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98945" y="1657350"/>
              <a:ext cx="47625" cy="257937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29450" y="17583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推导（自顶向下）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042785" y="217551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00900" y="211264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从开始符出发一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步步推导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042785" y="279654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00900" y="2733675"/>
              <a:ext cx="134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推得出这个程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序，说明它没有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语法错误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042785" y="370332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00900" y="3640455"/>
              <a:ext cx="115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涉及句型、句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子、语言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433560" y="1524000"/>
              <a:ext cx="2225040" cy="2846070"/>
            </a:xfrm>
            <a:prstGeom prst="roundRect">
              <a:avLst>
                <a:gd name="adj" fmla="val 5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443085" y="1657350"/>
              <a:ext cx="47625" cy="25793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673590" y="17583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归约（自底向上）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9686925" y="217551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845040" y="211264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从程序出发一步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步往回归约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686925" y="279654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845040" y="273367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归约到开始符，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说明它是句子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9686925" y="341757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845040" y="335470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涉及短语、简单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短语、句柄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9062085" y="278511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132425" y="28813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6789420" y="4560570"/>
            <a:ext cx="4869180" cy="1541145"/>
            <a:chOff x="6789420" y="4560570"/>
            <a:chExt cx="4869180" cy="1541145"/>
          </a:xfrm>
        </p:grpSpPr>
        <p:sp>
          <p:nvSpPr>
            <p:cNvPr id="59" name="Rectangle 59"/>
            <p:cNvSpPr/>
            <p:nvPr/>
          </p:nvSpPr>
          <p:spPr>
            <a:xfrm>
              <a:off x="6789420" y="4560570"/>
              <a:ext cx="4869180" cy="1541145"/>
            </a:xfrm>
            <a:prstGeom prst="roundRect">
              <a:avLst>
                <a:gd name="adj" fmla="val 7417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994208" y="5231132"/>
              <a:ext cx="200023" cy="200023"/>
              <a:chOff x="6994208" y="5231132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994208" y="523113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127558" y="52978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296150" y="4950142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根节点到子节点是一步推导，所以整棵树的叶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子是句型，子树的叶子是由子树根推出来的短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73668" cy="909257"/>
            <a:chOff x="520446" y="342900"/>
            <a:chExt cx="73736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736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例：(T+i)*i+F 是文法 G 的句型吗？先写出推导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979170"/>
            <a:chOff x="533400" y="1524000"/>
            <a:chExt cx="5410200" cy="9791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979170"/>
            </a:xfrm>
            <a:prstGeom prst="roundRect">
              <a:avLst>
                <a:gd name="adj" fmla="val 136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124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467" y="1756410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文法 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39821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→ T | E + T　　T → F | T * F　　F → ( E ) | i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2684145"/>
            <a:ext cx="5410200" cy="2586990"/>
            <a:chOff x="533400" y="2684145"/>
            <a:chExt cx="5410200" cy="2586990"/>
          </a:xfrm>
        </p:grpSpPr>
        <p:sp>
          <p:nvSpPr>
            <p:cNvPr id="13" name="Rectangle 13"/>
            <p:cNvSpPr/>
            <p:nvPr/>
          </p:nvSpPr>
          <p:spPr>
            <a:xfrm>
              <a:off x="533400" y="2684145"/>
              <a:ext cx="5410200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283606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推导过程（右侧为这一步用的产生式）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416" y="3097530"/>
              <a:ext cx="3171063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 ⇒ E + T                  E → E + 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⇒ T + T                  E → 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⇒ T * F + T              T → T * F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⇒ F * F + T              T → F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⇒ ( E ) * F + T          F → ( E 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⇒ ( E + T ) * F + T      E → E + 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⇒ ( T + T ) * F + T      E → T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⇒ ( T + F ) * F + T      T → F（第二个 T）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⇒ ( T + i ) * F + T      F → i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⇒ ( T + i ) * i + T      F → i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⇒ ( T + i ) * i + F      T → F</a:t>
              </a:r>
            </a:p>
          </p:txBody>
        </p:sp>
      </p:grpSp>
      <p:grpSp>
        <p:nvGrpSpPr>
          <p:cNvPr id="77" name="c2-graph-1"/>
          <p:cNvGrpSpPr/>
          <p:nvPr/>
        </p:nvGrpSpPr>
        <p:grpSpPr>
          <a:xfrm>
            <a:off x="6420802" y="1566862"/>
            <a:ext cx="5119688" cy="3856101"/>
            <a:chOff x="6420802" y="1566862"/>
            <a:chExt cx="5119688" cy="3856101"/>
          </a:xfrm>
        </p:grpSpPr>
        <p:sp>
          <p:nvSpPr>
            <p:cNvPr id="17" name="Freeform 17"/>
            <p:cNvSpPr/>
            <p:nvPr/>
          </p:nvSpPr>
          <p:spPr>
            <a:xfrm>
              <a:off x="8567738" y="1766888"/>
              <a:ext cx="1096328" cy="335280"/>
            </a:xfrm>
            <a:custGeom>
              <a:avLst/>
              <a:gdLst/>
              <a:ahLst/>
              <a:cxnLst/>
              <a:rect l="l" t="t" r="r" b="b"/>
              <a:pathLst>
                <a:path w="1096328" h="335280">
                  <a:moveTo>
                    <a:pt x="1096328" y="0"/>
                  </a:moveTo>
                  <a:lnTo>
                    <a:pt x="0" y="3352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964102" y="1791652"/>
              <a:ext cx="575310" cy="285750"/>
            </a:xfrm>
            <a:custGeom>
              <a:avLst/>
              <a:gdLst/>
              <a:ahLst/>
              <a:cxnLst/>
              <a:rect l="l" t="t" r="r" b="b"/>
              <a:pathLst>
                <a:path w="575310" h="285750">
                  <a:moveTo>
                    <a:pt x="0" y="0"/>
                  </a:moveTo>
                  <a:lnTo>
                    <a:pt x="575310" y="2857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9975532" y="1762125"/>
              <a:ext cx="1256348" cy="344805"/>
            </a:xfrm>
            <a:custGeom>
              <a:avLst/>
              <a:gdLst/>
              <a:ahLst/>
              <a:cxnLst/>
              <a:rect l="l" t="t" r="r" b="b"/>
              <a:pathLst>
                <a:path w="1256348" h="344805">
                  <a:moveTo>
                    <a:pt x="0" y="0"/>
                  </a:moveTo>
                  <a:lnTo>
                    <a:pt x="1256348" y="3448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1388090" y="2311718"/>
              <a:ext cx="9525" cy="106680"/>
            </a:xfrm>
            <a:custGeom>
              <a:avLst/>
              <a:gdLst/>
              <a:ahLst/>
              <a:cxnLst/>
              <a:rect l="l" t="t" r="r" b="b"/>
              <a:pathLst>
                <a:path w="9525" h="106680">
                  <a:moveTo>
                    <a:pt x="0" y="0"/>
                  </a:moveTo>
                  <a:lnTo>
                    <a:pt x="0" y="1066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412480" y="2311718"/>
              <a:ext cx="9525" cy="106680"/>
            </a:xfrm>
            <a:custGeom>
              <a:avLst/>
              <a:gdLst/>
              <a:ahLst/>
              <a:cxnLst/>
              <a:rect l="l" t="t" r="r" b="b"/>
              <a:pathLst>
                <a:path w="9525" h="106680">
                  <a:moveTo>
                    <a:pt x="0" y="0"/>
                  </a:moveTo>
                  <a:lnTo>
                    <a:pt x="0" y="1066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898130" y="2669858"/>
              <a:ext cx="379095" cy="250508"/>
            </a:xfrm>
            <a:custGeom>
              <a:avLst/>
              <a:gdLst/>
              <a:ahLst/>
              <a:cxnLst/>
              <a:rect l="l" t="t" r="r" b="b"/>
              <a:pathLst>
                <a:path w="379095" h="250508">
                  <a:moveTo>
                    <a:pt x="379095" y="0"/>
                  </a:moveTo>
                  <a:lnTo>
                    <a:pt x="0" y="2505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557260" y="2651760"/>
              <a:ext cx="576262" cy="286703"/>
            </a:xfrm>
            <a:custGeom>
              <a:avLst/>
              <a:gdLst/>
              <a:ahLst/>
              <a:cxnLst/>
              <a:rect l="l" t="t" r="r" b="b"/>
              <a:pathLst>
                <a:path w="576262" h="286703">
                  <a:moveTo>
                    <a:pt x="0" y="0"/>
                  </a:moveTo>
                  <a:lnTo>
                    <a:pt x="576262" y="2867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569642" y="2619375"/>
              <a:ext cx="1417320" cy="351472"/>
            </a:xfrm>
            <a:custGeom>
              <a:avLst/>
              <a:gdLst/>
              <a:ahLst/>
              <a:cxnLst/>
              <a:rect l="l" t="t" r="r" b="b"/>
              <a:pathLst>
                <a:path w="1417320" h="351472">
                  <a:moveTo>
                    <a:pt x="0" y="0"/>
                  </a:moveTo>
                  <a:lnTo>
                    <a:pt x="1417320" y="3514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0144125" y="3171825"/>
              <a:ext cx="9525" cy="106680"/>
            </a:xfrm>
            <a:custGeom>
              <a:avLst/>
              <a:gdLst/>
              <a:ahLst/>
              <a:cxnLst/>
              <a:rect l="l" t="t" r="r" b="b"/>
              <a:pathLst>
                <a:path w="9525" h="106680">
                  <a:moveTo>
                    <a:pt x="0" y="0"/>
                  </a:moveTo>
                  <a:lnTo>
                    <a:pt x="0" y="1066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762875" y="3171825"/>
              <a:ext cx="9525" cy="106680"/>
            </a:xfrm>
            <a:custGeom>
              <a:avLst/>
              <a:gdLst/>
              <a:ahLst/>
              <a:cxnLst/>
              <a:rect l="l" t="t" r="r" b="b"/>
              <a:pathLst>
                <a:path w="9525" h="106680">
                  <a:moveTo>
                    <a:pt x="0" y="0"/>
                  </a:moveTo>
                  <a:lnTo>
                    <a:pt x="0" y="1066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725602" y="3495675"/>
              <a:ext cx="885825" cy="320040"/>
            </a:xfrm>
            <a:custGeom>
              <a:avLst/>
              <a:gdLst/>
              <a:ahLst/>
              <a:cxnLst/>
              <a:rect l="l" t="t" r="r" b="b"/>
              <a:pathLst>
                <a:path w="885825" h="320040">
                  <a:moveTo>
                    <a:pt x="885825" y="0"/>
                  </a:moveTo>
                  <a:lnTo>
                    <a:pt x="0" y="3200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762875" y="3602355"/>
              <a:ext cx="9525" cy="106680"/>
            </a:xfrm>
            <a:custGeom>
              <a:avLst/>
              <a:gdLst/>
              <a:ahLst/>
              <a:cxnLst/>
              <a:rect l="l" t="t" r="r" b="b"/>
              <a:pathLst>
                <a:path w="9525" h="106680">
                  <a:moveTo>
                    <a:pt x="0" y="0"/>
                  </a:moveTo>
                  <a:lnTo>
                    <a:pt x="0" y="1066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915275" y="3495675"/>
              <a:ext cx="885825" cy="320040"/>
            </a:xfrm>
            <a:custGeom>
              <a:avLst/>
              <a:gdLst/>
              <a:ahLst/>
              <a:cxnLst/>
              <a:rect l="l" t="t" r="r" b="b"/>
              <a:pathLst>
                <a:path w="885825" h="320040">
                  <a:moveTo>
                    <a:pt x="0" y="0"/>
                  </a:moveTo>
                  <a:lnTo>
                    <a:pt x="885825" y="3200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146608" y="3950970"/>
              <a:ext cx="476250" cy="269558"/>
            </a:xfrm>
            <a:custGeom>
              <a:avLst/>
              <a:gdLst/>
              <a:ahLst/>
              <a:cxnLst/>
              <a:rect l="l" t="t" r="r" b="b"/>
              <a:pathLst>
                <a:path w="476250" h="269558">
                  <a:moveTo>
                    <a:pt x="476250" y="0"/>
                  </a:moveTo>
                  <a:lnTo>
                    <a:pt x="0" y="2695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762875" y="4032885"/>
              <a:ext cx="9525" cy="105728"/>
            </a:xfrm>
            <a:custGeom>
              <a:avLst/>
              <a:gdLst/>
              <a:ahLst/>
              <a:cxnLst/>
              <a:rect l="l" t="t" r="r" b="b"/>
              <a:pathLst>
                <a:path w="9525" h="105728">
                  <a:moveTo>
                    <a:pt x="0" y="0"/>
                  </a:moveTo>
                  <a:lnTo>
                    <a:pt x="0" y="1057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903845" y="3950970"/>
              <a:ext cx="476250" cy="269558"/>
            </a:xfrm>
            <a:custGeom>
              <a:avLst/>
              <a:gdLst/>
              <a:ahLst/>
              <a:cxnLst/>
              <a:rect l="l" t="t" r="r" b="b"/>
              <a:pathLst>
                <a:path w="476250" h="269558">
                  <a:moveTo>
                    <a:pt x="0" y="0"/>
                  </a:moveTo>
                  <a:lnTo>
                    <a:pt x="476250" y="2695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005638" y="4462462"/>
              <a:ext cx="9525" cy="106680"/>
            </a:xfrm>
            <a:custGeom>
              <a:avLst/>
              <a:gdLst/>
              <a:ahLst/>
              <a:cxnLst/>
              <a:rect l="l" t="t" r="r" b="b"/>
              <a:pathLst>
                <a:path w="9525" h="106680">
                  <a:moveTo>
                    <a:pt x="0" y="0"/>
                  </a:moveTo>
                  <a:lnTo>
                    <a:pt x="0" y="1066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521065" y="4462462"/>
              <a:ext cx="9525" cy="106680"/>
            </a:xfrm>
            <a:custGeom>
              <a:avLst/>
              <a:gdLst/>
              <a:ahLst/>
              <a:cxnLst/>
              <a:rect l="l" t="t" r="r" b="b"/>
              <a:pathLst>
                <a:path w="9525" h="106680">
                  <a:moveTo>
                    <a:pt x="0" y="0"/>
                  </a:moveTo>
                  <a:lnTo>
                    <a:pt x="0" y="1066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521065" y="4892992"/>
              <a:ext cx="9525" cy="106680"/>
            </a:xfrm>
            <a:custGeom>
              <a:avLst/>
              <a:gdLst/>
              <a:ahLst/>
              <a:cxnLst/>
              <a:rect l="l" t="t" r="r" b="b"/>
              <a:pathLst>
                <a:path w="9525" h="106680">
                  <a:moveTo>
                    <a:pt x="0" y="0"/>
                  </a:moveTo>
                  <a:lnTo>
                    <a:pt x="0" y="1066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666922" y="156686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8260080" y="199739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0532745" y="1997392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1235690" y="199739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1235690" y="2427922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8260080" y="242792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610475" y="28575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125902" y="285750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9991725" y="28575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9991725" y="328803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610475" y="328803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6420802" y="371856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7610475" y="371856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8801100" y="371856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853238" y="41481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610475" y="4148138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8368665" y="41481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6853238" y="4578668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8368665" y="457866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8368665" y="5009198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770863" y="165449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64021" y="20840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38996" y="20840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339631" y="20840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339631" y="251460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64021" y="251460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14416" y="294513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32153" y="29451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095666" y="294513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116528" y="3374708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14416" y="337470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27053" y="38052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14416" y="380523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07351" y="38052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57178" y="42357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16726" y="42357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72606" y="42357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957178" y="466534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472606" y="466534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493468" y="5095875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763000" y="5188267"/>
              <a:ext cx="2739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橙色为叶子，从左到右读出 (T+i)*i+F</a:t>
              </a:r>
            </a:p>
          </p:txBody>
        </p:sp>
      </p:grpSp>
      <p:grpSp>
        <p:nvGrpSpPr>
          <p:cNvPr id="84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78" name="Rectangle 78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511" y="5753576"/>
              <a:ext cx="995121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更正：原课件把这个推导标作“左线性推导”。左线性是文法类别的名称；这里是每步替换最左边一个还需展开的非终极符，留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到最后的 T、F 不再展开。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例（续）：从语法树读出全部短语、简单短语和句柄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0" name="c1-table-1"/>
          <p:cNvGrpSpPr/>
          <p:nvPr/>
        </p:nvGrpSpPr>
        <p:grpSpPr>
          <a:xfrm>
            <a:off x="533400" y="1524000"/>
            <a:ext cx="6059805" cy="4714875"/>
            <a:chOff x="533400" y="1524000"/>
            <a:chExt cx="6059805" cy="47148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3084" y="16597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子树的根（产生式）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8028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叶子串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5994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短语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5727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简单短语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108359"/>
              <a:ext cx="997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 E → E + 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43416" y="2108359"/>
              <a:ext cx="801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(T+i)*i+F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46104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2556986"/>
              <a:ext cx="1304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→ T（左子树）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43416" y="2556986"/>
              <a:ext cx="6010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(T+i)*i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46104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005614"/>
              <a:ext cx="768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→ T * F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43416" y="3005614"/>
              <a:ext cx="6010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(T+i)*i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6104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147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31946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454241"/>
              <a:ext cx="13705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→ F，F → ( E 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43416" y="3454241"/>
              <a:ext cx="455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(T+i)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46104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7633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3903821"/>
              <a:ext cx="13423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括号内 E → E + 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43416" y="3903821"/>
              <a:ext cx="261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T+i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46104" y="39038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21195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21671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226242"/>
              <a:ext cx="228314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" y="4352449"/>
              <a:ext cx="10173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括号内 E → 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43416" y="4352449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46104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5749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6605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1223" y="4801076"/>
              <a:ext cx="185110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括号内 F → i（其上还有 T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F）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943416" y="4914424"/>
              <a:ext cx="646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46104" y="491442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15749" y="491442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53368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534162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1223" y="5476399"/>
              <a:ext cx="9392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 后面 F → i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943416" y="5476399"/>
              <a:ext cx="646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46104" y="547639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15749" y="547639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57854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1223" y="5925026"/>
              <a:ext cx="8450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最右 T → F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943416" y="5925026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46104" y="592502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15749" y="592502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1524000"/>
              <a:ext cx="6059805" cy="47148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2830830" y="1524000"/>
              <a:ext cx="9525" cy="4714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4649152" y="1524000"/>
              <a:ext cx="9525" cy="4714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618798" y="1524000"/>
              <a:ext cx="9525" cy="4714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c2-card-1"/>
          <p:cNvGrpSpPr/>
          <p:nvPr/>
        </p:nvGrpSpPr>
        <p:grpSpPr>
          <a:xfrm>
            <a:off x="6898005" y="1524000"/>
            <a:ext cx="4760595" cy="2607945"/>
            <a:chOff x="6898005" y="1524000"/>
            <a:chExt cx="4760595" cy="2607945"/>
          </a:xfrm>
        </p:grpSpPr>
        <p:sp>
          <p:nvSpPr>
            <p:cNvPr id="61" name="Rectangle 61"/>
            <p:cNvSpPr/>
            <p:nvPr/>
          </p:nvSpPr>
          <p:spPr>
            <a:xfrm>
              <a:off x="6898005" y="1524000"/>
              <a:ext cx="4760595" cy="2607945"/>
            </a:xfrm>
            <a:prstGeom prst="roundRect">
              <a:avLst>
                <a:gd name="adj" fmla="val 511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10755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9776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99935" y="2110740"/>
              <a:ext cx="3996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(T+i)*i+F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是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G 的句型（有语法树，上一页已推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出）。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113270" y="27946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71385" y="2731770"/>
              <a:ext cx="3872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短语：(T+i)*i+F，(T+i)*i，(T+i)，T+i，T，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i，i，F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113270" y="34156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271385" y="3352800"/>
              <a:ext cx="19865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简单短语：T，i，i，F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113270" y="375094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71385" y="3688080"/>
              <a:ext cx="2555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句柄：T（最左的简单短语）</a:t>
              </a:r>
            </a:p>
          </p:txBody>
        </p:sp>
      </p:grpSp>
      <p:grpSp>
        <p:nvGrpSpPr>
          <p:cNvPr id="85" name="c2-steps-2"/>
          <p:cNvGrpSpPr/>
          <p:nvPr/>
        </p:nvGrpSpPr>
        <p:grpSpPr>
          <a:xfrm>
            <a:off x="6898005" y="4331970"/>
            <a:ext cx="3527222" cy="1878615"/>
            <a:chOff x="6898005" y="4331970"/>
            <a:chExt cx="3527222" cy="1878615"/>
          </a:xfrm>
        </p:grpSpPr>
        <p:sp>
          <p:nvSpPr>
            <p:cNvPr id="72" name="Rectangle 72"/>
            <p:cNvSpPr/>
            <p:nvPr/>
          </p:nvSpPr>
          <p:spPr>
            <a:xfrm>
              <a:off x="7031355" y="447484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6898005" y="433197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991629" y="44057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898005" y="498252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991629" y="50563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898005" y="563308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991629" y="5706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09485" y="436626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画树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310628" y="46601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能画出语法树就是句型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309485" y="501681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每棵子树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10628" y="531066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叶子串都是短语，重复的串按位置分别计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09485" y="56673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一层的子树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310628" y="596122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给出简单短语，最左的一个是句柄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二义性：同一个句子有两棵不同的语法树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785235" cy="2088832"/>
            <a:chOff x="533400" y="1524000"/>
            <a:chExt cx="3785235" cy="2088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785235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3080258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对文法 G，如果至少存在一个句子有两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棵（或两棵以上）不同的语法树，称该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句子是二义性的。含有二义性句子的文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法称为二义性文法，否则是无二义性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798570"/>
            <a:ext cx="3785235" cy="1594485"/>
            <a:chOff x="533400" y="3798570"/>
            <a:chExt cx="3785235" cy="1594485"/>
          </a:xfrm>
        </p:grpSpPr>
        <p:sp>
          <p:nvSpPr>
            <p:cNvPr id="13" name="Rectangle 13"/>
            <p:cNvSpPr/>
            <p:nvPr/>
          </p:nvSpPr>
          <p:spPr>
            <a:xfrm>
              <a:off x="533400" y="3798570"/>
              <a:ext cx="3785235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93192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75335" y="400240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1593" y="403812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096" y="4375309"/>
              <a:ext cx="208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G′：E → E + E | E * E | 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096" y="4695349"/>
              <a:ext cx="30441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句子 i + i * i 有右边两棵树：一棵先算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乘法，一棵先算加法。</a:t>
              </a:r>
            </a:p>
          </p:txBody>
        </p:sp>
      </p:grpSp>
      <p:grpSp>
        <p:nvGrpSpPr>
          <p:cNvPr id="49" name="c2-tree-1"/>
          <p:cNvGrpSpPr/>
          <p:nvPr/>
        </p:nvGrpSpPr>
        <p:grpSpPr>
          <a:xfrm>
            <a:off x="4757737" y="1751647"/>
            <a:ext cx="3097530" cy="2989898"/>
            <a:chOff x="4757737" y="1751647"/>
            <a:chExt cx="3097530" cy="2989898"/>
          </a:xfrm>
        </p:grpSpPr>
        <p:sp>
          <p:nvSpPr>
            <p:cNvPr id="20" name="Freeform 20"/>
            <p:cNvSpPr/>
            <p:nvPr/>
          </p:nvSpPr>
          <p:spPr>
            <a:xfrm>
              <a:off x="4960620" y="2815590"/>
              <a:ext cx="9525" cy="861060"/>
            </a:xfrm>
            <a:custGeom>
              <a:avLst/>
              <a:gdLst/>
              <a:ahLst/>
              <a:cxnLst/>
              <a:rect l="l" t="t" r="r" b="b"/>
              <a:pathLst>
                <a:path w="9525" h="861060">
                  <a:moveTo>
                    <a:pt x="0" y="0"/>
                  </a:moveTo>
                  <a:lnTo>
                    <a:pt x="0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306502" y="3676650"/>
              <a:ext cx="9525" cy="862012"/>
            </a:xfrm>
            <a:custGeom>
              <a:avLst/>
              <a:gdLst/>
              <a:ahLst/>
              <a:cxnLst/>
              <a:rect l="l" t="t" r="r" b="b"/>
              <a:pathLst>
                <a:path w="9525" h="862012">
                  <a:moveTo>
                    <a:pt x="0" y="0"/>
                  </a:moveTo>
                  <a:lnTo>
                    <a:pt x="0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652385" y="3676650"/>
              <a:ext cx="9525" cy="862012"/>
            </a:xfrm>
            <a:custGeom>
              <a:avLst/>
              <a:gdLst/>
              <a:ahLst/>
              <a:cxnLst/>
              <a:rect l="l" t="t" r="r" b="b"/>
              <a:pathLst>
                <a:path w="9525" h="862012">
                  <a:moveTo>
                    <a:pt x="0" y="0"/>
                  </a:moveTo>
                  <a:lnTo>
                    <a:pt x="0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306502" y="2815590"/>
              <a:ext cx="672465" cy="861060"/>
            </a:xfrm>
            <a:custGeom>
              <a:avLst/>
              <a:gdLst/>
              <a:ahLst/>
              <a:cxnLst/>
              <a:rect l="l" t="t" r="r" b="b"/>
              <a:pathLst>
                <a:path w="672465" h="861060">
                  <a:moveTo>
                    <a:pt x="672465" y="0"/>
                  </a:moveTo>
                  <a:lnTo>
                    <a:pt x="0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978968" y="2815590"/>
              <a:ext cx="9525" cy="861060"/>
            </a:xfrm>
            <a:custGeom>
              <a:avLst/>
              <a:gdLst/>
              <a:ahLst/>
              <a:cxnLst/>
              <a:rect l="l" t="t" r="r" b="b"/>
              <a:pathLst>
                <a:path w="9525" h="861060">
                  <a:moveTo>
                    <a:pt x="0" y="0"/>
                  </a:moveTo>
                  <a:lnTo>
                    <a:pt x="0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978968" y="2815590"/>
              <a:ext cx="673417" cy="861060"/>
            </a:xfrm>
            <a:custGeom>
              <a:avLst/>
              <a:gdLst/>
              <a:ahLst/>
              <a:cxnLst/>
              <a:rect l="l" t="t" r="r" b="b"/>
              <a:pathLst>
                <a:path w="673417" h="861060">
                  <a:moveTo>
                    <a:pt x="0" y="0"/>
                  </a:moveTo>
                  <a:lnTo>
                    <a:pt x="673417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960620" y="1954530"/>
              <a:ext cx="1345883" cy="861060"/>
            </a:xfrm>
            <a:custGeom>
              <a:avLst/>
              <a:gdLst/>
              <a:ahLst/>
              <a:cxnLst/>
              <a:rect l="l" t="t" r="r" b="b"/>
              <a:pathLst>
                <a:path w="1345883" h="861060">
                  <a:moveTo>
                    <a:pt x="1345883" y="0"/>
                  </a:moveTo>
                  <a:lnTo>
                    <a:pt x="0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5633085" y="1954530"/>
              <a:ext cx="673418" cy="861060"/>
            </a:xfrm>
            <a:custGeom>
              <a:avLst/>
              <a:gdLst/>
              <a:ahLst/>
              <a:cxnLst/>
              <a:rect l="l" t="t" r="r" b="b"/>
              <a:pathLst>
                <a:path w="673418" h="861060">
                  <a:moveTo>
                    <a:pt x="673418" y="0"/>
                  </a:moveTo>
                  <a:lnTo>
                    <a:pt x="0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306502" y="1954530"/>
              <a:ext cx="672465" cy="861060"/>
            </a:xfrm>
            <a:custGeom>
              <a:avLst/>
              <a:gdLst/>
              <a:ahLst/>
              <a:cxnLst/>
              <a:rect l="l" t="t" r="r" b="b"/>
              <a:pathLst>
                <a:path w="672465" h="861060">
                  <a:moveTo>
                    <a:pt x="0" y="0"/>
                  </a:moveTo>
                  <a:lnTo>
                    <a:pt x="672465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757737" y="3473768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4757737" y="261270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5430202" y="2612708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103620" y="433578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6103620" y="347376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6776085" y="3473768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449502" y="433578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449502" y="347376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776085" y="2612708"/>
              <a:ext cx="405765" cy="405765"/>
            </a:xfrm>
            <a:prstGeom prst="ellipse">
              <a:avLst/>
            </a:prstGeom>
            <a:solidFill>
              <a:srgbClr val="A1343C"/>
            </a:solidFill>
            <a:ln w="17145">
              <a:solidFill>
                <a:srgbClr val="A1343C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103620" y="1751647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931158" y="3606641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08905" y="27455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83834" y="2745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77041" y="4468654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54787" y="36066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29716" y="36066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2923" y="4468654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00670" y="36066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27252" y="27455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54787" y="188452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4623435" y="5153978"/>
            <a:ext cx="3365182" cy="518160"/>
            <a:chOff x="4623435" y="5153978"/>
            <a:chExt cx="3365182" cy="518160"/>
          </a:xfrm>
        </p:grpSpPr>
        <p:sp>
          <p:nvSpPr>
            <p:cNvPr id="50" name="Rectangle 50"/>
            <p:cNvSpPr/>
            <p:nvPr/>
          </p:nvSpPr>
          <p:spPr>
            <a:xfrm>
              <a:off x="4623435" y="5153978"/>
              <a:ext cx="3365182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4828223" y="5313045"/>
              <a:ext cx="200026" cy="200026"/>
              <a:chOff x="4828223" y="5313045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4828223" y="53130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4894898" y="539083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5130546" y="5313521"/>
              <a:ext cx="19356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乘法在下层，先算 i * i</a:t>
              </a:r>
            </a:p>
          </p:txBody>
        </p:sp>
      </p:grpSp>
      <p:grpSp>
        <p:nvGrpSpPr>
          <p:cNvPr id="85" name="c3-tree-1"/>
          <p:cNvGrpSpPr/>
          <p:nvPr/>
        </p:nvGrpSpPr>
        <p:grpSpPr>
          <a:xfrm>
            <a:off x="8426768" y="1751647"/>
            <a:ext cx="3098482" cy="2989898"/>
            <a:chOff x="8426768" y="1751647"/>
            <a:chExt cx="3098482" cy="2989898"/>
          </a:xfrm>
        </p:grpSpPr>
        <p:sp>
          <p:nvSpPr>
            <p:cNvPr id="56" name="Freeform 56"/>
            <p:cNvSpPr/>
            <p:nvPr/>
          </p:nvSpPr>
          <p:spPr>
            <a:xfrm>
              <a:off x="8629650" y="3676650"/>
              <a:ext cx="9525" cy="862012"/>
            </a:xfrm>
            <a:custGeom>
              <a:avLst/>
              <a:gdLst/>
              <a:ahLst/>
              <a:cxnLst/>
              <a:rect l="l" t="t" r="r" b="b"/>
              <a:pathLst>
                <a:path w="9525" h="862012">
                  <a:moveTo>
                    <a:pt x="0" y="0"/>
                  </a:moveTo>
                  <a:lnTo>
                    <a:pt x="0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9976485" y="3676650"/>
              <a:ext cx="9525" cy="862012"/>
            </a:xfrm>
            <a:custGeom>
              <a:avLst/>
              <a:gdLst/>
              <a:ahLst/>
              <a:cxnLst/>
              <a:rect l="l" t="t" r="r" b="b"/>
              <a:pathLst>
                <a:path w="9525" h="862012">
                  <a:moveTo>
                    <a:pt x="0" y="0"/>
                  </a:moveTo>
                  <a:lnTo>
                    <a:pt x="0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629650" y="2815590"/>
              <a:ext cx="673418" cy="861060"/>
            </a:xfrm>
            <a:custGeom>
              <a:avLst/>
              <a:gdLst/>
              <a:ahLst/>
              <a:cxnLst/>
              <a:rect l="l" t="t" r="r" b="b"/>
              <a:pathLst>
                <a:path w="673418" h="861060">
                  <a:moveTo>
                    <a:pt x="673418" y="0"/>
                  </a:moveTo>
                  <a:lnTo>
                    <a:pt x="0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303068" y="2815590"/>
              <a:ext cx="9525" cy="861060"/>
            </a:xfrm>
            <a:custGeom>
              <a:avLst/>
              <a:gdLst/>
              <a:ahLst/>
              <a:cxnLst/>
              <a:rect l="l" t="t" r="r" b="b"/>
              <a:pathLst>
                <a:path w="9525" h="861060">
                  <a:moveTo>
                    <a:pt x="0" y="0"/>
                  </a:moveTo>
                  <a:lnTo>
                    <a:pt x="0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9303068" y="2815590"/>
              <a:ext cx="673418" cy="861060"/>
            </a:xfrm>
            <a:custGeom>
              <a:avLst/>
              <a:gdLst/>
              <a:ahLst/>
              <a:cxnLst/>
              <a:rect l="l" t="t" r="r" b="b"/>
              <a:pathLst>
                <a:path w="673418" h="861060">
                  <a:moveTo>
                    <a:pt x="0" y="0"/>
                  </a:moveTo>
                  <a:lnTo>
                    <a:pt x="673418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11322368" y="2815590"/>
              <a:ext cx="9525" cy="861060"/>
            </a:xfrm>
            <a:custGeom>
              <a:avLst/>
              <a:gdLst/>
              <a:ahLst/>
              <a:cxnLst/>
              <a:rect l="l" t="t" r="r" b="b"/>
              <a:pathLst>
                <a:path w="9525" h="861060">
                  <a:moveTo>
                    <a:pt x="0" y="0"/>
                  </a:moveTo>
                  <a:lnTo>
                    <a:pt x="0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9303068" y="1954530"/>
              <a:ext cx="673418" cy="861060"/>
            </a:xfrm>
            <a:custGeom>
              <a:avLst/>
              <a:gdLst/>
              <a:ahLst/>
              <a:cxnLst/>
              <a:rect l="l" t="t" r="r" b="b"/>
              <a:pathLst>
                <a:path w="673418" h="861060">
                  <a:moveTo>
                    <a:pt x="673418" y="0"/>
                  </a:moveTo>
                  <a:lnTo>
                    <a:pt x="0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9976485" y="1954530"/>
              <a:ext cx="672465" cy="861060"/>
            </a:xfrm>
            <a:custGeom>
              <a:avLst/>
              <a:gdLst/>
              <a:ahLst/>
              <a:cxnLst/>
              <a:rect l="l" t="t" r="r" b="b"/>
              <a:pathLst>
                <a:path w="672465" h="861060">
                  <a:moveTo>
                    <a:pt x="0" y="0"/>
                  </a:moveTo>
                  <a:lnTo>
                    <a:pt x="672465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9976485" y="1954530"/>
              <a:ext cx="1345882" cy="861060"/>
            </a:xfrm>
            <a:custGeom>
              <a:avLst/>
              <a:gdLst/>
              <a:ahLst/>
              <a:cxnLst/>
              <a:rect l="l" t="t" r="r" b="b"/>
              <a:pathLst>
                <a:path w="1345882" h="861060">
                  <a:moveTo>
                    <a:pt x="0" y="0"/>
                  </a:moveTo>
                  <a:lnTo>
                    <a:pt x="1345882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8426768" y="433578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8426768" y="347376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9100185" y="3473768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9773603" y="433578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9773603" y="347376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9100185" y="2612708"/>
              <a:ext cx="405765" cy="405765"/>
            </a:xfrm>
            <a:prstGeom prst="ellipse">
              <a:avLst/>
            </a:prstGeom>
            <a:solidFill>
              <a:srgbClr val="A1343C"/>
            </a:solidFill>
            <a:ln w="17145">
              <a:solidFill>
                <a:srgbClr val="A1343C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10446068" y="2612708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11119485" y="3473768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11119485" y="261270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9773603" y="1751647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600188" y="4468654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577935" y="36066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253816" y="36066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947023" y="4468654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924770" y="36066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251352" y="27455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599699" y="2745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292906" y="3606641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270652" y="27455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924770" y="188452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92" name="c3-callout-2"/>
          <p:cNvGrpSpPr/>
          <p:nvPr/>
        </p:nvGrpSpPr>
        <p:grpSpPr>
          <a:xfrm>
            <a:off x="8293418" y="5153978"/>
            <a:ext cx="3365182" cy="518160"/>
            <a:chOff x="8293418" y="5153978"/>
            <a:chExt cx="3365182" cy="518160"/>
          </a:xfrm>
        </p:grpSpPr>
        <p:sp>
          <p:nvSpPr>
            <p:cNvPr id="86" name="Rectangle 86"/>
            <p:cNvSpPr/>
            <p:nvPr/>
          </p:nvSpPr>
          <p:spPr>
            <a:xfrm>
              <a:off x="8293418" y="5153978"/>
              <a:ext cx="3365182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8486147" y="5309353"/>
              <a:ext cx="224134" cy="192560"/>
              <a:chOff x="8486147" y="5309353"/>
              <a:chExt cx="224134" cy="19256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8598218" y="53797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486147" y="53093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598218" y="54575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8800528" y="5313521"/>
              <a:ext cx="19356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加法在下层，先算 i + i</a:t>
              </a:r>
            </a:p>
          </p:txBody>
        </p:sp>
      </p:grpSp>
      <p:grpSp>
        <p:nvGrpSpPr>
          <p:cNvPr id="9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93" name="Rectangle 9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1040511" y="6004084"/>
              <a:ext cx="101851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计算机处理时不允许二义性。前面的文法 E → T | E + T 把 * 放到更深一层的 T 里，规定了优先级，i + i * i 只有一棵树。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59792" cy="909257"/>
            <a:chOff x="520446" y="342900"/>
            <a:chExt cx="45597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597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文法等价变换 ① 提取公共前缀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33400" y="1524000"/>
            <a:ext cx="5626418" cy="1778318"/>
            <a:chOff x="533400" y="1524000"/>
            <a:chExt cx="5626418" cy="17783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481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35989" y="16516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原文法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85248" y="165163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提取公共前缀后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2270" y="2096452"/>
              <a:ext cx="1289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→ aB | aC | aD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95422" y="2096452"/>
              <a:ext cx="1921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→ aA′，A′ → B | C | D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088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13635"/>
              <a:ext cx="5626418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2270" y="2541270"/>
              <a:ext cx="1181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→ bB | bD | 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95422" y="2541270"/>
              <a:ext cx="19085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→ bB′ | c，B′ → B | D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527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2270" y="2986088"/>
              <a:ext cx="4341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→ 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95422" y="2986088"/>
              <a:ext cx="4341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→ d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626418" cy="17783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891790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1-steps-2"/>
          <p:cNvGrpSpPr/>
          <p:nvPr/>
        </p:nvGrpSpPr>
        <p:grpSpPr>
          <a:xfrm>
            <a:off x="533400" y="3487102"/>
            <a:ext cx="2736073" cy="1106330"/>
            <a:chOff x="533400" y="3487102"/>
            <a:chExt cx="2736073" cy="1106330"/>
          </a:xfrm>
        </p:grpSpPr>
        <p:sp>
          <p:nvSpPr>
            <p:cNvPr id="22" name="Rectangle 22"/>
            <p:cNvSpPr/>
            <p:nvPr/>
          </p:nvSpPr>
          <p:spPr>
            <a:xfrm>
              <a:off x="666750" y="3629978"/>
              <a:ext cx="19050" cy="586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33400" y="348710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7024" y="35609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407384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7024" y="41476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642" y="3518535"/>
              <a:ext cx="2040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的三个候选都以 a 开头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785" y="3786664"/>
              <a:ext cx="23226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提出 a，剩下的部分交给新符号 A′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5642" y="4106227"/>
              <a:ext cx="22219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的前两个候选都以 b 开头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785" y="4373404"/>
              <a:ext cx="2289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提出 b 得 B′ → B | D；候选 c 不变</a:t>
              </a:r>
            </a:p>
          </p:txBody>
        </p:sp>
      </p:grpSp>
      <p:grpSp>
        <p:nvGrpSpPr>
          <p:cNvPr id="41" name="c1-card-3"/>
          <p:cNvGrpSpPr/>
          <p:nvPr/>
        </p:nvGrpSpPr>
        <p:grpSpPr>
          <a:xfrm>
            <a:off x="533400" y="4762500"/>
            <a:ext cx="5626418" cy="1518285"/>
            <a:chOff x="533400" y="4762500"/>
            <a:chExt cx="5626418" cy="1518285"/>
          </a:xfrm>
        </p:grpSpPr>
        <p:sp>
          <p:nvSpPr>
            <p:cNvPr id="32" name="Rectangle 32"/>
            <p:cNvSpPr/>
            <p:nvPr/>
          </p:nvSpPr>
          <p:spPr>
            <a:xfrm>
              <a:off x="533400" y="4762500"/>
              <a:ext cx="5626418" cy="1518285"/>
            </a:xfrm>
            <a:prstGeom prst="roundRect">
              <a:avLst>
                <a:gd name="adj" fmla="val 87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895850"/>
              <a:ext cx="47625" cy="12515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3905" y="495490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1342" y="49891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提取后怎样选候选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72478" y="536733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8497" y="5311140"/>
              <a:ext cx="37172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 A 时读到 a：只有 aA′ 一个候选，直接用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72478" y="567023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8497" y="5614035"/>
              <a:ext cx="2988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 B 时读到 b 用 bB′，读到 c 用 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8190" y="5912644"/>
              <a:ext cx="39684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提取前读到 b，B 的 bB 和 bD 都可能对，只能试探再回溯。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464618" y="1524000"/>
            <a:ext cx="5193982" cy="1811655"/>
            <a:chOff x="6464618" y="1524000"/>
            <a:chExt cx="5193982" cy="1811655"/>
          </a:xfrm>
        </p:grpSpPr>
        <p:sp>
          <p:nvSpPr>
            <p:cNvPr id="42" name="Rectangle 42"/>
            <p:cNvSpPr/>
            <p:nvPr/>
          </p:nvSpPr>
          <p:spPr>
            <a:xfrm>
              <a:off x="6464618" y="1524000"/>
              <a:ext cx="5193982" cy="1811655"/>
            </a:xfrm>
            <a:prstGeom prst="roundRect">
              <a:avLst>
                <a:gd name="adj" fmla="val 7361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57022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40462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一般规则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formula9"/>
                <p:cNvSpPr txBox="1">
                  <a:spLocks noGrp="1"/>
                </p:cNvSpPr>
                <p:nvPr/>
              </p:nvSpPr>
              <p:spPr>
                <a:xfrm>
                  <a:off x="6657022" y="2050732"/>
                  <a:ext cx="4809172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∣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∣⋯∣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∣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γ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6" name="TextBox 46"/>
            <p:cNvSpPr txBox="1"/>
            <p:nvPr/>
          </p:nvSpPr>
          <p:spPr>
            <a:xfrm>
              <a:off x="6650164" y="25022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变换为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formula10"/>
                <p:cNvSpPr txBox="1">
                  <a:spLocks noGrp="1"/>
                </p:cNvSpPr>
                <p:nvPr/>
              </p:nvSpPr>
              <p:spPr>
                <a:xfrm>
                  <a:off x="6657022" y="2783205"/>
                  <a:ext cx="4809172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αA'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∣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A'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∣⋯∣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9" name="c2-card-2"/>
          <p:cNvGrpSpPr/>
          <p:nvPr/>
        </p:nvGrpSpPr>
        <p:grpSpPr>
          <a:xfrm>
            <a:off x="6464618" y="3510915"/>
            <a:ext cx="5193982" cy="2769870"/>
            <a:chOff x="6464618" y="3510915"/>
            <a:chExt cx="5193982" cy="2769870"/>
          </a:xfrm>
        </p:grpSpPr>
        <p:sp>
          <p:nvSpPr>
            <p:cNvPr id="49" name="Rectangle 49"/>
            <p:cNvSpPr/>
            <p:nvPr/>
          </p:nvSpPr>
          <p:spPr>
            <a:xfrm>
              <a:off x="6464618" y="3510915"/>
              <a:ext cx="5193982" cy="2769870"/>
            </a:xfrm>
            <a:prstGeom prst="roundRect">
              <a:avLst>
                <a:gd name="adj" fmla="val 48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74142" y="3644265"/>
              <a:ext cx="47625" cy="25031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95122" y="37033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86562" y="37376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目的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88264" y="405955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自顶向下分析时，同一非终极符的候选开头各不相同，看一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个输入符号就能选定用哪个候选，不用回溯。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703695" y="467582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59714" y="4619625"/>
              <a:ext cx="4425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检验办法：同一非终极符各候选的 FIRST 集两两不相交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703695" y="497776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59714" y="49215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提取一次后新候选若仍有公共前缀，继续提取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89408" y="5220176"/>
              <a:ext cx="3511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原课件例子里 C 没有给出产生式，这里照原样保留。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03073" cy="909257"/>
            <a:chOff x="520446" y="342900"/>
            <a:chExt cx="49030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030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文法等价变换 ② 消除直接左递归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544955"/>
            <a:chOff x="533400" y="1524000"/>
            <a:chExt cx="5626418" cy="15449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44955"/>
            </a:xfrm>
            <a:prstGeom prst="roundRect">
              <a:avLst>
                <a:gd name="adj" fmla="val 86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825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简单情形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0793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→ Aα | β，即 A ⇒ βαα…α，转化为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4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5169218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βA'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A'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αA'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∣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ε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rd-2"/>
          <p:cNvGrpSpPr/>
          <p:nvPr/>
        </p:nvGrpSpPr>
        <p:grpSpPr>
          <a:xfrm>
            <a:off x="533400" y="3259455"/>
            <a:ext cx="5626418" cy="3076575"/>
            <a:chOff x="533400" y="3259455"/>
            <a:chExt cx="5626418" cy="3076575"/>
          </a:xfrm>
        </p:grpSpPr>
        <p:sp>
          <p:nvSpPr>
            <p:cNvPr id="14" name="Rectangle 14"/>
            <p:cNvSpPr/>
            <p:nvPr/>
          </p:nvSpPr>
          <p:spPr>
            <a:xfrm>
              <a:off x="533400" y="3259455"/>
              <a:ext cx="5626418" cy="3076575"/>
            </a:xfrm>
            <a:prstGeom prst="roundRect">
              <a:avLst>
                <a:gd name="adj" fmla="val 43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392805"/>
              <a:ext cx="47625" cy="280987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4690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3359" y="35047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一般情形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15"/>
                <p:cNvSpPr txBox="1">
                  <a:spLocks noGrp="1"/>
                </p:cNvSpPr>
                <p:nvPr/>
              </p:nvSpPr>
              <p:spPr>
                <a:xfrm>
                  <a:off x="781050" y="3821430"/>
                  <a:ext cx="5169218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∣⋯∣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∣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∣⋯∣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73430" y="43224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转化为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16"/>
                <p:cNvSpPr txBox="1">
                  <a:spLocks noGrp="1"/>
                </p:cNvSpPr>
                <p:nvPr/>
              </p:nvSpPr>
              <p:spPr>
                <a:xfrm>
                  <a:off x="781050" y="4632960"/>
                  <a:ext cx="516921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∣⋯∣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A'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A'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∣⋯∣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b>
                            </m:sSub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A'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∣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ε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3" name="c2-card-1"/>
          <p:cNvGrpSpPr/>
          <p:nvPr/>
        </p:nvGrpSpPr>
        <p:grpSpPr>
          <a:xfrm>
            <a:off x="6464618" y="1524000"/>
            <a:ext cx="5193982" cy="1720215"/>
            <a:chOff x="6464618" y="1524000"/>
            <a:chExt cx="5193982" cy="1720215"/>
          </a:xfrm>
        </p:grpSpPr>
        <p:sp>
          <p:nvSpPr>
            <p:cNvPr id="22" name="Rectangle 22"/>
            <p:cNvSpPr/>
            <p:nvPr/>
          </p:nvSpPr>
          <p:spPr>
            <a:xfrm>
              <a:off x="6464618" y="1524000"/>
              <a:ext cx="5193982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74142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12268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07378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71373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表达式文法去掉左递归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717983" y="219265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76098" y="2129790"/>
              <a:ext cx="3840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→ E + T | T　⇒　E → TE′，E′ → +TE′ | ε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717983" y="25279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76098" y="2465070"/>
              <a:ext cx="3840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→ T * F | F　⇒　T → FT′，T′ → *FT′ | ε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717983" y="286321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76098" y="2800350"/>
              <a:ext cx="2772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→ ( E ) | i 没有左递归，不变</a:t>
              </a:r>
            </a:p>
          </p:txBody>
        </p:sp>
      </p:grpSp>
      <p:grpSp>
        <p:nvGrpSpPr>
          <p:cNvPr id="40" name="c2-callout-2"/>
          <p:cNvGrpSpPr/>
          <p:nvPr/>
        </p:nvGrpSpPr>
        <p:grpSpPr>
          <a:xfrm>
            <a:off x="6464618" y="3434715"/>
            <a:ext cx="5193982" cy="1059180"/>
            <a:chOff x="6464618" y="3434715"/>
            <a:chExt cx="5193982" cy="1059180"/>
          </a:xfrm>
        </p:grpSpPr>
        <p:sp>
          <p:nvSpPr>
            <p:cNvPr id="34" name="Rectangle 34"/>
            <p:cNvSpPr/>
            <p:nvPr/>
          </p:nvSpPr>
          <p:spPr>
            <a:xfrm>
              <a:off x="6464618" y="3434715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657347" y="3860601"/>
              <a:ext cx="224134" cy="192560"/>
              <a:chOff x="6657347" y="3860601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769418" y="393096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657347" y="386060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769418" y="40087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971348" y="3583305"/>
              <a:ext cx="41776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为什么要消除：自顶向下分析 E → E + T 时，E 的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子程序一上来就调用 E，读不进任何符号，陷入无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限递归。左递归对自底向上分析没有影响。</a:t>
              </a:r>
            </a:p>
          </p:txBody>
        </p:sp>
      </p:grpSp>
      <p:grpSp>
        <p:nvGrpSpPr>
          <p:cNvPr id="49" name="c2-card-3"/>
          <p:cNvGrpSpPr/>
          <p:nvPr/>
        </p:nvGrpSpPr>
        <p:grpSpPr>
          <a:xfrm>
            <a:off x="6464618" y="4684395"/>
            <a:ext cx="5193982" cy="1651635"/>
            <a:chOff x="6464618" y="4684395"/>
            <a:chExt cx="5193982" cy="1651635"/>
          </a:xfrm>
        </p:grpSpPr>
        <p:sp>
          <p:nvSpPr>
            <p:cNvPr id="41" name="Rectangle 41"/>
            <p:cNvSpPr/>
            <p:nvPr/>
          </p:nvSpPr>
          <p:spPr>
            <a:xfrm>
              <a:off x="6464618" y="4684395"/>
              <a:ext cx="5193982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4817745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12268" y="489394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94576" y="49296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两点提醒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17983" y="533400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76098" y="527113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消除了直接左递归，文法仍可能有间接左递归，如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→ Bα，B → Aβ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717983" y="595503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76098" y="5892165"/>
              <a:ext cx="45666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消除左递归之后，也不一定就能用 LL(1) 方法分析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22451" cy="909257"/>
            <a:chOff x="520446" y="342900"/>
            <a:chExt cx="68224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224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LL(1) 分析器：驱动程序 + 分析栈 + 分析表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graph-1"/>
          <p:cNvGrpSpPr/>
          <p:nvPr/>
        </p:nvGrpSpPr>
        <p:grpSpPr>
          <a:xfrm>
            <a:off x="583502" y="1764030"/>
            <a:ext cx="5502020" cy="3855720"/>
            <a:chOff x="583502" y="1764030"/>
            <a:chExt cx="5502020" cy="3855720"/>
          </a:xfrm>
        </p:grpSpPr>
        <p:sp>
          <p:nvSpPr>
            <p:cNvPr id="7" name="Freeform 7"/>
            <p:cNvSpPr/>
            <p:nvPr/>
          </p:nvSpPr>
          <p:spPr>
            <a:xfrm>
              <a:off x="3537585" y="2064068"/>
              <a:ext cx="234315" cy="1381125"/>
            </a:xfrm>
            <a:custGeom>
              <a:avLst/>
              <a:gdLst/>
              <a:ahLst/>
              <a:cxnLst/>
              <a:rect l="l" t="t" r="r" b="b"/>
              <a:pathLst>
                <a:path w="234315" h="1381125">
                  <a:moveTo>
                    <a:pt x="234315" y="0"/>
                  </a:moveTo>
                  <a:lnTo>
                    <a:pt x="0" y="13811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90912" y="3437572"/>
              <a:ext cx="93345" cy="101918"/>
            </a:xfrm>
            <a:custGeom>
              <a:avLst/>
              <a:gdLst/>
              <a:ahLst/>
              <a:cxnLst/>
              <a:rect l="l" t="t" r="r" b="b"/>
              <a:pathLst>
                <a:path w="93345" h="101918">
                  <a:moveTo>
                    <a:pt x="30480" y="101918"/>
                  </a:moveTo>
                  <a:lnTo>
                    <a:pt x="0" y="0"/>
                  </a:lnTo>
                  <a:lnTo>
                    <a:pt x="93345" y="152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14475" y="3909060"/>
              <a:ext cx="1018222" cy="9525"/>
            </a:xfrm>
            <a:custGeom>
              <a:avLst/>
              <a:gdLst/>
              <a:ahLst/>
              <a:cxnLst/>
              <a:rect l="l" t="t" r="r" b="b"/>
              <a:pathLst>
                <a:path w="1018222" h="9525">
                  <a:moveTo>
                    <a:pt x="101822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19225" y="38614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532698" y="38614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386262" y="3909060"/>
              <a:ext cx="498157" cy="9525"/>
            </a:xfrm>
            <a:custGeom>
              <a:avLst/>
              <a:gdLst/>
              <a:ahLst/>
              <a:cxnLst/>
              <a:rect l="l" t="t" r="r" b="b"/>
              <a:pathLst>
                <a:path w="498157" h="9525">
                  <a:moveTo>
                    <a:pt x="498157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291012" y="38614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3459480" y="4278630"/>
              <a:ext cx="9525" cy="945833"/>
            </a:xfrm>
            <a:custGeom>
              <a:avLst/>
              <a:gdLst/>
              <a:ahLst/>
              <a:cxnLst/>
              <a:rect l="l" t="t" r="r" b="b"/>
              <a:pathLst>
                <a:path w="9525" h="945833">
                  <a:moveTo>
                    <a:pt x="0" y="0"/>
                  </a:moveTo>
                  <a:lnTo>
                    <a:pt x="0" y="9458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411855" y="52244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272665" y="1764030"/>
              <a:ext cx="3048952" cy="300038"/>
            </a:xfrm>
            <a:prstGeom prst="roundRect">
              <a:avLst>
                <a:gd name="adj" fmla="val 31746"/>
              </a:avLst>
            </a:prstGeom>
            <a:solidFill>
              <a:srgbClr val="F7E8E9"/>
            </a:solidFill>
            <a:ln w="17145">
              <a:solidFill>
                <a:srgbClr val="A1343C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2478" y="3030855"/>
              <a:ext cx="646748" cy="1755458"/>
            </a:xfrm>
            <a:prstGeom prst="roundRect">
              <a:avLst>
                <a:gd name="adj" fmla="val 14728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627948" y="3539490"/>
              <a:ext cx="1663065" cy="739140"/>
            </a:xfrm>
            <a:prstGeom prst="roundRect">
              <a:avLst>
                <a:gd name="adj" fmla="val 12887"/>
              </a:avLst>
            </a:prstGeom>
            <a:solidFill>
              <a:srgbClr val="A1343C"/>
            </a:solidFill>
            <a:ln w="17145">
              <a:solidFill>
                <a:srgbClr val="A1343C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884420" y="3447098"/>
              <a:ext cx="1201102" cy="923925"/>
            </a:xfrm>
            <a:prstGeom prst="roundRect">
              <a:avLst>
                <a:gd name="adj" fmla="val 1030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535555" y="5319712"/>
              <a:ext cx="184785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970172" y="1844516"/>
              <a:ext cx="1652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输入流　a　b　c　…　#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8612" y="348186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8612" y="365998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7076" y="3839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8612" y="401716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7076" y="4196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52216" y="37495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驱动程序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26055" y="39276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（与文法无关）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48778" y="3659981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LL(1)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52618" y="383905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51070" y="40171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（与文法有关）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75280" y="539924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输出所用产生式序列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273742" y="2715578"/>
              <a:ext cx="74485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287020" y="2747962"/>
              <a:ext cx="7182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读当前符号 a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690688" y="3823335"/>
              <a:ext cx="66484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706366" y="3854768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弹出 / 压入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29112" y="3823335"/>
              <a:ext cx="6591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335590" y="3854768"/>
              <a:ext cx="6461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查 M[X, a]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3502" y="2478405"/>
              <a:ext cx="13819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分析栈（栈顶 X₁）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6464618" y="1524000"/>
            <a:ext cx="5193982" cy="1933575"/>
            <a:chOff x="6464618" y="1524000"/>
            <a:chExt cx="5193982" cy="1933575"/>
          </a:xfrm>
        </p:grpSpPr>
        <p:sp>
          <p:nvSpPr>
            <p:cNvPr id="41" name="Rectangle 41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3331" y="1655445"/>
              <a:ext cx="1493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栈顶 X 与当前符号 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24988" y="16554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驱动程序的动作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9964" y="2085022"/>
              <a:ext cx="701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a = #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39722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分析成功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23793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2384108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9964" y="2515552"/>
              <a:ext cx="5140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∈ VT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39722" y="2515552"/>
              <a:ext cx="3004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a 则弹出 X、读下一个符号；否则出错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28098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69964" y="3052762"/>
              <a:ext cx="5140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∈ VN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39722" y="2946082"/>
              <a:ext cx="27782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 M[X, a]：有产生式 X → Y₁…Yₖ 就弹出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X，把 Yₖ…Y₁ 逆序压栈；空白格出错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1524000"/>
              <a:ext cx="5193982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329612" y="152400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rd-2"/>
          <p:cNvGrpSpPr/>
          <p:nvPr/>
        </p:nvGrpSpPr>
        <p:grpSpPr>
          <a:xfrm>
            <a:off x="6464618" y="3643312"/>
            <a:ext cx="5193982" cy="1274445"/>
            <a:chOff x="6464618" y="3643312"/>
            <a:chExt cx="5193982" cy="1274445"/>
          </a:xfrm>
        </p:grpSpPr>
        <p:sp>
          <p:nvSpPr>
            <p:cNvPr id="56" name="Rectangle 56"/>
            <p:cNvSpPr/>
            <p:nvPr/>
          </p:nvSpPr>
          <p:spPr>
            <a:xfrm>
              <a:off x="6464618" y="3643312"/>
              <a:ext cx="5193982" cy="1274445"/>
            </a:xfrm>
            <a:prstGeom prst="roundRect">
              <a:avLst>
                <a:gd name="adj" fmla="val 1046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68452" y="3847148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37960" y="388286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换文法时改什么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61214" y="4220051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驱动程序只处理栈空、X ∈ VT、X ∈ VN 三种情形，与文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法无关，不用改动；分析表与文法相关，要重新构造。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6464618" y="5103495"/>
            <a:ext cx="5193982" cy="756285"/>
            <a:chOff x="6464618" y="5103495"/>
            <a:chExt cx="5193982" cy="756285"/>
          </a:xfrm>
        </p:grpSpPr>
        <p:sp>
          <p:nvSpPr>
            <p:cNvPr id="61" name="Rectangle 61"/>
            <p:cNvSpPr/>
            <p:nvPr/>
          </p:nvSpPr>
          <p:spPr>
            <a:xfrm>
              <a:off x="6464618" y="510349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669405" y="5381625"/>
              <a:ext cx="200026" cy="200026"/>
              <a:chOff x="6669405" y="5381625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669405" y="53816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69418" y="5448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58305" y="54816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971729" y="5250656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与有限自动机相比多了一个栈，所以二型文法的表达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能力比三型文法强。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67167" cy="909257"/>
            <a:chOff x="520446" y="342900"/>
            <a:chExt cx="93671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671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补充例题：为表达式文法求 FIRST、FOLLOW 和 Predict 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971056" cy="308039"/>
            <a:chOff x="525399" y="1550194"/>
            <a:chExt cx="897105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97105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用上一节消除左递归后的文法：E → TE′，E′ → +TE′ | ε，T → FT′，T′ → *FT′ | ε，F → (E) | i</a:t>
              </a:r>
            </a:p>
          </p:txBody>
        </p:sp>
      </p:grpSp>
      <p:grpSp>
        <p:nvGrpSpPr>
          <p:cNvPr id="37" name="c1-table-1"/>
          <p:cNvGrpSpPr/>
          <p:nvPr/>
        </p:nvGrpSpPr>
        <p:grpSpPr>
          <a:xfrm>
            <a:off x="533400" y="1967865"/>
            <a:ext cx="5193982" cy="2692718"/>
            <a:chOff x="533400" y="1967865"/>
            <a:chExt cx="5193982" cy="269271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193982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7633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非终极符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59685" y="2102644"/>
              <a:ext cx="4908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FIRST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7995" y="2102644"/>
              <a:ext cx="7585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FOLLOW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69689" y="255127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05715" y="2551271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(, i 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86306" y="2551271"/>
              <a:ext cx="641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), # }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03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6512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17117" y="300085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84176" y="3000851"/>
              <a:ext cx="641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+, ε }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6306" y="3000851"/>
              <a:ext cx="641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), # }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089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69689" y="344947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05715" y="3449479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(, i }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65686" y="3449479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+, ), # }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576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76237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17117" y="389810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4176" y="3898106"/>
              <a:ext cx="641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*, ε }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65686" y="3898106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+, ), # }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2071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69689" y="434673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05715" y="4346734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(, i }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45067" y="4346734"/>
              <a:ext cx="11243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*, +, ), #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67865"/>
              <a:ext cx="5193982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118360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681412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llout-2"/>
          <p:cNvGrpSpPr/>
          <p:nvPr/>
        </p:nvGrpSpPr>
        <p:grpSpPr>
          <a:xfrm>
            <a:off x="533400" y="4851082"/>
            <a:ext cx="5193982" cy="1407795"/>
            <a:chOff x="533400" y="4851082"/>
            <a:chExt cx="5193982" cy="1407795"/>
          </a:xfrm>
        </p:grpSpPr>
        <p:sp>
          <p:nvSpPr>
            <p:cNvPr id="38" name="Rectangle 38"/>
            <p:cNvSpPr/>
            <p:nvPr/>
          </p:nvSpPr>
          <p:spPr>
            <a:xfrm>
              <a:off x="533400" y="4851082"/>
              <a:ext cx="5193982" cy="1407795"/>
            </a:xfrm>
            <a:prstGeom prst="roundRect">
              <a:avLst>
                <a:gd name="adj" fmla="val 811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454968"/>
              <a:ext cx="200026" cy="200025"/>
              <a:chOff x="738188" y="5454968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4549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7926" y="54994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2642" y="56105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173980"/>
              <a:ext cx="41300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FOLLOW(T) 为什么含 +：E′ → +TE′ 中 T 后面跟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着 E′，FIRST(E′) 里的 + 进入 FOLLOW(T)；E′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能推出 ε，FOLLOW(E′) 也要并进来。</a:t>
              </a:r>
            </a:p>
          </p:txBody>
        </p:sp>
      </p:grpSp>
      <p:grpSp>
        <p:nvGrpSpPr>
          <p:cNvPr id="88" name="c2-table-1"/>
          <p:cNvGrpSpPr/>
          <p:nvPr/>
        </p:nvGrpSpPr>
        <p:grpSpPr>
          <a:xfrm>
            <a:off x="6026467" y="1967865"/>
            <a:ext cx="5632133" cy="4334352"/>
            <a:chOff x="6026467" y="1967865"/>
            <a:chExt cx="5632133" cy="4334352"/>
          </a:xfrm>
        </p:grpSpPr>
        <p:sp>
          <p:nvSpPr>
            <p:cNvPr id="45" name="Rectangle 45"/>
            <p:cNvSpPr/>
            <p:nvPr/>
          </p:nvSpPr>
          <p:spPr>
            <a:xfrm>
              <a:off x="6032182" y="1967865"/>
              <a:ext cx="5626418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11150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产生式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15629" y="2102644"/>
              <a:ext cx="8965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Predict 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5490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40006" y="2551271"/>
              <a:ext cx="653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→ TE′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27836" y="2551271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(, i }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15666" y="2551271"/>
              <a:ext cx="7685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FIRST(T)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28603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32182" y="286512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40006" y="3000851"/>
              <a:ext cx="8636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E′ → +TE′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27836" y="3000851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+ }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15666" y="3000851"/>
              <a:ext cx="1068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FIRST(+TE′)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32182" y="33089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40006" y="3449479"/>
              <a:ext cx="5338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E′ → ε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27836" y="3449479"/>
              <a:ext cx="641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), # }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515666" y="3449479"/>
              <a:ext cx="1123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FOLLOW(E′)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32182" y="37576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32182" y="376237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40006" y="3898106"/>
              <a:ext cx="653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→ FT′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27836" y="3898106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(, i }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15666" y="3898106"/>
              <a:ext cx="7685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FIRST(F)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032182" y="42071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140006" y="4346734"/>
              <a:ext cx="8636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T′ → *FT′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27836" y="4346734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* }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515666" y="4346734"/>
              <a:ext cx="1068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FIRST(*FT′)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032182" y="465582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032182" y="466058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140006" y="4795361"/>
              <a:ext cx="5338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T′ → ε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827836" y="4795361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+, ), # }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515666" y="4795361"/>
              <a:ext cx="1123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FOLLOW(T′)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032182" y="51044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140006" y="5244941"/>
              <a:ext cx="653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→ (E)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827836" y="5244941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( }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515666" y="5244941"/>
              <a:ext cx="9688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FIRST((E))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032182" y="55530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032182" y="555783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140006" y="5693569"/>
              <a:ext cx="3850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→ i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827836" y="569356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i }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515666" y="5693569"/>
              <a:ext cx="716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FIRST(i)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032182" y="1967865"/>
              <a:ext cx="5626418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7715250" y="1967865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9403080" y="1967865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026467" y="6082189"/>
              <a:ext cx="41989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同一非终极符的各 Predict 集两两不相交，所以是 LL(1) 文法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30825" cy="909257"/>
            <a:chOff x="520446" y="342900"/>
            <a:chExt cx="52308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308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Predict 集填出 LL(1) 分析表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table-1"/>
          <p:cNvGrpSpPr/>
          <p:nvPr/>
        </p:nvGrpSpPr>
        <p:grpSpPr>
          <a:xfrm>
            <a:off x="528066" y="1524000"/>
            <a:ext cx="6930009" cy="2714244"/>
            <a:chOff x="528066" y="1524000"/>
            <a:chExt cx="6930009" cy="271424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92467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5005" y="1648301"/>
              <a:ext cx="586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M[X,a]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58406" y="1648301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12084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89374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62841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62954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93534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6507" y="205406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15310" y="2054066"/>
              <a:ext cx="5451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→ TE′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39535" y="2054066"/>
              <a:ext cx="5451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→ TE′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3076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35530"/>
              <a:ext cx="692467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0507" y="24598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01158" y="2459831"/>
              <a:ext cx="7203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E′ → +TE′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89432" y="2459831"/>
              <a:ext cx="4455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E′ → 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20012" y="2459831"/>
              <a:ext cx="4455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E′ → ε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73653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6507" y="28655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15310" y="2865596"/>
              <a:ext cx="5451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→ FT′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39535" y="2865596"/>
              <a:ext cx="5451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→ FT′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14229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147060"/>
              <a:ext cx="692467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0507" y="327136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38562" y="3271361"/>
              <a:ext cx="4455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T′ → ε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78448" y="3271361"/>
              <a:ext cx="7203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T′ → *FT′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89432" y="3271361"/>
              <a:ext cx="4455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T′ → 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20012" y="3271361"/>
              <a:ext cx="4455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T′ → ε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54806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66507" y="36771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27111" y="3677126"/>
              <a:ext cx="3215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→ 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39535" y="3677126"/>
              <a:ext cx="5451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→ (E)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692467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49828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46792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64521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82250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79215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2273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8066" y="403288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空白格表示出错</a:t>
              </a:r>
            </a:p>
          </p:txBody>
        </p:sp>
      </p:grpSp>
      <p:grpSp>
        <p:nvGrpSpPr>
          <p:cNvPr id="56" name="c1-kv-2"/>
          <p:cNvGrpSpPr/>
          <p:nvPr/>
        </p:nvGrpSpPr>
        <p:grpSpPr>
          <a:xfrm>
            <a:off x="526542" y="4394835"/>
            <a:ext cx="6931533" cy="1059371"/>
            <a:chOff x="526542" y="4394835"/>
            <a:chExt cx="6931533" cy="1059371"/>
          </a:xfrm>
        </p:grpSpPr>
        <p:sp>
          <p:nvSpPr>
            <p:cNvPr id="48" name="TextBox 48"/>
            <p:cNvSpPr txBox="1"/>
            <p:nvPr/>
          </p:nvSpPr>
          <p:spPr>
            <a:xfrm>
              <a:off x="526542" y="4394835"/>
              <a:ext cx="842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FIRST(α)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815275" y="4394835"/>
              <a:ext cx="3612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能推出的串的第一个终极符；α ⇒* ε 时含 ε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68344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6542" y="4792028"/>
              <a:ext cx="1132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FOLLOW(A)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815275" y="4792028"/>
              <a:ext cx="45243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句型中紧跟在 A 后面的终极符；开始符的 FOLLOW 含 #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508158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6542" y="5190173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Predict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815275" y="5190173"/>
              <a:ext cx="5556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→ α 的 Predict = FIRST(α) 去掉 ε；α ⇒* ε 时再并上 FOLLOW(A)</a:t>
              </a:r>
            </a:p>
          </p:txBody>
        </p:sp>
      </p:grpSp>
      <p:grpSp>
        <p:nvGrpSpPr>
          <p:cNvPr id="70" name="c2-steps-1"/>
          <p:cNvGrpSpPr/>
          <p:nvPr/>
        </p:nvGrpSpPr>
        <p:grpSpPr>
          <a:xfrm>
            <a:off x="7762875" y="1533525"/>
            <a:ext cx="3568319" cy="1900714"/>
            <a:chOff x="7762875" y="1533525"/>
            <a:chExt cx="3568319" cy="1900714"/>
          </a:xfrm>
        </p:grpSpPr>
        <p:sp>
          <p:nvSpPr>
            <p:cNvPr id="57" name="Rectangle 57"/>
            <p:cNvSpPr/>
            <p:nvPr/>
          </p:nvSpPr>
          <p:spPr>
            <a:xfrm>
              <a:off x="7896225" y="167640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7762875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85649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762875" y="232791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856499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762875" y="29146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856499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75117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逐条产生式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76260" y="1833086"/>
              <a:ext cx="315493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A → α，把 α 填进 A 行、Predict(A → α) 中每个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符号所在的列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75117" y="23593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检查冲突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76260" y="2627471"/>
              <a:ext cx="280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每格至多一条产生式，文法才是 LL(1) 的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75117" y="29460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其余留空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176260" y="321421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分析时查到空白格就报语法错误</a:t>
              </a:r>
            </a:p>
          </p:txBody>
        </p:sp>
      </p:grpSp>
      <p:grpSp>
        <p:nvGrpSpPr>
          <p:cNvPr id="77" name="c2-callout-2"/>
          <p:cNvGrpSpPr/>
          <p:nvPr/>
        </p:nvGrpSpPr>
        <p:grpSpPr>
          <a:xfrm>
            <a:off x="7762875" y="3602355"/>
            <a:ext cx="3895725" cy="978218"/>
            <a:chOff x="7762875" y="3602355"/>
            <a:chExt cx="3895725" cy="978218"/>
          </a:xfrm>
        </p:grpSpPr>
        <p:sp>
          <p:nvSpPr>
            <p:cNvPr id="71" name="Rectangle 71"/>
            <p:cNvSpPr/>
            <p:nvPr/>
          </p:nvSpPr>
          <p:spPr>
            <a:xfrm>
              <a:off x="7762875" y="3602355"/>
              <a:ext cx="3895725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955604" y="3988236"/>
              <a:ext cx="224134" cy="192560"/>
              <a:chOff x="7955604" y="3988236"/>
              <a:chExt cx="224134" cy="19256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067675" y="40586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955604" y="39882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067675" y="41363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8270367" y="3749040"/>
              <a:ext cx="299694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ε 产生式填在 FOLLOW 集的列上，不是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FIRST 集。M[T′, +] = T′ → ε 就是这样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来的。</a:t>
              </a:r>
            </a:p>
          </p:txBody>
        </p:sp>
      </p:grpSp>
      <p:grpSp>
        <p:nvGrpSpPr>
          <p:cNvPr id="88" name="c2-card-3"/>
          <p:cNvGrpSpPr/>
          <p:nvPr/>
        </p:nvGrpSpPr>
        <p:grpSpPr>
          <a:xfrm>
            <a:off x="7762875" y="4755832"/>
            <a:ext cx="3895725" cy="1557338"/>
            <a:chOff x="7762875" y="4755832"/>
            <a:chExt cx="3895725" cy="1557338"/>
          </a:xfrm>
        </p:grpSpPr>
        <p:sp>
          <p:nvSpPr>
            <p:cNvPr id="78" name="Rectangle 78"/>
            <p:cNvSpPr/>
            <p:nvPr/>
          </p:nvSpPr>
          <p:spPr>
            <a:xfrm>
              <a:off x="7762875" y="4755832"/>
              <a:ext cx="3895725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772400" y="4889182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7993380" y="4948238"/>
              <a:ext cx="103632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055982" y="4982528"/>
              <a:ext cx="9130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LL(1) 的含义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8001952" y="536162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157972" y="5304473"/>
              <a:ext cx="23577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 L：从左到右扫描输入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8001952" y="566356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157972" y="5607368"/>
              <a:ext cx="19943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 L：构造最左推导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8001952" y="596646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157972" y="5910262"/>
              <a:ext cx="25035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1：每步只向前看 1 个输入符号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78927" cy="909257"/>
            <a:chOff x="520446" y="342900"/>
            <a:chExt cx="54789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789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用分析表分析 i+i*i：17 步到达成功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4" name="c1-table-1"/>
          <p:cNvGrpSpPr/>
          <p:nvPr/>
        </p:nvGrpSpPr>
        <p:grpSpPr>
          <a:xfrm>
            <a:off x="533400" y="1524000"/>
            <a:ext cx="5410200" cy="4057650"/>
            <a:chOff x="533400" y="1524000"/>
            <a:chExt cx="5410200" cy="4057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2808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4073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分析栈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9316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剩余输入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6699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4659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4432" y="205406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08405" y="2054066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i+i*i#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04335" y="2054066"/>
              <a:ext cx="5451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→ TE′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4659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4432" y="2459831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#E′T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08405" y="2459831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i+i*i#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04335" y="2459831"/>
              <a:ext cx="5451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→ FT′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4659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74432" y="2865596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#E′T′F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08405" y="2865596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i+i*i#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04335" y="2865596"/>
              <a:ext cx="3215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→ i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4659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74432" y="3271361"/>
              <a:ext cx="488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#E′T′i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08405" y="3271361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i+i*i#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04335" y="3271361"/>
              <a:ext cx="403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 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4659" y="36771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74432" y="3677126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#E′T′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53638" y="367712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+i*i#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04335" y="3677126"/>
              <a:ext cx="4455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T′ → ε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953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95859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4659" y="40828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74432" y="4082891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#E′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53638" y="4082891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+i*i#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04335" y="4082891"/>
              <a:ext cx="7203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E′ → +TE′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359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4659" y="4488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74432" y="4488656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#E′T+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653638" y="448865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+i*i#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204335" y="4488656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 +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765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477012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4659" y="48944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74432" y="4894421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#E′T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36564" y="4894421"/>
              <a:ext cx="26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i*i#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204335" y="4894421"/>
              <a:ext cx="5451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→ FT′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51711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4659" y="53001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74432" y="5300186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#E′T′F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736564" y="5300186"/>
              <a:ext cx="26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i*i#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204335" y="5300186"/>
              <a:ext cx="3215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→ i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1524000"/>
              <a:ext cx="5410200" cy="40576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69658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2692718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4099560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8" name="c2-table-1"/>
          <p:cNvGrpSpPr/>
          <p:nvPr/>
        </p:nvGrpSpPr>
        <p:grpSpPr>
          <a:xfrm>
            <a:off x="6248400" y="1524000"/>
            <a:ext cx="5410200" cy="3651885"/>
            <a:chOff x="6248400" y="1524000"/>
            <a:chExt cx="5410200" cy="3651885"/>
          </a:xfrm>
        </p:grpSpPr>
        <p:sp>
          <p:nvSpPr>
            <p:cNvPr id="65" name="Rectangle 65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37808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69073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分析栈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80816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剩余输入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58199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26123" y="20540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89432" y="2054066"/>
              <a:ext cx="488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#E′T′i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451564" y="2054066"/>
              <a:ext cx="26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i*i#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919335" y="2054066"/>
              <a:ext cx="403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 i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426123" y="245983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889432" y="2459831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#E′T′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496796" y="2459831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*i#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919335" y="2459831"/>
              <a:ext cx="7203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T′ → *FT′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426123" y="28655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889432" y="2865596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#E′T′F*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496796" y="2865596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*i#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919335" y="2865596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 *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426123" y="32713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889432" y="3271361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#E′T′F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579722" y="3271361"/>
              <a:ext cx="139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i#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919335" y="3271361"/>
              <a:ext cx="3215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→ i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426123" y="367712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889432" y="3677126"/>
              <a:ext cx="488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#E′T′i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579722" y="3677126"/>
              <a:ext cx="139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i#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919335" y="3677126"/>
              <a:ext cx="403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 i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248400" y="3953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6248400" y="395859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426123" y="40828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889432" y="4082891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#E′T′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624954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919335" y="4082891"/>
              <a:ext cx="4455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T′ → ε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6248400" y="4359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426123" y="44886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889432" y="448865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#E′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624954" y="4488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919335" y="4488656"/>
              <a:ext cx="4455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E′ → ε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6248400" y="4765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6248400" y="477012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426123" y="489442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889432" y="48944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624954" y="48944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9828848" y="4779645"/>
              <a:ext cx="182022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9919335" y="48944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6248400" y="1524000"/>
              <a:ext cx="5410200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6784658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8407718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9814560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19" name="Rectangle 11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23" name="Group 123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24" name="TextBox 124"/>
            <p:cNvSpPr txBox="1"/>
            <p:nvPr/>
          </p:nvSpPr>
          <p:spPr>
            <a:xfrm>
              <a:off x="1040892" y="6023610"/>
              <a:ext cx="10318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栈的右端是栈顶。产生式右部逆序压栈，所以右部最左的符号在栈顶，先与输入匹配。这 17 步由程序按上页的表逐步模拟得到。</a:t>
              </a:r>
            </a:p>
          </p:txBody>
        </p:sp>
      </p:grpSp>
      <p:grpSp>
        <p:nvGrpSpPr>
          <p:cNvPr id="1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6" name="TextBox 126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0595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536" y="407194"/>
              <a:ext cx="174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语法分析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递归下降法：每个非终极符写一个子程序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4153852"/>
            <a:chOff x="533400" y="1524000"/>
            <a:chExt cx="6059805" cy="41538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153852"/>
            </a:xfrm>
            <a:prstGeom prst="roundRect">
              <a:avLst>
                <a:gd name="adj" fmla="val 22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6821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表达式文法的递归下降分析器（zig cc 实跑）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235958" cy="3669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*p;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指向当前输入符号 */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match(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c) {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(*p == c) p++;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error();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 { T(); E1(); }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E1(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          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E'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(*p ==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'+'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 match(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'+'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T(); E1();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(*p !=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')'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*p !=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'#'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error();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     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选 ε：看 FOLLOW */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 { F(); T1(); }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T1(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          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T'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(*p ==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'*'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 match(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'*'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F(); T1();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(*p !=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'+'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*p !=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')'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*p !=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'#'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error();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(*p ==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'('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 match(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'('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E(); match(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')'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match(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'i'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ard-1"/>
          <p:cNvGrpSpPr/>
          <p:nvPr/>
        </p:nvGrpSpPr>
        <p:grpSpPr>
          <a:xfrm>
            <a:off x="6898005" y="1524000"/>
            <a:ext cx="4760595" cy="1545908"/>
            <a:chOff x="6898005" y="1524000"/>
            <a:chExt cx="4760595" cy="1545908"/>
          </a:xfrm>
        </p:grpSpPr>
        <p:sp>
          <p:nvSpPr>
            <p:cNvPr id="11" name="Rectangle 11"/>
            <p:cNvSpPr/>
            <p:nvPr/>
          </p:nvSpPr>
          <p:spPr>
            <a:xfrm>
              <a:off x="6898005" y="1524000"/>
              <a:ext cx="476059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907530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139940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21296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基本原理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2701" y="2100739"/>
              <a:ext cx="409016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递归下降法（Recursive-Descent Parsing）对每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个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非终极符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构造一个子程序（语法分析子程序），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它的功能是识别、分析该非终极符能推导出的串。</a:t>
              </a:r>
            </a:p>
          </p:txBody>
        </p:sp>
      </p:grpSp>
      <p:grpSp>
        <p:nvGrpSpPr>
          <p:cNvPr id="30" name="c2-steps-2"/>
          <p:cNvGrpSpPr/>
          <p:nvPr/>
        </p:nvGrpSpPr>
        <p:grpSpPr>
          <a:xfrm>
            <a:off x="6898005" y="3265170"/>
            <a:ext cx="3647999" cy="1790128"/>
            <a:chOff x="6898005" y="3265170"/>
            <a:chExt cx="3647999" cy="1790128"/>
          </a:xfrm>
        </p:grpSpPr>
        <p:sp>
          <p:nvSpPr>
            <p:cNvPr id="17" name="Rectangle 17"/>
            <p:cNvSpPr/>
            <p:nvPr/>
          </p:nvSpPr>
          <p:spPr>
            <a:xfrm>
              <a:off x="7031355" y="3408045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898005" y="326517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91629" y="33389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898005" y="388620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91629" y="39600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898005" y="450723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91629" y="4581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09866" y="329803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终极符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11009" y="3578542"/>
              <a:ext cx="3234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与当前输入比较，相同就读下一个（match）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09866" y="39190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非终极符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11009" y="419957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调用它的子程序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09866" y="454009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多个候选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11009" y="4820602"/>
              <a:ext cx="2473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看当前符号落在哪个 Predict 集里</a:t>
              </a:r>
            </a:p>
          </p:txBody>
        </p:sp>
      </p:grpSp>
      <p:grpSp>
        <p:nvGrpSpPr>
          <p:cNvPr id="36" name="c2-callout-3"/>
          <p:cNvGrpSpPr/>
          <p:nvPr/>
        </p:nvGrpSpPr>
        <p:grpSpPr>
          <a:xfrm>
            <a:off x="6898005" y="5231130"/>
            <a:ext cx="4760595" cy="518160"/>
            <a:chOff x="6898005" y="5231130"/>
            <a:chExt cx="4760595" cy="518160"/>
          </a:xfrm>
        </p:grpSpPr>
        <p:sp>
          <p:nvSpPr>
            <p:cNvPr id="31" name="Rectangle 31"/>
            <p:cNvSpPr/>
            <p:nvPr/>
          </p:nvSpPr>
          <p:spPr>
            <a:xfrm>
              <a:off x="6898005" y="5231130"/>
              <a:ext cx="4760595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102793" y="5390198"/>
              <a:ext cx="200026" cy="200026"/>
              <a:chOff x="7102793" y="5390198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102793" y="53901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169468" y="546798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405116" y="5390674"/>
              <a:ext cx="41244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实跑：i+i*(i+i)# 分析成功；i+*i# 在 * 处报错。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52160" cy="2997517"/>
            <a:chOff x="667512" y="1835468"/>
            <a:chExt cx="58521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语义分析：符号表的局部化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进出分程序时，怎样让内层标识符生效、失效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全局式线性符号表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局部式线性符号表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895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例：带分程序的 C 程序用驻留法建表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74580" cy="909257"/>
            <a:chOff x="520446" y="342900"/>
            <a:chExt cx="79745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323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033" y="407194"/>
              <a:ext cx="2954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语义分析：符号表的局部化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745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全局式线性符号表：结束一个局部化区时怎样“删除”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276022" cy="1209675"/>
            <a:chOff x="533400" y="1524000"/>
            <a:chExt cx="6276022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组织方式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5500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所有局部化区的标识符按声明先后登记在同一张线性表里；用一个栈记下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每个区在表中的起点。查找从表尾往前找，内层的同名标识符先被找到。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2908935"/>
            <a:ext cx="6276022" cy="2134552"/>
            <a:chOff x="533400" y="2908935"/>
            <a:chExt cx="6276022" cy="2134552"/>
          </a:xfrm>
        </p:grpSpPr>
        <p:sp>
          <p:nvSpPr>
            <p:cNvPr id="13" name="Rectangle 13"/>
            <p:cNvSpPr/>
            <p:nvPr/>
          </p:nvSpPr>
          <p:spPr>
            <a:xfrm>
              <a:off x="533400" y="2908935"/>
              <a:ext cx="6276022" cy="2134552"/>
            </a:xfrm>
            <a:prstGeom prst="roundRect">
              <a:avLst>
                <a:gd name="adj" fmla="val 624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01340"/>
              <a:ext cx="1886902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4525" y="3135630"/>
              <a:ext cx="17885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（4）每当结束一个局部化区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20150" y="314039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让本区的标识符失效（屏蔽无效的标识符）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474720"/>
              <a:ext cx="3008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Ⅰ. 直接删除：把本区的表项真的删掉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3777615"/>
              <a:ext cx="3372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Ⅱ. 驻留法：表项留在表里，另加特殊信息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079558"/>
              <a:ext cx="3384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每项加一个标识位，有效为 1，失效为 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8947" y="4382452"/>
              <a:ext cx="54743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转跳法：表尾加一项 #，记下本区之前最后一项的位置，往前查到 # 就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跳过本区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5217795"/>
            <a:ext cx="6276022" cy="729615"/>
            <a:chOff x="533400" y="5217795"/>
            <a:chExt cx="6276022" cy="729615"/>
          </a:xfrm>
        </p:grpSpPr>
        <p:sp>
          <p:nvSpPr>
            <p:cNvPr id="22" name="Rectangle 22"/>
            <p:cNvSpPr/>
            <p:nvPr/>
          </p:nvSpPr>
          <p:spPr>
            <a:xfrm>
              <a:off x="533400" y="5217795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482590"/>
              <a:ext cx="200026" cy="200025"/>
              <a:chOff x="738188" y="5482590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4825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55270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56381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892" y="5364480"/>
              <a:ext cx="51572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驻留法保留了已失效的表项，后面分配存储、调试输出时还能用到它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们。</a:t>
              </a:r>
            </a:p>
          </p:txBody>
        </p:sp>
      </p:grpSp>
      <p:grpSp>
        <p:nvGrpSpPr>
          <p:cNvPr id="31" name="c2-image-1"/>
          <p:cNvGrpSpPr/>
          <p:nvPr/>
        </p:nvGrpSpPr>
        <p:grpSpPr>
          <a:xfrm>
            <a:off x="7114222" y="1524000"/>
            <a:ext cx="4544378" cy="3707701"/>
            <a:chOff x="7114222" y="1524000"/>
            <a:chExt cx="4544378" cy="3707701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5552" t="0" r="5553" b="0"/>
            <a:stretch>
              <a:fillRect/>
            </a:stretch>
          </p:blipFill>
          <p:spPr>
            <a:xfrm>
              <a:off x="7114222" y="1524000"/>
              <a:ext cx="4544378" cy="3408045"/>
            </a:xfrm>
            <a:prstGeom prst="roundRect">
              <a:avLst>
                <a:gd name="adj" fmla="val 3912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7613714" y="5026342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内层的同名标识符盖住外层的；退出内层时把这一层揭掉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323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033" y="407194"/>
              <a:ext cx="2954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语义分析：符号表的局部化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局部式线性符号表：一个局部化区一张表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5626418" cy="2697480"/>
            <a:chOff x="533400" y="1524000"/>
            <a:chExt cx="5626418" cy="26974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757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0303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全局式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9759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表的个数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79473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全程序一张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73080" y="210835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每个局部化区一张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区的边界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79473" y="2556986"/>
              <a:ext cx="19454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用栈里的 S 指向本区底部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73080" y="2556986"/>
              <a:ext cx="1890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表本来就分开，不需要 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1189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查找顺序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79473" y="311896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从表尾往前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73080" y="3005614"/>
              <a:ext cx="18580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Scope 栈顶的表往下逐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79428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结束一个区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79473" y="379428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直接删除或驻留法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974782" y="3555682"/>
              <a:ext cx="217551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073080" y="3680936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只有真删除法：弹栈并删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掉这张表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5626418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766888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960495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rd-2"/>
          <p:cNvGrpSpPr/>
          <p:nvPr/>
        </p:nvGrpSpPr>
        <p:grpSpPr>
          <a:xfrm>
            <a:off x="533400" y="4411980"/>
            <a:ext cx="5626418" cy="1316355"/>
            <a:chOff x="533400" y="4411980"/>
            <a:chExt cx="5626418" cy="1316355"/>
          </a:xfrm>
        </p:grpSpPr>
        <p:sp>
          <p:nvSpPr>
            <p:cNvPr id="33" name="Rectangle 33"/>
            <p:cNvSpPr/>
            <p:nvPr/>
          </p:nvSpPr>
          <p:spPr>
            <a:xfrm>
              <a:off x="533400" y="4411980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54533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81050" y="4621530"/>
              <a:ext cx="80772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9647" y="4657249"/>
              <a:ext cx="650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Scope 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3430" y="499872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栈里每一项指向一张局部符号表，栈顶是当前最内层的区。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进入一个区就建新表并压栈，结束时弹栈。</a:t>
              </a:r>
            </a:p>
          </p:txBody>
        </p:sp>
      </p:grpSp>
      <p:grpSp>
        <p:nvGrpSpPr>
          <p:cNvPr id="60" name="c2-graph-1"/>
          <p:cNvGrpSpPr/>
          <p:nvPr/>
        </p:nvGrpSpPr>
        <p:grpSpPr>
          <a:xfrm>
            <a:off x="6561963" y="1676876"/>
            <a:ext cx="4547045" cy="4604194"/>
            <a:chOff x="6561963" y="1676876"/>
            <a:chExt cx="4547045" cy="4604194"/>
          </a:xfrm>
        </p:grpSpPr>
        <p:sp>
          <p:nvSpPr>
            <p:cNvPr id="39" name="Freeform 39"/>
            <p:cNvSpPr/>
            <p:nvPr/>
          </p:nvSpPr>
          <p:spPr>
            <a:xfrm>
              <a:off x="7820025" y="2687955"/>
              <a:ext cx="1384935" cy="139065"/>
            </a:xfrm>
            <a:custGeom>
              <a:avLst/>
              <a:gdLst/>
              <a:ahLst/>
              <a:cxnLst/>
              <a:rect l="l" t="t" r="r" b="b"/>
              <a:pathLst>
                <a:path w="1384935" h="139065">
                  <a:moveTo>
                    <a:pt x="0" y="139065"/>
                  </a:moveTo>
                  <a:lnTo>
                    <a:pt x="13849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200198" y="2641282"/>
              <a:ext cx="99060" cy="94297"/>
            </a:xfrm>
            <a:custGeom>
              <a:avLst/>
              <a:gdLst/>
              <a:ahLst/>
              <a:cxnLst/>
              <a:rect l="l" t="t" r="r" b="b"/>
              <a:pathLst>
                <a:path w="99060" h="94297">
                  <a:moveTo>
                    <a:pt x="99060" y="37147"/>
                  </a:moveTo>
                  <a:lnTo>
                    <a:pt x="9525" y="94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7820025" y="3943350"/>
              <a:ext cx="1383982" cy="9525"/>
            </a:xfrm>
            <a:custGeom>
              <a:avLst/>
              <a:gdLst/>
              <a:ahLst/>
              <a:cxnLst/>
              <a:rect l="l" t="t" r="r" b="b"/>
              <a:pathLst>
                <a:path w="1383982" h="9525">
                  <a:moveTo>
                    <a:pt x="0" y="0"/>
                  </a:moveTo>
                  <a:lnTo>
                    <a:pt x="13839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204008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820025" y="5059680"/>
              <a:ext cx="1384935" cy="139065"/>
            </a:xfrm>
            <a:custGeom>
              <a:avLst/>
              <a:gdLst/>
              <a:ahLst/>
              <a:cxnLst/>
              <a:rect l="l" t="t" r="r" b="b"/>
              <a:pathLst>
                <a:path w="1384935" h="139065">
                  <a:moveTo>
                    <a:pt x="0" y="0"/>
                  </a:moveTo>
                  <a:lnTo>
                    <a:pt x="1384935" y="1390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200198" y="5151120"/>
              <a:ext cx="99060" cy="94298"/>
            </a:xfrm>
            <a:custGeom>
              <a:avLst/>
              <a:gdLst/>
              <a:ahLst/>
              <a:cxnLst/>
              <a:rect l="l" t="t" r="r" b="b"/>
              <a:pathLst>
                <a:path w="99060" h="94298">
                  <a:moveTo>
                    <a:pt x="99060" y="57150"/>
                  </a:moveTo>
                  <a:lnTo>
                    <a:pt x="0" y="94298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72275" y="2728912"/>
              <a:ext cx="1047750" cy="300038"/>
            </a:xfrm>
            <a:prstGeom prst="roundRect">
              <a:avLst>
                <a:gd name="adj" fmla="val 31746"/>
              </a:avLst>
            </a:prstGeom>
            <a:solidFill>
              <a:srgbClr val="A1343C"/>
            </a:solidFill>
            <a:ln w="17145">
              <a:solidFill>
                <a:srgbClr val="A1343C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72275" y="3792855"/>
              <a:ext cx="1047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72275" y="4857750"/>
              <a:ext cx="1047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299258" y="2438400"/>
              <a:ext cx="180975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299258" y="3792855"/>
              <a:ext cx="1809750" cy="300038"/>
            </a:xfrm>
            <a:prstGeom prst="roundRect">
              <a:avLst>
                <a:gd name="adj" fmla="val 31746"/>
              </a:avLst>
            </a:prstGeom>
            <a:solidFill>
              <a:srgbClr val="F7E8E9"/>
            </a:solidFill>
            <a:ln w="17145">
              <a:solidFill>
                <a:srgbClr val="A1343C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299258" y="5148262"/>
              <a:ext cx="1809750" cy="300038"/>
            </a:xfrm>
            <a:prstGeom prst="roundRect">
              <a:avLst>
                <a:gd name="adj" fmla="val 31746"/>
              </a:avLst>
            </a:prstGeom>
            <a:solidFill>
              <a:srgbClr val="F7E8E9"/>
            </a:solidFill>
            <a:ln w="17145">
              <a:solidFill>
                <a:srgbClr val="A1343C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72378" y="280844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区域 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72378" y="387334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72378" y="493823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545187" y="2518886"/>
              <a:ext cx="1317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: int　c : float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45187" y="3873341"/>
              <a:ext cx="1317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 : int　a : float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34368" y="5227796"/>
              <a:ext cx="153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 : int　b, d : float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61963" y="1773079"/>
              <a:ext cx="17506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Scope 栈（栈顶在上）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508401" y="167687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各区的局部符号表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21097" y="6031706"/>
              <a:ext cx="28819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查 c：先查区域 3 的表，找到 float c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35881" cy="909257"/>
            <a:chOff x="520446" y="342900"/>
            <a:chExt cx="76358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323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033" y="407194"/>
              <a:ext cx="2954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语义分析：符号表的局部化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358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例：带分程序的 C 程序，用驻留法建全局符号表 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3950970"/>
            <a:chOff x="533400" y="1524000"/>
            <a:chExt cx="4977765" cy="39509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源程序（注释标出局部化区编号）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877566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main()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区域 1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a;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b, d;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{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区域 2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c;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{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区域 3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d;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{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区域 4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a = b + c + d;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{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区域 5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5815965" y="1524000"/>
            <a:ext cx="5842635" cy="2272665"/>
            <a:chOff x="5815965" y="1524000"/>
            <a:chExt cx="5842635" cy="2272665"/>
          </a:xfrm>
        </p:grpSpPr>
        <p:sp>
          <p:nvSpPr>
            <p:cNvPr id="11" name="Rectangle 11"/>
            <p:cNvSpPr/>
            <p:nvPr/>
          </p:nvSpPr>
          <p:spPr>
            <a:xfrm>
              <a:off x="5815965" y="1524000"/>
              <a:ext cx="5842635" cy="2272665"/>
            </a:xfrm>
            <a:prstGeom prst="roundRect">
              <a:avLst>
                <a:gd name="adj" fmla="val 5868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2551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106871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建表规则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031230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89345" y="2110740"/>
              <a:ext cx="494252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只有 0 和 1 层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：main 为 0 层；C 的分程序不单独建活动记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录，所有变量都在 main 的活动记录里，层数都是 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031230" y="27946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89345" y="2731770"/>
              <a:ext cx="4901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偏移不重算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：假定起始偏移 off = 0，进入内层分程序时偏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移接着往后排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031230" y="34156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89345" y="3352800"/>
              <a:ext cx="5346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单元大小按原课件的偏移反推：int、char 占 1，float 占 2</a:t>
              </a:r>
            </a:p>
          </p:txBody>
        </p:sp>
      </p:grpSp>
      <p:grpSp>
        <p:nvGrpSpPr>
          <p:cNvPr id="27" name="c2-card-2"/>
          <p:cNvGrpSpPr/>
          <p:nvPr/>
        </p:nvGrpSpPr>
        <p:grpSpPr>
          <a:xfrm>
            <a:off x="5815965" y="3987165"/>
            <a:ext cx="5842635" cy="1621155"/>
            <a:chOff x="5815965" y="3987165"/>
            <a:chExt cx="5842635" cy="1621155"/>
          </a:xfrm>
        </p:grpSpPr>
        <p:sp>
          <p:nvSpPr>
            <p:cNvPr id="21" name="Rectangle 21"/>
            <p:cNvSpPr/>
            <p:nvPr/>
          </p:nvSpPr>
          <p:spPr>
            <a:xfrm>
              <a:off x="5815965" y="3987165"/>
              <a:ext cx="584263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25490" y="412051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63615" y="41967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49873" y="42324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查一查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6565" y="4231958"/>
              <a:ext cx="39220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10 行 a = b + c + d 用的是哪几个变量？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55995" y="4592955"/>
              <a:ext cx="5120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此时表中登记到区域 4 的 d，从表尾往前找：d 是区域 4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 d（偏移 11），c 是区域 3 的 float c（9），a 是区域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的 float a（6），b 是区域 1 的 float b（1）。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98980" cy="909257"/>
            <a:chOff x="520446" y="342900"/>
            <a:chExt cx="82989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323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033" y="407194"/>
              <a:ext cx="2954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语义分析：符号表的局部化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989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② 建好的符号表：程序结束时的全部表项和转跳项 #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9" name="c1-table-1"/>
          <p:cNvGrpSpPr/>
          <p:nvPr/>
        </p:nvGrpSpPr>
        <p:grpSpPr>
          <a:xfrm>
            <a:off x="533400" y="1524000"/>
            <a:ext cx="5410200" cy="3619500"/>
            <a:chOff x="533400" y="1524000"/>
            <a:chExt cx="5410200" cy="3619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1230" y="1641157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2491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1836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8323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8712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04401" y="1641157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区域 / 转跳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1091" y="21164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14314" y="2116455"/>
              <a:ext cx="3145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49660" y="2023110"/>
              <a:ext cx="83077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（routKind）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85709" y="211645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64191" y="2116455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06634" y="211645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主程序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468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47364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1091" y="25908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27394" y="25908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42117" y="2590800"/>
              <a:ext cx="445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intPtr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85709" y="25908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89607" y="25908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06634" y="2590800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849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1091" y="29718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27394" y="29718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03222" y="2971800"/>
              <a:ext cx="523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realPtr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85709" y="29718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89607" y="29718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06634" y="2971800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231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236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1091" y="33537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27394" y="33537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03222" y="3353752"/>
              <a:ext cx="523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realPtr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85709" y="33537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89607" y="33537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06634" y="3353752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612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1091" y="37347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27394" y="37347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42117" y="3734752"/>
              <a:ext cx="445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intPtr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085709" y="37347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89607" y="37347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306634" y="3734752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993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3998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1091" y="41167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27394" y="411670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003222" y="4116705"/>
              <a:ext cx="523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realPtr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085709" y="411670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789607" y="411670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306634" y="4116705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43757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1091" y="44977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27394" y="449770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042117" y="4497705"/>
              <a:ext cx="445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intPtr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085709" y="449770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789607" y="449770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306634" y="4497705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3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47567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33400" y="476154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31091" y="48787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327394" y="487870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003222" y="4878705"/>
              <a:ext cx="523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realPtr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085709" y="487870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789607" y="487870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306634" y="4878705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3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33400" y="1524000"/>
              <a:ext cx="5410200" cy="3619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1015365" y="1524000"/>
              <a:ext cx="9525" cy="3619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1719262" y="1524000"/>
              <a:ext cx="9525" cy="3619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2801302" y="1524000"/>
              <a:ext cx="9525" cy="3619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3449955" y="1524000"/>
              <a:ext cx="9525" cy="3619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4207192" y="1524000"/>
              <a:ext cx="9525" cy="3619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0" name="c2-table-1"/>
          <p:cNvGrpSpPr/>
          <p:nvPr/>
        </p:nvGrpSpPr>
        <p:grpSpPr>
          <a:xfrm>
            <a:off x="6248400" y="1524000"/>
            <a:ext cx="5410200" cy="3050858"/>
            <a:chOff x="6248400" y="1524000"/>
            <a:chExt cx="5410200" cy="3050858"/>
          </a:xfrm>
        </p:grpSpPr>
        <p:sp>
          <p:nvSpPr>
            <p:cNvPr id="80" name="Rectangle 80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416231" y="1641157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93991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名字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83336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69823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层数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40212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偏移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419401" y="1641157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区域 / 转跳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446091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042394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718222" y="2023110"/>
              <a:ext cx="523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realPtr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80070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465735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021634" y="2023110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4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405276" y="2404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042394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021634" y="24041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4 结束，跳到 8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405276" y="2785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042394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021634" y="27851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3 结束，跳到 6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405276" y="3167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042394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700410" y="3167062"/>
              <a:ext cx="559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charPtr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800709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9179242" y="3059430"/>
              <a:ext cx="73818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285513" y="3167062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13（8）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021634" y="3167062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5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6405276" y="3548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042394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021634" y="3548062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5 结束，跳到 11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6248400" y="3807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6248400" y="3811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405276" y="3930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042394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0021634" y="393001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2 结束，跳到 4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6248400" y="41890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405276" y="4311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7042394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021634" y="431101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1 结束，跳到 1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6248400" y="1524000"/>
              <a:ext cx="541020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673036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7434262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8516302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916495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9922192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7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131" name="Rectangle 131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3" name="Freeform 133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36" name="TextBox 136"/>
            <p:cNvSpPr txBox="1"/>
            <p:nvPr/>
          </p:nvSpPr>
          <p:spPr>
            <a:xfrm>
              <a:off x="1041273" y="5805011"/>
              <a:ext cx="97746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变量表项的 kind 都是 varKind、访问方式都是 dir（直接变量），main 的访问方式是 actual。“跳到 k”指跳到序号为 k 的表项继续往前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查。</a:t>
              </a:r>
            </a:p>
          </p:txBody>
        </p:sp>
      </p:grpSp>
      <p:grpSp>
        <p:nvGrpSpPr>
          <p:cNvPr id="1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8" name="TextBox 138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2602" cy="909257"/>
            <a:chOff x="520446" y="342900"/>
            <a:chExt cx="79926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323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033" y="407194"/>
              <a:ext cx="2954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语义分析：符号表的局部化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26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③ 存储分配：偏移一路累加，并列的区域可以共享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0" name="c1-cells-1"/>
          <p:cNvGrpSpPr/>
          <p:nvPr/>
        </p:nvGrpSpPr>
        <p:grpSpPr>
          <a:xfrm>
            <a:off x="527685" y="1569720"/>
            <a:ext cx="6714172" cy="1947862"/>
            <a:chOff x="527685" y="1569720"/>
            <a:chExt cx="6714172" cy="1947862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9588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不共享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93470" y="1819275"/>
              <a:ext cx="439102" cy="419100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64246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32572" y="1819275"/>
              <a:ext cx="439102" cy="419100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03349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71675" y="1819275"/>
              <a:ext cx="439102" cy="419100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42451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10778" y="1819275"/>
              <a:ext cx="439102" cy="419100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81554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49880" y="1819275"/>
              <a:ext cx="439102" cy="419100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20656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88982" y="1819275"/>
              <a:ext cx="43910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59759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729038" y="1819275"/>
              <a:ext cx="43910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98861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168140" y="1819275"/>
              <a:ext cx="43910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37964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607242" y="1819275"/>
              <a:ext cx="43910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77066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046345" y="1819275"/>
              <a:ext cx="43910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6169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5448" y="1819275"/>
              <a:ext cx="43910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55271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924550" y="1819275"/>
              <a:ext cx="439102" cy="419100"/>
            </a:xfrm>
            <a:prstGeom prst="rect">
              <a:avLst/>
            </a:prstGeom>
            <a:solidFill>
              <a:srgbClr val="A1343C"/>
            </a:solidFill>
            <a:ln w="15240">
              <a:solidFill>
                <a:srgbClr val="A1343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94374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63652" y="1819275"/>
              <a:ext cx="439102" cy="419100"/>
            </a:xfrm>
            <a:prstGeom prst="rect">
              <a:avLst/>
            </a:prstGeom>
            <a:solidFill>
              <a:srgbClr val="A1343C"/>
            </a:solidFill>
            <a:ln w="15240">
              <a:solidFill>
                <a:srgbClr val="A1343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34429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02755" y="1819275"/>
              <a:ext cx="439102" cy="419100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73531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78378" y="2292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17481" y="2292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56583" y="2292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95686" y="2292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34788" y="2292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73891" y="2292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12993" y="2292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52096" y="2292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91198" y="2292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30301" y="2292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639046" y="22921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78149" y="22921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18204" y="22921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57306" y="22921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13172" y="1569720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区1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1275398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408684" y="1569720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区2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3470910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725992" y="1569720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区3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4788218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43299" y="1569720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区4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6105525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22457" y="1569720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区5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6984682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7685" y="27303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共享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093470" y="2590800"/>
              <a:ext cx="439102" cy="419100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264246" y="2730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532572" y="2590800"/>
              <a:ext cx="439102" cy="419100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703349" y="2730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971675" y="2590800"/>
              <a:ext cx="439102" cy="419100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142451" y="2730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410778" y="2590800"/>
              <a:ext cx="439102" cy="419100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581554" y="2730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849880" y="2590800"/>
              <a:ext cx="439102" cy="419100"/>
            </a:xfrm>
            <a:prstGeom prst="rect">
              <a:avLst/>
            </a:prstGeom>
            <a:solidFill>
              <a:srgbClr val="F7E8E9"/>
            </a:solidFill>
            <a:ln w="15240">
              <a:solidFill>
                <a:srgbClr val="A1343C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020656" y="2730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3288982" y="2590800"/>
              <a:ext cx="43910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459759" y="2730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3729038" y="2590800"/>
              <a:ext cx="43910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898861" y="2730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168140" y="2590800"/>
              <a:ext cx="43910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337964" y="2730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4607242" y="2590800"/>
              <a:ext cx="439102" cy="419100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777066" y="2730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046345" y="2590800"/>
              <a:ext cx="43910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A1343C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5485448" y="2590800"/>
              <a:ext cx="43910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A1343C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5924550" y="2590800"/>
              <a:ext cx="43910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A1343C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6363652" y="2590800"/>
              <a:ext cx="43910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A1343C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6802755" y="2590800"/>
              <a:ext cx="43910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A1343C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278378" y="30637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717481" y="30637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2156583" y="30637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595686" y="30637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3034788" y="30637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473891" y="30637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912993" y="30637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4352096" y="30637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4791198" y="30637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230301" y="30637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639046" y="30637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078149" y="30637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518204" y="30637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957306" y="30637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8" name="Freeform 98"/>
            <p:cNvSpPr/>
            <p:nvPr/>
          </p:nvSpPr>
          <p:spPr>
            <a:xfrm>
              <a:off x="4788218" y="32099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4433244" y="3341370"/>
              <a:ext cx="7861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区5 的 char d</a:t>
              </a:r>
            </a:p>
          </p:txBody>
        </p:sp>
      </p:grpSp>
      <p:grpSp>
        <p:nvGrpSpPr>
          <p:cNvPr id="109" name="c1-card-2"/>
          <p:cNvGrpSpPr/>
          <p:nvPr/>
        </p:nvGrpSpPr>
        <p:grpSpPr>
          <a:xfrm>
            <a:off x="533400" y="3680460"/>
            <a:ext cx="6708458" cy="1937385"/>
            <a:chOff x="533400" y="3680460"/>
            <a:chExt cx="6708458" cy="1937385"/>
          </a:xfrm>
        </p:grpSpPr>
        <p:sp>
          <p:nvSpPr>
            <p:cNvPr id="101" name="Rectangle 101"/>
            <p:cNvSpPr/>
            <p:nvPr/>
          </p:nvSpPr>
          <p:spPr>
            <a:xfrm>
              <a:off x="533400" y="3680460"/>
              <a:ext cx="6708458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542925" y="381381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781050" y="38900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871258" y="39257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105" name="Ellipse 105"/>
            <p:cNvSpPr/>
            <p:nvPr/>
          </p:nvSpPr>
          <p:spPr>
            <a:xfrm>
              <a:off x="786765" y="43300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944880" y="4267200"/>
              <a:ext cx="5692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偏移一路累加：a 占 0，b 占 1–2，d 占 3–4，c 占 5，a 占 6–7，区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域 4 的 d 占 11–12</a:t>
              </a:r>
            </a:p>
          </p:txBody>
        </p:sp>
        <p:sp>
          <p:nvSpPr>
            <p:cNvPr id="107" name="Ellipse 107"/>
            <p:cNvSpPr/>
            <p:nvPr/>
          </p:nvSpPr>
          <p:spPr>
            <a:xfrm>
              <a:off x="786765" y="49510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944880" y="4888230"/>
              <a:ext cx="5787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# 记下本区之前最后一项，往前查时跳过已结束的区；区域 5 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束时的 # 指向上一个 #，再由它跳到 a</a:t>
              </a:r>
            </a:p>
          </p:txBody>
        </p:sp>
      </p:grpSp>
      <p:grpSp>
        <p:nvGrpSpPr>
          <p:cNvPr id="114" name="c2-card-1"/>
          <p:cNvGrpSpPr/>
          <p:nvPr/>
        </p:nvGrpSpPr>
        <p:grpSpPr>
          <a:xfrm>
            <a:off x="7546658" y="1524000"/>
            <a:ext cx="4111942" cy="1602105"/>
            <a:chOff x="7546658" y="1524000"/>
            <a:chExt cx="4111942" cy="1602105"/>
          </a:xfrm>
        </p:grpSpPr>
        <p:sp>
          <p:nvSpPr>
            <p:cNvPr id="110" name="Rectangle 110"/>
            <p:cNvSpPr/>
            <p:nvPr/>
          </p:nvSpPr>
          <p:spPr>
            <a:xfrm>
              <a:off x="7546658" y="1524000"/>
              <a:ext cx="4111942" cy="1602105"/>
            </a:xfrm>
            <a:prstGeom prst="roundRect">
              <a:avLst>
                <a:gd name="adj" fmla="val 832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775620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83851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共享内存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748588" y="2110740"/>
              <a:ext cx="35109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区域 5 与区域 3 并列，两者不会同时活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动，可以共用同一段存储：char d 的偏移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可以取 13，也可以取区域 3 的起点 8。</a:t>
              </a:r>
            </a:p>
          </p:txBody>
        </p:sp>
      </p:grpSp>
      <p:grpSp>
        <p:nvGrpSpPr>
          <p:cNvPr id="120" name="c2-card-2"/>
          <p:cNvGrpSpPr/>
          <p:nvPr/>
        </p:nvGrpSpPr>
        <p:grpSpPr>
          <a:xfrm>
            <a:off x="7546658" y="3316605"/>
            <a:ext cx="4111942" cy="2301240"/>
            <a:chOff x="7546658" y="3316605"/>
            <a:chExt cx="4111942" cy="2301240"/>
          </a:xfrm>
        </p:grpSpPr>
        <p:sp>
          <p:nvSpPr>
            <p:cNvPr id="115" name="Rectangle 115"/>
            <p:cNvSpPr/>
            <p:nvPr/>
          </p:nvSpPr>
          <p:spPr>
            <a:xfrm>
              <a:off x="7546658" y="3316605"/>
              <a:ext cx="4111942" cy="2301240"/>
            </a:xfrm>
            <a:prstGeom prst="roundRect">
              <a:avLst>
                <a:gd name="adj" fmla="val 57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7556182" y="3449955"/>
              <a:ext cx="47625" cy="20345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7794308" y="35261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7885468" y="35618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7786688" y="3903345"/>
              <a:ext cx="34156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原课件写“4 和 5 两个局部化区域可以共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享内存”。偏移 8 是区域 3 的起点（区域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嵌在 3 里），所以应为区域 3（连同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4）与区域 5 共享。</a:t>
              </a:r>
            </a:p>
          </p:txBody>
        </p:sp>
      </p:grpSp>
      <p:grpSp>
        <p:nvGrpSpPr>
          <p:cNvPr id="1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1" name="TextBox 121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802761" cy="3351847"/>
            <a:chOff x="667512" y="1835468"/>
            <a:chExt cx="380276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中间代码优化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两道四元式例题，把三种优化各做一遍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划分基本块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常表达式节省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公共表达式节省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循环不变式外提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32916" cy="909257"/>
            <a:chOff x="520446" y="342900"/>
            <a:chExt cx="59329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897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3637" y="407194"/>
              <a:ext cx="2050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中间代码优化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329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 题目：先写四元式，再划分基本块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760595" cy="1887855"/>
            <a:chOff x="533400" y="1524000"/>
            <a:chExt cx="4760595" cy="1887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015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给出下面程序段的四元式中间代码，并用常表达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式节省、公共表达式节省和循环不变式外提三种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技术优化。A：array[1..100] of integer，所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有变量都是整型，占 1 个存储单元。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602355"/>
            <a:ext cx="4760595" cy="2327910"/>
            <a:chOff x="533400" y="3602355"/>
            <a:chExt cx="4760595" cy="2327910"/>
          </a:xfrm>
        </p:grpSpPr>
        <p:sp>
          <p:nvSpPr>
            <p:cNvPr id="13" name="Rectangle 13"/>
            <p:cNvSpPr/>
            <p:nvPr/>
          </p:nvSpPr>
          <p:spPr>
            <a:xfrm>
              <a:off x="533400" y="3602355"/>
              <a:ext cx="4760595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75427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4016216"/>
              <a:ext cx="2045462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 := 0;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 := (a+1)*5;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while j &lt; 100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 := a + A[3];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a &lt; 10 then k := 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 k := x*y + x*y/5;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 := j + 1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5598795" y="1524000"/>
            <a:ext cx="6059805" cy="3368040"/>
            <a:chOff x="5598795" y="1524000"/>
            <a:chExt cx="6059805" cy="3368040"/>
          </a:xfrm>
        </p:grpSpPr>
        <p:sp>
          <p:nvSpPr>
            <p:cNvPr id="17" name="Rectangle 17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5866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基本块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6734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四元式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41651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为什么在这里分块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11989" y="210835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83659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1–4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24941" y="210835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程序开头，到循环入口之前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598795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598795" y="2421255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11989" y="267033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83659" y="267033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5–7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24941" y="2556986"/>
              <a:ext cx="38493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是循环的入口，也是回边的目标；DO 是条件转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移，块在此结束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598795" y="3092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11989" y="323230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36273" y="323230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8–14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24941" y="3232309"/>
              <a:ext cx="3516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 之后开始；THEN 是条件转移，块在此结束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98795" y="35413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98795" y="354615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11989" y="368093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88887" y="368093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15–16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4941" y="3680936"/>
              <a:ext cx="39129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THEN 分支：k := 0，ELSE 处无条件跳过 else 分支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598795" y="39900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11989" y="413051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88887" y="413051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17–21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24941" y="4130516"/>
              <a:ext cx="24612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else 分支，是 ELSE 跳转的目标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44386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598795" y="444341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11989" y="457914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88887" y="457914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22–25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24941" y="4579144"/>
              <a:ext cx="4008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ENDIF 是两个分支的汇合点，到 ENDWHILE 回跳为止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98795" y="1524000"/>
              <a:ext cx="6059805" cy="3368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42710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412355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llout-2"/>
          <p:cNvGrpSpPr/>
          <p:nvPr/>
        </p:nvGrpSpPr>
        <p:grpSpPr>
          <a:xfrm>
            <a:off x="5598795" y="5082540"/>
            <a:ext cx="6059805" cy="847725"/>
            <a:chOff x="5598795" y="5082540"/>
            <a:chExt cx="6059805" cy="847725"/>
          </a:xfrm>
        </p:grpSpPr>
        <p:sp>
          <p:nvSpPr>
            <p:cNvPr id="51" name="Rectangle 51"/>
            <p:cNvSpPr/>
            <p:nvPr/>
          </p:nvSpPr>
          <p:spPr>
            <a:xfrm>
              <a:off x="5598795" y="5082540"/>
              <a:ext cx="6059805" cy="847725"/>
            </a:xfrm>
            <a:prstGeom prst="roundRect">
              <a:avLst>
                <a:gd name="adj" fmla="val 13483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5803583" y="5406392"/>
              <a:ext cx="200023" cy="200023"/>
              <a:chOff x="5803583" y="5406392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5803583" y="54063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936933" y="54730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105525" y="5263515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划分规则：程序第一条、转移的目标、紧跟在转移之后的四元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式，各自开始一个新块。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529949" cy="909257"/>
            <a:chOff x="520446" y="342900"/>
            <a:chExt cx="35299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897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3637" y="407194"/>
              <a:ext cx="2050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中间代码优化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5299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 的四元式与基本块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154680"/>
            <a:chOff x="533400" y="1524000"/>
            <a:chExt cx="5410200" cy="31546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154680"/>
            </a:xfrm>
            <a:prstGeom prst="roundRect">
              <a:avLst>
                <a:gd name="adj" fmla="val 301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124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B1–B3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2137601" cy="26694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   (:=, 0, _, a)          B1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   (+, a, 1, t1)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   (*, t1, 5, t2)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4   (:=, t2, _, j)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5   (WHILE, _, _, _)       B2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6   (&lt;, j, 100, t3)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7   (DO, t3, _, _)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8   (-, 3, 1, t4)          B3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9   (*, t4, 1, t5)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10  (AADD, A, t5, t6)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11  (+, a, t6, t7)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12  (:=, t7, _, a)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13  (&lt;, a, 10, t8)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14  (THEN, t8, _, _)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853940"/>
            <a:ext cx="5410200" cy="1254442"/>
            <a:chOff x="533400" y="4853940"/>
            <a:chExt cx="5410200" cy="1254442"/>
          </a:xfrm>
        </p:grpSpPr>
        <p:sp>
          <p:nvSpPr>
            <p:cNvPr id="11" name="Rectangle 11"/>
            <p:cNvSpPr/>
            <p:nvPr/>
          </p:nvSpPr>
          <p:spPr>
            <a:xfrm>
              <a:off x="533400" y="485394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987290"/>
              <a:ext cx="47625" cy="98774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3905" y="504634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7341" y="508063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结构化四元式怎么跳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545973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5403533"/>
              <a:ext cx="44947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DO、THEN：条件为假时分别跳出循环、跳到 ELSE 之后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8" y="576167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8497" y="5705475"/>
              <a:ext cx="4838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ELSE：then 分支做完跳到 ENDIF；ENDWHILE：跳回 WHILE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248400" y="1524000"/>
            <a:ext cx="5410200" cy="2586990"/>
            <a:chOff x="6248400" y="1524000"/>
            <a:chExt cx="5410200" cy="2586990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1675924"/>
              <a:ext cx="4124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B4–B6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6416" y="1937385"/>
              <a:ext cx="2137601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15  (:=, 0, _, k)          B4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16  (ELSE, _, _, _)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17  (*, x, y, t9)          B5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18  (*, x, y, t10)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19  (/, t10, 5, t11)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20  (+, t9, t11, t12)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21  (:=, t12, _, k)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22  (ENDIF, _, _, _)       B6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23  (+, j, 1, t13)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24  (:=, t13, _, j)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25  (ENDWHILE, _, _, _)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248400" y="4286250"/>
            <a:ext cx="5410200" cy="1823085"/>
            <a:chOff x="6248400" y="4286250"/>
            <a:chExt cx="5410200" cy="1823085"/>
          </a:xfrm>
        </p:grpSpPr>
        <p:sp>
          <p:nvSpPr>
            <p:cNvPr id="24" name="Rectangle 24"/>
            <p:cNvSpPr/>
            <p:nvPr/>
          </p:nvSpPr>
          <p:spPr>
            <a:xfrm>
              <a:off x="6248400" y="4286250"/>
              <a:ext cx="5410200" cy="1823085"/>
            </a:xfrm>
            <a:prstGeom prst="roundRect">
              <a:avLst>
                <a:gd name="adj" fmla="val 7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4419600"/>
              <a:ext cx="47625" cy="15563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8905" y="4478655"/>
              <a:ext cx="109347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1580" y="4512945"/>
              <a:ext cx="968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数组元素 A[3]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2047" y="4834890"/>
              <a:ext cx="477145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 1、元素占 1 个单元：偏移 = (3 − 1) × 1，由 8、9 两条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算出；AADD 把首地址 A 加上偏移得到元素地址 t6，第 11 条用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t6 取 A[3] 的值。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69137" cy="909257"/>
            <a:chOff x="520446" y="342900"/>
            <a:chExt cx="72691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897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3637" y="407194"/>
              <a:ext cx="2050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中间代码优化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691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 ① 常表达式节省：块内能算出的值直接算好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ode-1"/>
          <p:cNvGrpSpPr/>
          <p:nvPr/>
        </p:nvGrpSpPr>
        <p:grpSpPr>
          <a:xfrm>
            <a:off x="533400" y="1524000"/>
            <a:ext cx="5410200" cy="2207895"/>
            <a:chOff x="533400" y="1524000"/>
            <a:chExt cx="5410200" cy="22078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6185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B1、B3 优化前后（高亮为改写或删除的行）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86928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27647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2465070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033712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3223260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52450" y="341185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416" y="1937385"/>
              <a:ext cx="2964371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1   (:=, 0, _, a)        a 入常量表 (a,0)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2   (+, a, 1, t1)        t1=1，删去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3   (*, t1, 5, t2)       t2=5，删去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4   (:=, 5, _, j)        原为 t2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……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8   (-, 3, 1, t4)        t4=2，删去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9   (*, t4, 1, t5)       t5=2，删去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10  (AADD, A, 2, t6)     原为 t5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11  (+, a, t6, t7)       a 值未知，不变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3907155"/>
            <a:ext cx="5410200" cy="729615"/>
            <a:chOff x="533400" y="3907155"/>
            <a:chExt cx="5410200" cy="729615"/>
          </a:xfrm>
        </p:grpSpPr>
        <p:sp>
          <p:nvSpPr>
            <p:cNvPr id="17" name="Rectangle 17"/>
            <p:cNvSpPr/>
            <p:nvPr/>
          </p:nvSpPr>
          <p:spPr>
            <a:xfrm>
              <a:off x="533400" y="390715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26129" y="4168258"/>
              <a:ext cx="224134" cy="192560"/>
              <a:chOff x="726129" y="4168258"/>
              <a:chExt cx="224134" cy="1925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38200" y="423862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26129" y="416825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43164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4053840"/>
              <a:ext cx="43942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常量表只在块内有效。B3 里的 a 可能来自上一轮循环，不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能沿用 B1 的 (a,0)。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812030"/>
            <a:ext cx="5410200" cy="1209675"/>
            <a:chOff x="533400" y="4812030"/>
            <a:chExt cx="5410200" cy="1209675"/>
          </a:xfrm>
        </p:grpSpPr>
        <p:sp>
          <p:nvSpPr>
            <p:cNvPr id="24" name="Rectangle 24"/>
            <p:cNvSpPr/>
            <p:nvPr/>
          </p:nvSpPr>
          <p:spPr>
            <a:xfrm>
              <a:off x="533400" y="481203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94538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3905" y="5004435"/>
              <a:ext cx="130397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0964" y="5038725"/>
              <a:ext cx="11708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为什么第 1 条不删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7047" y="5360670"/>
              <a:ext cx="4762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(:=, 0, _, a) 给程序变量 a 赋值，循环里还要用 a，这条必须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保留。删掉的只是结果为临时变量、值已算成常数的四元式。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248400" y="1524000"/>
            <a:ext cx="5410200" cy="2028825"/>
            <a:chOff x="6248400" y="1524000"/>
            <a:chExt cx="5410200" cy="2028825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99733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27897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常量表的变化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48412" y="20540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14235" y="2054066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(a,0) → (t1,1) → (t2,5)；j 的赋值用 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8412" y="24598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14235" y="2459831"/>
              <a:ext cx="2665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空：j 在循环中会变，块开头清空常量表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48412" y="286559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14235" y="2865596"/>
              <a:ext cx="2061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(t4,2) → (t5,2)；a 不在表中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8412" y="3271361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B4–B6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14235" y="327136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没有两个分量都是常数的运算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0946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rd-2"/>
          <p:cNvGrpSpPr/>
          <p:nvPr/>
        </p:nvGrpSpPr>
        <p:grpSpPr>
          <a:xfrm>
            <a:off x="6248400" y="3728085"/>
            <a:ext cx="5410200" cy="2293620"/>
            <a:chOff x="6248400" y="3728085"/>
            <a:chExt cx="5410200" cy="2293620"/>
          </a:xfrm>
        </p:grpSpPr>
        <p:sp>
          <p:nvSpPr>
            <p:cNvPr id="49" name="Rectangle 49"/>
            <p:cNvSpPr/>
            <p:nvPr/>
          </p:nvSpPr>
          <p:spPr>
            <a:xfrm>
              <a:off x="6248400" y="3728085"/>
              <a:ext cx="5410200" cy="2293620"/>
            </a:xfrm>
            <a:prstGeom prst="roundRect">
              <a:avLst>
                <a:gd name="adj" fmla="val 5814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40805" y="39204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32245" y="39547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33947" y="4276725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在一个基本块内维护常量表（变量, 值）：运算的分量都能查到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常数，就在编译时算出结果登入常量表并删掉这条四元式；后面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用到结果的地方直接换成常数。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40201" cy="909257"/>
            <a:chOff x="520446" y="342900"/>
            <a:chExt cx="72402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897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3637" y="407194"/>
              <a:ext cx="2050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中间代码优化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402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 ② 公共表达式节省：B5 中的 x*y 只算一次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4977765" cy="1516380"/>
            <a:chOff x="533400" y="1524000"/>
            <a:chExt cx="4977765" cy="15163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10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B5 优化后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98358"/>
              <a:ext cx="493966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301240"/>
              <a:ext cx="493966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035" y="1937861"/>
              <a:ext cx="2642870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17  (*, x, y, t9)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18  (*, x, y, t10)     删去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19  (/, t9, 5, t11)    t10 换成 t9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20  (+, t9, t11, t12)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21  (:=, t12, _, k)</a:t>
              </a:r>
            </a:p>
          </p:txBody>
        </p:sp>
      </p:grpSp>
      <p:grpSp>
        <p:nvGrpSpPr>
          <p:cNvPr id="30" name="c1-steps-2"/>
          <p:cNvGrpSpPr/>
          <p:nvPr/>
        </p:nvGrpSpPr>
        <p:grpSpPr>
          <a:xfrm>
            <a:off x="533400" y="3240405"/>
            <a:ext cx="4700905" cy="2764440"/>
            <a:chOff x="533400" y="3240405"/>
            <a:chExt cx="4700905" cy="2764440"/>
          </a:xfrm>
        </p:grpSpPr>
        <p:sp>
          <p:nvSpPr>
            <p:cNvPr id="13" name="Rectangle 13"/>
            <p:cNvSpPr/>
            <p:nvPr/>
          </p:nvSpPr>
          <p:spPr>
            <a:xfrm>
              <a:off x="666750" y="338328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24040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142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9096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647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54152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6153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42734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5011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27469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568541"/>
              <a:ext cx="26665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给每个值一个编号：x 为 1，y 为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925252"/>
              <a:ext cx="7795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17 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219099"/>
              <a:ext cx="3407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编码为 (*,1,2)，新值 3 给 t9，登入映象表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575810"/>
              <a:ext cx="7795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18 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869656"/>
              <a:ext cx="42882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 (*,1,2) 已在映象表中 → 等价表记 (t10,t9)，删去本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4880" y="5461635"/>
              <a:ext cx="7795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19 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5755481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t10 按等价表换成 t9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5810250" y="1524000"/>
            <a:ext cx="5848350" cy="3886677"/>
            <a:chOff x="5810250" y="1524000"/>
            <a:chExt cx="5848350" cy="3886677"/>
          </a:xfrm>
        </p:grpSpPr>
        <p:sp>
          <p:nvSpPr>
            <p:cNvPr id="31" name="Rectangle 31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116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值编码表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99286" y="16597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映象表（已算的表达式）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3451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等价表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09871" y="2108359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(x, 1)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95607" y="2108359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(*, 1, 2, t9)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88044" y="2108359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(t10, t9)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09871" y="2556986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(y, 2)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48221" y="2556986"/>
              <a:ext cx="1210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(/, 3, 4, t11)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5965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60115" y="3005614"/>
              <a:ext cx="664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(t9, 3)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48221" y="3005614"/>
              <a:ext cx="1210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(+, 3, 5, t12)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15965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09871" y="3454241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(5, 4)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37633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10360" y="3903821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(t11, 5)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4211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15965" y="421671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10360" y="4352449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(t12, 6)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815965" y="46605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09871" y="4801076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(k, 7)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1524000"/>
              <a:ext cx="5842635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563802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134600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10250" y="5190649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值编码表按原课件；映象表按编码形式登记已算过的表达式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5815965" y="5556885"/>
            <a:ext cx="5842635" cy="782955"/>
            <a:chOff x="5815965" y="5556885"/>
            <a:chExt cx="5842635" cy="782955"/>
          </a:xfrm>
        </p:grpSpPr>
        <p:sp>
          <p:nvSpPr>
            <p:cNvPr id="60" name="Rectangle 60"/>
            <p:cNvSpPr/>
            <p:nvPr/>
          </p:nvSpPr>
          <p:spPr>
            <a:xfrm>
              <a:off x="5815965" y="555688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020753" y="5848350"/>
              <a:ext cx="200026" cy="200025"/>
              <a:chOff x="6020753" y="5848350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020753" y="58483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060491" y="58928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095207" y="60039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322695" y="5705475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两个表达式运算符相同、分量的值编号相同，结果就相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同，后一个可以直接用前一个的结果。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72104" cy="909257"/>
            <a:chOff x="520446" y="342900"/>
            <a:chExt cx="96721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897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3637" y="407194"/>
              <a:ext cx="2050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中间代码优化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721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 ③ 循环不变式外提：分量在循环里都不被赋值就提到循环前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276022" cy="1185862"/>
            <a:chOff x="533400" y="1524000"/>
            <a:chExt cx="6276022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12490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8512" y="1743551"/>
              <a:ext cx="9852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定值表 Loopdef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54743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循环中被赋值的变量：t3，t6，t7，a，t8，k，t9，t11，t12，t13，j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（外提后去掉 t6、t9）</a:t>
              </a:r>
            </a:p>
          </p:txBody>
        </p:sp>
      </p:grpSp>
      <p:grpSp>
        <p:nvGrpSpPr>
          <p:cNvPr id="46" name="c1-table-2"/>
          <p:cNvGrpSpPr/>
          <p:nvPr/>
        </p:nvGrpSpPr>
        <p:grpSpPr>
          <a:xfrm>
            <a:off x="533400" y="2879408"/>
            <a:ext cx="6276022" cy="2800350"/>
            <a:chOff x="533400" y="2879408"/>
            <a:chExt cx="6276022" cy="2800350"/>
          </a:xfrm>
        </p:grpSpPr>
        <p:sp>
          <p:nvSpPr>
            <p:cNvPr id="13" name="Rectangle 13"/>
            <p:cNvSpPr/>
            <p:nvPr/>
          </p:nvSpPr>
          <p:spPr>
            <a:xfrm>
              <a:off x="533400" y="2879408"/>
              <a:ext cx="6276022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619783" y="300085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四元式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10379" y="3000851"/>
              <a:ext cx="14754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分量在 Loopdef 中？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10911" y="30008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0555" y="3400901"/>
              <a:ext cx="15780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(AADD, A, 2, t6)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66122" y="3400901"/>
              <a:ext cx="8303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A、2 都不在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23485" y="34009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外提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6747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679508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3800951"/>
              <a:ext cx="1333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(+, a, t6, t7)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66122" y="380095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23485" y="38009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0747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555" y="4201001"/>
              <a:ext cx="1246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(*, x, y, t9)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66122" y="4201001"/>
              <a:ext cx="825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x、y 都不在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23485" y="42010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外提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4748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479608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4601051"/>
              <a:ext cx="1420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 (/, t9, 5, t11)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66122" y="4601051"/>
              <a:ext cx="1127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t9 已外提，不在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23485" y="460105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除法不外提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8748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0555" y="5001101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(+, t9, t11, t12)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66122" y="5001101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t11 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23485" y="50011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2749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5279708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0555" y="5401151"/>
              <a:ext cx="1293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 (+, j, 1, t13)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66122" y="5401151"/>
              <a:ext cx="252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23485" y="54011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2879408"/>
              <a:ext cx="6276022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3164205" y="2879408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921568" y="2879408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ode-1"/>
          <p:cNvGrpSpPr/>
          <p:nvPr/>
        </p:nvGrpSpPr>
        <p:grpSpPr>
          <a:xfrm>
            <a:off x="7114222" y="1524000"/>
            <a:ext cx="4544378" cy="4022408"/>
            <a:chOff x="7114222" y="1524000"/>
            <a:chExt cx="4544378" cy="4022408"/>
          </a:xfrm>
        </p:grpSpPr>
        <p:sp>
          <p:nvSpPr>
            <p:cNvPr id="47" name="Rectangle 47"/>
            <p:cNvSpPr/>
            <p:nvPr/>
          </p:nvSpPr>
          <p:spPr>
            <a:xfrm>
              <a:off x="7114222" y="1524000"/>
              <a:ext cx="4544378" cy="4022408"/>
            </a:xfrm>
            <a:prstGeom prst="roundRect">
              <a:avLst>
                <a:gd name="adj" fmla="val 236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42620" y="1675924"/>
              <a:ext cx="28555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优化结果 20 条（已用解释器对照原 25 条复核）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133272" y="2250758"/>
              <a:ext cx="450627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133272" y="2426970"/>
              <a:ext cx="450627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42620" y="1935956"/>
              <a:ext cx="1696339" cy="3538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(:=, 0, _, a)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(:=, 5, _, j)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(AADD, A, 2, t6)     外提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(*, x, y, t9)        外提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(WHILE, _, _, _)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(&lt;, j, 100, t3)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(DO, t3, _, _)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(+, a, t6, t7)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(:=, t7, _, a)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(&lt;, a, 10, t8)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(THEN, t8, _, _)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(:=, 0, _, k)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(ELSE, _, _, _)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(/, t9, 5, t11)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(+, t9, t11, t12)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(:=, t12, _, k)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(ENDIF, _, _, _)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(+, j, 1, t13)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(:=, t13, _, j)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(ENDWHILE, _, _, _)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3" name="Rectangle 5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6028373"/>
              <a:ext cx="78556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课件规定除法不外提：提到循环前就成了无条件执行，除数为 0 时会引发原程序不会出现的错误。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03073" cy="909257"/>
            <a:chOff x="520446" y="342900"/>
            <a:chExt cx="49030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897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3637" y="407194"/>
              <a:ext cx="2050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中间代码优化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030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 题目：二维数组、两层循环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544378" cy="3950970"/>
            <a:chOff x="533400" y="1524000"/>
            <a:chExt cx="4544378" cy="39509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984246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:= 0;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 := x + 1;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 := 2 * s;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while i &lt; 10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k := 1;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while k &lt; 100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begin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 := 2 * k;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if j &lt; 50 then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begin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 := s + A[3][k] * A[i][k]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end;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k := 2 * k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 := i + 1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16" name="c2-card-1"/>
          <p:cNvGrpSpPr/>
          <p:nvPr/>
        </p:nvGrpSpPr>
        <p:grpSpPr>
          <a:xfrm>
            <a:off x="5382578" y="1524000"/>
            <a:ext cx="6276022" cy="1602105"/>
            <a:chOff x="5382578" y="1524000"/>
            <a:chExt cx="6276022" cy="1602105"/>
          </a:xfrm>
        </p:grpSpPr>
        <p:sp>
          <p:nvSpPr>
            <p:cNvPr id="11" name="Rectangle 11"/>
            <p:cNvSpPr/>
            <p:nvPr/>
          </p:nvSpPr>
          <p:spPr>
            <a:xfrm>
              <a:off x="5382578" y="1524000"/>
              <a:ext cx="627602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392102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63022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2138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22608" y="2110740"/>
              <a:ext cx="5568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A：array [1..10] of array [1..100] of integer，所有变量都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是整型，占 1 个存储单元。用常表达式节省、公共子表达式节省和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循环不变式外提优化四元式代码，给出优化后的四元式。</a:t>
              </a:r>
            </a:p>
          </p:txBody>
        </p:sp>
      </p:grpSp>
      <p:grpSp>
        <p:nvGrpSpPr>
          <p:cNvPr id="26" name="c2-card-2"/>
          <p:cNvGrpSpPr/>
          <p:nvPr/>
        </p:nvGrpSpPr>
        <p:grpSpPr>
          <a:xfrm>
            <a:off x="5382578" y="3316605"/>
            <a:ext cx="6276022" cy="3021330"/>
            <a:chOff x="5382578" y="3316605"/>
            <a:chExt cx="6276022" cy="3021330"/>
          </a:xfrm>
        </p:grpSpPr>
        <p:sp>
          <p:nvSpPr>
            <p:cNvPr id="17" name="Rectangle 17"/>
            <p:cNvSpPr/>
            <p:nvPr/>
          </p:nvSpPr>
          <p:spPr>
            <a:xfrm>
              <a:off x="5382578" y="3316605"/>
              <a:ext cx="6276022" cy="3021330"/>
            </a:xfrm>
            <a:prstGeom prst="roundRect">
              <a:avLst>
                <a:gd name="adj" fmla="val 44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92102" y="3449955"/>
              <a:ext cx="47625" cy="275463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30228" y="352615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690883" y="356187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二维数组元素的地址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22608" y="3903345"/>
              <a:ext cx="5425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 100 个元素，A[i][k] 的地址 = A + (i − 1) × 100 + (k − 1)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1，分两级算：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630228" y="4499610"/>
              <a:ext cx="5818822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58624" y="46515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57862" y="4913471"/>
              <a:ext cx="2863342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(-, i, 1, t12)  (*, t12, 100, t13)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([], A, t13, t14)      第 i 行首地址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(-, k, 1, t15)  (*, t15, 1, t16)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([], t14, t16, t17)    A[i][k] 的地址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23751" y="5929789"/>
              <a:ext cx="54509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([], 基址, 偏移, t) 与例 1 的 AADD 同义：由基址加偏移得到地址 t。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7" name="TextBox 27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77853" cy="909257"/>
            <a:chOff x="520446" y="342900"/>
            <a:chExt cx="43778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897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3637" y="407194"/>
              <a:ext cx="2050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中间代码优化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778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 的原始四元式（38 条）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ode-1"/>
          <p:cNvGrpSpPr/>
          <p:nvPr/>
        </p:nvGrpSpPr>
        <p:grpSpPr>
          <a:xfrm>
            <a:off x="533400" y="1524000"/>
            <a:ext cx="5410200" cy="4101465"/>
            <a:chOff x="533400" y="1524000"/>
            <a:chExt cx="5410200" cy="4101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101465"/>
            </a:xfrm>
            <a:prstGeom prst="roundRect">
              <a:avLst>
                <a:gd name="adj" fmla="val 23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1–19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86928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27647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2465070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2654618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4927282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52450" y="5116830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52450" y="530542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416" y="1937385"/>
              <a:ext cx="1477518" cy="36172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   (:=, 0, _, x)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   (+, x, 1, t0)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   (:=, t0, _, s)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4   (*, 2, s, t1)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5   (:=, t1, _, i)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6   (WHILE, _, _, _)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7   (&lt;, i, 10, t2)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8   (DO, t2, _, _)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9   (:=, 1, _, k)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10  (WHILE, _, _, _)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11  (&lt;, k, 100, t3)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12  (DO, t3, _, _)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13  (*, 2, k, t4)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14  (:=, t4, _, j)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15  (&lt;, j, 50, t5)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16  (THEN, t5, _, _)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17  (-, 3, 1, t6)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18  (*, t6, 100, t7)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19  ([], A, t7, t8)</a:t>
              </a:r>
            </a:p>
          </p:txBody>
        </p:sp>
      </p:grpSp>
      <p:grpSp>
        <p:nvGrpSpPr>
          <p:cNvPr id="24" name="c2-code-1"/>
          <p:cNvGrpSpPr/>
          <p:nvPr/>
        </p:nvGrpSpPr>
        <p:grpSpPr>
          <a:xfrm>
            <a:off x="6248400" y="1524000"/>
            <a:ext cx="5410200" cy="4101465"/>
            <a:chOff x="6248400" y="1524000"/>
            <a:chExt cx="5410200" cy="4101465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4101465"/>
            </a:xfrm>
            <a:prstGeom prst="roundRect">
              <a:avLst>
                <a:gd name="adj" fmla="val 23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20–38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67450" y="3033712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67450" y="3223260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67450" y="341185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416" y="1937385"/>
              <a:ext cx="1697546" cy="36172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20  (-, k, 1, t9)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21  (*, t9, 1, t10)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22  ([], t8, t10, t11)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23  (-, i, 1, t12)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24  (*, t12, 100, t13)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25  ([], A, t13, t14)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26  (-, k, 1, t15)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27  (*, t15, 1, t16)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28  ([], t14, t16, t17)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29  (*, t11, t17, t18)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30  (+, s, t18, t19)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31  (:=, t19, _, s)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32  (ENDIF, _, _, _)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33  (*, 2, k, t20)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34  (:=, t20, _, k)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35  (ENDWHILE, _, _, _)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36  (+, i, 1, t21)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37  (:=, t21, _, i)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38  (ENDWHILE, _, _, _)</a:t>
              </a:r>
            </a:p>
          </p:txBody>
        </p:sp>
      </p:grpSp>
      <p:grpSp>
        <p:nvGrpSpPr>
          <p:cNvPr id="3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25" name="Rectangle 2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511" y="6011704"/>
              <a:ext cx="82630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高亮行会在下一页的常表达式节省（2–5、17–19）和公共表达式节省（26–28）中被删除或改写。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94258" cy="909257"/>
            <a:chOff x="520446" y="342900"/>
            <a:chExt cx="60942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897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3637" y="407194"/>
              <a:ext cx="2050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中间代码优化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942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 ①② 常表达式节省与公共表达式节省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33400" y="1524000"/>
            <a:ext cx="6276022" cy="4492942"/>
            <a:chOff x="533400" y="1524000"/>
            <a:chExt cx="6276022" cy="44929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4909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原四元式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550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2669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324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(+, x, 1, t0)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74823" y="2108359"/>
              <a:ext cx="1055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0，t0 = 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0842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1424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(:=, t0, _, s)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74823" y="2556986"/>
              <a:ext cx="94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 换成常数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08423" y="2556986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(:=, 1, _, s)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1324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(*, 2, s, t1)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74823" y="3005614"/>
              <a:ext cx="1055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1，t1 =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08423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删去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54241"/>
              <a:ext cx="1378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(:=, t1, _, i)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74823" y="3454241"/>
              <a:ext cx="94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 换成常数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08423" y="3454241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(:=, 2, _, i)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633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903821"/>
              <a:ext cx="583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17、18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74823" y="3903821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t6 = 2，t7 = 200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08423" y="39038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删去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119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21671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352449"/>
              <a:ext cx="1653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 ([], A, t7, t8)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74823" y="4352449"/>
              <a:ext cx="94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t7 换成常数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08423" y="4352449"/>
              <a:ext cx="1439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([], A, 200, t8)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6605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223" y="4914424"/>
              <a:ext cx="583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26、27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74823" y="4801076"/>
              <a:ext cx="17117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20、21 相同（k−1、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×1）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810125" y="4674870"/>
              <a:ext cx="198882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908423" y="4914424"/>
              <a:ext cx="15465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删去，t16 记为 t10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53368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5341620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1223" y="5476399"/>
              <a:ext cx="148087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 ([], t14, t16,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t17)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774823" y="5589746"/>
              <a:ext cx="10296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t16 换成 t10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08423" y="5589746"/>
              <a:ext cx="168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([], t14, t10, t17)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1524000"/>
              <a:ext cx="6276022" cy="44929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2662238" y="1524000"/>
              <a:ext cx="9525" cy="44929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795838" y="1524000"/>
              <a:ext cx="9525" cy="44929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1"/>
          <p:cNvGrpSpPr/>
          <p:nvPr/>
        </p:nvGrpSpPr>
        <p:grpSpPr>
          <a:xfrm>
            <a:off x="7114222" y="1524000"/>
            <a:ext cx="4544378" cy="1602105"/>
            <a:chOff x="7114222" y="1524000"/>
            <a:chExt cx="4544378" cy="1602105"/>
          </a:xfrm>
        </p:grpSpPr>
        <p:sp>
          <p:nvSpPr>
            <p:cNvPr id="51" name="Rectangle 51"/>
            <p:cNvSpPr/>
            <p:nvPr/>
          </p:nvSpPr>
          <p:spPr>
            <a:xfrm>
              <a:off x="7114222" y="1524000"/>
              <a:ext cx="4544378" cy="1602105"/>
            </a:xfrm>
            <a:prstGeom prst="roundRect">
              <a:avLst>
                <a:gd name="adj" fmla="val 832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237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051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常表达式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16152" y="2110740"/>
              <a:ext cx="37966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B1 中 x、s 依次成为常数，i 的初值 2 在编译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时就能算出；A[3] 的行偏移 (3 − 1) × 100 =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200 也是常数。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7114222" y="3316605"/>
            <a:ext cx="4544378" cy="1887855"/>
            <a:chOff x="7114222" y="3316605"/>
            <a:chExt cx="4544378" cy="1887855"/>
          </a:xfrm>
        </p:grpSpPr>
        <p:sp>
          <p:nvSpPr>
            <p:cNvPr id="56" name="Rectangle 56"/>
            <p:cNvSpPr/>
            <p:nvPr/>
          </p:nvSpPr>
          <p:spPr>
            <a:xfrm>
              <a:off x="7114222" y="3316605"/>
              <a:ext cx="4544378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123748" y="3449955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61872" y="3526155"/>
              <a:ext cx="1712595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15612" y="3561874"/>
              <a:ext cx="1605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 13 和 33 不合并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54252" y="3903345"/>
              <a:ext cx="38728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(*, 2, k, t4) 和 (*, 2, k, t20) 形式相同，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但第 13 条在 DO 之后的块里，第 33 条在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ENDIF 开始的块里。公共表达式节省只在一个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基本块内做。</a:t>
              </a:r>
            </a:p>
          </p:txBody>
        </p:sp>
      </p:grpSp>
      <p:grpSp>
        <p:nvGrpSpPr>
          <p:cNvPr id="68" name="c2-callout-3"/>
          <p:cNvGrpSpPr/>
          <p:nvPr/>
        </p:nvGrpSpPr>
        <p:grpSpPr>
          <a:xfrm>
            <a:off x="7114222" y="5394960"/>
            <a:ext cx="4544378" cy="782955"/>
            <a:chOff x="7114222" y="5394960"/>
            <a:chExt cx="4544378" cy="782955"/>
          </a:xfrm>
        </p:grpSpPr>
        <p:sp>
          <p:nvSpPr>
            <p:cNvPr id="62" name="Rectangle 62"/>
            <p:cNvSpPr/>
            <p:nvPr/>
          </p:nvSpPr>
          <p:spPr>
            <a:xfrm>
              <a:off x="7114222" y="5394960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19010" y="5686425"/>
              <a:ext cx="200026" cy="200025"/>
              <a:chOff x="7319010" y="5686425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19010" y="56864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358749" y="57308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393464" y="58420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620952" y="5543550"/>
              <a:ext cx="3577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两步做完剩 32 条四元式，重新编号后见下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一页。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25856" cy="909257"/>
            <a:chOff x="520446" y="342900"/>
            <a:chExt cx="69258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897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3637" y="407194"/>
              <a:ext cx="2050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中间代码优化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258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 ③ 循环不变式外提：先看内层，再看外层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680210"/>
            <a:chOff x="533400" y="1524000"/>
            <a:chExt cx="6059805" cy="16802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680210"/>
            </a:xfrm>
            <a:prstGeom prst="roundRect">
              <a:avLst>
                <a:gd name="adj" fmla="val 7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1351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857375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1396" y="1750695"/>
              <a:ext cx="1762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内层循环的定值表 Loopdef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52172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t3，t4，j，t5，t8，t9，t10，t11，t12，t13，t14，t17，t18，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t19，s，t20，k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2629376"/>
              <a:ext cx="52671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外提后 t8、t12、t13、t14 从中去掉。i 不在内层的定值表里，但外层循环第 31 条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(:=, t21, _, i) 给 i 赋值。</a:t>
              </a:r>
            </a:p>
          </p:txBody>
        </p:sp>
      </p:grpSp>
      <p:grpSp>
        <p:nvGrpSpPr>
          <p:cNvPr id="42" name="c1-table-2"/>
          <p:cNvGrpSpPr/>
          <p:nvPr/>
        </p:nvGrpSpPr>
        <p:grpSpPr>
          <a:xfrm>
            <a:off x="533400" y="3379470"/>
            <a:ext cx="6059805" cy="2634615"/>
            <a:chOff x="533400" y="3379470"/>
            <a:chExt cx="6059805" cy="2634615"/>
          </a:xfrm>
        </p:grpSpPr>
        <p:sp>
          <p:nvSpPr>
            <p:cNvPr id="14" name="Rectangle 14"/>
            <p:cNvSpPr/>
            <p:nvPr/>
          </p:nvSpPr>
          <p:spPr>
            <a:xfrm>
              <a:off x="533400" y="3379470"/>
              <a:ext cx="605980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4426" y="350377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四元式（重新编号后）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8748" y="35037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37264" y="35037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提到哪里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3412" y="4009549"/>
              <a:ext cx="1549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([], A, 200, t8)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14638" y="3909536"/>
              <a:ext cx="183210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分量 A、200 在两层循环中都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95862" y="400954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外层循环之前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3862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39102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4515326"/>
              <a:ext cx="1293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 (-, i, 1, t12)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14638" y="4515326"/>
              <a:ext cx="1911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在内层不变、在外层被赋值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95862" y="45153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内层循环之前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7920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4921091"/>
              <a:ext cx="1681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(*, t12, 100, t13)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14638" y="4921091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t12 已外提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95862" y="492109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内层循环之前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1977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520255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412" y="5326856"/>
              <a:ext cx="1624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 ([], A, t13, t14)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14638" y="532685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t13 已外提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95862" y="53268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内层循环之前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6035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5732621"/>
              <a:ext cx="11603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16、17、18、22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14638" y="5732621"/>
              <a:ext cx="1707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用到 k 或 t10（随 k 变）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95862" y="57326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379470"/>
              <a:ext cx="6059805" cy="26346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709862" y="337947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891088" y="337947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steps-1"/>
          <p:cNvGrpSpPr/>
          <p:nvPr/>
        </p:nvGrpSpPr>
        <p:grpSpPr>
          <a:xfrm>
            <a:off x="6898005" y="1533525"/>
            <a:ext cx="4471543" cy="2315051"/>
            <a:chOff x="6898005" y="1533525"/>
            <a:chExt cx="4471543" cy="2315051"/>
          </a:xfrm>
        </p:grpSpPr>
        <p:sp>
          <p:nvSpPr>
            <p:cNvPr id="43" name="Rectangle 43"/>
            <p:cNvSpPr/>
            <p:nvPr/>
          </p:nvSpPr>
          <p:spPr>
            <a:xfrm>
              <a:off x="7031355" y="1676400"/>
              <a:ext cx="19050" cy="15878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898005" y="232791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91629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898005" y="312134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91629" y="31951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10247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11390" y="1833086"/>
              <a:ext cx="40581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逐条检查分量是否在内层 Loopdef 中，不在就外提到内层 WHILE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10247" y="23593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11390" y="2627471"/>
              <a:ext cx="38732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对提出来的四元式再看外层 Loopdef，仍不变就继续提到外层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之前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10247" y="315372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更新定值表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11390" y="3420904"/>
              <a:ext cx="40581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外提一条就把它的结果从 Loopdef 中去掉，后面依赖它的四元式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可能随之可提</a:t>
              </a:r>
            </a:p>
          </p:txBody>
        </p:sp>
      </p:grpSp>
      <p:grpSp>
        <p:nvGrpSpPr>
          <p:cNvPr id="62" name="c2-callout-2"/>
          <p:cNvGrpSpPr/>
          <p:nvPr/>
        </p:nvGrpSpPr>
        <p:grpSpPr>
          <a:xfrm>
            <a:off x="6898005" y="4017645"/>
            <a:ext cx="4760595" cy="1996440"/>
            <a:chOff x="6898005" y="4017645"/>
            <a:chExt cx="4760595" cy="1996440"/>
          </a:xfrm>
        </p:grpSpPr>
        <p:sp>
          <p:nvSpPr>
            <p:cNvPr id="57" name="Rectangle 57"/>
            <p:cNvSpPr/>
            <p:nvPr/>
          </p:nvSpPr>
          <p:spPr>
            <a:xfrm>
              <a:off x="6898005" y="4017645"/>
              <a:ext cx="4760595" cy="1996440"/>
            </a:xfrm>
            <a:prstGeom prst="roundRect">
              <a:avLst>
                <a:gd name="adj" fmla="val 5725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102793" y="4915855"/>
              <a:ext cx="200023" cy="200023"/>
              <a:chOff x="7102793" y="4915855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102793" y="49158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36143" y="49825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405497" y="4672965"/>
              <a:ext cx="385419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A[i] 这一行的首地址 t14 只和 i 有关，每轮外层循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环算一次就够；A[3] 的行首地址 t8 整个程序只算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37931" cy="909257"/>
            <a:chOff x="520446" y="342900"/>
            <a:chExt cx="88379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897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3637" y="407194"/>
              <a:ext cx="2050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中间代码优化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379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 优化结果：38 条减到 32 条，内层循环每轮少算 5 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ode-1"/>
          <p:cNvGrpSpPr/>
          <p:nvPr/>
        </p:nvGrpSpPr>
        <p:grpSpPr>
          <a:xfrm>
            <a:off x="533400" y="1524000"/>
            <a:ext cx="5410200" cy="3748088"/>
            <a:chOff x="533400" y="1524000"/>
            <a:chExt cx="5410200" cy="37480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748088"/>
            </a:xfrm>
            <a:prstGeom prst="roundRect">
              <a:avLst>
                <a:gd name="adj" fmla="val 254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19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(1)–(16)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504122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518535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721418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924300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035" y="1937861"/>
              <a:ext cx="2770886" cy="3263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(1)  (:=, 0, _, x)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(2)  (:=, 1, _, s)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(3)  (:=, 2, _, i)</a:t>
              </a:r>
            </a:p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(4)  (AADD, A, 200, t8)     外提两层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(5)  (WHILE, _, _, _)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(6)  (&lt;, i, 10, t2)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(7)  (DO, t2, _, _)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(8)  (:=, 1, _, k)</a:t>
              </a:r>
            </a:p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(9)  (-, i, 1, t12)         外提一层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(10) (*, t12, 100, t13)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(11) (AADD, A, t13, t14)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(12) (WHILE, _, _, _)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(13) (&lt;, k, 100, t3)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(14) (DO, t3, _, _)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(15) (*, 2, k, t4)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(16) (:=, t4, _, j)</a:t>
              </a:r>
            </a:p>
          </p:txBody>
        </p:sp>
      </p:grpSp>
      <p:grpSp>
        <p:nvGrpSpPr>
          <p:cNvPr id="18" name="c2-code-1"/>
          <p:cNvGrpSpPr/>
          <p:nvPr/>
        </p:nvGrpSpPr>
        <p:grpSpPr>
          <a:xfrm>
            <a:off x="6248400" y="1524000"/>
            <a:ext cx="5410200" cy="3748088"/>
            <a:chOff x="6248400" y="1524000"/>
            <a:chExt cx="5410200" cy="3748088"/>
          </a:xfrm>
        </p:grpSpPr>
        <p:sp>
          <p:nvSpPr>
            <p:cNvPr id="15" name="Rectangle 15"/>
            <p:cNvSpPr/>
            <p:nvPr/>
          </p:nvSpPr>
          <p:spPr>
            <a:xfrm>
              <a:off x="6248400" y="1524000"/>
              <a:ext cx="5410200" cy="3748088"/>
            </a:xfrm>
            <a:prstGeom prst="roundRect">
              <a:avLst>
                <a:gd name="adj" fmla="val 254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797" y="1675924"/>
              <a:ext cx="695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(17)–(32)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76035" y="1937861"/>
              <a:ext cx="2045462" cy="3263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(17) (&lt;, j, 50, t5)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(18) (THEN, t5, _, _)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(19) (-, k, 1, t9)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(20) (*, t9, 1, t10)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(21) (AADD, t8, t10, t11)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(22) (AADD, t14, t10, t17)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(23) (*, t11, t17, t18)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(24) (+, s, t18, t19)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(25) (:=, t19, _, s)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(26) (ENDIF, _, _, _)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(27) (*, 2, k, t20)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(28) (:=, t20, _, k)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(29) (ENDWHILE, _, _, _)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(30) (+, i, 1, t21)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(31) (:=, t21, _, i)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(32) (ENDWHILE, _, _, _)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19" name="Rectangle 1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59489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5728335"/>
              <a:ext cx="9940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复核：用解释器执行原 38 条和这 32 条四元式，随机数组试 5 组，x、s、i、k、j 结果都相同，并与直接按源程序计算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的 s 一致。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5" name="TextBox 25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7376" cy="3923347"/>
            <a:chOff x="667512" y="1835468"/>
            <a:chExt cx="6437376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运行时存储空间管理与目标代码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活动记录里放什么，怎样访问外层过程的变量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过程活动记录的结构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1828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静态链与 Display 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例：画出调用链的动态链和静态链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目标代码生成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128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330" y="407194"/>
              <a:ext cx="3558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运行时存储空间管理与目标代码生成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栈式管理中的过程活动记录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table-1"/>
          <p:cNvGrpSpPr/>
          <p:nvPr/>
        </p:nvGrpSpPr>
        <p:grpSpPr>
          <a:xfrm>
            <a:off x="533400" y="1524000"/>
            <a:ext cx="5951220" cy="4800600"/>
            <a:chOff x="533400" y="1524000"/>
            <a:chExt cx="5951220" cy="4800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8933" y="1645444"/>
              <a:ext cx="14939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区域（从 top 到 sp）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18852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存放的内容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临时变量区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15540" y="204549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：过程运行中的临时变量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局部变量区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15540" y="24455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过程声明的局部变量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形参区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15540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形式参数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24200"/>
              <a:ext cx="595122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3456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变量访问环境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15540" y="3245644"/>
              <a:ext cx="37096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管理信息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：能访问的所有活动记录的首地址，用于访问非局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部数据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195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384571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活动记录大小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15540" y="3845719"/>
              <a:ext cx="23080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取自符号表的 Size，用来修改 top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1195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124325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42457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寄存器状态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15540" y="424576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调用时各寄存器的值，返回时恢复现场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5196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46458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过程层数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15540" y="464581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过程声明所在的层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9196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924425"/>
              <a:ext cx="595122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0555" y="51458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15540" y="5045869"/>
              <a:ext cx="36954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函数返回值的存放地址，如 (CALL, f, true, t) 中 t 的地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5197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555" y="56459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返回地址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15540" y="564594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返回到调用处的下一条目标代码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9197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592455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5934075"/>
              <a:ext cx="176593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0555" y="60459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动态链指针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415540" y="6045994"/>
              <a:ext cx="21040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调用者活动记录的 sp（老 SP）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524000"/>
              <a:ext cx="5951220" cy="48006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2313622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image-1"/>
          <p:cNvGrpSpPr/>
          <p:nvPr/>
        </p:nvGrpSpPr>
        <p:grpSpPr>
          <a:xfrm>
            <a:off x="6916547" y="1524000"/>
            <a:ext cx="4614926" cy="3245835"/>
            <a:chOff x="6916547" y="1524000"/>
            <a:chExt cx="4614926" cy="3245835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"/>
            <a:srcRect l="0" t="18748" r="0" b="18747"/>
            <a:stretch>
              <a:fillRect/>
            </a:stretch>
          </p:blipFill>
          <p:spPr>
            <a:xfrm>
              <a:off x="7360920" y="1524000"/>
              <a:ext cx="3727132" cy="2795588"/>
            </a:xfrm>
            <a:prstGeom prst="roundRect">
              <a:avLst>
                <a:gd name="adj" fmla="val 4770"/>
              </a:avLst>
            </a:prstGeom>
          </p:spPr>
        </p:pic>
        <p:sp>
          <p:nvSpPr>
            <p:cNvPr id="49" name="TextBox 49"/>
            <p:cNvSpPr txBox="1"/>
            <p:nvPr/>
          </p:nvSpPr>
          <p:spPr>
            <a:xfrm>
              <a:off x="6916547" y="4411504"/>
              <a:ext cx="4614926" cy="358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每层托盘是一个活动记录：红绳连相邻两层，像动态链；蓝绳跨层连到外层，像静态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链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789420" y="4919662"/>
            <a:ext cx="4869180" cy="1443038"/>
            <a:chOff x="6789420" y="4919662"/>
            <a:chExt cx="4869180" cy="1443038"/>
          </a:xfrm>
        </p:grpSpPr>
        <p:sp>
          <p:nvSpPr>
            <p:cNvPr id="51" name="Rectangle 51"/>
            <p:cNvSpPr/>
            <p:nvPr/>
          </p:nvSpPr>
          <p:spPr>
            <a:xfrm>
              <a:off x="6789420" y="4919662"/>
              <a:ext cx="4869180" cy="1443038"/>
            </a:xfrm>
            <a:prstGeom prst="roundRect">
              <a:avLst>
                <a:gd name="adj" fmla="val 9241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76110" y="510635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57580" y="513921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变量的地址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69252" y="5451158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变量、形参的抽象地址是二元组（层数，偏移）。偏移从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活动记录起点量起，知道该层活动记录的起始地址，加上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偏移就是实际地址。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0394" cy="909257"/>
            <a:chOff x="520446" y="342900"/>
            <a:chExt cx="66103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128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330" y="407194"/>
              <a:ext cx="3558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运行时存储空间管理与目标代码生成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03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访问外层变量：静态链与 Display 表的取舍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492240" cy="2223135"/>
            <a:chOff x="533400" y="1524000"/>
            <a:chExt cx="649224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079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4388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30356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时间与空间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3384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过程返回时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15407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02130" y="2054066"/>
              <a:ext cx="2287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每个活动记录存直接外层过程最近一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次活动记录的地址，沿链逐层找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98645" y="2054066"/>
              <a:ext cx="11493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花时间、省空间，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要间接寻址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27395" y="21540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不用恢复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5307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535555"/>
              <a:ext cx="649224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659856"/>
              <a:ext cx="841045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 Display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02130" y="2659856"/>
              <a:ext cx="2287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每个活动记录里存一份各外层活动记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录首地址的表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8645" y="27598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消耗空间，访问快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27395" y="27598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不用恢复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13658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3265646"/>
              <a:ext cx="841045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 Display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02130" y="3265646"/>
              <a:ext cx="2287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全程序只有一张表，调用时改写本层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对应的项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98645" y="336565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花时间、省空间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27395" y="33656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要做恢复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6492240" cy="22231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697355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293870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22620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llout-2"/>
          <p:cNvGrpSpPr/>
          <p:nvPr/>
        </p:nvGrpSpPr>
        <p:grpSpPr>
          <a:xfrm>
            <a:off x="533400" y="3922395"/>
            <a:ext cx="6492240" cy="729615"/>
            <a:chOff x="533400" y="3922395"/>
            <a:chExt cx="6492240" cy="729615"/>
          </a:xfrm>
        </p:grpSpPr>
        <p:sp>
          <p:nvSpPr>
            <p:cNvPr id="32" name="Rectangle 32"/>
            <p:cNvSpPr/>
            <p:nvPr/>
          </p:nvSpPr>
          <p:spPr>
            <a:xfrm>
              <a:off x="533400" y="3922395"/>
              <a:ext cx="649224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4187190"/>
              <a:ext cx="200026" cy="200026"/>
              <a:chOff x="738188" y="4187190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41871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42538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42872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892" y="4068127"/>
              <a:ext cx="532009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静态链的本质可以看作共享的局部 Display 表：各活动记录不各存一整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张，而是沿链去外层活动记录里取。</a:t>
              </a:r>
            </a:p>
          </p:txBody>
        </p:sp>
      </p:grpSp>
      <p:grpSp>
        <p:nvGrpSpPr>
          <p:cNvPr id="54" name="c1-cells-3"/>
          <p:cNvGrpSpPr/>
          <p:nvPr/>
        </p:nvGrpSpPr>
        <p:grpSpPr>
          <a:xfrm>
            <a:off x="528066" y="4826318"/>
            <a:ext cx="6513165" cy="873918"/>
            <a:chOff x="528066" y="4826318"/>
            <a:chExt cx="6513165" cy="873918"/>
          </a:xfrm>
        </p:grpSpPr>
        <p:sp>
          <p:nvSpPr>
            <p:cNvPr id="39" name="TextBox 39"/>
            <p:cNvSpPr txBox="1"/>
            <p:nvPr/>
          </p:nvSpPr>
          <p:spPr>
            <a:xfrm>
              <a:off x="528066" y="4952048"/>
              <a:ext cx="1005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Display[0..3]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598295" y="4826318"/>
              <a:ext cx="13573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941606" y="4952048"/>
              <a:ext cx="669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AR₀（M）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954655" y="4826318"/>
              <a:ext cx="13573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297966" y="4952048"/>
              <a:ext cx="669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AR₁（Q）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311968" y="4826318"/>
              <a:ext cx="13573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670961" y="4952048"/>
              <a:ext cx="6383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AR₂（S）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668328" y="4826318"/>
              <a:ext cx="1357312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28273" y="4952048"/>
              <a:ext cx="6383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AR₅（R）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41356" y="52620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97716" y="52620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955028" y="52620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12341" y="52620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6309360" y="54082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53689" y="5538311"/>
              <a:ext cx="13875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当前 3 层过程 R 的活动记录</a:t>
              </a:r>
            </a:p>
          </p:txBody>
        </p:sp>
      </p:grpSp>
      <p:grpSp>
        <p:nvGrpSpPr>
          <p:cNvPr id="56" name="c1-text-4"/>
          <p:cNvGrpSpPr/>
          <p:nvPr/>
        </p:nvGrpSpPr>
        <p:grpSpPr>
          <a:xfrm>
            <a:off x="527685" y="5867876"/>
            <a:ext cx="6246988" cy="220028"/>
            <a:chOff x="527685" y="5867876"/>
            <a:chExt cx="6246988" cy="220028"/>
          </a:xfrm>
        </p:grpSpPr>
        <p:sp>
          <p:nvSpPr>
            <p:cNvPr id="55" name="TextBox 55"/>
            <p:cNvSpPr txBox="1"/>
            <p:nvPr/>
          </p:nvSpPr>
          <p:spPr>
            <a:xfrm>
              <a:off x="527685" y="5867876"/>
              <a:ext cx="62469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下一页调用链中栈顶为 AR₅ 时的 Display：第 k 项是第 k 层过程最近一次活动记录的首地址。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7330440" y="1524000"/>
            <a:ext cx="4328160" cy="1466850"/>
            <a:chOff x="7330440" y="1524000"/>
            <a:chExt cx="4328160" cy="1466850"/>
          </a:xfrm>
        </p:grpSpPr>
        <p:sp>
          <p:nvSpPr>
            <p:cNvPr id="57" name="Rectangle 57"/>
            <p:cNvSpPr/>
            <p:nvPr/>
          </p:nvSpPr>
          <p:spPr>
            <a:xfrm>
              <a:off x="7330440" y="1524000"/>
              <a:ext cx="4328160" cy="1466850"/>
            </a:xfrm>
            <a:prstGeom prst="roundRect">
              <a:avLst>
                <a:gd name="adj" fmla="val 9091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522845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602284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具体用哪种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15987" y="2072640"/>
              <a:ext cx="37856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取决于机器条件：寄存器较少时，用 Display 表方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法可能合适些；机器能提供较好的间接操作时，可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以选静态链方法。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7330440" y="3166110"/>
            <a:ext cx="4328160" cy="2878455"/>
            <a:chOff x="7330440" y="3166110"/>
            <a:chExt cx="4328160" cy="2878455"/>
          </a:xfrm>
        </p:grpSpPr>
        <p:sp>
          <p:nvSpPr>
            <p:cNvPr id="62" name="Rectangle 62"/>
            <p:cNvSpPr/>
            <p:nvPr/>
          </p:nvSpPr>
          <p:spPr>
            <a:xfrm>
              <a:off x="7330440" y="3166110"/>
              <a:ext cx="4328160" cy="2878455"/>
            </a:xfrm>
            <a:prstGeom prst="roundRect">
              <a:avLst>
                <a:gd name="adj" fmla="val 46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339965" y="3299460"/>
              <a:ext cx="47625" cy="261175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560945" y="335851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636383" y="339280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层数与静态链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54087" y="3714750"/>
              <a:ext cx="370846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L 层过程访问第 k 层（k &lt; L）的变量时，沿静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态链走 L − k 步，就到了第 k 层的活动记录。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569517" y="433101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725537" y="4274820"/>
              <a:ext cx="32626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例：下一页栈顶 AR₅（R，3 层）访问 Q（1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层）的变量，走 3 − 1 = 2 步：AR₅ → AR₂ →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AR₁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569517" y="514731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725537" y="5091112"/>
              <a:ext cx="34512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Display 表则直接取 Display[1] = AR₁，一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步到位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63740" cy="909257"/>
            <a:chOff x="520446" y="342900"/>
            <a:chExt cx="81637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128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330" y="407194"/>
              <a:ext cx="3558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运行时存储空间管理与目标代码生成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637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例：调用链 (M, Q, S, R, R, R) 的动态链与静态链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648956" cy="293370"/>
            <a:chOff x="525780" y="1548765"/>
            <a:chExt cx="764895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648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Level(M)=0，Level(Q)=1，Level(S)=2，Level(R)=3，变量访问环境采用静态链。</a:t>
              </a:r>
            </a:p>
          </p:txBody>
        </p:sp>
      </p:grpSp>
      <p:grpSp>
        <p:nvGrpSpPr>
          <p:cNvPr id="48" name="c1-graph-1"/>
          <p:cNvGrpSpPr/>
          <p:nvPr/>
        </p:nvGrpSpPr>
        <p:grpSpPr>
          <a:xfrm>
            <a:off x="739140" y="1985010"/>
            <a:ext cx="10768966" cy="2028825"/>
            <a:chOff x="739140" y="1985010"/>
            <a:chExt cx="10768966" cy="2028825"/>
          </a:xfrm>
        </p:grpSpPr>
        <p:sp>
          <p:nvSpPr>
            <p:cNvPr id="9" name="Freeform 9"/>
            <p:cNvSpPr/>
            <p:nvPr/>
          </p:nvSpPr>
          <p:spPr>
            <a:xfrm>
              <a:off x="1980248" y="2805112"/>
              <a:ext cx="705802" cy="9525"/>
            </a:xfrm>
            <a:custGeom>
              <a:avLst/>
              <a:gdLst/>
              <a:ahLst/>
              <a:cxnLst/>
              <a:rect l="l" t="t" r="r" b="b"/>
              <a:pathLst>
                <a:path w="705802" h="9525">
                  <a:moveTo>
                    <a:pt x="70580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84998" y="27574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927158" y="2805112"/>
              <a:ext cx="705802" cy="9525"/>
            </a:xfrm>
            <a:custGeom>
              <a:avLst/>
              <a:gdLst/>
              <a:ahLst/>
              <a:cxnLst/>
              <a:rect l="l" t="t" r="r" b="b"/>
              <a:pathLst>
                <a:path w="705802" h="9525">
                  <a:moveTo>
                    <a:pt x="70580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31908" y="27574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874068" y="2805112"/>
              <a:ext cx="705802" cy="9525"/>
            </a:xfrm>
            <a:custGeom>
              <a:avLst/>
              <a:gdLst/>
              <a:ahLst/>
              <a:cxnLst/>
              <a:rect l="l" t="t" r="r" b="b"/>
              <a:pathLst>
                <a:path w="705802" h="9525">
                  <a:moveTo>
                    <a:pt x="70580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778818" y="27574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820978" y="2805112"/>
              <a:ext cx="705803" cy="9525"/>
            </a:xfrm>
            <a:custGeom>
              <a:avLst/>
              <a:gdLst/>
              <a:ahLst/>
              <a:cxnLst/>
              <a:rect l="l" t="t" r="r" b="b"/>
              <a:pathLst>
                <a:path w="705803" h="9525">
                  <a:moveTo>
                    <a:pt x="705803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725728" y="27574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767888" y="2805112"/>
              <a:ext cx="594360" cy="9525"/>
            </a:xfrm>
            <a:custGeom>
              <a:avLst/>
              <a:gdLst/>
              <a:ahLst/>
              <a:cxnLst/>
              <a:rect l="l" t="t" r="r" b="b"/>
              <a:pathLst>
                <a:path w="594360" h="9525">
                  <a:moveTo>
                    <a:pt x="59436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672638" y="27574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379220" y="3118485"/>
              <a:ext cx="2046922" cy="358140"/>
            </a:xfrm>
            <a:custGeom>
              <a:avLst/>
              <a:gdLst/>
              <a:ahLst/>
              <a:cxnLst/>
              <a:rect l="l" t="t" r="r" b="b"/>
              <a:pathLst>
                <a:path w="2046922" h="358140">
                  <a:moveTo>
                    <a:pt x="1957388" y="0"/>
                  </a:moveTo>
                  <a:lnTo>
                    <a:pt x="2046922" y="358140"/>
                  </a:lnTo>
                  <a:lnTo>
                    <a:pt x="43815" y="358140"/>
                  </a:lnTo>
                  <a:lnTo>
                    <a:pt x="0" y="94298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1332548" y="3118485"/>
              <a:ext cx="94298" cy="101918"/>
            </a:xfrm>
            <a:custGeom>
              <a:avLst/>
              <a:gdLst/>
              <a:ahLst/>
              <a:cxnLst/>
              <a:rect l="l" t="t" r="r" b="b"/>
              <a:pathLst>
                <a:path w="94298" h="101918">
                  <a:moveTo>
                    <a:pt x="31432" y="0"/>
                  </a:moveTo>
                  <a:lnTo>
                    <a:pt x="94298" y="85725"/>
                  </a:lnTo>
                  <a:lnTo>
                    <a:pt x="0" y="101918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359468" y="3118485"/>
              <a:ext cx="2013585" cy="358140"/>
            </a:xfrm>
            <a:custGeom>
              <a:avLst/>
              <a:gdLst/>
              <a:ahLst/>
              <a:cxnLst/>
              <a:rect l="l" t="t" r="r" b="b"/>
              <a:pathLst>
                <a:path w="2013585" h="358140">
                  <a:moveTo>
                    <a:pt x="1924050" y="0"/>
                  </a:moveTo>
                  <a:lnTo>
                    <a:pt x="2013585" y="358140"/>
                  </a:lnTo>
                  <a:lnTo>
                    <a:pt x="66675" y="358140"/>
                  </a:lnTo>
                  <a:lnTo>
                    <a:pt x="0" y="92393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3313748" y="3118485"/>
              <a:ext cx="92393" cy="103823"/>
            </a:xfrm>
            <a:custGeom>
              <a:avLst/>
              <a:gdLst/>
              <a:ahLst/>
              <a:cxnLst/>
              <a:rect l="l" t="t" r="r" b="b"/>
              <a:pathLst>
                <a:path w="92393" h="103823">
                  <a:moveTo>
                    <a:pt x="22860" y="0"/>
                  </a:moveTo>
                  <a:lnTo>
                    <a:pt x="92393" y="80962"/>
                  </a:lnTo>
                  <a:lnTo>
                    <a:pt x="0" y="103823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339715" y="3118485"/>
              <a:ext cx="1868805" cy="358140"/>
            </a:xfrm>
            <a:custGeom>
              <a:avLst/>
              <a:gdLst/>
              <a:ahLst/>
              <a:cxnLst/>
              <a:rect l="l" t="t" r="r" b="b"/>
              <a:pathLst>
                <a:path w="1868805" h="358140">
                  <a:moveTo>
                    <a:pt x="1839278" y="0"/>
                  </a:moveTo>
                  <a:lnTo>
                    <a:pt x="1868805" y="358140"/>
                  </a:lnTo>
                  <a:lnTo>
                    <a:pt x="88582" y="358140"/>
                  </a:lnTo>
                  <a:lnTo>
                    <a:pt x="0" y="90488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5294948" y="3118485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15240" y="0"/>
                  </a:moveTo>
                  <a:lnTo>
                    <a:pt x="90488" y="75248"/>
                  </a:lnTo>
                  <a:lnTo>
                    <a:pt x="0" y="105728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206365" y="3118485"/>
              <a:ext cx="3893820" cy="626745"/>
            </a:xfrm>
            <a:custGeom>
              <a:avLst/>
              <a:gdLst/>
              <a:ahLst/>
              <a:cxnLst/>
              <a:rect l="l" t="t" r="r" b="b"/>
              <a:pathLst>
                <a:path w="3893820" h="626745">
                  <a:moveTo>
                    <a:pt x="3893820" y="0"/>
                  </a:moveTo>
                  <a:lnTo>
                    <a:pt x="3893820" y="626745"/>
                  </a:lnTo>
                  <a:lnTo>
                    <a:pt x="0" y="626745"/>
                  </a:lnTo>
                  <a:lnTo>
                    <a:pt x="0" y="9525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6" name="Freeform 26"/>
            <p:cNvSpPr/>
            <p:nvPr/>
          </p:nvSpPr>
          <p:spPr>
            <a:xfrm>
              <a:off x="5158740" y="31184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983480" y="3118485"/>
              <a:ext cx="5952172" cy="895350"/>
            </a:xfrm>
            <a:custGeom>
              <a:avLst/>
              <a:gdLst/>
              <a:ahLst/>
              <a:cxnLst/>
              <a:rect l="l" t="t" r="r" b="b"/>
              <a:pathLst>
                <a:path w="5952172" h="895350">
                  <a:moveTo>
                    <a:pt x="5952172" y="0"/>
                  </a:moveTo>
                  <a:lnTo>
                    <a:pt x="5952172" y="895350"/>
                  </a:lnTo>
                  <a:lnTo>
                    <a:pt x="0" y="895350"/>
                  </a:lnTo>
                  <a:lnTo>
                    <a:pt x="147638" y="9334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5084445" y="3118485"/>
              <a:ext cx="93345" cy="101918"/>
            </a:xfrm>
            <a:custGeom>
              <a:avLst/>
              <a:gdLst/>
              <a:ahLst/>
              <a:cxnLst/>
              <a:rect l="l" t="t" r="r" b="b"/>
              <a:pathLst>
                <a:path w="93345" h="101918">
                  <a:moveTo>
                    <a:pt x="63818" y="0"/>
                  </a:moveTo>
                  <a:lnTo>
                    <a:pt x="93345" y="101918"/>
                  </a:lnTo>
                  <a:lnTo>
                    <a:pt x="0" y="84773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9140" y="2491740"/>
              <a:ext cx="1145858" cy="626745"/>
            </a:xfrm>
            <a:prstGeom prst="roundRect">
              <a:avLst>
                <a:gd name="adj" fmla="val 15198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686050" y="2491740"/>
              <a:ext cx="1145858" cy="626745"/>
            </a:xfrm>
            <a:prstGeom prst="roundRect">
              <a:avLst>
                <a:gd name="adj" fmla="val 15198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32960" y="2491740"/>
              <a:ext cx="1145858" cy="626745"/>
            </a:xfrm>
            <a:prstGeom prst="roundRect">
              <a:avLst>
                <a:gd name="adj" fmla="val 1519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579870" y="2491740"/>
              <a:ext cx="1145858" cy="626745"/>
            </a:xfrm>
            <a:prstGeom prst="roundRect">
              <a:avLst>
                <a:gd name="adj" fmla="val 15198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526780" y="2491740"/>
              <a:ext cx="1145858" cy="626745"/>
            </a:xfrm>
            <a:prstGeom prst="roundRect">
              <a:avLst>
                <a:gd name="adj" fmla="val 15198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362248" y="2491740"/>
              <a:ext cx="1145858" cy="626745"/>
            </a:xfrm>
            <a:prstGeom prst="roundRect">
              <a:avLst>
                <a:gd name="adj" fmla="val 15198"/>
              </a:avLst>
            </a:prstGeom>
            <a:solidFill>
              <a:srgbClr val="A1343C"/>
            </a:solidFill>
            <a:ln w="17145">
              <a:solidFill>
                <a:srgbClr val="A1343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77835" y="2656523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3299" y="2823210"/>
              <a:ext cx="678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M（0 层）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24745" y="2656523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20209" y="2823210"/>
              <a:ext cx="678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Q（1 层）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71655" y="2656523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82801" y="2823210"/>
              <a:ext cx="647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S（2 层）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18565" y="2656523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29711" y="2823210"/>
              <a:ext cx="647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R（3 层）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65475" y="2656523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76621" y="2823210"/>
              <a:ext cx="647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R（3 层）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00942" y="2656523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12089" y="2823210"/>
              <a:ext cx="647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R（3 层）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12819" y="1985010"/>
              <a:ext cx="3966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实线：动态链　虚线：静态链　右端 AR₅ 为栈顶（sp）</a:t>
              </a:r>
            </a:p>
          </p:txBody>
        </p:sp>
      </p:grpSp>
      <p:grpSp>
        <p:nvGrpSpPr>
          <p:cNvPr id="80" name="c1-table-2"/>
          <p:cNvGrpSpPr/>
          <p:nvPr/>
        </p:nvGrpSpPr>
        <p:grpSpPr>
          <a:xfrm>
            <a:off x="533400" y="4372928"/>
            <a:ext cx="11125200" cy="1273492"/>
            <a:chOff x="533400" y="4372928"/>
            <a:chExt cx="11125200" cy="1273492"/>
          </a:xfrm>
        </p:grpSpPr>
        <p:sp>
          <p:nvSpPr>
            <p:cNvPr id="49" name="Rectangle 49"/>
            <p:cNvSpPr/>
            <p:nvPr/>
          </p:nvSpPr>
          <p:spPr>
            <a:xfrm>
              <a:off x="533400" y="4372928"/>
              <a:ext cx="11125200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933004" y="450151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活动记录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92534" y="4501515"/>
              <a:ext cx="496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AR₀ 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691744" y="4501515"/>
              <a:ext cx="496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AR₁ Q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93636" y="4501515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AR₂ 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60461" y="4501515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AR₃ 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27286" y="4501515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AR₄ 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795064" y="4501515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AR₅ 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448372" y="492633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动态链指向（调用者）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541596" y="4926330"/>
              <a:ext cx="197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nil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792876" y="492633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AR₀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76846" y="492633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43671" y="492633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610496" y="492633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878274" y="492633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AR₄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52168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3400" y="522160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82968" y="5350192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静态链指向（直接外层最近一次活动）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541596" y="5350192"/>
              <a:ext cx="197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nil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792876" y="5350192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AR₀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76846" y="5350192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AR₁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343671" y="5350192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603456" y="535019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AR₂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871233" y="535019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AR₂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33400" y="4372928"/>
              <a:ext cx="11125200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3986212" y="437292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285422" y="437292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584632" y="437292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852410" y="437292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9119235" y="437292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10387012" y="437292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81" name="Rectangle 8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511" y="6011704"/>
              <a:ext cx="9366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R 递归调用自己时，动态链指向前一个 R；R 的直接外层仍是 2 层的 S，所以 AR₄、AR₅ 的静态链都指向 AR₂。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128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330" y="407194"/>
              <a:ext cx="3558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 · 运行时存储空间管理与目标代码生成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目标代码生成：把四元式映射成目标程序，保证语义等价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365885"/>
            <a:chOff x="533400" y="1524000"/>
            <a:chExt cx="5410200" cy="1365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35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第八章要点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48665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2110740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本质：四元式 → 目标程序的映射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48665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244602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关键：映射必须保证语义等价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080385"/>
            <a:ext cx="5410200" cy="3072765"/>
            <a:chOff x="533400" y="3080385"/>
            <a:chExt cx="5410200" cy="3072765"/>
          </a:xfrm>
        </p:grpSpPr>
        <p:sp>
          <p:nvSpPr>
            <p:cNvPr id="15" name="Rectangle 15"/>
            <p:cNvSpPr/>
            <p:nvPr/>
          </p:nvSpPr>
          <p:spPr>
            <a:xfrm>
              <a:off x="533400" y="3080385"/>
              <a:ext cx="5410200" cy="3072765"/>
            </a:xfrm>
            <a:prstGeom prst="roundRect">
              <a:avLst>
                <a:gd name="adj" fmla="val 43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213735"/>
              <a:ext cx="47625" cy="28060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28993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1705" y="332565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为什么还要中间代码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3667125"/>
              <a:ext cx="4587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语义分析之后其实可以直接生成目标代码。先生成四元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式、再优化，是为了在与机器无关的层面多做优化，也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让编译前端能多做一些工作；最后一步才把四元式翻译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成具体机器的指令。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2451735"/>
            <a:chOff x="6248400" y="1524000"/>
            <a:chExt cx="5410200" cy="2451735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2451735"/>
            </a:xfrm>
            <a:prstGeom prst="roundRect">
              <a:avLst>
                <a:gd name="adj" fmla="val 5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1657350"/>
              <a:ext cx="47625" cy="21850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示意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97078" y="1768792"/>
              <a:ext cx="2849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 中 j := j + 1 的两条四元式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96050" y="2105025"/>
              <a:ext cx="4953000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24447" y="22569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23685" y="2518886"/>
              <a:ext cx="2201926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(+, j, 1, t13)    LD   R1, j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ADD  R1,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(:=, t13, _, j)   ST   R1, j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89573" y="3332321"/>
              <a:ext cx="46215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右边是假想机器的指令，只为说明映射关系：t13 放在寄存器 R1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里，不必存回内存。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248400" y="4166235"/>
            <a:ext cx="5410200" cy="1986915"/>
            <a:chOff x="6248400" y="4166235"/>
            <a:chExt cx="5410200" cy="1986915"/>
          </a:xfrm>
        </p:grpSpPr>
        <p:sp>
          <p:nvSpPr>
            <p:cNvPr id="31" name="Rectangle 31"/>
            <p:cNvSpPr/>
            <p:nvPr/>
          </p:nvSpPr>
          <p:spPr>
            <a:xfrm>
              <a:off x="6248400" y="4166235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4299585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437578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0655" y="441150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映射时要决定的事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01765" y="481584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59880" y="47529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指令选择：每种四元式对应哪几条目标指令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501765" y="515112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9880" y="508825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寄存器分配：哪些值留在寄存器里，何时存回内存；存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回时放在活动记录的临时变量区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1765" y="577215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880" y="570928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地址计算：变量按（层数，偏移）换成实际地址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自测题：词法与语法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20243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{aⁿcaⁿ | n ≥ 0} 不能用正则表达式描述？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a*ca* 与它相同吗？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识别它要记住左边 a 的个数，个数无上限，有限自动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机记不住。a*ca* 两边个数互不约束，不相同。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5410200" cy="1937385"/>
            <a:chOff x="533400" y="365188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429910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文法 E → T | E+T，T → F | T*F，F → (E) | i 的句型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T+T*F，句柄是什么？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语法树为 E → E+T，左 E → T，右 T → T*F。简单短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语是 T 和 T*F，最左的 T 是句柄。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72535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正则式 → NFA 时，A* 的构造为什么要新增一个状态并用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 ε 弧连进连出？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否则自环会挂在原弧的起点或终点上，别的弧进出这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个状态后也能绕圈，多接受串（如 a*|b 会接受 ba）。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1937385"/>
            <a:chOff x="6248400" y="365188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3326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 S → Sa | Sb | c 的直接左递归。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573905"/>
              <a:ext cx="31653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→ cS′，S′ → aS′ | bS′ | ε。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自测题：分析表、优化与运行时存储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51635"/>
            <a:chOff x="533400" y="1524000"/>
            <a:chExt cx="5410200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5105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本讲义的 LL(1) 分析表中 M[T′, +] 填什么？为什么？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4549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 T′ → ε。T′ → ε 的 Predict 集是 FOLLOW(T′)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{+, ), #}，含 +。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66135"/>
            <a:ext cx="5410200" cy="1937385"/>
            <a:chOff x="533400" y="336613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3661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5756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6114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3952875"/>
              <a:ext cx="464867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调用链 (M, P, Q, Q)，Level(M)=0，Level(P)=1，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Level(Q)=2，第二个 Q 的静态链和动态链各指向谁？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573905"/>
              <a:ext cx="4787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静态链指向 P 的活动记录（Q 的直接外层是 P）；动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态链指向第一个 Q 的活动记录。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41864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 第 13 条 (*, 2, k, t4) 与第 33 条 (*, 2, k,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t20) 形式相同，为什么不按公共表达式合并？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720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两条在不同的基本块里（DO 之后的块和 ENDIF 开始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的块），公共表达式节省只在一个块内做。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1651635"/>
            <a:chOff x="6248400" y="3651885"/>
            <a:chExt cx="5410200" cy="165163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36865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 Display 表和静态链各有什么代价？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573905"/>
              <a:ext cx="4768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 Display 表省空间但过程返回时要恢复；静态链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省空间、不用恢复，但要沿链间接寻址，花时间。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6490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4545" y="407194"/>
              <a:ext cx="963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编译原理 复习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6276022" cy="4038600"/>
            <a:chOff x="533400" y="1524000"/>
            <a:chExt cx="6276022" cy="4038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26058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83774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889" y="2183130"/>
              <a:ext cx="1364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正则式 → 最简 DFA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18982" y="2076450"/>
              <a:ext cx="39898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按连接、或、闭包拆弧；子集法确定化；按“到达哪一组”划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812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86038"/>
              <a:ext cx="6276022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889" y="282130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句型的短语与句柄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18982" y="2714625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画语法树；子树叶子串是短语，一层子树是简单短语，最左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的是句柄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194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889" y="3459480"/>
              <a:ext cx="881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LL(1) 分析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18982" y="3352800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消左递归、提公共前缀；FIRST、FOLLOW、Predict；填表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后逐步分析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8566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861435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399002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18982" y="3990022"/>
              <a:ext cx="3541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层数、偏移按规则累加；# 转跳项跳过已结束的区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814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889" y="45215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三种优化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18982" y="4414838"/>
              <a:ext cx="39974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先分基本块；常量表、值编码只在块内；外提看 Loopdef，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除法不外提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9196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924425"/>
              <a:ext cx="6276022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889" y="515874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动态链与静态链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18982" y="5052060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动态链指调用者；静态链指直接外层过程最近一次的活动记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录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6276022" cy="40376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411730" y="1524000"/>
              <a:ext cx="9525" cy="40376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2111692"/>
            <a:chOff x="7114222" y="1524000"/>
            <a:chExt cx="4544378" cy="2111692"/>
          </a:xfrm>
        </p:grpSpPr>
        <p:sp>
          <p:nvSpPr>
            <p:cNvPr id="33" name="Rectangle 33"/>
            <p:cNvSpPr/>
            <p:nvPr/>
          </p:nvSpPr>
          <p:spPr>
            <a:xfrm>
              <a:off x="7114222" y="1524000"/>
              <a:ext cx="4544378" cy="2111692"/>
            </a:xfrm>
            <a:prstGeom prst="roundRect">
              <a:avLst>
                <a:gd name="adj" fmla="val 6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23748" y="1657350"/>
              <a:ext cx="47625" cy="18449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350442" y="172212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09879" y="17564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58062" y="214312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14654" y="2082641"/>
              <a:ext cx="363931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语法树例子的推导原标“左线性推导”，改为说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明每步替换最左一个待展开的非终极符（原第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页）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58062" y="300323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14654" y="2943701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符号表例子中可共享内存的是区域 3 与 5，原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4 和 5（原第 29 页）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7114222" y="3815715"/>
            <a:ext cx="4544378" cy="1840230"/>
            <a:chOff x="7114222" y="3815715"/>
            <a:chExt cx="4544378" cy="1840230"/>
          </a:xfrm>
        </p:grpSpPr>
        <p:sp>
          <p:nvSpPr>
            <p:cNvPr id="42" name="Rectangle 42"/>
            <p:cNvSpPr/>
            <p:nvPr/>
          </p:nvSpPr>
          <p:spPr>
            <a:xfrm>
              <a:off x="7114222" y="3815715"/>
              <a:ext cx="4544378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23748" y="3949065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50442" y="401383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17880" y="404812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本讲义补充的内容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358062" y="443484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14654" y="4374356"/>
              <a:ext cx="36483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闭包两条 ε 弧的反例、例题的确定化与极小化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全过程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358062" y="502348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14654" y="4963954"/>
              <a:ext cx="37204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二义性例子、FIRST/FOLLOW/LL(1) 表与分析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过程、递归下降代码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1" name="Rectangle 5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511" y="6011704"/>
              <a:ext cx="7660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每类题都写出中间表格：子集表、划分过程、分析栈、常量表和定值表，阅卷按步骤给分。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编译原理 · 编译原理 期末复习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mpiler_review">
  <a:themeElements>
    <a:clrScheme name="compiler_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mpiler_review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iler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2026-09-23T07:50:30Z</dcterms:created>
  <dcterms:modified xsi:type="dcterms:W3CDTF">2026-09-23T07:50:30Z</dcterms:modified>
  <cp:category/>
  <cp:contentStatus/>
</cp:coreProperties>
</file>