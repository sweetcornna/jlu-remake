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tore_p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tore_p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67c7aff780375b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156c9d53a014a89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9df056ea5fa2cc3.png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9365" t="0" r="936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95928" cy="3437763"/>
            <a:chOff x="666750" y="1619250"/>
            <a:chExt cx="399592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345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6607" y="1718310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分布式存储 · 第3部分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分布式存储技术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从单机存储引擎到分布式一致性协议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三种单机存储引擎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数据模型与事务并发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数据分布、容错与扩展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64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两阶段提交与 Paxos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50144" cy="205359"/>
            <a:chOff x="680466" y="6192202"/>
            <a:chExt cx="435014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50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自学复习版｜据吉林大学《分布式存储》第3部分课件整理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696110"/>
            <a:chOff x="521970" y="1515428"/>
            <a:chExt cx="6287453" cy="469611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单机存储引擎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4505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哈希引擎 Bitcask、B 树引擎 InnoDB、LSM 树引擎 LevelDB 的读写路径与取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43676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文件、对象、关系、键值四种外壳，SQL 查询的求值顺序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18801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2937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32994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事务与并发控制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646646"/>
              <a:ext cx="49950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ACID、四种隔离级别与五种读写异常、读写锁、写时复制与 MVCC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96049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06527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10146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41912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哈希分布与一致性哈希、顺序分布与子表、负载均衡与迁移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73202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83774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87394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容错与可扩展性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190649"/>
              <a:ext cx="55217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UNDO/REDO 日志与检查点、心跳与租约、服务迁移、元数据分层与扩容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50449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60927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645467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分布式协议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962174"/>
              <a:ext cx="57138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两阶段提交保证分布式事务的原子性，Paxos 让多个节点对一个值达成一致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637722"/>
            <a:chOff x="7114222" y="1524000"/>
            <a:chExt cx="4544378" cy="4637722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637722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37102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Bitcask、B+ 树、LSM 树的写入和读取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路径，说出各自的读写代价与适用场景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写出四种隔离级别各允许哪些读写异常，用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MVCC 规则判断某一行对某个事务是否可见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在一致性哈希环上列出每个数据的存储节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点，算出增删节点时要迁移哪些数据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REDO 日志加检查点描述恢复过程，估算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集群规模变大后的故障概率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走一遍两阶段提交和 Paxos 的两个阶段，说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 Proposer 在 Accept 阶段该提议哪个值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本部分地图：先看一台机器怎么存，再看多台机器怎么协作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ree-1"/>
          <p:cNvGrpSpPr/>
          <p:nvPr/>
        </p:nvGrpSpPr>
        <p:grpSpPr>
          <a:xfrm>
            <a:off x="533400" y="1562100"/>
            <a:ext cx="5410200" cy="2973705"/>
            <a:chOff x="533400" y="1562100"/>
            <a:chExt cx="5410200" cy="2973705"/>
          </a:xfrm>
        </p:grpSpPr>
        <p:sp>
          <p:nvSpPr>
            <p:cNvPr id="7" name="Freeform 7"/>
            <p:cNvSpPr/>
            <p:nvPr/>
          </p:nvSpPr>
          <p:spPr>
            <a:xfrm>
              <a:off x="3812858" y="1742122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217170"/>
                  </a:moveTo>
                  <a:lnTo>
                    <a:pt x="209550" y="2171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12858" y="1959292"/>
              <a:ext cx="419100" cy="218123"/>
            </a:xfrm>
            <a:custGeom>
              <a:avLst/>
              <a:gdLst/>
              <a:ahLst/>
              <a:cxnLst/>
              <a:rect l="l" t="t" r="r" b="b"/>
              <a:pathLst>
                <a:path w="419100" h="218123">
                  <a:moveTo>
                    <a:pt x="0" y="0"/>
                  </a:moveTo>
                  <a:lnTo>
                    <a:pt x="209550" y="0"/>
                  </a:lnTo>
                  <a:lnTo>
                    <a:pt x="209550" y="218123"/>
                  </a:lnTo>
                  <a:lnTo>
                    <a:pt x="419100" y="21812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812858" y="2612708"/>
              <a:ext cx="419100" cy="871538"/>
            </a:xfrm>
            <a:custGeom>
              <a:avLst/>
              <a:gdLst/>
              <a:ahLst/>
              <a:cxnLst/>
              <a:rect l="l" t="t" r="r" b="b"/>
              <a:pathLst>
                <a:path w="419100" h="871538">
                  <a:moveTo>
                    <a:pt x="0" y="871538"/>
                  </a:moveTo>
                  <a:lnTo>
                    <a:pt x="209550" y="8715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12858" y="3048000"/>
              <a:ext cx="419100" cy="436245"/>
            </a:xfrm>
            <a:custGeom>
              <a:avLst/>
              <a:gdLst/>
              <a:ahLst/>
              <a:cxnLst/>
              <a:rect l="l" t="t" r="r" b="b"/>
              <a:pathLst>
                <a:path w="419100" h="436245">
                  <a:moveTo>
                    <a:pt x="0" y="436245"/>
                  </a:moveTo>
                  <a:lnTo>
                    <a:pt x="209550" y="43624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812858" y="348424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12858" y="3484245"/>
              <a:ext cx="419100" cy="435292"/>
            </a:xfrm>
            <a:custGeom>
              <a:avLst/>
              <a:gdLst/>
              <a:ahLst/>
              <a:cxnLst/>
              <a:rect l="l" t="t" r="r" b="b"/>
              <a:pathLst>
                <a:path w="419100" h="435292">
                  <a:moveTo>
                    <a:pt x="0" y="0"/>
                  </a:moveTo>
                  <a:lnTo>
                    <a:pt x="209550" y="0"/>
                  </a:lnTo>
                  <a:lnTo>
                    <a:pt x="209550" y="435292"/>
                  </a:lnTo>
                  <a:lnTo>
                    <a:pt x="419100" y="43529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812858" y="3484245"/>
              <a:ext cx="419100" cy="870585"/>
            </a:xfrm>
            <a:custGeom>
              <a:avLst/>
              <a:gdLst/>
              <a:ahLst/>
              <a:cxnLst/>
              <a:rect l="l" t="t" r="r" b="b"/>
              <a:pathLst>
                <a:path w="419100" h="870585">
                  <a:moveTo>
                    <a:pt x="0" y="0"/>
                  </a:moveTo>
                  <a:lnTo>
                    <a:pt x="209550" y="0"/>
                  </a:lnTo>
                  <a:lnTo>
                    <a:pt x="209550" y="870585"/>
                  </a:lnTo>
                  <a:lnTo>
                    <a:pt x="419100" y="8705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15502" y="1959292"/>
              <a:ext cx="419100" cy="762953"/>
            </a:xfrm>
            <a:custGeom>
              <a:avLst/>
              <a:gdLst/>
              <a:ahLst/>
              <a:cxnLst/>
              <a:rect l="l" t="t" r="r" b="b"/>
              <a:pathLst>
                <a:path w="419100" h="762953">
                  <a:moveTo>
                    <a:pt x="0" y="762953"/>
                  </a:moveTo>
                  <a:lnTo>
                    <a:pt x="209550" y="76295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115502" y="2722245"/>
              <a:ext cx="419100" cy="762000"/>
            </a:xfrm>
            <a:custGeom>
              <a:avLst/>
              <a:gdLst/>
              <a:ahLst/>
              <a:cxnLst/>
              <a:rect l="l" t="t" r="r" b="b"/>
              <a:pathLst>
                <a:path w="419100" h="762000">
                  <a:moveTo>
                    <a:pt x="0" y="0"/>
                  </a:moveTo>
                  <a:lnTo>
                    <a:pt x="209550" y="0"/>
                  </a:lnTo>
                  <a:lnTo>
                    <a:pt x="209550" y="762000"/>
                  </a:lnTo>
                  <a:lnTo>
                    <a:pt x="419100" y="7620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231958" y="1562100"/>
              <a:ext cx="171164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31958" y="1997392"/>
              <a:ext cx="171164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534602" y="1779270"/>
              <a:ext cx="1277302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31958" y="2432685"/>
              <a:ext cx="171164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31958" y="2868930"/>
              <a:ext cx="171164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31958" y="3304222"/>
              <a:ext cx="171164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31958" y="3739515"/>
              <a:ext cx="171164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231958" y="4175760"/>
              <a:ext cx="171164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534602" y="3304222"/>
              <a:ext cx="1277302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2542222"/>
              <a:ext cx="1582102" cy="360045"/>
            </a:xfrm>
            <a:prstGeom prst="roundRect">
              <a:avLst>
                <a:gd name="adj" fmla="val 2645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21112" y="1658302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存储引擎（3 种）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21112" y="20935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23757" y="18754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一台机器内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21112" y="25288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事务与并发控制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21112" y="29641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21112" y="340042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故障恢复和容错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21112" y="38357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21112" y="4271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分布式协议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23757" y="340042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多台机器间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554" y="263842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分布式存储技术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4758690"/>
            <a:ext cx="5410200" cy="1563052"/>
            <a:chOff x="533400" y="4758690"/>
            <a:chExt cx="5410200" cy="1563052"/>
          </a:xfrm>
        </p:grpSpPr>
        <p:sp>
          <p:nvSpPr>
            <p:cNvPr id="37" name="Rectangle 37"/>
            <p:cNvSpPr/>
            <p:nvPr/>
          </p:nvSpPr>
          <p:spPr>
            <a:xfrm>
              <a:off x="533400" y="4758690"/>
              <a:ext cx="5410200" cy="1563052"/>
            </a:xfrm>
            <a:prstGeom prst="roundRect">
              <a:avLst>
                <a:gd name="adj" fmla="val 73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439728"/>
              <a:ext cx="200026" cy="200026"/>
              <a:chOff x="738188" y="543972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4397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5064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55397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5308759"/>
              <a:ext cx="428853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课程大纲给本部分 9 学时，上承第2部分分布式系统基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础，下接第4–6部分的真实系统。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6248400" y="1524000"/>
            <a:ext cx="5410200" cy="2794635"/>
            <a:chOff x="6248400" y="1524000"/>
            <a:chExt cx="5410200" cy="2794635"/>
          </a:xfrm>
        </p:grpSpPr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01637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本部分的技术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83649" y="165544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后面在哪个系统里见到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53747" y="208502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哈希引擎、一致性哈希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746808" y="1964055"/>
              <a:ext cx="290226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42629" y="2085022"/>
              <a:ext cx="1205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第5部分 Dynamo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53747" y="2515552"/>
              <a:ext cx="2174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LSM 树、顺序分布、双层结构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746808" y="2393632"/>
              <a:ext cx="290226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842629" y="2515552"/>
              <a:ext cx="1268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第6部分 Bigtable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53747" y="2946082"/>
              <a:ext cx="2065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单层多副本、Master、租约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746808" y="2824162"/>
              <a:ext cx="290226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42629" y="2946082"/>
              <a:ext cx="1455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第4部分 GFS、HDFS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3244215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53747" y="3482340"/>
              <a:ext cx="1453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Paxos、多数派选主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42629" y="3375660"/>
              <a:ext cx="2450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第2部分 ZooKeeper；Bigtable 依赖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的锁服务 Chubby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38833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53747" y="4019550"/>
              <a:ext cx="1895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事务、MVCC、REDO 日志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42629" y="40195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关系数据库和表格系统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1524000"/>
              <a:ext cx="5410200" cy="27946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732520" y="1524000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rd-2"/>
          <p:cNvGrpSpPr/>
          <p:nvPr/>
        </p:nvGrpSpPr>
        <p:grpSpPr>
          <a:xfrm>
            <a:off x="6248400" y="4503420"/>
            <a:ext cx="5410200" cy="1817370"/>
            <a:chOff x="6248400" y="4503420"/>
            <a:chExt cx="5410200" cy="1817370"/>
          </a:xfrm>
        </p:grpSpPr>
        <p:sp>
          <p:nvSpPr>
            <p:cNvPr id="69" name="Rectangle 69"/>
            <p:cNvSpPr/>
            <p:nvPr/>
          </p:nvSpPr>
          <p:spPr>
            <a:xfrm>
              <a:off x="6248400" y="4503420"/>
              <a:ext cx="541020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57925" y="4636770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90335" y="470725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76593" y="47429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怎么读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83096" y="5080159"/>
              <a:ext cx="4757420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存储系统 = 存储引擎 + 数据模型。前两节只看一台机器，后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四节把数据分到多台机器上，要回答四个问题：数据放哪、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机器坏了怎么办、怎样加机器、多台机器怎样对同一件事拿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主意。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74333" cy="3637597"/>
            <a:chOff x="667512" y="1835468"/>
            <a:chExt cx="6474333" cy="36375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单机存储引擎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存储系统的发动机：数据在一台机器的内存和磁盘上怎样组织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235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内容提要：存储引擎1（哈希存储引擎）、存储引擎2（B树存储引擎）、存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储引擎3（LSM树存储引擎）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281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471035"/>
              <a:ext cx="3434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哈希引擎 Bitcask：追加写加内存索引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8825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25365"/>
              <a:ext cx="3880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树引擎 InnoDB：页面化的 B+ 树加缓冲池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368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179695"/>
              <a:ext cx="4510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LSM 树引擎 LevelDB：内存有序表加分层 SSTable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07114" cy="909257"/>
            <a:chOff x="520446" y="342900"/>
            <a:chExt cx="84071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071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存储系统 = 存储引擎 + 数据模型，引擎决定性能和功能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flow-1"/>
          <p:cNvGrpSpPr/>
          <p:nvPr/>
        </p:nvGrpSpPr>
        <p:grpSpPr>
          <a:xfrm>
            <a:off x="866775" y="1799272"/>
            <a:ext cx="4094798" cy="3406140"/>
            <a:chOff x="866775" y="1799272"/>
            <a:chExt cx="4094798" cy="3406140"/>
          </a:xfrm>
        </p:grpSpPr>
        <p:sp>
          <p:nvSpPr>
            <p:cNvPr id="7" name="Freeform 7"/>
            <p:cNvSpPr/>
            <p:nvPr/>
          </p:nvSpPr>
          <p:spPr>
            <a:xfrm>
              <a:off x="2913698" y="2237422"/>
              <a:ext cx="9525" cy="351473"/>
            </a:xfrm>
            <a:custGeom>
              <a:avLst/>
              <a:gdLst/>
              <a:ahLst/>
              <a:cxnLst/>
              <a:rect l="l" t="t" r="r" b="b"/>
              <a:pathLst>
                <a:path w="9525" h="351473">
                  <a:moveTo>
                    <a:pt x="0" y="0"/>
                  </a:moveTo>
                  <a:lnTo>
                    <a:pt x="0" y="3514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61310" y="25888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13698" y="3322320"/>
              <a:ext cx="9525" cy="255270"/>
            </a:xfrm>
            <a:custGeom>
              <a:avLst/>
              <a:gdLst/>
              <a:ahLst/>
              <a:cxnLst/>
              <a:rect l="l" t="t" r="r" b="b"/>
              <a:pathLst>
                <a:path w="9525" h="255270">
                  <a:moveTo>
                    <a:pt x="0" y="0"/>
                  </a:moveTo>
                  <a:lnTo>
                    <a:pt x="0" y="255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61310" y="35775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913698" y="4311968"/>
              <a:ext cx="9525" cy="350520"/>
            </a:xfrm>
            <a:custGeom>
              <a:avLst/>
              <a:gdLst/>
              <a:ahLst/>
              <a:cxnLst/>
              <a:rect l="l" t="t" r="r" b="b"/>
              <a:pathLst>
                <a:path w="9525" h="350520">
                  <a:moveTo>
                    <a:pt x="0" y="0"/>
                  </a:moveTo>
                  <a:lnTo>
                    <a:pt x="0" y="3505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61310" y="4662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" y="1799272"/>
              <a:ext cx="409479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66775" y="2693670"/>
              <a:ext cx="409479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66775" y="3682365"/>
              <a:ext cx="4094798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66775" y="4767262"/>
              <a:ext cx="409479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62593" y="19292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32596" y="2809399"/>
              <a:ext cx="136220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数据模型（界面）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 / 关系 / 键值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51316" y="3799046"/>
              <a:ext cx="152476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存储引擎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 / B 树 / LSM 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63513" y="4897279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+ 磁盘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942272" y="2373630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65513" y="24003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增删改查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942272" y="341090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65513" y="343757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读写请求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942272" y="4448175"/>
              <a:ext cx="94202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65513" y="4474845"/>
              <a:ext cx="919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顺序或随机 IO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5598795" y="1524000"/>
            <a:ext cx="6059805" cy="1720215"/>
            <a:chOff x="5598795" y="1524000"/>
            <a:chExt cx="6059805" cy="1720215"/>
          </a:xfrm>
        </p:grpSpPr>
        <p:sp>
          <p:nvSpPr>
            <p:cNvPr id="28" name="Rectangle 28"/>
            <p:cNvSpPr/>
            <p:nvPr/>
          </p:nvSpPr>
          <p:spPr>
            <a:xfrm>
              <a:off x="5598795" y="1524000"/>
              <a:ext cx="6059805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608320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84644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3760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7473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单机存储引擎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38825" y="212979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存储系统的发动机，决定系统的性能和功能。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52160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10275" y="246507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基本功能：增、删、改、读，读又分顺序读和随机读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52160" y="2863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10275" y="280035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数据模型是外壳，在引擎外围实现存储系统的功能（第二节）</a:t>
              </a:r>
            </a:p>
          </p:txBody>
        </p:sp>
      </p:grpSp>
      <p:grpSp>
        <p:nvGrpSpPr>
          <p:cNvPr id="69" name="c2-table-2"/>
          <p:cNvGrpSpPr/>
          <p:nvPr/>
        </p:nvGrpSpPr>
        <p:grpSpPr>
          <a:xfrm>
            <a:off x="5593080" y="3434715"/>
            <a:ext cx="6065520" cy="2091214"/>
            <a:chOff x="5593080" y="3434715"/>
            <a:chExt cx="6065520" cy="2091214"/>
          </a:xfrm>
        </p:grpSpPr>
        <p:sp>
          <p:nvSpPr>
            <p:cNvPr id="39" name="Rectangle 39"/>
            <p:cNvSpPr/>
            <p:nvPr/>
          </p:nvSpPr>
          <p:spPr>
            <a:xfrm>
              <a:off x="5598795" y="3434715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86754" y="35704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62189" y="35704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69540" y="35704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增删改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39185" y="35704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08830" y="35704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06618" y="40190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40118" y="4019074"/>
              <a:ext cx="1323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Bitcask（Riak）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41854" y="401907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11499" y="401907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81144" y="401907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43272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433197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06618" y="4467701"/>
              <a:ext cx="34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40118" y="4467701"/>
              <a:ext cx="1465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InnoDB（MySQL）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41854" y="446770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11499" y="446770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81144" y="446770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98795" y="47767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706618" y="4916329"/>
              <a:ext cx="596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LSM 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40118" y="4916329"/>
              <a:ext cx="1523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LevelDB（Google）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41854" y="491632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111499" y="491632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081144" y="491632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598795" y="3434715"/>
              <a:ext cx="605980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927532" y="343471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744902" y="343471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714548" y="343471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684192" y="343471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593080" y="5305901"/>
              <a:ext cx="4821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顺序读指按 key 顺序做范围扫描，例如一次读出 key 从 1 到 100 的记录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666178" cy="909257"/>
            <a:chOff x="520446" y="342900"/>
            <a:chExt cx="106661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6661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哈希表回顾：用 key mod 701 算出数组下标，平均 O(1) 插入和查找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29712" cy="308039"/>
            <a:chOff x="525399" y="1550194"/>
            <a:chExt cx="1062971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297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物理地址有限时，记录的逻辑标识（key）怎样对应到物理地址（数组下标）？原课件用一个 701 格的数组演示。</a:t>
              </a:r>
            </a:p>
          </p:txBody>
        </p:sp>
      </p:grpSp>
      <p:grpSp>
        <p:nvGrpSpPr>
          <p:cNvPr id="43" name="c1-cells-1"/>
          <p:cNvGrpSpPr/>
          <p:nvPr/>
        </p:nvGrpSpPr>
        <p:grpSpPr>
          <a:xfrm>
            <a:off x="528447" y="1967865"/>
            <a:ext cx="11130153" cy="1320641"/>
            <a:chOff x="528447" y="1967865"/>
            <a:chExt cx="11130153" cy="1320641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1159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5352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67630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[0]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258378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10655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[1]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01402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53680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[2]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944428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96705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[3]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7452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39730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[4]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9525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81802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[5]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972550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01015" y="21159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315575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91664" y="2115979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[700]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447" y="270652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key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5352" y="2558415"/>
              <a:ext cx="134302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58378" y="255841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582090" y="2706529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281942902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601402" y="255841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25115" y="2706529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233667136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944428" y="2558415"/>
              <a:ext cx="134302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8140" y="2706529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580625685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7452" y="255841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11165" y="2706529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506643548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9525" y="2558415"/>
              <a:ext cx="134302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972550" y="255841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01015" y="27065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315575" y="255841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39288" y="2706529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155778322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5577840" y="29965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45595" y="312658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新插入</a:t>
              </a:r>
            </a:p>
          </p:txBody>
        </p:sp>
      </p:grpSp>
      <p:grpSp>
        <p:nvGrpSpPr>
          <p:cNvPr id="67" name="c1-steps-2"/>
          <p:cNvGrpSpPr/>
          <p:nvPr/>
        </p:nvGrpSpPr>
        <p:grpSpPr>
          <a:xfrm>
            <a:off x="533400" y="3452812"/>
            <a:ext cx="11125200" cy="1672590"/>
            <a:chOff x="533400" y="3452812"/>
            <a:chExt cx="11125200" cy="1672590"/>
          </a:xfrm>
        </p:grpSpPr>
        <p:sp>
          <p:nvSpPr>
            <p:cNvPr id="44" name="Rectangle 44"/>
            <p:cNvSpPr/>
            <p:nvPr/>
          </p:nvSpPr>
          <p:spPr>
            <a:xfrm>
              <a:off x="533400" y="3452812"/>
              <a:ext cx="2566988" cy="1672590"/>
            </a:xfrm>
            <a:prstGeom prst="roundRect">
              <a:avLst>
                <a:gd name="adj" fmla="val 683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666750" y="35861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6883" y="36566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9130" y="3991928"/>
              <a:ext cx="18422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每条记录有一个 key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0273" y="4304824"/>
              <a:ext cx="213436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例子里 key 是长整数 Number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（如身份证号），记录其余字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段是这个人的信息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3176588" y="420338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386138" y="3452812"/>
              <a:ext cx="2566988" cy="1672590"/>
            </a:xfrm>
            <a:prstGeom prst="roundRect">
              <a:avLst>
                <a:gd name="adj" fmla="val 683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519488" y="35861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609621" y="36566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11868" y="399192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算哈希值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513010" y="4304824"/>
              <a:ext cx="199618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 key mod 701：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580625685 = 701 × 828282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+ 3，哈希值是 3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6029325" y="420338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38875" y="3452812"/>
              <a:ext cx="2566988" cy="1672590"/>
            </a:xfrm>
            <a:prstGeom prst="roundRect">
              <a:avLst>
                <a:gd name="adj" fmla="val 683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372225" y="35861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62358" y="36566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64605" y="39919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按下标存放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65748" y="4304824"/>
              <a:ext cx="211810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[3] 是空位，新记录直接放进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[3]，不用和别的 key 逐个比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8882062" y="420338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091612" y="3452812"/>
              <a:ext cx="2566988" cy="1672590"/>
            </a:xfrm>
            <a:prstGeom prst="roundRect">
              <a:avLst>
                <a:gd name="adj" fmla="val 683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224962" y="35861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5096" y="36566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17342" y="399192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18486" y="4304824"/>
              <a:ext cx="215061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图中其余 4 条记录的位置都等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于各自 key mod 701：1、2、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4、700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8" name="Rectangle 6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130" y="5991225"/>
              <a:ext cx="8920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哈希表的前提是“数组下标 = 哈希值”。只要没有冲突，插入和查找都只看一个格子，复杂度 O(1)。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4553" cy="909257"/>
            <a:chOff x="520446" y="342900"/>
            <a:chExt cx="6564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4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冲突：[2] 已经有人，线性探测往后找空位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077005" cy="308039"/>
            <a:chOff x="525399" y="1550194"/>
            <a:chExt cx="907700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0770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再插入 key = 701466868，它的哈希值 701466868 mod 701 = 2，而 [2] 已经放了 233667136。</a:t>
              </a:r>
            </a:p>
          </p:txBody>
        </p:sp>
      </p:grpSp>
      <p:grpSp>
        <p:nvGrpSpPr>
          <p:cNvPr id="46" name="c1-cells-1"/>
          <p:cNvGrpSpPr/>
          <p:nvPr/>
        </p:nvGrpSpPr>
        <p:grpSpPr>
          <a:xfrm>
            <a:off x="528447" y="1967865"/>
            <a:ext cx="11130153" cy="1596866"/>
            <a:chOff x="528447" y="1967865"/>
            <a:chExt cx="11130153" cy="1596866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1159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5352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67630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[0]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258378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10655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[1]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01402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53680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[2]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944428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96705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[3]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7452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39730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[4]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9525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81802" y="211597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[5]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972550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01015" y="21159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315575" y="1967865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91664" y="2115979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[700]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447" y="298275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key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5352" y="2834640"/>
              <a:ext cx="134302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58378" y="2834640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582090" y="2982754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281942902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601402" y="2834640"/>
              <a:ext cx="134302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25115" y="2982754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233667136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944428" y="2834640"/>
              <a:ext cx="134302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8140" y="2982754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580625685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7452" y="2834640"/>
              <a:ext cx="134302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11165" y="2982754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506643548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9525" y="2834640"/>
              <a:ext cx="134302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53238" y="2982754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701466868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972550" y="2834640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01015" y="29827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315575" y="2834640"/>
              <a:ext cx="13430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39288" y="2982754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155778322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53309" y="2593181"/>
              <a:ext cx="4392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哈希值 2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4234815" y="27393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262938" y="32727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75498" y="340280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放在这里</a:t>
              </a:r>
            </a:p>
          </p:txBody>
        </p:sp>
      </p:grpSp>
      <p:grpSp>
        <p:nvGrpSpPr>
          <p:cNvPr id="65" name="c1-compare-2"/>
          <p:cNvGrpSpPr/>
          <p:nvPr/>
        </p:nvGrpSpPr>
        <p:grpSpPr>
          <a:xfrm>
            <a:off x="533400" y="3729038"/>
            <a:ext cx="11125200" cy="1928812"/>
            <a:chOff x="533400" y="3729038"/>
            <a:chExt cx="11125200" cy="1928812"/>
          </a:xfrm>
        </p:grpSpPr>
        <p:sp>
          <p:nvSpPr>
            <p:cNvPr id="47" name="Rectangle 47"/>
            <p:cNvSpPr/>
            <p:nvPr/>
          </p:nvSpPr>
          <p:spPr>
            <a:xfrm>
              <a:off x="533400" y="3729038"/>
              <a:ext cx="5181600" cy="1928812"/>
            </a:xfrm>
            <a:prstGeom prst="roundRect">
              <a:avLst>
                <a:gd name="adj" fmla="val 691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5330" y="3963352"/>
              <a:ext cx="15322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701466868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48665" y="438054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06780" y="4317682"/>
              <a:ext cx="3740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哈希值 2，[2] 已有 233667136，冲突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48665" y="471582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6780" y="465296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往后走：[3]、[4] 也被占用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48665" y="505110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06780" y="4988242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[5] 是空位，新记录放进 [5]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77000" y="3729038"/>
              <a:ext cx="5181600" cy="1928812"/>
            </a:xfrm>
            <a:prstGeom prst="roundRect">
              <a:avLst>
                <a:gd name="adj" fmla="val 691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78930" y="3963352"/>
              <a:ext cx="15322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 701466868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692265" y="438054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50380" y="4317682"/>
              <a:ext cx="2943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算出哈希值 2，从 [2] 开始看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692265" y="471582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50380" y="4652962"/>
              <a:ext cx="4235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[2]、[3]、[4] 的 key 都不是它，继续往后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692265" y="505110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50380" y="4988242"/>
              <a:ext cx="4376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[5] 的 key 相等，找到，把记录内容复制出来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762625" y="4360545"/>
              <a:ext cx="666750" cy="6667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807964" y="46281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同一路径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6" name="Rectangle 6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130" y="5991225"/>
              <a:ext cx="10303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查找的停止条件：找到这个 key，或者遇到空位。遇到空位说明它根本没插入过，因为插入时也会停在第一个空位。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删除不能直接清空：留一个墓碑标记，查找才能越过它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cells-1"/>
          <p:cNvGrpSpPr/>
          <p:nvPr/>
        </p:nvGrpSpPr>
        <p:grpSpPr>
          <a:xfrm>
            <a:off x="528638" y="1524000"/>
            <a:ext cx="6280785" cy="1846421"/>
            <a:chOff x="528638" y="1524000"/>
            <a:chExt cx="6280785" cy="1846421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5258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直接清空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3950" y="1524000"/>
              <a:ext cx="947738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071688" y="1524000"/>
              <a:ext cx="94773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25458" y="1652588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281942902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19425" y="1524000"/>
              <a:ext cx="94773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73196" y="1652588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233667136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966210" y="1524000"/>
              <a:ext cx="94773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20933" y="1652588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580625685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913948" y="1524000"/>
              <a:ext cx="947738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861685" y="1524000"/>
              <a:ext cx="94773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15456" y="1652588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701466868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6222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0996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57698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543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5317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99958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350192" y="209264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97171" y="2222659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查找在这里停下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638" y="263842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留墓碑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23950" y="2509838"/>
              <a:ext cx="947738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071688" y="2509838"/>
              <a:ext cx="94773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25458" y="2638425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281942902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019425" y="2509838"/>
              <a:ext cx="94773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73196" y="2638425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233667136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966210" y="2509838"/>
              <a:ext cx="94773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120933" y="2638425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580625685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913948" y="2509838"/>
              <a:ext cx="94773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01793" y="263842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已删除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61685" y="2509838"/>
              <a:ext cx="947738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15456" y="2638425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701466868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62223" y="29322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09961" y="29322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57698" y="29322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05436" y="29322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53173" y="29322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99958" y="29322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296978" y="30784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19927" y="320849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找到</a:t>
              </a:r>
            </a:p>
          </p:txBody>
        </p:sp>
      </p:grpSp>
      <p:grpSp>
        <p:nvGrpSpPr>
          <p:cNvPr id="60" name="c1-steps-2"/>
          <p:cNvGrpSpPr/>
          <p:nvPr/>
        </p:nvGrpSpPr>
        <p:grpSpPr>
          <a:xfrm>
            <a:off x="533400" y="3524250"/>
            <a:ext cx="4503263" cy="1685449"/>
            <a:chOff x="533400" y="3524250"/>
            <a:chExt cx="4503263" cy="1685449"/>
          </a:xfrm>
        </p:grpSpPr>
        <p:sp>
          <p:nvSpPr>
            <p:cNvPr id="47" name="Rectangle 47"/>
            <p:cNvSpPr/>
            <p:nvPr/>
          </p:nvSpPr>
          <p:spPr>
            <a:xfrm>
              <a:off x="666750" y="3667125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533400" y="35242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7024" y="35980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33400" y="41071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7024" y="41809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33400" y="46901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7024" y="4763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5642" y="3556635"/>
              <a:ext cx="1379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要删 506643548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6785" y="3823811"/>
              <a:ext cx="2793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它在 [4]，查找 701466868 时要经过 [4]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5642" y="4139565"/>
              <a:ext cx="1533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若把 [4] 清成空位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6785" y="4406741"/>
              <a:ext cx="4089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查找从 [2] 走到 [4] 遇到空位就停，误判 701466868 不存在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5642" y="472249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改成墓碑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6785" y="4989671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查找遇到墓碑继续往后走；插入时墓碑位置可以重新使用</a:t>
              </a:r>
            </a:p>
          </p:txBody>
        </p:sp>
      </p:grpSp>
      <p:grpSp>
        <p:nvGrpSpPr>
          <p:cNvPr id="67" name="c1-callout-3"/>
          <p:cNvGrpSpPr/>
          <p:nvPr/>
        </p:nvGrpSpPr>
        <p:grpSpPr>
          <a:xfrm>
            <a:off x="533400" y="5373052"/>
            <a:ext cx="6276022" cy="904875"/>
            <a:chOff x="533400" y="5373052"/>
            <a:chExt cx="6276022" cy="904875"/>
          </a:xfrm>
        </p:grpSpPr>
        <p:sp>
          <p:nvSpPr>
            <p:cNvPr id="61" name="Rectangle 61"/>
            <p:cNvSpPr/>
            <p:nvPr/>
          </p:nvSpPr>
          <p:spPr>
            <a:xfrm>
              <a:off x="533400" y="5373052"/>
              <a:ext cx="6276022" cy="904875"/>
            </a:xfrm>
            <a:prstGeom prst="roundRect">
              <a:avLst>
                <a:gd name="adj" fmla="val 1263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725478"/>
              <a:ext cx="200026" cy="200026"/>
              <a:chOff x="738188" y="5725478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7254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57921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27088" y="58254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5607368"/>
              <a:ext cx="51572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墓碑积累多了也会拖慢查找，实际系统会定期重建哈希表，把墓碑清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掉。</a:t>
              </a:r>
            </a:p>
          </p:txBody>
        </p:sp>
      </p:grpSp>
      <p:grpSp>
        <p:nvGrpSpPr>
          <p:cNvPr id="72" name="c2-card-1"/>
          <p:cNvGrpSpPr/>
          <p:nvPr/>
        </p:nvGrpSpPr>
        <p:grpSpPr>
          <a:xfrm>
            <a:off x="7114222" y="1524000"/>
            <a:ext cx="4544378" cy="1185862"/>
            <a:chOff x="7114222" y="1524000"/>
            <a:chExt cx="4544378" cy="1185862"/>
          </a:xfrm>
        </p:grpSpPr>
        <p:sp>
          <p:nvSpPr>
            <p:cNvPr id="68" name="Rectangle 68"/>
            <p:cNvSpPr/>
            <p:nvPr/>
          </p:nvSpPr>
          <p:spPr>
            <a:xfrm>
              <a:off x="7114222" y="1524000"/>
              <a:ext cx="4544378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300912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39263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294054" y="2054542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删除后的位置必须做特殊标记，让查找知道这里以前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有过记录。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7114222" y="2879408"/>
            <a:ext cx="4544378" cy="1443038"/>
            <a:chOff x="7114222" y="2879408"/>
            <a:chExt cx="4544378" cy="1443038"/>
          </a:xfrm>
        </p:grpSpPr>
        <p:sp>
          <p:nvSpPr>
            <p:cNvPr id="73" name="Rectangle 73"/>
            <p:cNvSpPr/>
            <p:nvPr/>
          </p:nvSpPr>
          <p:spPr>
            <a:xfrm>
              <a:off x="7114222" y="2879408"/>
              <a:ext cx="4544378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123748" y="301275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339012" y="3066098"/>
              <a:ext cx="125634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04649" y="3098959"/>
              <a:ext cx="11241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和 Bitcask 的联系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32154" y="3410902"/>
              <a:ext cx="39142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下面要讲的 Bitcask 也不在原处删除数据，而是追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加一条值为 tombstone 的删除记录，思路和这里的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墓碑一样。</a:t>
              </a:r>
            </a:p>
          </p:txBody>
        </p:sp>
      </p:grpSp>
      <p:grpSp>
        <p:nvGrpSpPr>
          <p:cNvPr id="92" name="c2-card-3"/>
          <p:cNvGrpSpPr/>
          <p:nvPr/>
        </p:nvGrpSpPr>
        <p:grpSpPr>
          <a:xfrm>
            <a:off x="7114222" y="4491990"/>
            <a:ext cx="4544378" cy="1785938"/>
            <a:chOff x="7114222" y="4491990"/>
            <a:chExt cx="4544378" cy="1785938"/>
          </a:xfrm>
        </p:grpSpPr>
        <p:sp>
          <p:nvSpPr>
            <p:cNvPr id="79" name="Rectangle 79"/>
            <p:cNvSpPr/>
            <p:nvPr/>
          </p:nvSpPr>
          <p:spPr>
            <a:xfrm>
              <a:off x="7114222" y="4491990"/>
              <a:ext cx="4544378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123748" y="4625340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339012" y="467868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23582" y="47115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小结三步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7339012" y="501110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394691" y="504948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618857" y="502348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插入：算哈希值，被占就往后找空位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7339012" y="531114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394691" y="53495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618857" y="5323523"/>
              <a:ext cx="36570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查找：从哈希值处往后找，直到找到 key 或遇到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339012" y="586835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394691" y="59076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618857" y="588073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删除：原位置标墓碑，不能留成普通空位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29466" cy="909257"/>
            <a:chOff x="520446" y="342900"/>
            <a:chExt cx="92294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294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Bitcask：日志结构的哈希表，只追加新数据，不修改老数据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564958"/>
            <a:chOff x="533400" y="1524000"/>
            <a:chExt cx="5842635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9505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哈希存储引擎 Bitcask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05498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哈希表的持久化实现，用于键值对存储系统（Riak），支持增、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删、改和随机读。全名是 a log-structured hash table for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fast key/value data。</a:t>
              </a:r>
            </a:p>
          </p:txBody>
        </p:sp>
      </p:grpSp>
      <p:grpSp>
        <p:nvGrpSpPr>
          <p:cNvPr id="22" name="c1-bullets-2"/>
          <p:cNvGrpSpPr/>
          <p:nvPr/>
        </p:nvGrpSpPr>
        <p:grpSpPr>
          <a:xfrm>
            <a:off x="541020" y="3298031"/>
            <a:ext cx="5220589" cy="1537907"/>
            <a:chOff x="541020" y="3298031"/>
            <a:chExt cx="5220589" cy="1537907"/>
          </a:xfrm>
        </p:grpSpPr>
        <p:sp>
          <p:nvSpPr>
            <p:cNvPr id="14" name="Ellipse 14"/>
            <p:cNvSpPr/>
            <p:nvPr/>
          </p:nvSpPr>
          <p:spPr>
            <a:xfrm>
              <a:off x="541020" y="33575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611" y="329803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支持追加新数据，不修改老数据，属于日志结构流派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" y="368712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7611" y="3626644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磁盘上每个文件有大小限制，写满就新建文件，老文件只读不写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（older data file）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41020" y="428815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7611" y="4227671"/>
              <a:ext cx="41339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任意时刻只有一个文件可写（active data file）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41020" y="461676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7611" y="4557236"/>
              <a:ext cx="4704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写操作只往活跃文件末尾追加，不需要反复寻址，O(1)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965382"/>
            <a:ext cx="5842635" cy="1274445"/>
            <a:chOff x="533400" y="4965382"/>
            <a:chExt cx="5842635" cy="1274445"/>
          </a:xfrm>
        </p:grpSpPr>
        <p:sp>
          <p:nvSpPr>
            <p:cNvPr id="23" name="Rectangle 23"/>
            <p:cNvSpPr/>
            <p:nvPr/>
          </p:nvSpPr>
          <p:spPr>
            <a:xfrm>
              <a:off x="533400" y="4965382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509873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51692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5543" y="52049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096" y="5542121"/>
              <a:ext cx="47934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原课件通篇写作 Bitcast。按其引用的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riak.com/assets/bitcask-intro.pdf，名称是 Bitcask。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6680835" y="1524000"/>
            <a:ext cx="4977765" cy="4240054"/>
            <a:chOff x="6680835" y="1524000"/>
            <a:chExt cx="4977765" cy="4240054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5550" t="0" r="5550" b="0"/>
            <a:stretch>
              <a:fillRect/>
            </a:stretch>
          </p:blipFill>
          <p:spPr>
            <a:xfrm>
              <a:off x="6680835" y="1524000"/>
              <a:ext cx="4977765" cy="3732848"/>
            </a:xfrm>
            <a:prstGeom prst="roundRect">
              <a:avLst>
                <a:gd name="adj" fmla="val 3572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6799262" y="5351621"/>
              <a:ext cx="474091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只在纸卷末尾写新行，旧纸卷封存；卡片盒记着每个 key 在哪一卷的哪个位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置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20590" cy="909257"/>
            <a:chOff x="520446" y="342900"/>
            <a:chExt cx="75205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205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数据文件存完整记录，内存里的 keydir 只存位置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ells-1"/>
          <p:cNvGrpSpPr/>
          <p:nvPr/>
        </p:nvGrpSpPr>
        <p:grpSpPr>
          <a:xfrm>
            <a:off x="528447" y="1524000"/>
            <a:ext cx="5415153" cy="419100"/>
            <a:chOff x="528447" y="1524000"/>
            <a:chExt cx="5415153" cy="419100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6730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记录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5352" y="1524000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5217" y="167306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crc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53552" y="1524000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25283" y="1673066"/>
              <a:ext cx="494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tstamp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591752" y="1524000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77335" y="1673066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key_sz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952" y="1524000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56662" y="1673066"/>
              <a:ext cx="584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value_sz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267200" y="1524000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67065" y="167306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105400" y="1524000"/>
              <a:ext cx="8382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46392" y="1673066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</p:grpSp>
      <p:grpSp>
        <p:nvGrpSpPr>
          <p:cNvPr id="32" name="c1-kv-2"/>
          <p:cNvGrpSpPr/>
          <p:nvPr/>
        </p:nvGrpSpPr>
        <p:grpSpPr>
          <a:xfrm>
            <a:off x="525780" y="2158365"/>
            <a:ext cx="5417820" cy="2177415"/>
            <a:chOff x="525780" y="2158365"/>
            <a:chExt cx="5417820" cy="2177415"/>
          </a:xfrm>
        </p:grpSpPr>
        <p:sp>
          <p:nvSpPr>
            <p:cNvPr id="21" name="TextBox 21"/>
            <p:cNvSpPr txBox="1"/>
            <p:nvPr/>
          </p:nvSpPr>
          <p:spPr>
            <a:xfrm>
              <a:off x="525780" y="215836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crc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48840" y="215836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校验码，崩溃时写了一半的记录能被查出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760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5780" y="2880360"/>
              <a:ext cx="757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tstamp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48840" y="288036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写入时间戳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2004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5780" y="3320415"/>
              <a:ext cx="845344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key_sz,</a:t>
              </a:r>
              <a:br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value_sz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48840" y="3320415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和 value 的长度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22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5780" y="40424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48840" y="4042410"/>
              <a:ext cx="3417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追加一条 value 为 tombstone 的记录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4467225"/>
            <a:ext cx="5410200" cy="782955"/>
            <a:chOff x="533400" y="4467225"/>
            <a:chExt cx="5410200" cy="782955"/>
          </a:xfrm>
        </p:grpSpPr>
        <p:sp>
          <p:nvSpPr>
            <p:cNvPr id="33" name="Rectangle 33"/>
            <p:cNvSpPr/>
            <p:nvPr/>
          </p:nvSpPr>
          <p:spPr>
            <a:xfrm>
              <a:off x="533400" y="446722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4758690"/>
              <a:ext cx="200026" cy="200026"/>
              <a:chOff x="738188" y="475869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47586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48253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48587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461581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每个数据文件就是这样一条接一条的记录序列，按写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入时间排列。</a:t>
              </a:r>
            </a:p>
          </p:txBody>
        </p:sp>
      </p:grpSp>
      <p:grpSp>
        <p:nvGrpSpPr>
          <p:cNvPr id="51" name="c2-cells-1"/>
          <p:cNvGrpSpPr/>
          <p:nvPr/>
        </p:nvGrpSpPr>
        <p:grpSpPr>
          <a:xfrm>
            <a:off x="6243447" y="1524000"/>
            <a:ext cx="5415153" cy="419100"/>
            <a:chOff x="6243447" y="1524000"/>
            <a:chExt cx="5415153" cy="419100"/>
          </a:xfrm>
        </p:grpSpPr>
        <p:sp>
          <p:nvSpPr>
            <p:cNvPr id="40" name="TextBox 40"/>
            <p:cNvSpPr txBox="1"/>
            <p:nvPr/>
          </p:nvSpPr>
          <p:spPr>
            <a:xfrm>
              <a:off x="6243447" y="1673066"/>
              <a:ext cx="4324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keydir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79895" y="1524000"/>
              <a:ext cx="9753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49292" y="167306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756208" y="1524000"/>
              <a:ext cx="9753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24222" y="1673066"/>
              <a:ext cx="4393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file_id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731568" y="1524000"/>
              <a:ext cx="9753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26857" y="1673066"/>
              <a:ext cx="584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value_sz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706928" y="1524000"/>
              <a:ext cx="9753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65076" y="1673066"/>
              <a:ext cx="660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value_pos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683240" y="1524000"/>
              <a:ext cx="9753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23550" y="1673066"/>
              <a:ext cx="494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tstamp</a:t>
              </a:r>
            </a:p>
          </p:txBody>
        </p:sp>
      </p:grpSp>
      <p:grpSp>
        <p:nvGrpSpPr>
          <p:cNvPr id="63" name="c2-kv-2"/>
          <p:cNvGrpSpPr/>
          <p:nvPr/>
        </p:nvGrpSpPr>
        <p:grpSpPr>
          <a:xfrm>
            <a:off x="6240780" y="2158365"/>
            <a:ext cx="5417820" cy="1895475"/>
            <a:chOff x="6240780" y="2158365"/>
            <a:chExt cx="5417820" cy="1895475"/>
          </a:xfrm>
        </p:grpSpPr>
        <p:sp>
          <p:nvSpPr>
            <p:cNvPr id="52" name="TextBox 52"/>
            <p:cNvSpPr txBox="1"/>
            <p:nvPr/>
          </p:nvSpPr>
          <p:spPr>
            <a:xfrm>
              <a:off x="6240780" y="2158365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keydir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63840" y="2158365"/>
              <a:ext cx="3700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内存中基于哈希表的索引，每个 key 一项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24784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40780" y="2598420"/>
              <a:ext cx="672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file_id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63840" y="2598420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 value 在哪个数据文件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29184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40780" y="3038475"/>
              <a:ext cx="106537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value_pos,</a:t>
              </a:r>
              <a:br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value_sz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63840" y="30384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在文件里的偏移和长度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36404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40780" y="3760470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latest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63840" y="3760470"/>
              <a:ext cx="3498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key 写过多次，只记最新的位置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6248400" y="4185285"/>
            <a:ext cx="5410200" cy="1064895"/>
            <a:chOff x="6248400" y="4185285"/>
            <a:chExt cx="5410200" cy="1064895"/>
          </a:xfrm>
        </p:grpSpPr>
        <p:sp>
          <p:nvSpPr>
            <p:cNvPr id="64" name="Rectangle 64"/>
            <p:cNvSpPr/>
            <p:nvPr/>
          </p:nvSpPr>
          <p:spPr>
            <a:xfrm>
              <a:off x="6248400" y="4185285"/>
              <a:ext cx="5410200" cy="1064895"/>
            </a:xfrm>
            <a:prstGeom prst="roundRect">
              <a:avLst>
                <a:gd name="adj" fmla="val 1073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453188" y="4617722"/>
              <a:ext cx="200023" cy="200023"/>
              <a:chOff x="6453188" y="4617722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453188" y="46177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586538" y="46843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755130" y="4474845"/>
              <a:ext cx="43586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适用条件：value 长度远大于索引项长度，内存才能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放下全部 key 的索引。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70" name="Rectangle 7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728335"/>
              <a:ext cx="9835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例：key = user42 先写在 3 号文件，后来更新时追加到 7 号文件偏移 4096 处，value 300 字节。keydir 只保留 (7,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300, 4096, 新时间戳)，3 号文件里的旧记录等合并时清理。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21625" cy="909257"/>
            <a:chOff x="520446" y="342900"/>
            <a:chExt cx="88216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216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写入是 1 次顺序写加 1 次内存操作，读取只要 1 次磁盘读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flow-1"/>
          <p:cNvGrpSpPr/>
          <p:nvPr/>
        </p:nvGrpSpPr>
        <p:grpSpPr>
          <a:xfrm>
            <a:off x="689610" y="1535430"/>
            <a:ext cx="10813732" cy="844867"/>
            <a:chOff x="689610" y="1535430"/>
            <a:chExt cx="10813732" cy="844867"/>
          </a:xfrm>
        </p:grpSpPr>
        <p:sp>
          <p:nvSpPr>
            <p:cNvPr id="7" name="Freeform 7"/>
            <p:cNvSpPr/>
            <p:nvPr/>
          </p:nvSpPr>
          <p:spPr>
            <a:xfrm>
              <a:off x="260223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987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2727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491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5231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5995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7735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9610" y="1865948"/>
              <a:ext cx="1913572" cy="4248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14650" y="1776412"/>
              <a:ext cx="1913572" cy="603885"/>
            </a:xfrm>
            <a:prstGeom prst="roundRect">
              <a:avLst>
                <a:gd name="adj" fmla="val 15773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39690" y="1776412"/>
              <a:ext cx="19135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4730" y="1776412"/>
              <a:ext cx="19135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89770" y="1776412"/>
              <a:ext cx="1913572" cy="6038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66657" y="1994535"/>
              <a:ext cx="758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get(key)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04794" y="1891665"/>
              <a:ext cx="11323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keydir 哈希查找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（内存）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54624" y="1891665"/>
              <a:ext cx="6827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file_id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定位文件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57744" y="1891665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value_pos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定位记录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31336" y="1891665"/>
              <a:ext cx="1229487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 value_sz 字节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 value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062085" y="1535430"/>
              <a:ext cx="74199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85450" y="156210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次磁盘读</a:t>
              </a:r>
            </a:p>
          </p:txBody>
        </p:sp>
      </p:grpSp>
      <p:grpSp>
        <p:nvGrpSpPr>
          <p:cNvPr id="46" name="c1-compare-2"/>
          <p:cNvGrpSpPr/>
          <p:nvPr/>
        </p:nvGrpSpPr>
        <p:grpSpPr>
          <a:xfrm>
            <a:off x="533400" y="2818448"/>
            <a:ext cx="11125200" cy="2617470"/>
            <a:chOff x="533400" y="2818448"/>
            <a:chExt cx="11125200" cy="2617470"/>
          </a:xfrm>
        </p:grpSpPr>
        <p:sp>
          <p:nvSpPr>
            <p:cNvPr id="28" name="Rectangle 28"/>
            <p:cNvSpPr/>
            <p:nvPr/>
          </p:nvSpPr>
          <p:spPr>
            <a:xfrm>
              <a:off x="533400" y="2818448"/>
              <a:ext cx="5314950" cy="2617470"/>
            </a:xfrm>
            <a:prstGeom prst="roundRect">
              <a:avLst>
                <a:gd name="adj" fmla="val 509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9996" y="304561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写入（增、删、改都走这条路）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44855" y="344424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1446" y="3383756"/>
              <a:ext cx="42885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把 key-value 记录追加到活跃数据文件末尾（顺序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44855" y="40357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1446" y="3975259"/>
              <a:ext cx="45410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更新 keydir，让这个 key 指向新 value 的位置（内存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操作）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44855" y="462724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1446" y="456676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旧记录仍在磁盘上：占空间，重启时也要多扫一遍，所以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需要合并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43650" y="2818448"/>
              <a:ext cx="5314950" cy="2617470"/>
            </a:xfrm>
            <a:prstGeom prst="roundRect">
              <a:avLst>
                <a:gd name="adj" fmla="val 509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0246" y="30456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555105" y="344424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11696" y="338375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在 keydir 里哈希查找 key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55105" y="376428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11696" y="3703796"/>
              <a:ext cx="41053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由 file_id 定位文件，由 value_pos 定位记录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55105" y="40843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11696" y="4023836"/>
              <a:ext cx="44869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一次磁盘读取出 value；key 不在 keydir 里就直接返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回不存在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895975" y="392620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49315" y="40614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7" name="Rectangle 47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5753576"/>
              <a:ext cx="988809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思考“为什么不支持顺序读”：keydir 是哈希表，key 没有顺序；数据文件按写入时间排列。读 key 从 1 到 100，只能把全部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key 扫一遍。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97225" cy="909257"/>
            <a:chOff x="520446" y="342900"/>
            <a:chExt cx="84972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972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合并旧文件、生成 hint 文件；能存多少数据受内存限制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47563" cy="264033"/>
            <a:chOff x="526542" y="1545907"/>
            <a:chExt cx="56475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旧记录和删除记录越积越多，旧文件会占用过多空间，需要合并数据。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4452938" cy="2149411"/>
            <a:chOff x="533400" y="1938338"/>
            <a:chExt cx="4452938" cy="2149411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逐个读所有非活跃（只读）数据文件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5217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只留最新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776538"/>
              <a:ext cx="40391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key 只留最新一条，已删除的 key 丢掉，写成新的合并文件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75146"/>
              <a:ext cx="991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hint 文件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328988"/>
              <a:ext cx="2844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记每个 key 在合并文件里的位置，不含 value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6275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快速恢复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882390"/>
              <a:ext cx="32476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重启时读 hint 文件重建 keydir，不必扫完所有数据</a:t>
              </a:r>
            </a:p>
          </p:txBody>
        </p:sp>
      </p:grpSp>
      <p:grpSp>
        <p:nvGrpSpPr>
          <p:cNvPr id="47" name="c1-compare-2"/>
          <p:cNvGrpSpPr/>
          <p:nvPr/>
        </p:nvGrpSpPr>
        <p:grpSpPr>
          <a:xfrm>
            <a:off x="533400" y="4249102"/>
            <a:ext cx="5410200" cy="1939290"/>
            <a:chOff x="533400" y="4249102"/>
            <a:chExt cx="5410200" cy="1939290"/>
          </a:xfrm>
        </p:grpSpPr>
        <p:sp>
          <p:nvSpPr>
            <p:cNvPr id="27" name="Rectangle 27"/>
            <p:cNvSpPr/>
            <p:nvPr/>
          </p:nvSpPr>
          <p:spPr>
            <a:xfrm>
              <a:off x="533400" y="4249102"/>
              <a:ext cx="2495550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382452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5998" y="44515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2000" y="480441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7448" y="4752499"/>
              <a:ext cx="17523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逻辑简单，O(1) 性能稳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2000" y="533304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" y="5280184"/>
              <a:ext cx="18498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1 次磁盘写，读 1 次磁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盘读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2000" y="586073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7448" y="580786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只追加，便于故障恢复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448050" y="4249102"/>
              <a:ext cx="2495550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457575" y="4382452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660648" y="44515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676650" y="480441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832098" y="475249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不支持顺序扫描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676650" y="509016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32098" y="5037296"/>
              <a:ext cx="1695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区间查询差（如 key 1–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676650" y="56178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832098" y="556498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容量受内存限制，难扩展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076575" y="505682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59808" y="516255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248400" y="1928812"/>
            <a:ext cx="5410200" cy="1733550"/>
            <a:chOff x="6248400" y="1928812"/>
            <a:chExt cx="5410200" cy="1733550"/>
          </a:xfrm>
        </p:grpSpPr>
        <p:sp>
          <p:nvSpPr>
            <p:cNvPr id="48" name="Rectangle 48"/>
            <p:cNvSpPr/>
            <p:nvPr/>
          </p:nvSpPr>
          <p:spPr>
            <a:xfrm>
              <a:off x="6248400" y="1928812"/>
              <a:ext cx="5410200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2062162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7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0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33451" y="2149316"/>
              <a:ext cx="2931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GB 内存的 keydir 能索引多少数据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60998" y="2465546"/>
              <a:ext cx="38774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value 平均 4 KB，每个 key 的索引项 32 字节。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67475" y="273939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19382" y="277501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37223" y="2751296"/>
              <a:ext cx="3757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能放的索引项：32 GB ÷ 32 B = 2³⁰ ≈ 10.7 亿个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67475" y="30251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19382" y="30598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37223" y="3036094"/>
              <a:ext cx="24760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对应数据量：2³⁰ × 4 KB = 4 TB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2141" y="3317558"/>
              <a:ext cx="2790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原课件算式 32GB/32*4KB = 4TB，复核无误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248400" y="3827145"/>
            <a:ext cx="5410200" cy="1160145"/>
            <a:chOff x="6248400" y="3827145"/>
            <a:chExt cx="5410200" cy="1160145"/>
          </a:xfrm>
        </p:grpSpPr>
        <p:sp>
          <p:nvSpPr>
            <p:cNvPr id="62" name="Rectangle 62"/>
            <p:cNvSpPr/>
            <p:nvPr/>
          </p:nvSpPr>
          <p:spPr>
            <a:xfrm>
              <a:off x="6248400" y="3827145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57925" y="396049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67475" y="400812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60147" y="40409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33451" y="4047649"/>
              <a:ext cx="2132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 平均只有 256 字节时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60998" y="4363879"/>
              <a:ext cx="46946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2³⁰ × 256 B = 256 GB，只有上一问的 1/16。value 越小，同样的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内存能管的数据越少，所以 Bitcask 假设 value 远大于 key。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6248400" y="5152072"/>
            <a:ext cx="5410200" cy="1036320"/>
            <a:chOff x="6248400" y="5152072"/>
            <a:chExt cx="5410200" cy="1036320"/>
          </a:xfrm>
        </p:grpSpPr>
        <p:sp>
          <p:nvSpPr>
            <p:cNvPr id="69" name="Rectangle 69"/>
            <p:cNvSpPr/>
            <p:nvPr/>
          </p:nvSpPr>
          <p:spPr>
            <a:xfrm>
              <a:off x="6248400" y="5152072"/>
              <a:ext cx="5410200" cy="1036320"/>
            </a:xfrm>
            <a:prstGeom prst="roundRect">
              <a:avLst>
                <a:gd name="adj" fmla="val 110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453188" y="5570220"/>
              <a:ext cx="200026" cy="200025"/>
              <a:chOff x="6453188" y="5570220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453188" y="55702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492926" y="56146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527642" y="57257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756273" y="5464016"/>
              <a:ext cx="4426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容量受单机内存限制，也就限制了存储系统的扩展；LSM 树正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是从这里改进的。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74512" cy="909257"/>
            <a:chOff x="520446" y="342900"/>
            <a:chExt cx="80745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745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树引擎：InnoDB 把每个页面当作 B+ 树的一个节点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graph-1"/>
          <p:cNvGrpSpPr/>
          <p:nvPr/>
        </p:nvGrpSpPr>
        <p:grpSpPr>
          <a:xfrm>
            <a:off x="639000" y="1801178"/>
            <a:ext cx="5893245" cy="4149375"/>
            <a:chOff x="639000" y="1801178"/>
            <a:chExt cx="5893245" cy="4149375"/>
          </a:xfrm>
        </p:grpSpPr>
        <p:sp>
          <p:nvSpPr>
            <p:cNvPr id="7" name="Freeform 7"/>
            <p:cNvSpPr/>
            <p:nvPr/>
          </p:nvSpPr>
          <p:spPr>
            <a:xfrm>
              <a:off x="2916555" y="2121218"/>
              <a:ext cx="743903" cy="1002983"/>
            </a:xfrm>
            <a:custGeom>
              <a:avLst/>
              <a:gdLst/>
              <a:ahLst/>
              <a:cxnLst/>
              <a:rect l="l" t="t" r="r" b="b"/>
              <a:pathLst>
                <a:path w="743903" h="1002983">
                  <a:moveTo>
                    <a:pt x="743903" y="0"/>
                  </a:moveTo>
                  <a:lnTo>
                    <a:pt x="0" y="10029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59405" y="3095625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0" y="104775"/>
                  </a:moveTo>
                  <a:lnTo>
                    <a:pt x="19050" y="0"/>
                  </a:lnTo>
                  <a:lnTo>
                    <a:pt x="95250" y="5619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898582" y="2121218"/>
              <a:ext cx="743902" cy="1002983"/>
            </a:xfrm>
            <a:custGeom>
              <a:avLst/>
              <a:gdLst/>
              <a:ahLst/>
              <a:cxnLst/>
              <a:rect l="l" t="t" r="r" b="b"/>
              <a:pathLst>
                <a:path w="743902" h="1002983">
                  <a:moveTo>
                    <a:pt x="0" y="0"/>
                  </a:moveTo>
                  <a:lnTo>
                    <a:pt x="743902" y="10029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604385" y="3095625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104775"/>
                  </a:moveTo>
                  <a:lnTo>
                    <a:pt x="0" y="5619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061460" y="2121218"/>
              <a:ext cx="1820228" cy="1031558"/>
            </a:xfrm>
            <a:custGeom>
              <a:avLst/>
              <a:gdLst/>
              <a:ahLst/>
              <a:cxnLst/>
              <a:rect l="l" t="t" r="r" b="b"/>
              <a:pathLst>
                <a:path w="1820228" h="1031558">
                  <a:moveTo>
                    <a:pt x="0" y="0"/>
                  </a:moveTo>
                  <a:lnTo>
                    <a:pt x="1820228" y="10315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857875" y="3111818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8583"/>
                  </a:moveTo>
                  <a:lnTo>
                    <a:pt x="0" y="82867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581150" y="3520440"/>
              <a:ext cx="1028700" cy="1259205"/>
            </a:xfrm>
            <a:custGeom>
              <a:avLst/>
              <a:gdLst/>
              <a:ahLst/>
              <a:cxnLst/>
              <a:rect l="l" t="t" r="r" b="b"/>
              <a:pathLst>
                <a:path w="1028700" h="1259205">
                  <a:moveTo>
                    <a:pt x="1028700" y="0"/>
                  </a:moveTo>
                  <a:lnTo>
                    <a:pt x="0" y="12592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21142" y="4750118"/>
              <a:ext cx="97155" cy="103823"/>
            </a:xfrm>
            <a:custGeom>
              <a:avLst/>
              <a:gdLst/>
              <a:ahLst/>
              <a:cxnLst/>
              <a:rect l="l" t="t" r="r" b="b"/>
              <a:pathLst>
                <a:path w="97155" h="103823">
                  <a:moveTo>
                    <a:pt x="0" y="103823"/>
                  </a:moveTo>
                  <a:lnTo>
                    <a:pt x="22860" y="0"/>
                  </a:lnTo>
                  <a:lnTo>
                    <a:pt x="97155" y="6000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764155" y="3520440"/>
              <a:ext cx="184785" cy="1239202"/>
            </a:xfrm>
            <a:custGeom>
              <a:avLst/>
              <a:gdLst/>
              <a:ahLst/>
              <a:cxnLst/>
              <a:rect l="l" t="t" r="r" b="b"/>
              <a:pathLst>
                <a:path w="184785" h="1239202">
                  <a:moveTo>
                    <a:pt x="0" y="0"/>
                  </a:moveTo>
                  <a:lnTo>
                    <a:pt x="184785" y="12392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01315" y="4752975"/>
              <a:ext cx="94297" cy="100965"/>
            </a:xfrm>
            <a:custGeom>
              <a:avLst/>
              <a:gdLst/>
              <a:ahLst/>
              <a:cxnLst/>
              <a:rect l="l" t="t" r="r" b="b"/>
              <a:pathLst>
                <a:path w="94297" h="100965">
                  <a:moveTo>
                    <a:pt x="60960" y="100965"/>
                  </a:moveTo>
                  <a:lnTo>
                    <a:pt x="0" y="13335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919412" y="3520440"/>
              <a:ext cx="1413510" cy="1269682"/>
            </a:xfrm>
            <a:custGeom>
              <a:avLst/>
              <a:gdLst/>
              <a:ahLst/>
              <a:cxnLst/>
              <a:rect l="l" t="t" r="r" b="b"/>
              <a:pathLst>
                <a:path w="1413510" h="1269682">
                  <a:moveTo>
                    <a:pt x="0" y="0"/>
                  </a:moveTo>
                  <a:lnTo>
                    <a:pt x="1413510" y="12696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301490" y="4754880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99060"/>
                  </a:moveTo>
                  <a:lnTo>
                    <a:pt x="0" y="70485"/>
                  </a:lnTo>
                  <a:lnTo>
                    <a:pt x="638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807845" y="5109210"/>
              <a:ext cx="601980" cy="9525"/>
            </a:xfrm>
            <a:custGeom>
              <a:avLst/>
              <a:gdLst/>
              <a:ahLst/>
              <a:cxnLst/>
              <a:rect l="l" t="t" r="r" b="b"/>
              <a:pathLst>
                <a:path w="601980" h="9525">
                  <a:moveTo>
                    <a:pt x="0" y="0"/>
                  </a:moveTo>
                  <a:lnTo>
                    <a:pt x="60198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409825" y="50615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495675" y="5109210"/>
              <a:ext cx="601980" cy="9525"/>
            </a:xfrm>
            <a:custGeom>
              <a:avLst/>
              <a:gdLst/>
              <a:ahLst/>
              <a:cxnLst/>
              <a:rect l="l" t="t" r="r" b="b"/>
              <a:pathLst>
                <a:path w="601980" h="9525">
                  <a:moveTo>
                    <a:pt x="0" y="0"/>
                  </a:moveTo>
                  <a:lnTo>
                    <a:pt x="60198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97655" y="50615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183505" y="5109210"/>
              <a:ext cx="681990" cy="9525"/>
            </a:xfrm>
            <a:custGeom>
              <a:avLst/>
              <a:gdLst/>
              <a:ahLst/>
              <a:cxnLst/>
              <a:rect l="l" t="t" r="r" b="b"/>
              <a:pathLst>
                <a:path w="681990" h="9525">
                  <a:moveTo>
                    <a:pt x="0" y="0"/>
                  </a:moveTo>
                  <a:lnTo>
                    <a:pt x="68199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865495" y="50615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969895" y="1801178"/>
              <a:ext cx="1619250" cy="320040"/>
            </a:xfrm>
            <a:prstGeom prst="roundRect">
              <a:avLst>
                <a:gd name="adj" fmla="val 297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930718" y="3200400"/>
              <a:ext cx="1619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32948" y="3200400"/>
              <a:ext cx="5715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960745" y="3200400"/>
              <a:ext cx="5715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7245" y="4853940"/>
              <a:ext cx="990600" cy="510540"/>
            </a:xfrm>
            <a:prstGeom prst="roundRect">
              <a:avLst>
                <a:gd name="adj" fmla="val 1865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505075" y="4853940"/>
              <a:ext cx="990600" cy="510540"/>
            </a:xfrm>
            <a:prstGeom prst="roundRect">
              <a:avLst>
                <a:gd name="adj" fmla="val 1865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92905" y="4853940"/>
              <a:ext cx="990600" cy="510540"/>
            </a:xfrm>
            <a:prstGeom prst="roundRect">
              <a:avLst>
                <a:gd name="adj" fmla="val 1865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960745" y="4949190"/>
              <a:ext cx="5715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340890" y="1886902"/>
              <a:ext cx="877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 | 56 | 77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01712" y="3285172"/>
              <a:ext cx="877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| 20 | 49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65956" y="32851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93753" y="32851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3386" y="4938712"/>
              <a:ext cx="6383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 Alice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2896" y="5129212"/>
              <a:ext cx="539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 Bob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06143" y="4938712"/>
              <a:ext cx="58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 Eric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35047" y="5129212"/>
              <a:ext cx="530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30 Jim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72470" y="4938712"/>
              <a:ext cx="631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49 Rose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01274" y="5129212"/>
              <a:ext cx="573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50 Tom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93753" y="50339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9000" y="2260759"/>
              <a:ext cx="21262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上两层是非叶子节点，只存索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08377" y="570118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叶子节点：存整行数据，用指针串成链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330440" y="1524000"/>
            <a:ext cx="4328160" cy="1621155"/>
            <a:chOff x="7330440" y="1524000"/>
            <a:chExt cx="4328160" cy="1621155"/>
          </a:xfrm>
        </p:grpSpPr>
        <p:sp>
          <p:nvSpPr>
            <p:cNvPr id="47" name="Rectangle 47"/>
            <p:cNvSpPr/>
            <p:nvPr/>
          </p:nvSpPr>
          <p:spPr>
            <a:xfrm>
              <a:off x="7330440" y="1524000"/>
              <a:ext cx="432816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3996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7809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6829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79118" y="1768792"/>
              <a:ext cx="1215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树存储引擎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70470" y="2129790"/>
              <a:ext cx="3606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树的持久化实现，用于关系型数据库和键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值系统，支持增、删、改、顺序读和随机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读。</a:t>
              </a:r>
            </a:p>
          </p:txBody>
        </p:sp>
      </p:grpSp>
      <p:grpSp>
        <p:nvGrpSpPr>
          <p:cNvPr id="65" name="c2-kv-2"/>
          <p:cNvGrpSpPr/>
          <p:nvPr/>
        </p:nvGrpSpPr>
        <p:grpSpPr>
          <a:xfrm>
            <a:off x="7322820" y="3360420"/>
            <a:ext cx="4335780" cy="1895475"/>
            <a:chOff x="7322820" y="3360420"/>
            <a:chExt cx="4335780" cy="1895475"/>
          </a:xfrm>
        </p:grpSpPr>
        <p:sp>
          <p:nvSpPr>
            <p:cNvPr id="54" name="TextBox 54"/>
            <p:cNvSpPr txBox="1"/>
            <p:nvPr/>
          </p:nvSpPr>
          <p:spPr>
            <a:xfrm>
              <a:off x="7322820" y="3360420"/>
              <a:ext cx="6802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InnoDB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63902" y="3360420"/>
              <a:ext cx="2156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MySQL 提供的存储引擎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330440" y="368046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322820" y="3800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聚集索引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63902" y="3800475"/>
              <a:ext cx="2801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行数据按主键组织成一棵 B+ 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330440" y="412051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22820" y="42405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页面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63902" y="4240530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按页组织数据，一页就是树的一个节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330440" y="484251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22820" y="49625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叶子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63902" y="49625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存数据；叶子间的指针支持范围扫描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7330440" y="5387340"/>
            <a:ext cx="4328160" cy="782955"/>
            <a:chOff x="7330440" y="5387340"/>
            <a:chExt cx="4328160" cy="782955"/>
          </a:xfrm>
        </p:grpSpPr>
        <p:sp>
          <p:nvSpPr>
            <p:cNvPr id="66" name="Rectangle 66"/>
            <p:cNvSpPr/>
            <p:nvPr/>
          </p:nvSpPr>
          <p:spPr>
            <a:xfrm>
              <a:off x="7330440" y="5387340"/>
              <a:ext cx="432816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535228" y="5678805"/>
              <a:ext cx="200026" cy="200026"/>
              <a:chOff x="7535228" y="567880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535228" y="56788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635240" y="57454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624128" y="57788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837170" y="5535930"/>
              <a:ext cx="3463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图据原课件第44页重画，只展开了根节点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的第一个孩子。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66127" cy="909257"/>
            <a:chOff x="520446" y="342900"/>
            <a:chExt cx="89661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661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树的读和改：查找最多 h − 1 次 IO，修改先记提交日志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416169" cy="4118896"/>
            <a:chOff x="533400" y="1533525"/>
            <a:chExt cx="5416169" cy="411889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307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8406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9144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根节点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49710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根节点常驻内存，不算 IO。30 落在 [15, 56) 这一段，进入第一个孩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中间节点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746534"/>
              <a:ext cx="4946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读入这一页（第 1 次 IO），页内二分查找：30 在 [20, 49)，进入第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二个叶子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3851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叶子节点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32359"/>
              <a:ext cx="3770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读入叶子（第 2 次 IO），二分查找找到 30 → Jim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900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82916"/>
              <a:ext cx="4914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树高 h = 3，共 2 = h − 1 次 IO，复杂度 O(h)；页面已在缓冲池里时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不用读盘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8748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5168741"/>
              <a:ext cx="50035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key 18 到 49：先找到 18 所在叶子，再顺着叶子指针往右读 Bob、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Eric、Jim、Rose</a:t>
              </a:r>
            </a:p>
          </p:txBody>
        </p:sp>
      </p:grpSp>
      <p:grpSp>
        <p:nvGrpSpPr>
          <p:cNvPr id="43" name="c2-flow-1"/>
          <p:cNvGrpSpPr/>
          <p:nvPr/>
        </p:nvGrpSpPr>
        <p:grpSpPr>
          <a:xfrm>
            <a:off x="6828472" y="1602105"/>
            <a:ext cx="4466273" cy="2320289"/>
            <a:chOff x="6828472" y="1602105"/>
            <a:chExt cx="4466273" cy="2320289"/>
          </a:xfrm>
        </p:grpSpPr>
        <p:sp>
          <p:nvSpPr>
            <p:cNvPr id="29" name="Freeform 29"/>
            <p:cNvSpPr/>
            <p:nvPr/>
          </p:nvSpPr>
          <p:spPr>
            <a:xfrm>
              <a:off x="9062085" y="1997392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428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009698" y="19973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828472" y="2417445"/>
              <a:ext cx="4361498" cy="594360"/>
            </a:xfrm>
            <a:custGeom>
              <a:avLst/>
              <a:gdLst/>
              <a:ahLst/>
              <a:cxnLst/>
              <a:rect l="l" t="t" r="r" b="b"/>
              <a:pathLst>
                <a:path w="4361498" h="594360">
                  <a:moveTo>
                    <a:pt x="0" y="0"/>
                  </a:moveTo>
                  <a:lnTo>
                    <a:pt x="2233612" y="0"/>
                  </a:lnTo>
                  <a:lnTo>
                    <a:pt x="2233612" y="594360"/>
                  </a:lnTo>
                  <a:lnTo>
                    <a:pt x="4361498" y="5943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1189970" y="29603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828472" y="3011805"/>
              <a:ext cx="4361498" cy="596265"/>
            </a:xfrm>
            <a:custGeom>
              <a:avLst/>
              <a:gdLst/>
              <a:ahLst/>
              <a:cxnLst/>
              <a:rect l="l" t="t" r="r" b="b"/>
              <a:pathLst>
                <a:path w="4361498" h="596265">
                  <a:moveTo>
                    <a:pt x="0" y="0"/>
                  </a:moveTo>
                  <a:lnTo>
                    <a:pt x="2233612" y="0"/>
                  </a:lnTo>
                  <a:lnTo>
                    <a:pt x="2233612" y="596265"/>
                  </a:lnTo>
                  <a:lnTo>
                    <a:pt x="4361498" y="5962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1189970" y="35547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28472" y="1602105"/>
              <a:ext cx="4466272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28472" y="2102168"/>
              <a:ext cx="4466272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28472" y="2697480"/>
              <a:ext cx="44662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28472" y="3292792"/>
              <a:ext cx="4466272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10981" y="17321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修改请求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05368" y="221884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写提交日志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（顺序写，落盘）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67928" y="2814161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修改内存中的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 树页面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67928" y="340947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内存页换出时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写回磁盘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464618" y="4095750"/>
            <a:ext cx="5193982" cy="1602105"/>
            <a:chOff x="6464618" y="4095750"/>
            <a:chExt cx="5193982" cy="1602105"/>
          </a:xfrm>
        </p:grpSpPr>
        <p:sp>
          <p:nvSpPr>
            <p:cNvPr id="44" name="Rectangle 44"/>
            <p:cNvSpPr/>
            <p:nvPr/>
          </p:nvSpPr>
          <p:spPr>
            <a:xfrm>
              <a:off x="6464618" y="4095750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422910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12268" y="430530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81775" y="43410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为什么先写日志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04648" y="468249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改过的页面先留在内存里，攒到换出时再写回。万一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宕机，重启后按提交日志把改动重做一遍（第五节的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REDO 日志）。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7305" cy="909257"/>
            <a:chOff x="520446" y="342900"/>
            <a:chExt cx="90073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73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缓冲池替换：LRU 淘汰最久没用的页，全表扫描会冲掉热页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27685" y="1524000"/>
            <a:ext cx="4983480" cy="4535328"/>
            <a:chOff x="527685" y="1524000"/>
            <a:chExt cx="4983480" cy="45353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22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5758" y="1659731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链表（新 → 旧）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846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淘汰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2026" y="210835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7525" y="210835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0960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026" y="255698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37525" y="2556986"/>
              <a:ext cx="2678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0960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026" y="300561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37525" y="3005614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B 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0960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026" y="34542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37525" y="3454241"/>
              <a:ext cx="577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C B 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960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2026" y="390382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7525" y="3903821"/>
              <a:ext cx="732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D C B 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0960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11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2026" y="435244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37525" y="4352449"/>
              <a:ext cx="732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E D C B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226242" y="4226242"/>
              <a:ext cx="127539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06920" y="435244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6605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2026" y="480107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439228" y="4674870"/>
              <a:ext cx="276796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537525" y="4801076"/>
              <a:ext cx="732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F E D 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09602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1101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11492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2026" y="524970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37525" y="5249704"/>
              <a:ext cx="732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C F E D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226242" y="5124450"/>
              <a:ext cx="127539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806920" y="5249704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4977765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424940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21195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7685" y="5639276"/>
              <a:ext cx="47622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缓冲池 5 页，据原课件第48页的图；第二次访问 C 时把它挪回表头，所以接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着被淘汰的是 B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5815965" y="1524000"/>
            <a:ext cx="5842635" cy="1701165"/>
            <a:chOff x="5815965" y="1524000"/>
            <a:chExt cx="5842635" cy="1701165"/>
          </a:xfrm>
        </p:grpSpPr>
        <p:sp>
          <p:nvSpPr>
            <p:cNvPr id="54" name="Rectangle 54"/>
            <p:cNvSpPr/>
            <p:nvPr/>
          </p:nvSpPr>
          <p:spPr>
            <a:xfrm>
              <a:off x="5815965" y="1524000"/>
              <a:ext cx="584263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25490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63615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32170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持久化与缓冲区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069330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27445" y="211074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内存中的页面长时间不用，会被持久化到磁盘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069330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27445" y="244602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读数据时先把页面加载到内存缓冲区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069330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27445" y="27813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缓冲区满了要选一页换出，这就是替换策略</a:t>
              </a:r>
            </a:p>
          </p:txBody>
        </p:sp>
      </p:grpSp>
      <p:grpSp>
        <p:nvGrpSpPr>
          <p:cNvPr id="70" name="c2-kv-2"/>
          <p:cNvGrpSpPr/>
          <p:nvPr/>
        </p:nvGrpSpPr>
        <p:grpSpPr>
          <a:xfrm>
            <a:off x="5808345" y="3440430"/>
            <a:ext cx="5850255" cy="1297305"/>
            <a:chOff x="5808345" y="3440430"/>
            <a:chExt cx="5850255" cy="1297305"/>
          </a:xfrm>
        </p:grpSpPr>
        <p:sp>
          <p:nvSpPr>
            <p:cNvPr id="65" name="TextBox 65"/>
            <p:cNvSpPr txBox="1"/>
            <p:nvPr/>
          </p:nvSpPr>
          <p:spPr>
            <a:xfrm>
              <a:off x="5808345" y="344043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LRU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99848" y="3440430"/>
              <a:ext cx="491109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Least Recently Used，淘汰最近最久没用的页。双向链表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按访问时间排，HashMap 按页号找链表节点，访问和淘汰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 O(1)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815965" y="43243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808345" y="444436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LFU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99848" y="4444365"/>
              <a:ext cx="44368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Least Frequently Used，淘汰访问次数最少的页</a:t>
              </a:r>
            </a:p>
          </p:txBody>
        </p:sp>
      </p:grpSp>
      <p:grpSp>
        <p:nvGrpSpPr>
          <p:cNvPr id="76" name="c2-card-3"/>
          <p:cNvGrpSpPr/>
          <p:nvPr/>
        </p:nvGrpSpPr>
        <p:grpSpPr>
          <a:xfrm>
            <a:off x="5815965" y="4869180"/>
            <a:ext cx="5842635" cy="1316355"/>
            <a:chOff x="5815965" y="4869180"/>
            <a:chExt cx="5842635" cy="1316355"/>
          </a:xfrm>
        </p:grpSpPr>
        <p:sp>
          <p:nvSpPr>
            <p:cNvPr id="71" name="Rectangle 71"/>
            <p:cNvSpPr/>
            <p:nvPr/>
          </p:nvSpPr>
          <p:spPr>
            <a:xfrm>
              <a:off x="5815965" y="486918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5825490" y="500253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063615" y="507873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141021" y="51144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缓冲池污染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055995" y="5455920"/>
              <a:ext cx="4996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缓冲池 5 页，热页 H1、H2 被反复访问；一次全表扫描读过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到 S5 后，池里只剩 S1–S5，真正的高频数据全被换出。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52984" cy="909257"/>
            <a:chOff x="520446" y="342900"/>
            <a:chExt cx="97529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529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的 LinkedHashMap 写一个 LRU，结果与上页的表一致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492240" cy="3974782"/>
            <a:chOff x="533400" y="1524000"/>
            <a:chExt cx="6492240" cy="39747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3974782"/>
            </a:xfrm>
            <a:prstGeom prst="roundRect">
              <a:avLst>
                <a:gd name="adj" fmla="val 239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44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LruDemo.java（JDK 21 实跑）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606" y="1936671"/>
              <a:ext cx="5929948" cy="34898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0"/>
                </a:lnSpc>
              </a:pP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java.util.*;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LruDemo {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Lru&lt;K, V&gt;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LinkedHashMap&lt;K, V&gt; {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cap;</a:t>
              </a:r>
              <a:br/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Lru(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cap) {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(16, 0.75f,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.cap = cap; }  </a:t>
              </a:r>
              <a:r>
                <a:rPr lang="zh-CN" sz="10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true：按访问顺序</a:t>
              </a:r>
              <a:br/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@Override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removeEldestEntry(Map.Entry&lt;K, V&gt; e) {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size() &gt; cap;                </a:t>
              </a:r>
              <a:r>
                <a:rPr lang="zh-CN" sz="10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超出容量就淘汰最久未用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Lru&lt;String, Integer&gt; c =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Lru&lt;&gt;(5);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(String k : </a:t>
              </a:r>
              <a:r>
                <a:rPr lang="en-US" sz="101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 B C D E F C G"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.split(</a:t>
              </a:r>
              <a:r>
                <a:rPr lang="zh-CN" sz="101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c.put(k, 1);</a:t>
              </a:r>
              <a:br/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System.out.println(k + </a:t>
              </a:r>
              <a:r>
                <a:rPr lang="zh-CN" sz="101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-&gt; "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c.keySet());  </a:t>
              </a:r>
              <a:r>
                <a:rPr lang="zh-CN" sz="10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左旧右新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7330440" y="1524000"/>
            <a:ext cx="4328160" cy="2125028"/>
            <a:chOff x="7330440" y="1524000"/>
            <a:chExt cx="4328160" cy="2125028"/>
          </a:xfrm>
        </p:grpSpPr>
        <p:sp>
          <p:nvSpPr>
            <p:cNvPr id="11" name="Rectangle 11"/>
            <p:cNvSpPr/>
            <p:nvPr/>
          </p:nvSpPr>
          <p:spPr>
            <a:xfrm>
              <a:off x="7330440" y="1524000"/>
              <a:ext cx="432816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5883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8075" y="1937861"/>
              <a:ext cx="1576070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 -&gt; [A]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 -&gt; [A, B]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 -&gt; [A, B, C]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 -&gt; [A, B, C, D]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 -&gt; [A, B, C, D, E]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 -&gt; [B, C, D, E, F]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 -&gt; [B, D, E, F, C]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 -&gt; [D, E, F, C, G]</a:t>
              </a:r>
            </a:p>
          </p:txBody>
        </p:sp>
      </p:grpSp>
      <p:grpSp>
        <p:nvGrpSpPr>
          <p:cNvPr id="20" name="c2-kv-2"/>
          <p:cNvGrpSpPr/>
          <p:nvPr/>
        </p:nvGrpSpPr>
        <p:grpSpPr>
          <a:xfrm>
            <a:off x="7322820" y="3864292"/>
            <a:ext cx="4335780" cy="1297306"/>
            <a:chOff x="7322820" y="3864292"/>
            <a:chExt cx="4335780" cy="1297306"/>
          </a:xfrm>
        </p:grpSpPr>
        <p:sp>
          <p:nvSpPr>
            <p:cNvPr id="15" name="TextBox 15"/>
            <p:cNvSpPr txBox="1"/>
            <p:nvPr/>
          </p:nvSpPr>
          <p:spPr>
            <a:xfrm>
              <a:off x="7322820" y="3864292"/>
              <a:ext cx="126539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accessOrder</a:t>
              </a:r>
              <a:br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= true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81110" y="3864292"/>
              <a:ext cx="25203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 get、put 已有 key 都把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它挪到链尾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330440" y="446627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22820" y="4586288"/>
              <a:ext cx="1325404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removeEldest</a:t>
              </a:r>
              <a:br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Entry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81110" y="4586288"/>
              <a:ext cx="24441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 put 后调用，返回 true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就删链头</a:t>
              </a:r>
            </a:p>
          </p:txBody>
        </p:sp>
      </p:grpSp>
      <p:grpSp>
        <p:nvGrpSpPr>
          <p:cNvPr id="27" name="c2-callout-3"/>
          <p:cNvGrpSpPr/>
          <p:nvPr/>
        </p:nvGrpSpPr>
        <p:grpSpPr>
          <a:xfrm>
            <a:off x="7330440" y="5293042"/>
            <a:ext cx="4328160" cy="782955"/>
            <a:chOff x="7330440" y="5293042"/>
            <a:chExt cx="4328160" cy="782955"/>
          </a:xfrm>
        </p:grpSpPr>
        <p:sp>
          <p:nvSpPr>
            <p:cNvPr id="21" name="Rectangle 21"/>
            <p:cNvSpPr/>
            <p:nvPr/>
          </p:nvSpPr>
          <p:spPr>
            <a:xfrm>
              <a:off x="7330440" y="5293042"/>
              <a:ext cx="432816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535228" y="5584508"/>
              <a:ext cx="200026" cy="200025"/>
              <a:chOff x="7535228" y="5584508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535228" y="55845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574966" y="56289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609682" y="57400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837170" y="5441632"/>
              <a:ext cx="3301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输出按“旧 → 新”排列，倒过来读就是上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页表格；A、B 先后被淘汰。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38117" cy="909257"/>
            <a:chOff x="520446" y="342900"/>
            <a:chExt cx="73381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381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LIRS 用 IRR 看“是否频繁”，用 R 看“是否近期”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cells-1"/>
          <p:cNvGrpSpPr/>
          <p:nvPr/>
        </p:nvGrpSpPr>
        <p:grpSpPr>
          <a:xfrm>
            <a:off x="528066" y="1524000"/>
            <a:ext cx="5632704" cy="898684"/>
            <a:chOff x="528066" y="1524000"/>
            <a:chExt cx="5632704" cy="898684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621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访问序列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00150" y="1524000"/>
              <a:ext cx="55149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29273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51648" y="1524000"/>
              <a:ext cx="55149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80771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02192" y="1524000"/>
              <a:ext cx="55149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3131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53690" y="1524000"/>
              <a:ext cx="55149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82813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04235" y="1524000"/>
              <a:ext cx="55149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34311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955732" y="1524000"/>
              <a:ext cx="55149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8485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06278" y="1524000"/>
              <a:ext cx="551498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6353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57775" y="1524000"/>
              <a:ext cx="55149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86898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609272" y="1524000"/>
              <a:ext cx="551498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3839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40303" y="19845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91801" y="19845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42346" y="19845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93843" y="19845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45341" y="19845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95886" y="19845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47383" y="19845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97928" y="19845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49426" y="19845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846445" y="213074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59006" y="226075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当前时刻</a:t>
              </a:r>
            </a:p>
          </p:txBody>
        </p:sp>
      </p:grpSp>
      <p:grpSp>
        <p:nvGrpSpPr>
          <p:cNvPr id="43" name="c1-kv-2"/>
          <p:cNvGrpSpPr/>
          <p:nvPr/>
        </p:nvGrpSpPr>
        <p:grpSpPr>
          <a:xfrm>
            <a:off x="526161" y="2605564"/>
            <a:ext cx="5633657" cy="1235964"/>
            <a:chOff x="526161" y="2605564"/>
            <a:chExt cx="5633657" cy="1235964"/>
          </a:xfrm>
        </p:grpSpPr>
        <p:sp>
          <p:nvSpPr>
            <p:cNvPr id="38" name="TextBox 38"/>
            <p:cNvSpPr txBox="1"/>
            <p:nvPr/>
          </p:nvSpPr>
          <p:spPr>
            <a:xfrm>
              <a:off x="526161" y="2605564"/>
              <a:ext cx="3113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IRR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0036" y="2605564"/>
              <a:ext cx="4730369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Inter-Reference Recency：某块最近连续两次访问之间，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访问过的其他块的个数（不计重复块），衡量是否频繁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1794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6161" y="3295174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0036" y="3295174"/>
              <a:ext cx="467626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Recency：某块最近一次访问到当前时刻，访问过的其他块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的个数，衡量是否近期</a:t>
              </a:r>
            </a:p>
          </p:txBody>
        </p:sp>
      </p:grpSp>
      <p:grpSp>
        <p:nvGrpSpPr>
          <p:cNvPr id="49" name="c1-card-3"/>
          <p:cNvGrpSpPr/>
          <p:nvPr/>
        </p:nvGrpSpPr>
        <p:grpSpPr>
          <a:xfrm>
            <a:off x="533400" y="3970972"/>
            <a:ext cx="5626418" cy="2326958"/>
            <a:chOff x="533400" y="3970972"/>
            <a:chExt cx="5626418" cy="2326958"/>
          </a:xfrm>
        </p:grpSpPr>
        <p:sp>
          <p:nvSpPr>
            <p:cNvPr id="44" name="Rectangle 44"/>
            <p:cNvSpPr/>
            <p:nvPr/>
          </p:nvSpPr>
          <p:spPr>
            <a:xfrm>
              <a:off x="533400" y="3970972"/>
              <a:ext cx="5626418" cy="2326958"/>
            </a:xfrm>
            <a:prstGeom prst="roundRect">
              <a:avLst>
                <a:gd name="adj" fmla="val 57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104322"/>
              <a:ext cx="47625" cy="2060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75335" y="417480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5543" y="42105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8096" y="4547711"/>
              <a:ext cx="496481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原课件第49页图中给数据 1 标 IRR = 4，是把 2、3、4、3 里重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复的 3 算了两次。按定义不计重复块，应为 3，与同页文字一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致。</a:t>
              </a:r>
            </a:p>
          </p:txBody>
        </p:sp>
      </p:grpSp>
      <p:grpSp>
        <p:nvGrpSpPr>
          <p:cNvPr id="84" name="c2-table-1"/>
          <p:cNvGrpSpPr/>
          <p:nvPr/>
        </p:nvGrpSpPr>
        <p:grpSpPr>
          <a:xfrm>
            <a:off x="6458902" y="1524000"/>
            <a:ext cx="5199698" cy="3086577"/>
            <a:chOff x="6458902" y="1524000"/>
            <a:chExt cx="5199698" cy="3086577"/>
          </a:xfrm>
        </p:grpSpPr>
        <p:sp>
          <p:nvSpPr>
            <p:cNvPr id="50" name="Rectangle 50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1226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43647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最近两次访问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13501" y="1655445"/>
              <a:ext cx="263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IRR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31718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27166" y="21917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01497" y="2085022"/>
              <a:ext cx="16200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1、6 次，中间有 2、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383078" y="1964055"/>
              <a:ext cx="1123950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894532" y="219170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705414" y="2191702"/>
              <a:ext cx="763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2（5、6）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25927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64618" y="2597468"/>
              <a:ext cx="519398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27166" y="28355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01497" y="2835592"/>
              <a:ext cx="1554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3、5 次，中间有 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94532" y="28355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726674" y="2728912"/>
              <a:ext cx="7208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3（1、5、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6）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64618" y="32365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27166" y="33728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01497" y="3372802"/>
              <a:ext cx="1554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7、9 次，中间有 6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383078" y="3250882"/>
              <a:ext cx="112395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894532" y="337280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036579" y="337280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464618" y="36661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64618" y="3670935"/>
              <a:ext cx="519398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27166" y="3909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01497" y="390906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只访问过 1 次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383078" y="3680460"/>
              <a:ext cx="1123950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894532" y="3909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726674" y="3802380"/>
              <a:ext cx="7208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4（3、1、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5、6）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464618" y="1524000"/>
              <a:ext cx="5193982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29138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368790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051083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458902" y="4390549"/>
              <a:ext cx="4142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 1、5、4 是原课件的例子，数据 3 是补充；已用脚本复核</a:t>
              </a:r>
            </a:p>
          </p:txBody>
        </p:sp>
      </p:grpSp>
      <p:grpSp>
        <p:nvGrpSpPr>
          <p:cNvPr id="90" name="c2-card-2"/>
          <p:cNvGrpSpPr/>
          <p:nvPr/>
        </p:nvGrpSpPr>
        <p:grpSpPr>
          <a:xfrm>
            <a:off x="6464618" y="4752022"/>
            <a:ext cx="5193982" cy="1545908"/>
            <a:chOff x="6464618" y="4752022"/>
            <a:chExt cx="5193982" cy="1545908"/>
          </a:xfrm>
        </p:grpSpPr>
        <p:sp>
          <p:nvSpPr>
            <p:cNvPr id="85" name="Rectangle 85"/>
            <p:cNvSpPr/>
            <p:nvPr/>
          </p:nvSpPr>
          <p:spPr>
            <a:xfrm>
              <a:off x="6464618" y="4752022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474142" y="488537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706552" y="495585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792811" y="49915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699314" y="5328761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IRR 小说明这块被反复访问，是热数据；只访问过一次的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IRR 为无穷大，全表扫描读到的页都是这种，不该挤进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热区。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88561" cy="909257"/>
            <a:chOff x="520446" y="342900"/>
            <a:chExt cx="97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LIRS 两级缓冲挡住全表扫描；B 树引擎随机读稳定、不偏袒热点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730568" y="1706880"/>
            <a:ext cx="5232082" cy="2044065"/>
            <a:chOff x="730568" y="1706880"/>
            <a:chExt cx="5232082" cy="2044065"/>
          </a:xfrm>
        </p:grpSpPr>
        <p:sp>
          <p:nvSpPr>
            <p:cNvPr id="7" name="Freeform 7"/>
            <p:cNvSpPr/>
            <p:nvPr/>
          </p:nvSpPr>
          <p:spPr>
            <a:xfrm>
              <a:off x="1940242" y="2145030"/>
              <a:ext cx="9525" cy="164783"/>
            </a:xfrm>
            <a:custGeom>
              <a:avLst/>
              <a:gdLst/>
              <a:ahLst/>
              <a:cxnLst/>
              <a:rect l="l" t="t" r="r" b="b"/>
              <a:pathLst>
                <a:path w="9525" h="164783">
                  <a:moveTo>
                    <a:pt x="0" y="0"/>
                  </a:moveTo>
                  <a:lnTo>
                    <a:pt x="0" y="1647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87855" y="23098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149918" y="2728912"/>
              <a:ext cx="288608" cy="9525"/>
            </a:xfrm>
            <a:custGeom>
              <a:avLst/>
              <a:gdLst/>
              <a:ahLst/>
              <a:cxnLst/>
              <a:rect l="l" t="t" r="r" b="b"/>
              <a:pathLst>
                <a:path w="288608" h="9525">
                  <a:moveTo>
                    <a:pt x="0" y="0"/>
                  </a:moveTo>
                  <a:lnTo>
                    <a:pt x="2886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38525" y="2676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0242" y="3043238"/>
              <a:ext cx="9525" cy="164783"/>
            </a:xfrm>
            <a:custGeom>
              <a:avLst/>
              <a:gdLst/>
              <a:ahLst/>
              <a:cxnLst/>
              <a:rect l="l" t="t" r="r" b="b"/>
              <a:pathLst>
                <a:path w="9525" h="164783">
                  <a:moveTo>
                    <a:pt x="0" y="0"/>
                  </a:moveTo>
                  <a:lnTo>
                    <a:pt x="0" y="1647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87855" y="32080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30568" y="1706880"/>
              <a:ext cx="2419350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0568" y="2414588"/>
              <a:ext cx="24193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543300" y="2414588"/>
              <a:ext cx="2419350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0568" y="3312795"/>
              <a:ext cx="241935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02982" y="18368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新读入的页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56677" y="2530316"/>
              <a:ext cx="116713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HIR 冷数据缓冲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内部按 R 做 LRU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69410" y="2530316"/>
              <a:ext cx="116713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LIR 热数据缓冲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内部按 R 做 LRU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75295" y="344281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被淘汰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375535" y="2173605"/>
              <a:ext cx="194214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62895" y="2200275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短时间内再访问（2 次及以上）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968818" y="3086100"/>
              <a:ext cx="78200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92058" y="3112770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只访问 1 次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124325"/>
            <a:ext cx="5626418" cy="1752600"/>
            <a:chOff x="533400" y="4124325"/>
            <a:chExt cx="5626418" cy="1752600"/>
          </a:xfrm>
        </p:grpSpPr>
        <p:sp>
          <p:nvSpPr>
            <p:cNvPr id="26" name="Rectangle 26"/>
            <p:cNvSpPr/>
            <p:nvPr/>
          </p:nvSpPr>
          <p:spPr>
            <a:xfrm>
              <a:off x="533400" y="4124325"/>
              <a:ext cx="5626418" cy="1752600"/>
            </a:xfrm>
            <a:prstGeom prst="roundRect">
              <a:avLst>
                <a:gd name="adj" fmla="val 652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900613"/>
              <a:ext cx="200026" cy="200026"/>
              <a:chOff x="738188" y="4900613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49006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04863" y="49784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75773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全表扫描的页只被访问一次，只在冷区里转一圈就被淘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汰，热区里的数据不受影响。</a:t>
              </a:r>
            </a:p>
          </p:txBody>
        </p:sp>
      </p:grpSp>
      <p:grpSp>
        <p:nvGrpSpPr>
          <p:cNvPr id="50" name="c2-compare-1"/>
          <p:cNvGrpSpPr/>
          <p:nvPr/>
        </p:nvGrpSpPr>
        <p:grpSpPr>
          <a:xfrm>
            <a:off x="6464618" y="1524000"/>
            <a:ext cx="5193982" cy="2274570"/>
            <a:chOff x="6464618" y="1524000"/>
            <a:chExt cx="5193982" cy="2274570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2386965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4648" y="1758315"/>
              <a:ext cx="1417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树引擎的优点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7983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6098" y="2112645"/>
              <a:ext cx="1791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 B+ 树索引结构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7983" y="25107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76098" y="244792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支持随机读和顺序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17983" y="31318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6098" y="306895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随机读性能稳定，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271635" y="1524000"/>
              <a:ext cx="2386965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81160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11665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525000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83115" y="211264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针对频繁访问的数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据没有专门优化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525000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683115" y="27336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页面置换有代价，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扩展性一般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900160" y="249936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70500" y="25955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464618" y="3989070"/>
            <a:ext cx="5193982" cy="1887855"/>
            <a:chOff x="6464618" y="3989070"/>
            <a:chExt cx="5193982" cy="1887855"/>
          </a:xfrm>
        </p:grpSpPr>
        <p:sp>
          <p:nvSpPr>
            <p:cNvPr id="51" name="Rectangle 51"/>
            <p:cNvSpPr/>
            <p:nvPr/>
          </p:nvSpPr>
          <p:spPr>
            <a:xfrm>
              <a:off x="6464618" y="3989070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412242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12268" y="4198620"/>
              <a:ext cx="136969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76617" y="4234339"/>
              <a:ext cx="1240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思考“多级缓冲？”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04648" y="4575810"/>
              <a:ext cx="4396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把两级推广到多级，按访问频度分层存放。MySQL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InnoDB 的缓冲池就把 LRU 链表分成 young、old 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段，新页先进 old 段，停留超过一定时间再被访问才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升到 young 段，思路和 LIRS 相同。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33494" cy="909257"/>
            <a:chOff x="520446" y="342900"/>
            <a:chExt cx="68334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334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LSM 树的出发点：补上 Bitcask 的两个短板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293495"/>
            <a:chOff x="533400" y="1524000"/>
            <a:chExt cx="5410200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7206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LSM 树（Log Structured Merge Tree）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支持增、删、改、随机读和顺序读的批量存储技术，可用于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大规模存储系统，代表是 Google LevelDB。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33400" y="3002280"/>
            <a:ext cx="5410200" cy="1504950"/>
            <a:chOff x="533400" y="3002280"/>
            <a:chExt cx="5410200" cy="1504950"/>
          </a:xfrm>
        </p:grpSpPr>
        <p:sp>
          <p:nvSpPr>
            <p:cNvPr id="14" name="Rectangle 14"/>
            <p:cNvSpPr/>
            <p:nvPr/>
          </p:nvSpPr>
          <p:spPr>
            <a:xfrm>
              <a:off x="533400" y="300228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42177" y="3133725"/>
              <a:ext cx="1163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Bitcask 的局限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07277" y="3133725"/>
              <a:ext cx="1043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LSM 树的做法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746" y="3564255"/>
              <a:ext cx="159067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内存容量限制：&lt;key,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offset&gt; 索引全放内存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23222" y="3442335"/>
              <a:ext cx="3010852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19044" y="3564255"/>
              <a:ext cx="26334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用排序字符串表 SSTable 加稀疏索引，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不必把每个 key 都放进内存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0719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07670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420719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区间查询差：数据无序存储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923222" y="4086225"/>
              <a:ext cx="301085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019044" y="4207192"/>
              <a:ext cx="279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内 key 有序，范围查询顺着读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02280"/>
              <a:ext cx="5410200" cy="1503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908935" y="3002280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3"/>
          <p:cNvGrpSpPr/>
          <p:nvPr/>
        </p:nvGrpSpPr>
        <p:grpSpPr>
          <a:xfrm>
            <a:off x="533400" y="4692015"/>
            <a:ext cx="5410200" cy="1317308"/>
            <a:chOff x="533400" y="4692015"/>
            <a:chExt cx="5410200" cy="1317308"/>
          </a:xfrm>
        </p:grpSpPr>
        <p:sp>
          <p:nvSpPr>
            <p:cNvPr id="28" name="Rectangle 28"/>
            <p:cNvSpPr/>
            <p:nvPr/>
          </p:nvSpPr>
          <p:spPr>
            <a:xfrm>
              <a:off x="533400" y="4692015"/>
              <a:ext cx="5410200" cy="1317308"/>
            </a:xfrm>
            <a:prstGeom prst="roundRect">
              <a:avLst>
                <a:gd name="adj" fmla="val 101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825365"/>
              <a:ext cx="47625" cy="10506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5335" y="48958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2741" y="49315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索引的代价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8096" y="526875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索引加快读、减慢写。要排序，写就不能再随手追加，原课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件由此发问：写性能怎样保证？</a:t>
              </a:r>
            </a:p>
          </p:txBody>
        </p:sp>
      </p:grpSp>
      <p:grpSp>
        <p:nvGrpSpPr>
          <p:cNvPr id="69" name="c2-cells-1"/>
          <p:cNvGrpSpPr/>
          <p:nvPr/>
        </p:nvGrpSpPr>
        <p:grpSpPr>
          <a:xfrm>
            <a:off x="6243447" y="1524000"/>
            <a:ext cx="5415153" cy="2125028"/>
            <a:chOff x="6243447" y="1524000"/>
            <a:chExt cx="5415153" cy="2125028"/>
          </a:xfrm>
        </p:grpSpPr>
        <p:sp>
          <p:nvSpPr>
            <p:cNvPr id="34" name="TextBox 34"/>
            <p:cNvSpPr txBox="1"/>
            <p:nvPr/>
          </p:nvSpPr>
          <p:spPr>
            <a:xfrm>
              <a:off x="6243447" y="1666399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数据块 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879908" y="1524000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99017" y="1666399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74342" y="1524000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14231" y="166639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bear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268778" y="1524000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47712" y="166639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464165" y="1524000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42147" y="166639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43447" y="2239804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数据块 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79908" y="2096452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57890" y="223980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egg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074342" y="2096452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31546" y="2239804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fish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268778" y="2096452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709618" y="223980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goat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464165" y="2096452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942147" y="223980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43447" y="2812256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数据块 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879908" y="2669858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75205" y="2812256"/>
              <a:ext cx="2038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ink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074342" y="2669858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55788" y="2812256"/>
              <a:ext cx="231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jam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268778" y="2669858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726934" y="2812256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kite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64165" y="2669858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907516" y="2812256"/>
              <a:ext cx="3077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lamp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43447" y="33847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稀疏索引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879908" y="3242310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22829" y="3384709"/>
              <a:ext cx="508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apple→0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074342" y="3242310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476137" y="3384709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egg→1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268778" y="3242310"/>
              <a:ext cx="119443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688840" y="3384709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ink→2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464165" y="3242310"/>
              <a:ext cx="119443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71" name="c2-text-2"/>
          <p:cNvGrpSpPr/>
          <p:nvPr/>
        </p:nvGrpSpPr>
        <p:grpSpPr>
          <a:xfrm>
            <a:off x="6242304" y="3853815"/>
            <a:ext cx="5125212" cy="470916"/>
            <a:chOff x="6242304" y="3853815"/>
            <a:chExt cx="5125212" cy="470916"/>
          </a:xfrm>
        </p:grpSpPr>
        <p:sp>
          <p:nvSpPr>
            <p:cNvPr id="70" name="TextBox 70"/>
            <p:cNvSpPr txBox="1"/>
            <p:nvPr/>
          </p:nvSpPr>
          <p:spPr>
            <a:xfrm>
              <a:off x="6242304" y="3853815"/>
              <a:ext cx="512521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示意：key 按序存放，索引只记每块的第一个 key。找 fish：egg ≤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fish &lt; ink，只读数据块 1。</a:t>
              </a:r>
            </a:p>
          </p:txBody>
        </p:sp>
      </p:grpSp>
      <p:grpSp>
        <p:nvGrpSpPr>
          <p:cNvPr id="77" name="c2-card-3"/>
          <p:cNvGrpSpPr/>
          <p:nvPr/>
        </p:nvGrpSpPr>
        <p:grpSpPr>
          <a:xfrm>
            <a:off x="6248400" y="4463415"/>
            <a:ext cx="5410200" cy="1545908"/>
            <a:chOff x="6248400" y="4463415"/>
            <a:chExt cx="5410200" cy="1545908"/>
          </a:xfrm>
        </p:grpSpPr>
        <p:sp>
          <p:nvSpPr>
            <p:cNvPr id="72" name="Rectangle 72"/>
            <p:cNvSpPr/>
            <p:nvPr/>
          </p:nvSpPr>
          <p:spPr>
            <a:xfrm>
              <a:off x="6248400" y="4463415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257925" y="459676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490335" y="46672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580543" y="47029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83096" y="5040154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先在内存里维护一个有序结构（原课件写平衡树，LevelDB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实际用跳表），新写入都进这里；攒够一批后整体写成一个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文件。落到磁盘的永远是大块顺序写。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32495" cy="909257"/>
            <a:chOff x="520446" y="342900"/>
            <a:chExt cx="9332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32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LSM 写入与换出：日志 → MemTable → 冻结 → SSTable 分层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graph-1"/>
          <p:cNvGrpSpPr/>
          <p:nvPr/>
        </p:nvGrpSpPr>
        <p:grpSpPr>
          <a:xfrm>
            <a:off x="779145" y="1627346"/>
            <a:ext cx="5880793" cy="3098007"/>
            <a:chOff x="779145" y="1627346"/>
            <a:chExt cx="5880793" cy="3098007"/>
          </a:xfrm>
        </p:grpSpPr>
        <p:sp>
          <p:nvSpPr>
            <p:cNvPr id="7" name="Freeform 7"/>
            <p:cNvSpPr/>
            <p:nvPr/>
          </p:nvSpPr>
          <p:spPr>
            <a:xfrm>
              <a:off x="5805488" y="1811655"/>
              <a:ext cx="9525" cy="160973"/>
            </a:xfrm>
            <a:custGeom>
              <a:avLst/>
              <a:gdLst/>
              <a:ahLst/>
              <a:cxnLst/>
              <a:rect l="l" t="t" r="r" b="b"/>
              <a:pathLst>
                <a:path w="9525" h="160973">
                  <a:moveTo>
                    <a:pt x="0" y="0"/>
                  </a:moveTo>
                  <a:lnTo>
                    <a:pt x="0" y="1609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57862" y="19726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828098" y="2217420"/>
              <a:ext cx="1413510" cy="9525"/>
            </a:xfrm>
            <a:custGeom>
              <a:avLst/>
              <a:gdLst/>
              <a:ahLst/>
              <a:cxnLst/>
              <a:rect l="l" t="t" r="r" b="b"/>
              <a:pathLst>
                <a:path w="1413510" h="9525">
                  <a:moveTo>
                    <a:pt x="141351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32848" y="21697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68968" y="2456498"/>
              <a:ext cx="9525" cy="624840"/>
            </a:xfrm>
            <a:custGeom>
              <a:avLst/>
              <a:gdLst/>
              <a:ahLst/>
              <a:cxnLst/>
              <a:rect l="l" t="t" r="r" b="b"/>
              <a:pathLst>
                <a:path w="9525" h="624840">
                  <a:moveTo>
                    <a:pt x="0" y="0"/>
                  </a:moveTo>
                  <a:lnTo>
                    <a:pt x="0" y="6248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21342" y="30813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68968" y="3476625"/>
              <a:ext cx="9525" cy="229553"/>
            </a:xfrm>
            <a:custGeom>
              <a:avLst/>
              <a:gdLst/>
              <a:ahLst/>
              <a:cxnLst/>
              <a:rect l="l" t="t" r="r" b="b"/>
              <a:pathLst>
                <a:path w="9525" h="229553">
                  <a:moveTo>
                    <a:pt x="0" y="0"/>
                  </a:moveTo>
                  <a:lnTo>
                    <a:pt x="0" y="229553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21342" y="37061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168968" y="410146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21342" y="43300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41608" y="2067878"/>
              <a:ext cx="112680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06040" y="1978342"/>
              <a:ext cx="1126808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32522" y="2724150"/>
              <a:ext cx="4073842" cy="25718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435418" y="3176588"/>
              <a:ext cx="34671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435418" y="3801428"/>
              <a:ext cx="34671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435418" y="4425315"/>
              <a:ext cx="34671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60745" y="3176588"/>
              <a:ext cx="69342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960745" y="3801428"/>
              <a:ext cx="69342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60745" y="4425315"/>
              <a:ext cx="69342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83630" y="1627346"/>
              <a:ext cx="44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34514" y="2147411"/>
              <a:ext cx="741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76929" y="2057876"/>
              <a:ext cx="784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Immutable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97994" y="2236946"/>
              <a:ext cx="741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45747" y="3257074"/>
              <a:ext cx="2646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Level 0：SSTable（key 范围可重叠）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22153" y="3880961"/>
              <a:ext cx="3093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Level 1：约 10 MB，SSTable 间 key 不重叠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66873" y="4504849"/>
              <a:ext cx="22041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Level 2：约 100 MB，逐层 ×10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68667" y="3257074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54973" y="3880961"/>
              <a:ext cx="704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Manifest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94523" y="4504849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Current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63378" y="2131695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179570" y="216408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写满后冻结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993708" y="2817495"/>
              <a:ext cx="35052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016758" y="2849880"/>
              <a:ext cx="3044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Dump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819400" y="3552825"/>
              <a:ext cx="69913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832181" y="3585210"/>
              <a:ext cx="6735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Compaction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819400" y="4177665"/>
              <a:ext cx="69913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832181" y="4209098"/>
              <a:ext cx="6735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Compaction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9145" y="24426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9145" y="28236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磁盘</a:t>
              </a:r>
            </a:p>
          </p:txBody>
        </p:sp>
      </p:grpSp>
      <p:grpSp>
        <p:nvGrpSpPr>
          <p:cNvPr id="52" name="c1-callout-2"/>
          <p:cNvGrpSpPr/>
          <p:nvPr/>
        </p:nvGrpSpPr>
        <p:grpSpPr>
          <a:xfrm>
            <a:off x="533400" y="5166360"/>
            <a:ext cx="6276022" cy="729615"/>
            <a:chOff x="533400" y="5166360"/>
            <a:chExt cx="6276022" cy="729615"/>
          </a:xfrm>
        </p:grpSpPr>
        <p:sp>
          <p:nvSpPr>
            <p:cNvPr id="47" name="Rectangle 47"/>
            <p:cNvSpPr/>
            <p:nvPr/>
          </p:nvSpPr>
          <p:spPr>
            <a:xfrm>
              <a:off x="533400" y="516636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431157"/>
              <a:ext cx="200023" cy="200023"/>
              <a:chOff x="738188" y="5431157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4311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54978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5312092"/>
              <a:ext cx="523436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写请求只经过一次顺序写日志和一次内存插入，所以 LSM 写得快；排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序和合并的代价推迟到后台的 Dump 和 Compaction。</a:t>
              </a:r>
            </a:p>
          </p:txBody>
        </p:sp>
      </p:grpSp>
      <p:grpSp>
        <p:nvGrpSpPr>
          <p:cNvPr id="74" name="c2-steps-1"/>
          <p:cNvGrpSpPr/>
          <p:nvPr/>
        </p:nvGrpSpPr>
        <p:grpSpPr>
          <a:xfrm>
            <a:off x="7114222" y="1533525"/>
            <a:ext cx="4527551" cy="3489483"/>
            <a:chOff x="7114222" y="1533525"/>
            <a:chExt cx="4527551" cy="3489483"/>
          </a:xfrm>
        </p:grpSpPr>
        <p:sp>
          <p:nvSpPr>
            <p:cNvPr id="53" name="Rectangle 53"/>
            <p:cNvSpPr/>
            <p:nvPr/>
          </p:nvSpPr>
          <p:spPr>
            <a:xfrm>
              <a:off x="7247572" y="1676400"/>
              <a:ext cx="19050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14222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07846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14222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07846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114222" y="3501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07846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14222" y="42957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07846" y="4369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26464" y="1564957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 1：写日志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27608" y="1833086"/>
              <a:ext cx="4114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先把操作顺序追加到 Log 文件，宕机后可用它恢复 MemTable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26464" y="2152650"/>
              <a:ext cx="18414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 2：写 MemTable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27608" y="241982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插入内存中的有序结构，写请求到此就返回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26464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冻结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27608" y="3006566"/>
              <a:ext cx="39728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 写满后变成只读的 Immutable MemTable，同时新建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MemTable 接收写入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26464" y="3532822"/>
              <a:ext cx="11394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形成 SSTable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27608" y="3800951"/>
              <a:ext cx="39159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后台把 Immutable MemTable 按序写成 Level 0 的 SSTable 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26464" y="432720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清单与合并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27608" y="4595336"/>
              <a:ext cx="38874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Manifest 记每个 SSTable 的层级和 key 范围，Current 指向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 Manifest；Compaction 把上层文件合并进下一层</a:t>
              </a:r>
            </a:p>
          </p:txBody>
        </p:sp>
      </p:grpSp>
      <p:grpSp>
        <p:nvGrpSpPr>
          <p:cNvPr id="81" name="c2-callout-2"/>
          <p:cNvGrpSpPr/>
          <p:nvPr/>
        </p:nvGrpSpPr>
        <p:grpSpPr>
          <a:xfrm>
            <a:off x="7114222" y="5191125"/>
            <a:ext cx="4544378" cy="704850"/>
            <a:chOff x="7114222" y="5191125"/>
            <a:chExt cx="4544378" cy="704850"/>
          </a:xfrm>
        </p:grpSpPr>
        <p:sp>
          <p:nvSpPr>
            <p:cNvPr id="75" name="Rectangle 75"/>
            <p:cNvSpPr/>
            <p:nvPr/>
          </p:nvSpPr>
          <p:spPr>
            <a:xfrm>
              <a:off x="7114222" y="5191125"/>
              <a:ext cx="4544378" cy="704850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19010" y="5443538"/>
              <a:ext cx="200026" cy="200026"/>
              <a:chOff x="7319010" y="5443538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19010" y="54435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419023" y="55102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407910" y="55435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7621714" y="5449252"/>
              <a:ext cx="38473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图据原课件第57页（LevelDB 官方博客）重画。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05662" cy="909257"/>
            <a:chOff x="520446" y="342900"/>
            <a:chExt cx="100056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05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查询从新到老逐层找；Compaction 用写放大换读放大和空间放大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132781" cy="2702814"/>
            <a:chOff x="533400" y="1533525"/>
            <a:chExt cx="4132781" cy="27028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393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27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4523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564481"/>
              <a:ext cx="1075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MemTable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181832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最新的写入都在这里，找到就返回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116931"/>
              <a:ext cx="20126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Immutable MemTable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37172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正在等待写盘的那一批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670334"/>
              <a:ext cx="853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Level 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2925128"/>
              <a:ext cx="2873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文件间 key 范围可能重叠，要从新到老逐个查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222784"/>
              <a:ext cx="1278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Level 1、2 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477578"/>
              <a:ext cx="3719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每层内 key 不重叠，按 Manifest 的范围每层只查一个文件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7761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03098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先找到的就是最新版本；没找到要一直查到最底层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397692"/>
            <a:ext cx="5410200" cy="1042035"/>
            <a:chOff x="533400" y="4397692"/>
            <a:chExt cx="5410200" cy="1042035"/>
          </a:xfrm>
        </p:grpSpPr>
        <p:sp>
          <p:nvSpPr>
            <p:cNvPr id="29" name="Rectangle 29"/>
            <p:cNvSpPr/>
            <p:nvPr/>
          </p:nvSpPr>
          <p:spPr>
            <a:xfrm>
              <a:off x="533400" y="4397692"/>
              <a:ext cx="5410200" cy="1042035"/>
            </a:xfrm>
            <a:prstGeom prst="roundRect">
              <a:avLst>
                <a:gd name="adj" fmla="val 1096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4818698"/>
              <a:ext cx="200026" cy="200025"/>
              <a:chOff x="738188" y="4818698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48186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48631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49742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4712494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同一个 key 可能在多层都有旧版本，所以查询顺序必须是从新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到老。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248400" y="1524000"/>
            <a:ext cx="5410200" cy="2361248"/>
            <a:chOff x="6248400" y="1524000"/>
            <a:chExt cx="5410200" cy="2361248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6337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87982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06354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57925" y="1953578"/>
              <a:ext cx="954405" cy="62769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1936" y="21788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写放大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5391" y="217884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一次写入请求造成多次磁盘写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04273" y="2065496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合并压缩反复重写同一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条数据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25860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2590800"/>
              <a:ext cx="5410200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2600325"/>
              <a:ext cx="954405" cy="62769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1936" y="28255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读放大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5391" y="2712244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读取的数据量大于用户需要的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04273" y="2712244"/>
              <a:ext cx="1679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key 可能要查多层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2337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3248025"/>
              <a:ext cx="954405" cy="62769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1936" y="34723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空间放大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15391" y="347233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实际占用空间大于有效数据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04273" y="335899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日志模式，过期数据删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除不及时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1524000"/>
              <a:ext cx="5410200" cy="23612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17092" y="1524000"/>
              <a:ext cx="9525" cy="2361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705975" y="1524000"/>
              <a:ext cx="9525" cy="2361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6248400" y="4050030"/>
            <a:ext cx="5410200" cy="1390650"/>
            <a:chOff x="6248400" y="4050030"/>
            <a:chExt cx="5410200" cy="1390650"/>
          </a:xfrm>
        </p:grpSpPr>
        <p:sp>
          <p:nvSpPr>
            <p:cNvPr id="59" name="Rectangle 59"/>
            <p:cNvSpPr/>
            <p:nvPr/>
          </p:nvSpPr>
          <p:spPr>
            <a:xfrm>
              <a:off x="6248400" y="4050030"/>
              <a:ext cx="5410200" cy="1390650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57925" y="4183380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67475" y="423100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56096" y="426386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0998" y="4570571"/>
              <a:ext cx="48003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一条记录至少写几次盘才到 Level 2？写日志 1 次、Dump 成 Level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次、合并到 Level 1 1 次、再合并到 Level 2 1 次，至少 4 次。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2141" y="509492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每次合并还要重写下一层与之重叠的文件，实际倍数更高。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6" name="Rectangle 6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7901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Compaction 减少读放大、缩小占用空间，但会带来写放大。三者此消彼长，调参数只是在它们之间挪。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单机存储引擎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三种引擎对比：各有长短，按读写特点选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33400" y="1524000"/>
            <a:ext cx="11125200" cy="3901440"/>
            <a:chOff x="533400" y="1524000"/>
            <a:chExt cx="11125200" cy="3901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867977" y="1663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哈希存储引擎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99848" y="1663065"/>
              <a:ext cx="1215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树存储引擎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36545" y="1663065"/>
              <a:ext cx="1506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LSM 树存储引擎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1552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5485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日志流派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01602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页面索引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7720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日志流派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91552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75485" y="2638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增删改、随机读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01602" y="26384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增删改、随机读、顺序读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27720" y="26384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增删改、随机读、顺序读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1552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5485" y="312610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内存索引 + 外存数据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01602" y="31261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索引和数据分别页面化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27720" y="312610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索引和数据分片排序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1552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878330" y="3484245"/>
              <a:ext cx="3207068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75485" y="3613785"/>
              <a:ext cx="1802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读写性能稳定 O(1)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104448" y="3484245"/>
              <a:ext cx="3207068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01602" y="3613785"/>
              <a:ext cx="2999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顺序扫描；随机读性能稳定 O(h)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30565" y="3484245"/>
              <a:ext cx="3318510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27720" y="36137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顺序扫描；可扩展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957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91552" y="41014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878330" y="3971925"/>
              <a:ext cx="32070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975485" y="41014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不支持顺序读；容量受内存限制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04448" y="3971925"/>
              <a:ext cx="32070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01602" y="41014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页面置换代价；扩展性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330565" y="3971925"/>
              <a:ext cx="3318510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27720" y="41014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写放大、读放大、空间放大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4453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4500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1552" y="45891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75485" y="45891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键值对存储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01602" y="45891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表格存储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27720" y="45891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键值和表格存储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9329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0588" y="50768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975485" y="50768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日志流派轻量级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01602" y="5076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稳定全面的表格存储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27720" y="50768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大规模排序索引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1524000"/>
              <a:ext cx="11125200" cy="39014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864042" y="1524000"/>
              <a:ext cx="9525" cy="3901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090160" y="1524000"/>
              <a:ext cx="9525" cy="3901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316278" y="1524000"/>
              <a:ext cx="9525" cy="3901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1-text-2"/>
          <p:cNvGrpSpPr/>
          <p:nvPr/>
        </p:nvGrpSpPr>
        <p:grpSpPr>
          <a:xfrm>
            <a:off x="526923" y="5637371"/>
            <a:ext cx="10685018" cy="500824"/>
            <a:chOff x="526923" y="5637371"/>
            <a:chExt cx="10685018" cy="500824"/>
          </a:xfrm>
        </p:grpSpPr>
        <p:sp>
          <p:nvSpPr>
            <p:cNvPr id="59" name="TextBox 59"/>
            <p:cNvSpPr txBox="1"/>
            <p:nvPr/>
          </p:nvSpPr>
          <p:spPr>
            <a:xfrm>
              <a:off x="526923" y="5637371"/>
              <a:ext cx="1068501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原课件第61页的归纳：LSM 树是维护 key 排序、采用分布式索引的日志流派引擎；日志流派（哈希索引、LSM 树）写入快，适合大规模存储，用空间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换时间；B 树读取快、性能稳定，工业界应用最广。“功能”一行原表只标出各引擎的特色，这里按第6、43、54页补全。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57622" cy="3351847"/>
            <a:chOff x="667512" y="1835468"/>
            <a:chExt cx="535762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存储系统的外壳：用户看到的是文件、表格还是键值对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内容提要：数据模型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文件模型与对象模型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4389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关系模型：二维表、SQL、索引与事务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16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键值模型：NoSQL 的取舍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三种常见数据模型；文件模型用目录树组织文件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626418" cy="2383155"/>
            <a:chOff x="533400" y="1524000"/>
            <a:chExt cx="5626418" cy="2383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933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06880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组织方式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26118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6130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604" y="21283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5321" y="21283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75966" y="2128361"/>
              <a:ext cx="1192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文件系统、PC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63796" y="21283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按路径访问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574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62212"/>
              <a:ext cx="5626418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04" y="272367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5321" y="272367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75966" y="2596991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关系数据库、表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63796" y="2596991"/>
              <a:ext cx="14571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业界标准，应用广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794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04" y="34456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5321" y="3318986"/>
              <a:ext cx="56451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&lt;key,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value&gt;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75966" y="3445669"/>
              <a:ext cx="10462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NoSQL 系统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63796" y="344566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可扩展、高并发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626418" cy="23831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316355" y="1524000"/>
              <a:ext cx="9525" cy="2383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67000" y="1524000"/>
              <a:ext cx="9525" cy="2383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54830" y="1524000"/>
              <a:ext cx="9525" cy="2383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4091940"/>
            <a:ext cx="5626418" cy="2185988"/>
            <a:chOff x="533400" y="4091940"/>
            <a:chExt cx="5626418" cy="2185988"/>
          </a:xfrm>
        </p:grpSpPr>
        <p:sp>
          <p:nvSpPr>
            <p:cNvPr id="32" name="Rectangle 32"/>
            <p:cNvSpPr/>
            <p:nvPr/>
          </p:nvSpPr>
          <p:spPr>
            <a:xfrm>
              <a:off x="533400" y="4091940"/>
              <a:ext cx="5626418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22529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5335" y="429577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7644" y="4331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文件模型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2955" y="47291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9546" y="466867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应用程序以目录的形式访问文件，文件系统实现文件功能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2955" y="50492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9546" y="4988719"/>
              <a:ext cx="36663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POSIX 标准接口（原子操作）：open/close、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read/write、opendir/closedir、readdir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2955" y="56407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9546" y="5580221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每个盘符一棵树（C:\Windows、C:\Users），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只有一棵以 / 为根的树</a:t>
              </a:r>
            </a:p>
          </p:txBody>
        </p:sp>
      </p:grpSp>
      <p:grpSp>
        <p:nvGrpSpPr>
          <p:cNvPr id="69" name="c2-tree-1"/>
          <p:cNvGrpSpPr/>
          <p:nvPr/>
        </p:nvGrpSpPr>
        <p:grpSpPr>
          <a:xfrm>
            <a:off x="6767512" y="1625918"/>
            <a:ext cx="4608195" cy="2846070"/>
            <a:chOff x="6767512" y="1625918"/>
            <a:chExt cx="4608195" cy="2846070"/>
          </a:xfrm>
        </p:grpSpPr>
        <p:sp>
          <p:nvSpPr>
            <p:cNvPr id="43" name="Freeform 43"/>
            <p:cNvSpPr/>
            <p:nvPr/>
          </p:nvSpPr>
          <p:spPr>
            <a:xfrm>
              <a:off x="9062085" y="3658552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062085" y="3048000"/>
              <a:ext cx="9525" cy="610553"/>
            </a:xfrm>
            <a:custGeom>
              <a:avLst/>
              <a:gdLst/>
              <a:ahLst/>
              <a:cxnLst/>
              <a:rect l="l" t="t" r="r" b="b"/>
              <a:pathLst>
                <a:path w="9525" h="610553">
                  <a:moveTo>
                    <a:pt x="0" y="0"/>
                  </a:moveTo>
                  <a:lnTo>
                    <a:pt x="0" y="6105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062085" y="24384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983730" y="1828800"/>
              <a:ext cx="2078355" cy="609600"/>
            </a:xfrm>
            <a:custGeom>
              <a:avLst/>
              <a:gdLst/>
              <a:ahLst/>
              <a:cxnLst/>
              <a:rect l="l" t="t" r="r" b="b"/>
              <a:pathLst>
                <a:path w="2078355" h="609600">
                  <a:moveTo>
                    <a:pt x="2078355" y="0"/>
                  </a:moveTo>
                  <a:lnTo>
                    <a:pt x="0" y="6096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022908" y="1828800"/>
              <a:ext cx="1039178" cy="609600"/>
            </a:xfrm>
            <a:custGeom>
              <a:avLst/>
              <a:gdLst/>
              <a:ahLst/>
              <a:cxnLst/>
              <a:rect l="l" t="t" r="r" b="b"/>
              <a:pathLst>
                <a:path w="1039178" h="609600">
                  <a:moveTo>
                    <a:pt x="1039178" y="0"/>
                  </a:moveTo>
                  <a:lnTo>
                    <a:pt x="0" y="6096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062085" y="18288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062085" y="1828800"/>
              <a:ext cx="1038225" cy="609600"/>
            </a:xfrm>
            <a:custGeom>
              <a:avLst/>
              <a:gdLst/>
              <a:ahLst/>
              <a:cxnLst/>
              <a:rect l="l" t="t" r="r" b="b"/>
              <a:pathLst>
                <a:path w="1038225" h="609600">
                  <a:moveTo>
                    <a:pt x="0" y="0"/>
                  </a:moveTo>
                  <a:lnTo>
                    <a:pt x="1038225" y="6096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062085" y="1828800"/>
              <a:ext cx="2077403" cy="609600"/>
            </a:xfrm>
            <a:custGeom>
              <a:avLst/>
              <a:gdLst/>
              <a:ahLst/>
              <a:cxnLst/>
              <a:rect l="l" t="t" r="r" b="b"/>
              <a:pathLst>
                <a:path w="2077403" h="609600">
                  <a:moveTo>
                    <a:pt x="0" y="0"/>
                  </a:moveTo>
                  <a:lnTo>
                    <a:pt x="2077403" y="6096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67512" y="2235518"/>
              <a:ext cx="43338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85735" y="2235518"/>
              <a:ext cx="473392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952422" y="4065270"/>
              <a:ext cx="2217420" cy="406718"/>
            </a:xfrm>
            <a:prstGeom prst="roundRect">
              <a:avLst>
                <a:gd name="adj" fmla="val 1873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697278" y="3454718"/>
              <a:ext cx="729615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808720" y="2845118"/>
              <a:ext cx="50577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764905" y="2235518"/>
              <a:ext cx="59340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864090" y="2235518"/>
              <a:ext cx="473392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902315" y="2235518"/>
              <a:ext cx="473392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858250" y="1625918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58899" y="2364105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76874" y="23641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etc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02398" y="4192905"/>
              <a:ext cx="21193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Jerry_is_My_ Friend.mp4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80355" y="3583305"/>
              <a:ext cx="563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movies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96129" y="2973705"/>
              <a:ext cx="331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52444" y="2364105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home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954277" y="23641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993454" y="23641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09343" y="1754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</a:t>
              </a:r>
            </a:p>
          </p:txBody>
        </p:sp>
      </p:grpSp>
      <p:grpSp>
        <p:nvGrpSpPr>
          <p:cNvPr id="76" name="c2-callout-2"/>
          <p:cNvGrpSpPr/>
          <p:nvPr/>
        </p:nvGrpSpPr>
        <p:grpSpPr>
          <a:xfrm>
            <a:off x="6464618" y="4758690"/>
            <a:ext cx="5193982" cy="1520190"/>
            <a:chOff x="6464618" y="4758690"/>
            <a:chExt cx="5193982" cy="1520190"/>
          </a:xfrm>
        </p:grpSpPr>
        <p:sp>
          <p:nvSpPr>
            <p:cNvPr id="70" name="Rectangle 70"/>
            <p:cNvSpPr/>
            <p:nvPr/>
          </p:nvSpPr>
          <p:spPr>
            <a:xfrm>
              <a:off x="6464618" y="4758690"/>
              <a:ext cx="5193982" cy="1520190"/>
            </a:xfrm>
            <a:prstGeom prst="roundRect">
              <a:avLst>
                <a:gd name="adj" fmla="val 751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669405" y="5418773"/>
              <a:ext cx="200026" cy="200026"/>
              <a:chOff x="6669405" y="5418773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669405" y="54187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769418" y="54854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758305" y="55187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971729" y="5024914"/>
              <a:ext cx="4180332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应用程序拿路径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/home/Tom/movies/Jerry_is_My_Friend.mp4 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给文件系统，由它找到磁盘上的数据块（原课件第68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4737" cy="909257"/>
            <a:chOff x="520446" y="342900"/>
            <a:chExt cx="6944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4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对象模型：弱化目录、一次写入的“特殊文件”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6276022" cy="4259580"/>
            <a:chOff x="533400" y="1524000"/>
            <a:chExt cx="6276022" cy="42595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868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4411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05884" y="1663065"/>
              <a:ext cx="20448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对象模型（S3、TFS）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69745" y="228409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多级目录路径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54805" y="215074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桶加对象键，弱化目录的概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627602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38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9745" y="30384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可以随机改写某一段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57650" y="2775585"/>
              <a:ext cx="2742248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54805" y="290512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二进制数据块，一次性写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入，不可修改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5156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080" y="37928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69745" y="3659505"/>
              <a:ext cx="19392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POSIX：open、read、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54805" y="3659505"/>
              <a:ext cx="22631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HTTP：PUT、GET、DELETE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整个对象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2700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274820"/>
              <a:ext cx="627602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45472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69745" y="454723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受文件系统限制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54805" y="4413885"/>
              <a:ext cx="2348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原课件给出 S3 的 5 TB 容量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限制（单个对象上限）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0244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0080" y="53016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69745" y="5301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通用读写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54805" y="516826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大规模数据存储：图片、视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频、备份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276022" cy="42595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58302" y="1524000"/>
              <a:ext cx="9525" cy="42595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43362" y="1524000"/>
              <a:ext cx="9525" cy="42595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1887855"/>
            <a:chOff x="7114222" y="1524000"/>
            <a:chExt cx="4544378" cy="1887855"/>
          </a:xfrm>
        </p:grpSpPr>
        <p:sp>
          <p:nvSpPr>
            <p:cNvPr id="37" name="Rectangle 37"/>
            <p:cNvSpPr/>
            <p:nvPr/>
          </p:nvSpPr>
          <p:spPr>
            <a:xfrm>
              <a:off x="7114222" y="1524000"/>
              <a:ext cx="4544378" cy="1887855"/>
            </a:xfrm>
            <a:prstGeom prst="roundRect">
              <a:avLst>
                <a:gd name="adj" fmla="val 706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237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051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两种看法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6152" y="2110740"/>
              <a:ext cx="3825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对象模型可以看成一种特殊的文件模型（有名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字、有内容，但没有目录层次和改写），也可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以看成一种键值模型（key 是桶名加对象名，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value 是整块数据）。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7114222" y="3602355"/>
            <a:ext cx="4544378" cy="1602105"/>
            <a:chOff x="7114222" y="3602355"/>
            <a:chExt cx="4544378" cy="1602105"/>
          </a:xfrm>
        </p:grpSpPr>
        <p:sp>
          <p:nvSpPr>
            <p:cNvPr id="42" name="Rectangle 42"/>
            <p:cNvSpPr/>
            <p:nvPr/>
          </p:nvSpPr>
          <p:spPr>
            <a:xfrm>
              <a:off x="7114222" y="3602355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23748" y="373570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61872" y="381190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30427" y="38476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为什么不许改写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54252" y="4189095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对象只能整体覆盖，系统就不必处理多个客户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端并发改同一段数据，副本同步也简单，容易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扩到很大规模。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7114222" y="5394960"/>
            <a:ext cx="4544378" cy="782955"/>
            <a:chOff x="7114222" y="5394960"/>
            <a:chExt cx="4544378" cy="782955"/>
          </a:xfrm>
        </p:grpSpPr>
        <p:sp>
          <p:nvSpPr>
            <p:cNvPr id="48" name="Rectangle 48"/>
            <p:cNvSpPr/>
            <p:nvPr/>
          </p:nvSpPr>
          <p:spPr>
            <a:xfrm>
              <a:off x="7114222" y="5394960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19010" y="5686425"/>
              <a:ext cx="200026" cy="200026"/>
              <a:chOff x="7319010" y="568642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19010" y="56864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419023" y="5753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407910" y="57864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620952" y="5543550"/>
              <a:ext cx="3577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课程大纲里的对象存储 S3 没有单独课件，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这里的对比是全课唯一的 S3 内容。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96912" cy="909257"/>
            <a:chOff x="520446" y="342900"/>
            <a:chExt cx="83969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969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关系模型：数据是若干张二维表，SQL 按固定顺序求值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28447" y="1524000"/>
            <a:ext cx="4765548" cy="1026509"/>
            <a:chOff x="528447" y="1524000"/>
            <a:chExt cx="4765548" cy="10265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726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83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姓名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7756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5771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02311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49183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29331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09478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1524000"/>
              <a:ext cx="476059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74974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929890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10038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447" y="2359819"/>
              <a:ext cx="6827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关系“成绩”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28447" y="2677478"/>
            <a:ext cx="4765548" cy="1026508"/>
            <a:chOff x="528447" y="2677478"/>
            <a:chExt cx="4765548" cy="1026508"/>
          </a:xfrm>
        </p:grpSpPr>
        <p:sp>
          <p:nvSpPr>
            <p:cNvPr id="22" name="Rectangle 22"/>
            <p:cNvSpPr/>
            <p:nvPr/>
          </p:nvSpPr>
          <p:spPr>
            <a:xfrm>
              <a:off x="533400" y="2677478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3930" y="27946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98358" y="27946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姓名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06877" y="27946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寝室楼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53700" y="27946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寝室号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8078" y="317563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82508" y="31756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95981" y="3175635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3号楼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42804" y="317563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677478"/>
              <a:ext cx="476059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683068" y="267747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96540" y="267747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43362" y="267747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3513296"/>
              <a:ext cx="6827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关系“寝室”</a:t>
              </a:r>
            </a:p>
          </p:txBody>
        </p:sp>
      </p:grpSp>
      <p:grpSp>
        <p:nvGrpSpPr>
          <p:cNvPr id="48" name="c1-kv-3"/>
          <p:cNvGrpSpPr/>
          <p:nvPr/>
        </p:nvGrpSpPr>
        <p:grpSpPr>
          <a:xfrm>
            <a:off x="526923" y="3851434"/>
            <a:ext cx="4767072" cy="1371409"/>
            <a:chOff x="526923" y="3851434"/>
            <a:chExt cx="4767072" cy="1371409"/>
          </a:xfrm>
        </p:grpSpPr>
        <p:sp>
          <p:nvSpPr>
            <p:cNvPr id="37" name="TextBox 37"/>
            <p:cNvSpPr txBox="1"/>
            <p:nvPr/>
          </p:nvSpPr>
          <p:spPr>
            <a:xfrm>
              <a:off x="526923" y="38514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3663" y="385143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一张二维表，由多个元组（行）构成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1233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6923" y="42257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元组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3663" y="422576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一行，由多个属性（列）构成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4977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6923" y="4599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3663" y="4599146"/>
              <a:ext cx="4131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关系型数据库：Oracle、SQL Server、DB2、MySQL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8710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6923" y="49734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修改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3663" y="4973479"/>
              <a:ext cx="2114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INSERT、DELETE、UPDATE</a:t>
              </a:r>
            </a:p>
          </p:txBody>
        </p:sp>
      </p:grpSp>
      <p:grpSp>
        <p:nvGrpSpPr>
          <p:cNvPr id="55" name="c1-callout-4"/>
          <p:cNvGrpSpPr/>
          <p:nvPr/>
        </p:nvGrpSpPr>
        <p:grpSpPr>
          <a:xfrm>
            <a:off x="533400" y="5337810"/>
            <a:ext cx="4760595" cy="981075"/>
            <a:chOff x="533400" y="5337810"/>
            <a:chExt cx="4760595" cy="981075"/>
          </a:xfrm>
        </p:grpSpPr>
        <p:sp>
          <p:nvSpPr>
            <p:cNvPr id="49" name="Rectangle 49"/>
            <p:cNvSpPr/>
            <p:nvPr/>
          </p:nvSpPr>
          <p:spPr>
            <a:xfrm>
              <a:off x="533400" y="5337810"/>
              <a:ext cx="4760595" cy="981075"/>
            </a:xfrm>
            <a:prstGeom prst="roundRect">
              <a:avLst>
                <a:gd name="adj" fmla="val 1165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728335"/>
              <a:ext cx="200026" cy="200025"/>
              <a:chOff x="738188" y="5728335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7283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57727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58839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5621179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SELECT 写在最前面，却是第 5 步才算。所以 WHERE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里不能用 SELECT 中起的别名，ORDER BY 里可以。</a:t>
              </a:r>
            </a:p>
          </p:txBody>
        </p:sp>
      </p:grpSp>
      <p:grpSp>
        <p:nvGrpSpPr>
          <p:cNvPr id="59" name="c2-code-1"/>
          <p:cNvGrpSpPr/>
          <p:nvPr/>
        </p:nvGrpSpPr>
        <p:grpSpPr>
          <a:xfrm>
            <a:off x="5598795" y="1524000"/>
            <a:ext cx="6059805" cy="1561148"/>
            <a:chOff x="5598795" y="1524000"/>
            <a:chExt cx="6059805" cy="1561148"/>
          </a:xfrm>
        </p:grpSpPr>
        <p:sp>
          <p:nvSpPr>
            <p:cNvPr id="56" name="Rectangle 56"/>
            <p:cNvSpPr/>
            <p:nvPr/>
          </p:nvSpPr>
          <p:spPr>
            <a:xfrm>
              <a:off x="5598795" y="1524000"/>
              <a:ext cx="6059805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27192" y="167592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查询：各寝室楼数学课的平均分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727192" y="1935956"/>
              <a:ext cx="2922270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SELECT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d.寝室楼,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AVG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(g.成绩)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平均分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成绩 g, 寝室 d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WHERE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g.学号 = d.学号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AND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g.课程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'数学'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GROUP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d.寝室楼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HAVING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COUNT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(*) &gt;= 1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ORDER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平均分 DESC;</a:t>
              </a:r>
            </a:p>
          </p:txBody>
        </p:sp>
      </p:grpSp>
      <p:grpSp>
        <p:nvGrpSpPr>
          <p:cNvPr id="95" name="c2-table-2"/>
          <p:cNvGrpSpPr/>
          <p:nvPr/>
        </p:nvGrpSpPr>
        <p:grpSpPr>
          <a:xfrm>
            <a:off x="5593842" y="3249930"/>
            <a:ext cx="6064758" cy="3106770"/>
            <a:chOff x="5593842" y="3249930"/>
            <a:chExt cx="6064758" cy="3106770"/>
          </a:xfrm>
        </p:grpSpPr>
        <p:sp>
          <p:nvSpPr>
            <p:cNvPr id="60" name="Rectangle 60"/>
            <p:cNvSpPr/>
            <p:nvPr/>
          </p:nvSpPr>
          <p:spPr>
            <a:xfrm>
              <a:off x="5598795" y="3249930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15965" y="33670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06578" y="33670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01950" y="33670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916501" y="37490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21184" y="3749040"/>
              <a:ext cx="3989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75651" y="3749040"/>
              <a:ext cx="27502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FROM 列出的各关系元组的所有可能组合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598795" y="40081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598795" y="401288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916501" y="41300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21184" y="4130040"/>
              <a:ext cx="4512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WHERE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75651" y="413004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去掉不满足条件的组合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598795" y="43891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16501" y="45110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21184" y="4511040"/>
              <a:ext cx="66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GROUP BY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75651" y="451104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按属性分组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598795" y="4771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598795" y="477583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916501" y="48929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421184" y="4892992"/>
              <a:ext cx="466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HAVING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875651" y="489299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按条件过滤每一个组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598795" y="5152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916501" y="52739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336030" y="5166360"/>
              <a:ext cx="143541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421184" y="5273992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875651" y="527399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按指定属性计算结果元组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598795" y="5533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5598795" y="553783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916501" y="56559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21184" y="5655945"/>
              <a:ext cx="66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 BY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875651" y="565594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按属性列的值排序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598795" y="3249930"/>
              <a:ext cx="605980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6321742" y="324993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776210" y="324993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593842" y="5992654"/>
              <a:ext cx="5747512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命令与对象：SELECT 属性表、FROM 关系表、WHERE 条件、GROUP BY 属性表、HAVING 条件、ORDER BY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属性表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51383" cy="909257"/>
            <a:chOff x="520446" y="342900"/>
            <a:chExt cx="8351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51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键值模型：只按主键 Put/Get/Delete，弱化多表关联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222182"/>
            <a:chOff x="533400" y="1524000"/>
            <a:chExt cx="5410200" cy="22221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2182"/>
            </a:xfrm>
            <a:prstGeom prst="roundRect">
              <a:avLst>
                <a:gd name="adj" fmla="val 60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5548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3206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键值模型（NoSQL，not only SQL）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7754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表格式存储，每一行记录是一个键值二元组 &lt;key, value&gt;，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只支持基于主键的操作：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4986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90336"/>
              <a:ext cx="18651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Put：保存一个键值对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680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007519"/>
              <a:ext cx="18651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Get：读取一个键值对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33851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3325654"/>
              <a:ext cx="21323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Delete：删除一个键值对</a:t>
              </a:r>
            </a:p>
          </p:txBody>
        </p:sp>
      </p:grpSp>
      <p:grpSp>
        <p:nvGrpSpPr>
          <p:cNvPr id="36" name="c1-compare-2"/>
          <p:cNvGrpSpPr/>
          <p:nvPr/>
        </p:nvGrpSpPr>
        <p:grpSpPr>
          <a:xfrm>
            <a:off x="533400" y="3926205"/>
            <a:ext cx="5410200" cy="2400300"/>
            <a:chOff x="533400" y="3926205"/>
            <a:chExt cx="5410200" cy="2400300"/>
          </a:xfrm>
        </p:grpSpPr>
        <p:sp>
          <p:nvSpPr>
            <p:cNvPr id="20" name="Rectangle 20"/>
            <p:cNvSpPr/>
            <p:nvPr/>
          </p:nvSpPr>
          <p:spPr>
            <a:xfrm>
              <a:off x="533400" y="3926205"/>
              <a:ext cx="249555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4281" y="4147661"/>
              <a:ext cx="1835010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表格系统（Bigtable、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HBase）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39140" y="47882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5731" y="472773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支持范围扫描和列操作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9140" y="51054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5731" y="504586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 Insert、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Delete、Update、Get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39140" y="569499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5731" y="5635466"/>
              <a:ext cx="172770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 可按列过滤、排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序和分组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48050" y="3926205"/>
              <a:ext cx="249555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38931" y="4147661"/>
              <a:ext cx="18705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键值系统（Dynamo）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653790" y="45434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10381" y="448389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敏捷快速的随机读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653790" y="48615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10381" y="480107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去中心化，没有主节点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076575" y="496443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53046" y="506587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9" name="c2-compare-1"/>
          <p:cNvGrpSpPr/>
          <p:nvPr/>
        </p:nvGrpSpPr>
        <p:grpSpPr>
          <a:xfrm>
            <a:off x="6248400" y="1524000"/>
            <a:ext cx="5410200" cy="2203132"/>
            <a:chOff x="6248400" y="1524000"/>
            <a:chExt cx="5410200" cy="2203132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2495550" cy="2203132"/>
            </a:xfrm>
            <a:prstGeom prst="roundRect">
              <a:avLst>
                <a:gd name="adj" fmla="val 6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1657350"/>
              <a:ext cx="47625" cy="19364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77381" y="1745456"/>
              <a:ext cx="1652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NoSQL 面临的挑战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2240" y="21412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48831" y="208168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一般不支持多表关联操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2240" y="27308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48831" y="267033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事务性较弱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2240" y="30480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48831" y="298846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缺乏统一的标准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92240" y="336613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8831" y="330565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使用及运维复杂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163050" y="1524000"/>
              <a:ext cx="2495550" cy="2203132"/>
            </a:xfrm>
            <a:prstGeom prst="roundRect">
              <a:avLst>
                <a:gd name="adj" fmla="val 6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172575" y="1657350"/>
              <a:ext cx="47625" cy="19364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92031" y="1745456"/>
              <a:ext cx="142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 面临的挑战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406890" y="21412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563481" y="208168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海量数据下如何保证事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务的 ACID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406890" y="27308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563481" y="267033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数据冗余与效率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406890" y="30480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563481" y="298846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较难大规模扩展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791575" y="246316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68046" y="256460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248400" y="3907155"/>
            <a:ext cx="5410200" cy="2420302"/>
            <a:chOff x="6248400" y="3907155"/>
            <a:chExt cx="5410200" cy="2420302"/>
          </a:xfrm>
        </p:grpSpPr>
        <p:sp>
          <p:nvSpPr>
            <p:cNvPr id="60" name="Rectangle 60"/>
            <p:cNvSpPr/>
            <p:nvPr/>
          </p:nvSpPr>
          <p:spPr>
            <a:xfrm>
              <a:off x="6248400" y="3907155"/>
              <a:ext cx="5410200" cy="2420302"/>
            </a:xfrm>
            <a:prstGeom prst="roundRect">
              <a:avLst>
                <a:gd name="adj" fmla="val 551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46520" y="41052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37960" y="4139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39281" y="4465796"/>
              <a:ext cx="473938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一致性、可用性、持久性不能同时做到最好。关系模型用索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引提高读性能（索引就是上一节的 B+ 树），用事务保证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ACID；NoSQL 为了扩展性放松了其中一部分，下一节先把事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务讲清楚。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事务与并发控制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多个事务同时读写同一份数据，怎样既快又不出错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内容提要：事务与并发控制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90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ACID 与四种隔离级别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读写锁、行范围锁与死锁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写时复制与多版本并发控制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81057" cy="909257"/>
            <a:chOff x="520446" y="342900"/>
            <a:chExt cx="998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事务与并发控制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8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事务：要么全做要么全不做，把数据库从一个一致状态带到另一个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276022" cy="1459230"/>
            <a:chOff x="533400" y="1524000"/>
            <a:chExt cx="6276022" cy="1459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847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事务（transaction）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55001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访问并可能操作各种数据项的一个操作序列，这些操作要么全部执行，要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么全部不执行，是一个不可分割的工作单位。它使存储系统从一个一致的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状态原子地转移到另一个一致的状态。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33400" y="3153728"/>
            <a:ext cx="6276022" cy="2000250"/>
            <a:chOff x="533400" y="3153728"/>
            <a:chExt cx="6276022" cy="2000250"/>
          </a:xfrm>
        </p:grpSpPr>
        <p:sp>
          <p:nvSpPr>
            <p:cNvPr id="14" name="Rectangle 14"/>
            <p:cNvSpPr/>
            <p:nvPr/>
          </p:nvSpPr>
          <p:spPr>
            <a:xfrm>
              <a:off x="533400" y="3153728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4608" y="32751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01073" y="32751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83200" y="327517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靠什么实现（补充）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0555" y="3675221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原子性 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85950" y="367522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对数据的修改要么都执行，要么都不执行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23485" y="3675221"/>
              <a:ext cx="1044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UNDO 日志回滚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4906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53828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4075271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 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85950" y="407527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事务前后数据库的正确性、完整性不被破坏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23485" y="407527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约束规则 + 其余三性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3491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4475321"/>
              <a:ext cx="5641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隔离性 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85950" y="447532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事务修改完成之前，对其他事务不可见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3485" y="4475321"/>
              <a:ext cx="695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锁、MVCC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74916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753928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4875371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持久性 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85950" y="487537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事务结束后，影响是永久的，故障也不丢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23485" y="4875371"/>
              <a:ext cx="1044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REDO 日志落盘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153728"/>
              <a:ext cx="627602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784032" y="315372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21568" y="315372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3"/>
          <p:cNvGrpSpPr/>
          <p:nvPr/>
        </p:nvGrpSpPr>
        <p:grpSpPr>
          <a:xfrm>
            <a:off x="533400" y="5323522"/>
            <a:ext cx="6276022" cy="868680"/>
            <a:chOff x="533400" y="5323522"/>
            <a:chExt cx="6276022" cy="868680"/>
          </a:xfrm>
        </p:grpSpPr>
        <p:sp>
          <p:nvSpPr>
            <p:cNvPr id="39" name="Rectangle 39"/>
            <p:cNvSpPr/>
            <p:nvPr/>
          </p:nvSpPr>
          <p:spPr>
            <a:xfrm>
              <a:off x="533400" y="5323522"/>
              <a:ext cx="6276022" cy="868680"/>
            </a:xfrm>
            <a:prstGeom prst="roundRect">
              <a:avLst>
                <a:gd name="adj" fmla="val 1315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657850"/>
              <a:ext cx="200026" cy="200025"/>
              <a:chOff x="738188" y="5657850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6578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57023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58134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5539740"/>
              <a:ext cx="53286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一致性是目标，原子性、隔离性、持久性是保证它的手段；后两节的日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志和并发控制都为这四个字母服务。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7114222" y="1524000"/>
            <a:ext cx="4544378" cy="1700212"/>
            <a:chOff x="7114222" y="1524000"/>
            <a:chExt cx="4544378" cy="1700212"/>
          </a:xfrm>
        </p:grpSpPr>
        <p:sp>
          <p:nvSpPr>
            <p:cNvPr id="46" name="Rectangle 46"/>
            <p:cNvSpPr/>
            <p:nvPr/>
          </p:nvSpPr>
          <p:spPr>
            <a:xfrm>
              <a:off x="7114222" y="1524000"/>
              <a:ext cx="4544378" cy="1700212"/>
            </a:xfrm>
            <a:prstGeom prst="roundRect">
              <a:avLst>
                <a:gd name="adj" fmla="val 784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00912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85482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可串行化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94054" y="2054542"/>
              <a:ext cx="39570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多个并发事务的执行结果和某种顺序执行的结果相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同，这是理想状态。做不到时靠并发控制（隔离级别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和锁）；读事务远多于写事务，所以关键是提高读事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务的性能。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7114222" y="3393758"/>
            <a:ext cx="4544378" cy="1185862"/>
            <a:chOff x="7114222" y="3393758"/>
            <a:chExt cx="4544378" cy="1185862"/>
          </a:xfrm>
        </p:grpSpPr>
        <p:sp>
          <p:nvSpPr>
            <p:cNvPr id="51" name="Rectangle 51"/>
            <p:cNvSpPr/>
            <p:nvPr/>
          </p:nvSpPr>
          <p:spPr>
            <a:xfrm>
              <a:off x="7114222" y="3393758"/>
              <a:ext cx="454437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23748" y="352710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39012" y="358044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27633" y="361330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跷跷板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32154" y="3925252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原课件第82页用跷跷板比喻：一头是并发，一头是原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子（隔离）。隔离做得越严，能同时跑的事务越少。</a:t>
              </a:r>
            </a:p>
          </p:txBody>
        </p:sp>
      </p:grpSp>
      <p:grpSp>
        <p:nvGrpSpPr>
          <p:cNvPr id="62" name="c2-card-3"/>
          <p:cNvGrpSpPr/>
          <p:nvPr/>
        </p:nvGrpSpPr>
        <p:grpSpPr>
          <a:xfrm>
            <a:off x="7114222" y="4749165"/>
            <a:ext cx="4544378" cy="1443038"/>
            <a:chOff x="7114222" y="4749165"/>
            <a:chExt cx="4544378" cy="1443038"/>
          </a:xfrm>
        </p:grpSpPr>
        <p:sp>
          <p:nvSpPr>
            <p:cNvPr id="57" name="Rectangle 57"/>
            <p:cNvSpPr/>
            <p:nvPr/>
          </p:nvSpPr>
          <p:spPr>
            <a:xfrm>
              <a:off x="7114222" y="4749165"/>
              <a:ext cx="4544378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23748" y="488251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39012" y="49358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30732" y="49687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32154" y="5280660"/>
              <a:ext cx="389705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原课件第83页把“一个事务对同一数据项的多次读取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结果相同”列在原子性下。这是隔离性（可重复读）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的要求，原子性只管全做或全不做。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81057" cy="909257"/>
            <a:chOff x="520446" y="342900"/>
            <a:chExt cx="998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事务与并发控制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8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四种隔离级别牺牲一部分隔离性换并发度，降低后会出现五种异常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4977765" cy="2628900"/>
            <a:chOff x="533400" y="1524000"/>
            <a:chExt cx="4977765" cy="2628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195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隔离级别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1161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42925" y="1939290"/>
              <a:ext cx="1673542" cy="5867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3412" y="2154079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读未提交 RU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26005" y="2054066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可读取其他事务未提交的数据；最低级别，靠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不加锁提升性能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5307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535555"/>
              <a:ext cx="497776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3412" y="2759869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读提交 RC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26005" y="2659856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只能读已提交的数据；一个事务内多次读可能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不一致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1365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3365659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可重复读 RR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26005" y="3265646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不会读到其他事务对已有数据的修改，即使对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方已提交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7423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74713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756660"/>
              <a:ext cx="167354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3871436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可串行化 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6005" y="387143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最高级别，效果等同串行执行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524000"/>
              <a:ext cx="4977765" cy="26289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21230" y="1524000"/>
              <a:ext cx="9525" cy="2628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4328160"/>
            <a:ext cx="4977765" cy="1831658"/>
            <a:chOff x="533400" y="4328160"/>
            <a:chExt cx="4977765" cy="1831658"/>
          </a:xfrm>
        </p:grpSpPr>
        <p:sp>
          <p:nvSpPr>
            <p:cNvPr id="28" name="Rectangle 28"/>
            <p:cNvSpPr/>
            <p:nvPr/>
          </p:nvSpPr>
          <p:spPr>
            <a:xfrm>
              <a:off x="533400" y="4328160"/>
              <a:ext cx="4977765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46151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3905" y="452056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9346" y="45548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14247" y="456057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同一事务读两次余额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7047" y="4893945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先读余额 100；T2 把余额改成 80 并提交；T1 再读一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72478" y="55102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497" y="5454015"/>
              <a:ext cx="4266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读提交：第二次读到 80，两次不一致（不可重复读）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2478" y="581310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8497" y="5756910"/>
              <a:ext cx="2185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可重复读：第二次仍是 100</a:t>
              </a:r>
            </a:p>
          </p:txBody>
        </p:sp>
      </p:grpSp>
      <p:grpSp>
        <p:nvGrpSpPr>
          <p:cNvPr id="53" name="c2-kv-1"/>
          <p:cNvGrpSpPr/>
          <p:nvPr/>
        </p:nvGrpSpPr>
        <p:grpSpPr>
          <a:xfrm>
            <a:off x="5809107" y="1545907"/>
            <a:ext cx="5849493" cy="2870073"/>
            <a:chOff x="5809107" y="1545907"/>
            <a:chExt cx="5849493" cy="2870073"/>
          </a:xfrm>
        </p:grpSpPr>
        <p:sp>
          <p:nvSpPr>
            <p:cNvPr id="39" name="TextBox 39"/>
            <p:cNvSpPr txBox="1"/>
            <p:nvPr/>
          </p:nvSpPr>
          <p:spPr>
            <a:xfrm>
              <a:off x="5809107" y="1545907"/>
              <a:ext cx="1568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第一类丢失更新 LU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72197" y="1545907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一个事务中途回滚，把别的事务已提交的修改也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一起撤掉了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0888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09107" y="2198370"/>
              <a:ext cx="659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脏读 DR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72197" y="219837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读到了其他事务还没提交的更新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24869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09107" y="2595562"/>
              <a:ext cx="1315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不可重复读 NRR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72197" y="2595562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同一事务多次读同一行，结果不一致（别人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 了）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3138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09107" y="3247072"/>
              <a:ext cx="1679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第二类丢失更新 SLU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72197" y="3247072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两个事务都先读后改，后提交的修改把先提交的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37899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09107" y="3898582"/>
              <a:ext cx="659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幻读 PR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72197" y="3898582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同一事务多次按同一条件查询，行数不一致（别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 insert 了）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5815965" y="4538662"/>
            <a:ext cx="5842635" cy="1621155"/>
            <a:chOff x="5815965" y="4538662"/>
            <a:chExt cx="5842635" cy="1621155"/>
          </a:xfrm>
        </p:grpSpPr>
        <p:sp>
          <p:nvSpPr>
            <p:cNvPr id="54" name="Rectangle 54"/>
            <p:cNvSpPr/>
            <p:nvPr/>
          </p:nvSpPr>
          <p:spPr>
            <a:xfrm>
              <a:off x="5815965" y="4538662"/>
              <a:ext cx="5842635" cy="1621155"/>
            </a:xfrm>
            <a:prstGeom prst="roundRect">
              <a:avLst>
                <a:gd name="adj" fmla="val 705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020753" y="5249228"/>
              <a:ext cx="200026" cy="200025"/>
              <a:chOff x="6020753" y="524922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020753" y="5249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060491" y="5293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095207" y="5404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323457" y="5131118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区分不可重复读和幻读：前者是已有的行被改了，后者是多出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（或少了）行。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79164" cy="909257"/>
            <a:chOff x="520446" y="342900"/>
            <a:chExt cx="86791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事务与并发控制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791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隔离级别 × 读写异常：级别每升一档，就多挡住一类异常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27685" y="1524000"/>
            <a:ext cx="5632133" cy="2734152"/>
            <a:chOff x="527685" y="1524000"/>
            <a:chExt cx="5632133" cy="27341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776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84730" y="166306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LU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72447" y="166306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98557" y="166306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NRR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6274" y="166306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SLU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5600" y="166306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0080" y="2150745"/>
              <a:ext cx="11365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读未提交 RU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49271" y="215074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018472" y="2021205"/>
              <a:ext cx="7686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36988" y="215074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06190" y="2021205"/>
              <a:ext cx="7686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24706" y="215074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93908" y="2021205"/>
              <a:ext cx="7686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12424" y="215074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81625" y="2021205"/>
              <a:ext cx="7686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00141" y="215074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4945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2499360"/>
              <a:ext cx="562641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2638425"/>
              <a:ext cx="934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读提交 RC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49271" y="263842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36988" y="263842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06190" y="2508885"/>
              <a:ext cx="7686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124706" y="263842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593908" y="2508885"/>
              <a:ext cx="7686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12424" y="263842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81625" y="2508885"/>
              <a:ext cx="7686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00141" y="263842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29822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0080" y="3126105"/>
              <a:ext cx="11365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可重复读 RR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49271" y="312610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36988" y="312610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24706" y="312610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12424" y="312610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81625" y="2996565"/>
              <a:ext cx="7686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00141" y="312610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4699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3474720"/>
              <a:ext cx="562641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0080" y="3613785"/>
              <a:ext cx="1013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可串行化 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49271" y="361378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36988" y="361378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24706" y="361378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12424" y="361378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00141" y="361378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5626418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21646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004185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79190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57962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6733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7685" y="4038124"/>
              <a:ext cx="4089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表示可能出现，N 表示不会出现；写包括 update 和 insert</a:t>
              </a:r>
            </a:p>
          </p:txBody>
        </p:sp>
      </p:grpSp>
      <p:grpSp>
        <p:nvGrpSpPr>
          <p:cNvPr id="64" name="c1-callout-2"/>
          <p:cNvGrpSpPr/>
          <p:nvPr/>
        </p:nvGrpSpPr>
        <p:grpSpPr>
          <a:xfrm>
            <a:off x="533400" y="4404360"/>
            <a:ext cx="5626418" cy="1272540"/>
            <a:chOff x="533400" y="4404360"/>
            <a:chExt cx="5626418" cy="1272540"/>
          </a:xfrm>
        </p:grpSpPr>
        <p:sp>
          <p:nvSpPr>
            <p:cNvPr id="59" name="Rectangle 59"/>
            <p:cNvSpPr/>
            <p:nvPr/>
          </p:nvSpPr>
          <p:spPr>
            <a:xfrm>
              <a:off x="533400" y="4404360"/>
              <a:ext cx="5626418" cy="1272540"/>
            </a:xfrm>
            <a:prstGeom prst="roundRect">
              <a:avLst>
                <a:gd name="adj" fmla="val 898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4940620"/>
              <a:ext cx="200023" cy="200023"/>
              <a:chOff x="738188" y="494062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49406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50072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4659630"/>
              <a:ext cx="47396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记法：RC 挡住脏读，RR 再挡住不可重复读和第二类丢失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更新，S 连幻读也挡住；第一类丢失更新在任何级别都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不允许。</a:t>
              </a:r>
            </a:p>
          </p:txBody>
        </p:sp>
      </p:grpSp>
      <p:grpSp>
        <p:nvGrpSpPr>
          <p:cNvPr id="82" name="c2-card-1"/>
          <p:cNvGrpSpPr/>
          <p:nvPr/>
        </p:nvGrpSpPr>
        <p:grpSpPr>
          <a:xfrm>
            <a:off x="6464618" y="1524000"/>
            <a:ext cx="5193982" cy="2341245"/>
            <a:chOff x="6464618" y="1524000"/>
            <a:chExt cx="5193982" cy="2341245"/>
          </a:xfrm>
        </p:grpSpPr>
        <p:sp>
          <p:nvSpPr>
            <p:cNvPr id="65" name="Rectangle 65"/>
            <p:cNvSpPr/>
            <p:nvPr/>
          </p:nvSpPr>
          <p:spPr>
            <a:xfrm>
              <a:off x="6464618" y="1524000"/>
              <a:ext cx="5193982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74142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12268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07378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71373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读未提交下的脏读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712267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74117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13258" y="2129790"/>
              <a:ext cx="3638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原值 50。T1 把 X 改成 100，尚未提交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712267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774117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13258" y="2465070"/>
              <a:ext cx="1696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 读 X，读到 100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712267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774117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13258" y="2800350"/>
              <a:ext cx="19895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回滚，X 恢复为 50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712267" y="312229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74117" y="3164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013258" y="3135630"/>
              <a:ext cx="4139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 用 100 继续计算，结果建立在从未生效的数据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6464618" y="4055745"/>
            <a:ext cx="5193982" cy="1621155"/>
            <a:chOff x="6464618" y="4055745"/>
            <a:chExt cx="5193982" cy="1621155"/>
          </a:xfrm>
        </p:grpSpPr>
        <p:sp>
          <p:nvSpPr>
            <p:cNvPr id="83" name="Rectangle 83"/>
            <p:cNvSpPr/>
            <p:nvPr/>
          </p:nvSpPr>
          <p:spPr>
            <a:xfrm>
              <a:off x="6464618" y="4055745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474142" y="418909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712268" y="426529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807378" y="430101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171373" y="430053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第二类丢失更新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704648" y="4661535"/>
              <a:ext cx="4225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余额 100。T1、T2 都读到 100；T1 写 100 + 50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并提交，T2 写 100 − 30 = 70 并提交。最后是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70，T1 的 +50 丢了，正确结果应为 120。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81057" cy="909257"/>
            <a:chOff x="520446" y="342900"/>
            <a:chExt cx="998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事务与并发控制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8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读写锁：读锁可以共享，写锁独占；两个事务不碰同一行就不冲突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41020" y="1547336"/>
            <a:ext cx="4185437" cy="937832"/>
            <a:chOff x="541020" y="1547336"/>
            <a:chExt cx="4185437" cy="937832"/>
          </a:xfrm>
        </p:grpSpPr>
        <p:sp>
          <p:nvSpPr>
            <p:cNvPr id="7" name="Ellipse 7"/>
            <p:cNvSpPr/>
            <p:nvPr/>
          </p:nvSpPr>
          <p:spPr>
            <a:xfrm>
              <a:off x="541020" y="16078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611" y="154733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同一个元素可以加多个读锁，但只允许一个写锁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020" y="193643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611" y="187690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写事务阻塞读事务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020" y="226599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611" y="220646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元素可以是一行、多行，甚至一个表格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27685" y="2613660"/>
            <a:ext cx="4766310" cy="2172177"/>
            <a:chOff x="527685" y="2613660"/>
            <a:chExt cx="4766310" cy="2172177"/>
          </a:xfrm>
        </p:grpSpPr>
        <p:sp>
          <p:nvSpPr>
            <p:cNvPr id="14" name="Rectangle 14"/>
            <p:cNvSpPr/>
            <p:nvPr/>
          </p:nvSpPr>
          <p:spPr>
            <a:xfrm>
              <a:off x="533400" y="2613660"/>
              <a:ext cx="4760595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9644" y="2749391"/>
              <a:ext cx="1201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已持有 \ 申请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95346" y="27493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8846" y="27493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7604" y="32180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90926" y="32180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4426" y="32180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4711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551872"/>
              <a:ext cx="476059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04" y="36866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0926" y="368665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4426" y="368665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0166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04" y="41562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90926" y="415623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4426" y="415623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613660"/>
              <a:ext cx="4760595" cy="18764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621280" y="261366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955732" y="261366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7685" y="456580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锁兼容矩阵（补充）</a:t>
              </a:r>
            </a:p>
          </p:txBody>
        </p:sp>
      </p:grpSp>
      <p:grpSp>
        <p:nvGrpSpPr>
          <p:cNvPr id="40" name="c1-card-3"/>
          <p:cNvGrpSpPr/>
          <p:nvPr/>
        </p:nvGrpSpPr>
        <p:grpSpPr>
          <a:xfrm>
            <a:off x="533400" y="4927282"/>
            <a:ext cx="4760595" cy="1274445"/>
            <a:chOff x="533400" y="4927282"/>
            <a:chExt cx="4760595" cy="1274445"/>
          </a:xfrm>
        </p:grpSpPr>
        <p:sp>
          <p:nvSpPr>
            <p:cNvPr id="35" name="Rectangle 35"/>
            <p:cNvSpPr/>
            <p:nvPr/>
          </p:nvSpPr>
          <p:spPr>
            <a:xfrm>
              <a:off x="533400" y="4927282"/>
              <a:ext cx="476059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506063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75335" y="513111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7644" y="51668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锁的粒度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8096" y="550402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锁住一整张表，加锁开销小，但别的事务几乎都要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等；只锁一行，并发度高，但要管理的锁多。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5593080" y="1524000"/>
            <a:ext cx="6065520" cy="2640807"/>
            <a:chOff x="5593080" y="1524000"/>
            <a:chExt cx="6065520" cy="2640807"/>
          </a:xfrm>
        </p:grpSpPr>
        <p:sp>
          <p:nvSpPr>
            <p:cNvPr id="41" name="Rectangle 41"/>
            <p:cNvSpPr/>
            <p:nvPr/>
          </p:nvSpPr>
          <p:spPr>
            <a:xfrm>
              <a:off x="5598795" y="1524000"/>
              <a:ext cx="6059805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84550" y="1658779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01920" y="1658779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75669" y="1658779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87249" y="1658779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02998" y="2128361"/>
              <a:ext cx="11179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READ(A, t)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28853" y="2128361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40433" y="2128361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98795" y="24574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598795" y="2462212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702998" y="2596991"/>
              <a:ext cx="1138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:= t + 100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21321" y="2596991"/>
              <a:ext cx="1065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READ(B, s)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598795" y="29260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02998" y="3065621"/>
              <a:ext cx="1224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WRITE(A, t)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21321" y="3065621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:= s × 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76284" y="3065621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98795" y="33956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598795" y="3400425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21321" y="3535204"/>
              <a:ext cx="11669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WRITE(B, s)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40433" y="353520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598795" y="1524000"/>
              <a:ext cx="6059805" cy="23450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412355" y="152400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229725" y="152400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442258" y="152400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593080" y="3944779"/>
              <a:ext cx="36759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例子1：无冲突。T1 只锁 A，T2 只锁 B，可以交错执行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5598795" y="4306252"/>
            <a:ext cx="6059805" cy="1895475"/>
            <a:chOff x="5598795" y="4306252"/>
            <a:chExt cx="6059805" cy="1895475"/>
          </a:xfrm>
        </p:grpSpPr>
        <p:sp>
          <p:nvSpPr>
            <p:cNvPr id="67" name="Rectangle 67"/>
            <p:cNvSpPr/>
            <p:nvPr/>
          </p:nvSpPr>
          <p:spPr>
            <a:xfrm>
              <a:off x="5598795" y="4306252"/>
              <a:ext cx="6059805" cy="1895475"/>
            </a:xfrm>
            <a:prstGeom prst="roundRect">
              <a:avLst>
                <a:gd name="adj" fmla="val 70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5608320" y="4439602"/>
              <a:ext cx="47625" cy="16287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840730" y="45100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31891" y="45458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33491" y="4882991"/>
              <a:ext cx="52353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25 + 100 = 125，B = 25 × 2 = 50，与串行执行 T1、T2 的结果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事务与并发控制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行范围锁挡住插入；互相等待对方的锁就成了死锁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able-1"/>
          <p:cNvGrpSpPr/>
          <p:nvPr/>
        </p:nvGrpSpPr>
        <p:grpSpPr>
          <a:xfrm>
            <a:off x="527685" y="1524000"/>
            <a:ext cx="5415915" cy="2317909"/>
            <a:chOff x="527685" y="1524000"/>
            <a:chExt cx="5415915" cy="23179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1894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64954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71944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75841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05456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108359"/>
              <a:ext cx="104561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SCAN([A⇒C],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{t1, t3})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29743" y="22217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63256" y="22217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783681"/>
              <a:ext cx="926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t1 + t3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80500" y="2783681"/>
              <a:ext cx="1215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INSERT(B, t2)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33641" y="27836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232309"/>
              <a:ext cx="1103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WRITE(A, t)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29743" y="32323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4102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367915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74758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77702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181600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7685" y="3621881"/>
              <a:ext cx="2198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例子2：行范围加锁，T2 等待 T1</a:t>
              </a:r>
            </a:p>
          </p:txBody>
        </p:sp>
      </p:grpSp>
      <p:grpSp>
        <p:nvGrpSpPr>
          <p:cNvPr id="44" name="c1-steps-2"/>
          <p:cNvGrpSpPr/>
          <p:nvPr/>
        </p:nvGrpSpPr>
        <p:grpSpPr>
          <a:xfrm>
            <a:off x="533400" y="3997642"/>
            <a:ext cx="5180457" cy="2112932"/>
            <a:chOff x="533400" y="3997642"/>
            <a:chExt cx="5180457" cy="2112932"/>
          </a:xfrm>
        </p:grpSpPr>
        <p:sp>
          <p:nvSpPr>
            <p:cNvPr id="31" name="Rectangle 31"/>
            <p:cNvSpPr/>
            <p:nvPr/>
          </p:nvSpPr>
          <p:spPr>
            <a:xfrm>
              <a:off x="666750" y="4140518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33400" y="39976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7024" y="4071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33400" y="464820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7024" y="4722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33400" y="529875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7024" y="53725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4880" y="4031932"/>
              <a:ext cx="13827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扫描 A 到 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6023" y="4324826"/>
              <a:ext cx="4034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对整个行范围 [A, C] 加读锁，此时范围里只有 A、C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4880" y="4682490"/>
              <a:ext cx="923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 插入 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6023" y="4976336"/>
              <a:ext cx="3751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落在这个范围内，插入要写锁，必须等 T1 结束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4880" y="533304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6023" y="5626894"/>
              <a:ext cx="4767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读到的 t1 + t3 = 25 + 25 = 50 不会被新插入的 B 打乱，这正是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防幻读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6242685" y="1524000"/>
            <a:ext cx="5415915" cy="2539842"/>
            <a:chOff x="6242685" y="1524000"/>
            <a:chExt cx="5415915" cy="2539842"/>
          </a:xfrm>
        </p:grpSpPr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48309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71369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76491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58531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56223" y="2108359"/>
              <a:ext cx="10076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READ(A, t)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3429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1633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56223" y="2556986"/>
              <a:ext cx="1026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:= t + 100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9283" y="2556986"/>
              <a:ext cx="960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READ(B, s)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56223" y="3005614"/>
              <a:ext cx="1103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WRITE(B, t)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79283" y="3005614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:= s × 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979283" y="3454241"/>
              <a:ext cx="10518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WRITE(A, s)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1524000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86669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48975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57179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42685" y="3843814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例子3：死锁</a:t>
              </a:r>
            </a:p>
          </p:txBody>
        </p:sp>
      </p:grpSp>
      <p:grpSp>
        <p:nvGrpSpPr>
          <p:cNvPr id="81" name="c2-graph-2"/>
          <p:cNvGrpSpPr/>
          <p:nvPr/>
        </p:nvGrpSpPr>
        <p:grpSpPr>
          <a:xfrm>
            <a:off x="7120890" y="4398645"/>
            <a:ext cx="3665220" cy="805529"/>
            <a:chOff x="7120890" y="4398645"/>
            <a:chExt cx="3665220" cy="805529"/>
          </a:xfrm>
        </p:grpSpPr>
        <p:sp>
          <p:nvSpPr>
            <p:cNvPr id="69" name="Freeform 69"/>
            <p:cNvSpPr/>
            <p:nvPr/>
          </p:nvSpPr>
          <p:spPr>
            <a:xfrm>
              <a:off x="7539038" y="4847272"/>
              <a:ext cx="2737485" cy="308928"/>
            </a:xfrm>
            <a:custGeom>
              <a:avLst/>
              <a:gdLst/>
              <a:ahLst/>
              <a:cxnLst/>
              <a:rect l="l" t="t" r="r" b="b"/>
              <a:pathLst>
                <a:path w="2737485" h="308928">
                  <a:moveTo>
                    <a:pt x="0" y="0"/>
                  </a:moveTo>
                  <a:cubicBezTo>
                    <a:pt x="942975" y="299085"/>
                    <a:pt x="1855470" y="308928"/>
                    <a:pt x="2737485" y="2952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10262235" y="4831080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16192"/>
                  </a:moveTo>
                  <a:lnTo>
                    <a:pt x="29527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7630478" y="4406900"/>
              <a:ext cx="2737485" cy="308928"/>
            </a:xfrm>
            <a:custGeom>
              <a:avLst/>
              <a:gdLst/>
              <a:ahLst/>
              <a:cxnLst/>
              <a:rect l="l" t="t" r="r" b="b"/>
              <a:pathLst>
                <a:path w="2737485" h="308928">
                  <a:moveTo>
                    <a:pt x="2737485" y="308928"/>
                  </a:moveTo>
                  <a:cubicBezTo>
                    <a:pt x="1794510" y="9842"/>
                    <a:pt x="882015" y="0"/>
                    <a:pt x="0" y="27940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7539038" y="464153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74295"/>
                  </a:moveTo>
                  <a:lnTo>
                    <a:pt x="76200" y="0"/>
                  </a:lnTo>
                  <a:lnTo>
                    <a:pt x="105728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120890" y="4572000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10367010" y="4572000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225772" y="47072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471892" y="470725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336280" y="4978718"/>
              <a:ext cx="123348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26496" y="5013484"/>
              <a:ext cx="12540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持 A 读锁，等 B 写锁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336280" y="4398645"/>
              <a:ext cx="123348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326496" y="4433411"/>
              <a:ext cx="12540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持 B 读锁，等 A 写锁</a:t>
              </a:r>
            </a:p>
          </p:txBody>
        </p:sp>
      </p:grpSp>
      <p:grpSp>
        <p:nvGrpSpPr>
          <p:cNvPr id="88" name="c2-callout-3"/>
          <p:cNvGrpSpPr/>
          <p:nvPr/>
        </p:nvGrpSpPr>
        <p:grpSpPr>
          <a:xfrm>
            <a:off x="6248400" y="5543550"/>
            <a:ext cx="5410200" cy="782955"/>
            <a:chOff x="6248400" y="5543550"/>
            <a:chExt cx="5410200" cy="782955"/>
          </a:xfrm>
        </p:grpSpPr>
        <p:sp>
          <p:nvSpPr>
            <p:cNvPr id="82" name="Rectangle 82"/>
            <p:cNvSpPr/>
            <p:nvPr/>
          </p:nvSpPr>
          <p:spPr>
            <a:xfrm>
              <a:off x="6248400" y="554355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441129" y="5831323"/>
              <a:ext cx="224134" cy="192560"/>
              <a:chOff x="6441129" y="5831323"/>
              <a:chExt cx="224134" cy="19256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6553200" y="59016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441129" y="58313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553200" y="59794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755130" y="569214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解决：先验检测（申请锁前查等待图有没有环）或后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验超时（等太久就回滚其中一个）。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事务与并发控制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写时复制：复制一条路径再原子地换根，读事务不用加锁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graph-1"/>
          <p:cNvGrpSpPr/>
          <p:nvPr/>
        </p:nvGrpSpPr>
        <p:grpSpPr>
          <a:xfrm>
            <a:off x="734378" y="1804035"/>
            <a:ext cx="5293042" cy="3967734"/>
            <a:chOff x="734378" y="1804035"/>
            <a:chExt cx="5293042" cy="3967734"/>
          </a:xfrm>
        </p:grpSpPr>
        <p:sp>
          <p:nvSpPr>
            <p:cNvPr id="7" name="Freeform 7"/>
            <p:cNvSpPr/>
            <p:nvPr/>
          </p:nvSpPr>
          <p:spPr>
            <a:xfrm>
              <a:off x="1538288" y="2084070"/>
              <a:ext cx="712470" cy="987742"/>
            </a:xfrm>
            <a:custGeom>
              <a:avLst/>
              <a:gdLst/>
              <a:ahLst/>
              <a:cxnLst/>
              <a:rect l="l" t="t" r="r" b="b"/>
              <a:pathLst>
                <a:path w="712470" h="987742">
                  <a:moveTo>
                    <a:pt x="712470" y="0"/>
                  </a:moveTo>
                  <a:lnTo>
                    <a:pt x="0" y="9877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83042" y="3044190"/>
              <a:ext cx="94298" cy="104775"/>
            </a:xfrm>
            <a:custGeom>
              <a:avLst/>
              <a:gdLst/>
              <a:ahLst/>
              <a:cxnLst/>
              <a:rect l="l" t="t" r="r" b="b"/>
              <a:pathLst>
                <a:path w="94298" h="104775">
                  <a:moveTo>
                    <a:pt x="0" y="104775"/>
                  </a:moveTo>
                  <a:lnTo>
                    <a:pt x="17145" y="0"/>
                  </a:lnTo>
                  <a:lnTo>
                    <a:pt x="94298" y="552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451735" y="2084070"/>
              <a:ext cx="712470" cy="987742"/>
            </a:xfrm>
            <a:custGeom>
              <a:avLst/>
              <a:gdLst/>
              <a:ahLst/>
              <a:cxnLst/>
              <a:rect l="l" t="t" r="r" b="b"/>
              <a:pathLst>
                <a:path w="712470" h="987742">
                  <a:moveTo>
                    <a:pt x="0" y="0"/>
                  </a:moveTo>
                  <a:lnTo>
                    <a:pt x="712470" y="9877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25152" y="3044190"/>
              <a:ext cx="94297" cy="104775"/>
            </a:xfrm>
            <a:custGeom>
              <a:avLst/>
              <a:gdLst/>
              <a:ahLst/>
              <a:cxnLst/>
              <a:rect l="l" t="t" r="r" b="b"/>
              <a:pathLst>
                <a:path w="94297" h="104775">
                  <a:moveTo>
                    <a:pt x="94297" y="104775"/>
                  </a:moveTo>
                  <a:lnTo>
                    <a:pt x="0" y="55245"/>
                  </a:lnTo>
                  <a:lnTo>
                    <a:pt x="7715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71562" y="3429000"/>
              <a:ext cx="278130" cy="1223962"/>
            </a:xfrm>
            <a:custGeom>
              <a:avLst/>
              <a:gdLst/>
              <a:ahLst/>
              <a:cxnLst/>
              <a:rect l="l" t="t" r="r" b="b"/>
              <a:pathLst>
                <a:path w="278130" h="1223962">
                  <a:moveTo>
                    <a:pt x="278130" y="0"/>
                  </a:moveTo>
                  <a:lnTo>
                    <a:pt x="0" y="1223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24890" y="4642485"/>
              <a:ext cx="92393" cy="103823"/>
            </a:xfrm>
            <a:custGeom>
              <a:avLst/>
              <a:gdLst/>
              <a:ahLst/>
              <a:cxnLst/>
              <a:rect l="l" t="t" r="r" b="b"/>
              <a:pathLst>
                <a:path w="92393" h="103823">
                  <a:moveTo>
                    <a:pt x="24765" y="103823"/>
                  </a:moveTo>
                  <a:lnTo>
                    <a:pt x="0" y="0"/>
                  </a:lnTo>
                  <a:lnTo>
                    <a:pt x="92393" y="2190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445895" y="3429000"/>
              <a:ext cx="560070" cy="1230630"/>
            </a:xfrm>
            <a:custGeom>
              <a:avLst/>
              <a:gdLst/>
              <a:ahLst/>
              <a:cxnLst/>
              <a:rect l="l" t="t" r="r" b="b"/>
              <a:pathLst>
                <a:path w="560070" h="1230630">
                  <a:moveTo>
                    <a:pt x="0" y="0"/>
                  </a:moveTo>
                  <a:lnTo>
                    <a:pt x="560070" y="12306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62150" y="4639628"/>
              <a:ext cx="86677" cy="106680"/>
            </a:xfrm>
            <a:custGeom>
              <a:avLst/>
              <a:gdLst/>
              <a:ahLst/>
              <a:cxnLst/>
              <a:rect l="l" t="t" r="r" b="b"/>
              <a:pathLst>
                <a:path w="86677" h="106680">
                  <a:moveTo>
                    <a:pt x="82867" y="106680"/>
                  </a:moveTo>
                  <a:lnTo>
                    <a:pt x="0" y="40005"/>
                  </a:lnTo>
                  <a:lnTo>
                    <a:pt x="8667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217545" y="3429000"/>
              <a:ext cx="92392" cy="1222058"/>
            </a:xfrm>
            <a:custGeom>
              <a:avLst/>
              <a:gdLst/>
              <a:ahLst/>
              <a:cxnLst/>
              <a:rect l="l" t="t" r="r" b="b"/>
              <a:pathLst>
                <a:path w="92392" h="1222058">
                  <a:moveTo>
                    <a:pt x="92392" y="0"/>
                  </a:moveTo>
                  <a:lnTo>
                    <a:pt x="0" y="12220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69920" y="4647248"/>
              <a:ext cx="95250" cy="99060"/>
            </a:xfrm>
            <a:custGeom>
              <a:avLst/>
              <a:gdLst/>
              <a:ahLst/>
              <a:cxnLst/>
              <a:rect l="l" t="t" r="r" b="b"/>
              <a:pathLst>
                <a:path w="95250" h="99060">
                  <a:moveTo>
                    <a:pt x="40005" y="99060"/>
                  </a:moveTo>
                  <a:lnTo>
                    <a:pt x="0" y="0"/>
                  </a:lnTo>
                  <a:lnTo>
                    <a:pt x="95250" y="76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406140" y="3429000"/>
              <a:ext cx="749617" cy="1235392"/>
            </a:xfrm>
            <a:custGeom>
              <a:avLst/>
              <a:gdLst/>
              <a:ahLst/>
              <a:cxnLst/>
              <a:rect l="l" t="t" r="r" b="b"/>
              <a:pathLst>
                <a:path w="749617" h="1235392">
                  <a:moveTo>
                    <a:pt x="0" y="0"/>
                  </a:moveTo>
                  <a:lnTo>
                    <a:pt x="749617" y="12353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114800" y="4639628"/>
              <a:ext cx="90488" cy="106680"/>
            </a:xfrm>
            <a:custGeom>
              <a:avLst/>
              <a:gdLst/>
              <a:ahLst/>
              <a:cxnLst/>
              <a:rect l="l" t="t" r="r" b="b"/>
              <a:pathLst>
                <a:path w="90488" h="106680">
                  <a:moveTo>
                    <a:pt x="90488" y="106680"/>
                  </a:moveTo>
                  <a:lnTo>
                    <a:pt x="0" y="49530"/>
                  </a:lnTo>
                  <a:lnTo>
                    <a:pt x="819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794510" y="2052638"/>
              <a:ext cx="2818448" cy="1078230"/>
            </a:xfrm>
            <a:custGeom>
              <a:avLst/>
              <a:gdLst/>
              <a:ahLst/>
              <a:cxnLst/>
              <a:rect l="l" t="t" r="r" b="b"/>
              <a:pathLst>
                <a:path w="2818448" h="1078230">
                  <a:moveTo>
                    <a:pt x="2818448" y="0"/>
                  </a:moveTo>
                  <a:lnTo>
                    <a:pt x="0" y="107823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1705928" y="3087052"/>
              <a:ext cx="105727" cy="88582"/>
            </a:xfrm>
            <a:custGeom>
              <a:avLst/>
              <a:gdLst/>
              <a:ahLst/>
              <a:cxnLst/>
              <a:rect l="l" t="t" r="r" b="b"/>
              <a:pathLst>
                <a:path w="105727" h="88582">
                  <a:moveTo>
                    <a:pt x="0" y="78105"/>
                  </a:moveTo>
                  <a:lnTo>
                    <a:pt x="71438" y="0"/>
                  </a:lnTo>
                  <a:lnTo>
                    <a:pt x="105727" y="88582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946332" y="2084070"/>
              <a:ext cx="351473" cy="975360"/>
            </a:xfrm>
            <a:custGeom>
              <a:avLst/>
              <a:gdLst/>
              <a:ahLst/>
              <a:cxnLst/>
              <a:rect l="l" t="t" r="r" b="b"/>
              <a:pathLst>
                <a:path w="351473" h="975360">
                  <a:moveTo>
                    <a:pt x="0" y="0"/>
                  </a:moveTo>
                  <a:lnTo>
                    <a:pt x="351473" y="97536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5253038" y="3043238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77153" y="105728"/>
                  </a:moveTo>
                  <a:lnTo>
                    <a:pt x="0" y="32385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468052" y="3429000"/>
              <a:ext cx="1721167" cy="1261110"/>
            </a:xfrm>
            <a:custGeom>
              <a:avLst/>
              <a:gdLst/>
              <a:ahLst/>
              <a:cxnLst/>
              <a:rect l="l" t="t" r="r" b="b"/>
              <a:pathLst>
                <a:path w="1721167" h="1261110">
                  <a:moveTo>
                    <a:pt x="1721167" y="0"/>
                  </a:moveTo>
                  <a:lnTo>
                    <a:pt x="0" y="126111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3390900" y="4652010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0" y="94298"/>
                  </a:moveTo>
                  <a:lnTo>
                    <a:pt x="48578" y="0"/>
                  </a:lnTo>
                  <a:lnTo>
                    <a:pt x="104775" y="7620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413058" y="3429000"/>
              <a:ext cx="278130" cy="1223962"/>
            </a:xfrm>
            <a:custGeom>
              <a:avLst/>
              <a:gdLst/>
              <a:ahLst/>
              <a:cxnLst/>
              <a:rect l="l" t="t" r="r" b="b"/>
              <a:pathLst>
                <a:path w="278130" h="1223962">
                  <a:moveTo>
                    <a:pt x="0" y="0"/>
                  </a:moveTo>
                  <a:lnTo>
                    <a:pt x="278130" y="1223962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6" name="Freeform 26"/>
            <p:cNvSpPr/>
            <p:nvPr/>
          </p:nvSpPr>
          <p:spPr>
            <a:xfrm>
              <a:off x="5645468" y="4642485"/>
              <a:ext cx="92392" cy="103823"/>
            </a:xfrm>
            <a:custGeom>
              <a:avLst/>
              <a:gdLst/>
              <a:ahLst/>
              <a:cxnLst/>
              <a:rect l="l" t="t" r="r" b="b"/>
              <a:pathLst>
                <a:path w="92392" h="103823">
                  <a:moveTo>
                    <a:pt x="67627" y="103823"/>
                  </a:moveTo>
                  <a:lnTo>
                    <a:pt x="0" y="21908"/>
                  </a:lnTo>
                  <a:lnTo>
                    <a:pt x="92392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067878" y="1804035"/>
              <a:ext cx="56673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612958" y="1804035"/>
              <a:ext cx="56673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58228" y="3148965"/>
              <a:ext cx="64770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996565" y="3148965"/>
              <a:ext cx="64770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056822" y="3148965"/>
              <a:ext cx="647700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4378" y="4746308"/>
              <a:ext cx="566738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825942" y="4746308"/>
              <a:ext cx="566738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16555" y="4746308"/>
              <a:ext cx="566738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07168" y="4746308"/>
              <a:ext cx="566738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60682" y="4746308"/>
              <a:ext cx="56673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274760" y="187928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49165" y="18792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72315" y="322421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10652" y="322421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 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30095" y="3224212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 2′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8460" y="482060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 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99072" y="482060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 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89685" y="482060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 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80297" y="482060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 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93950" y="4820602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 4′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932432" y="556641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虚线是写事务新建的节点，其余节点新旧两棵树共用</a:t>
              </a:r>
            </a:p>
          </p:txBody>
        </p:sp>
      </p:grpSp>
      <p:grpSp>
        <p:nvGrpSpPr>
          <p:cNvPr id="62" name="c2-steps-1"/>
          <p:cNvGrpSpPr/>
          <p:nvPr/>
        </p:nvGrpSpPr>
        <p:grpSpPr>
          <a:xfrm>
            <a:off x="6898005" y="1533525"/>
            <a:ext cx="4601356" cy="1596962"/>
            <a:chOff x="6898005" y="1533525"/>
            <a:chExt cx="4601356" cy="1596962"/>
          </a:xfrm>
        </p:grpSpPr>
        <p:sp>
          <p:nvSpPr>
            <p:cNvPr id="49" name="Rectangle 49"/>
            <p:cNvSpPr/>
            <p:nvPr/>
          </p:nvSpPr>
          <p:spPr>
            <a:xfrm>
              <a:off x="7031355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898005" y="20869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9162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898005" y="26393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9162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10628" y="156448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拷贝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11771" y="1818322"/>
              <a:ext cx="4187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要改数据 4，把从根到它的路径（根、索引 2、数据 4）各复制一份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10628" y="211693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修改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11771" y="2371725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在副本上修改，旧树原封不动，读事务照常读旧树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10628" y="267033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提交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11771" y="2925128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把根指针原子地切换到新根，之后的读都看到新数据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898005" y="3291840"/>
            <a:ext cx="4760595" cy="1143952"/>
            <a:chOff x="6898005" y="3291840"/>
            <a:chExt cx="4760595" cy="1143952"/>
          </a:xfrm>
        </p:grpSpPr>
        <p:sp>
          <p:nvSpPr>
            <p:cNvPr id="63" name="Rectangle 63"/>
            <p:cNvSpPr/>
            <p:nvPr/>
          </p:nvSpPr>
          <p:spPr>
            <a:xfrm>
              <a:off x="6898005" y="3291840"/>
              <a:ext cx="4760595" cy="1143952"/>
            </a:xfrm>
            <a:prstGeom prst="roundRect">
              <a:avLst>
                <a:gd name="adj" fmla="val 116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078980" y="34728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163549" y="35056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适用场景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72503" y="3812381"/>
              <a:ext cx="4150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读事务占比远远超过写事务（6:1 到 10:1），让读不加锁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最划算。</a:t>
              </a:r>
            </a:p>
          </p:txBody>
        </p:sp>
      </p:grpSp>
      <p:grpSp>
        <p:nvGrpSpPr>
          <p:cNvPr id="80" name="c2-compare-3"/>
          <p:cNvGrpSpPr/>
          <p:nvPr/>
        </p:nvGrpSpPr>
        <p:grpSpPr>
          <a:xfrm>
            <a:off x="6898005" y="4600575"/>
            <a:ext cx="4760595" cy="1125855"/>
            <a:chOff x="6898005" y="4600575"/>
            <a:chExt cx="4760595" cy="1125855"/>
          </a:xfrm>
        </p:grpSpPr>
        <p:sp>
          <p:nvSpPr>
            <p:cNvPr id="68" name="Rectangle 68"/>
            <p:cNvSpPr/>
            <p:nvPr/>
          </p:nvSpPr>
          <p:spPr>
            <a:xfrm>
              <a:off x="6898005" y="4600575"/>
              <a:ext cx="2170748" cy="1125855"/>
            </a:xfrm>
            <a:prstGeom prst="roundRect">
              <a:avLst>
                <a:gd name="adj" fmla="val 118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907530" y="4733925"/>
              <a:ext cx="47625" cy="8591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10603" y="480298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 1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126605" y="51558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282053" y="5103971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拷贝代价高，改一个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叶子要复制整条路径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487852" y="4600575"/>
              <a:ext cx="2170748" cy="1125855"/>
            </a:xfrm>
            <a:prstGeom prst="roundRect">
              <a:avLst>
                <a:gd name="adj" fmla="val 118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9497378" y="4733925"/>
              <a:ext cx="47625" cy="8591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00450" y="480298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 2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716452" y="51558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871900" y="5103971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写互斥，同一时刻只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能有一个写事务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9116378" y="500157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199611" y="510730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48843" cy="909257"/>
            <a:chOff x="520446" y="342900"/>
            <a:chExt cx="81488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事务与并发控制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488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MVCC：每行记修改、删除两个版本号，读事务不加锁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059805" cy="2554606"/>
            <a:chOff x="533400" y="1524000"/>
            <a:chExt cx="6059805" cy="25546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0392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67774" y="164544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规则（版本号就是事务号）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42925" y="1953578"/>
              <a:ext cx="1071562" cy="6276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6935" y="2178844"/>
              <a:ext cx="643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17548" y="2065496"/>
              <a:ext cx="44264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返回同时满足两条的行：修改版本号 ≤ 本事务号；删除版本号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为空或 &gt; 本事务号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5860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590800"/>
              <a:ext cx="6059805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6935" y="2712244"/>
              <a:ext cx="596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17548" y="2712244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新行的修改版本号 = 本事务号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0070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6935" y="3132296"/>
              <a:ext cx="643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17548" y="3132296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行的删除版本号 = 本事务号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427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431858"/>
              <a:ext cx="6059805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6935" y="3665696"/>
              <a:ext cx="643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17548" y="3552349"/>
              <a:ext cx="44264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复制一行，新行的修改版本号 = 本事务号；旧行的删除版本号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本事务号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6059805" cy="25546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19250" y="1524000"/>
              <a:ext cx="9525" cy="25546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243388"/>
            <a:ext cx="6059805" cy="1771650"/>
            <a:chOff x="533400" y="4243388"/>
            <a:chExt cx="6059805" cy="1771650"/>
          </a:xfrm>
        </p:grpSpPr>
        <p:sp>
          <p:nvSpPr>
            <p:cNvPr id="27" name="Rectangle 27"/>
            <p:cNvSpPr/>
            <p:nvPr/>
          </p:nvSpPr>
          <p:spPr>
            <a:xfrm>
              <a:off x="533400" y="4243388"/>
              <a:ext cx="6059805" cy="1771650"/>
            </a:xfrm>
            <a:prstGeom prst="roundRect">
              <a:avLst>
                <a:gd name="adj" fmla="val 645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029200"/>
              <a:ext cx="200026" cy="200025"/>
              <a:chOff x="738188" y="5029200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0292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0736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1847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1273" y="4922996"/>
              <a:ext cx="50523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旧版本不会马上消失，系统定期删除没人再需要的副本来回收空间，用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空间换并发性。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898005" y="1524000"/>
            <a:ext cx="4760595" cy="1386840"/>
            <a:chOff x="6898005" y="1524000"/>
            <a:chExt cx="4760595" cy="1386840"/>
          </a:xfrm>
        </p:grpSpPr>
        <p:sp>
          <p:nvSpPr>
            <p:cNvPr id="34" name="Rectangle 34"/>
            <p:cNvSpPr/>
            <p:nvPr/>
          </p:nvSpPr>
          <p:spPr>
            <a:xfrm>
              <a:off x="6898005" y="1524000"/>
              <a:ext cx="476059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07530" y="16573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1708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08799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10603" y="2045494"/>
              <a:ext cx="40769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为每行数据维护多个版本，每行多两列：修改版本号、删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除版本号，表示这一版何时出现、何时被删。目标是读事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务不加锁。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898005" y="3075622"/>
            <a:ext cx="4760595" cy="1629728"/>
            <a:chOff x="6898005" y="3075622"/>
            <a:chExt cx="4760595" cy="1629728"/>
          </a:xfrm>
        </p:grpSpPr>
        <p:sp>
          <p:nvSpPr>
            <p:cNvPr id="40" name="Rectangle 40"/>
            <p:cNvSpPr/>
            <p:nvPr/>
          </p:nvSpPr>
          <p:spPr>
            <a:xfrm>
              <a:off x="6898005" y="3075622"/>
              <a:ext cx="4760595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7530" y="3208972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17080" y="325659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8799" y="32894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10603" y="3597116"/>
              <a:ext cx="417449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原课件第94页写“修改版本号小于该事务号”，应为小于或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等于，否则事务看不到自己刚插入的行。UPDATE 除了复制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新行，还要把旧行的删除版本号设为本事务号，原课件只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写了前半句。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6898005" y="4870132"/>
            <a:ext cx="4760595" cy="1143952"/>
            <a:chOff x="6898005" y="4870132"/>
            <a:chExt cx="4760595" cy="1143952"/>
          </a:xfrm>
        </p:grpSpPr>
        <p:sp>
          <p:nvSpPr>
            <p:cNvPr id="46" name="Rectangle 46"/>
            <p:cNvSpPr/>
            <p:nvPr/>
          </p:nvSpPr>
          <p:spPr>
            <a:xfrm>
              <a:off x="6898005" y="4870132"/>
              <a:ext cx="476059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07530" y="500348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17080" y="505110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86397" y="508396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和日志流派的关系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10603" y="5391626"/>
              <a:ext cx="41582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都是写新版本、不在原处改旧数据，事后由后台清理：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Bitcask 合并、LSM 树 Compaction、MVCC 回收旧版本。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45810" cy="909257"/>
            <a:chOff x="520446" y="342900"/>
            <a:chExt cx="80458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事务与并发控制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458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例题：几个写事务之后，事务 2、4、6 各看到哪些行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410200" cy="2150745"/>
            <a:chOff x="533400" y="1524000"/>
            <a:chExt cx="5410200" cy="2150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485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9740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6186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行的变化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95984" y="2085022"/>
              <a:ext cx="1310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 (1, Tom)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43846" y="2085022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行① 修改版本 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95984" y="2515552"/>
              <a:ext cx="1633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 id=1 改名 Jim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43846" y="2515552"/>
              <a:ext cx="2499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行① 删除版本 3；新行② 修改版本 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95984" y="2946082"/>
              <a:ext cx="13641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 (2, Rose)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43846" y="2946082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行③ 修改版本 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56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95984" y="3375660"/>
              <a:ext cx="946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 id=2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3846" y="3375660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行③ 删除版本 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285875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23373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1-table-2"/>
          <p:cNvGrpSpPr/>
          <p:nvPr/>
        </p:nvGrpSpPr>
        <p:grpSpPr>
          <a:xfrm>
            <a:off x="527685" y="3860482"/>
            <a:ext cx="5415915" cy="2015967"/>
            <a:chOff x="527685" y="3860482"/>
            <a:chExt cx="5415915" cy="2015967"/>
          </a:xfrm>
        </p:grpSpPr>
        <p:sp>
          <p:nvSpPr>
            <p:cNvPr id="32" name="Rectangle 32"/>
            <p:cNvSpPr/>
            <p:nvPr/>
          </p:nvSpPr>
          <p:spPr>
            <a:xfrm>
              <a:off x="533400" y="3860482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3259" y="399097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26932" y="3990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67481" y="3990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修改版本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99088" y="3990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删除版本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7386" y="4421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13154" y="4421505"/>
              <a:ext cx="728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Tom)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46144" y="44215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77752" y="44215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715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72059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7386" y="48520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13154" y="4852035"/>
              <a:ext cx="687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Jim)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46144" y="48520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77752" y="48520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1454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7386" y="52816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13154" y="5281612"/>
              <a:ext cx="782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Rose)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46144" y="5281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177752" y="5281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3860482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503045" y="386048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076575" y="386048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507230" y="386048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7685" y="565642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四个写事务之后的版本表</a:t>
              </a:r>
            </a:p>
          </p:txBody>
        </p:sp>
      </p:grpSp>
      <p:grpSp>
        <p:nvGrpSpPr>
          <p:cNvPr id="87" name="c2-table-1"/>
          <p:cNvGrpSpPr/>
          <p:nvPr/>
        </p:nvGrpSpPr>
        <p:grpSpPr>
          <a:xfrm>
            <a:off x="6248400" y="1524000"/>
            <a:ext cx="5410200" cy="1876425"/>
            <a:chOff x="6248400" y="1524000"/>
            <a:chExt cx="5410200" cy="1876425"/>
          </a:xfrm>
        </p:grpSpPr>
        <p:sp>
          <p:nvSpPr>
            <p:cNvPr id="58" name="Rectangle 58"/>
            <p:cNvSpPr/>
            <p:nvPr/>
          </p:nvSpPr>
          <p:spPr>
            <a:xfrm>
              <a:off x="6248400" y="1524000"/>
              <a:ext cx="5410200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41148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读事务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11843" y="165877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14788" y="165877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17733" y="165877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9719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11245" y="2128361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71461" y="212836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4406" y="212836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77351" y="212836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36798" y="2128361"/>
              <a:ext cx="8617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Tom)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24574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48400" y="2462212"/>
              <a:ext cx="5410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11245" y="2596991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71461" y="259699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74406" y="259699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77351" y="259699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36798" y="2596991"/>
              <a:ext cx="1915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Jim)、(2, Rose)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29260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11245" y="3065621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71461" y="30656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174406" y="30656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77351" y="30656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36798" y="3065621"/>
              <a:ext cx="8130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Jim)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1524000"/>
              <a:ext cx="5410200" cy="18764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7217092" y="152400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920990" y="152400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8623935" y="152400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9327832" y="152400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1" name="c2-steps-2"/>
          <p:cNvGrpSpPr/>
          <p:nvPr/>
        </p:nvGrpSpPr>
        <p:grpSpPr>
          <a:xfrm>
            <a:off x="6248400" y="3594735"/>
            <a:ext cx="5096256" cy="2011108"/>
            <a:chOff x="6248400" y="3594735"/>
            <a:chExt cx="5096256" cy="2011108"/>
          </a:xfrm>
        </p:grpSpPr>
        <p:sp>
          <p:nvSpPr>
            <p:cNvPr id="88" name="Rectangle 88"/>
            <p:cNvSpPr/>
            <p:nvPr/>
          </p:nvSpPr>
          <p:spPr>
            <a:xfrm>
              <a:off x="6381750" y="373761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6248400" y="35947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342024" y="3668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6248400" y="42157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342024" y="42895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248400" y="48367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342024" y="49106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660261" y="3627596"/>
              <a:ext cx="804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 看行①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661404" y="3908107"/>
              <a:ext cx="30976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 1 ≤ 4，但删除 3 ≤ 4，已被删，不可见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660261" y="4248626"/>
              <a:ext cx="804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 看行③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661404" y="4529138"/>
              <a:ext cx="3259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 4 ≤ 4（自己插入的），删除 5 &gt; 4，可见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660261" y="4869656"/>
              <a:ext cx="804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 看行①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661404" y="5150167"/>
              <a:ext cx="4683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 1 ≤ 2，删除 3 &gt; 2，可见。T2 不管何时读都看到 Tom，不加锁也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能重复读</a:t>
              </a:r>
            </a:p>
          </p:txBody>
        </p:sp>
      </p:grpSp>
      <p:grpSp>
        <p:nvGrpSpPr>
          <p:cNvPr id="108" name="c2-callout-3"/>
          <p:cNvGrpSpPr/>
          <p:nvPr/>
        </p:nvGrpSpPr>
        <p:grpSpPr>
          <a:xfrm>
            <a:off x="6248400" y="5781675"/>
            <a:ext cx="5410200" cy="518160"/>
            <a:chOff x="6248400" y="5781675"/>
            <a:chExt cx="5410200" cy="518160"/>
          </a:xfrm>
        </p:grpSpPr>
        <p:sp>
          <p:nvSpPr>
            <p:cNvPr id="102" name="Rectangle 102"/>
            <p:cNvSpPr/>
            <p:nvPr/>
          </p:nvSpPr>
          <p:spPr>
            <a:xfrm>
              <a:off x="6248400" y="5781675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6453188" y="5941695"/>
              <a:ext cx="200026" cy="200026"/>
              <a:chOff x="6453188" y="5941695"/>
              <a:chExt cx="200026" cy="200026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6453188" y="59416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6553200" y="60083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6542088" y="60417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6755511" y="594217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简化模型，假定写事务都已提交；已用脚本复核。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数据放到哪台机器上：既要负载均衡，又要方便扩容和扫描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内容提要：数据分布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哈希分布与取模的迁移问题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一致性哈希与环上练习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顺序分布、负载均衡与数据迁移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89189" cy="909257"/>
            <a:chOff x="520446" y="342900"/>
            <a:chExt cx="93891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89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哈希分布：按哈希值找节点，但节点数 N 一变，数据就大搬家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2272665"/>
            <a:chOff x="533400" y="1524000"/>
            <a:chExt cx="5193982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分布式系统由多个节点组成，数据怎样分布才能让节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点之间负载均衡，同时保证访问性能、便于容错？两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种做法：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0803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017520"/>
              <a:ext cx="3414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哈希分布：一致性哈希，代表 Dynamo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2800"/>
              <a:ext cx="3948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顺序分布：按 key 有序布置，代表 Bigtable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33400" y="3987165"/>
            <a:ext cx="5193982" cy="1346835"/>
            <a:chOff x="533400" y="3987165"/>
            <a:chExt cx="5193982" cy="1346835"/>
          </a:xfrm>
        </p:grpSpPr>
        <p:sp>
          <p:nvSpPr>
            <p:cNvPr id="17" name="Rectangle 17"/>
            <p:cNvSpPr/>
            <p:nvPr/>
          </p:nvSpPr>
          <p:spPr>
            <a:xfrm>
              <a:off x="533400" y="3987165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9127" y="412289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按什么算哈希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30269" y="41228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" y="4571524"/>
              <a:ext cx="882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数据的 key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101215" y="4445318"/>
              <a:ext cx="361664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99513" y="457152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同一个用户的数据被打散到很多节点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8796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88442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5020151"/>
              <a:ext cx="577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 ID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101215" y="4893945"/>
              <a:ext cx="361664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199513" y="502015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数据倾斜：大用户所在的节点存得过多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87165"/>
              <a:ext cx="519398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086928" y="398716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3"/>
          <p:cNvGrpSpPr/>
          <p:nvPr/>
        </p:nvGrpSpPr>
        <p:grpSpPr>
          <a:xfrm>
            <a:off x="533400" y="5524500"/>
            <a:ext cx="5193982" cy="782955"/>
            <a:chOff x="533400" y="5524500"/>
            <a:chExt cx="5193982" cy="782955"/>
          </a:xfrm>
        </p:grpSpPr>
        <p:sp>
          <p:nvSpPr>
            <p:cNvPr id="31" name="Rectangle 31"/>
            <p:cNvSpPr/>
            <p:nvPr/>
          </p:nvSpPr>
          <p:spPr>
            <a:xfrm>
              <a:off x="533400" y="552450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815965"/>
              <a:ext cx="200026" cy="200026"/>
              <a:chOff x="738188" y="5815965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8159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8826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59159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67309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哈希分布就是建立哈希值（逻辑）和计算机节点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（物理）之间的映射。</a:t>
              </a:r>
            </a:p>
          </p:txBody>
        </p:sp>
      </p:grpSp>
      <p:grpSp>
        <p:nvGrpSpPr>
          <p:cNvPr id="101" name="c2-cells-1"/>
          <p:cNvGrpSpPr/>
          <p:nvPr/>
        </p:nvGrpSpPr>
        <p:grpSpPr>
          <a:xfrm>
            <a:off x="6026848" y="1524000"/>
            <a:ext cx="5631752" cy="1600200"/>
            <a:chOff x="6026848" y="1524000"/>
            <a:chExt cx="5631752" cy="1600200"/>
          </a:xfrm>
        </p:grpSpPr>
        <p:sp>
          <p:nvSpPr>
            <p:cNvPr id="38" name="TextBox 38"/>
            <p:cNvSpPr txBox="1"/>
            <p:nvPr/>
          </p:nvSpPr>
          <p:spPr>
            <a:xfrm>
              <a:off x="6026848" y="16678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key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43675" y="15240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2796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055168" y="15240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6428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566660" y="15240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775781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78152" y="15240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87273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589645" y="15240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98766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101138" y="15240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1025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612630" y="15240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821751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124122" y="15240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33243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635615" y="15240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844736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1147108" y="15240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35622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26848" y="2258378"/>
              <a:ext cx="411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mod 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543675" y="211455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52796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055168" y="211455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64288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566660" y="211455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75781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078152" y="211455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287273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589645" y="211455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98766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101138" y="211455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10258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612630" y="211455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821751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124122" y="211455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333243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635615" y="211455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844736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1147108" y="211455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356228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026848" y="2848928"/>
              <a:ext cx="411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mod 5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543675" y="27051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752796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055168" y="27051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264288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7566660" y="27051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75781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8078152" y="2705100"/>
              <a:ext cx="5114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287273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589645" y="2705100"/>
              <a:ext cx="51149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798766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9101138" y="2705100"/>
              <a:ext cx="51149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310258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9612630" y="2705100"/>
              <a:ext cx="51149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821751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0124122" y="2705100"/>
              <a:ext cx="51149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333243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0635615" y="2705100"/>
              <a:ext cx="51149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844736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1147108" y="2705100"/>
              <a:ext cx="511492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1356228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108" name="c2-card-2"/>
          <p:cNvGrpSpPr/>
          <p:nvPr/>
        </p:nvGrpSpPr>
        <p:grpSpPr>
          <a:xfrm>
            <a:off x="6032182" y="3314700"/>
            <a:ext cx="5626418" cy="1621155"/>
            <a:chOff x="6032182" y="3314700"/>
            <a:chExt cx="5626418" cy="1621155"/>
          </a:xfrm>
        </p:grpSpPr>
        <p:sp>
          <p:nvSpPr>
            <p:cNvPr id="102" name="Rectangle 102"/>
            <p:cNvSpPr/>
            <p:nvPr/>
          </p:nvSpPr>
          <p:spPr>
            <a:xfrm>
              <a:off x="6032182" y="3314700"/>
              <a:ext cx="562641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041708" y="34480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279832" y="35242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373990" y="35599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737985" y="3559492"/>
              <a:ext cx="2118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服务器从 4 台加到 5 台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272212" y="392049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mod 4 与 key mod 5 相同，当且仅当 key mod 20 落在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0–3，占 20%。其余 80% 的数据都要换节点（上面 10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里 6 个要搬）。</a:t>
              </a:r>
            </a:p>
          </p:txBody>
        </p:sp>
      </p:grpSp>
      <p:grpSp>
        <p:nvGrpSpPr>
          <p:cNvPr id="115" name="c2-bullets-3"/>
          <p:cNvGrpSpPr/>
          <p:nvPr/>
        </p:nvGrpSpPr>
        <p:grpSpPr>
          <a:xfrm>
            <a:off x="6032182" y="5137785"/>
            <a:ext cx="5334192" cy="651510"/>
            <a:chOff x="6032182" y="5137785"/>
            <a:chExt cx="5334192" cy="651510"/>
          </a:xfrm>
        </p:grpSpPr>
        <p:sp>
          <p:nvSpPr>
            <p:cNvPr id="109" name="Ellipse 109"/>
            <p:cNvSpPr/>
            <p:nvPr/>
          </p:nvSpPr>
          <p:spPr>
            <a:xfrm>
              <a:off x="6032182" y="51377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094032" y="51800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333173" y="5151120"/>
              <a:ext cx="50332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解决思路 1：设元数据服务，维护哈希值与服务器的映射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6032182" y="548259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094032" y="55248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333173" y="5495925"/>
              <a:ext cx="3215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解决思路 2：一致性哈希（下一页）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6" name="TextBox 11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48678" cy="909257"/>
            <a:chOff x="520446" y="342900"/>
            <a:chExt cx="87486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486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一致性哈希：数据顺时针找第一个 token ≥ 哈希值的节点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1591418" y="1701165"/>
            <a:ext cx="3277019" cy="3221926"/>
            <a:chOff x="1591418" y="1701165"/>
            <a:chExt cx="3277019" cy="3221926"/>
          </a:xfrm>
        </p:grpSpPr>
        <p:sp>
          <p:nvSpPr>
            <p:cNvPr id="7" name="Ellipse 7"/>
            <p:cNvSpPr/>
            <p:nvPr/>
          </p:nvSpPr>
          <p:spPr>
            <a:xfrm>
              <a:off x="1905000" y="2052638"/>
              <a:ext cx="2667000" cy="2667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3322320" y="200310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485322" y="305371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966210" y="4409122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640330" y="454723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866900" y="312039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769870" y="205930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751898" y="2079308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238625" y="3900488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362325" y="453771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933575" y="3900488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145030" y="2291715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21140" y="33204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55838" y="21659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42566" y="39871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66266" y="46243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37516" y="39871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48971" y="23783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23063" y="170116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02283" y="294513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82128" y="45500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k3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11533" y="471773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91418" y="302704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68695" y="176784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k6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5413058"/>
            <a:ext cx="5410200" cy="799148"/>
            <a:chOff x="533400" y="5413058"/>
            <a:chExt cx="5410200" cy="799148"/>
          </a:xfrm>
        </p:grpSpPr>
        <p:sp>
          <p:nvSpPr>
            <p:cNvPr id="32" name="Rectangle 32"/>
            <p:cNvSpPr/>
            <p:nvPr/>
          </p:nvSpPr>
          <p:spPr>
            <a:xfrm>
              <a:off x="533400" y="5413058"/>
              <a:ext cx="5410200" cy="799148"/>
            </a:xfrm>
            <a:prstGeom prst="roundRect">
              <a:avLst>
                <a:gd name="adj" fmla="val 1430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713095"/>
              <a:ext cx="200026" cy="200026"/>
              <a:chOff x="738188" y="5713095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7130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7797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8131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1273" y="5605939"/>
              <a:ext cx="44914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环上数值顺时针增大，0 在正上方。E 新加入，只有 k3 从 C 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E；反过来若 C 下线，它的 k4 交给顺时针下一个节点 D。</a:t>
              </a:r>
            </a:p>
          </p:txBody>
        </p:sp>
      </p:grpSp>
      <p:grpSp>
        <p:nvGrpSpPr>
          <p:cNvPr id="52" name="c2-steps-1"/>
          <p:cNvGrpSpPr/>
          <p:nvPr/>
        </p:nvGrpSpPr>
        <p:grpSpPr>
          <a:xfrm>
            <a:off x="6248400" y="1533525"/>
            <a:ext cx="5258638" cy="1596962"/>
            <a:chOff x="6248400" y="1533525"/>
            <a:chExt cx="5258638" cy="1596962"/>
          </a:xfrm>
        </p:grpSpPr>
        <p:sp>
          <p:nvSpPr>
            <p:cNvPr id="39" name="Rectangle 39"/>
            <p:cNvSpPr/>
            <p:nvPr/>
          </p:nvSpPr>
          <p:spPr>
            <a:xfrm>
              <a:off x="6381750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48400" y="20869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48400" y="26393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2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1023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节点上环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2166" y="1818322"/>
              <a:ext cx="3706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求每个服务器的哈希值作为 token，放到 0 ~ 2ⁿ − 1 的环上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023" y="21169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数据上环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2166" y="2371725"/>
              <a:ext cx="3014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用同样的方法求数据 key 的哈希值，也放到环上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023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顺时针查找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2166" y="2925128"/>
              <a:ext cx="48448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数据存到顺时针方向第一个 token ≥ 该哈希值的节点；越过最大值就回到环首</a:t>
              </a:r>
            </a:p>
          </p:txBody>
        </p:sp>
      </p:grpSp>
      <p:grpSp>
        <p:nvGrpSpPr>
          <p:cNvPr id="82" name="c2-table-2"/>
          <p:cNvGrpSpPr/>
          <p:nvPr/>
        </p:nvGrpSpPr>
        <p:grpSpPr>
          <a:xfrm>
            <a:off x="6248400" y="3291840"/>
            <a:ext cx="5410200" cy="2287905"/>
            <a:chOff x="6248400" y="3291840"/>
            <a:chExt cx="5410200" cy="2287905"/>
          </a:xfrm>
        </p:grpSpPr>
        <p:sp>
          <p:nvSpPr>
            <p:cNvPr id="53" name="Rectangle 53"/>
            <p:cNvSpPr/>
            <p:nvPr/>
          </p:nvSpPr>
          <p:spPr>
            <a:xfrm>
              <a:off x="6248400" y="329184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18960" y="34089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48610" y="3408998"/>
              <a:ext cx="7564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加入 E 之前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36465" y="3408998"/>
              <a:ext cx="7564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加入 E 之后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26375" y="3789998"/>
              <a:ext cx="478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k1、k6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80412" y="378999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68267" y="378999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40500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48400" y="405479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78681" y="41719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80412" y="417195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68267" y="417195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44310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78681" y="45529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80412" y="455295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780270" y="4445318"/>
              <a:ext cx="186880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668267" y="455295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48120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48400" y="481679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978681" y="4934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780412" y="493490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668267" y="493490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5193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78681" y="5315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780412" y="531590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668267" y="531590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329184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878128" y="329184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765982" y="329184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8" name="c2-callout-3"/>
          <p:cNvGrpSpPr/>
          <p:nvPr/>
        </p:nvGrpSpPr>
        <p:grpSpPr>
          <a:xfrm>
            <a:off x="6248400" y="5744528"/>
            <a:ext cx="5410200" cy="467678"/>
            <a:chOff x="6248400" y="5744528"/>
            <a:chExt cx="5410200" cy="467678"/>
          </a:xfrm>
        </p:grpSpPr>
        <p:sp>
          <p:nvSpPr>
            <p:cNvPr id="83" name="Rectangle 83"/>
            <p:cNvSpPr/>
            <p:nvPr/>
          </p:nvSpPr>
          <p:spPr>
            <a:xfrm>
              <a:off x="6248400" y="5744528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453188" y="5878830"/>
              <a:ext cx="200026" cy="200026"/>
              <a:chOff x="6453188" y="5878830"/>
              <a:chExt cx="200026" cy="200026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453188" y="58788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519863" y="59566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756273" y="588978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节点上下线只影响环上的邻居节点，避免了大范围数据迁移。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46353" cy="909257"/>
            <a:chOff x="520446" y="342900"/>
            <a:chExt cx="105463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463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练习：N = 16 的环上，数据各存在哪个节点；加入节点 6 时迁移什么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1905000" y="1624965"/>
            <a:ext cx="2908373" cy="3211449"/>
            <a:chOff x="1905000" y="1624965"/>
            <a:chExt cx="2908373" cy="3211449"/>
          </a:xfrm>
        </p:grpSpPr>
        <p:sp>
          <p:nvSpPr>
            <p:cNvPr id="7" name="Ellipse 7"/>
            <p:cNvSpPr/>
            <p:nvPr/>
          </p:nvSpPr>
          <p:spPr>
            <a:xfrm>
              <a:off x="1905000" y="1890712"/>
              <a:ext cx="2667000" cy="2667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769870" y="189833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85272" y="218789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4344352" y="251460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491038" y="290512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479608" y="3479482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317682" y="3864292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830955" y="433006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494722" y="446246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769870" y="443579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483168" y="430244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594735" y="1841182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16742" y="3071812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027170" y="401383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086100" y="4404360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145030" y="4013835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60664" y="315849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0986" y="19278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2993" y="31584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33421" y="41005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92351" y="44919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10466" y="41005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12329" y="16249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54427" y="1965007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7322" y="23488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24962" y="280511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12541" y="347472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22993" y="3927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57247" y="4474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57197" y="463105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29998" y="4596765"/>
              <a:ext cx="5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94718" y="4443412"/>
              <a:ext cx="5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</p:grpSp>
      <p:grpSp>
        <p:nvGrpSpPr>
          <p:cNvPr id="61" name="c1-table-2"/>
          <p:cNvGrpSpPr/>
          <p:nvPr/>
        </p:nvGrpSpPr>
        <p:grpSpPr>
          <a:xfrm>
            <a:off x="528447" y="5089208"/>
            <a:ext cx="5415153" cy="1199864"/>
            <a:chOff x="528447" y="5089208"/>
            <a:chExt cx="5415153" cy="1199864"/>
          </a:xfrm>
        </p:grpSpPr>
        <p:sp>
          <p:nvSpPr>
            <p:cNvPr id="40" name="Rectangle 40"/>
            <p:cNvSpPr/>
            <p:nvPr/>
          </p:nvSpPr>
          <p:spPr>
            <a:xfrm>
              <a:off x="533400" y="5089208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9625" y="52063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97928" y="52063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31403" y="52063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71496" y="52063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10636" y="52063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48013" y="52063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8274" y="55883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负责区间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48603" y="5588318"/>
              <a:ext cx="1190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 15] ∪ [0, 1]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56658" y="5588318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4]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656648" y="5479732"/>
              <a:ext cx="72104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96751" y="5588318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 6]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35891" y="5588318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 8]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75212" y="5588318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 10]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089208"/>
              <a:ext cx="5410200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374458" y="508920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2903220" y="508920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642360" y="508920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382452" y="508920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122545" y="508920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8447" y="5925026"/>
              <a:ext cx="5087874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加入 6 之后各节点负责的哈希值区间；图按原课件第104页重画，节点放在各自哈希值对应的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角度上</a:t>
              </a:r>
            </a:p>
          </p:txBody>
        </p:sp>
      </p:grpSp>
      <p:grpSp>
        <p:nvGrpSpPr>
          <p:cNvPr id="80" name="c2-table-1"/>
          <p:cNvGrpSpPr/>
          <p:nvPr/>
        </p:nvGrpSpPr>
        <p:grpSpPr>
          <a:xfrm>
            <a:off x="6248400" y="1524000"/>
            <a:ext cx="5410200" cy="1906905"/>
            <a:chOff x="6248400" y="1524000"/>
            <a:chExt cx="5410200" cy="1906905"/>
          </a:xfrm>
        </p:grpSpPr>
        <p:sp>
          <p:nvSpPr>
            <p:cNvPr id="62" name="Rectangle 62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3955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节点标号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76616" y="1641157"/>
              <a:ext cx="1312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数据标号（第 1 问）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8144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8848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381446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33003" y="2404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b/c/d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381446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55260" y="278511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e/f/g/h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340631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46084" y="3167062"/>
              <a:ext cx="1732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i/j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1524000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60107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7" name="c2-table-2"/>
          <p:cNvGrpSpPr/>
          <p:nvPr/>
        </p:nvGrpSpPr>
        <p:grpSpPr>
          <a:xfrm>
            <a:off x="6248400" y="3595688"/>
            <a:ext cx="5410200" cy="1525905"/>
            <a:chOff x="6248400" y="3595688"/>
            <a:chExt cx="5410200" cy="1525905"/>
          </a:xfrm>
        </p:grpSpPr>
        <p:sp>
          <p:nvSpPr>
            <p:cNvPr id="81" name="Rectangle 81"/>
            <p:cNvSpPr/>
            <p:nvPr/>
          </p:nvSpPr>
          <p:spPr>
            <a:xfrm>
              <a:off x="6248400" y="3595688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150037" y="37128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节点标号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487094" y="3712845"/>
              <a:ext cx="1312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数据标号（第 2 问）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28127" y="4094798"/>
              <a:ext cx="619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1、4、10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996488" y="40947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43538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248400" y="435864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257925" y="4368165"/>
              <a:ext cx="235934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391923" y="4475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8636318" y="4368165"/>
              <a:ext cx="301275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021224" y="447579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e/f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48400" y="47348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391923" y="4856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021224" y="485679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g/h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248400" y="3595688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8622030" y="359568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7" name="c2-steps-3"/>
          <p:cNvGrpSpPr/>
          <p:nvPr/>
        </p:nvGrpSpPr>
        <p:grpSpPr>
          <a:xfrm>
            <a:off x="6248400" y="5295900"/>
            <a:ext cx="5442394" cy="1043559"/>
            <a:chOff x="6248400" y="5295900"/>
            <a:chExt cx="5442394" cy="1043559"/>
          </a:xfrm>
        </p:grpSpPr>
        <p:sp>
          <p:nvSpPr>
            <p:cNvPr id="98" name="Rectangle 98"/>
            <p:cNvSpPr/>
            <p:nvPr/>
          </p:nvSpPr>
          <p:spPr>
            <a:xfrm>
              <a:off x="6381750" y="5438775"/>
              <a:ext cx="19050" cy="5534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6248400" y="529590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342024" y="5369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248400" y="5848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342024" y="5922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61023" y="5325904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a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662166" y="5580698"/>
              <a:ext cx="3198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在 10 之后、跨过 0 之前，顺时针第一个节点是 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661023" y="587930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 6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662166" y="6134100"/>
              <a:ext cx="5028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落在 4 和 8 之间，只有 (4, 6] 上的 e、f 从节点 8 迁到节点 6，其余节点不动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98182" cy="909257"/>
            <a:chOff x="520446" y="342900"/>
            <a:chExt cx="99981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981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每台服务器记多少路由信息：O(1)、O(N)、O(log N) 三种取舍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5842635" cy="2750820"/>
            <a:chOff x="533400" y="1524000"/>
            <a:chExt cx="5842635" cy="2750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822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每台记录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0030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4724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1562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前后邻居，O(1)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92680" y="2150745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45192" y="21507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沿环一跳一跳地问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584263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508885"/>
              <a:ext cx="1733550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2771775"/>
              <a:ext cx="1562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所有主机，O(N)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92680" y="2771775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45192" y="2638425"/>
              <a:ext cx="2682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一跳直达；节点增减要通知所有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人（Dynamo 用这种）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2489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080" y="3659505"/>
              <a:ext cx="1371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N 条路由表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92680" y="3526155"/>
              <a:ext cx="5295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45192" y="3392805"/>
              <a:ext cx="2491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1、2、4、8 … 倍距离记节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点，每跳至少把剩余距离减半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（如 Chord）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842635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81238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33750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2"/>
          <p:cNvGrpSpPr/>
          <p:nvPr/>
        </p:nvGrpSpPr>
        <p:grpSpPr>
          <a:xfrm>
            <a:off x="533400" y="4465320"/>
            <a:ext cx="5842635" cy="1602105"/>
            <a:chOff x="533400" y="4465320"/>
            <a:chExt cx="5842635" cy="1602105"/>
          </a:xfrm>
        </p:grpSpPr>
        <p:sp>
          <p:nvSpPr>
            <p:cNvPr id="28" name="Rectangle 28"/>
            <p:cNvSpPr/>
            <p:nvPr/>
          </p:nvSpPr>
          <p:spPr>
            <a:xfrm>
              <a:off x="533400" y="446532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59867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467487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7308" y="47105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3430" y="5052060"/>
              <a:ext cx="5015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 台服务器：只记邻居，最坏要问 1023 跳，平均约 512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跳；记 log₂1024 = 10 条路由，最多约 10 跳；记全部 1024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台，1 跳，但每台都要维护完整的成员表。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680835" y="1524000"/>
            <a:ext cx="4977765" cy="1602105"/>
            <a:chOff x="6680835" y="1524000"/>
            <a:chExt cx="4977765" cy="1602105"/>
          </a:xfrm>
        </p:grpSpPr>
        <p:sp>
          <p:nvSpPr>
            <p:cNvPr id="34" name="Rectangle 34"/>
            <p:cNvSpPr/>
            <p:nvPr/>
          </p:nvSpPr>
          <p:spPr>
            <a:xfrm>
              <a:off x="6680835" y="152400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28485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01942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负载均衡问题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20865" y="211074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原课件第102页留的问题：节点少时 token 随机分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布，各节点负责的弧长可能相差很大；新节点只从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一个邻居那里分走数据，其余节点得不到减负。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680835" y="3316605"/>
            <a:ext cx="4977765" cy="1602105"/>
            <a:chOff x="6680835" y="3316605"/>
            <a:chExt cx="4977765" cy="1602105"/>
          </a:xfrm>
        </p:grpSpPr>
        <p:sp>
          <p:nvSpPr>
            <p:cNvPr id="40" name="Rectangle 40"/>
            <p:cNvSpPr/>
            <p:nvPr/>
          </p:nvSpPr>
          <p:spPr>
            <a:xfrm>
              <a:off x="6680835" y="3316605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90360" y="344995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28485" y="352615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97992" y="356187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解决：虚拟节点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20865" y="390334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每台物理机在环上放多个 token（Dynamo 的做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法）。新机器加入时从很多节点各接过一小段；性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能强的机器多分几个虚拟节点，承担更多数据。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680835" y="5109210"/>
            <a:ext cx="4977765" cy="958215"/>
            <a:chOff x="6680835" y="5109210"/>
            <a:chExt cx="4977765" cy="958215"/>
          </a:xfrm>
        </p:grpSpPr>
        <p:sp>
          <p:nvSpPr>
            <p:cNvPr id="46" name="Rectangle 46"/>
            <p:cNvSpPr/>
            <p:nvPr/>
          </p:nvSpPr>
          <p:spPr>
            <a:xfrm>
              <a:off x="6680835" y="5109210"/>
              <a:ext cx="4977765" cy="958215"/>
            </a:xfrm>
            <a:prstGeom prst="roundRect">
              <a:avLst>
                <a:gd name="adj" fmla="val 1192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885623" y="5488305"/>
              <a:ext cx="200026" cy="200025"/>
              <a:chOff x="6885623" y="5488305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885623" y="54883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925361" y="55327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960077" y="56438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187565" y="534543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虚拟节点越多，每台机器负责的总弧长越接近平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均值。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顺序分布：大表按主键范围切成子表，多级索引定位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709612" y="1853565"/>
            <a:ext cx="6455093" cy="2461260"/>
            <a:chOff x="709612" y="1853565"/>
            <a:chExt cx="6455093" cy="2461260"/>
          </a:xfrm>
        </p:grpSpPr>
        <p:sp>
          <p:nvSpPr>
            <p:cNvPr id="7" name="Freeform 7"/>
            <p:cNvSpPr/>
            <p:nvPr/>
          </p:nvSpPr>
          <p:spPr>
            <a:xfrm>
              <a:off x="1012508" y="3084195"/>
              <a:ext cx="479108" cy="1040130"/>
            </a:xfrm>
            <a:custGeom>
              <a:avLst/>
              <a:gdLst/>
              <a:ahLst/>
              <a:cxnLst/>
              <a:rect l="l" t="t" r="r" b="b"/>
              <a:pathLst>
                <a:path w="479108" h="1040130">
                  <a:moveTo>
                    <a:pt x="479108" y="0"/>
                  </a:moveTo>
                  <a:lnTo>
                    <a:pt x="0" y="1040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91615" y="3084195"/>
              <a:ext cx="479108" cy="1040130"/>
            </a:xfrm>
            <a:custGeom>
              <a:avLst/>
              <a:gdLst/>
              <a:ahLst/>
              <a:cxnLst/>
              <a:rect l="l" t="t" r="r" b="b"/>
              <a:pathLst>
                <a:path w="479108" h="1040130">
                  <a:moveTo>
                    <a:pt x="0" y="0"/>
                  </a:moveTo>
                  <a:lnTo>
                    <a:pt x="479108" y="1040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928938" y="3084195"/>
              <a:ext cx="959167" cy="1040130"/>
            </a:xfrm>
            <a:custGeom>
              <a:avLst/>
              <a:gdLst/>
              <a:ahLst/>
              <a:cxnLst/>
              <a:rect l="l" t="t" r="r" b="b"/>
              <a:pathLst>
                <a:path w="959167" h="1040130">
                  <a:moveTo>
                    <a:pt x="959167" y="0"/>
                  </a:moveTo>
                  <a:lnTo>
                    <a:pt x="0" y="1040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88105" y="3084195"/>
              <a:ext cx="9525" cy="1040130"/>
            </a:xfrm>
            <a:custGeom>
              <a:avLst/>
              <a:gdLst/>
              <a:ahLst/>
              <a:cxnLst/>
              <a:rect l="l" t="t" r="r" b="b"/>
              <a:pathLst>
                <a:path w="9525" h="1040130">
                  <a:moveTo>
                    <a:pt x="0" y="0"/>
                  </a:moveTo>
                  <a:lnTo>
                    <a:pt x="0" y="1040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888105" y="3084195"/>
              <a:ext cx="958215" cy="1040130"/>
            </a:xfrm>
            <a:custGeom>
              <a:avLst/>
              <a:gdLst/>
              <a:ahLst/>
              <a:cxnLst/>
              <a:rect l="l" t="t" r="r" b="b"/>
              <a:pathLst>
                <a:path w="958215" h="1040130">
                  <a:moveTo>
                    <a:pt x="0" y="0"/>
                  </a:moveTo>
                  <a:lnTo>
                    <a:pt x="958215" y="1040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804535" y="3084195"/>
              <a:ext cx="479108" cy="1040130"/>
            </a:xfrm>
            <a:custGeom>
              <a:avLst/>
              <a:gdLst/>
              <a:ahLst/>
              <a:cxnLst/>
              <a:rect l="l" t="t" r="r" b="b"/>
              <a:pathLst>
                <a:path w="479108" h="1040130">
                  <a:moveTo>
                    <a:pt x="479108" y="0"/>
                  </a:moveTo>
                  <a:lnTo>
                    <a:pt x="0" y="1040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283642" y="3084195"/>
              <a:ext cx="479107" cy="1040130"/>
            </a:xfrm>
            <a:custGeom>
              <a:avLst/>
              <a:gdLst/>
              <a:ahLst/>
              <a:cxnLst/>
              <a:rect l="l" t="t" r="r" b="b"/>
              <a:pathLst>
                <a:path w="479107" h="1040130">
                  <a:moveTo>
                    <a:pt x="0" y="0"/>
                  </a:moveTo>
                  <a:lnTo>
                    <a:pt x="479107" y="1040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491615" y="2044065"/>
              <a:ext cx="2396490" cy="1040130"/>
            </a:xfrm>
            <a:custGeom>
              <a:avLst/>
              <a:gdLst/>
              <a:ahLst/>
              <a:cxnLst/>
              <a:rect l="l" t="t" r="r" b="b"/>
              <a:pathLst>
                <a:path w="2396490" h="1040130">
                  <a:moveTo>
                    <a:pt x="2396490" y="0"/>
                  </a:moveTo>
                  <a:lnTo>
                    <a:pt x="0" y="1040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88105" y="2044065"/>
              <a:ext cx="9525" cy="1040130"/>
            </a:xfrm>
            <a:custGeom>
              <a:avLst/>
              <a:gdLst/>
              <a:ahLst/>
              <a:cxnLst/>
              <a:rect l="l" t="t" r="r" b="b"/>
              <a:pathLst>
                <a:path w="9525" h="1040130">
                  <a:moveTo>
                    <a:pt x="0" y="0"/>
                  </a:moveTo>
                  <a:lnTo>
                    <a:pt x="0" y="1040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888105" y="2044065"/>
              <a:ext cx="2395538" cy="1040130"/>
            </a:xfrm>
            <a:custGeom>
              <a:avLst/>
              <a:gdLst/>
              <a:ahLst/>
              <a:cxnLst/>
              <a:rect l="l" t="t" r="r" b="b"/>
              <a:pathLst>
                <a:path w="2395538" h="1040130">
                  <a:moveTo>
                    <a:pt x="0" y="0"/>
                  </a:moveTo>
                  <a:lnTo>
                    <a:pt x="2395538" y="1040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9612" y="3933825"/>
              <a:ext cx="60579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568768" y="3933825"/>
              <a:ext cx="80391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243012" y="2893695"/>
              <a:ext cx="497205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27935" y="3933825"/>
              <a:ext cx="803910" cy="381000"/>
            </a:xfrm>
            <a:prstGeom prst="roundRect">
              <a:avLst>
                <a:gd name="adj" fmla="val 2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86150" y="3933825"/>
              <a:ext cx="80391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44365" y="3933825"/>
              <a:ext cx="80391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38550" y="2893695"/>
              <a:ext cx="497205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02580" y="3933825"/>
              <a:ext cx="80391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60795" y="3933825"/>
              <a:ext cx="80391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35040" y="2893695"/>
              <a:ext cx="497205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75685" y="1853565"/>
              <a:ext cx="623888" cy="381000"/>
            </a:xfrm>
            <a:prstGeom prst="roundRect">
              <a:avLst>
                <a:gd name="adj" fmla="val 2000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7839" y="4068128"/>
              <a:ext cx="429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1–1000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51101" y="4068128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1001–2000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32033" y="3027998"/>
              <a:ext cx="319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09316" y="4068128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2001–3000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68483" y="4068128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3001–4000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26698" y="4068128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4001–5000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28523" y="3027998"/>
              <a:ext cx="319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84913" y="4068128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5001–6000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3128" y="4068128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6001–7000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4061" y="3027998"/>
              <a:ext cx="319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61493" y="1987868"/>
              <a:ext cx="4532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Root 表</a:t>
              </a:r>
            </a:p>
          </p:txBody>
        </p:sp>
      </p:grpSp>
      <p:grpSp>
        <p:nvGrpSpPr>
          <p:cNvPr id="46" name="c1-callout-2"/>
          <p:cNvGrpSpPr/>
          <p:nvPr/>
        </p:nvGrpSpPr>
        <p:grpSpPr>
          <a:xfrm>
            <a:off x="533400" y="4819650"/>
            <a:ext cx="6708458" cy="1370648"/>
            <a:chOff x="533400" y="4819650"/>
            <a:chExt cx="6708458" cy="1370648"/>
          </a:xfrm>
        </p:grpSpPr>
        <p:sp>
          <p:nvSpPr>
            <p:cNvPr id="40" name="Rectangle 40"/>
            <p:cNvSpPr/>
            <p:nvPr/>
          </p:nvSpPr>
          <p:spPr>
            <a:xfrm>
              <a:off x="533400" y="4819650"/>
              <a:ext cx="6708458" cy="1370648"/>
            </a:xfrm>
            <a:prstGeom prst="roundRect">
              <a:avLst>
                <a:gd name="adj" fmla="val 833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404485"/>
              <a:ext cx="200026" cy="200025"/>
              <a:chOff x="738188" y="5404485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4044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54489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55600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286375"/>
              <a:ext cx="540581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例：找主键 2500，Root 表指向第二个 Meta，Meta 再指向子表 2001–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3000，两次索引就定位。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7546658" y="1524000"/>
            <a:ext cx="4111942" cy="2374582"/>
            <a:chOff x="7546658" y="1524000"/>
            <a:chExt cx="4111942" cy="2374582"/>
          </a:xfrm>
        </p:grpSpPr>
        <p:sp>
          <p:nvSpPr>
            <p:cNvPr id="47" name="Rectangle 47"/>
            <p:cNvSpPr/>
            <p:nvPr/>
          </p:nvSpPr>
          <p:spPr>
            <a:xfrm>
              <a:off x="7546658" y="1524000"/>
              <a:ext cx="4111942" cy="2374582"/>
            </a:xfrm>
            <a:prstGeom prst="roundRect">
              <a:avLst>
                <a:gd name="adj" fmla="val 5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56182" y="1657350"/>
              <a:ext cx="47625" cy="210788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777162" y="1716405"/>
              <a:ext cx="1555432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34504" y="1750695"/>
              <a:ext cx="14417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顺序分布（Bigtable）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785735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41754" y="2072640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哈希散列不支持顺序扫描，顺序分布补上这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一点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785735" y="268890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41754" y="263271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大表划分为子表，子表的合并与拆分是难点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785735" y="29918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41754" y="2935605"/>
              <a:ext cx="30826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多级索引：Root 表 → Meta 表（可选）→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 表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785735" y="355092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941754" y="349472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要考虑负载均衡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7546658" y="4072890"/>
            <a:ext cx="4111942" cy="2117408"/>
            <a:chOff x="7546658" y="4072890"/>
            <a:chExt cx="4111942" cy="2117408"/>
          </a:xfrm>
        </p:grpSpPr>
        <p:sp>
          <p:nvSpPr>
            <p:cNvPr id="60" name="Rectangle 60"/>
            <p:cNvSpPr/>
            <p:nvPr/>
          </p:nvSpPr>
          <p:spPr>
            <a:xfrm>
              <a:off x="7546658" y="4072890"/>
              <a:ext cx="4111942" cy="2117408"/>
            </a:xfrm>
            <a:prstGeom prst="roundRect">
              <a:avLst>
                <a:gd name="adj" fmla="val 629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739062" y="426529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802499" y="429958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负载均衡和数据迁移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739062" y="461010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94741" y="46484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19860" y="462248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总控节点负责管理数据负载和迁移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739062" y="491299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94741" y="49513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19860" y="4924425"/>
              <a:ext cx="3209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工作节点通过 Heartbeat 发送负载信息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739062" y="521493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94741" y="52533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19860" y="5227320"/>
              <a:ext cx="30483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新机器加入后平滑地迁移数据（约 30 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钟）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739062" y="577500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794741" y="58133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19860" y="578739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利用副本迁移，迁移期间保持服务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两种分布方法对比：随机读选哈希分布，要范围扫描选顺序分布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33400" y="1524000"/>
            <a:ext cx="11125200" cy="3283268"/>
            <a:chOff x="533400" y="1524000"/>
            <a:chExt cx="11125200" cy="32832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260545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哈希分布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32558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顺序分布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4636" y="21283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17826" y="21283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89838" y="21283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划分子表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462212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24636" y="25969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17826" y="259699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89838" y="259699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顺序读（范围扫描）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9260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24636" y="30656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17826" y="30656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节点动态上下线容易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89838" y="30656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顺序扫描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956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400425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24636" y="35352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17826" y="353520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负载均衡、可扩展性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89838" y="353520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主从结构（总控节点可能成为瓶颈）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8642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24636" y="40038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17826" y="400383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键值对存储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89838" y="400383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关系和表格存储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3329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337685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29055" y="44734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323148" y="4347210"/>
              <a:ext cx="4653915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17826" y="44734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95160" y="4347210"/>
              <a:ext cx="4653915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89838" y="44734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子表分层索引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32832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08860" y="1524000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80872" y="1524000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ompare-2"/>
          <p:cNvGrpSpPr/>
          <p:nvPr/>
        </p:nvGrpSpPr>
        <p:grpSpPr>
          <a:xfrm>
            <a:off x="533400" y="4992052"/>
            <a:ext cx="11125200" cy="1370648"/>
            <a:chOff x="533400" y="4992052"/>
            <a:chExt cx="11125200" cy="1370648"/>
          </a:xfrm>
        </p:grpSpPr>
        <p:sp>
          <p:nvSpPr>
            <p:cNvPr id="42" name="Rectangle 42"/>
            <p:cNvSpPr/>
            <p:nvPr/>
          </p:nvSpPr>
          <p:spPr>
            <a:xfrm>
              <a:off x="533400" y="4992052"/>
              <a:ext cx="5314950" cy="1370648"/>
            </a:xfrm>
            <a:prstGeom prst="roundRect">
              <a:avLst>
                <a:gd name="adj" fmla="val 972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9996" y="52201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选哈希分布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44855" y="561879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1446" y="5558314"/>
              <a:ext cx="23561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访问以按 key 随机读写为主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44855" y="593883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1446" y="587835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希望去中心化，节点能随时加减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43650" y="4992052"/>
              <a:ext cx="5314950" cy="1370648"/>
            </a:xfrm>
            <a:prstGeom prst="roundRect">
              <a:avLst>
                <a:gd name="adj" fmla="val 972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40246" y="52201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选顺序分布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55105" y="561879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11696" y="5558314"/>
              <a:ext cx="23561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需要按 key 范围扫描、排序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55105" y="593883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11696" y="587835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能接受一个总控节点管理子表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895975" y="5477828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49315" y="56121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故障恢复、容错与可扩展性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机器一定会坏：系统要能恢复、能接着服务，还要能继续加机器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内容提要：故障恢复和容错、可扩展性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2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UNDO/REDO 日志与检查点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心跳、租约与服务迁移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元数据分层、数据库扩容与异构系统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1543" cy="909257"/>
            <a:chOff x="520446" y="342900"/>
            <a:chExt cx="82615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故障恢复、容错与可扩展性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15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操作日志：UNDO 记修改前的值，REDO 记修改后的值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274445"/>
            <a:chOff x="533400" y="1524000"/>
            <a:chExt cx="5626418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故障场景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事务运行中产生故障，要恢复到一致状态：已提交的要完成，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未提交的要回滚。办法是记操作日志。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2984182"/>
            <a:ext cx="5626418" cy="1876425"/>
            <a:chOff x="533400" y="2984182"/>
            <a:chExt cx="5626418" cy="1876425"/>
          </a:xfrm>
        </p:grpSpPr>
        <p:sp>
          <p:nvSpPr>
            <p:cNvPr id="13" name="Rectangle 13"/>
            <p:cNvSpPr/>
            <p:nvPr/>
          </p:nvSpPr>
          <p:spPr>
            <a:xfrm>
              <a:off x="533400" y="2984182"/>
              <a:ext cx="5626418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6521" y="31189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63190" y="31189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记录内容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81779" y="3118961"/>
              <a:ext cx="19062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例：T 把 X 从 5 加 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04" y="3588544"/>
              <a:ext cx="12881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UNDO（回滚）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0644" y="358854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事务修改前的状态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13264" y="3588544"/>
              <a:ext cx="9132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&lt;T, X, 5&gt;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9176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922395"/>
              <a:ext cx="5626418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04" y="4057174"/>
              <a:ext cx="12881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REDO（重做）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00644" y="405717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事务修改后的状态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918585" y="3931920"/>
              <a:ext cx="2231708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013264" y="4057174"/>
              <a:ext cx="10243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&lt;T, X, 15&gt;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3862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04" y="4525804"/>
              <a:ext cx="11491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UNDO/REDO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00644" y="452580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修改前后都记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13264" y="4525804"/>
              <a:ext cx="1307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&lt;T, X, 5, 15&gt;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984182"/>
              <a:ext cx="5626418" cy="18764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91678" y="2984182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904298" y="2984182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3"/>
          <p:cNvGrpSpPr/>
          <p:nvPr/>
        </p:nvGrpSpPr>
        <p:grpSpPr>
          <a:xfrm>
            <a:off x="533400" y="5045392"/>
            <a:ext cx="5626418" cy="1274445"/>
            <a:chOff x="533400" y="5045392"/>
            <a:chExt cx="5626418" cy="1274445"/>
          </a:xfrm>
        </p:grpSpPr>
        <p:sp>
          <p:nvSpPr>
            <p:cNvPr id="34" name="Rectangle 34"/>
            <p:cNvSpPr/>
            <p:nvPr/>
          </p:nvSpPr>
          <p:spPr>
            <a:xfrm>
              <a:off x="533400" y="5045392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17874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75335" y="524922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5543" y="52849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8096" y="5622131"/>
              <a:ext cx="45770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原课件第112页写“执行 +10 操作，5-&gt;10”，5 加 10 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15，同页 REDO 日志 &lt;T, X, 15&gt; 是对的。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464618" y="1524000"/>
            <a:ext cx="5193982" cy="1274445"/>
            <a:chOff x="6464618" y="1524000"/>
            <a:chExt cx="5193982" cy="1274445"/>
          </a:xfrm>
        </p:grpSpPr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06552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8491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写效率问题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99314" y="210073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数据在磁盘上的位置分散，每改一处就写一次，是随机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写，效率差。</a:t>
              </a:r>
            </a:p>
          </p:txBody>
        </p:sp>
      </p:grpSp>
      <p:grpSp>
        <p:nvGrpSpPr>
          <p:cNvPr id="59" name="c2-steps-2"/>
          <p:cNvGrpSpPr/>
          <p:nvPr/>
        </p:nvGrpSpPr>
        <p:grpSpPr>
          <a:xfrm>
            <a:off x="6464618" y="2993708"/>
            <a:ext cx="3171444" cy="1790128"/>
            <a:chOff x="6464618" y="2993708"/>
            <a:chExt cx="3171444" cy="1790128"/>
          </a:xfrm>
        </p:grpSpPr>
        <p:sp>
          <p:nvSpPr>
            <p:cNvPr id="46" name="Rectangle 46"/>
            <p:cNvSpPr/>
            <p:nvPr/>
          </p:nvSpPr>
          <p:spPr>
            <a:xfrm>
              <a:off x="6597968" y="3136582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464618" y="29937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8241" y="3067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64618" y="36147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8241" y="3688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64618" y="423576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8241" y="43095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6479" y="302656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先留在内存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7622" y="330708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操作日志暂存内存，暂时不写磁盘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6479" y="364759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定期批量写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7622" y="39281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攒一批再一次写入磁盘（成组提交）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6479" y="426862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77622" y="454914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低效率的随机写转化为高效率的顺序写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464618" y="4959668"/>
            <a:ext cx="5193982" cy="1360170"/>
            <a:chOff x="6464618" y="4959668"/>
            <a:chExt cx="5193982" cy="1360170"/>
          </a:xfrm>
        </p:grpSpPr>
        <p:sp>
          <p:nvSpPr>
            <p:cNvPr id="60" name="Rectangle 60"/>
            <p:cNvSpPr/>
            <p:nvPr/>
          </p:nvSpPr>
          <p:spPr>
            <a:xfrm>
              <a:off x="6464618" y="4959668"/>
              <a:ext cx="5193982" cy="1360170"/>
            </a:xfrm>
            <a:prstGeom prst="roundRect">
              <a:avLst>
                <a:gd name="adj" fmla="val 840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669405" y="5539740"/>
              <a:ext cx="200026" cy="200025"/>
              <a:chOff x="6669405" y="5539740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669405" y="55397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09144" y="55841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43859" y="56953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971729" y="5409724"/>
              <a:ext cx="417131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日志按时间顺序追加，和 Bitcask、LSM 的写法同属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一路。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22784" cy="909257"/>
            <a:chOff x="520446" y="342900"/>
            <a:chExt cx="10322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故障恢复、容错与可扩展性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22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REDO 日志加检查点：先写日志再改内存，恢复时从检查点往后回放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912495" y="1563052"/>
            <a:ext cx="4652962" cy="1828801"/>
            <a:chOff x="912495" y="1563052"/>
            <a:chExt cx="4652962" cy="1828801"/>
          </a:xfrm>
        </p:grpSpPr>
        <p:sp>
          <p:nvSpPr>
            <p:cNvPr id="7" name="Freeform 7"/>
            <p:cNvSpPr/>
            <p:nvPr/>
          </p:nvSpPr>
          <p:spPr>
            <a:xfrm>
              <a:off x="3238500" y="1962150"/>
              <a:ext cx="9525" cy="93345"/>
            </a:xfrm>
            <a:custGeom>
              <a:avLst/>
              <a:gdLst/>
              <a:ahLst/>
              <a:cxnLst/>
              <a:rect l="l" t="t" r="r" b="b"/>
              <a:pathLst>
                <a:path w="9525" h="93345">
                  <a:moveTo>
                    <a:pt x="0" y="0"/>
                  </a:moveTo>
                  <a:lnTo>
                    <a:pt x="0" y="933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6112" y="19507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2527935"/>
              <a:ext cx="9525" cy="93345"/>
            </a:xfrm>
            <a:custGeom>
              <a:avLst/>
              <a:gdLst/>
              <a:ahLst/>
              <a:cxnLst/>
              <a:rect l="l" t="t" r="r" b="b"/>
              <a:pathLst>
                <a:path w="9525" h="93345">
                  <a:moveTo>
                    <a:pt x="0" y="0"/>
                  </a:moveTo>
                  <a:lnTo>
                    <a:pt x="0" y="933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6112" y="25165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2887980"/>
              <a:ext cx="9525" cy="27623"/>
            </a:xfrm>
            <a:custGeom>
              <a:avLst/>
              <a:gdLst/>
              <a:ahLst/>
              <a:cxnLst/>
              <a:rect l="l" t="t" r="r" b="b"/>
              <a:pathLst>
                <a:path w="9525" h="27623">
                  <a:moveTo>
                    <a:pt x="0" y="2762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86112" y="28879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12495" y="1563052"/>
              <a:ext cx="4652962" cy="399098"/>
            </a:xfrm>
            <a:prstGeom prst="roundRect">
              <a:avLst>
                <a:gd name="adj" fmla="val 4988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12495" y="1950720"/>
              <a:ext cx="4652962" cy="578168"/>
            </a:xfrm>
            <a:prstGeom prst="roundRect">
              <a:avLst>
                <a:gd name="adj" fmla="val 16474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12495" y="2516505"/>
              <a:ext cx="465296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2495" y="2992755"/>
              <a:ext cx="4652962" cy="399098"/>
            </a:xfrm>
            <a:prstGeom prst="roundRect">
              <a:avLst>
                <a:gd name="adj" fmla="val 23866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623" y="1683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写请求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50465" y="2063591"/>
              <a:ext cx="15760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结果写入 REDO 日志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（顺序记录，存入磁盘）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05075" y="26369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修改应用到内存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03526" y="311419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批量把内存数据写入磁盘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606165"/>
            <a:ext cx="5410200" cy="2641282"/>
            <a:chOff x="533400" y="3606165"/>
            <a:chExt cx="5410200" cy="2641282"/>
          </a:xfrm>
        </p:grpSpPr>
        <p:sp>
          <p:nvSpPr>
            <p:cNvPr id="22" name="Rectangle 22"/>
            <p:cNvSpPr/>
            <p:nvPr/>
          </p:nvSpPr>
          <p:spPr>
            <a:xfrm>
              <a:off x="533400" y="3606165"/>
              <a:ext cx="5410200" cy="2641282"/>
            </a:xfrm>
            <a:prstGeom prst="roundRect">
              <a:avLst>
                <a:gd name="adj" fmla="val 50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739515"/>
              <a:ext cx="47625" cy="23745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3798570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5340" y="383286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为什么先写日志，后改内存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047" y="4154805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反过来的话，内存改完、日志还没写时宕机，这次修改既不在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磁盘也不在日志里，已经告诉客户端成功的修改就丢了。先写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日志，任何时刻宕机都能按日志重做。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8190" y="4967764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批量写盘提高了性能，代价是损失一定的一致性：磁盘上的数据文件暂时落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后于内存。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209675"/>
            <a:chOff x="6248400" y="1524000"/>
            <a:chExt cx="5410200" cy="1209675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8905" y="1716405"/>
              <a:ext cx="96012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5580" y="1750695"/>
              <a:ext cx="826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检查点 CKPT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2047" y="207264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内存数据定期做快照存入磁盘，并在 REDO 日志中记下检查点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时刻，恢复就不必从头回放。</a:t>
              </a:r>
            </a:p>
          </p:txBody>
        </p:sp>
      </p:grpSp>
      <p:grpSp>
        <p:nvGrpSpPr>
          <p:cNvPr id="48" name="c2-steps-2"/>
          <p:cNvGrpSpPr/>
          <p:nvPr/>
        </p:nvGrpSpPr>
        <p:grpSpPr>
          <a:xfrm>
            <a:off x="6248400" y="2918460"/>
            <a:ext cx="3132496" cy="1693069"/>
            <a:chOff x="6248400" y="2918460"/>
            <a:chExt cx="3132496" cy="1693069"/>
          </a:xfrm>
        </p:grpSpPr>
        <p:sp>
          <p:nvSpPr>
            <p:cNvPr id="35" name="Rectangle 35"/>
            <p:cNvSpPr/>
            <p:nvPr/>
          </p:nvSpPr>
          <p:spPr>
            <a:xfrm>
              <a:off x="6381750" y="306133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248400" y="29184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2024" y="2992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48400" y="350520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3579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40919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4165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0642" y="2949892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加载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785" y="3217069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加载 checkpoint 文件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0642" y="3536632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定位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785" y="3804761"/>
              <a:ext cx="1814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找到日志中的 CKPT 回放点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0642" y="4123372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回放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785" y="4391501"/>
              <a:ext cx="27191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按磁盘中的日志，回放 CKPT 之后的操作</a:t>
              </a:r>
            </a:p>
          </p:txBody>
        </p:sp>
      </p:grpSp>
      <p:grpSp>
        <p:nvGrpSpPr>
          <p:cNvPr id="54" name="c2-card-3"/>
          <p:cNvGrpSpPr/>
          <p:nvPr/>
        </p:nvGrpSpPr>
        <p:grpSpPr>
          <a:xfrm>
            <a:off x="6248400" y="4780598"/>
            <a:ext cx="5410200" cy="1466850"/>
            <a:chOff x="6248400" y="4780598"/>
            <a:chExt cx="5410200" cy="1466850"/>
          </a:xfrm>
        </p:grpSpPr>
        <p:sp>
          <p:nvSpPr>
            <p:cNvPr id="49" name="Rectangle 49"/>
            <p:cNvSpPr/>
            <p:nvPr/>
          </p:nvSpPr>
          <p:spPr>
            <a:xfrm>
              <a:off x="6248400" y="4780598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491394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8905" y="497300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4346" y="500729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72047" y="5329238"/>
              <a:ext cx="47285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检查点做在第 100 条操作后，第 130 条后宕机：加载检查点得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到前 100 条的结果，再回放第 101–130 条。REDO 日志记的是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操作后的状态，重复回放也得到同样结果。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11573" cy="909257"/>
            <a:chOff x="520446" y="342900"/>
            <a:chExt cx="67115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故障恢复、容错与可扩展性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115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规模越大越容易出故障：P = 1 − ∏(1 − pᵢ)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64933" cy="264033"/>
            <a:chOff x="526542" y="1545907"/>
            <a:chExt cx="74649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分布式系统中的常见错误：服务器宕机或不可用，网络异常（消息丢失、阻塞），磁盘故障。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7"/>
              <p:cNvSpPr txBox="1">
                <a:spLocks noGrp="1"/>
              </p:cNvSpPr>
              <p:nvPr/>
            </p:nvSpPr>
            <p:spPr>
              <a:xfrm>
                <a:off x="533400" y="1928812"/>
                <a:ext cx="5410200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8" name="c1-kv-2"/>
          <p:cNvGrpSpPr/>
          <p:nvPr/>
        </p:nvGrpSpPr>
        <p:grpSpPr>
          <a:xfrm>
            <a:off x="526542" y="2887980"/>
            <a:ext cx="5417058" cy="1048893"/>
            <a:chOff x="526542" y="2887980"/>
            <a:chExt cx="5417058" cy="1048893"/>
          </a:xfrm>
        </p:grpSpPr>
        <p:sp>
          <p:nvSpPr>
            <p:cNvPr id="10" name="TextBox 10"/>
            <p:cNvSpPr txBox="1"/>
            <p:nvPr/>
          </p:nvSpPr>
          <p:spPr>
            <a:xfrm>
              <a:off x="526542" y="288798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09497" y="2887980"/>
              <a:ext cx="1994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台机器出故障的概率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173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3280410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09497" y="328041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这组机器里至少一台出故障的概率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5661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367284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同构时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09497" y="3672840"/>
              <a:ext cx="2495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各台 p 相同，P = 1 − (1 − p)ⁿ</a:t>
              </a:r>
            </a:p>
          </p:txBody>
        </p:sp>
      </p:grpSp>
      <p:grpSp>
        <p:nvGrpSpPr>
          <p:cNvPr id="45" name="c1-table-3"/>
          <p:cNvGrpSpPr/>
          <p:nvPr/>
        </p:nvGrpSpPr>
        <p:grpSpPr>
          <a:xfrm>
            <a:off x="528447" y="4052888"/>
            <a:ext cx="5415153" cy="2264758"/>
            <a:chOff x="528447" y="4052888"/>
            <a:chExt cx="5415153" cy="2264758"/>
          </a:xfrm>
        </p:grpSpPr>
        <p:sp>
          <p:nvSpPr>
            <p:cNvPr id="19" name="Rectangle 19"/>
            <p:cNvSpPr/>
            <p:nvPr/>
          </p:nvSpPr>
          <p:spPr>
            <a:xfrm>
              <a:off x="533400" y="4052888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3540" y="417433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单机 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66125" y="417433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台数 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3504" y="417433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整体 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5158" y="4574381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42720" y="4574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25904" y="457438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19%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8482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852988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05158" y="4974431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42720" y="49744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1515" y="4974431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34.39%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248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18086" y="5374481"/>
              <a:ext cx="47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01257" y="53744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08095" y="5262562"/>
              <a:ext cx="212598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42978" y="5374481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6483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5653088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18086" y="5774531"/>
              <a:ext cx="47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59794" y="57745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16816" y="5774531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0.995% ≈ 1%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052888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175510" y="405288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793808" y="405288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447" y="6126956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原课件的四组数，已用脚本复核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248400" y="1928812"/>
            <a:ext cx="5410200" cy="1185862"/>
            <a:chOff x="6248400" y="1928812"/>
            <a:chExt cx="5410200" cy="1185862"/>
          </a:xfrm>
        </p:grpSpPr>
        <p:sp>
          <p:nvSpPr>
            <p:cNvPr id="46" name="Rectangle 46"/>
            <p:cNvSpPr/>
            <p:nvPr/>
          </p:nvSpPr>
          <p:spPr>
            <a:xfrm>
              <a:off x="6248400" y="192881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206216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3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65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6332" y="2459355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p = 0.01%、n = 10 时 P = 0.09%。1 − 0.9999¹⁰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0.09996%，应约为 0.10%。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248400" y="3284220"/>
            <a:ext cx="5410200" cy="1545908"/>
            <a:chOff x="6248400" y="3284220"/>
            <a:chExt cx="5410200" cy="1545908"/>
          </a:xfrm>
        </p:grpSpPr>
        <p:sp>
          <p:nvSpPr>
            <p:cNvPr id="52" name="Rectangle 52"/>
            <p:cNvSpPr/>
            <p:nvPr/>
          </p:nvSpPr>
          <p:spPr>
            <a:xfrm>
              <a:off x="6248400" y="328422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341757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3190" y="347091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1811" y="350377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63562" y="3506152"/>
              <a:ext cx="3045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单机年故障率 1%，集群越大越难幸免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73190" y="381952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28868" y="38579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53987" y="3831908"/>
              <a:ext cx="2285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台：1 − 0.99¹⁰ ≈ 9.56%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73190" y="411956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28868" y="41589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53987" y="4131945"/>
              <a:ext cx="2485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台：1 − 0.99¹⁰⁰ ≈ 63.4%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73190" y="442055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28868" y="44589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53987" y="4431982"/>
              <a:ext cx="4466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台：1 − 0.99¹⁰⁰⁰ ≈ 99.996%，平均每年坏 10 台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248400" y="4999672"/>
            <a:ext cx="5410200" cy="1279208"/>
            <a:chOff x="6248400" y="4999672"/>
            <a:chExt cx="5410200" cy="1279208"/>
          </a:xfrm>
        </p:grpSpPr>
        <p:sp>
          <p:nvSpPr>
            <p:cNvPr id="67" name="Rectangle 67"/>
            <p:cNvSpPr/>
            <p:nvPr/>
          </p:nvSpPr>
          <p:spPr>
            <a:xfrm>
              <a:off x="6248400" y="4999672"/>
              <a:ext cx="5410200" cy="1279208"/>
            </a:xfrm>
            <a:prstGeom prst="roundRect">
              <a:avLst>
                <a:gd name="adj" fmla="val 893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453188" y="5539742"/>
              <a:ext cx="200023" cy="200023"/>
              <a:chOff x="6453188" y="5539742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453188" y="55397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86538" y="56064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755892" y="5420678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单机再可靠，机器数一多，“某台机器坏了”就是每天都会发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生的事，系统必须把故障当常态来设计。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0410" cy="909257"/>
            <a:chOff x="520446" y="342900"/>
            <a:chExt cx="81104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故障恢复、容错与可扩展性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04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数据中心一年的故障：单机、硬盘故障以千计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table-1"/>
          <p:cNvGrpSpPr/>
          <p:nvPr/>
        </p:nvGrpSpPr>
        <p:grpSpPr>
          <a:xfrm>
            <a:off x="528447" y="1524000"/>
            <a:ext cx="6713411" cy="4840319"/>
            <a:chOff x="528447" y="1524000"/>
            <a:chExt cx="6713411" cy="484031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4271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年发生次数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89391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故障类型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7451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影响范围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67244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数据中心过热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76968" y="2023110"/>
              <a:ext cx="25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分钟内大部分机器断电，一到两天恢复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7084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7244" y="2404110"/>
              <a:ext cx="11948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配电装置 PDU 故障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76968" y="2404110"/>
              <a:ext cx="2823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500 到 1000 台机器瞬间下线，6 小时恢复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67244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机架调整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76968" y="2785110"/>
              <a:ext cx="3063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大量告警，500 到 1000 台机器断电，6 小时恢复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67084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67244" y="31670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网络重新布线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76968" y="3167062"/>
              <a:ext cx="1551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5% 机器下线超过两天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67244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机架故障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76968" y="3548062"/>
              <a:ext cx="2710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到 80 台机器瞬间下线，1 到 6 小时恢复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67084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67244" y="39300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机架不稳定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76968" y="3930015"/>
              <a:ext cx="1925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到 80 台机器发生 50% 丢包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8909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311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67244" y="43110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路由器重启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76968" y="4311015"/>
              <a:ext cx="2214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DNS 和对外虚 IP 服务失效约几分钟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7009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574858"/>
              <a:ext cx="67084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692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67244" y="46920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路由器故障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176968" y="4692015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需要立即切换流量，持续约 1 小时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95204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8078" y="50739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67244" y="5073968"/>
              <a:ext cx="5846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DNS 故障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76968" y="5073968"/>
              <a:ext cx="816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持续约 30 秒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33304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337810"/>
              <a:ext cx="67084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5347335"/>
              <a:ext cx="92011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8078" y="545496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567244" y="54549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单机故障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176968" y="545496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机器无法提供服务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571404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42925" y="5728335"/>
              <a:ext cx="92011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8078" y="58369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567244" y="58369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硬盘故障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176968" y="583692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硬盘数据丢失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1524000"/>
              <a:ext cx="6708458" cy="45767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467802" y="1524000"/>
              <a:ext cx="9525" cy="45767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077528" y="1524000"/>
              <a:ext cx="9525" cy="45767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8447" y="6173629"/>
              <a:ext cx="31803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Google 某数据中心一年的运行故障（原课件第116页）</a:t>
              </a:r>
            </a:p>
          </p:txBody>
        </p:sp>
      </p:grpSp>
      <p:grpSp>
        <p:nvGrpSpPr>
          <p:cNvPr id="77" name="c2-kv-1"/>
          <p:cNvGrpSpPr/>
          <p:nvPr/>
        </p:nvGrpSpPr>
        <p:grpSpPr>
          <a:xfrm>
            <a:off x="7540180" y="1545431"/>
            <a:ext cx="4118420" cy="2089594"/>
            <a:chOff x="7540180" y="1545431"/>
            <a:chExt cx="4118420" cy="2089594"/>
          </a:xfrm>
        </p:grpSpPr>
        <p:sp>
          <p:nvSpPr>
            <p:cNvPr id="66" name="TextBox 66"/>
            <p:cNvSpPr txBox="1"/>
            <p:nvPr/>
          </p:nvSpPr>
          <p:spPr>
            <a:xfrm>
              <a:off x="7540180" y="15454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数据中心级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34603" y="1545431"/>
              <a:ext cx="2776474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过热、配电、布线，一年零点几到一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次，一次下线几百上千台，恢复要几小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时到两天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546658" y="2296478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40180" y="239791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机架级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34603" y="2397919"/>
              <a:ext cx="283337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一年十几到二十次，一次 40–80 台下线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或严重丢包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546658" y="2909888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540180" y="30122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网络级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634603" y="3012281"/>
              <a:ext cx="27257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路由器、DNS，影响几十秒到一小时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546658" y="3284220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540180" y="33856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单机级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634603" y="3385661"/>
              <a:ext cx="29078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单机故障约 1000 次、硬盘故障几千次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7546658" y="3749992"/>
            <a:ext cx="4111942" cy="1143952"/>
            <a:chOff x="7546658" y="3749992"/>
            <a:chExt cx="4111942" cy="1143952"/>
          </a:xfrm>
        </p:grpSpPr>
        <p:sp>
          <p:nvSpPr>
            <p:cNvPr id="78" name="Rectangle 78"/>
            <p:cNvSpPr/>
            <p:nvPr/>
          </p:nvSpPr>
          <p:spPr>
            <a:xfrm>
              <a:off x="7546658" y="3749992"/>
              <a:ext cx="4111942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556182" y="388334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765732" y="393096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854353" y="396382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59256" y="4271486"/>
              <a:ext cx="33942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÷ 365 ≈ 2.7，平均每天有两三台机器出故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障；硬盘按 3000 块算，每天约 8 块。</a:t>
              </a:r>
            </a:p>
          </p:txBody>
        </p:sp>
      </p:grpSp>
      <p:grpSp>
        <p:nvGrpSpPr>
          <p:cNvPr id="90" name="c2-callout-3"/>
          <p:cNvGrpSpPr/>
          <p:nvPr/>
        </p:nvGrpSpPr>
        <p:grpSpPr>
          <a:xfrm>
            <a:off x="7546658" y="5058728"/>
            <a:ext cx="4111942" cy="1266825"/>
            <a:chOff x="7546658" y="5058728"/>
            <a:chExt cx="4111942" cy="1266825"/>
          </a:xfrm>
        </p:grpSpPr>
        <p:sp>
          <p:nvSpPr>
            <p:cNvPr id="84" name="Rectangle 84"/>
            <p:cNvSpPr/>
            <p:nvPr/>
          </p:nvSpPr>
          <p:spPr>
            <a:xfrm>
              <a:off x="7546658" y="5058728"/>
              <a:ext cx="4111942" cy="1266825"/>
            </a:xfrm>
            <a:prstGeom prst="roundRect">
              <a:avLst>
                <a:gd name="adj" fmla="val 902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751445" y="5592128"/>
              <a:ext cx="200026" cy="200025"/>
              <a:chOff x="7751445" y="5592128"/>
              <a:chExt cx="200026" cy="20002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751445" y="55921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791184" y="56365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825899" y="57477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8054530" y="5485924"/>
              <a:ext cx="31015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多副本应对单机和硬盘故障；副本跨机架放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置，才能扛住整个机架下线。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故障恢复、容错与可扩展性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故障检测：心跳假设服务正常，租约假设服务随时会中断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compare-1"/>
          <p:cNvGrpSpPr/>
          <p:nvPr/>
        </p:nvGrpSpPr>
        <p:grpSpPr>
          <a:xfrm>
            <a:off x="533400" y="1524000"/>
            <a:ext cx="5410200" cy="3417570"/>
            <a:chOff x="533400" y="1524000"/>
            <a:chExt cx="5410200" cy="34175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3417570"/>
            </a:xfrm>
            <a:prstGeom prst="roundRect">
              <a:avLst>
                <a:gd name="adj" fmla="val 534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心跳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4866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780" y="211264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节点定期向总控发心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8665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780" y="273367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超时没收到就判定出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8665" y="34175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3354705"/>
              <a:ext cx="172974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隐患：没收到心跳不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等于对方真的停了，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可能只是网络慢或断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开，会出现两个节点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都以为自己在服务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48050" y="1524000"/>
              <a:ext cx="2495550" cy="341757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457575" y="1657350"/>
              <a:ext cx="47625" cy="3150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88080" y="17583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租约（带超时的授权）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370141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59530" y="211264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总控给节点发一份有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期限的授权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3701415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59530" y="273367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节点只在租约有效期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内提供服务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701415" y="34175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59530" y="335470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到期没续上就自己停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止服务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701415" y="40386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859530" y="397573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基于同步时钟（至少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时钟误差有界）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3076575" y="307086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46915" y="31670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5132070"/>
            <a:ext cx="5410200" cy="1059180"/>
            <a:chOff x="533400" y="5132070"/>
            <a:chExt cx="5410200" cy="1059180"/>
          </a:xfrm>
        </p:grpSpPr>
        <p:sp>
          <p:nvSpPr>
            <p:cNvPr id="29" name="Rectangle 29"/>
            <p:cNvSpPr/>
            <p:nvPr/>
          </p:nvSpPr>
          <p:spPr>
            <a:xfrm>
              <a:off x="533400" y="513207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561650"/>
              <a:ext cx="200023" cy="200023"/>
              <a:chOff x="738188" y="556165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5616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6283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280660"/>
              <a:ext cx="4415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故障检测的难点是让总控和节点对“谁还在服务”达成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一致，租约让双方各自按时间判断，不必依赖对方回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话。</a:t>
              </a:r>
            </a:p>
          </p:txBody>
        </p:sp>
      </p:grpSp>
      <p:grpSp>
        <p:nvGrpSpPr>
          <p:cNvPr id="52" name="c2-steps-1"/>
          <p:cNvGrpSpPr/>
          <p:nvPr/>
        </p:nvGrpSpPr>
        <p:grpSpPr>
          <a:xfrm>
            <a:off x="6248400" y="1533525"/>
            <a:ext cx="5405115" cy="2764440"/>
            <a:chOff x="6248400" y="1533525"/>
            <a:chExt cx="5405115" cy="2764440"/>
          </a:xfrm>
        </p:grpSpPr>
        <p:sp>
          <p:nvSpPr>
            <p:cNvPr id="35" name="Rectangle 35"/>
            <p:cNvSpPr/>
            <p:nvPr/>
          </p:nvSpPr>
          <p:spPr>
            <a:xfrm>
              <a:off x="6381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48400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9880" y="1567815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023" y="1861661"/>
              <a:ext cx="35993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总控授予节点 A 一份 10 秒的租约，A 开始服务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9880" y="2218372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023" y="2512219"/>
              <a:ext cx="3441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与总控之间网络断开，续约请求到不了总控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9880" y="2868930"/>
              <a:ext cx="608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1023" y="3162776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自己发现租约到期，停止服务；总控这边也等到租约过期（再留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一点时钟误差余量）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59880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1023" y="4048601"/>
              <a:ext cx="49924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总控把服务交给节点 B。任何时刻最多只有一个节点持有有效租约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248400" y="4475798"/>
            <a:ext cx="5410200" cy="1715452"/>
            <a:chOff x="6248400" y="4475798"/>
            <a:chExt cx="5410200" cy="1715452"/>
          </a:xfrm>
        </p:grpSpPr>
        <p:sp>
          <p:nvSpPr>
            <p:cNvPr id="53" name="Rectangle 53"/>
            <p:cNvSpPr/>
            <p:nvPr/>
          </p:nvSpPr>
          <p:spPr>
            <a:xfrm>
              <a:off x="6248400" y="4475798"/>
              <a:ext cx="5410200" cy="1715452"/>
            </a:xfrm>
            <a:prstGeom prst="roundRect">
              <a:avLst>
                <a:gd name="adj" fmla="val 77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609148"/>
              <a:ext cx="47625" cy="14487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96050" y="46853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86258" y="4721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88430" y="5062538"/>
              <a:ext cx="4749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只用心跳时，总控在 t = 7 就可能判 A 已死并启用 B，而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其实还在服务，出现两个主。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81057" cy="909257"/>
            <a:chOff x="520446" y="342900"/>
            <a:chExt cx="998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故障恢复、容错与可扩展性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8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故障恢复：单层结构选新的主副本，双层结构从文件系统重新加载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852488" y="1480185"/>
            <a:ext cx="4772025" cy="2265522"/>
            <a:chOff x="852488" y="1480185"/>
            <a:chExt cx="4772025" cy="2265522"/>
          </a:xfrm>
        </p:grpSpPr>
        <p:sp>
          <p:nvSpPr>
            <p:cNvPr id="7" name="Freeform 7"/>
            <p:cNvSpPr/>
            <p:nvPr/>
          </p:nvSpPr>
          <p:spPr>
            <a:xfrm>
              <a:off x="2606992" y="1954530"/>
              <a:ext cx="404812" cy="338138"/>
            </a:xfrm>
            <a:custGeom>
              <a:avLst/>
              <a:gdLst/>
              <a:ahLst/>
              <a:cxnLst/>
              <a:rect l="l" t="t" r="r" b="b"/>
              <a:pathLst>
                <a:path w="404812" h="338138">
                  <a:moveTo>
                    <a:pt x="404812" y="0"/>
                  </a:moveTo>
                  <a:lnTo>
                    <a:pt x="0" y="3381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94722" y="1911668"/>
              <a:ext cx="670560" cy="381000"/>
            </a:xfrm>
            <a:custGeom>
              <a:avLst/>
              <a:gdLst/>
              <a:ahLst/>
              <a:cxnLst/>
              <a:rect l="l" t="t" r="r" b="b"/>
              <a:pathLst>
                <a:path w="670560" h="381000">
                  <a:moveTo>
                    <a:pt x="0" y="0"/>
                  </a:moveTo>
                  <a:lnTo>
                    <a:pt x="670560" y="3810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874645" y="2442210"/>
              <a:ext cx="1011555" cy="9525"/>
            </a:xfrm>
            <a:custGeom>
              <a:avLst/>
              <a:gdLst/>
              <a:ahLst/>
              <a:cxnLst/>
              <a:rect l="l" t="t" r="r" b="b"/>
              <a:pathLst>
                <a:path w="1011555" h="9525">
                  <a:moveTo>
                    <a:pt x="0" y="0"/>
                  </a:moveTo>
                  <a:lnTo>
                    <a:pt x="10115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86200" y="23945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56398" y="2592705"/>
              <a:ext cx="618172" cy="607695"/>
            </a:xfrm>
            <a:custGeom>
              <a:avLst/>
              <a:gdLst/>
              <a:ahLst/>
              <a:cxnLst/>
              <a:rect l="l" t="t" r="r" b="b"/>
              <a:pathLst>
                <a:path w="618172" h="607695">
                  <a:moveTo>
                    <a:pt x="618172" y="0"/>
                  </a:moveTo>
                  <a:lnTo>
                    <a:pt x="0" y="607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88770" y="316611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100965"/>
                  </a:moveTo>
                  <a:lnTo>
                    <a:pt x="34290" y="0"/>
                  </a:lnTo>
                  <a:lnTo>
                    <a:pt x="100965" y="676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41270" y="2592705"/>
              <a:ext cx="457200" cy="598170"/>
            </a:xfrm>
            <a:custGeom>
              <a:avLst/>
              <a:gdLst/>
              <a:ahLst/>
              <a:cxnLst/>
              <a:rect l="l" t="t" r="r" b="b"/>
              <a:pathLst>
                <a:path w="457200" h="598170">
                  <a:moveTo>
                    <a:pt x="0" y="0"/>
                  </a:moveTo>
                  <a:lnTo>
                    <a:pt x="457200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60370" y="3162300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104775"/>
                  </a:moveTo>
                  <a:lnTo>
                    <a:pt x="0" y="58103"/>
                  </a:lnTo>
                  <a:lnTo>
                    <a:pt x="7524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808922" y="2592705"/>
              <a:ext cx="1742123" cy="684848"/>
            </a:xfrm>
            <a:custGeom>
              <a:avLst/>
              <a:gdLst/>
              <a:ahLst/>
              <a:cxnLst/>
              <a:rect l="l" t="t" r="r" b="b"/>
              <a:pathLst>
                <a:path w="1742123" h="684848">
                  <a:moveTo>
                    <a:pt x="0" y="0"/>
                  </a:moveTo>
                  <a:lnTo>
                    <a:pt x="1742123" y="6848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33900" y="323373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79058"/>
                  </a:moveTo>
                  <a:lnTo>
                    <a:pt x="0" y="88583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952750" y="1480185"/>
              <a:ext cx="571500" cy="5715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79295" y="2292668"/>
              <a:ext cx="895350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981450" y="2292668"/>
              <a:ext cx="8953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52488" y="3267075"/>
              <a:ext cx="984885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46058" y="3267075"/>
              <a:ext cx="984885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639628" y="3267075"/>
              <a:ext cx="984885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06623" y="16063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06623" y="17854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锁服务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19706" y="23722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总控节点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21861" y="23722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备份节点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1158" y="334660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3030" y="3525679"/>
              <a:ext cx="663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 B2 C3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14728" y="334660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6600" y="3525679"/>
              <a:ext cx="663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B1 C2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08298" y="334660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00170" y="3525679"/>
              <a:ext cx="663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 B3 C1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750695" y="2844165"/>
              <a:ext cx="36195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75460" y="2876550"/>
              <a:ext cx="312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lease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617470" y="2844165"/>
              <a:ext cx="36195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642235" y="2876550"/>
              <a:ext cx="312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lease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43300" y="2867025"/>
              <a:ext cx="36195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68065" y="2899410"/>
              <a:ext cx="312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lease</a:t>
              </a:r>
            </a:p>
          </p:txBody>
        </p:sp>
      </p:grpSp>
      <p:grpSp>
        <p:nvGrpSpPr>
          <p:cNvPr id="45" name="c1-card-2"/>
          <p:cNvGrpSpPr/>
          <p:nvPr/>
        </p:nvGrpSpPr>
        <p:grpSpPr>
          <a:xfrm>
            <a:off x="533400" y="4121468"/>
            <a:ext cx="5410200" cy="1522095"/>
            <a:chOff x="533400" y="4121468"/>
            <a:chExt cx="5410200" cy="1522095"/>
          </a:xfrm>
        </p:grpSpPr>
        <p:sp>
          <p:nvSpPr>
            <p:cNvPr id="40" name="Rectangle 40"/>
            <p:cNvSpPr/>
            <p:nvPr/>
          </p:nvSpPr>
          <p:spPr>
            <a:xfrm>
              <a:off x="533400" y="4121468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4254818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9620" y="4319588"/>
              <a:ext cx="177450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14932" y="4353878"/>
              <a:ext cx="1682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单层结构（GFS）：多副本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381" y="4680109"/>
              <a:ext cx="47574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每个数据块 3 个副本，编号 1 的是主副本。主副本出错时，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总控从剩下的副本里选举新的主副本，再补足副本数（选主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的办法见第六节）。</a:t>
              </a:r>
            </a:p>
          </p:txBody>
        </p:sp>
      </p:grpSp>
      <p:grpSp>
        <p:nvGrpSpPr>
          <p:cNvPr id="82" name="c2-graph-1"/>
          <p:cNvGrpSpPr/>
          <p:nvPr/>
        </p:nvGrpSpPr>
        <p:grpSpPr>
          <a:xfrm>
            <a:off x="6612255" y="1480185"/>
            <a:ext cx="4682490" cy="2417922"/>
            <a:chOff x="6612255" y="1480185"/>
            <a:chExt cx="4682490" cy="2417922"/>
          </a:xfrm>
        </p:grpSpPr>
        <p:sp>
          <p:nvSpPr>
            <p:cNvPr id="46" name="Freeform 46"/>
            <p:cNvSpPr/>
            <p:nvPr/>
          </p:nvSpPr>
          <p:spPr>
            <a:xfrm>
              <a:off x="9193530" y="1937385"/>
              <a:ext cx="361950" cy="258127"/>
            </a:xfrm>
            <a:custGeom>
              <a:avLst/>
              <a:gdLst/>
              <a:ahLst/>
              <a:cxnLst/>
              <a:rect l="l" t="t" r="r" b="b"/>
              <a:pathLst>
                <a:path w="361950" h="258127">
                  <a:moveTo>
                    <a:pt x="0" y="0"/>
                  </a:moveTo>
                  <a:lnTo>
                    <a:pt x="361950" y="2581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071485" y="1895475"/>
              <a:ext cx="616268" cy="300038"/>
            </a:xfrm>
            <a:custGeom>
              <a:avLst/>
              <a:gdLst/>
              <a:ahLst/>
              <a:cxnLst/>
              <a:rect l="l" t="t" r="r" b="b"/>
              <a:pathLst>
                <a:path w="616268" h="300038">
                  <a:moveTo>
                    <a:pt x="616268" y="0"/>
                  </a:moveTo>
                  <a:lnTo>
                    <a:pt x="0" y="3000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305800" y="2346008"/>
              <a:ext cx="1011555" cy="9525"/>
            </a:xfrm>
            <a:custGeom>
              <a:avLst/>
              <a:gdLst/>
              <a:ahLst/>
              <a:cxnLst/>
              <a:rect l="l" t="t" r="r" b="b"/>
              <a:pathLst>
                <a:path w="1011555" h="9525">
                  <a:moveTo>
                    <a:pt x="101155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210550" y="22983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599998" y="2458402"/>
              <a:ext cx="1717358" cy="429577"/>
            </a:xfrm>
            <a:custGeom>
              <a:avLst/>
              <a:gdLst/>
              <a:ahLst/>
              <a:cxnLst/>
              <a:rect l="l" t="t" r="r" b="b"/>
              <a:pathLst>
                <a:path w="1717358" h="429577">
                  <a:moveTo>
                    <a:pt x="1717358" y="0"/>
                  </a:moveTo>
                  <a:lnTo>
                    <a:pt x="0" y="4295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507605" y="2841308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0" y="69533"/>
                  </a:moveTo>
                  <a:lnTo>
                    <a:pt x="80962" y="0"/>
                  </a:lnTo>
                  <a:lnTo>
                    <a:pt x="103822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313545" y="2495550"/>
              <a:ext cx="271462" cy="226695"/>
            </a:xfrm>
            <a:custGeom>
              <a:avLst/>
              <a:gdLst/>
              <a:ahLst/>
              <a:cxnLst/>
              <a:rect l="l" t="t" r="r" b="b"/>
              <a:pathLst>
                <a:path w="271462" h="226695">
                  <a:moveTo>
                    <a:pt x="271462" y="0"/>
                  </a:moveTo>
                  <a:lnTo>
                    <a:pt x="0" y="226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240202" y="2686050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0" y="97155"/>
                  </a:moveTo>
                  <a:lnTo>
                    <a:pt x="42862" y="0"/>
                  </a:lnTo>
                  <a:lnTo>
                    <a:pt x="103822" y="7334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0005060" y="2495550"/>
              <a:ext cx="379095" cy="237172"/>
            </a:xfrm>
            <a:custGeom>
              <a:avLst/>
              <a:gdLst/>
              <a:ahLst/>
              <a:cxnLst/>
              <a:rect l="l" t="t" r="r" b="b"/>
              <a:pathLst>
                <a:path w="379095" h="237172">
                  <a:moveTo>
                    <a:pt x="0" y="0"/>
                  </a:moveTo>
                  <a:lnTo>
                    <a:pt x="379095" y="2371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0358438" y="2692718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90488"/>
                  </a:moveTo>
                  <a:lnTo>
                    <a:pt x="0" y="80962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059930" y="3262312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012305" y="35385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953500" y="3262312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905875" y="35385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10847070" y="3262312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0799445" y="35385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8667750" y="1480185"/>
              <a:ext cx="571500" cy="5715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317355" y="2195512"/>
              <a:ext cx="895350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315200" y="2195512"/>
              <a:ext cx="8953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12255" y="2783205"/>
              <a:ext cx="895350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505825" y="2783205"/>
              <a:ext cx="895350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399395" y="2783205"/>
              <a:ext cx="895350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83730" y="3597592"/>
              <a:ext cx="3939540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21623" y="16063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21623" y="17854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锁服务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57766" y="22759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总控节点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55611" y="22759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备份节点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36158" y="286369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32349" y="304180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 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729728" y="286369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725919" y="304180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 B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623298" y="286369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619489" y="304180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 C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92364" y="367807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分布式文件系统（数据多副本）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231505" y="2598420"/>
              <a:ext cx="36195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256270" y="2630805"/>
              <a:ext cx="312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lease</a:t>
              </a:r>
            </a:p>
          </p:txBody>
        </p:sp>
      </p:grpSp>
      <p:grpSp>
        <p:nvGrpSpPr>
          <p:cNvPr id="88" name="c2-card-2"/>
          <p:cNvGrpSpPr/>
          <p:nvPr/>
        </p:nvGrpSpPr>
        <p:grpSpPr>
          <a:xfrm>
            <a:off x="6248400" y="4121468"/>
            <a:ext cx="5410200" cy="1522095"/>
            <a:chOff x="6248400" y="4121468"/>
            <a:chExt cx="5410200" cy="1522095"/>
          </a:xfrm>
        </p:grpSpPr>
        <p:sp>
          <p:nvSpPr>
            <p:cNvPr id="83" name="Rectangle 83"/>
            <p:cNvSpPr/>
            <p:nvPr/>
          </p:nvSpPr>
          <p:spPr>
            <a:xfrm>
              <a:off x="6248400" y="4121468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257925" y="4254818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484620" y="4319588"/>
              <a:ext cx="1555432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541962" y="4353878"/>
              <a:ext cx="14417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双层结构（Bigtable）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77381" y="468010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服务层每个分片只有一个服务副本，数据的多副本交给底层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文件系统。服务节点出错时，总控把它的分片交给别的节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点，新节点从文件系统中读出数据和日志，恢复服务。</a:t>
              </a:r>
            </a:p>
          </p:txBody>
        </p:sp>
      </p:grpSp>
      <p:grpSp>
        <p:nvGrpSpPr>
          <p:cNvPr id="9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89" name="Rectangle 8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0511" y="6011704"/>
              <a:ext cx="8100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两种结构的总控节点都靠分布式锁服务加备份节点做主备切换。图据原课件第118、119页重画。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60703" cy="909257"/>
            <a:chOff x="520446" y="342900"/>
            <a:chExt cx="89607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故障恢复、容错与可扩展性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607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可扩展性：Master 管得全但有上限，元数据分层后继续扩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5193030" cy="2989898"/>
            <a:chOff x="533400" y="1524000"/>
            <a:chExt cx="5193030" cy="29898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386965" cy="2989898"/>
            </a:xfrm>
            <a:prstGeom prst="roundRect">
              <a:avLst>
                <a:gd name="adj" fmla="val 558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9996" y="1751171"/>
              <a:ext cx="14186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Master 节点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44855" y="214979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1446" y="209026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负责全局调度、文件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目录、数据索引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4855" y="274129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1446" y="2681764"/>
              <a:ext cx="161950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规模：GFS 支持 8K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节点，HDFS 支持 3K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4855" y="36042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1446" y="3544729"/>
              <a:ext cx="167360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设计妥协：GFS 不适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合大量小文件，HDFS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不支持数据更新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39465" y="1524000"/>
              <a:ext cx="2386965" cy="2989898"/>
            </a:xfrm>
            <a:prstGeom prst="roundRect">
              <a:avLst>
                <a:gd name="adj" fmla="val 558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36061" y="1751171"/>
              <a:ext cx="14186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 Master 节点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550920" y="214979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07511" y="209026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用一致性哈希定位数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550920" y="274129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07511" y="268176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没有单点，但系统维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护代价高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2967990" y="285654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38330" y="29537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698682"/>
            <a:ext cx="5193982" cy="1564958"/>
            <a:chOff x="533400" y="4698682"/>
            <a:chExt cx="5193982" cy="1564958"/>
          </a:xfrm>
        </p:grpSpPr>
        <p:sp>
          <p:nvSpPr>
            <p:cNvPr id="24" name="Rectangle 24"/>
            <p:cNvSpPr/>
            <p:nvPr/>
          </p:nvSpPr>
          <p:spPr>
            <a:xfrm>
              <a:off x="533400" y="4698682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83203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75335" y="490251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1593" y="49382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8666" y="494299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为什么元数据要分层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096" y="5294471"/>
              <a:ext cx="442379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10K 节点 × 每节点 1M 文件 = 10¹⁰ = 100 亿个文件。按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每个文件的元数据约 150 字节估算（HDFS 常用的经验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值），共约 1.5 TB，一台 Master 的内存放不下。</a:t>
              </a:r>
            </a:p>
          </p:txBody>
        </p:sp>
      </p:grpSp>
      <p:grpSp>
        <p:nvGrpSpPr>
          <p:cNvPr id="71" name="c2-graph-1"/>
          <p:cNvGrpSpPr/>
          <p:nvPr/>
        </p:nvGrpSpPr>
        <p:grpSpPr>
          <a:xfrm>
            <a:off x="6271260" y="1715452"/>
            <a:ext cx="5193982" cy="3058478"/>
            <a:chOff x="6271260" y="1715452"/>
            <a:chExt cx="5193982" cy="3058478"/>
          </a:xfrm>
        </p:grpSpPr>
        <p:sp>
          <p:nvSpPr>
            <p:cNvPr id="31" name="Freeform 31"/>
            <p:cNvSpPr/>
            <p:nvPr/>
          </p:nvSpPr>
          <p:spPr>
            <a:xfrm>
              <a:off x="7235190" y="1875472"/>
              <a:ext cx="1662112" cy="9525"/>
            </a:xfrm>
            <a:custGeom>
              <a:avLst/>
              <a:gdLst/>
              <a:ahLst/>
              <a:cxnLst/>
              <a:rect l="l" t="t" r="r" b="b"/>
              <a:pathLst>
                <a:path w="1662112" h="9525">
                  <a:moveTo>
                    <a:pt x="0" y="0"/>
                  </a:moveTo>
                  <a:lnTo>
                    <a:pt x="16621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897302" y="18278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927532" y="2035492"/>
              <a:ext cx="631508" cy="934403"/>
            </a:xfrm>
            <a:custGeom>
              <a:avLst/>
              <a:gdLst/>
              <a:ahLst/>
              <a:cxnLst/>
              <a:rect l="l" t="t" r="r" b="b"/>
              <a:pathLst>
                <a:path w="631508" h="934403">
                  <a:moveTo>
                    <a:pt x="0" y="0"/>
                  </a:moveTo>
                  <a:lnTo>
                    <a:pt x="631508" y="9344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519035" y="2943225"/>
              <a:ext cx="93345" cy="105728"/>
            </a:xfrm>
            <a:custGeom>
              <a:avLst/>
              <a:gdLst/>
              <a:ahLst/>
              <a:cxnLst/>
              <a:rect l="l" t="t" r="r" b="b"/>
              <a:pathLst>
                <a:path w="93345" h="105728">
                  <a:moveTo>
                    <a:pt x="93345" y="105728"/>
                  </a:moveTo>
                  <a:lnTo>
                    <a:pt x="0" y="53340"/>
                  </a:lnTo>
                  <a:lnTo>
                    <a:pt x="7905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616065" y="2035492"/>
              <a:ext cx="190500" cy="2323148"/>
            </a:xfrm>
            <a:custGeom>
              <a:avLst/>
              <a:gdLst/>
              <a:ahLst/>
              <a:cxnLst/>
              <a:rect l="l" t="t" r="r" b="b"/>
              <a:pathLst>
                <a:path w="190500" h="2323148">
                  <a:moveTo>
                    <a:pt x="190500" y="0"/>
                  </a:moveTo>
                  <a:lnTo>
                    <a:pt x="0" y="23231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568440" y="4354830"/>
              <a:ext cx="94297" cy="99060"/>
            </a:xfrm>
            <a:custGeom>
              <a:avLst/>
              <a:gdLst/>
              <a:ahLst/>
              <a:cxnLst/>
              <a:rect l="l" t="t" r="r" b="b"/>
              <a:pathLst>
                <a:path w="94297" h="99060">
                  <a:moveTo>
                    <a:pt x="39053" y="99060"/>
                  </a:moveTo>
                  <a:lnTo>
                    <a:pt x="0" y="0"/>
                  </a:lnTo>
                  <a:lnTo>
                    <a:pt x="94297" y="76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922895" y="2035492"/>
              <a:ext cx="1283018" cy="1013460"/>
            </a:xfrm>
            <a:custGeom>
              <a:avLst/>
              <a:gdLst/>
              <a:ahLst/>
              <a:cxnLst/>
              <a:rect l="l" t="t" r="r" b="b"/>
              <a:pathLst>
                <a:path w="1283018" h="1013460">
                  <a:moveTo>
                    <a:pt x="1283018" y="0"/>
                  </a:moveTo>
                  <a:lnTo>
                    <a:pt x="0" y="101346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8" name="Freeform 38"/>
            <p:cNvSpPr/>
            <p:nvPr/>
          </p:nvSpPr>
          <p:spPr>
            <a:xfrm>
              <a:off x="9407842" y="2035492"/>
              <a:ext cx="9525" cy="1013460"/>
            </a:xfrm>
            <a:custGeom>
              <a:avLst/>
              <a:gdLst/>
              <a:ahLst/>
              <a:cxnLst/>
              <a:rect l="l" t="t" r="r" b="b"/>
              <a:pathLst>
                <a:path w="9525" h="1013460">
                  <a:moveTo>
                    <a:pt x="0" y="0"/>
                  </a:moveTo>
                  <a:lnTo>
                    <a:pt x="0" y="101346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9" name="Freeform 39"/>
            <p:cNvSpPr/>
            <p:nvPr/>
          </p:nvSpPr>
          <p:spPr>
            <a:xfrm>
              <a:off x="9610725" y="2035492"/>
              <a:ext cx="1283018" cy="1013460"/>
            </a:xfrm>
            <a:custGeom>
              <a:avLst/>
              <a:gdLst/>
              <a:ahLst/>
              <a:cxnLst/>
              <a:rect l="l" t="t" r="r" b="b"/>
              <a:pathLst>
                <a:path w="1283018" h="1013460">
                  <a:moveTo>
                    <a:pt x="0" y="0"/>
                  </a:moveTo>
                  <a:lnTo>
                    <a:pt x="1283018" y="101346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7520940" y="3368992"/>
              <a:ext cx="173355" cy="1084898"/>
            </a:xfrm>
            <a:custGeom>
              <a:avLst/>
              <a:gdLst/>
              <a:ahLst/>
              <a:cxnLst/>
              <a:rect l="l" t="t" r="r" b="b"/>
              <a:pathLst>
                <a:path w="173355" h="1084898">
                  <a:moveTo>
                    <a:pt x="173355" y="0"/>
                  </a:moveTo>
                  <a:lnTo>
                    <a:pt x="0" y="108489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1" name="Freeform 41"/>
            <p:cNvSpPr/>
            <p:nvPr/>
          </p:nvSpPr>
          <p:spPr>
            <a:xfrm>
              <a:off x="9307830" y="3368992"/>
              <a:ext cx="87630" cy="1084898"/>
            </a:xfrm>
            <a:custGeom>
              <a:avLst/>
              <a:gdLst/>
              <a:ahLst/>
              <a:cxnLst/>
              <a:rect l="l" t="t" r="r" b="b"/>
              <a:pathLst>
                <a:path w="87630" h="1084898">
                  <a:moveTo>
                    <a:pt x="87630" y="0"/>
                  </a:moveTo>
                  <a:lnTo>
                    <a:pt x="0" y="108489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11095672" y="3368992"/>
              <a:ext cx="9525" cy="1084898"/>
            </a:xfrm>
            <a:custGeom>
              <a:avLst/>
              <a:gdLst/>
              <a:ahLst/>
              <a:cxnLst/>
              <a:rect l="l" t="t" r="r" b="b"/>
              <a:pathLst>
                <a:path w="9525" h="1084898">
                  <a:moveTo>
                    <a:pt x="0" y="0"/>
                  </a:moveTo>
                  <a:lnTo>
                    <a:pt x="0" y="108489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03658" y="1715452"/>
              <a:ext cx="831532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92552" y="1715452"/>
              <a:ext cx="831532" cy="320040"/>
            </a:xfrm>
            <a:prstGeom prst="roundRect">
              <a:avLst>
                <a:gd name="adj" fmla="val 297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50442" y="3048952"/>
              <a:ext cx="73914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038272" y="3048952"/>
              <a:ext cx="73914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726102" y="3048952"/>
              <a:ext cx="73914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71260" y="4453890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71372" y="4453890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71485" y="4453890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971598" y="4453890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872662" y="4453890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772775" y="4453890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71488" y="18002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59430" y="18002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总控机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71600" y="313467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59430" y="313467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47260" y="313467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46698" y="45386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46810" y="45386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46923" y="45386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47036" y="45386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47148" y="45386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47260" y="45386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工作机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836218" y="1782128"/>
              <a:ext cx="55530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54481" y="1816894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问归属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930390" y="2448878"/>
              <a:ext cx="68008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944603" y="2483644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 查元数据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367462" y="3151822"/>
              <a:ext cx="68008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82628" y="3186589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 读写数据</a:t>
              </a:r>
            </a:p>
          </p:txBody>
        </p:sp>
      </p:grpSp>
      <p:grpSp>
        <p:nvGrpSpPr>
          <p:cNvPr id="76" name="c2-bullets-2"/>
          <p:cNvGrpSpPr/>
          <p:nvPr/>
        </p:nvGrpSpPr>
        <p:grpSpPr>
          <a:xfrm>
            <a:off x="6039802" y="5243989"/>
            <a:ext cx="5400930" cy="878776"/>
            <a:chOff x="6039802" y="5243989"/>
            <a:chExt cx="5400930" cy="878776"/>
          </a:xfrm>
        </p:grpSpPr>
        <p:sp>
          <p:nvSpPr>
            <p:cNvPr id="72" name="Ellipse 72"/>
            <p:cNvSpPr/>
            <p:nvPr/>
          </p:nvSpPr>
          <p:spPr>
            <a:xfrm>
              <a:off x="6039802" y="53035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196394" y="524398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每个元数据节点只保存一部分元数据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039802" y="56330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196394" y="5572601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客户端缓存元数据，下次直接找元数据节点和工作机，进一步减小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故障恢复、容错与可扩展性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数据库扩容：垂直拆分、水平拆分、多副本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753428" y="1597342"/>
            <a:ext cx="4899660" cy="2643760"/>
            <a:chOff x="753428" y="1597342"/>
            <a:chExt cx="4899660" cy="2643760"/>
          </a:xfrm>
        </p:grpSpPr>
        <p:sp>
          <p:nvSpPr>
            <p:cNvPr id="7" name="Freeform 7"/>
            <p:cNvSpPr/>
            <p:nvPr/>
          </p:nvSpPr>
          <p:spPr>
            <a:xfrm>
              <a:off x="1482090" y="2150745"/>
              <a:ext cx="1096328" cy="532447"/>
            </a:xfrm>
            <a:custGeom>
              <a:avLst/>
              <a:gdLst/>
              <a:ahLst/>
              <a:cxnLst/>
              <a:rect l="l" t="t" r="r" b="b"/>
              <a:pathLst>
                <a:path w="1096328" h="532447">
                  <a:moveTo>
                    <a:pt x="0" y="532447"/>
                  </a:moveTo>
                  <a:lnTo>
                    <a:pt x="10963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57462" y="2107882"/>
              <a:ext cx="105728" cy="85725"/>
            </a:xfrm>
            <a:custGeom>
              <a:avLst/>
              <a:gdLst/>
              <a:ahLst/>
              <a:cxnLst/>
              <a:rect l="l" t="t" r="r" b="b"/>
              <a:pathLst>
                <a:path w="105728" h="85725">
                  <a:moveTo>
                    <a:pt x="105728" y="952"/>
                  </a:moveTo>
                  <a:lnTo>
                    <a:pt x="40958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482090" y="2859405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67940" y="28117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82090" y="3036570"/>
              <a:ext cx="1096328" cy="532447"/>
            </a:xfrm>
            <a:custGeom>
              <a:avLst/>
              <a:gdLst/>
              <a:ahLst/>
              <a:cxnLst/>
              <a:rect l="l" t="t" r="r" b="b"/>
              <a:pathLst>
                <a:path w="1096328" h="532447">
                  <a:moveTo>
                    <a:pt x="0" y="0"/>
                  </a:moveTo>
                  <a:lnTo>
                    <a:pt x="1096328" y="5324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57462" y="3526155"/>
              <a:ext cx="105728" cy="85725"/>
            </a:xfrm>
            <a:custGeom>
              <a:avLst/>
              <a:gdLst/>
              <a:ahLst/>
              <a:cxnLst/>
              <a:rect l="l" t="t" r="r" b="b"/>
              <a:pathLst>
                <a:path w="105728" h="85725">
                  <a:moveTo>
                    <a:pt x="105728" y="84773"/>
                  </a:moveTo>
                  <a:lnTo>
                    <a:pt x="0" y="85725"/>
                  </a:lnTo>
                  <a:lnTo>
                    <a:pt x="4095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10890" y="1789748"/>
              <a:ext cx="1356360" cy="130492"/>
            </a:xfrm>
            <a:custGeom>
              <a:avLst/>
              <a:gdLst/>
              <a:ahLst/>
              <a:cxnLst/>
              <a:rect l="l" t="t" r="r" b="b"/>
              <a:pathLst>
                <a:path w="1356360" h="130492">
                  <a:moveTo>
                    <a:pt x="0" y="130492"/>
                  </a:moveTo>
                  <a:lnTo>
                    <a:pt x="13563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63440" y="1742122"/>
              <a:ext cx="99060" cy="95250"/>
            </a:xfrm>
            <a:custGeom>
              <a:avLst/>
              <a:gdLst/>
              <a:ahLst/>
              <a:cxnLst/>
              <a:rect l="l" t="t" r="r" b="b"/>
              <a:pathLst>
                <a:path w="99060" h="95250">
                  <a:moveTo>
                    <a:pt x="99060" y="38100"/>
                  </a:moveTo>
                  <a:lnTo>
                    <a:pt x="8572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310890" y="1990725"/>
              <a:ext cx="1357312" cy="162877"/>
            </a:xfrm>
            <a:custGeom>
              <a:avLst/>
              <a:gdLst/>
              <a:ahLst/>
              <a:cxnLst/>
              <a:rect l="l" t="t" r="r" b="b"/>
              <a:pathLst>
                <a:path w="1357312" h="162877">
                  <a:moveTo>
                    <a:pt x="0" y="0"/>
                  </a:moveTo>
                  <a:lnTo>
                    <a:pt x="1357312" y="1628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662488" y="2105978"/>
              <a:ext cx="100012" cy="95250"/>
            </a:xfrm>
            <a:custGeom>
              <a:avLst/>
              <a:gdLst/>
              <a:ahLst/>
              <a:cxnLst/>
              <a:rect l="l" t="t" r="r" b="b"/>
              <a:pathLst>
                <a:path w="100012" h="95250">
                  <a:moveTo>
                    <a:pt x="100012" y="59055"/>
                  </a:moveTo>
                  <a:lnTo>
                    <a:pt x="0" y="95250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310890" y="3606165"/>
              <a:ext cx="1356360" cy="130492"/>
            </a:xfrm>
            <a:custGeom>
              <a:avLst/>
              <a:gdLst/>
              <a:ahLst/>
              <a:cxnLst/>
              <a:rect l="l" t="t" r="r" b="b"/>
              <a:pathLst>
                <a:path w="1356360" h="130492">
                  <a:moveTo>
                    <a:pt x="0" y="130492"/>
                  </a:moveTo>
                  <a:lnTo>
                    <a:pt x="13563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663440" y="3559492"/>
              <a:ext cx="99060" cy="94298"/>
            </a:xfrm>
            <a:custGeom>
              <a:avLst/>
              <a:gdLst/>
              <a:ahLst/>
              <a:cxnLst/>
              <a:rect l="l" t="t" r="r" b="b"/>
              <a:pathLst>
                <a:path w="99060" h="94298">
                  <a:moveTo>
                    <a:pt x="99060" y="38100"/>
                  </a:moveTo>
                  <a:lnTo>
                    <a:pt x="8572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310890" y="3807142"/>
              <a:ext cx="1357312" cy="162878"/>
            </a:xfrm>
            <a:custGeom>
              <a:avLst/>
              <a:gdLst/>
              <a:ahLst/>
              <a:cxnLst/>
              <a:rect l="l" t="t" r="r" b="b"/>
              <a:pathLst>
                <a:path w="1357312" h="162878">
                  <a:moveTo>
                    <a:pt x="0" y="0"/>
                  </a:moveTo>
                  <a:lnTo>
                    <a:pt x="1357312" y="1628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662488" y="3923348"/>
              <a:ext cx="100012" cy="94298"/>
            </a:xfrm>
            <a:custGeom>
              <a:avLst/>
              <a:gdLst/>
              <a:ahLst/>
              <a:cxnLst/>
              <a:rect l="l" t="t" r="r" b="b"/>
              <a:pathLst>
                <a:path w="100012" h="94298">
                  <a:moveTo>
                    <a:pt x="100012" y="58103"/>
                  </a:moveTo>
                  <a:lnTo>
                    <a:pt x="0" y="94298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3428" y="2636520"/>
              <a:ext cx="728662" cy="446722"/>
            </a:xfrm>
            <a:prstGeom prst="roundRect">
              <a:avLst>
                <a:gd name="adj" fmla="val 2132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63190" y="1727835"/>
              <a:ext cx="64770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63190" y="2636520"/>
              <a:ext cx="64770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63190" y="3545205"/>
              <a:ext cx="64770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762500" y="1597342"/>
              <a:ext cx="89058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762500" y="2078355"/>
              <a:ext cx="89058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762500" y="3414712"/>
              <a:ext cx="89058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762500" y="3895725"/>
              <a:ext cx="89058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25698" y="271081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3980" y="2877502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table1-3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95455" y="180308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55368" y="1969770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table1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95455" y="271081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55368" y="287750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table2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95455" y="361950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55368" y="378618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table3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87547" y="1672590"/>
              <a:ext cx="641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row%2=0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87547" y="2153602"/>
              <a:ext cx="641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row%2=1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87547" y="3489008"/>
              <a:ext cx="641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row%2=0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87547" y="3970020"/>
              <a:ext cx="641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row%2=1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64602" y="40357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垂直拆分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20234" y="27736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水平拆分</a:t>
              </a:r>
            </a:p>
          </p:txBody>
        </p:sp>
      </p:grpSp>
      <p:grpSp>
        <p:nvGrpSpPr>
          <p:cNvPr id="52" name="c1-kv-2"/>
          <p:cNvGrpSpPr/>
          <p:nvPr/>
        </p:nvGrpSpPr>
        <p:grpSpPr>
          <a:xfrm>
            <a:off x="526923" y="4381976"/>
            <a:ext cx="5849112" cy="997077"/>
            <a:chOff x="526923" y="4381976"/>
            <a:chExt cx="5849112" cy="997077"/>
          </a:xfrm>
        </p:grpSpPr>
        <p:sp>
          <p:nvSpPr>
            <p:cNvPr id="44" name="TextBox 44"/>
            <p:cNvSpPr txBox="1"/>
            <p:nvPr/>
          </p:nvSpPr>
          <p:spPr>
            <a:xfrm>
              <a:off x="526923" y="43819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垂直拆分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51800" y="4381976"/>
              <a:ext cx="2645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DB 拆成多个 DB，按表分开放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653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923" y="47553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水平拆分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51800" y="475535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一张表按行哈希拆到多个节点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0272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6923" y="51296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多副本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51800" y="512968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每份数据多存几份，分担读请求</a:t>
              </a:r>
            </a:p>
          </p:txBody>
        </p:sp>
      </p:grpSp>
      <p:grpSp>
        <p:nvGrpSpPr>
          <p:cNvPr id="59" name="c1-callout-3"/>
          <p:cNvGrpSpPr/>
          <p:nvPr/>
        </p:nvGrpSpPr>
        <p:grpSpPr>
          <a:xfrm>
            <a:off x="533400" y="5494020"/>
            <a:ext cx="5842635" cy="721995"/>
            <a:chOff x="533400" y="5494020"/>
            <a:chExt cx="5842635" cy="721995"/>
          </a:xfrm>
        </p:grpSpPr>
        <p:sp>
          <p:nvSpPr>
            <p:cNvPr id="53" name="Rectangle 53"/>
            <p:cNvSpPr/>
            <p:nvPr/>
          </p:nvSpPr>
          <p:spPr>
            <a:xfrm>
              <a:off x="533400" y="5494020"/>
              <a:ext cx="5842635" cy="721995"/>
            </a:xfrm>
            <a:prstGeom prst="roundRect">
              <a:avLst>
                <a:gd name="adj" fmla="val 1583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754053"/>
              <a:ext cx="200026" cy="200025"/>
              <a:chOff x="738188" y="5754053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7540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57985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59096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5647849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垂直拆分按业务把表分开，单表仍可能太大，这时再做水平拆分；读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压力大，就给每个分片加副本。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680835" y="1524000"/>
            <a:ext cx="4977765" cy="1261110"/>
            <a:chOff x="6680835" y="1524000"/>
            <a:chExt cx="4977765" cy="1261110"/>
          </a:xfrm>
        </p:grpSpPr>
        <p:sp>
          <p:nvSpPr>
            <p:cNvPr id="60" name="Rectangle 60"/>
            <p:cNvSpPr/>
            <p:nvPr/>
          </p:nvSpPr>
          <p:spPr>
            <a:xfrm>
              <a:off x="6680835" y="1524000"/>
              <a:ext cx="4977765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48804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37687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办法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74370" y="206549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读性能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67891" y="206549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多副本提高读性能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680835" y="23593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80835" y="2364105"/>
              <a:ext cx="4977765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74370" y="248554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写性能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67891" y="248554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拆分数据，双倍扩容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680835" y="1524000"/>
              <a:ext cx="4977765" cy="1261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69592" y="1524000"/>
              <a:ext cx="9525" cy="1261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rd-2"/>
          <p:cNvGrpSpPr/>
          <p:nvPr/>
        </p:nvGrpSpPr>
        <p:grpSpPr>
          <a:xfrm>
            <a:off x="6680835" y="2949892"/>
            <a:ext cx="4977765" cy="1629728"/>
            <a:chOff x="6680835" y="2949892"/>
            <a:chExt cx="4977765" cy="1629728"/>
          </a:xfrm>
        </p:grpSpPr>
        <p:sp>
          <p:nvSpPr>
            <p:cNvPr id="72" name="Rectangle 72"/>
            <p:cNvSpPr/>
            <p:nvPr/>
          </p:nvSpPr>
          <p:spPr>
            <a:xfrm>
              <a:off x="6680835" y="2949892"/>
              <a:ext cx="4977765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690360" y="3083242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899910" y="313086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970179" y="316372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为什么是双倍扩容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93433" y="3470434"/>
              <a:ext cx="441020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row % 2 拆到 2 台后，扩到 4 台改用 row % 4。原来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row % 2 = 0 的行，现在只会去 0 号或 2 号，另一半留在原机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器不动，只搬 50% 的数据，而且每台旧机器只和一台新机器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配对搬。</a:t>
              </a:r>
            </a:p>
          </p:txBody>
        </p:sp>
      </p:grpSp>
      <p:grpSp>
        <p:nvGrpSpPr>
          <p:cNvPr id="88" name="c2-card-3"/>
          <p:cNvGrpSpPr/>
          <p:nvPr/>
        </p:nvGrpSpPr>
        <p:grpSpPr>
          <a:xfrm>
            <a:off x="6680835" y="4744402"/>
            <a:ext cx="4977765" cy="1471612"/>
            <a:chOff x="6680835" y="4744402"/>
            <a:chExt cx="4977765" cy="1471612"/>
          </a:xfrm>
        </p:grpSpPr>
        <p:sp>
          <p:nvSpPr>
            <p:cNvPr id="78" name="Rectangle 78"/>
            <p:cNvSpPr/>
            <p:nvPr/>
          </p:nvSpPr>
          <p:spPr>
            <a:xfrm>
              <a:off x="6680835" y="4744402"/>
              <a:ext cx="4977765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690360" y="4877752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899910" y="492537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977329" y="495823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可扩展性问题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909435" y="53178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064883" y="526494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不支持按需扩容，只能成倍加机器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909435" y="56026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064883" y="555069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不支持自动化扩充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909435" y="58874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064883" y="58354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修改副本数量耗时长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故障恢复、容错与可扩展性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同构系统副本创建慢，异构系统把分片副本打散到各节点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884872" y="1532572"/>
            <a:ext cx="4855846" cy="1779270"/>
            <a:chOff x="884872" y="1532572"/>
            <a:chExt cx="4855846" cy="1779270"/>
          </a:xfrm>
        </p:grpSpPr>
        <p:sp>
          <p:nvSpPr>
            <p:cNvPr id="7" name="Freeform 7"/>
            <p:cNvSpPr/>
            <p:nvPr/>
          </p:nvSpPr>
          <p:spPr>
            <a:xfrm>
              <a:off x="3422332" y="1860232"/>
              <a:ext cx="272415" cy="157162"/>
            </a:xfrm>
            <a:custGeom>
              <a:avLst/>
              <a:gdLst/>
              <a:ahLst/>
              <a:cxnLst/>
              <a:rect l="l" t="t" r="r" b="b"/>
              <a:pathLst>
                <a:path w="272415" h="157162">
                  <a:moveTo>
                    <a:pt x="0" y="157162"/>
                  </a:moveTo>
                  <a:lnTo>
                    <a:pt x="2724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71888" y="181260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0"/>
                  </a:moveTo>
                  <a:lnTo>
                    <a:pt x="46672" y="89535"/>
                  </a:lnTo>
                  <a:lnTo>
                    <a:pt x="0" y="666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468178" y="1847850"/>
              <a:ext cx="433388" cy="169545"/>
            </a:xfrm>
            <a:custGeom>
              <a:avLst/>
              <a:gdLst/>
              <a:ahLst/>
              <a:cxnLst/>
              <a:rect l="l" t="t" r="r" b="b"/>
              <a:pathLst>
                <a:path w="433388" h="169545">
                  <a:moveTo>
                    <a:pt x="433388" y="16954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79595" y="1803082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0" y="9525"/>
                  </a:moveTo>
                  <a:lnTo>
                    <a:pt x="106680" y="0"/>
                  </a:lnTo>
                  <a:lnTo>
                    <a:pt x="71438" y="885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32572" y="2157412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37472" y="21097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623310" y="2157412"/>
              <a:ext cx="1096328" cy="9525"/>
            </a:xfrm>
            <a:custGeom>
              <a:avLst/>
              <a:gdLst/>
              <a:ahLst/>
              <a:cxnLst/>
              <a:rect l="l" t="t" r="r" b="b"/>
              <a:pathLst>
                <a:path w="1096328" h="9525">
                  <a:moveTo>
                    <a:pt x="0" y="0"/>
                  </a:moveTo>
                  <a:lnTo>
                    <a:pt x="10963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19638" y="21097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26832" y="2297430"/>
              <a:ext cx="419100" cy="494348"/>
            </a:xfrm>
            <a:custGeom>
              <a:avLst/>
              <a:gdLst/>
              <a:ahLst/>
              <a:cxnLst/>
              <a:rect l="l" t="t" r="r" b="b"/>
              <a:pathLst>
                <a:path w="419100" h="494348">
                  <a:moveTo>
                    <a:pt x="0" y="0"/>
                  </a:moveTo>
                  <a:lnTo>
                    <a:pt x="419100" y="4943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09738" y="2761298"/>
              <a:ext cx="97155" cy="103823"/>
            </a:xfrm>
            <a:custGeom>
              <a:avLst/>
              <a:gdLst/>
              <a:ahLst/>
              <a:cxnLst/>
              <a:rect l="l" t="t" r="r" b="b"/>
              <a:pathLst>
                <a:path w="97155" h="103823">
                  <a:moveTo>
                    <a:pt x="97155" y="103823"/>
                  </a:moveTo>
                  <a:lnTo>
                    <a:pt x="0" y="61912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279332" y="2297430"/>
              <a:ext cx="721042" cy="567690"/>
            </a:xfrm>
            <a:custGeom>
              <a:avLst/>
              <a:gdLst/>
              <a:ahLst/>
              <a:cxnLst/>
              <a:rect l="l" t="t" r="r" b="b"/>
              <a:pathLst>
                <a:path w="721042" h="567690">
                  <a:moveTo>
                    <a:pt x="721042" y="0"/>
                  </a:moveTo>
                  <a:lnTo>
                    <a:pt x="0" y="56769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3423285" y="2297430"/>
              <a:ext cx="995362" cy="567690"/>
            </a:xfrm>
            <a:custGeom>
              <a:avLst/>
              <a:gdLst/>
              <a:ahLst/>
              <a:cxnLst/>
              <a:rect l="l" t="t" r="r" b="b"/>
              <a:pathLst>
                <a:path w="995362" h="567690">
                  <a:moveTo>
                    <a:pt x="0" y="0"/>
                  </a:moveTo>
                  <a:lnTo>
                    <a:pt x="995362" y="56769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57600" y="1532572"/>
              <a:ext cx="728662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84872" y="2017395"/>
              <a:ext cx="6477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32722" y="2017395"/>
              <a:ext cx="890588" cy="280035"/>
            </a:xfrm>
            <a:prstGeom prst="roundRect">
              <a:avLst>
                <a:gd name="adj" fmla="val 34014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14888" y="2017395"/>
              <a:ext cx="89058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64895" y="2865120"/>
              <a:ext cx="1862138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78580" y="2865120"/>
              <a:ext cx="1862138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804094" y="160782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锁服务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1362" y="20916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48153" y="209169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总控机（主）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30318" y="209169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总控机（备）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4651" y="2939415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存储节点组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81140" y="3106102"/>
              <a:ext cx="1630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Slave ← Master → Slave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87383" y="2939415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存储节点组 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93872" y="3106102"/>
              <a:ext cx="1630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Slave ← Master → Slave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405188" y="1836420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29152" y="186547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获取锁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834515" y="2078355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851914" y="2108359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获取元数据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972878" y="207835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993083" y="210835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数据复制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321118" y="250221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41323" y="253222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读写请求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622358" y="2502218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639756" y="253222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心跳及控制</a:t>
              </a:r>
            </a:p>
          </p:txBody>
        </p:sp>
      </p:grpSp>
      <p:grpSp>
        <p:nvGrpSpPr>
          <p:cNvPr id="49" name="c1-card-2"/>
          <p:cNvGrpSpPr/>
          <p:nvPr/>
        </p:nvGrpSpPr>
        <p:grpSpPr>
          <a:xfrm>
            <a:off x="533400" y="3550920"/>
            <a:ext cx="5626418" cy="1143952"/>
            <a:chOff x="533400" y="3550920"/>
            <a:chExt cx="5626418" cy="1143952"/>
          </a:xfrm>
        </p:grpSpPr>
        <p:sp>
          <p:nvSpPr>
            <p:cNvPr id="44" name="Rectangle 44"/>
            <p:cNvSpPr/>
            <p:nvPr/>
          </p:nvSpPr>
          <p:spPr>
            <a:xfrm>
              <a:off x="533400" y="3550920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368427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2475" y="3731895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3440" y="376475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同构系统（固定元数据信息）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5998" y="4072414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同一组内的机器存完全相同的数据。一台坏了，要从组内另一台整机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复制，副本创建时间长，灵活性不好。</a:t>
              </a:r>
            </a:p>
          </p:txBody>
        </p:sp>
      </p:grpSp>
      <p:grpSp>
        <p:nvGrpSpPr>
          <p:cNvPr id="55" name="c1-card-3"/>
          <p:cNvGrpSpPr/>
          <p:nvPr/>
        </p:nvGrpSpPr>
        <p:grpSpPr>
          <a:xfrm>
            <a:off x="533400" y="4859655"/>
            <a:ext cx="5626418" cy="1386840"/>
            <a:chOff x="533400" y="4859655"/>
            <a:chExt cx="5626418" cy="1386840"/>
          </a:xfrm>
        </p:grpSpPr>
        <p:sp>
          <p:nvSpPr>
            <p:cNvPr id="50" name="Rectangle 50"/>
            <p:cNvSpPr/>
            <p:nvPr/>
          </p:nvSpPr>
          <p:spPr>
            <a:xfrm>
              <a:off x="533400" y="4859655"/>
              <a:ext cx="562641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42925" y="499300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52475" y="5040630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1543" y="5073491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异构系统（动态元数据）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5998" y="5381149"/>
              <a:ext cx="48897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数据分片，每个分片多副本，不同节点存不同的数据。服务并发性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好，容错性高，错误恢复快。关键在于副本放在哪，也就是第四节的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数据分布。</a:t>
              </a:r>
            </a:p>
          </p:txBody>
        </p:sp>
      </p:grpSp>
      <p:grpSp>
        <p:nvGrpSpPr>
          <p:cNvPr id="91" name="c2-cells-1"/>
          <p:cNvGrpSpPr/>
          <p:nvPr/>
        </p:nvGrpSpPr>
        <p:grpSpPr>
          <a:xfrm>
            <a:off x="6459855" y="1524000"/>
            <a:ext cx="3234690" cy="2364105"/>
            <a:chOff x="6459855" y="1524000"/>
            <a:chExt cx="3234690" cy="2364105"/>
          </a:xfrm>
        </p:grpSpPr>
        <p:sp>
          <p:nvSpPr>
            <p:cNvPr id="56" name="TextBox 56"/>
            <p:cNvSpPr txBox="1"/>
            <p:nvPr/>
          </p:nvSpPr>
          <p:spPr>
            <a:xfrm>
              <a:off x="6459855" y="1645920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928485" y="1524000"/>
              <a:ext cx="92202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10803" y="164592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850505" y="1524000"/>
              <a:ext cx="92202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32823" y="164592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772525" y="1524000"/>
              <a:ext cx="92202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154843" y="164592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59855" y="2147888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928485" y="2025968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10803" y="214788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850505" y="2025968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232823" y="214788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772525" y="2025968"/>
              <a:ext cx="92202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54843" y="214788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59855" y="264985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928485" y="2527935"/>
              <a:ext cx="92202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310803" y="26498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50505" y="2527935"/>
              <a:ext cx="92202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32823" y="26498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772525" y="2527935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154843" y="26498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59855" y="3151823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4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928485" y="3029902"/>
              <a:ext cx="92202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310803" y="315182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B3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850505" y="3029902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232823" y="315182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772525" y="3029902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154843" y="315182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59855" y="3653790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5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928485" y="3531870"/>
              <a:ext cx="92202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310803" y="365379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850505" y="3531870"/>
              <a:ext cx="92202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232823" y="365379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772525" y="3531870"/>
              <a:ext cx="92202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154843" y="365379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C3</a:t>
              </a:r>
            </a:p>
          </p:txBody>
        </p:sp>
      </p:grpSp>
      <p:grpSp>
        <p:nvGrpSpPr>
          <p:cNvPr id="97" name="c2-card-2"/>
          <p:cNvGrpSpPr/>
          <p:nvPr/>
        </p:nvGrpSpPr>
        <p:grpSpPr>
          <a:xfrm>
            <a:off x="6464618" y="4052888"/>
            <a:ext cx="5193982" cy="2193608"/>
            <a:chOff x="6464618" y="4052888"/>
            <a:chExt cx="5193982" cy="2193608"/>
          </a:xfrm>
        </p:grpSpPr>
        <p:sp>
          <p:nvSpPr>
            <p:cNvPr id="92" name="Rectangle 92"/>
            <p:cNvSpPr/>
            <p:nvPr/>
          </p:nvSpPr>
          <p:spPr>
            <a:xfrm>
              <a:off x="6464618" y="4052888"/>
              <a:ext cx="5193982" cy="2193608"/>
            </a:xfrm>
            <a:prstGeom prst="roundRect">
              <a:avLst>
                <a:gd name="adj" fmla="val 6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474142" y="4186238"/>
              <a:ext cx="47625" cy="19269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683692" y="423386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780416" y="426672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677216" y="4574381"/>
              <a:ext cx="445897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1 坏了，A 的另外两份在节点 3、5，B 在 3、4，E 在 2、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5。节点 2–5 可以同时帮忙补副本，比同构系统整机复制快得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分布式协议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多个节点怎样一起提交一个事务，怎样对一个值达成一致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内容提要：分布式协议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协议三要素：语法、语义、时序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两阶段提交：分布式事务的原子性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406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Paxos：多数派达成一致；ZooKeeper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分布式协议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两阶段提交：协调者先问能否提交，全体同意才提交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738188" y="1642110"/>
            <a:ext cx="5434012" cy="2915603"/>
            <a:chOff x="738188" y="1642110"/>
            <a:chExt cx="5434012" cy="2915603"/>
          </a:xfrm>
        </p:grpSpPr>
        <p:sp>
          <p:nvSpPr>
            <p:cNvPr id="7" name="Freeform 7"/>
            <p:cNvSpPr/>
            <p:nvPr/>
          </p:nvSpPr>
          <p:spPr>
            <a:xfrm>
              <a:off x="1994535" y="219360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42148" y="23260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94535" y="2982278"/>
              <a:ext cx="9525" cy="125730"/>
            </a:xfrm>
            <a:custGeom>
              <a:avLst/>
              <a:gdLst/>
              <a:ahLst/>
              <a:cxnLst/>
              <a:rect l="l" t="t" r="r" b="b"/>
              <a:pathLst>
                <a:path w="9525" h="125730">
                  <a:moveTo>
                    <a:pt x="0" y="0"/>
                  </a:moveTo>
                  <a:lnTo>
                    <a:pt x="0" y="1257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42148" y="31080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49930" y="3494722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54730" y="34423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94535" y="3775710"/>
              <a:ext cx="9525" cy="125730"/>
            </a:xfrm>
            <a:custGeom>
              <a:avLst/>
              <a:gdLst/>
              <a:ahLst/>
              <a:cxnLst/>
              <a:rect l="l" t="t" r="r" b="b"/>
              <a:pathLst>
                <a:path w="9525" h="125730">
                  <a:moveTo>
                    <a:pt x="0" y="0"/>
                  </a:moveTo>
                  <a:lnTo>
                    <a:pt x="0" y="1257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42148" y="39014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8188" y="1642110"/>
              <a:ext cx="2512695" cy="55149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8188" y="2430780"/>
              <a:ext cx="2512695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38188" y="3212782"/>
              <a:ext cx="2511742" cy="562927"/>
            </a:xfrm>
            <a:custGeom>
              <a:avLst/>
              <a:gdLst/>
              <a:ahLst/>
              <a:cxnLst/>
              <a:rect l="l" t="t" r="r" b="b"/>
              <a:pathLst>
                <a:path w="2511742" h="562927">
                  <a:moveTo>
                    <a:pt x="1256348" y="0"/>
                  </a:moveTo>
                  <a:lnTo>
                    <a:pt x="2511742" y="281940"/>
                  </a:lnTo>
                  <a:lnTo>
                    <a:pt x="1256348" y="562927"/>
                  </a:lnTo>
                  <a:lnTo>
                    <a:pt x="0" y="28194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659505" y="3218498"/>
              <a:ext cx="2512695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8188" y="4006215"/>
              <a:ext cx="2512695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31965" y="1754505"/>
              <a:ext cx="1125141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协调者发 prepare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通知准备提交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2475" y="2543175"/>
              <a:ext cx="964120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各参与者写日志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回复成功 / 失败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35824" y="342138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全部同意？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77144" y="3330893"/>
              <a:ext cx="6774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 commit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参与者提交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55826" y="4119562"/>
              <a:ext cx="6774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 abort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参与者回滚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49942" y="3298508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389376" y="332136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23110" y="3811905"/>
              <a:ext cx="7810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46922" y="383476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否（含超时）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4841558"/>
            <a:ext cx="5842635" cy="1306830"/>
            <a:chOff x="533400" y="4841558"/>
            <a:chExt cx="5842635" cy="1306830"/>
          </a:xfrm>
        </p:grpSpPr>
        <p:sp>
          <p:nvSpPr>
            <p:cNvPr id="30" name="Rectangle 30"/>
            <p:cNvSpPr/>
            <p:nvPr/>
          </p:nvSpPr>
          <p:spPr>
            <a:xfrm>
              <a:off x="533400" y="4841558"/>
              <a:ext cx="5842635" cy="1306830"/>
            </a:xfrm>
            <a:prstGeom prst="roundRect">
              <a:avLst>
                <a:gd name="adj" fmla="val 874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394960"/>
              <a:ext cx="200026" cy="200026"/>
              <a:chOff x="738188" y="5394960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3949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461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54949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1273" y="5288756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分布式协议有租约、复制、一致性等多种，本节讲两阶段提交（原子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性）和 Paxos（一致性）；租约见第五节。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680835" y="1524000"/>
            <a:ext cx="4977765" cy="1471612"/>
            <a:chOff x="6680835" y="1524000"/>
            <a:chExt cx="4977765" cy="1471612"/>
          </a:xfrm>
        </p:grpSpPr>
        <p:sp>
          <p:nvSpPr>
            <p:cNvPr id="37" name="Rectangle 37"/>
            <p:cNvSpPr/>
            <p:nvPr/>
          </p:nvSpPr>
          <p:spPr>
            <a:xfrm>
              <a:off x="6680835" y="1524000"/>
              <a:ext cx="4977765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90360" y="1657350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99910" y="1704975"/>
              <a:ext cx="12963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61112" y="1737836"/>
              <a:ext cx="11749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两阶段提交（2PC）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09435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64883" y="204549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目的：实现分布式事务的原子性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909435" y="23822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64883" y="2330291"/>
              <a:ext cx="4381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角色：协调者（coordinator）、参与者（participant）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909435" y="266795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64883" y="261508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假设：每个节点都持久化记录操作日志</a:t>
              </a:r>
            </a:p>
          </p:txBody>
        </p:sp>
      </p:grpSp>
      <p:grpSp>
        <p:nvGrpSpPr>
          <p:cNvPr id="57" name="c2-steps-2"/>
          <p:cNvGrpSpPr/>
          <p:nvPr/>
        </p:nvGrpSpPr>
        <p:grpSpPr>
          <a:xfrm>
            <a:off x="6680835" y="3169920"/>
            <a:ext cx="4691634" cy="1430274"/>
            <a:chOff x="6680835" y="3169920"/>
            <a:chExt cx="4691634" cy="1430274"/>
          </a:xfrm>
        </p:grpSpPr>
        <p:sp>
          <p:nvSpPr>
            <p:cNvPr id="48" name="Rectangle 48"/>
            <p:cNvSpPr/>
            <p:nvPr/>
          </p:nvSpPr>
          <p:spPr>
            <a:xfrm>
              <a:off x="6814185" y="3312795"/>
              <a:ext cx="19050" cy="746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680835" y="31699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74459" y="32437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80835" y="39157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4459" y="3989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3458" y="3199924"/>
              <a:ext cx="1951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阶段 1 请求（prepare）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94601" y="3454718"/>
              <a:ext cx="42778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协调者通知参与者准备提交或取消，进入表决；参与者把自己的决策（成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功/失败）告诉协调者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93458" y="3946684"/>
              <a:ext cx="18791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阶段 2 提交（commit）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94601" y="4201478"/>
              <a:ext cx="42778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协调者根据投票决策：当且仅当所有参与者都同意才提交，否则取消；参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与者执行决策</a:t>
              </a:r>
            </a:p>
          </p:txBody>
        </p:sp>
      </p:grpSp>
      <p:grpSp>
        <p:nvGrpSpPr>
          <p:cNvPr id="63" name="c2-card-3"/>
          <p:cNvGrpSpPr/>
          <p:nvPr/>
        </p:nvGrpSpPr>
        <p:grpSpPr>
          <a:xfrm>
            <a:off x="6680835" y="4761548"/>
            <a:ext cx="4977765" cy="1386840"/>
            <a:chOff x="6680835" y="4761548"/>
            <a:chExt cx="4977765" cy="1386840"/>
          </a:xfrm>
        </p:grpSpPr>
        <p:sp>
          <p:nvSpPr>
            <p:cNvPr id="58" name="Rectangle 58"/>
            <p:cNvSpPr/>
            <p:nvPr/>
          </p:nvSpPr>
          <p:spPr>
            <a:xfrm>
              <a:off x="6680835" y="4761548"/>
              <a:ext cx="497776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90360" y="4894898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99910" y="494252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96633" y="497538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93433" y="5282089"/>
              <a:ext cx="43614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转账：A 库扣 100，B 库加 100。两库都回复成功才一起提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交；B 库校验失败回复失败，协调者发 abort，A 库把扣掉的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回滚。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4181" cy="909257"/>
            <a:chOff x="520446" y="342900"/>
            <a:chExt cx="76341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分布式协议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41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2PC 的故障处理与缺陷：参与者投了同意就只能等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5842635" cy="2636520"/>
            <a:chOff x="533400" y="1524000"/>
            <a:chExt cx="5842635" cy="26365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2845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故障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4977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7604" y="2128361"/>
              <a:ext cx="14571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参与者故障（不回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24518" y="2128361"/>
              <a:ext cx="34409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协调者设超时时间，超时按失败处理，取消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7108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715578"/>
              <a:ext cx="584263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604" y="297703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协调者故障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24518" y="2850356"/>
              <a:ext cx="34409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启用备用协调者，读日志决定继续提交还是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取消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4328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447098"/>
              <a:ext cx="1967865" cy="70294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04" y="3572351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参与者已回复成功后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协调者宕机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24518" y="3572351"/>
              <a:ext cx="34409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参与者不能自行提交或回滚（别的参与者可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能投了失败），只能持有锁阻塞等待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1524000"/>
              <a:ext cx="5842635" cy="26365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515552" y="1524000"/>
              <a:ext cx="9525" cy="2636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steps-2"/>
          <p:cNvGrpSpPr/>
          <p:nvPr/>
        </p:nvGrpSpPr>
        <p:grpSpPr>
          <a:xfrm>
            <a:off x="533400" y="4354830"/>
            <a:ext cx="5515356" cy="2011108"/>
            <a:chOff x="533400" y="4354830"/>
            <a:chExt cx="5515356" cy="2011108"/>
          </a:xfrm>
        </p:grpSpPr>
        <p:sp>
          <p:nvSpPr>
            <p:cNvPr id="23" name="Rectangle 23"/>
            <p:cNvSpPr/>
            <p:nvPr/>
          </p:nvSpPr>
          <p:spPr>
            <a:xfrm>
              <a:off x="666750" y="4497705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33400" y="435483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7024" y="44286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49758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024" y="50496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3400" y="55968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7024" y="56707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438769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都投同意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4668202"/>
              <a:ext cx="3856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参与者 A、B 都回复成功，各自持有要修改的行上的锁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261" y="5008721"/>
              <a:ext cx="11408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协调者宕机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404" y="5289232"/>
              <a:ext cx="4459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协调者在发出 commit 之前宕机，A、B 都不知道对方投了什么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261" y="562975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只能等待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404" y="5910262"/>
              <a:ext cx="51023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在协调者恢复之前，A、B 既不能提交也不能回滚，其他事务访问这些行也被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锁住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680835" y="1524000"/>
            <a:ext cx="4977765" cy="1865948"/>
            <a:chOff x="6680835" y="1524000"/>
            <a:chExt cx="4977765" cy="1865948"/>
          </a:xfrm>
        </p:grpSpPr>
        <p:sp>
          <p:nvSpPr>
            <p:cNvPr id="37" name="Rectangle 37"/>
            <p:cNvSpPr/>
            <p:nvPr/>
          </p:nvSpPr>
          <p:spPr>
            <a:xfrm>
              <a:off x="6680835" y="1524000"/>
              <a:ext cx="497776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90360" y="16573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2277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05079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主要缺陷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23722" y="20888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82067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13664" y="210073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需要阻塞：某一个参与者延迟，所有参与者都要跟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923722" y="268033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82067" y="27197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13664" y="269224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容错性差：协调者或任一参与者出问题都会卡住事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680835" y="3575685"/>
            <a:ext cx="4977765" cy="2781300"/>
            <a:chOff x="6680835" y="3575685"/>
            <a:chExt cx="4977765" cy="2781300"/>
          </a:xfrm>
        </p:grpSpPr>
        <p:sp>
          <p:nvSpPr>
            <p:cNvPr id="48" name="Rectangle 48"/>
            <p:cNvSpPr/>
            <p:nvPr/>
          </p:nvSpPr>
          <p:spPr>
            <a:xfrm>
              <a:off x="6680835" y="3575685"/>
              <a:ext cx="4977765" cy="2781300"/>
            </a:xfrm>
            <a:prstGeom prst="roundRect">
              <a:avLst>
                <a:gd name="adj" fmla="val 479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84670" y="37795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75831" y="38152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7431" y="4152424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大多数分布式存储系统对分布式事务支持得不好，通常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只保证单行或单个分片内的事务，跨分片事务尽量避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免。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749579" cy="909257"/>
            <a:chOff x="520446" y="342900"/>
            <a:chExt cx="107495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分布式协议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7495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分布式一致性问题：一组节点对一个值达成认同；Paxos 假设没有叛徒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0632"/>
            <a:chOff x="533400" y="1524000"/>
            <a:chExt cx="5410200" cy="1250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96977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6431" y="1756410"/>
              <a:ext cx="1876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分布式一致性（consensus）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一组节点对一个值达成认同；这个值由某个节点提议；值被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认同后，其他节点可以学习到它。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6161" y="2978944"/>
            <a:ext cx="5417439" cy="1378839"/>
            <a:chOff x="526161" y="2978944"/>
            <a:chExt cx="5417439" cy="1378839"/>
          </a:xfrm>
        </p:grpSpPr>
        <p:sp>
          <p:nvSpPr>
            <p:cNvPr id="13" name="TextBox 13"/>
            <p:cNvSpPr txBox="1"/>
            <p:nvPr/>
          </p:nvSpPr>
          <p:spPr>
            <a:xfrm>
              <a:off x="526161" y="297894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9096" y="297894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主节点出错，选举并实施新的主节点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2823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33951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9096" y="3395186"/>
              <a:ext cx="47265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Proposer 提议者、Acceptor 接受者、Learner 学习者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698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381142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9096" y="3811429"/>
              <a:ext cx="45229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异步通信，消息可能丢失、延迟，但不伪造（无拜占庭错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误）</a:t>
              </a:r>
            </a:p>
          </p:txBody>
        </p:sp>
      </p:grpSp>
      <p:grpSp>
        <p:nvGrpSpPr>
          <p:cNvPr id="24" name="c1-image-3"/>
          <p:cNvGrpSpPr/>
          <p:nvPr/>
        </p:nvGrpSpPr>
        <p:grpSpPr>
          <a:xfrm>
            <a:off x="1678305" y="4481512"/>
            <a:ext cx="3120390" cy="1821752"/>
            <a:chOff x="1678305" y="4481512"/>
            <a:chExt cx="3120390" cy="1821752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rcRect l="5548" t="0" r="5549" b="0"/>
            <a:stretch>
              <a:fillRect/>
            </a:stretch>
          </p:blipFill>
          <p:spPr>
            <a:xfrm>
              <a:off x="2224088" y="4481512"/>
              <a:ext cx="2029778" cy="1522095"/>
            </a:xfrm>
            <a:prstGeom prst="roundRect">
              <a:avLst>
                <a:gd name="adj" fmla="val 8760"/>
              </a:avLst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1678305" y="6097905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拜占庭将军：分隔各地的将军里可能有叛徒送假信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248400" y="1524000"/>
            <a:ext cx="5410200" cy="2613660"/>
            <a:chOff x="6248400" y="1524000"/>
            <a:chExt cx="5410200" cy="261366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18755" y="16559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两将军问题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5967" y="16559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拜占庭将军问题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49746" y="21197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3201" y="211978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信使可能丢失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87281" y="211978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叛徒伪造信息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4460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450782"/>
              <a:ext cx="5410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9746" y="2709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23201" y="2582704"/>
              <a:ext cx="18178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不可靠信道上永远无法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确认对方收到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87281" y="2582704"/>
              <a:ext cx="185394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个将军里叛徒 m 个，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3m + 1 才有解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31623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9746" y="355234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23201" y="3425666"/>
              <a:ext cx="185394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 ACK 都要再 ACK，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无穷无尽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87281" y="3298984"/>
              <a:ext cx="1817878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个将军 1 个叛徒无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解；4 个将军 1 个叛徒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有解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26136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217092" y="1524000"/>
              <a:ext cx="9525" cy="26136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381172" y="1524000"/>
              <a:ext cx="9525" cy="26136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2"/>
          <p:cNvGrpSpPr/>
          <p:nvPr/>
        </p:nvGrpSpPr>
        <p:grpSpPr>
          <a:xfrm>
            <a:off x="6248400" y="4317682"/>
            <a:ext cx="5410200" cy="1963102"/>
            <a:chOff x="6248400" y="4317682"/>
            <a:chExt cx="5410200" cy="1963102"/>
          </a:xfrm>
        </p:grpSpPr>
        <p:sp>
          <p:nvSpPr>
            <p:cNvPr id="44" name="Rectangle 44"/>
            <p:cNvSpPr/>
            <p:nvPr/>
          </p:nvSpPr>
          <p:spPr>
            <a:xfrm>
              <a:off x="6248400" y="4317682"/>
              <a:ext cx="5410200" cy="1963102"/>
            </a:xfrm>
            <a:prstGeom prst="roundRect">
              <a:avLst>
                <a:gd name="adj" fmla="val 67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4451032"/>
              <a:ext cx="47625" cy="16964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84620" y="45158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76060" y="45500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7381" y="487632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原课件第143页写“叛徒数量不大于 1/3 有解”，应为少于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1/3（n ≥ 3m + 1），恰好 1/3 时无解。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7381" y="5465921"/>
              <a:ext cx="47393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第142页标题是拜占庭将军问题（Lamport 1982），配图其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实是两将军问题，两者的故障类型不同。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91274" cy="909257"/>
            <a:chOff x="520446" y="342900"/>
            <a:chExt cx="97912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分布式协议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912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Paxos 两阶段：Prepare 摸底，Accept 实施，多数通过即选定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778436" cy="3282886"/>
            <a:chOff x="533400" y="1533525"/>
            <a:chExt cx="5778436" cy="328288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598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27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6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794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53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319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057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564481"/>
              <a:ext cx="1844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Prepare 1：Proposer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1818322"/>
              <a:ext cx="36413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选一个比以往都大的编号 n，向 Acceptor 发 prepare(n)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116931"/>
              <a:ext cx="1844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Prepare 2：Acceptor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371725"/>
              <a:ext cx="536467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n 比自己承诺过的都大，就承诺不再接受编号 &lt; n 的提议，并回复自己已接受过的编号最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大的提议（编号和值）；否则不回复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863691"/>
              <a:ext cx="1744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1：Proposer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118485"/>
              <a:ext cx="532466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收到多数派的承诺后，取回复中编号最大的提议的值作为 v；都没接受过才用自己的值。发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accept(n, v)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609499"/>
              <a:ext cx="1744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2：Acceptor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864293"/>
              <a:ext cx="29083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只要没承诺过比 n 更大的编号，就接受 (n, v)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1629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417695"/>
              <a:ext cx="53446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Proposer 收到多数 Acceptor 的接受，v 被选定，发 acknowledge 通知所有人，Learner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学习结果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977765"/>
            <a:ext cx="6059805" cy="1157288"/>
            <a:chOff x="533400" y="4977765"/>
            <a:chExt cx="6059805" cy="1157288"/>
          </a:xfrm>
        </p:grpSpPr>
        <p:sp>
          <p:nvSpPr>
            <p:cNvPr id="29" name="Rectangle 29"/>
            <p:cNvSpPr/>
            <p:nvPr/>
          </p:nvSpPr>
          <p:spPr>
            <a:xfrm>
              <a:off x="533400" y="4977765"/>
              <a:ext cx="6059805" cy="1157288"/>
            </a:xfrm>
            <a:prstGeom prst="roundRect">
              <a:avLst>
                <a:gd name="adj" fmla="val 11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5111115"/>
              <a:ext cx="47625" cy="8905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51587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5147" y="51916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" y="5499259"/>
              <a:ext cx="5450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原课件第146页写 Proposer“发送被承诺接受的最大请求号”。准确说法：编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号用自己的 n，值取回复中编号最大的已接受提议的值。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898005" y="1524000"/>
            <a:ext cx="4760595" cy="1957388"/>
            <a:chOff x="6898005" y="1524000"/>
            <a:chExt cx="4760595" cy="1957388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1957388"/>
            </a:xfrm>
            <a:prstGeom prst="roundRect">
              <a:avLst>
                <a:gd name="adj" fmla="val 681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78980" y="170497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48297" y="17378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两个阶段各做什么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088505" y="2097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43953" y="2045494"/>
              <a:ext cx="40525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第一阶段 prepare：摸底，决定可能占优的 Proposer，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并打听有没有已经被接受的值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088505" y="26250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43953" y="2573179"/>
              <a:ext cx="3865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第二阶段 accept：实施，Proposer 提议，Acceptor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确认反馈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72503" y="310086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少数服从多数，快速朝统一的意见发展。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898005" y="3646170"/>
            <a:ext cx="4760595" cy="1386840"/>
            <a:chOff x="6898005" y="3646170"/>
            <a:chExt cx="4760595" cy="1386840"/>
          </a:xfrm>
        </p:grpSpPr>
        <p:sp>
          <p:nvSpPr>
            <p:cNvPr id="44" name="Rectangle 44"/>
            <p:cNvSpPr/>
            <p:nvPr/>
          </p:nvSpPr>
          <p:spPr>
            <a:xfrm>
              <a:off x="6898005" y="3646170"/>
              <a:ext cx="476059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377952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17080" y="3827145"/>
              <a:ext cx="148494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75545" y="3860006"/>
              <a:ext cx="13670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只有一个 Proposer 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10603" y="4166711"/>
              <a:ext cx="406069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很多情况下只有一个 Proposer，它可以直接发带编号的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消息，多数 Acceptor 接受就发 acknowledge。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这一轮不成功，再完整执行一轮 Paxos。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898005" y="5197792"/>
            <a:ext cx="4760595" cy="937260"/>
            <a:chOff x="6898005" y="5197792"/>
            <a:chExt cx="4760595" cy="937260"/>
          </a:xfrm>
        </p:grpSpPr>
        <p:sp>
          <p:nvSpPr>
            <p:cNvPr id="50" name="Rectangle 50"/>
            <p:cNvSpPr/>
            <p:nvPr/>
          </p:nvSpPr>
          <p:spPr>
            <a:xfrm>
              <a:off x="6898005" y="5197792"/>
              <a:ext cx="4760595" cy="937260"/>
            </a:xfrm>
            <a:prstGeom prst="roundRect">
              <a:avLst>
                <a:gd name="adj" fmla="val 1219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102793" y="5566410"/>
              <a:ext cx="200026" cy="200026"/>
              <a:chOff x="7102793" y="5566410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102793" y="55664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169468" y="56441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405878" y="5342096"/>
              <a:ext cx="386562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多数派的交集保证了安全：任意两个多数派至少有一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个共同的 Acceptor，已被多数接受的值一定会被后来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的 prepare 打听到。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46137" cy="909257"/>
            <a:chOff x="520446" y="342900"/>
            <a:chExt cx="79461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分布式协议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461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例题：晚餐投票，第 10 轮 Proposer 应该提议火锅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28447" y="1524000"/>
            <a:ext cx="6280975" cy="3299174"/>
            <a:chOff x="528447" y="1524000"/>
            <a:chExt cx="6280975" cy="329917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01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4478" y="1641157"/>
              <a:ext cx="795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Acceptor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71278" y="1641157"/>
              <a:ext cx="795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Acceptor 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00943" y="1641157"/>
              <a:ext cx="795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Acceptor 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68308" y="1641157"/>
              <a:ext cx="1137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Proposer 的决定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116455"/>
              <a:ext cx="871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n=8 prepare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94878" y="21164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没接受过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98813" y="2023110"/>
              <a:ext cx="84410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已接受 (6, 火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锅)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28478" y="211645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没收到消息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58144" y="2023110"/>
              <a:ext cx="166420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 构成多数派，必须提议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火锅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688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73642"/>
              <a:ext cx="6276022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684145"/>
              <a:ext cx="789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n=8 accept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94878" y="26841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没收到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98813" y="2590800"/>
              <a:ext cx="71075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 (8, 火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锅)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28478" y="26841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58144" y="2684145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1 票，没选定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3657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2518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（其间）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94878" y="325183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98813" y="325183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28478" y="3158490"/>
              <a:ext cx="6774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接受别人的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 面条)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58144" y="325183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6052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609975"/>
              <a:ext cx="6276022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727132"/>
              <a:ext cx="549735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n=10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prepare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94878" y="3820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没接受过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98813" y="3727132"/>
              <a:ext cx="84410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已接受 (8, 火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锅)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28478" y="3727132"/>
              <a:ext cx="84410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已接受 (7, 面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872990" y="3619500"/>
              <a:ext cx="1926908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58144" y="3820478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最大编号是 8，提议火锅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1729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" y="4294822"/>
              <a:ext cx="871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n=10 accept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94878" y="429482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接受火锅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98813" y="429482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接受火锅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28478" y="429482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接受火锅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872990" y="4187190"/>
              <a:ext cx="192690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958144" y="4294822"/>
              <a:ext cx="1120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票，火锅被选定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6276022" cy="3034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595438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599372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729038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858702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447" y="4632484"/>
              <a:ext cx="3209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据原课件第148–151页整理；所有 n &lt; 10 的投票都作废</a:t>
              </a:r>
            </a:p>
          </p:txBody>
        </p:sp>
      </p:grpSp>
      <p:grpSp>
        <p:nvGrpSpPr>
          <p:cNvPr id="58" name="c1-card-2"/>
          <p:cNvGrpSpPr/>
          <p:nvPr/>
        </p:nvGrpSpPr>
        <p:grpSpPr>
          <a:xfrm>
            <a:off x="533400" y="4949190"/>
            <a:ext cx="6276022" cy="1307782"/>
            <a:chOff x="533400" y="4949190"/>
            <a:chExt cx="6276022" cy="1307782"/>
          </a:xfrm>
        </p:grpSpPr>
        <p:sp>
          <p:nvSpPr>
            <p:cNvPr id="53" name="Rectangle 53"/>
            <p:cNvSpPr/>
            <p:nvPr/>
          </p:nvSpPr>
          <p:spPr>
            <a:xfrm>
              <a:off x="533400" y="4949190"/>
              <a:ext cx="6276022" cy="1307782"/>
            </a:xfrm>
            <a:prstGeom prst="roundRect">
              <a:avLst>
                <a:gd name="adj" fmla="val 101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2925" y="5082540"/>
              <a:ext cx="47625" cy="10410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2475" y="513016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1096" y="51630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练一练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5998" y="5470684"/>
              <a:ext cx="55318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若第 10 轮只收到 Acceptor 1、3 的回复（2 票也是多数派），回复里编号最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大的是 (7, 面条)，应提议面条。火锅没被多数接受过，换值不违反一致性。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7114222" y="1524000"/>
            <a:ext cx="4544378" cy="1629728"/>
            <a:chOff x="7114222" y="1524000"/>
            <a:chExt cx="4544378" cy="1629728"/>
          </a:xfrm>
        </p:grpSpPr>
        <p:sp>
          <p:nvSpPr>
            <p:cNvPr id="59" name="Rectangle 59"/>
            <p:cNvSpPr/>
            <p:nvPr/>
          </p:nvSpPr>
          <p:spPr>
            <a:xfrm>
              <a:off x="7114222" y="1524000"/>
              <a:ext cx="4544378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23748" y="1657350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33298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2501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26820" y="2045494"/>
              <a:ext cx="3955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原课件第151页 Proposer 在第 10 轮 accept 阶段提议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“吃烧烤”，违反了 Paxos 的规则：prepare 回复里有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已接受的值，必须沿用编号最大的那个（第 8 轮的火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锅）。同页 Learner 学到火锅，反而是对的。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7114222" y="3318510"/>
            <a:ext cx="4544378" cy="1386840"/>
            <a:chOff x="7114222" y="3318510"/>
            <a:chExt cx="4544378" cy="1386840"/>
          </a:xfrm>
        </p:grpSpPr>
        <p:sp>
          <p:nvSpPr>
            <p:cNvPr id="65" name="Rectangle 65"/>
            <p:cNvSpPr/>
            <p:nvPr/>
          </p:nvSpPr>
          <p:spPr>
            <a:xfrm>
              <a:off x="7114222" y="3318510"/>
              <a:ext cx="4544378" cy="1386840"/>
            </a:xfrm>
            <a:prstGeom prst="roundRect">
              <a:avLst>
                <a:gd name="adj" fmla="val 961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295198" y="349948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368565" y="353234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为什么必须沿用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88720" y="3840004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火锅可能已经被多数接受，只是这个 Proposer 不知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道。任意两个多数派至少有一个共同成员，沿用编号最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大的值，就不会让两个不同的值先后都被选定。</a:t>
              </a:r>
            </a:p>
          </p:txBody>
        </p:sp>
      </p:grpSp>
      <p:grpSp>
        <p:nvGrpSpPr>
          <p:cNvPr id="75" name="c2-card-3"/>
          <p:cNvGrpSpPr/>
          <p:nvPr/>
        </p:nvGrpSpPr>
        <p:grpSpPr>
          <a:xfrm>
            <a:off x="7114222" y="4870132"/>
            <a:ext cx="4544378" cy="1386840"/>
            <a:chOff x="7114222" y="4870132"/>
            <a:chExt cx="4544378" cy="1386840"/>
          </a:xfrm>
        </p:grpSpPr>
        <p:sp>
          <p:nvSpPr>
            <p:cNvPr id="70" name="Rectangle 70"/>
            <p:cNvSpPr/>
            <p:nvPr/>
          </p:nvSpPr>
          <p:spPr>
            <a:xfrm>
              <a:off x="7114222" y="4870132"/>
              <a:ext cx="454437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123748" y="5003482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33298" y="50511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25017" y="50839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26820" y="5391626"/>
              <a:ext cx="3955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如果第 10 轮三个 Acceptor 都回答“没接受过任何提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议”，Proposer 才能提自己的烧烤，三票接受后烧烤被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选定。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89627" cy="909257"/>
            <a:chOff x="520446" y="342900"/>
            <a:chExt cx="88896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 · 分布式协议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896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Paxos 的性质与用途；ZooKeeper 用的是同类多数派协议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626418" cy="2200275"/>
            <a:chOff x="533400" y="1524000"/>
            <a:chExt cx="5626418" cy="2200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603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0876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可终止性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68805" y="2045494"/>
              <a:ext cx="4238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节点出错或多个 Proposer 轮流抬高编号时，不能保证一定终止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68805" y="2445544"/>
              <a:ext cx="3600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容忍 F 个故障节点需要 2F + 1 个节点，才能保证活性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9456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8805" y="2845594"/>
              <a:ext cx="35674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一旦终止，只有一个值被选定：被选定的提议都经过多数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Acceptor 接受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2422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4456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68805" y="344566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多数通过，快速朝一致的方向靠拢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66888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card-2"/>
          <p:cNvGrpSpPr/>
          <p:nvPr/>
        </p:nvGrpSpPr>
        <p:grpSpPr>
          <a:xfrm>
            <a:off x="533400" y="3893820"/>
            <a:ext cx="5626418" cy="1443038"/>
            <a:chOff x="533400" y="3893820"/>
            <a:chExt cx="5626418" cy="1443038"/>
          </a:xfrm>
        </p:grpSpPr>
        <p:sp>
          <p:nvSpPr>
            <p:cNvPr id="26" name="Rectangle 26"/>
            <p:cNvSpPr/>
            <p:nvPr/>
          </p:nvSpPr>
          <p:spPr>
            <a:xfrm>
              <a:off x="533400" y="3893820"/>
              <a:ext cx="5626418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02717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8190" y="40805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0862" y="41133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332" y="4425315"/>
              <a:ext cx="48571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原课件第153页写“每个 Acceptor 只接受一个提议”。Acceptor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可以先后接受多个编号的提议（上页 Acceptor 2 接受了第 6、8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轮），保证唯一的是被选定的值。</a:t>
              </a:r>
            </a:p>
          </p:txBody>
        </p:sp>
      </p:grpSp>
      <p:grpSp>
        <p:nvGrpSpPr>
          <p:cNvPr id="38" name="c1-bullets-3"/>
          <p:cNvGrpSpPr/>
          <p:nvPr/>
        </p:nvGrpSpPr>
        <p:grpSpPr>
          <a:xfrm>
            <a:off x="533400" y="5529262"/>
            <a:ext cx="2976753" cy="881254"/>
            <a:chOff x="533400" y="5529262"/>
            <a:chExt cx="2976753" cy="881254"/>
          </a:xfrm>
        </p:grpSpPr>
        <p:sp>
          <p:nvSpPr>
            <p:cNvPr id="32" name="Freeform 32"/>
            <p:cNvSpPr/>
            <p:nvPr/>
          </p:nvSpPr>
          <p:spPr>
            <a:xfrm>
              <a:off x="533400" y="555783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0382" y="552926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实现多个节点操作日志的一致性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33400" y="586644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0382" y="5837873"/>
              <a:ext cx="1582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选举和实施 Leader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533400" y="617505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0382" y="6146483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构建高可用的全局服务：锁、命名</a:t>
              </a:r>
            </a:p>
          </p:txBody>
        </p:sp>
      </p:grpSp>
      <p:grpSp>
        <p:nvGrpSpPr>
          <p:cNvPr id="67" name="c2-graph-1"/>
          <p:cNvGrpSpPr/>
          <p:nvPr/>
        </p:nvGrpSpPr>
        <p:grpSpPr>
          <a:xfrm>
            <a:off x="6793230" y="1644968"/>
            <a:ext cx="4536758" cy="1427416"/>
            <a:chOff x="6793230" y="1644968"/>
            <a:chExt cx="4536758" cy="1427416"/>
          </a:xfrm>
        </p:grpSpPr>
        <p:sp>
          <p:nvSpPr>
            <p:cNvPr id="39" name="Freeform 39"/>
            <p:cNvSpPr/>
            <p:nvPr/>
          </p:nvSpPr>
          <p:spPr>
            <a:xfrm>
              <a:off x="7573328" y="2071688"/>
              <a:ext cx="360045" cy="720090"/>
            </a:xfrm>
            <a:custGeom>
              <a:avLst/>
              <a:gdLst/>
              <a:ahLst/>
              <a:cxnLst/>
              <a:rect l="l" t="t" r="r" b="b"/>
              <a:pathLst>
                <a:path w="360045" h="720090">
                  <a:moveTo>
                    <a:pt x="0" y="720090"/>
                  </a:moveTo>
                  <a:lnTo>
                    <a:pt x="3600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062085" y="2149792"/>
              <a:ext cx="9525" cy="641985"/>
            </a:xfrm>
            <a:custGeom>
              <a:avLst/>
              <a:gdLst/>
              <a:ahLst/>
              <a:cxnLst/>
              <a:rect l="l" t="t" r="r" b="b"/>
              <a:pathLst>
                <a:path w="9525" h="641985">
                  <a:moveTo>
                    <a:pt x="0" y="64198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689908" y="2071688"/>
              <a:ext cx="360045" cy="720090"/>
            </a:xfrm>
            <a:custGeom>
              <a:avLst/>
              <a:gdLst/>
              <a:ahLst/>
              <a:cxnLst/>
              <a:rect l="l" t="t" r="r" b="b"/>
              <a:pathLst>
                <a:path w="360045" h="720090">
                  <a:moveTo>
                    <a:pt x="0" y="720090"/>
                  </a:moveTo>
                  <a:lnTo>
                    <a:pt x="3600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222932" y="1892618"/>
              <a:ext cx="486728" cy="9525"/>
            </a:xfrm>
            <a:custGeom>
              <a:avLst/>
              <a:gdLst/>
              <a:ahLst/>
              <a:cxnLst/>
              <a:rect l="l" t="t" r="r" b="b"/>
              <a:pathLst>
                <a:path w="486728" h="9525">
                  <a:moveTo>
                    <a:pt x="0" y="0"/>
                  </a:moveTo>
                  <a:lnTo>
                    <a:pt x="4867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3" name="Freeform 43"/>
            <p:cNvSpPr/>
            <p:nvPr/>
          </p:nvSpPr>
          <p:spPr>
            <a:xfrm>
              <a:off x="8709660" y="18449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319260" y="1892618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9805035" y="18449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793230" y="170211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832408" y="170211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814435" y="1644968"/>
              <a:ext cx="495300" cy="495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909810" y="170211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0948988" y="170211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210425" y="2791778"/>
              <a:ext cx="58674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68715" y="2791778"/>
              <a:ext cx="58674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326052" y="2791778"/>
              <a:ext cx="58674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92145" y="18278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31323" y="18278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70500" y="17440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09550" y="1910715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Leader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08725" y="18278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47903" y="18278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86434" y="286702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44724" y="286702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402062" y="286702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319135" y="1814512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343100" y="184356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转发写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467850" y="181451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94622" y="184356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</p:grpSp>
      <p:grpSp>
        <p:nvGrpSpPr>
          <p:cNvPr id="79" name="c2-kv-2"/>
          <p:cNvGrpSpPr/>
          <p:nvPr/>
        </p:nvGrpSpPr>
        <p:grpSpPr>
          <a:xfrm>
            <a:off x="6457760" y="3392805"/>
            <a:ext cx="5200840" cy="1694688"/>
            <a:chOff x="6457760" y="3392805"/>
            <a:chExt cx="5200840" cy="1694688"/>
          </a:xfrm>
        </p:grpSpPr>
        <p:sp>
          <p:nvSpPr>
            <p:cNvPr id="68" name="TextBox 68"/>
            <p:cNvSpPr txBox="1"/>
            <p:nvPr/>
          </p:nvSpPr>
          <p:spPr>
            <a:xfrm>
              <a:off x="6457760" y="339280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组成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62597" y="3392805"/>
              <a:ext cx="35335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Leader 和多个 Follower，总数取奇数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64618" y="36785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457760" y="37852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选举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62597" y="3785235"/>
              <a:ext cx="419709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先比数据新旧（zxid），相同时 ID 大者胜出，得票过半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当选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64618" y="43253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57760" y="44310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62597" y="4431030"/>
              <a:ext cx="3752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Leader 协调，大多数 Server 更新成功即成功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464618" y="47177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457760" y="482346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可用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62597" y="4823460"/>
              <a:ext cx="2364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半数以上 Server 存活即可用</a:t>
              </a:r>
            </a:p>
          </p:txBody>
        </p:sp>
      </p:grpSp>
      <p:grpSp>
        <p:nvGrpSpPr>
          <p:cNvPr id="86" name="c2-callout-3"/>
          <p:cNvGrpSpPr/>
          <p:nvPr/>
        </p:nvGrpSpPr>
        <p:grpSpPr>
          <a:xfrm>
            <a:off x="6464618" y="5204460"/>
            <a:ext cx="5193982" cy="1152525"/>
            <a:chOff x="6464618" y="5204460"/>
            <a:chExt cx="5193982" cy="1152525"/>
          </a:xfrm>
        </p:grpSpPr>
        <p:sp>
          <p:nvSpPr>
            <p:cNvPr id="80" name="Rectangle 80"/>
            <p:cNvSpPr/>
            <p:nvPr/>
          </p:nvSpPr>
          <p:spPr>
            <a:xfrm>
              <a:off x="6464618" y="5204460"/>
              <a:ext cx="5193982" cy="1152525"/>
            </a:xfrm>
            <a:prstGeom prst="roundRect">
              <a:avLst>
                <a:gd name="adj" fmla="val 99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669405" y="5680710"/>
              <a:ext cx="200026" cy="200026"/>
              <a:chOff x="6669405" y="5680710"/>
              <a:chExt cx="200026" cy="200026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6669405" y="56807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769418" y="57473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758305" y="57807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972110" y="5562600"/>
              <a:ext cx="427424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ZooKeeper 实际用的是 ZAB 协议，和 Paxos 一样靠多数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派；选举例题见第2部分。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3825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Bitcask 为什么写得快？为什么不支持范围查询？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735104"/>
              <a:ext cx="47759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写只往活跃文件末尾追加（顺序写）再改内存里的 keydir；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keydir 是哈希表，key 无序，数据文件按写入时间排，范围查询只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能扫全部 key。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心跳和租约的前提假设有什么不同？租约为什么能避免同时出现两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个主？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心跳假设服务正常、检测出错；租约假设服务随时可能中断。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节点租约到期就自己停服，总控等租约过期才交给别人，任何时刻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最多一个有效租约。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428750"/>
            <a:chOff x="6248400" y="1928812"/>
            <a:chExt cx="54102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5085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读提交（RC）级别下可能出现哪些读写异常？可重复读（RR）呢？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735104"/>
              <a:ext cx="4759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RC：不可重复读、第二类丢失更新、幻读。RR：只剩幻读。第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一类丢失更新在任何级别都不允许。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522345"/>
            <a:ext cx="5410200" cy="2157412"/>
            <a:chOff x="6248400" y="3522345"/>
            <a:chExt cx="5410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6248400" y="3522345"/>
              <a:ext cx="5410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7033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7361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043839"/>
              <a:ext cx="46454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2PC 和 Paxos 分别解决什么问题？2PC 最大的缺陷是什么？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328636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2PC 保证分布式事务的原子性，Paxos 让多个节点对一个值达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成一致。2PC 要阻塞等待，参与者投了同意后协调者宕机，参与者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只能等。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6535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概念题答不上时，回到对应页的对比表或 compare 卡片，先找“假设”和“代价”两处。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自测题（二）估算与计算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881884" cy="278702"/>
            <a:chOff x="526161" y="1547336"/>
            <a:chExt cx="288188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带计算的题把单位写全，再算数。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53828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keydir 用 1 GB 内存，每个索引项 40 字节，value 平均 10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KB，能索引多少数据？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2³⁰ ÷ 40 ≈ 2684 万项；× 10 KB = 2³⁰ × 256 B = 256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GB。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5410200" cy="1768792"/>
            <a:chOff x="533400" y="3886200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46951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每台机器一年内出故障的概率是 1%，1000 台的集群一年内至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少坏一台的概率是多少？平均坏几台？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994910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1 − 0.99¹⁰⁰⁰ ≈ 99.996%，几乎必然；平均 1000 × 1%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台。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8306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练习页的环上（节点 1、4、8、10）删去节点 8，哪些数据要迁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移，迁到哪？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3049905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8 负责的 e、f、g、h 顺时针交给下一个节点 10，10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变为存 e–j；节点 1、4 不受影响。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461929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个 Acceptor 最多容忍几个故障？某次 prepare 收到 (3,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X)、(5, Y) 和一个“没接受过”三份回复，该提议什么？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994910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= 2F + 1，F = 2。三份回复已是多数派，取编号最大的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5，提议 Y。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8186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估算题先统一单位：GB 按 2³⁰ 字节、KB 按 2¹⁰ 字节，与原课件“32GB/32*4KB = 4TB”的算法一致。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第3部分 存储技术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2572"/>
            <a:ext cx="5928169" cy="1485519"/>
            <a:chOff x="533400" y="1532572"/>
            <a:chExt cx="5928169" cy="1485519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5334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58" y="1541145"/>
              <a:ext cx="56887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三种引擎：哈希引擎追加写加内存索引，B 树引擎页面化索引，LSM 树内存排序后分层合并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786890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5334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858" y="1795462"/>
              <a:ext cx="4731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数据模型是外壳：文件、对象、关系、键值，NoSQL 用事务和关联换扩展性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41207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207002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2049780"/>
              <a:ext cx="4343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隔离级别越高，允许的读写异常越少；COW 和 MVCC 让读事务不加锁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295525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232433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2304098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哈希分布用一致性哈希减少迁移，顺序分布用子表和多级索引支持范围扫描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548890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257865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2558415"/>
              <a:ext cx="42752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先写 REDO 日志再改内存，检查点加回放完成恢复；租约避免两个主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03208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5334" y="283297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858" y="2812732"/>
              <a:ext cx="5209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2PC 保证原子性但会阻塞；Paxos 靠多数派，Accept 阶段沿用编号最大的已接受值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141345"/>
            <a:ext cx="6059805" cy="2400300"/>
            <a:chOff x="533400" y="3141345"/>
            <a:chExt cx="6059805" cy="2400300"/>
          </a:xfrm>
        </p:grpSpPr>
        <p:sp>
          <p:nvSpPr>
            <p:cNvPr id="26" name="Rectangle 26"/>
            <p:cNvSpPr/>
            <p:nvPr/>
          </p:nvSpPr>
          <p:spPr>
            <a:xfrm>
              <a:off x="533400" y="3141345"/>
              <a:ext cx="6059805" cy="24003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274695"/>
              <a:ext cx="47625" cy="21336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332232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4642" y="335518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2000" y="371475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7448" y="3662839"/>
              <a:ext cx="51417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Bitcast 应为 Bitcask（第9页）；LIRS 图中 IRR 应为 3（第17页）；原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子性下“多次读取结果相同”属隔离性（第29页）；MVCC 应为小于或等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于，UPDATE 还要标记旧行（第35页）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2000" y="448532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" y="4433411"/>
              <a:ext cx="524738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加 10 应为 15（第45页）；0.09% 应为 0.10%（第47页）；叛徒少于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1/3、第142页图是两将军问题（第57页）；Proposer 发送的内容（第58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页）；第 10 轮应提议火锅（第59页）；Acceptor 可接受多个提议（第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60页）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898005" y="1524000"/>
            <a:ext cx="4760595" cy="2669858"/>
            <a:chOff x="6898005" y="1524000"/>
            <a:chExt cx="4760595" cy="2669858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647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7531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92684" y="2023110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keydir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0481" y="2023110"/>
              <a:ext cx="2276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Bitcask 内存索引，存 value 的位置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2282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8005" y="2286952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2684" y="2404110"/>
              <a:ext cx="557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0481" y="2404110"/>
              <a:ext cx="2123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有序的磁盘文件，配稀疏索引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2663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2684" y="278511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MVCC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0481" y="278511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每行带修改、删除版本号，读不加锁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3045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8005" y="304990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2684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20481" y="3167062"/>
              <a:ext cx="23005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顺时针第一个 token ≥ 哈希值的节点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3426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2684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20481" y="354806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带超时的授权，到期自动失效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3807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98005" y="381190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2684" y="3930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20481" y="393001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任意两个多数派必有交集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898005" y="1524000"/>
              <a:ext cx="476059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32104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6898005" y="4358640"/>
            <a:ext cx="4760595" cy="1183005"/>
            <a:chOff x="6898005" y="4358640"/>
            <a:chExt cx="4760595" cy="1183005"/>
          </a:xfrm>
        </p:grpSpPr>
        <p:sp>
          <p:nvSpPr>
            <p:cNvPr id="61" name="Rectangle 61"/>
            <p:cNvSpPr/>
            <p:nvPr/>
          </p:nvSpPr>
          <p:spPr>
            <a:xfrm>
              <a:off x="6898005" y="4358640"/>
              <a:ext cx="4760595" cy="1183005"/>
            </a:xfrm>
            <a:prstGeom prst="roundRect">
              <a:avLst>
                <a:gd name="adj" fmla="val 1127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078980" y="453961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67601" y="457247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72503" y="4879181"/>
              <a:ext cx="40850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第4部分分布式文件系统：NFS、GFS、HDFS。留意本讲的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单层多副本、Master 和租约在 GFS 里怎样落地。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6" name="Rectangle 6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7489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复习时动手做三件事：画三种引擎的读写路径，在哈希环上分配数据，走一遍 Paxos 的晚餐例题。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第3部分 分布式存储技术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tore_p3">
  <a:themeElements>
    <a:clrScheme name="dstore_p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tore_p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tore_p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2026-09-23T10:36:37Z</dcterms:created>
  <dcterms:modified xsi:type="dcterms:W3CDTF">2026-09-23T10:36:37Z</dcterms:modified>
  <cp:category/>
  <cp:contentStatus/>
</cp:coreProperties>
</file>