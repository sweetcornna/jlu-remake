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8a5dbe95e7ead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c4e7ee50dade93f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33e4d1a7820e88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0658" cy="3437763"/>
            <a:chOff x="666750" y="1619250"/>
            <a:chExt cx="511065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第5部分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分布式键值对系统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0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Amazon Dynamo 为例：永远可写的键值存储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67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CAP 与 Dynamo 的取舍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一致性哈希与虚拟节点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04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NWR、向量时钟与多版本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故障处理与读写流程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自学复习版｜据吉林大学《分布式存储》第5部分课件整理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158900"/>
            <a:chOff x="521970" y="1515428"/>
            <a:chExt cx="6287453" cy="415890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220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简介与架构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491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CAP 三个特性、Dynamo 的系统假设与 SLA、设计思路、六个设计问题及对应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一致性哈希、虚拟节点、路由信息怎么记、用 Gossip 协议让所有节点知道最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新的环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一致性与复制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659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preference list、NWR 机制、多版本从哪来、向量时钟怎样判断版本先后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19481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30053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3367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容错和负载分配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653439"/>
              <a:ext cx="5740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宽松计数与数据回传、永久故障后用 Merkle 树同步、两种 token 分配方法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96728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0720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1082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读写流程与应用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4249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协调者怎样完成一次写和一次读、读时解决冲突与读修复、系统优缺点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100512"/>
            <a:chOff x="7114222" y="1524000"/>
            <a:chExt cx="4544378" cy="4100512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100512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8338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CAP 三个特性的含义，解释 Dynamo 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什么选 AP、把冲突留到读的时候解决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68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在哈希环上找出一个 key 的 preference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list，算出增删节点、加虚拟节点时迁移哪些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7014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63855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N、W、R 判断读写集合是否一定相交，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算出读、写各能容忍几台副本故障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2595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比较两个向量时钟的先后或并发，写出合并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后的向量时钟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描述宽松计数、数据回传和 Merkle 树同步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各处理哪类故障，走一遍完整的写和读流程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0787" cy="909257"/>
            <a:chOff x="520446" y="342900"/>
            <a:chExt cx="76407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07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本部分地图：Dynamo 用五组技术换来“永远可写”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ree-1"/>
          <p:cNvGrpSpPr/>
          <p:nvPr/>
        </p:nvGrpSpPr>
        <p:grpSpPr>
          <a:xfrm>
            <a:off x="533400" y="1468755"/>
            <a:ext cx="5193983" cy="3253741"/>
            <a:chOff x="533400" y="1468755"/>
            <a:chExt cx="5193983" cy="3253741"/>
          </a:xfrm>
        </p:grpSpPr>
        <p:sp>
          <p:nvSpPr>
            <p:cNvPr id="7" name="Freeform 7"/>
            <p:cNvSpPr/>
            <p:nvPr/>
          </p:nvSpPr>
          <p:spPr>
            <a:xfrm>
              <a:off x="3388995" y="1655445"/>
              <a:ext cx="419100" cy="260985"/>
            </a:xfrm>
            <a:custGeom>
              <a:avLst/>
              <a:gdLst/>
              <a:ahLst/>
              <a:cxnLst/>
              <a:rect l="l" t="t" r="r" b="b"/>
              <a:pathLst>
                <a:path w="419100" h="260985">
                  <a:moveTo>
                    <a:pt x="0" y="260985"/>
                  </a:moveTo>
                  <a:lnTo>
                    <a:pt x="209550" y="2609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88995" y="191643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88995" y="1916430"/>
              <a:ext cx="419100" cy="262890"/>
            </a:xfrm>
            <a:custGeom>
              <a:avLst/>
              <a:gdLst/>
              <a:ahLst/>
              <a:cxnLst/>
              <a:rect l="l" t="t" r="r" b="b"/>
              <a:pathLst>
                <a:path w="419100" h="262890">
                  <a:moveTo>
                    <a:pt x="0" y="0"/>
                  </a:moveTo>
                  <a:lnTo>
                    <a:pt x="209550" y="0"/>
                  </a:lnTo>
                  <a:lnTo>
                    <a:pt x="209550" y="262890"/>
                  </a:lnTo>
                  <a:lnTo>
                    <a:pt x="419100" y="2628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88995" y="2440305"/>
              <a:ext cx="419100" cy="262890"/>
            </a:xfrm>
            <a:custGeom>
              <a:avLst/>
              <a:gdLst/>
              <a:ahLst/>
              <a:cxnLst/>
              <a:rect l="l" t="t" r="r" b="b"/>
              <a:pathLst>
                <a:path w="419100" h="262890">
                  <a:moveTo>
                    <a:pt x="0" y="262890"/>
                  </a:moveTo>
                  <a:lnTo>
                    <a:pt x="209550" y="2628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88995" y="27031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88995" y="2703195"/>
              <a:ext cx="419100" cy="260985"/>
            </a:xfrm>
            <a:custGeom>
              <a:avLst/>
              <a:gdLst/>
              <a:ahLst/>
              <a:cxnLst/>
              <a:rect l="l" t="t" r="r" b="b"/>
              <a:pathLst>
                <a:path w="419100" h="260985">
                  <a:moveTo>
                    <a:pt x="0" y="0"/>
                  </a:moveTo>
                  <a:lnTo>
                    <a:pt x="209550" y="0"/>
                  </a:lnTo>
                  <a:lnTo>
                    <a:pt x="209550" y="260985"/>
                  </a:lnTo>
                  <a:lnTo>
                    <a:pt x="419100" y="2609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88995" y="3227070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130492"/>
                  </a:moveTo>
                  <a:lnTo>
                    <a:pt x="209550" y="1304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88995" y="3357562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0"/>
                  </a:moveTo>
                  <a:lnTo>
                    <a:pt x="209550" y="0"/>
                  </a:lnTo>
                  <a:lnTo>
                    <a:pt x="209550" y="130492"/>
                  </a:lnTo>
                  <a:lnTo>
                    <a:pt x="419100" y="1304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88995" y="3750945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130492"/>
                  </a:moveTo>
                  <a:lnTo>
                    <a:pt x="209550" y="1304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88995" y="3881438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0"/>
                  </a:moveTo>
                  <a:lnTo>
                    <a:pt x="209550" y="0"/>
                  </a:lnTo>
                  <a:lnTo>
                    <a:pt x="209550" y="130492"/>
                  </a:lnTo>
                  <a:lnTo>
                    <a:pt x="419100" y="1304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88995" y="4274820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130492"/>
                  </a:moveTo>
                  <a:lnTo>
                    <a:pt x="209550" y="1304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388995" y="4405312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0"/>
                  </a:moveTo>
                  <a:lnTo>
                    <a:pt x="209550" y="0"/>
                  </a:lnTo>
                  <a:lnTo>
                    <a:pt x="209550" y="130492"/>
                  </a:lnTo>
                  <a:lnTo>
                    <a:pt x="419100" y="1304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563052" y="1916430"/>
              <a:ext cx="419100" cy="1244918"/>
            </a:xfrm>
            <a:custGeom>
              <a:avLst/>
              <a:gdLst/>
              <a:ahLst/>
              <a:cxnLst/>
              <a:rect l="l" t="t" r="r" b="b"/>
              <a:pathLst>
                <a:path w="419100" h="1244918">
                  <a:moveTo>
                    <a:pt x="0" y="1244918"/>
                  </a:moveTo>
                  <a:lnTo>
                    <a:pt x="209550" y="124491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63052" y="2703195"/>
              <a:ext cx="419100" cy="458152"/>
            </a:xfrm>
            <a:custGeom>
              <a:avLst/>
              <a:gdLst/>
              <a:ahLst/>
              <a:cxnLst/>
              <a:rect l="l" t="t" r="r" b="b"/>
              <a:pathLst>
                <a:path w="419100" h="458152">
                  <a:moveTo>
                    <a:pt x="0" y="458152"/>
                  </a:moveTo>
                  <a:lnTo>
                    <a:pt x="209550" y="4581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63052" y="3161348"/>
              <a:ext cx="419100" cy="196215"/>
            </a:xfrm>
            <a:custGeom>
              <a:avLst/>
              <a:gdLst/>
              <a:ahLst/>
              <a:cxnLst/>
              <a:rect l="l" t="t" r="r" b="b"/>
              <a:pathLst>
                <a:path w="419100" h="196215">
                  <a:moveTo>
                    <a:pt x="0" y="0"/>
                  </a:moveTo>
                  <a:lnTo>
                    <a:pt x="209550" y="0"/>
                  </a:lnTo>
                  <a:lnTo>
                    <a:pt x="209550" y="196215"/>
                  </a:lnTo>
                  <a:lnTo>
                    <a:pt x="419100" y="1962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563052" y="3161348"/>
              <a:ext cx="419100" cy="720090"/>
            </a:xfrm>
            <a:custGeom>
              <a:avLst/>
              <a:gdLst/>
              <a:ahLst/>
              <a:cxnLst/>
              <a:rect l="l" t="t" r="r" b="b"/>
              <a:pathLst>
                <a:path w="419100" h="720090">
                  <a:moveTo>
                    <a:pt x="0" y="0"/>
                  </a:moveTo>
                  <a:lnTo>
                    <a:pt x="209550" y="0"/>
                  </a:lnTo>
                  <a:lnTo>
                    <a:pt x="209550" y="720090"/>
                  </a:lnTo>
                  <a:lnTo>
                    <a:pt x="419100" y="7200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63052" y="3161348"/>
              <a:ext cx="419100" cy="1243965"/>
            </a:xfrm>
            <a:custGeom>
              <a:avLst/>
              <a:gdLst/>
              <a:ahLst/>
              <a:cxnLst/>
              <a:rect l="l" t="t" r="r" b="b"/>
              <a:pathLst>
                <a:path w="419100" h="1243965">
                  <a:moveTo>
                    <a:pt x="0" y="0"/>
                  </a:moveTo>
                  <a:lnTo>
                    <a:pt x="209550" y="0"/>
                  </a:lnTo>
                  <a:lnTo>
                    <a:pt x="209550" y="1243965"/>
                  </a:lnTo>
                  <a:lnTo>
                    <a:pt x="419100" y="12439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08095" y="1468755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08095" y="1730692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08095" y="1992630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82152" y="1730692"/>
              <a:ext cx="140684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08095" y="2254568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08095" y="2516505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08095" y="2778442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82152" y="2516505"/>
              <a:ext cx="140684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08095" y="3040380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08095" y="3302318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82152" y="3170872"/>
              <a:ext cx="140684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08095" y="3564255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08095" y="3826192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982152" y="3694748"/>
              <a:ext cx="140684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08095" y="4088130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08095" y="4350068"/>
              <a:ext cx="19192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82152" y="4218622"/>
              <a:ext cx="140684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2974658"/>
              <a:ext cx="1029652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96868" y="15654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96868" y="18273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96868" y="2089309"/>
              <a:ext cx="1284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Gossip 成员协议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70925" y="18273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96868" y="2352199"/>
              <a:ext cx="1305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preference list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96868" y="2614136"/>
              <a:ext cx="749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机制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96868" y="28760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070925" y="26141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一致性与复制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96868" y="3138011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 + 数据回传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96868" y="3399949"/>
              <a:ext cx="1147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树同步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70925" y="3268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896868" y="3661886"/>
              <a:ext cx="1227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随机分配 token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896868" y="392382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数据范围等分 + 随机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70925" y="37923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负载分配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96868" y="41857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96868" y="44476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读时解决冲突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70925" y="43162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读写流程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173" y="3072289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</a:t>
              </a:r>
            </a:p>
          </p:txBody>
        </p:sp>
      </p:grpSp>
      <p:grpSp>
        <p:nvGrpSpPr>
          <p:cNvPr id="67" name="c1-callout-2"/>
          <p:cNvGrpSpPr/>
          <p:nvPr/>
        </p:nvGrpSpPr>
        <p:grpSpPr>
          <a:xfrm>
            <a:off x="533400" y="4857750"/>
            <a:ext cx="5193982" cy="1378268"/>
            <a:chOff x="533400" y="4857750"/>
            <a:chExt cx="5193982" cy="1378268"/>
          </a:xfrm>
        </p:grpSpPr>
        <p:sp>
          <p:nvSpPr>
            <p:cNvPr id="61" name="Rectangle 61"/>
            <p:cNvSpPr/>
            <p:nvPr/>
          </p:nvSpPr>
          <p:spPr>
            <a:xfrm>
              <a:off x="533400" y="4857750"/>
              <a:ext cx="5193982" cy="1378268"/>
            </a:xfrm>
            <a:prstGeom prst="roundRect">
              <a:avLst>
                <a:gd name="adj" fmla="val 82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447348"/>
              <a:ext cx="200026" cy="200026"/>
              <a:chOff x="738188" y="5447348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4473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5514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55473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028248"/>
              <a:ext cx="43014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课程大纲里“分布式存储系统”共 27 学时，Dynamo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是其中的键值对存储；主要依据是 SOSP 2007 论文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Dynamo：Amazon’s Highly Available Key-value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032182" y="1524000"/>
            <a:ext cx="5626418" cy="2919412"/>
            <a:chOff x="6032182" y="1524000"/>
            <a:chExt cx="5626418" cy="2919412"/>
          </a:xfrm>
        </p:grpSpPr>
        <p:sp>
          <p:nvSpPr>
            <p:cNvPr id="68" name="Rectangle 68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3366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本部分的技术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39126" y="1659731"/>
              <a:ext cx="16632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第3部分里学过的基础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41708" y="1982152"/>
              <a:ext cx="223170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40006" y="22217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一致性哈希、虚拟节点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90763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第四节：哈希环与顺时针查找、取模的迁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移问题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32182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40006" y="2783681"/>
              <a:ext cx="1941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preference list 多副本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90763" y="2783681"/>
              <a:ext cx="3086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第五节：单层多副本；这里没有 Master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41708" y="3107055"/>
              <a:ext cx="22317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40006" y="3232309"/>
              <a:ext cx="768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机制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90763" y="323230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第六节：任意两个多数派必有交集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032182" y="3541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032182" y="354615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40006" y="3680936"/>
              <a:ext cx="1695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宽松计数、Merkle 树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90763" y="368093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第五节：心跳检测故障、故障后恢复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32182" y="39900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140006" y="41305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键值数据模型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390763" y="413051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第一、二节：哈希引擎与键值模型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032182" y="1524000"/>
              <a:ext cx="5626418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8278178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7" name="c2-card-2"/>
          <p:cNvGrpSpPr/>
          <p:nvPr/>
        </p:nvGrpSpPr>
        <p:grpSpPr>
          <a:xfrm>
            <a:off x="6032182" y="4633912"/>
            <a:ext cx="5626418" cy="1602105"/>
            <a:chOff x="6032182" y="4633912"/>
            <a:chExt cx="5626418" cy="1602105"/>
          </a:xfrm>
        </p:grpSpPr>
        <p:sp>
          <p:nvSpPr>
            <p:cNvPr id="92" name="Rectangle 92"/>
            <p:cNvSpPr/>
            <p:nvPr/>
          </p:nvSpPr>
          <p:spPr>
            <a:xfrm>
              <a:off x="6032182" y="4633912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041708" y="476726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79832" y="484346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66091" y="48791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272212" y="5220652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第3部分讲每项技术本身，本部分看 Amazon 怎样把它们拼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成一个系统。读每一节时问两个问题：它解决了哪个设计问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题（第12页的表），为此放弃了什么。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44269" cy="3351847"/>
            <a:chOff x="667512" y="1835468"/>
            <a:chExt cx="474426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116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简介与架构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3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Amazon 需要一个“永远可写”的键值存储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747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内容提要：Dynamo简介与架构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94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CAP：一致性、可用性、分区容错性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系统假设与服务质量 SLA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设计思路与六个设计问题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背景：故障是常态，拓扑又复杂，三个目标很难同时满足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1956435"/>
            <a:chOff x="533400" y="1524000"/>
            <a:chExt cx="4977765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两个现实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大规模分布式系统的难处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故障频繁出现，可能造成数据损坏，甚至服务中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断（第四节有 Google 的故障统计）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底层拓扑复杂：异构的机器、复杂的网络，常常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还跨多个数据中心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670935"/>
            <a:ext cx="4977765" cy="782955"/>
            <a:chOff x="533400" y="3670935"/>
            <a:chExt cx="4977765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367093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3962402"/>
              <a:ext cx="200023" cy="200023"/>
              <a:chOff x="738188" y="3962402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9624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4029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381952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问题：在这样的系统里，怎样权衡容错性、一致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性和可用性？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644390"/>
            <a:ext cx="4977765" cy="1602105"/>
            <a:chOff x="533400" y="4644390"/>
            <a:chExt cx="4977765" cy="1602105"/>
          </a:xfrm>
        </p:grpSpPr>
        <p:sp>
          <p:nvSpPr>
            <p:cNvPr id="25" name="Rectangle 25"/>
            <p:cNvSpPr/>
            <p:nvPr/>
          </p:nvSpPr>
          <p:spPr>
            <a:xfrm>
              <a:off x="533400" y="464439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77774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85394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6160" y="488965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5231130"/>
              <a:ext cx="4311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原课件第6页用吉林大学高性能计算中心作例子：一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个中心里就有三张网络、四类节点。完整的拓扑图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在第1部分讲义第26页。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5966460" y="1551622"/>
            <a:ext cx="5562600" cy="2899792"/>
            <a:chOff x="5966460" y="1551622"/>
            <a:chExt cx="5562600" cy="2899792"/>
          </a:xfrm>
        </p:grpSpPr>
        <p:sp>
          <p:nvSpPr>
            <p:cNvPr id="31" name="Freeform 31"/>
            <p:cNvSpPr/>
            <p:nvPr/>
          </p:nvSpPr>
          <p:spPr>
            <a:xfrm>
              <a:off x="7299960" y="1806892"/>
              <a:ext cx="886778" cy="9525"/>
            </a:xfrm>
            <a:custGeom>
              <a:avLst/>
              <a:gdLst/>
              <a:ahLst/>
              <a:cxnLst/>
              <a:rect l="l" t="t" r="r" b="b"/>
              <a:pathLst>
                <a:path w="886778" h="9525">
                  <a:moveTo>
                    <a:pt x="0" y="0"/>
                  </a:moveTo>
                  <a:lnTo>
                    <a:pt x="8867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853488" y="1966912"/>
              <a:ext cx="9525" cy="591503"/>
            </a:xfrm>
            <a:custGeom>
              <a:avLst/>
              <a:gdLst/>
              <a:ahLst/>
              <a:cxnLst/>
              <a:rect l="l" t="t" r="r" b="b"/>
              <a:pathLst>
                <a:path w="9525" h="591503">
                  <a:moveTo>
                    <a:pt x="0" y="0"/>
                  </a:moveTo>
                  <a:lnTo>
                    <a:pt x="0" y="591503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94232" y="3787140"/>
              <a:ext cx="992505" cy="9525"/>
            </a:xfrm>
            <a:custGeom>
              <a:avLst/>
              <a:gdLst/>
              <a:ahLst/>
              <a:cxnLst/>
              <a:rect l="l" t="t" r="r" b="b"/>
              <a:pathLst>
                <a:path w="992505" h="9525">
                  <a:moveTo>
                    <a:pt x="0" y="0"/>
                  </a:moveTo>
                  <a:lnTo>
                    <a:pt x="99250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86738" y="3739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098982" y="3739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261158" y="2626995"/>
              <a:ext cx="1441132" cy="904875"/>
            </a:xfrm>
            <a:custGeom>
              <a:avLst/>
              <a:gdLst/>
              <a:ahLst/>
              <a:cxnLst/>
              <a:rect l="l" t="t" r="r" b="b"/>
              <a:pathLst>
                <a:path w="1441132" h="904875">
                  <a:moveTo>
                    <a:pt x="0" y="904875"/>
                  </a:moveTo>
                  <a:lnTo>
                    <a:pt x="1441132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24988" y="3373755"/>
              <a:ext cx="1056323" cy="268605"/>
            </a:xfrm>
            <a:custGeom>
              <a:avLst/>
              <a:gdLst/>
              <a:ahLst/>
              <a:cxnLst/>
              <a:rect l="l" t="t" r="r" b="b"/>
              <a:pathLst>
                <a:path w="1056323" h="268605">
                  <a:moveTo>
                    <a:pt x="0" y="268605"/>
                  </a:moveTo>
                  <a:lnTo>
                    <a:pt x="1056323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424988" y="3898582"/>
              <a:ext cx="961073" cy="185738"/>
            </a:xfrm>
            <a:custGeom>
              <a:avLst/>
              <a:gdLst/>
              <a:ahLst/>
              <a:cxnLst/>
              <a:rect l="l" t="t" r="r" b="b"/>
              <a:pathLst>
                <a:path w="961073" h="185738">
                  <a:moveTo>
                    <a:pt x="0" y="0"/>
                  </a:moveTo>
                  <a:lnTo>
                    <a:pt x="961073" y="185738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868478" y="1966912"/>
              <a:ext cx="1801178" cy="1564958"/>
            </a:xfrm>
            <a:custGeom>
              <a:avLst/>
              <a:gdLst/>
              <a:ahLst/>
              <a:cxnLst/>
              <a:rect l="l" t="t" r="r" b="b"/>
              <a:pathLst>
                <a:path w="1801178" h="1564958">
                  <a:moveTo>
                    <a:pt x="1801178" y="0"/>
                  </a:moveTo>
                  <a:lnTo>
                    <a:pt x="0" y="156495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66460" y="1551622"/>
              <a:ext cx="13335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86738" y="1646872"/>
              <a:ext cx="13335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77238" y="255841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281988" y="3531870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51232" y="3531870"/>
              <a:ext cx="104775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481310" y="230695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481310" y="3092768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86060" y="3940492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44950" y="1637348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校园网 / 互联网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5570" y="18278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2760" y="173259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以太网交换机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85848" y="264414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9981" y="361759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05076" y="38080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45924" y="36175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计算节点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35378" y="380809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很多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28376" y="23926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管理节点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15178" y="3178492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GPU 节点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68949" y="4026218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Lustre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66832" y="42167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并行文件系统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628698" y="2169795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650643" y="22045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存储网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544752" y="2656522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6698" y="26912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管理网</a:t>
              </a:r>
            </a:p>
          </p:txBody>
        </p:sp>
      </p:grpSp>
      <p:grpSp>
        <p:nvGrpSpPr>
          <p:cNvPr id="66" name="c2-text-2"/>
          <p:cNvGrpSpPr/>
          <p:nvPr/>
        </p:nvGrpSpPr>
        <p:grpSpPr>
          <a:xfrm>
            <a:off x="5809488" y="4879181"/>
            <a:ext cx="5596890" cy="752284"/>
            <a:chOff x="5809488" y="4879181"/>
            <a:chExt cx="5596890" cy="752284"/>
          </a:xfrm>
        </p:grpSpPr>
        <p:sp>
          <p:nvSpPr>
            <p:cNvPr id="65" name="TextBox 65"/>
            <p:cNvSpPr txBox="1"/>
            <p:nvPr/>
          </p:nvSpPr>
          <p:spPr>
            <a:xfrm>
              <a:off x="5809488" y="4879181"/>
              <a:ext cx="5596890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管理网（千兆以太网）、存储网（10 Gbps）、计算网（InfiniBand）三张网并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存。任何一台交换机出问题，都会把系统切成互相连不上的几块，这就是 CAP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里说的“分区”。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0900" cy="909257"/>
            <a:chOff x="520446" y="342900"/>
            <a:chExt cx="729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CAP 的三个特性：一致性、可用性、分区容错性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972502" y="1569720"/>
            <a:ext cx="4099560" cy="2926080"/>
            <a:chOff x="972502" y="1569720"/>
            <a:chExt cx="4099560" cy="2926080"/>
          </a:xfrm>
        </p:grpSpPr>
        <p:sp>
          <p:nvSpPr>
            <p:cNvPr id="7" name="Freeform 7"/>
            <p:cNvSpPr/>
            <p:nvPr/>
          </p:nvSpPr>
          <p:spPr>
            <a:xfrm>
              <a:off x="1719262" y="2392680"/>
              <a:ext cx="1013460" cy="1280160"/>
            </a:xfrm>
            <a:custGeom>
              <a:avLst/>
              <a:gdLst/>
              <a:ahLst/>
              <a:cxnLst/>
              <a:rect l="l" t="t" r="r" b="b"/>
              <a:pathLst>
                <a:path w="1013460" h="1280160">
                  <a:moveTo>
                    <a:pt x="1013460" y="0"/>
                  </a:moveTo>
                  <a:lnTo>
                    <a:pt x="0" y="1280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11842" y="2392680"/>
              <a:ext cx="1013460" cy="1280160"/>
            </a:xfrm>
            <a:custGeom>
              <a:avLst/>
              <a:gdLst/>
              <a:ahLst/>
              <a:cxnLst/>
              <a:rect l="l" t="t" r="r" b="b"/>
              <a:pathLst>
                <a:path w="1013460" h="1280160">
                  <a:moveTo>
                    <a:pt x="0" y="0"/>
                  </a:moveTo>
                  <a:lnTo>
                    <a:pt x="1013460" y="1280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96428" y="4038600"/>
              <a:ext cx="2251710" cy="9525"/>
            </a:xfrm>
            <a:custGeom>
              <a:avLst/>
              <a:gdLst/>
              <a:ahLst/>
              <a:cxnLst/>
              <a:rect l="l" t="t" r="r" b="b"/>
              <a:pathLst>
                <a:path w="2251710" h="9525">
                  <a:moveTo>
                    <a:pt x="0" y="0"/>
                  </a:moveTo>
                  <a:lnTo>
                    <a:pt x="2251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565082" y="1569720"/>
              <a:ext cx="914400" cy="914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72502" y="3581400"/>
              <a:ext cx="914400" cy="914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157662" y="3581400"/>
              <a:ext cx="914400" cy="9144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66900" y="18573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73871" y="20478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4320" y="38690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1290" y="40595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9480" y="38690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5678" y="40595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分区容错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19312" y="293941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44372" y="2974181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711892" y="293941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36952" y="2974181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15602" y="3945255"/>
              <a:ext cx="2133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40662" y="3980021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AP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857750"/>
            <a:ext cx="4977765" cy="1446848"/>
            <a:chOff x="533400" y="4857750"/>
            <a:chExt cx="4977765" cy="1446848"/>
          </a:xfrm>
        </p:grpSpPr>
        <p:sp>
          <p:nvSpPr>
            <p:cNvPr id="26" name="Rectangle 26"/>
            <p:cNvSpPr/>
            <p:nvPr/>
          </p:nvSpPr>
          <p:spPr>
            <a:xfrm>
              <a:off x="533400" y="4857750"/>
              <a:ext cx="4977765" cy="1446848"/>
            </a:xfrm>
            <a:prstGeom prst="roundRect">
              <a:avLst>
                <a:gd name="adj" fmla="val 79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480685"/>
              <a:ext cx="200026" cy="200025"/>
              <a:chOff x="738188" y="5480685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4806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5251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6362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33781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三条边就是三种组合，每种只能同时保住两个顶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815965" y="1524000"/>
            <a:ext cx="5842635" cy="2702242"/>
            <a:chOff x="5815965" y="1524000"/>
            <a:chExt cx="5842635" cy="2702242"/>
          </a:xfrm>
        </p:grpSpPr>
        <p:sp>
          <p:nvSpPr>
            <p:cNvPr id="33" name="Rectangle 33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29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3756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原课件的说法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74397" y="1659731"/>
              <a:ext cx="17642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严格含义（CAP 定理）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23788" y="2335054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 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5348" y="222170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并发操作的结果与串行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操作结果一致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1310" y="2108359"/>
              <a:ext cx="24513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所有节点在同一时刻看到同样的最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新数据；读一定读到最后一次写成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功的值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28698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287464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123724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 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5348" y="31237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读写延迟小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63012" y="2884170"/>
              <a:ext cx="278606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61310" y="3010376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每个发给未故障节点的请求，都能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在有限时间内得到非错误的响应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5461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23788" y="3685699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分区容错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 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75348" y="368569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部分节点故障时仍能持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续服务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61310" y="3685699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网络断成几块、节点之间的消息丢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失时，系统仍能继续运行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524000"/>
              <a:ext cx="5842635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6276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48725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2"/>
          <p:cNvGrpSpPr/>
          <p:nvPr/>
        </p:nvGrpSpPr>
        <p:grpSpPr>
          <a:xfrm>
            <a:off x="5815965" y="4416742"/>
            <a:ext cx="5842635" cy="1887855"/>
            <a:chOff x="5815965" y="4416742"/>
            <a:chExt cx="5842635" cy="1887855"/>
          </a:xfrm>
        </p:grpSpPr>
        <p:sp>
          <p:nvSpPr>
            <p:cNvPr id="54" name="Rectangle 54"/>
            <p:cNvSpPr/>
            <p:nvPr/>
          </p:nvSpPr>
          <p:spPr>
            <a:xfrm>
              <a:off x="5815965" y="4416742"/>
              <a:ext cx="584263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5490" y="4550092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63615" y="46262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53823" y="46620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55995" y="5003482"/>
              <a:ext cx="5082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原课件第7页把可用性写成“读写延迟小”。CAP 里的可用性说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的是请求一定有回应，不是快不快；延迟属于 SLA（第9页）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的范畴。原图英文标注 Minimum downtime、quick access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 data 同时说了两件事。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3411" cy="909257"/>
            <a:chOff x="520446" y="342900"/>
            <a:chExt cx="88534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34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CAP 的三种组合：出现网络分区时，只能在 C 和 A 之间选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28066" y="1524000"/>
            <a:ext cx="5847969" cy="2538032"/>
            <a:chOff x="528066" y="1524000"/>
            <a:chExt cx="5847969" cy="2538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110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034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31018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原课件举的系统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216468"/>
              <a:ext cx="1424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 一致性 + 容错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84870" y="2216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70744" y="2096452"/>
              <a:ext cx="234543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NoSQL（HBase、Bigtable）、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8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53665"/>
              <a:ext cx="584263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663190"/>
              <a:ext cx="1733550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2781300"/>
              <a:ext cx="1424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 可用性 + 容错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4870" y="27813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70744" y="2781300"/>
              <a:ext cx="1366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DynamoDB、GFS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270" y="3226118"/>
              <a:ext cx="133002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 一致性 + 可用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4870" y="33461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分区容错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70744" y="3346132"/>
              <a:ext cx="1888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MySQL、Oracle、NFS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258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81238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67112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066" y="3856673"/>
              <a:ext cx="4630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原课件第8页，出自 Big data storage technologies：a survey（2017）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195762"/>
            <a:ext cx="5842635" cy="1985010"/>
            <a:chOff x="533400" y="4195762"/>
            <a:chExt cx="5842635" cy="1985010"/>
          </a:xfrm>
        </p:grpSpPr>
        <p:sp>
          <p:nvSpPr>
            <p:cNvPr id="29" name="Rectangle 29"/>
            <p:cNvSpPr/>
            <p:nvPr/>
          </p:nvSpPr>
          <p:spPr>
            <a:xfrm>
              <a:off x="533400" y="4195762"/>
              <a:ext cx="5842635" cy="1985010"/>
            </a:xfrm>
            <a:prstGeom prst="roundRect">
              <a:avLst>
                <a:gd name="adj" fmla="val 67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329112"/>
              <a:ext cx="47625" cy="17183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3881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5345" y="44224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48015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4745355"/>
              <a:ext cx="5258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 只在不会分区的场合成立，比如单机数据库或单台 NFS 服务器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51034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5047298"/>
              <a:ext cx="50457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的归类各家说法不一：它放宽了多副本的一致性（偏 AP），但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 Master 不可用时整个系统停摆，也常被归为 CP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6680835" y="1533525"/>
            <a:ext cx="4670679" cy="2107407"/>
            <a:chOff x="6680835" y="1533525"/>
            <a:chExt cx="4670679" cy="2107407"/>
          </a:xfrm>
        </p:grpSpPr>
        <p:sp>
          <p:nvSpPr>
            <p:cNvPr id="38" name="Rectangle 38"/>
            <p:cNvSpPr/>
            <p:nvPr/>
          </p:nvSpPr>
          <p:spPr>
            <a:xfrm>
              <a:off x="6814185" y="167640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0835" y="2327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445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0835" y="31213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4459" y="3195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3077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分区一定会发生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4220" y="1833086"/>
              <a:ext cx="42146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跨机架、跨数据中心的网络迟早会断，分布式系统必须容忍分区，P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几乎是必选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3077" y="23593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分区时二选一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4220" y="2627471"/>
              <a:ext cx="42572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两边都继续接受写，数据会不一致（选 A）；少数派一侧拒绝服务，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数据才一致（选 C）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3077" y="31537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没有分区时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4220" y="3420904"/>
              <a:ext cx="3806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和 A 可以同时满足；CAP 限制的只是出故障的那段时间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680835" y="3810000"/>
            <a:ext cx="4977765" cy="729615"/>
            <a:chOff x="6680835" y="3810000"/>
            <a:chExt cx="4977765" cy="729615"/>
          </a:xfrm>
        </p:grpSpPr>
        <p:sp>
          <p:nvSpPr>
            <p:cNvPr id="52" name="Rectangle 52"/>
            <p:cNvSpPr/>
            <p:nvPr/>
          </p:nvSpPr>
          <p:spPr>
            <a:xfrm>
              <a:off x="6680835" y="381000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885623" y="4074797"/>
              <a:ext cx="200023" cy="200023"/>
              <a:chOff x="6885623" y="407479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885623" y="40747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18973" y="4141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188327" y="3955732"/>
              <a:ext cx="38627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 选 AP：宁可让同一个 key 暂时出现多个版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本，也要让“加入购物车”这类写操作永远成功。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680835" y="4714875"/>
            <a:ext cx="4977765" cy="1466850"/>
            <a:chOff x="6680835" y="4714875"/>
            <a:chExt cx="4977765" cy="1466850"/>
          </a:xfrm>
        </p:grpSpPr>
        <p:sp>
          <p:nvSpPr>
            <p:cNvPr id="58" name="Rectangle 58"/>
            <p:cNvSpPr/>
            <p:nvPr/>
          </p:nvSpPr>
          <p:spPr>
            <a:xfrm>
              <a:off x="6680835" y="4714875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0360" y="484822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11340" y="490728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94779" y="49415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名字辨析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04482" y="5263515"/>
              <a:ext cx="43771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原课件表中写的 DynamoDB 是 AWS 在 2012 年推出的云数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据库服务，借鉴了 Dynamo 的设计，但不是同一个系统。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本部分讲的是 2007 年论文里的 Dynamo。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0703" cy="909257"/>
            <a:chOff x="520446" y="342900"/>
            <a:chExt cx="8960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0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的需求与系统假设：简单的键值读写，放宽一致性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982152"/>
            <a:chOff x="533400" y="1524000"/>
            <a:chExt cx="5410200" cy="1982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2152"/>
            </a:xfrm>
            <a:prstGeom prst="roundRect">
              <a:avLst>
                <a:gd name="adj" fmla="val 67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54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需要一个这样的分布式存储系统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可扩展：按需加机器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439829"/>
              <a:ext cx="293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 key-value 形式的数据和操作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28194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275986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高可用性，为此牺牲一致性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1394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079909"/>
              <a:ext cx="42211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保证服务质量 SLA（Service Level Agreement）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90938"/>
            <a:ext cx="5410200" cy="2564130"/>
            <a:chOff x="533400" y="3690938"/>
            <a:chExt cx="5410200" cy="2564130"/>
          </a:xfrm>
        </p:grpSpPr>
        <p:sp>
          <p:nvSpPr>
            <p:cNvPr id="21" name="Rectangle 21"/>
            <p:cNvSpPr/>
            <p:nvPr/>
          </p:nvSpPr>
          <p:spPr>
            <a:xfrm>
              <a:off x="533400" y="3690938"/>
              <a:ext cx="5410200" cy="2564130"/>
            </a:xfrm>
            <a:prstGeom prst="roundRect">
              <a:avLst>
                <a:gd name="adj" fmla="val 52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24288"/>
              <a:ext cx="47625" cy="22974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89477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040" y="39304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为什么不用关系数据库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268629"/>
              <a:ext cx="47033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应用中发现，符合 ACID 的分布式存储系统往往可用性较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差：为了保证一致，写操作要锁住多个副本，一个副本不通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就只能拒绝写。Dynamo 放宽一致性要求来提高可用性，也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不提供隔离性保证，只支持单个 key 的更新。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3789998"/>
            <a:chOff x="6248400" y="1524000"/>
            <a:chExt cx="5410200" cy="378999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723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233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2604" y="22550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查询模型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72400" y="2002155"/>
              <a:ext cx="3876675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67079" y="2128361"/>
              <a:ext cx="349504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简单读写：对单个 key-value 增、删、改、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7108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715578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2604" y="28503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7079" y="2850356"/>
              <a:ext cx="24797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每条数据有唯一的 ID（Key）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1794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2604" y="34456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67079" y="3318986"/>
              <a:ext cx="340487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大多数服务只要按主键查，不需要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关系模型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9023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907155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2604" y="40419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对象大小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67079" y="4041934"/>
              <a:ext cx="1847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一般较小，小于 1 MB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2604" y="45105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72400" y="4385310"/>
              <a:ext cx="3876675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67079" y="4510564"/>
              <a:ext cx="30146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放宽 ACID 的一致性要求，换高可用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8396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844415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2604" y="49801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7079" y="498014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运行环境没有入侵危险，不考虑授权、认证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5811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2"/>
          <p:cNvGrpSpPr/>
          <p:nvPr/>
        </p:nvGrpSpPr>
        <p:grpSpPr>
          <a:xfrm>
            <a:off x="6248400" y="5498782"/>
            <a:ext cx="5410200" cy="756285"/>
            <a:chOff x="6248400" y="5498782"/>
            <a:chExt cx="5410200" cy="756285"/>
          </a:xfrm>
        </p:grpSpPr>
        <p:sp>
          <p:nvSpPr>
            <p:cNvPr id="55" name="Rectangle 55"/>
            <p:cNvSpPr/>
            <p:nvPr/>
          </p:nvSpPr>
          <p:spPr>
            <a:xfrm>
              <a:off x="6248400" y="549878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776913"/>
              <a:ext cx="200026" cy="200026"/>
              <a:chOff x="6453188" y="5776913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7769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53200" y="5843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42088" y="58769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5646896"/>
              <a:ext cx="41983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最后一条成立，是因为 Dynamo 只在 Amazon 内部使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用，所有节点和客户端都是可信的。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4024" cy="909257"/>
            <a:chOff x="520446" y="342900"/>
            <a:chExt cx="86640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40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服务质量 SLA：在给定负载下，按百分位数承诺响应时间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662112"/>
            <a:chOff x="533400" y="1524000"/>
            <a:chExt cx="5410200" cy="1662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562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266" y="176355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SLA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8644" y="1767364"/>
              <a:ext cx="35591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服务质量（Service Level Agreement）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服务按照约定的时间限制来提供服务：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39829"/>
              <a:ext cx="3550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bounded delivery time，响应时间有上界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194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598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基于截止时间的工作流程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370898"/>
            <a:ext cx="5410200" cy="2787968"/>
            <a:chOff x="533400" y="3370898"/>
            <a:chExt cx="5410200" cy="2787968"/>
          </a:xfrm>
        </p:grpSpPr>
        <p:sp>
          <p:nvSpPr>
            <p:cNvPr id="18" name="Rectangle 18"/>
            <p:cNvSpPr/>
            <p:nvPr/>
          </p:nvSpPr>
          <p:spPr>
            <a:xfrm>
              <a:off x="533400" y="3370898"/>
              <a:ext cx="5410200" cy="2787968"/>
            </a:xfrm>
            <a:prstGeom prst="roundRect">
              <a:avLst>
                <a:gd name="adj" fmla="val 4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04248"/>
              <a:ext cx="47625" cy="2521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357473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8792" y="36104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原课件的例子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3948589"/>
              <a:ext cx="46217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服务保证在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99.9%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的情况下 300 ms 内响应，前提是负载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不超过每秒 500 个请求。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6248400" y="1533525"/>
            <a:ext cx="5172456" cy="2632139"/>
            <a:chOff x="6248400" y="1533525"/>
            <a:chExt cx="5172456" cy="2632139"/>
          </a:xfrm>
        </p:grpSpPr>
        <p:sp>
          <p:nvSpPr>
            <p:cNvPr id="24" name="Rectangle 24"/>
            <p:cNvSpPr/>
            <p:nvPr/>
          </p:nvSpPr>
          <p:spPr>
            <a:xfrm>
              <a:off x="6381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261" y="15663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每秒允许多少个超时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404" y="1846898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× (1 − 99.9%) = 0.5 个，平均两秒才能有一个超过 300 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261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一天的请求量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404" y="2467927"/>
              <a:ext cx="3436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按峰值连续跑满：500 × 86400 = 4320 万个请求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261" y="280844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一天允许的超时数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404" y="3088957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4320 万 × 0.1% = 43200 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26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404" y="3709988"/>
              <a:ext cx="47594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 同时约束三个量：百分位（99.9%）、时限（300 ms）和负载上限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（500 次/秒）；负载超过上限，承诺就不再有效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4341495"/>
            <a:ext cx="5410200" cy="1817370"/>
            <a:chOff x="6248400" y="4341495"/>
            <a:chExt cx="5410200" cy="1817370"/>
          </a:xfrm>
        </p:grpSpPr>
        <p:sp>
          <p:nvSpPr>
            <p:cNvPr id="42" name="Rectangle 42"/>
            <p:cNvSpPr/>
            <p:nvPr/>
          </p:nvSpPr>
          <p:spPr>
            <a:xfrm>
              <a:off x="6248400" y="4341495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47484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0335" y="4545330"/>
              <a:ext cx="216217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0830" y="4581049"/>
              <a:ext cx="20811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为什么看 99.9% 而不看平均值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3096" y="4918234"/>
              <a:ext cx="47033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平均值会掩盖少数很慢的请求，而这些请求往往来自数据最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多的老客户。Amazon 一个页面要调用上百个服务，只要有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一个慢，整页就慢。存储层要让 99.9% 的读写都快，所以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处处避免“等最慢的那台机器”。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4141" cy="909257"/>
            <a:chOff x="520446" y="342900"/>
            <a:chExt cx="82741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41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面向服务质量的架构：Dynamo 藏在层层服务的最底下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936308" y="1584008"/>
            <a:ext cx="5376862" cy="4092892"/>
            <a:chOff x="936308" y="1584008"/>
            <a:chExt cx="5376862" cy="4092892"/>
          </a:xfrm>
        </p:grpSpPr>
        <p:sp>
          <p:nvSpPr>
            <p:cNvPr id="7" name="Freeform 7"/>
            <p:cNvSpPr/>
            <p:nvPr/>
          </p:nvSpPr>
          <p:spPr>
            <a:xfrm>
              <a:off x="3563302" y="1884045"/>
              <a:ext cx="9525" cy="189547"/>
            </a:xfrm>
            <a:custGeom>
              <a:avLst/>
              <a:gdLst/>
              <a:ahLst/>
              <a:cxnLst/>
              <a:rect l="l" t="t" r="r" b="b"/>
              <a:pathLst>
                <a:path w="9525" h="189547">
                  <a:moveTo>
                    <a:pt x="0" y="0"/>
                  </a:moveTo>
                  <a:lnTo>
                    <a:pt x="0" y="1895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15678" y="20735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63302" y="2646998"/>
              <a:ext cx="9525" cy="188595"/>
            </a:xfrm>
            <a:custGeom>
              <a:avLst/>
              <a:gdLst/>
              <a:ahLst/>
              <a:cxnLst/>
              <a:rect l="l" t="t" r="r" b="b"/>
              <a:pathLst>
                <a:path w="9525" h="188595">
                  <a:moveTo>
                    <a:pt x="0" y="0"/>
                  </a:moveTo>
                  <a:lnTo>
                    <a:pt x="0" y="188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15678" y="28355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63302" y="3230880"/>
              <a:ext cx="9525" cy="188595"/>
            </a:xfrm>
            <a:custGeom>
              <a:avLst/>
              <a:gdLst/>
              <a:ahLst/>
              <a:cxnLst/>
              <a:rect l="l" t="t" r="r" b="b"/>
              <a:pathLst>
                <a:path w="9525" h="188595">
                  <a:moveTo>
                    <a:pt x="0" y="0"/>
                  </a:moveTo>
                  <a:lnTo>
                    <a:pt x="0" y="188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15678" y="34194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63302" y="3993832"/>
              <a:ext cx="9525" cy="188595"/>
            </a:xfrm>
            <a:custGeom>
              <a:avLst/>
              <a:gdLst/>
              <a:ahLst/>
              <a:cxnLst/>
              <a:rect l="l" t="t" r="r" b="b"/>
              <a:pathLst>
                <a:path w="9525" h="188595">
                  <a:moveTo>
                    <a:pt x="0" y="0"/>
                  </a:moveTo>
                  <a:lnTo>
                    <a:pt x="0" y="1885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15678" y="4182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58302" y="4577715"/>
              <a:ext cx="1531620" cy="616267"/>
            </a:xfrm>
            <a:custGeom>
              <a:avLst/>
              <a:gdLst/>
              <a:ahLst/>
              <a:cxnLst/>
              <a:rect l="l" t="t" r="r" b="b"/>
              <a:pathLst>
                <a:path w="1531620" h="616267">
                  <a:moveTo>
                    <a:pt x="1531620" y="0"/>
                  </a:moveTo>
                  <a:lnTo>
                    <a:pt x="0" y="6162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69720" y="514921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80010"/>
                  </a:moveTo>
                  <a:lnTo>
                    <a:pt x="70485" y="0"/>
                  </a:lnTo>
                  <a:lnTo>
                    <a:pt x="106680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52762" y="4577715"/>
              <a:ext cx="382905" cy="449580"/>
            </a:xfrm>
            <a:custGeom>
              <a:avLst/>
              <a:gdLst/>
              <a:ahLst/>
              <a:cxnLst/>
              <a:rect l="l" t="t" r="r" b="b"/>
              <a:pathLst>
                <a:path w="382905" h="449580">
                  <a:moveTo>
                    <a:pt x="382905" y="0"/>
                  </a:moveTo>
                  <a:lnTo>
                    <a:pt x="0" y="4495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91802" y="4995862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0" y="103822"/>
                  </a:moveTo>
                  <a:lnTo>
                    <a:pt x="24765" y="0"/>
                  </a:lnTo>
                  <a:lnTo>
                    <a:pt x="97155" y="619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690938" y="4577715"/>
              <a:ext cx="470535" cy="553403"/>
            </a:xfrm>
            <a:custGeom>
              <a:avLst/>
              <a:gdLst/>
              <a:ahLst/>
              <a:cxnLst/>
              <a:rect l="l" t="t" r="r" b="b"/>
              <a:pathLst>
                <a:path w="470535" h="553403">
                  <a:moveTo>
                    <a:pt x="0" y="0"/>
                  </a:moveTo>
                  <a:lnTo>
                    <a:pt x="470535" y="5534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25278" y="5099685"/>
              <a:ext cx="98107" cy="103822"/>
            </a:xfrm>
            <a:custGeom>
              <a:avLst/>
              <a:gdLst/>
              <a:ahLst/>
              <a:cxnLst/>
              <a:rect l="l" t="t" r="r" b="b"/>
              <a:pathLst>
                <a:path w="98107" h="103822">
                  <a:moveTo>
                    <a:pt x="98107" y="103822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936682" y="4577715"/>
              <a:ext cx="1467802" cy="590550"/>
            </a:xfrm>
            <a:custGeom>
              <a:avLst/>
              <a:gdLst/>
              <a:ahLst/>
              <a:cxnLst/>
              <a:rect l="l" t="t" r="r" b="b"/>
              <a:pathLst>
                <a:path w="1467802" h="590550">
                  <a:moveTo>
                    <a:pt x="0" y="0"/>
                  </a:moveTo>
                  <a:lnTo>
                    <a:pt x="1467802" y="5905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86388" y="512349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0010"/>
                  </a:moveTo>
                  <a:lnTo>
                    <a:pt x="0" y="88583"/>
                  </a:lnTo>
                  <a:lnTo>
                    <a:pt x="3524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91790" y="1584008"/>
              <a:ext cx="1343025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12720" y="2168842"/>
              <a:ext cx="1701165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99348" y="2930842"/>
              <a:ext cx="23279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67952" y="3514725"/>
              <a:ext cx="179070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399348" y="4277678"/>
              <a:ext cx="23279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36308" y="5029200"/>
              <a:ext cx="647700" cy="6477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451735" y="5029200"/>
              <a:ext cx="647700" cy="6477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58578" y="5203508"/>
              <a:ext cx="98488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17820" y="5203508"/>
              <a:ext cx="8953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80652" y="1664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客户端请求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05264" y="22483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页面渲染组件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82697" y="2427446"/>
              <a:ext cx="1161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 Rendering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13676" y="3011329"/>
              <a:ext cx="1899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请求路由 Request Routing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56039" y="35952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聚合服务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65026" y="3773329"/>
              <a:ext cx="1596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Aggregator Services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13676" y="4357211"/>
              <a:ext cx="1899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请求路由 Request Routing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781" y="5194459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668" y="5372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90208" y="5194459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19096" y="5372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51165" y="5283041"/>
              <a:ext cx="799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S3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58231" y="52830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其他存储</a:t>
              </a:r>
            </a:p>
          </p:txBody>
        </p:sp>
      </p:grpSp>
      <p:grpSp>
        <p:nvGrpSpPr>
          <p:cNvPr id="47" name="c1-text-2"/>
          <p:cNvGrpSpPr/>
          <p:nvPr/>
        </p:nvGrpSpPr>
        <p:grpSpPr>
          <a:xfrm>
            <a:off x="527304" y="5932170"/>
            <a:ext cx="5734812" cy="470916"/>
            <a:chOff x="527304" y="5932170"/>
            <a:chExt cx="5734812" cy="470916"/>
          </a:xfrm>
        </p:grpSpPr>
        <p:sp>
          <p:nvSpPr>
            <p:cNvPr id="46" name="TextBox 46"/>
            <p:cNvSpPr txBox="1"/>
            <p:nvPr/>
          </p:nvSpPr>
          <p:spPr>
            <a:xfrm>
              <a:off x="527304" y="5932170"/>
              <a:ext cx="57348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据原课件第14页（Dynamo 论文图 1）重画；原图每层都是一组服务器，每个 Dynamo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实例是一个由很多节点组成的环。</a:t>
              </a:r>
            </a:p>
          </p:txBody>
        </p:sp>
      </p:grpSp>
      <p:grpSp>
        <p:nvGrpSpPr>
          <p:cNvPr id="59" name="c2-kv-1"/>
          <p:cNvGrpSpPr/>
          <p:nvPr/>
        </p:nvGrpSpPr>
        <p:grpSpPr>
          <a:xfrm>
            <a:off x="6890766" y="1547336"/>
            <a:ext cx="4767834" cy="2062734"/>
            <a:chOff x="6890766" y="1547336"/>
            <a:chExt cx="4767834" cy="2062734"/>
          </a:xfrm>
        </p:grpSpPr>
        <p:sp>
          <p:nvSpPr>
            <p:cNvPr id="48" name="TextBox 48"/>
            <p:cNvSpPr txBox="1"/>
            <p:nvPr/>
          </p:nvSpPr>
          <p:spPr>
            <a:xfrm>
              <a:off x="6890766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页面渲染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8986" y="154733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生成网页；一个页面要调用上百个服务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98005" y="18507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0766" y="19635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聚合服务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88986" y="1963579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把多个下层服务的结果拼起来，如购物车页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98005" y="25346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90766" y="26474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请求路由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8986" y="264747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把请求分给合适的服务实例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29508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90766" y="30637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存储层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88986" y="3063716"/>
              <a:ext cx="345897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每个服务用自己的 Dynamo 实例，也可以用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 或其他数据库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898005" y="3734752"/>
            <a:ext cx="4760595" cy="2621280"/>
            <a:chOff x="6898005" y="3734752"/>
            <a:chExt cx="4760595" cy="2621280"/>
          </a:xfrm>
        </p:grpSpPr>
        <p:sp>
          <p:nvSpPr>
            <p:cNvPr id="60" name="Rectangle 60"/>
            <p:cNvSpPr/>
            <p:nvPr/>
          </p:nvSpPr>
          <p:spPr>
            <a:xfrm>
              <a:off x="6898005" y="3734752"/>
              <a:ext cx="4760595" cy="2621280"/>
            </a:xfrm>
            <a:prstGeom prst="roundRect">
              <a:avLst>
                <a:gd name="adj" fmla="val 508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96125" y="39328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79564" y="39671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03745" y="435387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60336" y="429339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服务之间是层层调用，最底层存储慢一点，上面每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一层都跟着慢，所以 SLA 要一层层往下分解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03745" y="49425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60336" y="4882991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每个服务按自己的需要选存储，Dynamo 只是其中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一种，不同实例的 N、W、R 可以配得不同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设计思路：牺牲强一致性，写的时候不拦，读的时候再解决冲突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436495"/>
            <a:chOff x="533400" y="1524000"/>
            <a:chExt cx="5410200" cy="2436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36495"/>
            </a:xfrm>
            <a:prstGeom prst="roundRect">
              <a:avLst>
                <a:gd name="adj" fmla="val 5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1086802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528" y="1750695"/>
              <a:ext cx="940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设计思路（1）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169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Sacrifice strong consistency for availability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4378" y="24488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0397" y="23926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牺牲强一致性，换取可用性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27517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2695575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较弱的一致性会导致数据冲突：同一个 key 同时存在几个版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4378" y="33108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0397" y="32546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冲突在读的时候解决，不在写的时候解决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4378" y="36137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397" y="3557588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支持数据随时可写（always writeable）</a:t>
              </a:r>
            </a:p>
          </p:txBody>
        </p:sp>
      </p:grpSp>
      <p:grpSp>
        <p:nvGrpSpPr>
          <p:cNvPr id="39" name="c1-compare-2"/>
          <p:cNvGrpSpPr/>
          <p:nvPr/>
        </p:nvGrpSpPr>
        <p:grpSpPr>
          <a:xfrm>
            <a:off x="533400" y="4135755"/>
            <a:ext cx="5410200" cy="1774508"/>
            <a:chOff x="533400" y="4135755"/>
            <a:chExt cx="5410200" cy="1774508"/>
          </a:xfrm>
        </p:grpSpPr>
        <p:sp>
          <p:nvSpPr>
            <p:cNvPr id="20" name="Rectangle 20"/>
            <p:cNvSpPr/>
            <p:nvPr/>
          </p:nvSpPr>
          <p:spPr>
            <a:xfrm>
              <a:off x="533400" y="4135755"/>
              <a:ext cx="2466022" cy="1774508"/>
            </a:xfrm>
            <a:prstGeom prst="roundRect">
              <a:avLst>
                <a:gd name="adj" fmla="val 75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947" y="43510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写时解决冲突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4378" y="47263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397" y="467010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写之前协调各副本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4378" y="50292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397" y="497300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副本不通就拒绝写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4378" y="53320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0397" y="52758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读简单，写可能失败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77578" y="4135755"/>
              <a:ext cx="2466022" cy="1774508"/>
            </a:xfrm>
            <a:prstGeom prst="roundRect">
              <a:avLst>
                <a:gd name="adj" fmla="val 7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87102" y="4269105"/>
              <a:ext cx="47625" cy="15078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01224" y="4351020"/>
              <a:ext cx="1042416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读时解决冲突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（Dynamo）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716655" y="49577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72674" y="490156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写总能成功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716655" y="52606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2674" y="52044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读到多个版本时再合并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716655" y="55635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2674" y="55073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读的逻辑变复杂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047048" y="4832032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01619" y="49620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2907982"/>
            <a:chOff x="6248400" y="1524000"/>
            <a:chExt cx="5410200" cy="2907982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3969" y="1651635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设计思路（2）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8502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7270" y="20964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支持按需扩展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6547" y="209645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一次加一台机器，对系统和运维影响小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4088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41363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7270" y="2541270"/>
              <a:ext cx="1436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对称架构（P2P）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6547" y="254127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系统中所有节点担负相同的责任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852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7270" y="31061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去中心化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86547" y="2986088"/>
              <a:ext cx="30998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没有主节点，避免中心化带来的瓶颈和单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点故障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5375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542348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7270" y="36709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异构性和动态性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86547" y="36709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性能不同的机器可以随时加入、退出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9824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7270" y="4114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随时可写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86547" y="41148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满足大规模并发写的需求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1524000"/>
              <a:ext cx="5410200" cy="29079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082915" y="1524000"/>
              <a:ext cx="9525" cy="29079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6248400" y="4607242"/>
            <a:ext cx="5410200" cy="1303020"/>
            <a:chOff x="6248400" y="4607242"/>
            <a:chExt cx="5410200" cy="1303020"/>
          </a:xfrm>
        </p:grpSpPr>
        <p:sp>
          <p:nvSpPr>
            <p:cNvPr id="62" name="Rectangle 62"/>
            <p:cNvSpPr/>
            <p:nvPr/>
          </p:nvSpPr>
          <p:spPr>
            <a:xfrm>
              <a:off x="6248400" y="4607242"/>
              <a:ext cx="5410200" cy="1303020"/>
            </a:xfrm>
            <a:prstGeom prst="roundRect">
              <a:avLst>
                <a:gd name="adj" fmla="val 87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5158740"/>
              <a:ext cx="200026" cy="200025"/>
              <a:chOff x="6453188" y="5158740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51587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52031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53143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892" y="5039678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购物车是典型场景：顾客点“加入购物车”时绝不能报错，哪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怕偶尔要把两个版本的购物车合并。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22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509" y="407194"/>
              <a:ext cx="289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Dynamo 简介与架构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设计问题及解决方案：六个问题对应六项技术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27685" y="1524000"/>
            <a:ext cx="11130915" cy="4085749"/>
            <a:chOff x="527685" y="1524000"/>
            <a:chExt cx="11130915" cy="40857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607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53522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采取的技术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7342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带来的好处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96918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545080" y="2002155"/>
              <a:ext cx="398621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39758" y="212836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改进的一致性哈希（虚拟节点）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45021" y="21283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可以一台一台地扩容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7398" y="2128361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第15–19页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62212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04" y="27236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复制协议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39758" y="2596991"/>
              <a:ext cx="356717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复制写协议（Replicated-write protocol，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参数可调）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5021" y="272367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读写性能与一致性按需调节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398" y="2723674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第25–28页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04" y="33189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数据冲突处理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545080" y="3193732"/>
              <a:ext cx="398621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39758" y="33189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向量时钟，读时合并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45021" y="33189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写操作永远可以成功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27398" y="3318986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第29–33页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490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5379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4" y="391525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临时故障处理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39758" y="3788569"/>
              <a:ext cx="347700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数据回传机制（Hinted handoff），配合宽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45021" y="391525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部分副本不可用时仍能写，数据不丢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27398" y="3915251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第36–37页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04" y="45105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永久故障后的恢复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9758" y="4510564"/>
              <a:ext cx="12729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哈希树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45021" y="45105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后台同步副本，传输量小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7398" y="4510564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第38–41页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8396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84441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04" y="49801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成员资格及错误检测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39758" y="4980146"/>
              <a:ext cx="33950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Gossip 的成员资格和错误检测协议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45021" y="49801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保持对称，不需要中心注册表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27398" y="4980146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第20–23页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53079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536055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318432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7685" y="5389721"/>
              <a:ext cx="4924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前两列据原课件第17、64页；“带来的好处”一列据 Dynamo 论文表 1 补充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5750242"/>
            <a:ext cx="11125200" cy="612458"/>
            <a:chOff x="533400" y="5750242"/>
            <a:chExt cx="11125200" cy="612458"/>
          </a:xfrm>
        </p:grpSpPr>
        <p:sp>
          <p:nvSpPr>
            <p:cNvPr id="52" name="Rectangle 52"/>
            <p:cNvSpPr/>
            <p:nvPr/>
          </p:nvSpPr>
          <p:spPr>
            <a:xfrm>
              <a:off x="533400" y="5750242"/>
              <a:ext cx="11125200" cy="612458"/>
            </a:xfrm>
            <a:prstGeom prst="roundRect">
              <a:avLst>
                <a:gd name="adj" fmla="val 1866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56935"/>
              <a:ext cx="200026" cy="200026"/>
              <a:chOff x="738188" y="595693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569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23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0569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5957411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这张表是整份讲义的目录，复习时先能把六行背出来，再逐行回到对应页看细节。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数据放在哪台机器上，机器增减时搬多少数据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内容提要：数据分布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一致性哈希与增删节点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虚拟节点应对异构机器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11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Gossip 协议维护环信息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5908" cy="909257"/>
            <a:chOff x="520446" y="342900"/>
            <a:chExt cx="90459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59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哈希分布：取模映射简单，但服务器数 N 一变就大范围迁移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哈希分布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哈希：根据数据的某种特性（通常是 key）计算哈希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值，建立哈希值与位置的映射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再建立哈希值和节点之间的映射，最简单的是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hash(key) mod N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651885"/>
            <a:ext cx="5410200" cy="1316355"/>
            <a:chOff x="533400" y="3651885"/>
            <a:chExt cx="5410200" cy="1316355"/>
          </a:xfrm>
        </p:grpSpPr>
        <p:sp>
          <p:nvSpPr>
            <p:cNvPr id="16" name="Rectangle 16"/>
            <p:cNvSpPr/>
            <p:nvPr/>
          </p:nvSpPr>
          <p:spPr>
            <a:xfrm>
              <a:off x="533400" y="365188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852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238625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服务器上线、下线时 N 发生变化，几乎所有 key 的映射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都变，引起大范围数据迁移。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158740"/>
            <a:ext cx="5410200" cy="878205"/>
            <a:chOff x="533400" y="5158740"/>
            <a:chExt cx="5410200" cy="878205"/>
          </a:xfrm>
        </p:grpSpPr>
        <p:sp>
          <p:nvSpPr>
            <p:cNvPr id="22" name="Rectangle 22"/>
            <p:cNvSpPr/>
            <p:nvPr/>
          </p:nvSpPr>
          <p:spPr>
            <a:xfrm>
              <a:off x="533400" y="5158740"/>
              <a:ext cx="5410200" cy="878205"/>
            </a:xfrm>
            <a:prstGeom prst="roundRect">
              <a:avLst>
                <a:gd name="adj" fmla="val 1301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497830"/>
              <a:ext cx="200026" cy="200026"/>
              <a:chOff x="738188" y="549783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4978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4863" y="55756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354955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解决办法：一致性哈希（DHT），节点上下线只影响环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上的邻居。</a:t>
              </a:r>
            </a:p>
          </p:txBody>
        </p:sp>
      </p:grpSp>
      <p:grpSp>
        <p:nvGrpSpPr>
          <p:cNvPr id="91" name="c2-cells-1"/>
          <p:cNvGrpSpPr/>
          <p:nvPr/>
        </p:nvGrpSpPr>
        <p:grpSpPr>
          <a:xfrm>
            <a:off x="6243066" y="1524000"/>
            <a:ext cx="5415534" cy="1600200"/>
            <a:chOff x="6243066" y="1524000"/>
            <a:chExt cx="5415534" cy="1600200"/>
          </a:xfrm>
        </p:grpSpPr>
        <p:sp>
          <p:nvSpPr>
            <p:cNvPr id="28" name="TextBox 28"/>
            <p:cNvSpPr txBox="1"/>
            <p:nvPr/>
          </p:nvSpPr>
          <p:spPr>
            <a:xfrm>
              <a:off x="6243066" y="16678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59892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5853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49478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8121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740015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3865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29600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8243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19185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1782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08770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0836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699308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97951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88892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87536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678478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78073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169015" y="15240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36765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43066" y="2258378"/>
              <a:ext cx="411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mod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59892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5853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249478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121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40015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3865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29600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28243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719185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1782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08770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0836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699308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97951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188892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387536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678478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878073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169015" y="211455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367658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43066" y="2848928"/>
              <a:ext cx="411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mod 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59892" y="27051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5853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249478" y="27051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448121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740015" y="27051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3865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229600" y="2705100"/>
              <a:ext cx="4895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28243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719185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91782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208770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0836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699308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897951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188892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387536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678478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878073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1169015" y="2705100"/>
              <a:ext cx="48958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1367658" y="2848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6248400" y="3314700"/>
            <a:ext cx="5410200" cy="2722245"/>
            <a:chOff x="6248400" y="3314700"/>
            <a:chExt cx="5410200" cy="2722245"/>
          </a:xfrm>
        </p:grpSpPr>
        <p:sp>
          <p:nvSpPr>
            <p:cNvPr id="92" name="Rectangle 92"/>
            <p:cNvSpPr/>
            <p:nvPr/>
          </p:nvSpPr>
          <p:spPr>
            <a:xfrm>
              <a:off x="6248400" y="3314700"/>
              <a:ext cx="5410200" cy="2722245"/>
            </a:xfrm>
            <a:prstGeom prst="roundRect">
              <a:avLst>
                <a:gd name="adj" fmla="val 48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57925" y="3448050"/>
              <a:ext cx="47625" cy="2455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96050" y="35242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591160" y="35599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954202" y="3559492"/>
              <a:ext cx="3531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服务器从 4 台加到 5 台，多少数据要搬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488430" y="392049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mod 4 与 key mod 5 相等，当且仅当 key mod 20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 0–3，占 4/20 = 20%。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88430" y="4541520"/>
              <a:ext cx="451913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80%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的数据要换节点；上面 10 个 key 里有 6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（红色）要搬。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489573" y="5159216"/>
              <a:ext cx="46296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一致性哈希下加第 5 台，平均只搬约 1/5 = 20% 的数据，而且只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从一个邻居那里搬（第16页）。第3部分讲义第38页有同一个例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78521" cy="909257"/>
            <a:chOff x="520446" y="342900"/>
            <a:chExt cx="97785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785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一致性哈希：数据存到顺时针方向第一个 token ≥ 哈希值的节点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483373" y="1571149"/>
            <a:ext cx="3482632" cy="2729865"/>
            <a:chOff x="1483373" y="1571149"/>
            <a:chExt cx="3482632" cy="2729865"/>
          </a:xfrm>
        </p:grpSpPr>
        <p:sp>
          <p:nvSpPr>
            <p:cNvPr id="7" name="Ellipse 7"/>
            <p:cNvSpPr/>
            <p:nvPr/>
          </p:nvSpPr>
          <p:spPr>
            <a:xfrm>
              <a:off x="2047875" y="1758315"/>
              <a:ext cx="2381250" cy="23812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549015" y="189452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311968" y="256698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754755" y="380904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13685" y="388905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050732" y="321659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483168" y="204501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893820" y="2023110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942398" y="3505200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503170" y="3704272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67865" y="2402205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21140" y="28003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25380" y="2967038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~ 99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7286" y="21202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55863" y="36014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16636" y="38014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1331" y="249840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322" y="15711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1283" y="158734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k1=5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39945" y="24083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k2=20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82708" y="39819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k3=42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11120" y="40809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k4=55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83373" y="32551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k5=70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78685" y="1758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k6=90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527685" y="4561999"/>
            <a:ext cx="5160518" cy="441008"/>
            <a:chOff x="527685" y="4561999"/>
            <a:chExt cx="5160518" cy="441008"/>
          </a:xfrm>
        </p:grpSpPr>
        <p:sp>
          <p:nvSpPr>
            <p:cNvPr id="32" name="TextBox 32"/>
            <p:cNvSpPr txBox="1"/>
            <p:nvPr/>
          </p:nvSpPr>
          <p:spPr>
            <a:xfrm>
              <a:off x="527685" y="4561999"/>
              <a:ext cx="516051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例：环取 0–99，节点 token 为 A=12、B=37、C=58、D=81；点是 key 的哈希值，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顺时针增大，0 在正上方。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129212"/>
            <a:ext cx="5410200" cy="1185862"/>
            <a:chOff x="533400" y="5129212"/>
            <a:chExt cx="5410200" cy="1185862"/>
          </a:xfrm>
        </p:grpSpPr>
        <p:sp>
          <p:nvSpPr>
            <p:cNvPr id="34" name="Rectangle 34"/>
            <p:cNvSpPr/>
            <p:nvPr/>
          </p:nvSpPr>
          <p:spPr>
            <a:xfrm>
              <a:off x="533400" y="512921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26256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53159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862" y="53487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332" y="5660708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原课件第22页写“分配到 0-2ⁿ 的环上”。n 位哈希值的取值是 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2ⁿ − 1，2ⁿ 与 0 重合，所以原图顶端标“0/2ⁿ”。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248400" y="1533525"/>
            <a:ext cx="5175631" cy="2099786"/>
            <a:chOff x="6248400" y="1533525"/>
            <a:chExt cx="5175631" cy="2099786"/>
          </a:xfrm>
        </p:grpSpPr>
        <p:sp>
          <p:nvSpPr>
            <p:cNvPr id="40" name="Rectangle 40"/>
            <p:cNvSpPr/>
            <p:nvPr/>
          </p:nvSpPr>
          <p:spPr>
            <a:xfrm>
              <a:off x="6381750" y="167640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23231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9060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0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节点上环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785" y="1833086"/>
              <a:ext cx="4762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给每个节点分配一个 token（随机值或服务器的哈希值），所有 token 构成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逻辑上的哈希环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23555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数据上环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2622709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用同样的哈希函数算 key 的哈希值，放到环上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29384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顺时针查找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3205639"/>
              <a:ext cx="46413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存到顺时针方向第一个 token ≥ 该哈希值的节点；超过最大 token 就绕回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环首</a:t>
              </a:r>
            </a:p>
          </p:txBody>
        </p:sp>
      </p:grpSp>
      <p:grpSp>
        <p:nvGrpSpPr>
          <p:cNvPr id="83" name="c2-table-2"/>
          <p:cNvGrpSpPr/>
          <p:nvPr/>
        </p:nvGrpSpPr>
        <p:grpSpPr>
          <a:xfrm>
            <a:off x="6248400" y="3796665"/>
            <a:ext cx="5410200" cy="2400300"/>
            <a:chOff x="6248400" y="3796665"/>
            <a:chExt cx="5410200" cy="2400300"/>
          </a:xfrm>
        </p:grpSpPr>
        <p:sp>
          <p:nvSpPr>
            <p:cNvPr id="54" name="Rectangle 54"/>
            <p:cNvSpPr/>
            <p:nvPr/>
          </p:nvSpPr>
          <p:spPr>
            <a:xfrm>
              <a:off x="6248400" y="3796665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2486" y="3918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88248" y="39181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哈希值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25837" y="39181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顺时针第一个节点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46188" y="43181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72947" y="43181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51425" y="4318159"/>
              <a:ext cx="56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A（12）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592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45967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46188" y="47182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31484" y="47182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51425" y="4718209"/>
              <a:ext cx="56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B（37）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9920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83728" y="5118259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k3、k4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73171" y="5118259"/>
              <a:ext cx="493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42、55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51425" y="5118259"/>
              <a:ext cx="56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C（58）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5392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53968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46188" y="55183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31484" y="55183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51425" y="5518309"/>
              <a:ext cx="56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D（81）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5792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46188" y="59183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31484" y="59183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420225" y="5806440"/>
              <a:ext cx="222885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76754" y="5918359"/>
              <a:ext cx="915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绕回 A（12）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3796665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824788" y="379666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405938" y="379666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增删节点：只在变动节点和它顺时针的邻居之间搬数据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752316" y="1619726"/>
            <a:ext cx="2972369" cy="3043999"/>
            <a:chOff x="1752316" y="1619726"/>
            <a:chExt cx="2972369" cy="3043999"/>
          </a:xfrm>
        </p:grpSpPr>
        <p:sp>
          <p:nvSpPr>
            <p:cNvPr id="7" name="Ellipse 7"/>
            <p:cNvSpPr/>
            <p:nvPr/>
          </p:nvSpPr>
          <p:spPr>
            <a:xfrm>
              <a:off x="2047875" y="1952625"/>
              <a:ext cx="2381250" cy="23812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549015" y="195262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311968" y="271653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745230" y="4119562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13685" y="421957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050732" y="345567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483168" y="212407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893820" y="2113598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942398" y="3797618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298508" y="4150042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03170" y="4024312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67865" y="2544128"/>
              <a:ext cx="323850" cy="32385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46832" y="306895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E=47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0363" y="220027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48940" y="388429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5050" y="423767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09713" y="41109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74408" y="26317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5878" y="161972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2186" y="25550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17372" y="431720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k3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88623" y="4414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52316" y="345614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82858" y="18264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k6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953000"/>
            <a:ext cx="5410200" cy="1059180"/>
            <a:chOff x="533400" y="4953000"/>
            <a:chExt cx="5410200" cy="1059180"/>
          </a:xfrm>
        </p:grpSpPr>
        <p:sp>
          <p:nvSpPr>
            <p:cNvPr id="32" name="Rectangle 32"/>
            <p:cNvSpPr/>
            <p:nvPr/>
          </p:nvSpPr>
          <p:spPr>
            <a:xfrm>
              <a:off x="533400" y="495300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378886"/>
              <a:ext cx="224134" cy="192560"/>
              <a:chOff x="726129" y="5378886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4492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3788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5270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101590"/>
              <a:ext cx="4463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副作用：E 只分担了 C 一家的负载；若 B 下线，C 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下子负责 (12, 58]，占全环 46%。第17–19页的虚拟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节点就是为了解决这种不均。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6248400" y="1524000"/>
            <a:ext cx="5410200" cy="2692718"/>
            <a:chOff x="6248400" y="1524000"/>
            <a:chExt cx="5410200" cy="2692718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154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184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09164" y="1659731"/>
              <a:ext cx="8355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加入 E=47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68007" y="165973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 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2551" y="2108359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k1、k6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40682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70372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71500" y="210835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16395" y="2556986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k2（20）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40682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70372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07015" y="2430780"/>
              <a:ext cx="124206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71500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6395" y="3005614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k3（42）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40682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64918" y="2880360"/>
              <a:ext cx="152304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70372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71500" y="300561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6395" y="3454241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k4（55）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40682" y="345424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70372" y="345424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71500" y="345424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6395" y="3903821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k5（70）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40682" y="390382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70372" y="390382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971500" y="390382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3525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85063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39272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steps-2"/>
          <p:cNvGrpSpPr/>
          <p:nvPr/>
        </p:nvGrpSpPr>
        <p:grpSpPr>
          <a:xfrm>
            <a:off x="6248400" y="4416742"/>
            <a:ext cx="5292786" cy="1463326"/>
            <a:chOff x="6248400" y="4416742"/>
            <a:chExt cx="5292786" cy="1463326"/>
          </a:xfrm>
        </p:grpSpPr>
        <p:sp>
          <p:nvSpPr>
            <p:cNvPr id="77" name="Rectangle 77"/>
            <p:cNvSpPr/>
            <p:nvPr/>
          </p:nvSpPr>
          <p:spPr>
            <a:xfrm>
              <a:off x="6381750" y="4559618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6248400" y="44167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2024" y="44905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248400" y="53025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2024" y="5376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59880" y="4451032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1023" y="4744879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 token 47 落在 B 和 C 之间，从顺时针后继 C 那里接过 (37,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47]，只有 k3 搬家；环上 100 个位置里只迁 10 个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59880" y="5336858"/>
              <a:ext cx="262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B（在原来四个节点上）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61023" y="5630704"/>
              <a:ext cx="4880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负责的 (12, 37] 整段交给顺时针下一个节点 C，只有 k2 搬家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异构机器带来的问题：平均分配负载会让强机器闲、弱机器堵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670685"/>
            <a:chOff x="533400" y="1524000"/>
            <a:chExt cx="5410200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异构服务器的服务能力不同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一致性哈希按环上的弧长分数据，不看机器强弱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能力差异导致总体性能下降：整个系统的吞吐被最弱的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机器拖住（水桶效应）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85185"/>
            <a:ext cx="5410200" cy="2386965"/>
            <a:chOff x="533400" y="3385185"/>
            <a:chExt cx="5410200" cy="2386965"/>
          </a:xfrm>
        </p:grpSpPr>
        <p:sp>
          <p:nvSpPr>
            <p:cNvPr id="17" name="Rectangle 17"/>
            <p:cNvSpPr/>
            <p:nvPr/>
          </p:nvSpPr>
          <p:spPr>
            <a:xfrm>
              <a:off x="533400" y="3385185"/>
              <a:ext cx="5410200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18535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5947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655" y="36304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改进的一致性哈希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35518" y="3629978"/>
              <a:ext cx="2467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虚拟节点（virtual node）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0538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990975"/>
              <a:ext cx="4669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设置虚拟节点，每个虚拟节点对应环上的一个 token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3891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3262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物理节点按服务能力承载多个虚拟节点：能力强的多放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 token，负责的弧长就多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381750" y="1921192"/>
            <a:ext cx="5143500" cy="870585"/>
            <a:chOff x="6381750" y="1921192"/>
            <a:chExt cx="5143500" cy="870585"/>
          </a:xfrm>
        </p:grpSpPr>
        <p:sp>
          <p:nvSpPr>
            <p:cNvPr id="27" name="Freeform 27"/>
            <p:cNvSpPr/>
            <p:nvPr/>
          </p:nvSpPr>
          <p:spPr>
            <a:xfrm>
              <a:off x="7918132" y="2476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080058" y="2424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22168" y="2476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884092" y="2424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381750" y="2257425"/>
              <a:ext cx="1536382" cy="438150"/>
            </a:xfrm>
            <a:custGeom>
              <a:avLst/>
              <a:gdLst/>
              <a:ahLst/>
              <a:cxnLst/>
              <a:rect l="l" t="t" r="r" b="b"/>
              <a:pathLst>
                <a:path w="1536382" h="438150">
                  <a:moveTo>
                    <a:pt x="133350" y="0"/>
                  </a:moveTo>
                  <a:lnTo>
                    <a:pt x="1536382" y="0"/>
                  </a:lnTo>
                  <a:lnTo>
                    <a:pt x="140303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84832" y="216217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988868" y="225742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1782" y="23874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0943" y="2277904"/>
              <a:ext cx="785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（token）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05478" y="2387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物理节点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70508" y="192119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04798" y="19478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哈希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674542" y="192119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08832" y="19478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3619500"/>
            <a:ext cx="5410200" cy="2152650"/>
            <a:chOff x="6248400" y="3619500"/>
            <a:chExt cx="5410200" cy="2152650"/>
          </a:xfrm>
        </p:grpSpPr>
        <p:sp>
          <p:nvSpPr>
            <p:cNvPr id="42" name="Rectangle 42"/>
            <p:cNvSpPr/>
            <p:nvPr/>
          </p:nvSpPr>
          <p:spPr>
            <a:xfrm>
              <a:off x="6248400" y="3619500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37528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6050" y="38290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1160" y="38647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4202" y="3864292"/>
              <a:ext cx="2531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三台机器能力比为 2 : 1 :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8430" y="4225290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共设 8 个虚拟节点，按能力分成 4、2、2 个。每个虚拟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节点平均负责 1/8 的环，三台机器分别承担约 50%、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25%、25% 的数据，正好与能力成比例。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9573" y="5128736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虚拟节点数越多，每台机器实际负责的弧长越接近这个比例（第42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页有模拟结果）。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83787" cy="909257"/>
            <a:chOff x="520446" y="342900"/>
            <a:chExt cx="91837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837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虚拟节点举例：加入节点 4，从节点 1、3 各接一个虚拟节点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2720234" cy="264033"/>
            <a:chOff x="526542" y="1545907"/>
            <a:chExt cx="27202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加入前：三个节点，9 个虚拟节点</a:t>
              </a:r>
            </a:p>
          </p:txBody>
        </p:sp>
      </p:grpSp>
      <p:grpSp>
        <p:nvGrpSpPr>
          <p:cNvPr id="30" name="c1-cells-2"/>
          <p:cNvGrpSpPr/>
          <p:nvPr/>
        </p:nvGrpSpPr>
        <p:grpSpPr>
          <a:xfrm>
            <a:off x="528066" y="1932622"/>
            <a:ext cx="3290506" cy="1455420"/>
            <a:chOff x="528066" y="1932622"/>
            <a:chExt cx="3290506" cy="1455420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5740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52512" y="193262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7373" y="2057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74532" y="193262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89393" y="2057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96552" y="193262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11413" y="2057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066" y="25946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52512" y="246983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67373" y="25946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74532" y="246983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89393" y="25946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96552" y="246983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11413" y="25946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066" y="313277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52512" y="300704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67373" y="31327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974532" y="300704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89393" y="31327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96552" y="300704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11413" y="31327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32" name="c1-text-3"/>
          <p:cNvGrpSpPr/>
          <p:nvPr/>
        </p:nvGrpSpPr>
        <p:grpSpPr>
          <a:xfrm>
            <a:off x="526542" y="3586162"/>
            <a:ext cx="1505322" cy="264033"/>
            <a:chOff x="526542" y="3586162"/>
            <a:chExt cx="1505322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526542" y="3586162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增加节点 4 之后：</a:t>
              </a:r>
            </a:p>
          </p:txBody>
        </p:sp>
      </p:grpSp>
      <p:grpSp>
        <p:nvGrpSpPr>
          <p:cNvPr id="58" name="c1-cells-4"/>
          <p:cNvGrpSpPr/>
          <p:nvPr/>
        </p:nvGrpSpPr>
        <p:grpSpPr>
          <a:xfrm>
            <a:off x="528066" y="3971925"/>
            <a:ext cx="3290506" cy="1992630"/>
            <a:chOff x="528066" y="3971925"/>
            <a:chExt cx="3290506" cy="1992630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40967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52512" y="397192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67373" y="4096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74532" y="397192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89393" y="4096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896552" y="3971925"/>
              <a:ext cx="92202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463486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52512" y="450913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467373" y="46348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974532" y="450913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89393" y="46348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896552" y="450913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11413" y="46348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066" y="517207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2512" y="504634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67373" y="51720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74532" y="504634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389393" y="51720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896552" y="5046345"/>
              <a:ext cx="92202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8066" y="570928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节点 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52512" y="558355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67373" y="57092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974532" y="5583555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389393" y="57092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896552" y="5583555"/>
              <a:ext cx="92202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60" name="c1-text-5"/>
          <p:cNvGrpSpPr/>
          <p:nvPr/>
        </p:nvGrpSpPr>
        <p:grpSpPr>
          <a:xfrm>
            <a:off x="527685" y="6159341"/>
            <a:ext cx="4587433" cy="220028"/>
            <a:chOff x="527685" y="6159341"/>
            <a:chExt cx="4587433" cy="220028"/>
          </a:xfrm>
        </p:grpSpPr>
        <p:sp>
          <p:nvSpPr>
            <p:cNvPr id="59" name="TextBox 59"/>
            <p:cNvSpPr txBox="1"/>
            <p:nvPr/>
          </p:nvSpPr>
          <p:spPr>
            <a:xfrm>
              <a:off x="527685" y="6159341"/>
              <a:ext cx="4587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据原课件第26、53页重画；格子里的数字是虚拟节点编号，共 9 个。</a:t>
              </a:r>
            </a:p>
          </p:txBody>
        </p:sp>
      </p:grpSp>
      <p:grpSp>
        <p:nvGrpSpPr>
          <p:cNvPr id="78" name="c2-steps-1"/>
          <p:cNvGrpSpPr/>
          <p:nvPr/>
        </p:nvGrpSpPr>
        <p:grpSpPr>
          <a:xfrm>
            <a:off x="6898005" y="1533525"/>
            <a:ext cx="4528439" cy="2695098"/>
            <a:chOff x="6898005" y="1533525"/>
            <a:chExt cx="4528439" cy="2695098"/>
          </a:xfrm>
        </p:grpSpPr>
        <p:sp>
          <p:nvSpPr>
            <p:cNvPr id="61" name="Rectangle 61"/>
            <p:cNvSpPr/>
            <p:nvPr/>
          </p:nvSpPr>
          <p:spPr>
            <a:xfrm>
              <a:off x="7031355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98005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162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898005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9162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898005" y="3501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91629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1024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11390" y="1833086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三台各 3 个虚拟节点，各负责 3/9 ≈ 33%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10247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挑出虚拟节点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11390" y="2419826"/>
              <a:ext cx="3245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 让出 1 号，节点 3 让出 5 号，交给节点 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10247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11390" y="3006566"/>
              <a:ext cx="40083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只搬 2 个虚拟节点的数据，占 2/9 ≈ 22%；理想情况是新节点分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1/4 = 25%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10247" y="35328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11390" y="3800951"/>
              <a:ext cx="41150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2 仍有 3 个（33%），其余三台各 2 个（22%）；9 不能被 4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整除，做不到完全平均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898005" y="4396740"/>
            <a:ext cx="4760595" cy="1937385"/>
            <a:chOff x="6898005" y="4396740"/>
            <a:chExt cx="4760595" cy="1937385"/>
          </a:xfrm>
        </p:grpSpPr>
        <p:sp>
          <p:nvSpPr>
            <p:cNvPr id="79" name="Rectangle 79"/>
            <p:cNvSpPr/>
            <p:nvPr/>
          </p:nvSpPr>
          <p:spPr>
            <a:xfrm>
              <a:off x="6898005" y="439674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907530" y="453009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128510" y="4589145"/>
              <a:ext cx="89725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06519" y="4623435"/>
              <a:ext cx="739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对比第16页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21652" y="4946333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没有虚拟节点时，新节点只从一个邻居那里接数据；这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次从两台机器各接一部分。虚拟节点越多，分摊的机器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就越多。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虚拟节点的本质：把负载映射和资源映射分开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912495" y="1754505"/>
            <a:ext cx="4652010" cy="2331719"/>
            <a:chOff x="912495" y="1754505"/>
            <a:chExt cx="4652010" cy="2331719"/>
          </a:xfrm>
        </p:grpSpPr>
        <p:sp>
          <p:nvSpPr>
            <p:cNvPr id="7" name="Freeform 7"/>
            <p:cNvSpPr/>
            <p:nvPr/>
          </p:nvSpPr>
          <p:spPr>
            <a:xfrm>
              <a:off x="3238500" y="2192655"/>
              <a:ext cx="9525" cy="260033"/>
            </a:xfrm>
            <a:custGeom>
              <a:avLst/>
              <a:gdLst/>
              <a:ahLst/>
              <a:cxnLst/>
              <a:rect l="l" t="t" r="r" b="b"/>
              <a:pathLst>
                <a:path w="9525" h="260033">
                  <a:moveTo>
                    <a:pt x="0" y="0"/>
                  </a:moveTo>
                  <a:lnTo>
                    <a:pt x="0" y="2600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6112" y="24526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3187065"/>
              <a:ext cx="9525" cy="164782"/>
            </a:xfrm>
            <a:custGeom>
              <a:avLst/>
              <a:gdLst/>
              <a:ahLst/>
              <a:cxnLst/>
              <a:rect l="l" t="t" r="r" b="b"/>
              <a:pathLst>
                <a:path w="9525" h="164782">
                  <a:moveTo>
                    <a:pt x="0" y="0"/>
                  </a:moveTo>
                  <a:lnTo>
                    <a:pt x="0" y="1647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6112" y="33518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2495" y="1754505"/>
              <a:ext cx="4652010" cy="438150"/>
            </a:xfrm>
            <a:custGeom>
              <a:avLst/>
              <a:gdLst/>
              <a:ahLst/>
              <a:cxnLst/>
              <a:rect l="l" t="t" r="r" b="b"/>
              <a:pathLst>
                <a:path w="4652010" h="438150">
                  <a:moveTo>
                    <a:pt x="133350" y="0"/>
                  </a:moveTo>
                  <a:lnTo>
                    <a:pt x="4652010" y="0"/>
                  </a:lnTo>
                  <a:lnTo>
                    <a:pt x="451866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47875" y="2557462"/>
              <a:ext cx="2381250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47875" y="3456622"/>
              <a:ext cx="23812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91704" y="188452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key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0775" y="2674144"/>
              <a:ext cx="169545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 v1 … v9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（固定的 token 区间）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9639" y="3573304"/>
              <a:ext cx="10777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物理节点 1 … 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（可增可减）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267075" y="2283142"/>
              <a:ext cx="16954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290316" y="230981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负载映射：哈希，基本不变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67075" y="3229928"/>
              <a:ext cx="19621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90316" y="325659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资源映射：一张表，可随时调整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411028"/>
            <a:ext cx="5410200" cy="1500188"/>
            <a:chOff x="533400" y="4411028"/>
            <a:chExt cx="5410200" cy="1500188"/>
          </a:xfrm>
        </p:grpSpPr>
        <p:sp>
          <p:nvSpPr>
            <p:cNvPr id="22" name="Rectangle 22"/>
            <p:cNvSpPr/>
            <p:nvPr/>
          </p:nvSpPr>
          <p:spPr>
            <a:xfrm>
              <a:off x="533400" y="4411028"/>
              <a:ext cx="5410200" cy="1500188"/>
            </a:xfrm>
            <a:prstGeom prst="roundRect">
              <a:avLst>
                <a:gd name="adj" fmla="val 761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061587"/>
              <a:ext cx="200023" cy="200023"/>
              <a:chOff x="738188" y="5061587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0615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1282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918710"/>
              <a:ext cx="4311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负载细分成很多小块后，机器增减只要改“虚拟节点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物理节点”这张表，数据按整块虚拟节点搬。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2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好处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2376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物理节点失效时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它承担的虚拟节点可以分给其他多台可用物理节点，负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载由大家分摊，不会全压到一个邻居身上。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049905"/>
            <a:ext cx="5410200" cy="1335405"/>
            <a:chOff x="6248400" y="3049905"/>
            <a:chExt cx="5410200" cy="1335405"/>
          </a:xfrm>
        </p:grpSpPr>
        <p:sp>
          <p:nvSpPr>
            <p:cNvPr id="35" name="Rectangle 35"/>
            <p:cNvSpPr/>
            <p:nvPr/>
          </p:nvSpPr>
          <p:spPr>
            <a:xfrm>
              <a:off x="6248400" y="304990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325945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2793" y="32951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好处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3760" y="32946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物理节点上线时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365569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可以从其他多个物理节点各调一定数量的虚拟节点给新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节点，新节点很快分到平均水平的负载。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6248400" y="4575810"/>
            <a:ext cx="5410200" cy="1335405"/>
            <a:chOff x="6248400" y="4575810"/>
            <a:chExt cx="5410200" cy="1335405"/>
          </a:xfrm>
        </p:grpSpPr>
        <p:sp>
          <p:nvSpPr>
            <p:cNvPr id="42" name="Rectangle 42"/>
            <p:cNvSpPr/>
            <p:nvPr/>
          </p:nvSpPr>
          <p:spPr>
            <a:xfrm>
              <a:off x="6248400" y="457581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70916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6050" y="478536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2793" y="48210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好处 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3760" y="482060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适应异构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8430" y="518160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虚拟节点数按机器能力分配，能力强的多承担（第17页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的例子）。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45710" cy="909257"/>
            <a:chOff x="520446" y="342900"/>
            <a:chExt cx="9645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45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每台服务器记多少环信息：Dynamo 选 O(N)，一跳就找到数据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750820"/>
            <a:chOff x="533400" y="1524000"/>
            <a:chExt cx="5842635" cy="2750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822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每台记录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793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487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562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前后邻居，O(1)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92680" y="215074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20452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沿环一跳一跳地问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5842635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508885"/>
              <a:ext cx="1733550" cy="10020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2905125"/>
              <a:ext cx="1562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所有主机，O(N)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295525" y="2508885"/>
              <a:ext cx="1207770" cy="10020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92680" y="290512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0452" y="2638425"/>
              <a:ext cx="22631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一跳直达，追求性能；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用这种（原课件标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56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3792855"/>
              <a:ext cx="1371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 条路由表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2680" y="3792855"/>
              <a:ext cx="861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20452" y="3659505"/>
              <a:ext cx="24250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1、2、4、8 … 倍距离记节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点（如 Chord）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84263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81238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0901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465320"/>
            <a:ext cx="5842635" cy="1602105"/>
            <a:chOff x="533400" y="4465320"/>
            <a:chExt cx="5842635" cy="1602105"/>
          </a:xfrm>
        </p:grpSpPr>
        <p:sp>
          <p:nvSpPr>
            <p:cNvPr id="29" name="Rectangle 29"/>
            <p:cNvSpPr/>
            <p:nvPr/>
          </p:nvSpPr>
          <p:spPr>
            <a:xfrm>
              <a:off x="533400" y="446532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9867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67487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7308" y="47105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052060"/>
              <a:ext cx="5168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台服务器：只记邻居，最坏问 1023 跳；记 log₂1024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条路由，最多约 10 跳；记全部 1024 台只要 1 跳，每台多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 1024 条记录，几十 KB 而已。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680835" y="1524000"/>
            <a:ext cx="4977765" cy="1621155"/>
            <a:chOff x="6680835" y="1524000"/>
            <a:chExt cx="4977765" cy="1621155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284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147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71435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信息更新如何达成一致？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20865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每台都存完整的环信息，节点加入、删除又很普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遍。某台机器上下线后，怎样让其余所有机器都知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道，而且各自的版本最终一样？</a:t>
              </a:r>
            </a:p>
          </p:txBody>
        </p:sp>
      </p:grpSp>
      <p:grpSp>
        <p:nvGrpSpPr>
          <p:cNvPr id="57" name="c2-compare-2"/>
          <p:cNvGrpSpPr/>
          <p:nvPr/>
        </p:nvGrpSpPr>
        <p:grpSpPr>
          <a:xfrm>
            <a:off x="6680835" y="3335655"/>
            <a:ext cx="4977765" cy="1367790"/>
            <a:chOff x="6680835" y="3335655"/>
            <a:chExt cx="4977765" cy="1367790"/>
          </a:xfrm>
        </p:grpSpPr>
        <p:sp>
          <p:nvSpPr>
            <p:cNvPr id="42" name="Rectangle 42"/>
            <p:cNvSpPr/>
            <p:nvPr/>
          </p:nvSpPr>
          <p:spPr>
            <a:xfrm>
              <a:off x="6680835" y="3335655"/>
              <a:ext cx="2241232" cy="1367790"/>
            </a:xfrm>
            <a:prstGeom prst="roundRect">
              <a:avLst>
                <a:gd name="adj" fmla="val 97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82765" y="35699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6100" y="3987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54215" y="39243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设一个注册中心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6100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54215" y="42595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所有节点来查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417368" y="3335655"/>
              <a:ext cx="2241232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26892" y="3469005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57398" y="356997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670732" y="3987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28848" y="3924300"/>
              <a:ext cx="1101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Gossip 协议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670732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28848" y="42595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节点两两交换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969692" y="381952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023032" y="3953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680835" y="4893945"/>
            <a:ext cx="4977765" cy="1173480"/>
            <a:chOff x="6680835" y="4893945"/>
            <a:chExt cx="4977765" cy="1173480"/>
          </a:xfrm>
        </p:grpSpPr>
        <p:sp>
          <p:nvSpPr>
            <p:cNvPr id="58" name="Rectangle 58"/>
            <p:cNvSpPr/>
            <p:nvPr/>
          </p:nvSpPr>
          <p:spPr>
            <a:xfrm>
              <a:off x="6680835" y="4893945"/>
              <a:ext cx="4977765" cy="1173480"/>
            </a:xfrm>
            <a:prstGeom prst="roundRect">
              <a:avLst>
                <a:gd name="adj" fmla="val 97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885623" y="5380673"/>
              <a:ext cx="200026" cy="200026"/>
              <a:chOff x="6885623" y="538067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885623" y="53806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85635" y="54473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74523" y="54806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87565" y="5237798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注册中心会成为单点，违背第11页的去中心化，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Dynamo 用 Gossip。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83534" cy="909257"/>
            <a:chOff x="520446" y="342900"/>
            <a:chExt cx="94835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835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Gossip 协议：每秒随机找一个节点，互相补齐对方较旧的信息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336134" cy="3031236"/>
            <a:chOff x="533400" y="1533525"/>
            <a:chExt cx="5336134" cy="30312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8689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选对象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492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每个节点每隔一段时间（1 s）从其他节点中任选一个，与之交换信息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10651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A 发摘要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4610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告诉 B 自己管理的所有节点的版本（up/down 状态和版本号）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87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B 回应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42836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告诉 A 哪些版本比 A 的旧，并把 B 手里较新的数据发给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87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A 补发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4733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把 B 较旧的那些节点数据发给 B，同时用 B 发来的数据更新本地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8739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 B 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2292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收到 A 发来的数据，更新本地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741545"/>
            <a:ext cx="5626418" cy="1545908"/>
            <a:chOff x="533400" y="4741545"/>
            <a:chExt cx="5626418" cy="1545908"/>
          </a:xfrm>
        </p:grpSpPr>
        <p:sp>
          <p:nvSpPr>
            <p:cNvPr id="29" name="Rectangle 29"/>
            <p:cNvSpPr/>
            <p:nvPr/>
          </p:nvSpPr>
          <p:spPr>
            <a:xfrm>
              <a:off x="533400" y="4741545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7489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5335" y="49453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792" y="49810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交换的是什么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096" y="5318284"/>
              <a:ext cx="490169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原课件说的“环信息”：各成员节点的上线、下线状态和版本，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以及每个节点负责哪些 token。Dynamo 论文里，每个节点把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成员变化的历史持久化保存，Gossip 时互相对账。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868478" y="1641158"/>
            <a:ext cx="4386262" cy="1955483"/>
            <a:chOff x="6868478" y="1641158"/>
            <a:chExt cx="4386262" cy="1955483"/>
          </a:xfrm>
        </p:grpSpPr>
        <p:sp>
          <p:nvSpPr>
            <p:cNvPr id="35" name="Freeform 35"/>
            <p:cNvSpPr/>
            <p:nvPr/>
          </p:nvSpPr>
          <p:spPr>
            <a:xfrm>
              <a:off x="7192328" y="1961198"/>
              <a:ext cx="9525" cy="1635443"/>
            </a:xfrm>
            <a:custGeom>
              <a:avLst/>
              <a:gdLst/>
              <a:ahLst/>
              <a:cxnLst/>
              <a:rect l="l" t="t" r="r" b="b"/>
              <a:pathLst>
                <a:path w="9525" h="1635443">
                  <a:moveTo>
                    <a:pt x="0" y="0"/>
                  </a:moveTo>
                  <a:lnTo>
                    <a:pt x="0" y="163544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10931842" y="1961198"/>
              <a:ext cx="9525" cy="1635443"/>
            </a:xfrm>
            <a:custGeom>
              <a:avLst/>
              <a:gdLst/>
              <a:ahLst/>
              <a:cxnLst/>
              <a:rect l="l" t="t" r="r" b="b"/>
              <a:pathLst>
                <a:path w="9525" h="1635443">
                  <a:moveTo>
                    <a:pt x="0" y="0"/>
                  </a:moveTo>
                  <a:lnTo>
                    <a:pt x="0" y="163544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7230428" y="2263140"/>
              <a:ext cx="3568065" cy="9525"/>
            </a:xfrm>
            <a:custGeom>
              <a:avLst/>
              <a:gdLst/>
              <a:ahLst/>
              <a:cxnLst/>
              <a:rect l="l" t="t" r="r" b="b"/>
              <a:pathLst>
                <a:path w="3568065" h="9525">
                  <a:moveTo>
                    <a:pt x="0" y="0"/>
                  </a:moveTo>
                  <a:lnTo>
                    <a:pt x="35680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798492" y="2215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325678" y="2770822"/>
              <a:ext cx="3568065" cy="9525"/>
            </a:xfrm>
            <a:custGeom>
              <a:avLst/>
              <a:gdLst/>
              <a:ahLst/>
              <a:cxnLst/>
              <a:rect l="l" t="t" r="r" b="b"/>
              <a:pathLst>
                <a:path w="3568065" h="9525">
                  <a:moveTo>
                    <a:pt x="356806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30428" y="27231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230428" y="3279458"/>
              <a:ext cx="3568065" cy="9525"/>
            </a:xfrm>
            <a:custGeom>
              <a:avLst/>
              <a:gdLst/>
              <a:ahLst/>
              <a:cxnLst/>
              <a:rect l="l" t="t" r="r" b="b"/>
              <a:pathLst>
                <a:path w="3568065" h="9525">
                  <a:moveTo>
                    <a:pt x="0" y="0"/>
                  </a:moveTo>
                  <a:lnTo>
                    <a:pt x="35680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98492" y="3231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68478" y="164115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607992" y="1641158"/>
              <a:ext cx="646748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36945" y="17268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76460" y="17268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00135" y="2163128"/>
              <a:ext cx="72294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3975" y="220027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版本摘要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23885" y="2670810"/>
              <a:ext cx="167640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08645" y="27089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你较旧的 + 我较新的数据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66760" y="3179445"/>
              <a:ext cx="138969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60597" y="3216593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 你较旧的那部分数据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4019550"/>
            <a:ext cx="5193982" cy="2268855"/>
            <a:chOff x="6464618" y="4019550"/>
            <a:chExt cx="5193982" cy="2268855"/>
          </a:xfrm>
        </p:grpSpPr>
        <p:sp>
          <p:nvSpPr>
            <p:cNvPr id="54" name="Rectangle 54"/>
            <p:cNvSpPr/>
            <p:nvPr/>
          </p:nvSpPr>
          <p:spPr>
            <a:xfrm>
              <a:off x="6464618" y="4019550"/>
              <a:ext cx="5193982" cy="2268855"/>
            </a:xfrm>
            <a:prstGeom prst="roundRect">
              <a:avLst>
                <a:gd name="adj" fmla="val 5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4152900"/>
              <a:ext cx="47625" cy="2002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06552" y="42233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0009" y="42591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为什么能收敛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99314" y="4596289"/>
              <a:ext cx="444182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每轮已知消息的节点数大约翻倍。模拟 N = 1000 个节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点、每轮每个节点随机找一个交换，平均 9.1 轮（约 9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秒）全体知道；N = 10000 时约 11.5 轮，增长是对数级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96032" cy="909257"/>
            <a:chOff x="520446" y="342900"/>
            <a:chExt cx="9096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96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例题：A、B 两个节点做一次 Gossip 交换，各自更新了什么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7685" y="1524000"/>
            <a:ext cx="6281737" cy="2734152"/>
            <a:chOff x="527685" y="1524000"/>
            <a:chExt cx="6281737" cy="2734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70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4518" y="1663065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交换前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8481" y="1663065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交换前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17632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谁的新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1558" y="16630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交换后（两边相同）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023" y="215074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4392" y="215074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38355" y="215074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57612" y="2021205"/>
              <a:ext cx="94011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61853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12010" y="215074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945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9936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3023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4392" y="26384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355" y="26384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18598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2010" y="263842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982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3023" y="312610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3138" y="3126105"/>
              <a:ext cx="954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 · v2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38355" y="312610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57612" y="2996565"/>
              <a:ext cx="94011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61853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12010" y="312610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699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4747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3023" y="361378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4392" y="361378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73692" y="36137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不知道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757612" y="3484245"/>
              <a:ext cx="94011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61853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2010" y="3613785"/>
              <a:ext cx="69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· v1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276022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9730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61461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74332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0249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4038124"/>
              <a:ext cx="5477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每条记录是“某个成员节点的状态 · 版本号”，版本号大的新；这组数据是补充例子</a:t>
              </a:r>
            </a:p>
          </p:txBody>
        </p:sp>
      </p:grpSp>
      <p:grpSp>
        <p:nvGrpSpPr>
          <p:cNvPr id="53" name="c1-card-2"/>
          <p:cNvGrpSpPr/>
          <p:nvPr/>
        </p:nvGrpSpPr>
        <p:grpSpPr>
          <a:xfrm>
            <a:off x="533400" y="4404360"/>
            <a:ext cx="6276022" cy="1602105"/>
            <a:chOff x="533400" y="4404360"/>
            <a:chExt cx="6276022" cy="1602105"/>
          </a:xfrm>
        </p:grpSpPr>
        <p:sp>
          <p:nvSpPr>
            <p:cNvPr id="48" name="Rectangle 48"/>
            <p:cNvSpPr/>
            <p:nvPr/>
          </p:nvSpPr>
          <p:spPr>
            <a:xfrm>
              <a:off x="533400" y="4404360"/>
              <a:ext cx="627602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925" y="453771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1050" y="4613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1258" y="4649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3430" y="4991100"/>
              <a:ext cx="5520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n3 的例子说明 A 曾以为 n3 下线（v2），后来 n3 恢复，B 先得到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消息（v4）。交换后 A 也知道 n3 已经回来，不会再把 n3 的数据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交给别人代管。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7114222" y="1533525"/>
            <a:ext cx="4375786" cy="3234023"/>
            <a:chOff x="7114222" y="1533525"/>
            <a:chExt cx="4375786" cy="3234023"/>
          </a:xfrm>
        </p:grpSpPr>
        <p:sp>
          <p:nvSpPr>
            <p:cNvPr id="54" name="Rectangle 54"/>
            <p:cNvSpPr/>
            <p:nvPr/>
          </p:nvSpPr>
          <p:spPr>
            <a:xfrm>
              <a:off x="7247572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14222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784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14222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07846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14222" y="41900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07846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25702" y="1567815"/>
              <a:ext cx="70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A → 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6846" y="1861661"/>
              <a:ext cx="3963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摘要 n1:v5、n2:v3、n3:v2、n4:v1（只发版本号，不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发内容）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25702" y="2453640"/>
              <a:ext cx="70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B → 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26846" y="2746534"/>
              <a:ext cx="3963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比较后发现：n3 自己的 v4 更新，发给 A；n1、n4 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己较旧，告诉 A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25702" y="3338512"/>
              <a:ext cx="70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A → 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6846" y="3632359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把 n1:v5、n4:v1 的完整信息发给 B；A 用 n3:v4 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新本地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25702" y="4224338"/>
              <a:ext cx="799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B 更新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26846" y="4518184"/>
              <a:ext cx="3303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写入 n1:v5、n4:v1；n2 两边一样，不传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7114222" y="4945380"/>
            <a:ext cx="4544378" cy="1061085"/>
            <a:chOff x="7114222" y="4945380"/>
            <a:chExt cx="4544378" cy="1061085"/>
          </a:xfrm>
        </p:grpSpPr>
        <p:sp>
          <p:nvSpPr>
            <p:cNvPr id="72" name="Rectangle 72"/>
            <p:cNvSpPr/>
            <p:nvPr/>
          </p:nvSpPr>
          <p:spPr>
            <a:xfrm>
              <a:off x="7114222" y="4945380"/>
              <a:ext cx="4544378" cy="1061085"/>
            </a:xfrm>
            <a:prstGeom prst="roundRect">
              <a:avLst>
                <a:gd name="adj" fmla="val 1077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19010" y="5375910"/>
              <a:ext cx="200026" cy="200026"/>
              <a:chOff x="7319010" y="5375910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19010" y="53759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385685" y="54536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620952" y="5233035"/>
              <a:ext cx="3663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一次交换传的完整记录只有 3 条，比把整张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成员表互相发一遍省得多。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节点上下线：种子节点帮新节点入环，超时无响应视为下线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441537" cy="1626870"/>
            <a:chOff x="533400" y="1535430"/>
            <a:chExt cx="5441537" cy="162687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种子节点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负责节点上线信息的更新：新节点先联系种子节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每个节点定期同种子节点交换信息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5140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每个节点也定期同其他节点交换信息（上一页的 Gossip）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5559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8978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86893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超过一定时间无响应的节点，被认为已经下线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93745"/>
            <a:ext cx="5410200" cy="1887855"/>
            <a:chOff x="533400" y="3293745"/>
            <a:chExt cx="5410200" cy="1887855"/>
          </a:xfrm>
        </p:grpSpPr>
        <p:sp>
          <p:nvSpPr>
            <p:cNvPr id="20" name="Rectangle 20"/>
            <p:cNvSpPr/>
            <p:nvPr/>
          </p:nvSpPr>
          <p:spPr>
            <a:xfrm>
              <a:off x="533400" y="3293745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42709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50329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1705" y="35390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为什么需要种子节点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3880485"/>
              <a:ext cx="4653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如果两个新节点各自只和对方 Gossip，可能形成两个互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相不知道的小环（逻辑分区）。所有节点都认识种子节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点，消息迟早经过种子节点汇合，环信息就能合成一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372100"/>
            <a:ext cx="5410200" cy="782955"/>
            <a:chOff x="533400" y="5372100"/>
            <a:chExt cx="5410200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3721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63565"/>
              <a:ext cx="200026" cy="200026"/>
              <a:chOff x="738188" y="5663565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635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730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7635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5206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论文里，加入、永久退出由管理员显式发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起；短暂不响应只在本地记为不可达，不马上改环。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6248400" y="1524000"/>
            <a:ext cx="5410200" cy="4372452"/>
            <a:chOff x="6248400" y="1524000"/>
            <a:chExt cx="5410200" cy="4372452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6248400" y="1524000"/>
              <a:ext cx="5410200" cy="4057650"/>
            </a:xfrm>
            <a:prstGeom prst="roundRect">
              <a:avLst>
                <a:gd name="adj" fmla="val 3286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6883563" y="5676424"/>
              <a:ext cx="413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Gossip 像村里传消息：两两对照清单，新消息几轮就传遍全村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770016" cy="3351847"/>
            <a:chOff x="667512" y="1835468"/>
            <a:chExt cx="577001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一致性与复制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601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一份数据存 N 份，写 W 份、读 R 份，多个版本怎样分先后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内容提要：一致性与复制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数据副本与 preference list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7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机制与参数配置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向量时钟与冲突解决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175233" cy="896112"/>
            <a:chOff x="521208" y="342900"/>
            <a:chExt cx="11175233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1752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数据副本：key 存在顺时针连续的 N 个节点上，这组节点叫 preference list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1888808" y="1644015"/>
            <a:ext cx="2483167" cy="2270760"/>
            <a:chOff x="1888808" y="1644015"/>
            <a:chExt cx="2483167" cy="2270760"/>
          </a:xfrm>
        </p:grpSpPr>
        <p:sp>
          <p:nvSpPr>
            <p:cNvPr id="7" name="Ellipse 7"/>
            <p:cNvSpPr/>
            <p:nvPr/>
          </p:nvSpPr>
          <p:spPr>
            <a:xfrm>
              <a:off x="2034540" y="17240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536632" y="1913572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958465" y="1718310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3815715" y="2067878"/>
              <a:ext cx="342900" cy="3429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029075" y="2855595"/>
              <a:ext cx="342900" cy="3429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431858" y="3487102"/>
              <a:ext cx="342900" cy="3429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486025" y="3487102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888808" y="2855595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102168" y="2067878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48159" y="2753678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1456" y="18240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38706" y="21736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52066" y="29613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4848" y="35937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09016" y="35937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1798" y="29613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25158" y="21736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1500" y="1644015"/>
              <a:ext cx="392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Key K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4279582"/>
            <a:ext cx="5193982" cy="1525905"/>
            <a:chOff x="533400" y="4279582"/>
            <a:chExt cx="5193982" cy="1525905"/>
          </a:xfrm>
        </p:grpSpPr>
        <p:sp>
          <p:nvSpPr>
            <p:cNvPr id="26" name="Rectangle 26"/>
            <p:cNvSpPr/>
            <p:nvPr/>
          </p:nvSpPr>
          <p:spPr>
            <a:xfrm>
              <a:off x="533400" y="4279582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0167" y="4396740"/>
              <a:ext cx="144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的 preference list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82440" y="4396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78" y="477869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协调者（表中第一个）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139440" y="4670108"/>
              <a:ext cx="257746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24594" y="477869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0377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04253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515969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其余副本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4594" y="5159692"/>
              <a:ext cx="3163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C、D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4187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54069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备选（宽松计数时用）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24594" y="5540692"/>
              <a:ext cx="443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E、F 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279582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25152" y="427958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text-3"/>
          <p:cNvGrpSpPr/>
          <p:nvPr/>
        </p:nvGrpSpPr>
        <p:grpSpPr>
          <a:xfrm>
            <a:off x="528066" y="5987415"/>
            <a:ext cx="4984623" cy="412052"/>
            <a:chOff x="528066" y="5987415"/>
            <a:chExt cx="4984623" cy="412052"/>
          </a:xfrm>
        </p:grpSpPr>
        <p:sp>
          <p:nvSpPr>
            <p:cNvPr id="42" name="TextBox 42"/>
            <p:cNvSpPr txBox="1"/>
            <p:nvPr/>
          </p:nvSpPr>
          <p:spPr>
            <a:xfrm>
              <a:off x="528066" y="5987415"/>
              <a:ext cx="4984623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据原课件第33页（Dynamo 论文图 2）重画：B、C、D 都存 (A, B] 范围内的 key，包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 K。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032182" y="1524000"/>
            <a:ext cx="5626418" cy="1957388"/>
            <a:chOff x="6032182" y="1524000"/>
            <a:chExt cx="5626418" cy="1957388"/>
          </a:xfrm>
        </p:grpSpPr>
        <p:sp>
          <p:nvSpPr>
            <p:cNvPr id="44" name="Rectangle 44"/>
            <p:cNvSpPr/>
            <p:nvPr/>
          </p:nvSpPr>
          <p:spPr>
            <a:xfrm>
              <a:off x="6032182" y="152400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1258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5827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数据副本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60782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16230" y="2045494"/>
              <a:ext cx="2979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为应对容错需求，每份数据存 N 个副本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60782" y="23822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16230" y="2330291"/>
              <a:ext cx="45483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数据所属节点是 J（顺时针第一个节点），则存在 J、J+1、…、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J+N−1 上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260782" y="2910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16230" y="2857976"/>
              <a:ext cx="4747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Preference list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：存某个 key 副本的节点集合；表中第一个节点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通常充当这个 key 的协调者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032182" y="3646170"/>
            <a:ext cx="5626418" cy="1403032"/>
            <a:chOff x="6032182" y="3646170"/>
            <a:chExt cx="5626418" cy="1403032"/>
          </a:xfrm>
        </p:grpSpPr>
        <p:sp>
          <p:nvSpPr>
            <p:cNvPr id="55" name="Rectangle 55"/>
            <p:cNvSpPr/>
            <p:nvPr/>
          </p:nvSpPr>
          <p:spPr>
            <a:xfrm>
              <a:off x="6032182" y="364617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377952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1258" y="38271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2977" y="38600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17233" y="386667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有虚拟节点时要跳过同一台物理机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4780" y="4182904"/>
              <a:ext cx="4922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例：K 之后顺时针的 token 依次是 B#1、A#2、B#2、C#1…。N = 3 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B、A，跳过 B#2（和 B#1 在同一台机器），再取 C，得到 {B, A,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C}。否则两个副本落在同一台机器上，这台一坏就丢两份。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032182" y="5213985"/>
            <a:ext cx="5626418" cy="1143952"/>
            <a:chOff x="6032182" y="5213985"/>
            <a:chExt cx="5626418" cy="1143952"/>
          </a:xfrm>
        </p:grpSpPr>
        <p:sp>
          <p:nvSpPr>
            <p:cNvPr id="62" name="Rectangle 62"/>
            <p:cNvSpPr/>
            <p:nvPr/>
          </p:nvSpPr>
          <p:spPr>
            <a:xfrm>
              <a:off x="6032182" y="5213985"/>
              <a:ext cx="5626418" cy="1143952"/>
            </a:xfrm>
            <a:prstGeom prst="roundRect">
              <a:avLst>
                <a:gd name="adj" fmla="val 99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236970" y="5685473"/>
              <a:ext cx="200026" cy="200025"/>
              <a:chOff x="6236970" y="568547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236970" y="56854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276709" y="57299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311424" y="58410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540056" y="5579269"/>
              <a:ext cx="4621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实际的 preference list 会多列几个节点（超过 N 个），第36页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的宽松计数要用到后面的备选节点。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91684" cy="909257"/>
            <a:chOff x="520446" y="342900"/>
            <a:chExt cx="100916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916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机制：W + R &gt; N 时，读到的副本里至少有一份是最新写入的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14525"/>
            <a:chOff x="533400" y="1524000"/>
            <a:chExt cx="5410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8577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779" y="176355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NWR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6656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要求多副本“随时可写”，不能使用分布式锁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随时写会导致副本不一致，那么怎样保证读有效？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013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40819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个副本：最少 R 个成功读，读才成功；最少 W 个成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功写，写才成功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5"/>
              <p:cNvSpPr txBox="1">
                <a:spLocks noGrp="1"/>
              </p:cNvSpPr>
              <p:nvPr/>
            </p:nvSpPr>
            <p:spPr>
              <a:xfrm>
                <a:off x="533400" y="3624262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∩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3"/>
          <p:cNvGrpSpPr/>
          <p:nvPr/>
        </p:nvGrpSpPr>
        <p:grpSpPr>
          <a:xfrm>
            <a:off x="533400" y="4210050"/>
            <a:ext cx="5410200" cy="2088832"/>
            <a:chOff x="533400" y="4210050"/>
            <a:chExt cx="5410200" cy="2088832"/>
          </a:xfrm>
        </p:grpSpPr>
        <p:sp>
          <p:nvSpPr>
            <p:cNvPr id="19" name="Rectangle 19"/>
            <p:cNvSpPr/>
            <p:nvPr/>
          </p:nvSpPr>
          <p:spPr>
            <a:xfrm>
              <a:off x="533400" y="4210050"/>
              <a:ext cx="5410200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34340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4413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543" y="4449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786789"/>
              <a:ext cx="4730369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原课件第34、59页写“满足 W+R&gt;N，就保证不超过一台机器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故障时，可以读到至少一份可用数据”。W+R&gt;N 保证的是读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集合和写集合必有交集，所以读到的 R 份里一定有最新写入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的那份，与“一台机器故障”无关。能容忍几台故障另看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N−W 和 N−R（下一页）。</a:t>
              </a:r>
            </a:p>
          </p:txBody>
        </p:sp>
      </p:grpSp>
      <p:grpSp>
        <p:nvGrpSpPr>
          <p:cNvPr id="45" name="c2-cells-1"/>
          <p:cNvGrpSpPr/>
          <p:nvPr/>
        </p:nvGrpSpPr>
        <p:grpSpPr>
          <a:xfrm>
            <a:off x="6242685" y="1524000"/>
            <a:ext cx="3368040" cy="1552576"/>
            <a:chOff x="6242685" y="1524000"/>
            <a:chExt cx="3368040" cy="1552576"/>
          </a:xfrm>
        </p:grpSpPr>
        <p:sp>
          <p:nvSpPr>
            <p:cNvPr id="25" name="TextBox 25"/>
            <p:cNvSpPr txBox="1"/>
            <p:nvPr/>
          </p:nvSpPr>
          <p:spPr>
            <a:xfrm>
              <a:off x="6242685" y="1656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副本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44665" y="152400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7959" y="165687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66685" y="152400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29979" y="165687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688705" y="1524000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51999" y="165687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2685" y="2230279"/>
              <a:ext cx="521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写 W=2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44665" y="2096452"/>
              <a:ext cx="92202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24573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766685" y="2096452"/>
              <a:ext cx="92202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46593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688705" y="2096452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68613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2685" y="2802731"/>
              <a:ext cx="488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 R=2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44665" y="266985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66685" y="266985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46593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688705" y="2669858"/>
              <a:ext cx="92202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68613" y="28027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</p:grpSp>
      <p:grpSp>
        <p:nvGrpSpPr>
          <p:cNvPr id="59" name="c2-steps-2"/>
          <p:cNvGrpSpPr/>
          <p:nvPr/>
        </p:nvGrpSpPr>
        <p:grpSpPr>
          <a:xfrm>
            <a:off x="6248400" y="3270885"/>
            <a:ext cx="5164836" cy="2011108"/>
            <a:chOff x="6248400" y="3270885"/>
            <a:chExt cx="5164836" cy="2011108"/>
          </a:xfrm>
        </p:grpSpPr>
        <p:sp>
          <p:nvSpPr>
            <p:cNvPr id="46" name="Rectangle 46"/>
            <p:cNvSpPr/>
            <p:nvPr/>
          </p:nvSpPr>
          <p:spPr>
            <a:xfrm>
              <a:off x="6381750" y="341376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248400" y="32708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33447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48400" y="38919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2024" y="39657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48400" y="45129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2024" y="4586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261" y="330374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404" y="3584257"/>
              <a:ext cx="4277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3、W = 2：写到 S1、S2 就返回成功，S3 暂时还是旧值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0261" y="392477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404" y="4205288"/>
              <a:ext cx="324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2：随便挑两台，比如 S2、S3，一新一旧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261" y="45458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为什么一定读到新值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1404" y="4826317"/>
              <a:ext cx="4751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台里写过 2 台、读 2 台，2 + 2 &gt; 3，读的两台不可能都没被写到；再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用版本号（向量时钟）挑出新的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248400" y="5457825"/>
            <a:ext cx="5410200" cy="841058"/>
            <a:chOff x="6248400" y="5457825"/>
            <a:chExt cx="5410200" cy="841058"/>
          </a:xfrm>
        </p:grpSpPr>
        <p:sp>
          <p:nvSpPr>
            <p:cNvPr id="60" name="Rectangle 60"/>
            <p:cNvSpPr/>
            <p:nvPr/>
          </p:nvSpPr>
          <p:spPr>
            <a:xfrm>
              <a:off x="6248400" y="5457825"/>
              <a:ext cx="5410200" cy="841058"/>
            </a:xfrm>
            <a:prstGeom prst="roundRect">
              <a:avLst>
                <a:gd name="adj" fmla="val 1359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778818"/>
              <a:ext cx="200026" cy="200025"/>
              <a:chOff x="6453188" y="577881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7788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92926" y="58232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27642" y="59343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511" y="5647849"/>
              <a:ext cx="44328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N、W、R 都是对一个 key 的 preference list 说的；不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 key 的 N 个副本落在环上不同的节点。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21339" cy="909257"/>
            <a:chOff x="520446" y="342900"/>
            <a:chExt cx="9921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21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 按需配置：调 W 和 R，在读性能、写性能和一致性之间取舍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7685" y="1524000"/>
            <a:ext cx="6281737" cy="3400902"/>
            <a:chOff x="527685" y="1524000"/>
            <a:chExt cx="6281737" cy="3400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607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343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0036" y="1658779"/>
              <a:ext cx="64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W+R&gt;N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97183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写容忍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634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读容忍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4" y="2255044"/>
              <a:ext cx="1467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N=3, W=3, R=1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20696" y="2128361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重视读效率（同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步复制）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73" y="225504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31354" y="225504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0512" y="225504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108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15578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2850356"/>
              <a:ext cx="1467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N=3, W=1, R=3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0696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重视写性能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47273" y="285035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31354" y="285035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0512" y="285035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794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193732"/>
              <a:ext cx="1864042" cy="95631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3572351"/>
              <a:ext cx="1467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N=3, W=2, R=2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20696" y="3318986"/>
              <a:ext cx="1060450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读写平衡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（Dynamo 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7273" y="357235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31354" y="357235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0512" y="357235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57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60520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4295299"/>
              <a:ext cx="1467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N=3, W=1, R=1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20696" y="429529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可损失一些更新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7273" y="429529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31354" y="429529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0512" y="429529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276022" cy="3105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411730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43362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047298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25502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4704874"/>
              <a:ext cx="4745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写容忍 = N − W，读容忍 = N − R，指有几台副本故障时写或读仍能成功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5066348"/>
            <a:ext cx="6276022" cy="1274445"/>
            <a:chOff x="533400" y="5066348"/>
            <a:chExt cx="6276022" cy="1274445"/>
          </a:xfrm>
        </p:grpSpPr>
        <p:sp>
          <p:nvSpPr>
            <p:cNvPr id="46" name="Rectangle 46"/>
            <p:cNvSpPr/>
            <p:nvPr/>
          </p:nvSpPr>
          <p:spPr>
            <a:xfrm>
              <a:off x="533400" y="5066348"/>
              <a:ext cx="627602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519969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5335" y="527018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2741" y="53059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存在的问题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8096" y="5643086"/>
              <a:ext cx="54697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 W+R&gt;N，多个节点存的数据仍会不一致：各副本收到更新的顺序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可能不同，读到的几个版本要靠版本信息分先后（第29页起）。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7114222" y="1524000"/>
            <a:ext cx="4544378" cy="2497455"/>
            <a:chOff x="7114222" y="1524000"/>
            <a:chExt cx="4544378" cy="2497455"/>
          </a:xfrm>
        </p:grpSpPr>
        <p:sp>
          <p:nvSpPr>
            <p:cNvPr id="52" name="Rectangle 52"/>
            <p:cNvSpPr/>
            <p:nvPr/>
          </p:nvSpPr>
          <p:spPr>
            <a:xfrm>
              <a:off x="7114222" y="1524000"/>
              <a:ext cx="4544378" cy="2497455"/>
            </a:xfrm>
            <a:prstGeom prst="roundRect">
              <a:avLst>
                <a:gd name="adj" fmla="val 53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3748" y="1657350"/>
              <a:ext cx="47625" cy="22307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56158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5031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48918" y="2100739"/>
              <a:ext cx="3771862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每个副本节点可用的概率是 99%，互相独立，N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48918" y="2683669"/>
              <a:ext cx="32620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3：三台都要在，0.99³ = 97.03%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48918" y="3003709"/>
              <a:ext cx="35852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2：至少两台在，1 − 3 × 0.01² × 0.99 −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0.01³ = 99.970%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48918" y="3595211"/>
              <a:ext cx="3797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1：至少一台在，1 − 0.01³ = 99.9999%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7114222" y="4207192"/>
            <a:ext cx="4544378" cy="1018222"/>
            <a:chOff x="7114222" y="4207192"/>
            <a:chExt cx="4544378" cy="1018222"/>
          </a:xfrm>
        </p:grpSpPr>
        <p:sp>
          <p:nvSpPr>
            <p:cNvPr id="61" name="Rectangle 61"/>
            <p:cNvSpPr/>
            <p:nvPr/>
          </p:nvSpPr>
          <p:spPr>
            <a:xfrm>
              <a:off x="7114222" y="4207192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19010" y="4616770"/>
              <a:ext cx="200023" cy="200023"/>
              <a:chOff x="7319010" y="461677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19010" y="46167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452360" y="4683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621334" y="4354354"/>
              <a:ext cx="363029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 从 3 降到 2，写失败的概率从约 3% 降到约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0.03%，这就是 Dynamo 不要求写全部副本的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原因。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7114222" y="5411152"/>
            <a:ext cx="4544378" cy="929640"/>
            <a:chOff x="7114222" y="5411152"/>
            <a:chExt cx="4544378" cy="929640"/>
          </a:xfrm>
        </p:grpSpPr>
        <p:sp>
          <p:nvSpPr>
            <p:cNvPr id="67" name="Rectangle 67"/>
            <p:cNvSpPr/>
            <p:nvPr/>
          </p:nvSpPr>
          <p:spPr>
            <a:xfrm>
              <a:off x="7114222" y="5411152"/>
              <a:ext cx="4544378" cy="929640"/>
            </a:xfrm>
            <a:prstGeom prst="roundRect">
              <a:avLst>
                <a:gd name="adj" fmla="val 122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5775960"/>
              <a:ext cx="200026" cy="200026"/>
              <a:chOff x="7319010" y="577596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19010" y="5775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419023" y="5842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07910" y="5875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1334" y="5644991"/>
              <a:ext cx="34138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5、W = R = 3 时，读写都能容忍 2 台故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障。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5829" cy="909257"/>
            <a:chOff x="520446" y="342900"/>
            <a:chExt cx="79558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58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例题：N = 3 时，哪些 (W, R) 组合保证读到最新值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5956935" cy="2446496"/>
            <a:chOff x="527685" y="1524000"/>
            <a:chExt cx="5956935" cy="244649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5952" y="1663065"/>
              <a:ext cx="508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W＼R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8786" y="1663065"/>
              <a:ext cx="519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=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59936" y="1663065"/>
              <a:ext cx="519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=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37264" y="1663065"/>
              <a:ext cx="519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=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8101" y="2150745"/>
              <a:ext cx="5641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32971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1/3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4121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2/3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02510" y="215074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8101" y="2638425"/>
              <a:ext cx="5641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32971" y="26384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2/3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38538" y="2508885"/>
              <a:ext cx="156210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25182" y="263842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02510" y="263842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822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8101" y="3126105"/>
              <a:ext cx="5641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4032" y="312610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25182" y="312610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2510" y="312610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951220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43100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24250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05400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3550444"/>
              <a:ext cx="55659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✓ 表示 W+R&gt;N，读写集合必相交；分数是写恰好落到 W 台、随机读 R 台时读到新值的概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4116705"/>
            <a:ext cx="5951220" cy="1898332"/>
            <a:chOff x="533400" y="4116705"/>
            <a:chExt cx="5951220" cy="1898332"/>
          </a:xfrm>
        </p:grpSpPr>
        <p:sp>
          <p:nvSpPr>
            <p:cNvPr id="34" name="Rectangle 34"/>
            <p:cNvSpPr/>
            <p:nvPr/>
          </p:nvSpPr>
          <p:spPr>
            <a:xfrm>
              <a:off x="533400" y="4116705"/>
              <a:ext cx="5951220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50055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1050" y="4326255"/>
              <a:ext cx="171259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1420" y="4361974"/>
              <a:ext cx="1651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 W = 1、R = 2 这一格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430" y="4703445"/>
              <a:ext cx="5139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新值只在 1 台上。随机读 2 台共有 C(3,2) = 3 种选法，两台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都没有新值的只有 1 种，所以读到新值的概率是 1 − 1/3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573" y="5606891"/>
              <a:ext cx="3113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一般公式：1 − C(N−W, R) ÷ C(N, R)。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789420" y="1533525"/>
            <a:ext cx="4473321" cy="2764440"/>
            <a:chOff x="6789420" y="1533525"/>
            <a:chExt cx="4473321" cy="2764440"/>
          </a:xfrm>
        </p:grpSpPr>
        <p:sp>
          <p:nvSpPr>
            <p:cNvPr id="41" name="Rectangle 41"/>
            <p:cNvSpPr/>
            <p:nvPr/>
          </p:nvSpPr>
          <p:spPr>
            <a:xfrm>
              <a:off x="692277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89420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304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8942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8304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8942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8304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090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看对角线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2043" y="1861661"/>
              <a:ext cx="4060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+ R = 4 &gt; 3 的格子全是 ✓；W + R ≤ 3 的格子都可能读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到旧值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0900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读多写少的服务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2043" y="2746534"/>
              <a:ext cx="4024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W = 3、R = 1：读最快；但一台副本坏了就写不进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0900" y="310419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写多读少的服务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2043" y="3397091"/>
              <a:ext cx="368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W = 1、R = 3：写最快；但一台坏了就读不全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0090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2043" y="4048601"/>
              <a:ext cx="3525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R = 2：读写各容忍一台故障，还保证相交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789420" y="4475798"/>
            <a:ext cx="4869180" cy="1539240"/>
            <a:chOff x="6789420" y="4475798"/>
            <a:chExt cx="4869180" cy="1539240"/>
          </a:xfrm>
        </p:grpSpPr>
        <p:sp>
          <p:nvSpPr>
            <p:cNvPr id="59" name="Rectangle 59"/>
            <p:cNvSpPr/>
            <p:nvPr/>
          </p:nvSpPr>
          <p:spPr>
            <a:xfrm>
              <a:off x="6789420" y="4475798"/>
              <a:ext cx="4869180" cy="1539240"/>
            </a:xfrm>
            <a:prstGeom prst="roundRect">
              <a:avLst>
                <a:gd name="adj" fmla="val 74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994208" y="5145405"/>
              <a:ext cx="200026" cy="200025"/>
              <a:chOff x="6994208" y="514540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994208" y="51454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033946" y="51898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68662" y="53009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296150" y="5002530"/>
              <a:ext cx="3939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用脚本枚举全部 9 种组合核对过：W + R &gt; N 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“任意写集合和读集合都相交”完全等价。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数据版本：随时可写让同一个 key 出现多个版本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670685"/>
            <a:chOff x="533400" y="1524000"/>
            <a:chExt cx="5410200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弱一致性问题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0720" y="1768792"/>
              <a:ext cx="1661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“随时可写”的代价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put() 可能在更新传到所有节点之前就返回（更新顺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序、完成先后不同）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get() 可能返回同一个数据的多个版本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85185"/>
            <a:ext cx="5410200" cy="2108835"/>
            <a:chOff x="533400" y="3385185"/>
            <a:chExt cx="5410200" cy="2108835"/>
          </a:xfrm>
        </p:grpSpPr>
        <p:sp>
          <p:nvSpPr>
            <p:cNvPr id="17" name="Rectangle 17"/>
            <p:cNvSpPr/>
            <p:nvPr/>
          </p:nvSpPr>
          <p:spPr>
            <a:xfrm>
              <a:off x="533400" y="3385185"/>
              <a:ext cx="5410200" cy="2108835"/>
            </a:xfrm>
            <a:prstGeom prst="roundRect">
              <a:avLst>
                <a:gd name="adj" fmla="val 6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35947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0356" y="36304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挑战与方案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397192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挑战：每个数据对象有多个不同的修改记录版本，要判断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谁新谁旧、哪些是并发产生的。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4592955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方案：给每个版本附一个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向量时钟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248400" y="1533525"/>
            <a:ext cx="5156073" cy="2998756"/>
            <a:chOff x="6248400" y="1533525"/>
            <a:chExt cx="5156073" cy="2998756"/>
          </a:xfrm>
        </p:grpSpPr>
        <p:sp>
          <p:nvSpPr>
            <p:cNvPr id="23" name="Rectangle 23"/>
            <p:cNvSpPr/>
            <p:nvPr/>
          </p:nvSpPr>
          <p:spPr>
            <a:xfrm>
              <a:off x="6381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9880" y="156781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购物车版本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023" y="1861661"/>
              <a:ext cx="3943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顾客加入“书”，写到 S1、S2（W = 2），S3 没收到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9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网络分区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023" y="2512219"/>
              <a:ext cx="3534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与 S2、S3 之间断开，两边都还能接受请求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9880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两边分别写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023" y="3162776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顾客在手机上加“笔”，请求落到 S1；在电脑上加“杯子”，请求落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S2。两次写都成功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880" y="37547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分区恢复后读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023" y="4048601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{书, 笔} 和 {书, 杯子} 两个版本，谁也不包含谁，只能合并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{书, 笔, 杯子}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4711065"/>
            <a:ext cx="5410200" cy="782955"/>
            <a:chOff x="6248400" y="4711065"/>
            <a:chExt cx="5410200" cy="782955"/>
          </a:xfrm>
        </p:grpSpPr>
        <p:sp>
          <p:nvSpPr>
            <p:cNvPr id="41" name="Rectangle 41"/>
            <p:cNvSpPr/>
            <p:nvPr/>
          </p:nvSpPr>
          <p:spPr>
            <a:xfrm>
              <a:off x="6248400" y="47110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5002530"/>
              <a:ext cx="200026" cy="200026"/>
              <a:chOff x="6453188" y="5002530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0025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53200" y="50692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42088" y="51025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130" y="4859655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这是补充的例子，模仿 Dynamo 论文里的购物车。合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并时“加入”不会丢，但被删掉的商品可能又冒出来。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能不能直接丢掉一个版本，要看两次修改有没有因果关系（后一次是否在前一次的基础上改），和哪次写得晚无关。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向量时钟：每个版本附一组（节点，计数器）对，逐项比较分先后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036445"/>
            <a:chOff x="533400" y="1524000"/>
            <a:chExt cx="5410200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向量时钟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解决不能用分布式锁带来的多版本问题：记录各个版本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一个数据的每个版本都附带一个向量时钟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487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向量时钟是若干（node，counter）对：节点，版本号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116580"/>
              <a:ext cx="4336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counter 初始为 0，这个节点每处理一次写就 +1</a:t>
              </a:r>
            </a:p>
          </p:txBody>
        </p:sp>
      </p:grpSp>
      <p:grpSp>
        <p:nvGrpSpPr>
          <p:cNvPr id="33" name="c1-steps-2"/>
          <p:cNvGrpSpPr/>
          <p:nvPr/>
        </p:nvGrpSpPr>
        <p:grpSpPr>
          <a:xfrm>
            <a:off x="533400" y="3760470"/>
            <a:ext cx="5139817" cy="2348199"/>
            <a:chOff x="533400" y="3760470"/>
            <a:chExt cx="5139817" cy="2348199"/>
          </a:xfrm>
        </p:grpSpPr>
        <p:sp>
          <p:nvSpPr>
            <p:cNvPr id="20" name="Rectangle 20"/>
            <p:cNvSpPr/>
            <p:nvPr/>
          </p:nvSpPr>
          <p:spPr>
            <a:xfrm>
              <a:off x="666750" y="390334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33400" y="37604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3834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6462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4720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2968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7024" y="53706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79476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088606"/>
              <a:ext cx="4678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 S 把客户端带来的向量时钟里 S 的计数器 +1，没有这一项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就加上 (S,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468058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497347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返回所有互不包含的版本和各自的向量时钟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880" y="533114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合并后再写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023" y="5624989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客户端带着合并前各版本的时钟写回，新时钟各分量取最大，协调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者再 +1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2685" y="1524000"/>
            <a:ext cx="5415915" cy="3046572"/>
            <a:chOff x="6242685" y="1524000"/>
            <a:chExt cx="5415915" cy="3046572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1267" y="1663065"/>
              <a:ext cx="1315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 V₁ 与 V₂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446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2893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5080" y="2150745"/>
              <a:ext cx="1888331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 V₁ ≤ V₂（至少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 &lt;）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35378" y="2150745"/>
              <a:ext cx="6629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早于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26003" y="2284095"/>
              <a:ext cx="71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V₁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7660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5080" y="2905125"/>
              <a:ext cx="1888331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每一项 V₁ ≥ V₂（至少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 &gt;）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35378" y="2905125"/>
              <a:ext cx="6629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晚于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26003" y="3038475"/>
              <a:ext cx="71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V₂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15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5080" y="37928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有的项大、有的项小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38222" y="3529965"/>
              <a:ext cx="1171575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35378" y="3659505"/>
              <a:ext cx="777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并发（冲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26003" y="3659505"/>
              <a:ext cx="1539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两个都保留，读时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623935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81456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2685" y="435054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缺的项按 0 算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248400" y="4716780"/>
            <a:ext cx="5410200" cy="1380172"/>
            <a:chOff x="6248400" y="4716780"/>
            <a:chExt cx="5410200" cy="1380172"/>
          </a:xfrm>
        </p:grpSpPr>
        <p:sp>
          <p:nvSpPr>
            <p:cNvPr id="56" name="Rectangle 56"/>
            <p:cNvSpPr/>
            <p:nvPr/>
          </p:nvSpPr>
          <p:spPr>
            <a:xfrm>
              <a:off x="6248400" y="4716780"/>
              <a:ext cx="5410200" cy="1380172"/>
            </a:xfrm>
            <a:prstGeom prst="roundRect">
              <a:avLst>
                <a:gd name="adj" fmla="val 828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306380"/>
              <a:ext cx="200023" cy="200023"/>
              <a:chOff x="6453188" y="530638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3063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53730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5163502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原课件第38页：如果第一个分支的向量时钟早于第二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个分支，第一个分支可以被忽略。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56797" cy="909257"/>
            <a:chOff x="520446" y="342900"/>
            <a:chExt cx="95567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567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向量时钟例：Sy、Sz 各写一次产生分叉，Sx 读时合并得到 D5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884872" y="1682115"/>
            <a:ext cx="4491038" cy="3802379"/>
            <a:chOff x="884872" y="1682115"/>
            <a:chExt cx="4491038" cy="3802379"/>
          </a:xfrm>
        </p:grpSpPr>
        <p:sp>
          <p:nvSpPr>
            <p:cNvPr id="7" name="Freeform 7"/>
            <p:cNvSpPr/>
            <p:nvPr/>
          </p:nvSpPr>
          <p:spPr>
            <a:xfrm>
              <a:off x="3129915" y="1942148"/>
              <a:ext cx="9525" cy="674370"/>
            </a:xfrm>
            <a:custGeom>
              <a:avLst/>
              <a:gdLst/>
              <a:ahLst/>
              <a:cxnLst/>
              <a:rect l="l" t="t" r="r" b="b"/>
              <a:pathLst>
                <a:path w="9525" h="674370">
                  <a:moveTo>
                    <a:pt x="0" y="0"/>
                  </a:moveTo>
                  <a:lnTo>
                    <a:pt x="0" y="6743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82290" y="26165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92630" y="2971800"/>
              <a:ext cx="995362" cy="911542"/>
            </a:xfrm>
            <a:custGeom>
              <a:avLst/>
              <a:gdLst/>
              <a:ahLst/>
              <a:cxnLst/>
              <a:rect l="l" t="t" r="r" b="b"/>
              <a:pathLst>
                <a:path w="995362" h="911542">
                  <a:moveTo>
                    <a:pt x="995362" y="0"/>
                  </a:moveTo>
                  <a:lnTo>
                    <a:pt x="0" y="911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22145" y="3848100"/>
              <a:ext cx="101917" cy="99060"/>
            </a:xfrm>
            <a:custGeom>
              <a:avLst/>
              <a:gdLst/>
              <a:ahLst/>
              <a:cxnLst/>
              <a:rect l="l" t="t" r="r" b="b"/>
              <a:pathLst>
                <a:path w="101917" h="99060">
                  <a:moveTo>
                    <a:pt x="0" y="99060"/>
                  </a:moveTo>
                  <a:lnTo>
                    <a:pt x="38100" y="0"/>
                  </a:lnTo>
                  <a:lnTo>
                    <a:pt x="101917" y="704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72790" y="2971800"/>
              <a:ext cx="995362" cy="911542"/>
            </a:xfrm>
            <a:custGeom>
              <a:avLst/>
              <a:gdLst/>
              <a:ahLst/>
              <a:cxnLst/>
              <a:rect l="l" t="t" r="r" b="b"/>
              <a:pathLst>
                <a:path w="995362" h="911542">
                  <a:moveTo>
                    <a:pt x="0" y="0"/>
                  </a:moveTo>
                  <a:lnTo>
                    <a:pt x="995362" y="911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35768" y="384810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048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17382" y="4207192"/>
              <a:ext cx="1005840" cy="951548"/>
            </a:xfrm>
            <a:custGeom>
              <a:avLst/>
              <a:gdLst/>
              <a:ahLst/>
              <a:cxnLst/>
              <a:rect l="l" t="t" r="r" b="b"/>
              <a:pathLst>
                <a:path w="1005840" h="951548">
                  <a:moveTo>
                    <a:pt x="0" y="0"/>
                  </a:moveTo>
                  <a:lnTo>
                    <a:pt x="1005840" y="9515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90838" y="5124450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8580"/>
                  </a:lnTo>
                  <a:lnTo>
                    <a:pt x="657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336608" y="4207192"/>
              <a:ext cx="1006792" cy="951548"/>
            </a:xfrm>
            <a:custGeom>
              <a:avLst/>
              <a:gdLst/>
              <a:ahLst/>
              <a:cxnLst/>
              <a:rect l="l" t="t" r="r" b="b"/>
              <a:pathLst>
                <a:path w="1006792" h="951548">
                  <a:moveTo>
                    <a:pt x="1006792" y="0"/>
                  </a:moveTo>
                  <a:lnTo>
                    <a:pt x="0" y="9515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68028" y="5124450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100012"/>
                  </a:moveTo>
                  <a:lnTo>
                    <a:pt x="36195" y="0"/>
                  </a:lnTo>
                  <a:lnTo>
                    <a:pt x="101917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58402" y="1682115"/>
              <a:ext cx="134302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58402" y="2711768"/>
              <a:ext cx="134302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4872" y="3947160"/>
              <a:ext cx="17907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85210" y="3947160"/>
              <a:ext cx="17907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76425" y="5224462"/>
              <a:ext cx="2506980" cy="260032"/>
            </a:xfrm>
            <a:prstGeom prst="roundRect">
              <a:avLst>
                <a:gd name="adj" fmla="val 3663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08083" y="1751171"/>
              <a:ext cx="843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([Sx,1])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8083" y="2780824"/>
              <a:ext cx="843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([Sx,2])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4192" y="4017169"/>
              <a:ext cx="1392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 ([Sx,2],[Sy,1])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84529" y="4017169"/>
              <a:ext cx="1392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D4 ([Sx,2],[Sz,1])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9681" y="5293519"/>
              <a:ext cx="1940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D5 ([Sx,3],[Sy,1],[Sz,1])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18448" y="2234565"/>
              <a:ext cx="6238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32108" y="2269331"/>
              <a:ext cx="595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Sx 处理写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143125" y="3367088"/>
              <a:ext cx="6238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57738" y="3401854"/>
              <a:ext cx="595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Sy 处理写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93770" y="3367088"/>
              <a:ext cx="62388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07430" y="3401854"/>
              <a:ext cx="595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Sz 处理写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30905" y="4623435"/>
              <a:ext cx="74866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41466" y="4657249"/>
              <a:ext cx="7275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Sx 解决冲突</a:t>
              </a:r>
            </a:p>
          </p:txBody>
        </p:sp>
      </p:grpSp>
      <p:grpSp>
        <p:nvGrpSpPr>
          <p:cNvPr id="37" name="c1-text-2"/>
          <p:cNvGrpSpPr/>
          <p:nvPr/>
        </p:nvGrpSpPr>
        <p:grpSpPr>
          <a:xfrm>
            <a:off x="527304" y="5842635"/>
            <a:ext cx="4789932" cy="470916"/>
            <a:chOff x="527304" y="5842635"/>
            <a:chExt cx="4789932" cy="470916"/>
          </a:xfrm>
        </p:grpSpPr>
        <p:sp>
          <p:nvSpPr>
            <p:cNvPr id="36" name="TextBox 36"/>
            <p:cNvSpPr txBox="1"/>
            <p:nvPr/>
          </p:nvSpPr>
          <p:spPr>
            <a:xfrm>
              <a:off x="527304" y="5842635"/>
              <a:ext cx="47899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据原课件第38页（Dynamo 论文图 3）重画；Sx、Sy、Sz 是三个副本节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032182" y="1524000"/>
            <a:ext cx="5626418" cy="2569845"/>
            <a:chOff x="6032182" y="1524000"/>
            <a:chExt cx="5626418" cy="2569845"/>
          </a:xfrm>
        </p:grpSpPr>
        <p:sp>
          <p:nvSpPr>
            <p:cNvPr id="38" name="Rectangle 38"/>
            <p:cNvSpPr/>
            <p:nvPr/>
          </p:nvSpPr>
          <p:spPr>
            <a:xfrm>
              <a:off x="6032182" y="1524000"/>
              <a:ext cx="5626418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290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82343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逐项看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7248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33529" y="2119789"/>
              <a:ext cx="7994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与 D2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70826" y="2119789"/>
              <a:ext cx="851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Sx：1 &lt;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84511" y="2119789"/>
              <a:ext cx="1061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早，可丢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24460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2182" y="2450782"/>
              <a:ext cx="562641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3529" y="2582704"/>
              <a:ext cx="7994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与 D3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70826" y="2582704"/>
              <a:ext cx="1700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 相等，Sy：0 &lt;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84511" y="2582704"/>
              <a:ext cx="1061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早，可丢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29089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3529" y="3045619"/>
              <a:ext cx="7994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 与 D4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0826" y="3045619"/>
              <a:ext cx="18806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Sy：1 &gt; 0，Sz：0 &lt; 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2690" y="2923222"/>
              <a:ext cx="1556385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184511" y="304561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并发，都保留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3728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32182" y="3377565"/>
              <a:ext cx="5626418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33529" y="3509486"/>
              <a:ext cx="84855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D3、D4 与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70826" y="3636169"/>
              <a:ext cx="21320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D5 每项都 ≥，且 Sx 更大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092690" y="3387090"/>
              <a:ext cx="1556385" cy="6972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84511" y="3636169"/>
              <a:ext cx="679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D5 最新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1524000"/>
              <a:ext cx="5626418" cy="25698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64718" y="152400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078402" y="152400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steps-2"/>
          <p:cNvGrpSpPr/>
          <p:nvPr/>
        </p:nvGrpSpPr>
        <p:grpSpPr>
          <a:xfrm>
            <a:off x="6032182" y="4283392"/>
            <a:ext cx="5279136" cy="2003489"/>
            <a:chOff x="6032182" y="4283392"/>
            <a:chExt cx="5279136" cy="2003489"/>
          </a:xfrm>
        </p:grpSpPr>
        <p:sp>
          <p:nvSpPr>
            <p:cNvPr id="65" name="Rectangle 65"/>
            <p:cNvSpPr/>
            <p:nvPr/>
          </p:nvSpPr>
          <p:spPr>
            <a:xfrm>
              <a:off x="6165532" y="4426268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6032182" y="42833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25806" y="43572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032182" y="49006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25806" y="49744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032182" y="55168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25806" y="5590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4044" y="4316254"/>
              <a:ext cx="1245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D3 和 D4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45186" y="459676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两者并发，客户端（或应用）按业务规则合并数据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44044" y="49334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算新时钟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45186" y="5213985"/>
              <a:ext cx="2949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各项取最大：[Sx,2]、[Sy,1]、[Sz,1]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44044" y="5550694"/>
              <a:ext cx="938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Sx 写回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45186" y="5831205"/>
              <a:ext cx="4866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 的计数器 +1，得到 D5 = ([Sx,3],[Sy,1],[Sz,1])，D5 是读处理冲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突后的状态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练习与补充：向量时钟怎样比较，列表太长时怎样截断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1876425"/>
            <a:chOff x="533400" y="1524000"/>
            <a:chExt cx="6276022" cy="1876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2041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21122" y="165877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18540" y="1658779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2046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2423" y="212836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571" y="2128361"/>
              <a:ext cx="1419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[Sx,3],[Sy,1]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59798" y="2128361"/>
              <a:ext cx="1419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[Sx,2],[Sy,2]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0461" y="21283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6276022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2423" y="259699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9571" y="2596991"/>
              <a:ext cx="1419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[Sx,2],[Sy,1]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59798" y="2596991"/>
              <a:ext cx="21767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[Sx,2],[Sy,1],[Sz,1]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7687" y="2596991"/>
              <a:ext cx="9623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早于 V₂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260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2423" y="30656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9571" y="3065621"/>
              <a:ext cx="1419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[Sx,1],[Sz,2]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59798" y="3065621"/>
              <a:ext cx="1419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[Sx,2],[Sz,1]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0461" y="30656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276022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30605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50832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3535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rd-2"/>
          <p:cNvGrpSpPr/>
          <p:nvPr/>
        </p:nvGrpSpPr>
        <p:grpSpPr>
          <a:xfrm>
            <a:off x="533400" y="3585210"/>
            <a:ext cx="6276022" cy="2670810"/>
            <a:chOff x="533400" y="3585210"/>
            <a:chExt cx="6276022" cy="2670810"/>
          </a:xfrm>
        </p:grpSpPr>
        <p:sp>
          <p:nvSpPr>
            <p:cNvPr id="32" name="Rectangle 32"/>
            <p:cNvSpPr/>
            <p:nvPr/>
          </p:nvSpPr>
          <p:spPr>
            <a:xfrm>
              <a:off x="533400" y="3585210"/>
              <a:ext cx="6276022" cy="2670810"/>
            </a:xfrm>
            <a:prstGeom prst="roundRect">
              <a:avLst>
                <a:gd name="adj" fmla="val 4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718560"/>
              <a:ext cx="47625" cy="24041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37890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7644" y="38247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解题过程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5335" y="415004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3680" y="4190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6228" y="4161949"/>
              <a:ext cx="3409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Sx：3 &gt; 2，Sy：1 &lt; 2，一大一小，并发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5335" y="447008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3680" y="45104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6228" y="4481989"/>
              <a:ext cx="45231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缺 Sz 按 0 算，0 &lt; 1；其余两项相等，V₁ 早于 V₂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75335" y="479012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3680" y="48304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6228" y="4802029"/>
              <a:ext cx="49828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Sx：1 &lt; 2，Sz：2 &gt; 1，并发；第 3 题的两次写分别经过 Sz 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Sx，互不知道对方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2137410"/>
            <a:chOff x="7114222" y="1524000"/>
            <a:chExt cx="4544378" cy="2137410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56158" y="1727835"/>
              <a:ext cx="108489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8407" y="1763554"/>
              <a:ext cx="93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原课件第39页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20368" y="2100739"/>
              <a:ext cx="37655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系统出现故障时，preference list 以外的机器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也可能处理写操作（第36页的宽松计数），向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量时钟里就会出现新的节点项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63777" y="30241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0368" y="2963704"/>
              <a:ext cx="37475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向量时钟可设存储上限（如 10 个），来节约空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7114222" y="3847148"/>
            <a:ext cx="4544378" cy="2408872"/>
            <a:chOff x="7114222" y="3847148"/>
            <a:chExt cx="4544378" cy="2408872"/>
          </a:xfrm>
        </p:grpSpPr>
        <p:sp>
          <p:nvSpPr>
            <p:cNvPr id="55" name="Rectangle 55"/>
            <p:cNvSpPr/>
            <p:nvPr/>
          </p:nvSpPr>
          <p:spPr>
            <a:xfrm>
              <a:off x="7114222" y="3847148"/>
              <a:ext cx="4544378" cy="2408872"/>
            </a:xfrm>
            <a:prstGeom prst="roundRect">
              <a:avLst>
                <a:gd name="adj" fmla="val 5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23748" y="3980498"/>
              <a:ext cx="47625" cy="21421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56158" y="40509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46366" y="40867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48918" y="4423886"/>
              <a:ext cx="390080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原课件写“具有最新时间戳的数据状态会被存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储”，指的是截断规则：每个（节点，计数器）对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还记一个该节点最后一次更新的时间戳，超过上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限时删掉时间戳最旧的那一对，保留最新的。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48918" y="5558314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截断可能让本来有先后的两个版本被误判为并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发，多出一次合并，但不会丢数据。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一致性与复制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冲突解决：写时只记录，读时才处理；只能保证最终一致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5410200" cy="1463040"/>
            <a:chOff x="533400" y="1524000"/>
            <a:chExt cx="5410200" cy="1463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10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8572" y="1663065"/>
              <a:ext cx="1434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 的做法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54555" y="21507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记录向量时钟，不处理冲突，写照样成功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4555" y="26384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读到多个并发版本，需要在这时处理冲突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410200" cy="1463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43112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ompare-2"/>
          <p:cNvGrpSpPr/>
          <p:nvPr/>
        </p:nvGrpSpPr>
        <p:grpSpPr>
          <a:xfrm>
            <a:off x="533400" y="3177540"/>
            <a:ext cx="5410200" cy="2733675"/>
            <a:chOff x="533400" y="3177540"/>
            <a:chExt cx="5410200" cy="2733675"/>
          </a:xfrm>
        </p:grpSpPr>
        <p:sp>
          <p:nvSpPr>
            <p:cNvPr id="19" name="Rectangle 19"/>
            <p:cNvSpPr/>
            <p:nvPr/>
          </p:nvSpPr>
          <p:spPr>
            <a:xfrm>
              <a:off x="533400" y="3177540"/>
              <a:ext cx="2457450" cy="2733675"/>
            </a:xfrm>
            <a:prstGeom prst="roundRect">
              <a:avLst>
                <a:gd name="adj" fmla="val 54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330" y="3411855"/>
              <a:ext cx="2089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最后写入有效（LWW）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38290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376618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按时间戳留最新的一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4450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43872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简单，由系统完成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48665" y="47853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780" y="472249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依赖各节点时钟同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步，时钟有偏差会误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丢更新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86150" y="3177540"/>
              <a:ext cx="2457450" cy="2733675"/>
            </a:xfrm>
            <a:prstGeom prst="roundRect">
              <a:avLst>
                <a:gd name="adj" fmla="val 54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88080" y="34118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用户层解决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701415" y="38290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59530" y="37661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把所有版本交给应用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701415" y="41643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59530" y="410146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应用按业务合并（如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购物车取并集）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701415" y="47853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59530" y="472249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不丢数据，但应用要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多写代码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038475" y="4344352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91815" y="44786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621155"/>
            <a:chOff x="6248400" y="1524000"/>
            <a:chExt cx="5410200" cy="1621155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7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只能保证最终一致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各副本收到更新的顺序可能不一样，某一时刻读到的数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据可能是旧的；但只要一段时间内不再有新写入，所有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副本最终会收敛到同一个值。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335655"/>
            <a:ext cx="5410200" cy="1602105"/>
            <a:chOff x="6248400" y="3335655"/>
            <a:chExt cx="5410200" cy="1602105"/>
          </a:xfrm>
        </p:grpSpPr>
        <p:sp>
          <p:nvSpPr>
            <p:cNvPr id="45" name="Rectangle 45"/>
            <p:cNvSpPr/>
            <p:nvPr/>
          </p:nvSpPr>
          <p:spPr>
            <a:xfrm>
              <a:off x="6248400" y="333565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4690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6050" y="354520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91160" y="35809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8430" y="3922395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第29页的购物车：用 LWW，如果 {书, 杯子} 的时间戳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较新，“笔”就被悄悄丢掉；用户层按并集合并，三样都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5128260"/>
            <a:ext cx="5410200" cy="782955"/>
            <a:chOff x="6248400" y="5128260"/>
            <a:chExt cx="5410200" cy="782955"/>
          </a:xfrm>
        </p:grpSpPr>
        <p:sp>
          <p:nvSpPr>
            <p:cNvPr id="51" name="Rectangle 51"/>
            <p:cNvSpPr/>
            <p:nvPr/>
          </p:nvSpPr>
          <p:spPr>
            <a:xfrm>
              <a:off x="6248400" y="51282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419725"/>
              <a:ext cx="200026" cy="200025"/>
              <a:chOff x="6453188" y="541972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4197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92926" y="54641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7642" y="55753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27685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选哪种看业务：丢一次更新可以接受（如会话信息）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LWW；不能丢（如购物车）交给应用合并。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46605" cy="3351847"/>
            <a:chOff x="667512" y="1835468"/>
            <a:chExt cx="514660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容错和负载分配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366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临时故障、永久故障各有办法，token 怎样分给机器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内容提要：容错和负载分配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宽松计数与数据回传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48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树同步副本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随机分配与数据范围等分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故障有多频繁：一个新数据中心头一年的故障统计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33400" y="1524000"/>
            <a:ext cx="6708458" cy="4800600"/>
            <a:chOff x="533400" y="1524000"/>
            <a:chExt cx="6708458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7570" y="1645444"/>
              <a:ext cx="550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次数/年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3779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2196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659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9720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数据中心过热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13748" y="2045494"/>
              <a:ext cx="2853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分钟之内大部分机器断电，一到两天恢复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373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9720" y="2445544"/>
              <a:ext cx="1480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配电装置（PDU）故障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3748" y="2445544"/>
              <a:ext cx="281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到 1000 台机器瞬间下线，6 小时恢复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373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69720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机架调整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3748" y="2845594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大量告警，500 到 1000 台机器断电，6 小时恢复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373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9720" y="3245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网络重新布线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13748" y="3245644"/>
              <a:ext cx="1654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5% 机器下线超过两天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0195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9720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机架故障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13748" y="36456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到 80 台机器瞬间下线，1 到 6 小时恢复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373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9720" y="40457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机架不稳定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13748" y="4045744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到 80 台机器发生 50% 丢包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0195" y="44457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69720" y="44457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路由器重启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13748" y="4445794"/>
              <a:ext cx="2362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 和对外虚 IP 服务失效约几分钟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196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244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373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69720" y="4845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路由器故障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3748" y="4845844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需要立即切换流量，持续约 1 小时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196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6493" y="5245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69720" y="5245894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DNS 故障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13748" y="5245894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持续约 30 秒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519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5245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534025"/>
              <a:ext cx="92011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3123" y="56459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69720" y="564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单机故障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13748" y="56459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机器无法提供服务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9197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925" y="5934075"/>
              <a:ext cx="92011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6493" y="60459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69720" y="60459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硬盘故障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313748" y="60459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硬盘数据丢失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524000"/>
              <a:ext cx="6708458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46780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21183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1"/>
          <p:cNvGrpSpPr/>
          <p:nvPr/>
        </p:nvGrpSpPr>
        <p:grpSpPr>
          <a:xfrm>
            <a:off x="7546658" y="1524000"/>
            <a:ext cx="4111942" cy="1443038"/>
            <a:chOff x="7546658" y="1524000"/>
            <a:chExt cx="4111942" cy="1443038"/>
          </a:xfrm>
        </p:grpSpPr>
        <p:sp>
          <p:nvSpPr>
            <p:cNvPr id="65" name="Rectangle 65"/>
            <p:cNvSpPr/>
            <p:nvPr/>
          </p:nvSpPr>
          <p:spPr>
            <a:xfrm>
              <a:off x="7546658" y="1524000"/>
              <a:ext cx="411194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56182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71448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5696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补充出处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64589" y="2054542"/>
              <a:ext cx="35198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原课件第43页的两张表没写“发生频率”的单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位。数据出自 Google 的 Jeff Dean 2009 年的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报告，指一个新集群第一年里的次数。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7546658" y="3136582"/>
            <a:ext cx="4111942" cy="1228725"/>
            <a:chOff x="7546658" y="3136582"/>
            <a:chExt cx="4111942" cy="1228725"/>
          </a:xfrm>
        </p:grpSpPr>
        <p:sp>
          <p:nvSpPr>
            <p:cNvPr id="71" name="Rectangle 71"/>
            <p:cNvSpPr/>
            <p:nvPr/>
          </p:nvSpPr>
          <p:spPr>
            <a:xfrm>
              <a:off x="7546658" y="3136582"/>
              <a:ext cx="4111942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56182" y="3269932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71448" y="332327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52918" y="335613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折算到每天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780020" y="37242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36039" y="3668077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单机故障：1000 ÷ 365 ≈ 2.7 台/天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780020" y="40243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36039" y="3968115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硬盘故障按 3000 次/年：≈ 8.2 块/天</a:t>
              </a:r>
            </a:p>
          </p:txBody>
        </p:sp>
      </p:grpSp>
      <p:grpSp>
        <p:nvGrpSpPr>
          <p:cNvPr id="87" name="c2-card-3"/>
          <p:cNvGrpSpPr/>
          <p:nvPr/>
        </p:nvGrpSpPr>
        <p:grpSpPr>
          <a:xfrm>
            <a:off x="7546658" y="4535805"/>
            <a:ext cx="4111942" cy="1788795"/>
            <a:chOff x="7546658" y="4535805"/>
            <a:chExt cx="4111942" cy="1788795"/>
          </a:xfrm>
        </p:grpSpPr>
        <p:sp>
          <p:nvSpPr>
            <p:cNvPr id="80" name="Rectangle 80"/>
            <p:cNvSpPr/>
            <p:nvPr/>
          </p:nvSpPr>
          <p:spPr>
            <a:xfrm>
              <a:off x="7546658" y="4535805"/>
              <a:ext cx="4111942" cy="1788795"/>
            </a:xfrm>
            <a:prstGeom prst="roundRect">
              <a:avLst>
                <a:gd name="adj" fmla="val 7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33348" y="472249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818869" y="47553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两类错误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7741920" y="512254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897939" y="5066348"/>
              <a:ext cx="30998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临时性错误：短时间可以恢复，如网络延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迟、路由器重启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741920" y="567975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897939" y="562356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永久性错误：持续时间长，如硬盘设备损坏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02627" cy="909257"/>
            <a:chOff x="520446" y="342900"/>
            <a:chExt cx="8702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02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临时错误处理：凑不够 N 个健康副本时，先写到临时节点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594485"/>
            <a:chOff x="533400" y="1524000"/>
            <a:chExt cx="6059805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84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严格计数的困难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396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正常情况：N 个副本上写 W 个、读 R 个，R + W &gt; N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50910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出错时，preference list 里的健康副本凑不够 W 个，按严格规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则只能拒绝写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161" y="3327559"/>
            <a:ext cx="6067044" cy="1235964"/>
            <a:chOff x="526161" y="3327559"/>
            <a:chExt cx="6067044" cy="1235964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3327559"/>
              <a:ext cx="134944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宽松计数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Sloppy Quorum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43531" y="3327559"/>
              <a:ext cx="399999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数据写入 preference list 之后的临时节点，只数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“前 N 个健康节点”，保证写操作的可用性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9014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4017169"/>
              <a:ext cx="137784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数据回传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Hinted handoff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43531" y="4017169"/>
              <a:ext cx="399097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临时节点把数据连同“本属于谁”的提示（hint）另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存一处，原节点恢复后回传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692968"/>
            <a:ext cx="6059805" cy="1520190"/>
            <a:chOff x="533400" y="4692968"/>
            <a:chExt cx="6059805" cy="1520190"/>
          </a:xfrm>
        </p:grpSpPr>
        <p:sp>
          <p:nvSpPr>
            <p:cNvPr id="22" name="Rectangle 22"/>
            <p:cNvSpPr/>
            <p:nvPr/>
          </p:nvSpPr>
          <p:spPr>
            <a:xfrm>
              <a:off x="533400" y="4692968"/>
              <a:ext cx="6059805" cy="152019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826318"/>
              <a:ext cx="47625" cy="12534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75335" y="48968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5543" y="49325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5269706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宽松计数换来写的可用性；这段时间里读集合和写集合可能不相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交，读到旧值的概率变大。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7237133" y="1524000"/>
            <a:ext cx="4082339" cy="2439829"/>
            <a:chOff x="7237133" y="1524000"/>
            <a:chExt cx="4082339" cy="243982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16663" t="0" r="16663" b="0"/>
            <a:stretch>
              <a:fillRect/>
            </a:stretch>
          </p:blipFill>
          <p:spPr>
            <a:xfrm>
              <a:off x="7860982" y="1524000"/>
              <a:ext cx="2833688" cy="2125028"/>
            </a:xfrm>
            <a:prstGeom prst="roundRect">
              <a:avLst>
                <a:gd name="adj" fmla="val 6275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237133" y="3743801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邻居代收快递：包裹上贴着真正的收件人，主人回家后再转交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4124325"/>
            <a:ext cx="4760595" cy="2088832"/>
            <a:chOff x="6898005" y="4124325"/>
            <a:chExt cx="4760595" cy="2088832"/>
          </a:xfrm>
        </p:grpSpPr>
        <p:sp>
          <p:nvSpPr>
            <p:cNvPr id="31" name="Rectangle 31"/>
            <p:cNvSpPr/>
            <p:nvPr/>
          </p:nvSpPr>
          <p:spPr>
            <a:xfrm>
              <a:off x="6898005" y="4124325"/>
              <a:ext cx="476059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4257675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39940" y="43281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30148" y="43638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2701" y="4701064"/>
              <a:ext cx="407212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原课件第45页写“N 个健康副本，才能保证读到最新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的数据”。按 NWR，写成功的 W 台和读的 R 台有交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集就行，N = 3、W = R = 2 时坏一台照样读到最新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值。凑不够 W 或 R 个健康副本时，才要用宽松计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0225" cy="909257"/>
            <a:chOff x="520446" y="342900"/>
            <a:chExt cx="83202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02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宽松计数和数据回传：C 故障时 E 代管，C 恢复后回传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831378" y="1652111"/>
            <a:ext cx="3398787" cy="2466976"/>
            <a:chOff x="1831378" y="1652111"/>
            <a:chExt cx="3398787" cy="2466976"/>
          </a:xfrm>
        </p:grpSpPr>
        <p:sp>
          <p:nvSpPr>
            <p:cNvPr id="7" name="Ellipse 7"/>
            <p:cNvSpPr/>
            <p:nvPr/>
          </p:nvSpPr>
          <p:spPr>
            <a:xfrm>
              <a:off x="2034540" y="181546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536632" y="1945958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958465" y="1744028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3815715" y="2118360"/>
              <a:ext cx="342900" cy="3429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029075" y="2961322"/>
              <a:ext cx="342900" cy="3429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431858" y="3637598"/>
              <a:ext cx="342900" cy="3429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486025" y="3637598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888808" y="2961322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102168" y="2118360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36016" y="275129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19289" y="2930366"/>
              <a:ext cx="421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8200" y="184546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35450" y="2219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8810" y="30627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1592" y="37390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05760" y="37390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08542" y="30627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21902" y="2219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08400" y="1652111"/>
              <a:ext cx="41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Key 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8386" y="30113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故障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1378" y="3857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暂存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6245" y="3899059"/>
              <a:ext cx="1083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 恢复后 E 回传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4472940"/>
            <a:ext cx="5193982" cy="1623060"/>
            <a:chOff x="533400" y="4472940"/>
            <a:chExt cx="5193982" cy="1623060"/>
          </a:xfrm>
        </p:grpSpPr>
        <p:sp>
          <p:nvSpPr>
            <p:cNvPr id="30" name="Rectangle 30"/>
            <p:cNvSpPr/>
            <p:nvPr/>
          </p:nvSpPr>
          <p:spPr>
            <a:xfrm>
              <a:off x="533400" y="4472940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8411" y="45972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92602" y="45972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这次写入时的状态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412" y="5003006"/>
              <a:ext cx="34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76412" y="5003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正常写入并确认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2797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28447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54087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685925" y="5293995"/>
              <a:ext cx="403193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76412" y="54087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故障，没收到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6854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58145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685925" y="5699760"/>
              <a:ext cx="403193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76412" y="5814536"/>
              <a:ext cx="1561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暂存，带 hint“属于 C”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72940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671638" y="447294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steps-1"/>
          <p:cNvGrpSpPr/>
          <p:nvPr/>
        </p:nvGrpSpPr>
        <p:grpSpPr>
          <a:xfrm>
            <a:off x="6032182" y="1533525"/>
            <a:ext cx="5289423" cy="3074194"/>
            <a:chOff x="6032182" y="1533525"/>
            <a:chExt cx="5289423" cy="3074194"/>
          </a:xfrm>
        </p:grpSpPr>
        <p:sp>
          <p:nvSpPr>
            <p:cNvPr id="47" name="Rectangle 47"/>
            <p:cNvSpPr/>
            <p:nvPr/>
          </p:nvSpPr>
          <p:spPr>
            <a:xfrm>
              <a:off x="6165532" y="1676400"/>
              <a:ext cx="19050" cy="25546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32182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2580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032182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580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032182" y="3501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2580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32182" y="40881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25806" y="4161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副本位置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5567" y="1833086"/>
              <a:ext cx="3217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的副本本应在 I、I+1、…、I+N−1，即 B、C、D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4424" y="2152650"/>
              <a:ext cx="661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I+j 出错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5567" y="2419826"/>
              <a:ext cx="3450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不可达，协调者把本该给 C 的写转移到 I+N，即 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44424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带提示暂存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45567" y="3006566"/>
              <a:ext cx="4876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把这份数据存进单独的本地库，记下“属于 C”；B、D、E 中两台确认，W = 2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就满足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44424" y="353282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发现恢复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45567" y="3800951"/>
              <a:ext cx="2194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重启成功，E 通过 Gossip 发现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4424" y="41205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回传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5567" y="4387691"/>
              <a:ext cx="2694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把数据回传给 C，成功后删掉本地这份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032182" y="4776788"/>
            <a:ext cx="5626418" cy="1466850"/>
            <a:chOff x="6032182" y="4776788"/>
            <a:chExt cx="5626418" cy="1466850"/>
          </a:xfrm>
        </p:grpSpPr>
        <p:sp>
          <p:nvSpPr>
            <p:cNvPr id="69" name="Rectangle 69"/>
            <p:cNvSpPr/>
            <p:nvPr/>
          </p:nvSpPr>
          <p:spPr>
            <a:xfrm>
              <a:off x="6032182" y="4776788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41708" y="491013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62688" y="496919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2126" y="500348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对照原课件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55830" y="5325428"/>
              <a:ext cx="48743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原课件第46页的步骤，用第25页的环具体化：I = B，N = 3，j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1。E 是 preference list 里排在第 N + 1 位的备选节点，所以由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它顶替。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永久错误：临时节点长期接管，再从其他副本同步数据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41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I+j 长时间得不到恢复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临时节点 I+N 也可能出错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036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I+N 临时接管的 I+j 的数据可能跟着丢失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各副本之间数据不一致，而且越拖越多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434715"/>
            <a:ext cx="5410200" cy="2602230"/>
            <a:chOff x="533400" y="3434715"/>
            <a:chExt cx="5410200" cy="2602230"/>
          </a:xfrm>
        </p:grpSpPr>
        <p:sp>
          <p:nvSpPr>
            <p:cNvPr id="19" name="Rectangle 19"/>
            <p:cNvSpPr/>
            <p:nvPr/>
          </p:nvSpPr>
          <p:spPr>
            <a:xfrm>
              <a:off x="533400" y="3434715"/>
              <a:ext cx="5410200" cy="2602230"/>
            </a:xfrm>
            <a:prstGeom prst="roundRect">
              <a:avLst>
                <a:gd name="adj" fmla="val 51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36442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158" y="36799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3978" y="3679508"/>
              <a:ext cx="18102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 I+j 永久失效后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2950" y="40271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799" y="40694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3940" y="4040505"/>
              <a:ext cx="4467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I+N 长期接管，成为这个 key 范围正式的副本节点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42950" y="436245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799" y="44047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3940" y="43757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从其他副本节点同步数据，补齐缺的部分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6437948" y="1746885"/>
            <a:ext cx="5031105" cy="3188969"/>
            <a:chOff x="6437948" y="1746885"/>
            <a:chExt cx="5031105" cy="3188969"/>
          </a:xfrm>
        </p:grpSpPr>
        <p:sp>
          <p:nvSpPr>
            <p:cNvPr id="30" name="Freeform 30"/>
            <p:cNvSpPr/>
            <p:nvPr/>
          </p:nvSpPr>
          <p:spPr>
            <a:xfrm>
              <a:off x="7600950" y="2185035"/>
              <a:ext cx="9525" cy="246698"/>
            </a:xfrm>
            <a:custGeom>
              <a:avLst/>
              <a:gdLst/>
              <a:ahLst/>
              <a:cxnLst/>
              <a:rect l="l" t="t" r="r" b="b"/>
              <a:pathLst>
                <a:path w="9525" h="246698">
                  <a:moveTo>
                    <a:pt x="0" y="0"/>
                  </a:moveTo>
                  <a:lnTo>
                    <a:pt x="0" y="2466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48562" y="24317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600950" y="3166110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48562" y="3330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763952" y="373570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38272" y="36833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600950" y="4036695"/>
              <a:ext cx="9525" cy="164783"/>
            </a:xfrm>
            <a:custGeom>
              <a:avLst/>
              <a:gdLst/>
              <a:ahLst/>
              <a:cxnLst/>
              <a:rect l="l" t="t" r="r" b="b"/>
              <a:pathLst>
                <a:path w="9525" h="164783">
                  <a:moveTo>
                    <a:pt x="0" y="0"/>
                  </a:moveTo>
                  <a:lnTo>
                    <a:pt x="0" y="1647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48562" y="42014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7948" y="1746885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7948" y="2536508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437948" y="3435668"/>
              <a:ext cx="2326005" cy="601028"/>
            </a:xfrm>
            <a:custGeom>
              <a:avLst/>
              <a:gdLst/>
              <a:ahLst/>
              <a:cxnLst/>
              <a:rect l="l" t="t" r="r" b="b"/>
              <a:pathLst>
                <a:path w="2326005" h="601028">
                  <a:moveTo>
                    <a:pt x="1163003" y="0"/>
                  </a:moveTo>
                  <a:lnTo>
                    <a:pt x="2326005" y="300038"/>
                  </a:lnTo>
                  <a:lnTo>
                    <a:pt x="1163003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143048" y="3421380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37948" y="4306252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40912" y="187690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故障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06793" y="265318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暂存数据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（数据回传）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0154" y="3646646"/>
              <a:ext cx="1201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很久没恢复？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24085" y="3538061"/>
              <a:ext cx="9639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恢复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回传后删除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1177" y="4422934"/>
              <a:ext cx="9395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长期接管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B、D 同步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839200" y="35194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77490" y="35461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9525" y="40795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52766" y="41062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5253990"/>
            <a:ext cx="5410200" cy="782955"/>
            <a:chOff x="6248400" y="5253990"/>
            <a:chExt cx="5410200" cy="782955"/>
          </a:xfrm>
        </p:grpSpPr>
        <p:sp>
          <p:nvSpPr>
            <p:cNvPr id="53" name="Rectangle 53"/>
            <p:cNvSpPr/>
            <p:nvPr/>
          </p:nvSpPr>
          <p:spPr>
            <a:xfrm>
              <a:off x="6248400" y="52539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545455"/>
              <a:ext cx="200026" cy="200025"/>
              <a:chOff x="6453188" y="554545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5454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55899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57010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130" y="540258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同步要比较两台机器上大量数据是否一致，下一页的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Merkle 树就是为此设计的。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69741" cy="909257"/>
            <a:chOff x="520446" y="342900"/>
            <a:chExt cx="88697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697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树：叶子存数据的哈希，父节点存孩子哈希的哈希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887730" y="1821180"/>
            <a:ext cx="5133974" cy="3306128"/>
            <a:chOff x="887730" y="1821180"/>
            <a:chExt cx="5133974" cy="3306128"/>
          </a:xfrm>
        </p:grpSpPr>
        <p:sp>
          <p:nvSpPr>
            <p:cNvPr id="7" name="Freeform 7"/>
            <p:cNvSpPr/>
            <p:nvPr/>
          </p:nvSpPr>
          <p:spPr>
            <a:xfrm>
              <a:off x="1263968" y="3961448"/>
              <a:ext cx="9525" cy="975360"/>
            </a:xfrm>
            <a:custGeom>
              <a:avLst/>
              <a:gdLst/>
              <a:ahLst/>
              <a:cxnLst/>
              <a:rect l="l" t="t" r="r" b="b"/>
              <a:pathLst>
                <a:path w="9525" h="975360">
                  <a:moveTo>
                    <a:pt x="0" y="0"/>
                  </a:moveTo>
                  <a:lnTo>
                    <a:pt x="0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24150" y="3961448"/>
              <a:ext cx="9525" cy="975360"/>
            </a:xfrm>
            <a:custGeom>
              <a:avLst/>
              <a:gdLst/>
              <a:ahLst/>
              <a:cxnLst/>
              <a:rect l="l" t="t" r="r" b="b"/>
              <a:pathLst>
                <a:path w="9525" h="975360">
                  <a:moveTo>
                    <a:pt x="0" y="0"/>
                  </a:moveTo>
                  <a:lnTo>
                    <a:pt x="0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63968" y="2987040"/>
              <a:ext cx="730568" cy="974407"/>
            </a:xfrm>
            <a:custGeom>
              <a:avLst/>
              <a:gdLst/>
              <a:ahLst/>
              <a:cxnLst/>
              <a:rect l="l" t="t" r="r" b="b"/>
              <a:pathLst>
                <a:path w="730568" h="974407">
                  <a:moveTo>
                    <a:pt x="730568" y="0"/>
                  </a:moveTo>
                  <a:lnTo>
                    <a:pt x="0" y="9744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4535" y="2987040"/>
              <a:ext cx="729615" cy="974407"/>
            </a:xfrm>
            <a:custGeom>
              <a:avLst/>
              <a:gdLst/>
              <a:ahLst/>
              <a:cxnLst/>
              <a:rect l="l" t="t" r="r" b="b"/>
              <a:pathLst>
                <a:path w="729615" h="974407">
                  <a:moveTo>
                    <a:pt x="0" y="0"/>
                  </a:moveTo>
                  <a:lnTo>
                    <a:pt x="729615" y="9744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85285" y="3961448"/>
              <a:ext cx="9525" cy="975360"/>
            </a:xfrm>
            <a:custGeom>
              <a:avLst/>
              <a:gdLst/>
              <a:ahLst/>
              <a:cxnLst/>
              <a:rect l="l" t="t" r="r" b="b"/>
              <a:pathLst>
                <a:path w="9525" h="975360">
                  <a:moveTo>
                    <a:pt x="0" y="0"/>
                  </a:moveTo>
                  <a:lnTo>
                    <a:pt x="0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646420" y="3961448"/>
              <a:ext cx="9525" cy="975360"/>
            </a:xfrm>
            <a:custGeom>
              <a:avLst/>
              <a:gdLst/>
              <a:ahLst/>
              <a:cxnLst/>
              <a:rect l="l" t="t" r="r" b="b"/>
              <a:pathLst>
                <a:path w="9525" h="975360">
                  <a:moveTo>
                    <a:pt x="0" y="0"/>
                  </a:moveTo>
                  <a:lnTo>
                    <a:pt x="0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85285" y="2987040"/>
              <a:ext cx="730568" cy="974407"/>
            </a:xfrm>
            <a:custGeom>
              <a:avLst/>
              <a:gdLst/>
              <a:ahLst/>
              <a:cxnLst/>
              <a:rect l="l" t="t" r="r" b="b"/>
              <a:pathLst>
                <a:path w="730568" h="974407">
                  <a:moveTo>
                    <a:pt x="730568" y="0"/>
                  </a:moveTo>
                  <a:lnTo>
                    <a:pt x="0" y="9744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15852" y="2987040"/>
              <a:ext cx="730567" cy="974407"/>
            </a:xfrm>
            <a:custGeom>
              <a:avLst/>
              <a:gdLst/>
              <a:ahLst/>
              <a:cxnLst/>
              <a:rect l="l" t="t" r="r" b="b"/>
              <a:pathLst>
                <a:path w="730567" h="974407">
                  <a:moveTo>
                    <a:pt x="0" y="0"/>
                  </a:moveTo>
                  <a:lnTo>
                    <a:pt x="730567" y="9744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94535" y="2011680"/>
              <a:ext cx="1460182" cy="975360"/>
            </a:xfrm>
            <a:custGeom>
              <a:avLst/>
              <a:gdLst/>
              <a:ahLst/>
              <a:cxnLst/>
              <a:rect l="l" t="t" r="r" b="b"/>
              <a:pathLst>
                <a:path w="1460182" h="975360">
                  <a:moveTo>
                    <a:pt x="1460182" y="0"/>
                  </a:moveTo>
                  <a:lnTo>
                    <a:pt x="0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54718" y="2011680"/>
              <a:ext cx="1461135" cy="975360"/>
            </a:xfrm>
            <a:custGeom>
              <a:avLst/>
              <a:gdLst/>
              <a:ahLst/>
              <a:cxnLst/>
              <a:rect l="l" t="t" r="r" b="b"/>
              <a:pathLst>
                <a:path w="1461135" h="975360">
                  <a:moveTo>
                    <a:pt x="0" y="0"/>
                  </a:moveTo>
                  <a:lnTo>
                    <a:pt x="1461135" y="975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73468" y="4746308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7730" y="3770948"/>
              <a:ext cx="75152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33650" y="4746308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48865" y="3770948"/>
              <a:ext cx="75152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89735" y="2795588"/>
              <a:ext cx="607695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94785" y="4746308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09048" y="3770948"/>
              <a:ext cx="75152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54968" y="4746308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270182" y="3770948"/>
              <a:ext cx="751522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12005" y="2795588"/>
              <a:ext cx="607695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79432" y="1821180"/>
              <a:ext cx="751522" cy="381000"/>
            </a:xfrm>
            <a:prstGeom prst="roundRect">
              <a:avLst>
                <a:gd name="adj" fmla="val 20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78514" y="48763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7510" y="3900964"/>
              <a:ext cx="592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0-0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8696" y="48763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27692" y="3900964"/>
              <a:ext cx="592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0-1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75344" y="2925604"/>
              <a:ext cx="438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9831" y="48763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88827" y="3900964"/>
              <a:ext cx="592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1-0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0966" y="48763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9962" y="3900964"/>
              <a:ext cx="592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1-1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96661" y="2925604"/>
              <a:ext cx="438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57679" y="1951196"/>
              <a:ext cx="594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Top Hash</a:t>
              </a:r>
            </a:p>
          </p:txBody>
        </p:sp>
      </p:grpSp>
      <p:grpSp>
        <p:nvGrpSpPr>
          <p:cNvPr id="41" name="c1-text-2"/>
          <p:cNvGrpSpPr/>
          <p:nvPr/>
        </p:nvGrpSpPr>
        <p:grpSpPr>
          <a:xfrm>
            <a:off x="527685" y="5618321"/>
            <a:ext cx="5416550" cy="441008"/>
            <a:chOff x="527685" y="5618321"/>
            <a:chExt cx="5416550" cy="441008"/>
          </a:xfrm>
        </p:grpSpPr>
        <p:sp>
          <p:nvSpPr>
            <p:cNvPr id="40" name="TextBox 40"/>
            <p:cNvSpPr txBox="1"/>
            <p:nvPr/>
          </p:nvSpPr>
          <p:spPr>
            <a:xfrm>
              <a:off x="527685" y="5618321"/>
              <a:ext cx="541655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据原课件第50页重画：L1–L4 是数据块，Hash 0-0 = hash(L1)，Hash 0 = hash(Hash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0-0 + Hash 0-1)，Top Hash = hash(Hash 0 + Hash 1)。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680835" y="1524000"/>
            <a:ext cx="4977765" cy="1254442"/>
            <a:chOff x="6680835" y="1524000"/>
            <a:chExt cx="4977765" cy="1254442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165735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11340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4777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数据同步面临的问题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19912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5932" y="20726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如何找出不一致的数据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19912" y="24317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5932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如何减小数据传输量（减小开销）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2953702"/>
            <a:ext cx="4977765" cy="2374582"/>
            <a:chOff x="6680835" y="2953702"/>
            <a:chExt cx="4977765" cy="2374582"/>
          </a:xfrm>
        </p:grpSpPr>
        <p:sp>
          <p:nvSpPr>
            <p:cNvPr id="51" name="Rectangle 51"/>
            <p:cNvSpPr/>
            <p:nvPr/>
          </p:nvSpPr>
          <p:spPr>
            <a:xfrm>
              <a:off x="6680835" y="2953702"/>
              <a:ext cx="4977765" cy="2374582"/>
            </a:xfrm>
            <a:prstGeom prst="roundRect">
              <a:avLst>
                <a:gd name="adj" fmla="val 5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3087052"/>
              <a:ext cx="47625" cy="21078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11340" y="3146108"/>
              <a:ext cx="1106805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81454" y="3180398"/>
              <a:ext cx="966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Merkle 树同步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19912" y="35594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75932" y="3503295"/>
              <a:ext cx="2764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叶子节点对应数据 Value 的哈希值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19912" y="38614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75932" y="380523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非叶子节点对应多条数据：其子节点组合值的哈希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19912" y="4164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75932" y="4108132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每台物理节点为每个虚拟节点（负责的 key 范围）维护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 Merkle 树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19912" y="47234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75932" y="466725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机器之间传输 Merkle 树信息，比较树结构，找到不一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致的数据，再同步数据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680835" y="5503545"/>
            <a:ext cx="4977765" cy="729615"/>
            <a:chOff x="6680835" y="5503545"/>
            <a:chExt cx="4977765" cy="729615"/>
          </a:xfrm>
        </p:grpSpPr>
        <p:sp>
          <p:nvSpPr>
            <p:cNvPr id="64" name="Rectangle 64"/>
            <p:cNvSpPr/>
            <p:nvPr/>
          </p:nvSpPr>
          <p:spPr>
            <a:xfrm>
              <a:off x="6680835" y="550354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885623" y="5768342"/>
              <a:ext cx="200023" cy="200023"/>
              <a:chOff x="6885623" y="5768342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885623" y="57683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018973" y="58350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188327" y="5649278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任何一个叶子变了，从它到根的整条路径上的哈希都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会变，根相同就说明整段数据相同。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83055" cy="909257"/>
            <a:chOff x="520446" y="342900"/>
            <a:chExt cx="92830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830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例题：两台副本的 Merkle 树只有 L3 不同，比较几次能找到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962025" y="1828800"/>
            <a:ext cx="4395787" cy="3455670"/>
            <a:chOff x="962025" y="1828800"/>
            <a:chExt cx="4395787" cy="3455670"/>
          </a:xfrm>
        </p:grpSpPr>
        <p:sp>
          <p:nvSpPr>
            <p:cNvPr id="7" name="Freeform 7"/>
            <p:cNvSpPr/>
            <p:nvPr/>
          </p:nvSpPr>
          <p:spPr>
            <a:xfrm>
              <a:off x="1183005" y="4065270"/>
              <a:ext cx="9525" cy="1016317"/>
            </a:xfrm>
            <a:custGeom>
              <a:avLst/>
              <a:gdLst/>
              <a:ahLst/>
              <a:cxnLst/>
              <a:rect l="l" t="t" r="r" b="b"/>
              <a:pathLst>
                <a:path w="9525" h="1016317">
                  <a:moveTo>
                    <a:pt x="0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81262" y="4065270"/>
              <a:ext cx="9525" cy="1016317"/>
            </a:xfrm>
            <a:custGeom>
              <a:avLst/>
              <a:gdLst/>
              <a:ahLst/>
              <a:cxnLst/>
              <a:rect l="l" t="t" r="r" b="b"/>
              <a:pathLst>
                <a:path w="9525" h="1016317">
                  <a:moveTo>
                    <a:pt x="0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83005" y="3048952"/>
              <a:ext cx="648653" cy="1016317"/>
            </a:xfrm>
            <a:custGeom>
              <a:avLst/>
              <a:gdLst/>
              <a:ahLst/>
              <a:cxnLst/>
              <a:rect l="l" t="t" r="r" b="b"/>
              <a:pathLst>
                <a:path w="648653" h="1016317">
                  <a:moveTo>
                    <a:pt x="648653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1658" y="3048952"/>
              <a:ext cx="649605" cy="1016317"/>
            </a:xfrm>
            <a:custGeom>
              <a:avLst/>
              <a:gdLst/>
              <a:ahLst/>
              <a:cxnLst/>
              <a:rect l="l" t="t" r="r" b="b"/>
              <a:pathLst>
                <a:path w="649605" h="1016317">
                  <a:moveTo>
                    <a:pt x="0" y="0"/>
                  </a:moveTo>
                  <a:lnTo>
                    <a:pt x="649605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4065270"/>
              <a:ext cx="9525" cy="1016317"/>
            </a:xfrm>
            <a:custGeom>
              <a:avLst/>
              <a:gdLst/>
              <a:ahLst/>
              <a:cxnLst/>
              <a:rect l="l" t="t" r="r" b="b"/>
              <a:pathLst>
                <a:path w="9525" h="1016317">
                  <a:moveTo>
                    <a:pt x="0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77778" y="4065270"/>
              <a:ext cx="9525" cy="1016317"/>
            </a:xfrm>
            <a:custGeom>
              <a:avLst/>
              <a:gdLst/>
              <a:ahLst/>
              <a:cxnLst/>
              <a:rect l="l" t="t" r="r" b="b"/>
              <a:pathLst>
                <a:path w="9525" h="1016317">
                  <a:moveTo>
                    <a:pt x="0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79520" y="3048952"/>
              <a:ext cx="649605" cy="1016317"/>
            </a:xfrm>
            <a:custGeom>
              <a:avLst/>
              <a:gdLst/>
              <a:ahLst/>
              <a:cxnLst/>
              <a:rect l="l" t="t" r="r" b="b"/>
              <a:pathLst>
                <a:path w="649605" h="1016317">
                  <a:moveTo>
                    <a:pt x="649605" y="0"/>
                  </a:moveTo>
                  <a:lnTo>
                    <a:pt x="0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29125" y="3048952"/>
              <a:ext cx="648653" cy="1016317"/>
            </a:xfrm>
            <a:custGeom>
              <a:avLst/>
              <a:gdLst/>
              <a:ahLst/>
              <a:cxnLst/>
              <a:rect l="l" t="t" r="r" b="b"/>
              <a:pathLst>
                <a:path w="648653" h="1016317">
                  <a:moveTo>
                    <a:pt x="0" y="0"/>
                  </a:moveTo>
                  <a:lnTo>
                    <a:pt x="648653" y="10163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31658" y="2031682"/>
              <a:ext cx="1298258" cy="1017270"/>
            </a:xfrm>
            <a:custGeom>
              <a:avLst/>
              <a:gdLst/>
              <a:ahLst/>
              <a:cxnLst/>
              <a:rect l="l" t="t" r="r" b="b"/>
              <a:pathLst>
                <a:path w="1298258" h="1017270">
                  <a:moveTo>
                    <a:pt x="1298258" y="0"/>
                  </a:moveTo>
                  <a:lnTo>
                    <a:pt x="0" y="1017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29915" y="2031682"/>
              <a:ext cx="1299210" cy="1017270"/>
            </a:xfrm>
            <a:custGeom>
              <a:avLst/>
              <a:gdLst/>
              <a:ahLst/>
              <a:cxnLst/>
              <a:rect l="l" t="t" r="r" b="b"/>
              <a:pathLst>
                <a:path w="1299210" h="1017270">
                  <a:moveTo>
                    <a:pt x="0" y="0"/>
                  </a:moveTo>
                  <a:lnTo>
                    <a:pt x="1299210" y="10172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9170" y="48777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62025" y="3861435"/>
              <a:ext cx="441008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77428" y="48777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61235" y="3861435"/>
              <a:ext cx="441008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54468" y="2845118"/>
              <a:ext cx="755332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76638" y="48777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76625" y="3861435"/>
              <a:ext cx="605790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74895" y="4877752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797742" y="3861435"/>
              <a:ext cx="560070" cy="406718"/>
            </a:xfrm>
            <a:prstGeom prst="roundRect">
              <a:avLst>
                <a:gd name="adj" fmla="val 1873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27170" y="2845118"/>
              <a:ext cx="802005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27020" y="1828800"/>
              <a:ext cx="605790" cy="406718"/>
            </a:xfrm>
            <a:prstGeom prst="roundRect">
              <a:avLst>
                <a:gd name="adj" fmla="val 1873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1420" y="5015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5226" y="399954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0-0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9678" y="5015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53483" y="399954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0-1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2812" y="2983230"/>
              <a:ext cx="597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Hash 0 =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7935" y="5015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88663" y="399954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1-0 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6193" y="50158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86920" y="399954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1-1 =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30279" y="2983230"/>
              <a:ext cx="597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Hash 1 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35557" y="1966912"/>
              <a:ext cx="388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Top ≠</a:t>
              </a:r>
            </a:p>
          </p:txBody>
        </p:sp>
      </p:grpSp>
      <p:grpSp>
        <p:nvGrpSpPr>
          <p:cNvPr id="41" name="c1-text-2"/>
          <p:cNvGrpSpPr/>
          <p:nvPr/>
        </p:nvGrpSpPr>
        <p:grpSpPr>
          <a:xfrm>
            <a:off x="527304" y="5794058"/>
            <a:ext cx="4438078" cy="234696"/>
            <a:chOff x="527304" y="5794058"/>
            <a:chExt cx="4438078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527304" y="5794058"/>
              <a:ext cx="4438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灰色的节点不用比较：Hash 0 相等，它下面的子树整棵跳过。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6032182" y="1533525"/>
            <a:ext cx="4705274" cy="2411159"/>
            <a:chOff x="6032182" y="1533525"/>
            <a:chExt cx="4705274" cy="2411159"/>
          </a:xfrm>
        </p:grpSpPr>
        <p:sp>
          <p:nvSpPr>
            <p:cNvPr id="42" name="Rectangle 42"/>
            <p:cNvSpPr/>
            <p:nvPr/>
          </p:nvSpPr>
          <p:spPr>
            <a:xfrm>
              <a:off x="6165532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32182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32182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044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186" y="1846898"/>
              <a:ext cx="2866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两台交换 Top Hash，不相等（第 1 次）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044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比第二层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186" y="2467927"/>
              <a:ext cx="4292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0 相等，左子树不用再看；Hash 1 不等（第 2、3 次）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044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比第三层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186" y="3088957"/>
              <a:ext cx="4245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 1-0 不等、Hash 1-1 相等（第 4、5 次），定位到 L3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044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5186" y="3709988"/>
              <a:ext cx="1433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只传 L3 这一块数据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032182" y="4120515"/>
            <a:ext cx="5626418" cy="1861185"/>
            <a:chOff x="6032182" y="4120515"/>
            <a:chExt cx="5626418" cy="1861185"/>
          </a:xfrm>
        </p:grpSpPr>
        <p:sp>
          <p:nvSpPr>
            <p:cNvPr id="60" name="Rectangle 60"/>
            <p:cNvSpPr/>
            <p:nvPr/>
          </p:nvSpPr>
          <p:spPr>
            <a:xfrm>
              <a:off x="6032182" y="4120515"/>
              <a:ext cx="5626418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253865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74118" y="4324350"/>
              <a:ext cx="148780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34763" y="4360069"/>
              <a:ext cx="1366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放大到 2^20 个 key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66879" y="4697254"/>
              <a:ext cx="479348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树高 20 层，只有 1 个 key 不同时，每层比 2 个哈希：1 + 2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20 = 41 次；逐个比较要 2²⁰ ≈ 105 万次。10 个 key 不同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时最多 1 + 2 × 10 × 20 = 401 次。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68022" y="5556885"/>
              <a:ext cx="5031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这几个数用脚本建树实测过（SHA-256，4 个叶子时恰好比较 5 次）。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80743" cy="909257"/>
            <a:chOff x="520446" y="342900"/>
            <a:chExt cx="96807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807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树同步的优缺点：比较快、传得少，但和 key 范围绑死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节点之间传输数据量小：先比索引树（哈希），再传数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检测效率高：检测到不一致才按需同步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检测速度快：树遍历，相同的子树整棵跳过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01415"/>
            <a:ext cx="5410200" cy="1602105"/>
            <a:chOff x="533400" y="3701415"/>
            <a:chExt cx="5410200" cy="1602105"/>
          </a:xfrm>
        </p:grpSpPr>
        <p:sp>
          <p:nvSpPr>
            <p:cNvPr id="18" name="Rectangle 18"/>
            <p:cNvSpPr/>
            <p:nvPr/>
          </p:nvSpPr>
          <p:spPr>
            <a:xfrm>
              <a:off x="533400" y="370141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347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9109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39466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288155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与虚拟节点挂钩：一棵树对应一个 key 范围。节点加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入、离开使 key 重新分布时，受影响的范围都要重算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树。</a:t>
              </a:r>
            </a:p>
          </p:txBody>
        </p:sp>
      </p:grpSp>
      <p:grpSp>
        <p:nvGrpSpPr>
          <p:cNvPr id="43" name="c2-compare-1"/>
          <p:cNvGrpSpPr/>
          <p:nvPr/>
        </p:nvGrpSpPr>
        <p:grpSpPr>
          <a:xfrm>
            <a:off x="6248400" y="1524000"/>
            <a:ext cx="5410200" cy="2274570"/>
            <a:chOff x="6248400" y="1524000"/>
            <a:chExt cx="5410200" cy="227457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2457450" cy="2274570"/>
            </a:xfrm>
            <a:prstGeom prst="roundRect">
              <a:avLst>
                <a:gd name="adj" fmla="val 58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0330" y="1758315"/>
              <a:ext cx="1445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 Merkle 树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36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1780" y="2112645"/>
              <a:ext cx="1883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逐条比较 key 的哈希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3665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21780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要传整个范围的全部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63665" y="3131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21780" y="30689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传输量与数据量成正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01150" y="1524000"/>
              <a:ext cx="2457450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210675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1180" y="1758315"/>
              <a:ext cx="1243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Merkle 树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45451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12630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从根往下比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454515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1263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只沿不同的路径深入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454515" y="28460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12630" y="278320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传输量与差异量成正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53475" y="246126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06815" y="25955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3989070"/>
            <a:ext cx="5410200" cy="1314450"/>
            <a:chOff x="6248400" y="3989070"/>
            <a:chExt cx="5410200" cy="13144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989070"/>
              <a:ext cx="5410200" cy="1314450"/>
            </a:xfrm>
            <a:prstGeom prst="roundRect">
              <a:avLst>
                <a:gd name="adj" fmla="val 869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546283"/>
              <a:ext cx="200026" cy="200025"/>
              <a:chOff x="6453188" y="454628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5462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2926" y="45907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642" y="47018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4403408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这个缺点引出下一页的问题：token 怎样分配，才能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让 key 范围少变动。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9735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两台机器的 Merkle 树必须覆盖同一段 key 范围才能逐层比较；比较只找出哪几块不同，数据还要另传一次。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082444" cy="896112"/>
            <a:chOff x="521208" y="342900"/>
            <a:chExt cx="11082444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0824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负载分配（一）随机分配 token：S 越大越均衡，但加节点要重算 Merkle 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937385"/>
            <a:chOff x="533400" y="1524000"/>
            <a:chExt cx="5626418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负载分配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数据倾斜：某一范围内的值多于其他范围，不同虚拟节点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负担不同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关键：怎样给物理节点分配虚拟节点（token）；两种方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法：随机法、数据范围等分 + 随机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51885"/>
            <a:ext cx="5626418" cy="2640330"/>
            <a:chOff x="533400" y="3651885"/>
            <a:chExt cx="5626418" cy="2640330"/>
          </a:xfrm>
        </p:grpSpPr>
        <p:sp>
          <p:nvSpPr>
            <p:cNvPr id="16" name="Rectangle 16"/>
            <p:cNvSpPr/>
            <p:nvPr/>
          </p:nvSpPr>
          <p:spPr>
            <a:xfrm>
              <a:off x="533400" y="3651885"/>
              <a:ext cx="5626418" cy="2640330"/>
            </a:xfrm>
            <a:prstGeom prst="roundRect">
              <a:avLst>
                <a:gd name="adj" fmla="val 505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38614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6407" y="38971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随机负载分配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238625"/>
              <a:ext cx="5006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分配：按配置性能给每个物理节点随机分配 S 个 token（虚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拟节点）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859655"/>
              <a:ext cx="5308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优点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：只要 S 足够大（虚拟节点够小），负载均衡效果较好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5194935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缺点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：新节点加入会切分别人的 token 区间，key 范围变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了，相应的 Merkle 树都要更新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6458902" y="1524000"/>
            <a:ext cx="5199698" cy="2734152"/>
            <a:chOff x="6458902" y="1524000"/>
            <a:chExt cx="5199698" cy="273415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5336" y="1663065"/>
              <a:ext cx="1521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每台 token 数 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7397" y="166306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最重机器 ÷ 平均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0280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57322" y="2021205"/>
              <a:ext cx="259175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22980" y="215074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4945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4618" y="249936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31973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22980" y="26384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9822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73666" y="312610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22980" y="312610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4699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347472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15358" y="361378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057322" y="3484245"/>
              <a:ext cx="2591752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22980" y="361378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4303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8902" y="4038124"/>
              <a:ext cx="3886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 台机器、token 在环上均匀随机，各模拟 300 次取平均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4404360"/>
            <a:ext cx="5193982" cy="1887855"/>
            <a:chOff x="6464618" y="4404360"/>
            <a:chExt cx="5193982" cy="1887855"/>
          </a:xfrm>
        </p:grpSpPr>
        <p:sp>
          <p:nvSpPr>
            <p:cNvPr id="45" name="Rectangle 45"/>
            <p:cNvSpPr/>
            <p:nvPr/>
          </p:nvSpPr>
          <p:spPr>
            <a:xfrm>
              <a:off x="6464618" y="440436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453771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12268" y="4613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3428" y="4649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04648" y="4991100"/>
              <a:ext cx="4558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 时最重的机器约是平均负载的 3 倍，这就是第16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页看到的不均；S 到 100，最重的也只比平均多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16%。代价是每台要维护 S 棵 Merkle 树、成员表也变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23151" cy="909257"/>
            <a:chOff x="520446" y="342900"/>
            <a:chExt cx="10223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23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负载分配（二）数据范围等分 + 随机：先切好 Q 段，机器按段领取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185988"/>
            <a:chOff x="533400" y="1524000"/>
            <a:chExt cx="5410200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分配方法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将数据哈希空间等分为 Q = M × S 段（M 台物理机，每台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个虚拟节点）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每台机器随机选择 S 个分割点作为 token，也就是随机领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S 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442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283744"/>
              <a:ext cx="3815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每台机器为每个数据范围维护一棵 Merkle 树</a:t>
              </a:r>
            </a:p>
          </p:txBody>
        </p:sp>
      </p:grpSp>
      <p:grpSp>
        <p:nvGrpSpPr>
          <p:cNvPr id="32" name="c1-compare-2"/>
          <p:cNvGrpSpPr/>
          <p:nvPr/>
        </p:nvGrpSpPr>
        <p:grpSpPr>
          <a:xfrm>
            <a:off x="533400" y="3895725"/>
            <a:ext cx="5410200" cy="2398395"/>
            <a:chOff x="533400" y="3895725"/>
            <a:chExt cx="5410200" cy="2398395"/>
          </a:xfrm>
        </p:grpSpPr>
        <p:sp>
          <p:nvSpPr>
            <p:cNvPr id="18" name="Rectangle 18"/>
            <p:cNvSpPr/>
            <p:nvPr/>
          </p:nvSpPr>
          <p:spPr>
            <a:xfrm>
              <a:off x="533400" y="3895725"/>
              <a:ext cx="2457450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029075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8096" y="412289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5215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461986"/>
              <a:ext cx="164655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先确定数据范围再细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 token，负载均衡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较好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3844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324951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节点上下线时只扫描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相关的几段数据进行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3895725"/>
              <a:ext cx="2457450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95675" y="4029075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20846" y="412289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735705" y="45215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92296" y="4461986"/>
              <a:ext cx="164655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要提前确定数据范围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（哈希空间）怎么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切，Q 定下来后不容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易再改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038475" y="489489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91815" y="5029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</p:grpSp>
      <p:grpSp>
        <p:nvGrpSpPr>
          <p:cNvPr id="75" name="c2-cells-1"/>
          <p:cNvGrpSpPr/>
          <p:nvPr/>
        </p:nvGrpSpPr>
        <p:grpSpPr>
          <a:xfrm>
            <a:off x="6243638" y="1524000"/>
            <a:ext cx="5414962" cy="979170"/>
            <a:chOff x="6243638" y="1524000"/>
            <a:chExt cx="5414962" cy="979170"/>
          </a:xfrm>
        </p:grpSpPr>
        <p:sp>
          <p:nvSpPr>
            <p:cNvPr id="33" name="TextBox 33"/>
            <p:cNvSpPr txBox="1"/>
            <p:nvPr/>
          </p:nvSpPr>
          <p:spPr>
            <a:xfrm>
              <a:off x="6243638" y="167163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段号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10350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23016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5175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27841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32666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24825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7491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629650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2316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34475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47141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39300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51966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44125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356791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648950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861616" y="16716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153775" y="1524000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331456" y="167163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43638" y="224409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10350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5310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5175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80135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84960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24825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89785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629650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94610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34475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99435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639300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04260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144125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309085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648950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861616" y="22440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153775" y="2096452"/>
              <a:ext cx="5048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318735" y="2244090"/>
              <a:ext cx="174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m1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248400" y="2688908"/>
            <a:ext cx="5410200" cy="2476500"/>
            <a:chOff x="6248400" y="2688908"/>
            <a:chExt cx="5410200" cy="2476500"/>
          </a:xfrm>
        </p:grpSpPr>
        <p:sp>
          <p:nvSpPr>
            <p:cNvPr id="76" name="Rectangle 76"/>
            <p:cNvSpPr/>
            <p:nvPr/>
          </p:nvSpPr>
          <p:spPr>
            <a:xfrm>
              <a:off x="6248400" y="2688908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7925" y="2822258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90335" y="289274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85445" y="29284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48868" y="2932271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台机器、每台 8 个虚拟节点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83096" y="3283744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4 × 8 = 32 段；32 位哈希空间下每段 2³² ÷ 32 = 2²⁷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1.34 亿个哈希值。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83096" y="3875246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台加入：32 ÷ 5 = 6.4，它从别的机器各拿一两段，共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 6 或 7 段，迁移 6/32 ≈ 19% 到 7/32 ≈ 22% 的数据。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83096" y="446674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段的边界不变，整段连同它的 Merkle 树一起搬，不用重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6248400" y="5350192"/>
            <a:ext cx="5410200" cy="943928"/>
            <a:chOff x="6248400" y="5350192"/>
            <a:chExt cx="5410200" cy="943928"/>
          </a:xfrm>
        </p:grpSpPr>
        <p:sp>
          <p:nvSpPr>
            <p:cNvPr id="85" name="Rectangle 85"/>
            <p:cNvSpPr/>
            <p:nvPr/>
          </p:nvSpPr>
          <p:spPr>
            <a:xfrm>
              <a:off x="6248400" y="5350192"/>
              <a:ext cx="5410200" cy="943928"/>
            </a:xfrm>
            <a:prstGeom prst="roundRect">
              <a:avLst>
                <a:gd name="adj" fmla="val 1210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453188" y="5721668"/>
              <a:ext cx="200026" cy="200026"/>
              <a:chOff x="6453188" y="5721668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453188" y="57216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553200" y="5788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542088" y="58216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755511" y="5591651"/>
              <a:ext cx="43787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原课件第55页写“数据上下线扫描部分数据进行同步”，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指的是节点上下线。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15424" cy="909257"/>
            <a:chOff x="520446" y="342900"/>
            <a:chExt cx="98154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154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两种分配方法对比：切分哈希空间和分配 token 要不要绑在一起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6276022" cy="3148012"/>
            <a:chOff x="533400" y="1524000"/>
            <a:chExt cx="6276022" cy="3148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76049" y="1651635"/>
              <a:ext cx="1736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随机分配 S 个 token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10498" y="1651635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数据范围等分 + 随机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216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7664" y="2096452"/>
              <a:ext cx="213112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由随机 token 决定，每次加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节点都变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97502" y="2216468"/>
              <a:ext cx="2272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预先等分成 Q 段，固定不变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6489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653665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2270" y="2781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87664" y="2781300"/>
              <a:ext cx="1267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足够大时较好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97502" y="27813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2270" y="33461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加节点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798320" y="3107055"/>
              <a:ext cx="2491740" cy="6657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87664" y="3226118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切分别人的区间，重算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08158" y="3107055"/>
              <a:ext cx="2491740" cy="6657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97502" y="33461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整段搬走，树跟着搬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776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82378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391096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87664" y="391096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要扫描受影响的整个范围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7502" y="391096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只扫描领到的那几段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2224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2270" y="43548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7664" y="4354830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需要很多 token 才均衡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7502" y="4354830"/>
              <a:ext cx="942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提前决定 Q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31480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84032" y="1524000"/>
              <a:ext cx="9525" cy="31480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93870" y="1524000"/>
              <a:ext cx="9525" cy="31480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847272"/>
            <a:ext cx="6276022" cy="1466850"/>
            <a:chOff x="533400" y="4847272"/>
            <a:chExt cx="6276022" cy="1466850"/>
          </a:xfrm>
        </p:grpSpPr>
        <p:sp>
          <p:nvSpPr>
            <p:cNvPr id="37" name="Rectangle 37"/>
            <p:cNvSpPr/>
            <p:nvPr/>
          </p:nvSpPr>
          <p:spPr>
            <a:xfrm>
              <a:off x="533400" y="4847272"/>
              <a:ext cx="6276022" cy="1466850"/>
            </a:xfrm>
            <a:prstGeom prst="roundRect">
              <a:avLst>
                <a:gd name="adj" fmla="val 90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5805" y="503967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9244" y="5073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核心区别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947" y="5395912"/>
              <a:ext cx="55344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随机分配把“切分哈希空间”和“把区间分给机器”绑在一起，加一台机器就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改一次切分；等分法先把空间切死，之后只改“哪段归哪台”，数据范围不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再变化。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7108888" y="1524000"/>
            <a:ext cx="4549712" cy="2889504"/>
            <a:chOff x="7108888" y="1524000"/>
            <a:chExt cx="4549712" cy="2889504"/>
          </a:xfrm>
        </p:grpSpPr>
        <p:sp>
          <p:nvSpPr>
            <p:cNvPr id="42" name="Rectangle 42"/>
            <p:cNvSpPr/>
            <p:nvPr/>
          </p:nvSpPr>
          <p:spPr>
            <a:xfrm>
              <a:off x="7114222" y="1524000"/>
              <a:ext cx="454437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758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26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55669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论文里的结论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3106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50505" y="2154079"/>
              <a:ext cx="14622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 T 个随机 token，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token 切分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67875" y="2054066"/>
              <a:ext cx="171831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加节点要从别人那里分走区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间，扫描本地数据、重算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树，归档也难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273081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14222" y="2735580"/>
              <a:ext cx="454437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83106" y="2959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50505" y="2859881"/>
              <a:ext cx="14622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 T 个随机 token，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空间等分成 Q 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67875" y="285988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过渡方案，负载均衡效率最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333660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3106" y="35656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50505" y="3465671"/>
              <a:ext cx="13413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等分成 Q 段，每台领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Q/S 段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577388" y="3350895"/>
              <a:ext cx="2071688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67875" y="346567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效率最好；分区固定，可整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段传输、按文件归档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4222" y="1524000"/>
              <a:ext cx="4544378" cy="24231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745730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63100" y="1524000"/>
              <a:ext cx="9525" cy="24231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08888" y="4021455"/>
              <a:ext cx="431787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补充：Dynamo 论文第 6.2 节的三种策略，S 是机器数；原课件的“等分 +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随机”对应策略 2、3 的思路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4547235"/>
            <a:ext cx="4544378" cy="1765935"/>
            <a:chOff x="7114222" y="4547235"/>
            <a:chExt cx="4544378" cy="1765935"/>
          </a:xfrm>
        </p:grpSpPr>
        <p:sp>
          <p:nvSpPr>
            <p:cNvPr id="64" name="Rectangle 64"/>
            <p:cNvSpPr/>
            <p:nvPr/>
          </p:nvSpPr>
          <p:spPr>
            <a:xfrm>
              <a:off x="7114222" y="4547235"/>
              <a:ext cx="4544378" cy="1765935"/>
            </a:xfrm>
            <a:prstGeom prst="roundRect">
              <a:avLst>
                <a:gd name="adj" fmla="val 7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23748" y="4680585"/>
              <a:ext cx="47625" cy="1499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344728" y="473964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24166" y="47739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后来的做法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37870" y="5096828"/>
              <a:ext cx="39399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后来把 Dynamo 从策略 1 迁到了策略 3。策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 3 要求 Q 远大于机器数，机器增减时只移动整段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分区，不再重新切分哈希空间。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167378" cy="3351847"/>
            <a:chOff x="667512" y="1835468"/>
            <a:chExt cx="416737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读写流程与应用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157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协调者怎样凑齐 W 个写确认和 R 个读结果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内容提要：读写流程与应用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选择服务节点的两种策略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写流程与读流程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系统优点与缺点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选择服务节点：客户端直连延迟低，经协调者转发隔离好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31532" y="1668780"/>
            <a:ext cx="5030153" cy="2473071"/>
            <a:chOff x="831532" y="1668780"/>
            <a:chExt cx="5030153" cy="2473071"/>
          </a:xfrm>
        </p:grpSpPr>
        <p:sp>
          <p:nvSpPr>
            <p:cNvPr id="7" name="Freeform 7"/>
            <p:cNvSpPr/>
            <p:nvPr/>
          </p:nvSpPr>
          <p:spPr>
            <a:xfrm>
              <a:off x="1545908" y="2179320"/>
              <a:ext cx="9525" cy="1546860"/>
            </a:xfrm>
            <a:custGeom>
              <a:avLst/>
              <a:gdLst/>
              <a:ahLst/>
              <a:cxnLst/>
              <a:rect l="l" t="t" r="r" b="b"/>
              <a:pathLst>
                <a:path w="9525" h="1546860">
                  <a:moveTo>
                    <a:pt x="0" y="0"/>
                  </a:moveTo>
                  <a:lnTo>
                    <a:pt x="0" y="15468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98282" y="37261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147310" y="2084070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99685" y="26022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09035" y="3208020"/>
              <a:ext cx="991553" cy="565785"/>
            </a:xfrm>
            <a:custGeom>
              <a:avLst/>
              <a:gdLst/>
              <a:ahLst/>
              <a:cxnLst/>
              <a:rect l="l" t="t" r="r" b="b"/>
              <a:pathLst>
                <a:path w="991553" h="565785">
                  <a:moveTo>
                    <a:pt x="991553" y="0"/>
                  </a:moveTo>
                  <a:lnTo>
                    <a:pt x="0" y="5657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27120" y="373284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8583"/>
                  </a:moveTo>
                  <a:lnTo>
                    <a:pt x="59055" y="0"/>
                  </a:lnTo>
                  <a:lnTo>
                    <a:pt x="105727" y="828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147310" y="3208020"/>
              <a:ext cx="9525" cy="518160"/>
            </a:xfrm>
            <a:custGeom>
              <a:avLst/>
              <a:gdLst/>
              <a:ahLst/>
              <a:cxnLst/>
              <a:rect l="l" t="t" r="r" b="b"/>
              <a:pathLst>
                <a:path w="9525" h="518160">
                  <a:moveTo>
                    <a:pt x="0" y="0"/>
                  </a:moveTo>
                  <a:lnTo>
                    <a:pt x="0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099685" y="37261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1532" y="1668780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23435" y="176403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32935" y="2697480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69658" y="3821430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70835" y="3821430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71060" y="3821430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97496" y="17545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4408" y="19450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（带分区信息）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98898" y="18497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98898" y="27832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6582" y="29737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（负载均衡）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6178" y="39071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7356" y="39071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7581" y="390715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 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83982" y="290703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09027" y="2941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01452" y="342138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26497" y="34561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572000"/>
            <a:ext cx="5626418" cy="830580"/>
            <a:chOff x="533400" y="4572000"/>
            <a:chExt cx="5626418" cy="830580"/>
          </a:xfrm>
        </p:grpSpPr>
        <p:sp>
          <p:nvSpPr>
            <p:cNvPr id="34" name="Rectangle 34"/>
            <p:cNvSpPr/>
            <p:nvPr/>
          </p:nvSpPr>
          <p:spPr>
            <a:xfrm>
              <a:off x="533400" y="4572000"/>
              <a:ext cx="5626418" cy="830580"/>
            </a:xfrm>
            <a:prstGeom prst="roundRect">
              <a:avLst>
                <a:gd name="adj" fmla="val 1376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887278"/>
              <a:ext cx="200026" cy="200026"/>
              <a:chOff x="738188" y="488727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8872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9539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9872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474440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两种都支持；原课件第58页在“协调者”一项打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*，表示本课按这种方式讲读写流程。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464618" y="1524000"/>
            <a:ext cx="5193982" cy="1986915"/>
            <a:chOff x="6464618" y="1524000"/>
            <a:chExt cx="5193982" cy="198691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6897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由客户端决定（直接）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客户端存储分区信息（元数据），自己算出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preference list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273177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节省中转代价，访问延迟低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7983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6098" y="30670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客户端要定期拉取成员信息，可能用到过时的环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701415"/>
            <a:ext cx="5193982" cy="1701165"/>
            <a:chOff x="6464618" y="3701415"/>
            <a:chExt cx="5193982" cy="1701165"/>
          </a:xfrm>
        </p:grpSpPr>
        <p:sp>
          <p:nvSpPr>
            <p:cNvPr id="52" name="Rectangle 52"/>
            <p:cNvSpPr/>
            <p:nvPr/>
          </p:nvSpPr>
          <p:spPr>
            <a:xfrm>
              <a:off x="6464618" y="370141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383476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391096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2923" y="39466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协调者选取（代理）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17983" y="4351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76098" y="428815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由协调者依据每个节点的负载情况选服务节点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7983" y="46863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76098" y="462343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客户端与服务端隔离性好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，客户端不用懂分区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17983" y="50215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76098" y="49587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多一跳转发，延迟稍高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9883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客户端直连时要定期向任一 Dynamo 节点拉取成员信息（论文中约每 10 秒一次），两次拉取之间可能按过时的环找错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03333" cy="909257"/>
            <a:chOff x="520446" y="342900"/>
            <a:chExt cx="99033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033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写流程：协调者并发发给 N 个副本，凑齐 W 个确认就回复客户端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732472" y="1696402"/>
            <a:ext cx="3480436" cy="4112896"/>
            <a:chOff x="732472" y="1696402"/>
            <a:chExt cx="3480436" cy="4112896"/>
          </a:xfrm>
        </p:grpSpPr>
        <p:sp>
          <p:nvSpPr>
            <p:cNvPr id="7" name="Freeform 7"/>
            <p:cNvSpPr/>
            <p:nvPr/>
          </p:nvSpPr>
          <p:spPr>
            <a:xfrm>
              <a:off x="3022282" y="2094548"/>
              <a:ext cx="9525" cy="239077"/>
            </a:xfrm>
            <a:custGeom>
              <a:avLst/>
              <a:gdLst/>
              <a:ahLst/>
              <a:cxnLst/>
              <a:rect l="l" t="t" r="r" b="b"/>
              <a:pathLst>
                <a:path w="9525" h="239077">
                  <a:moveTo>
                    <a:pt x="0" y="0"/>
                  </a:moveTo>
                  <a:lnTo>
                    <a:pt x="0" y="2390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9895" y="23336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2837498"/>
              <a:ext cx="9525" cy="239078"/>
            </a:xfrm>
            <a:custGeom>
              <a:avLst/>
              <a:gdLst/>
              <a:ahLst/>
              <a:cxnLst/>
              <a:rect l="l" t="t" r="r" b="b"/>
              <a:pathLst>
                <a:path w="9525" h="239078">
                  <a:moveTo>
                    <a:pt x="0" y="0"/>
                  </a:moveTo>
                  <a:lnTo>
                    <a:pt x="0" y="239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30765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580448"/>
              <a:ext cx="9525" cy="239078"/>
            </a:xfrm>
            <a:custGeom>
              <a:avLst/>
              <a:gdLst/>
              <a:ahLst/>
              <a:cxnLst/>
              <a:rect l="l" t="t" r="r" b="b"/>
              <a:pathLst>
                <a:path w="9525" h="239078">
                  <a:moveTo>
                    <a:pt x="0" y="0"/>
                  </a:moveTo>
                  <a:lnTo>
                    <a:pt x="0" y="2390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3819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4323398"/>
              <a:ext cx="9525" cy="150495"/>
            </a:xfrm>
            <a:custGeom>
              <a:avLst/>
              <a:gdLst/>
              <a:ahLst/>
              <a:cxnLst/>
              <a:rect l="l" t="t" r="r" b="b"/>
              <a:pathLst>
                <a:path w="9525" h="150495">
                  <a:moveTo>
                    <a:pt x="0" y="0"/>
                  </a:moveTo>
                  <a:lnTo>
                    <a:pt x="0" y="1504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9895" y="4473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2282" y="5153978"/>
              <a:ext cx="9525" cy="151447"/>
            </a:xfrm>
            <a:custGeom>
              <a:avLst/>
              <a:gdLst/>
              <a:ahLst/>
              <a:cxnLst/>
              <a:rect l="l" t="t" r="r" b="b"/>
              <a:pathLst>
                <a:path w="9525" h="151447">
                  <a:moveTo>
                    <a:pt x="0" y="0"/>
                  </a:moveTo>
                  <a:lnTo>
                    <a:pt x="0" y="1514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9895" y="5305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32472" y="4123372"/>
              <a:ext cx="1194435" cy="1411605"/>
            </a:xfrm>
            <a:custGeom>
              <a:avLst/>
              <a:gdLst/>
              <a:ahLst/>
              <a:cxnLst/>
              <a:rect l="l" t="t" r="r" b="b"/>
              <a:pathLst>
                <a:path w="1194435" h="1411605">
                  <a:moveTo>
                    <a:pt x="1194435" y="742950"/>
                  </a:moveTo>
                  <a:lnTo>
                    <a:pt x="984885" y="742950"/>
                  </a:lnTo>
                  <a:lnTo>
                    <a:pt x="0" y="742950"/>
                  </a:lnTo>
                  <a:lnTo>
                    <a:pt x="0" y="1411605"/>
                  </a:lnTo>
                  <a:lnTo>
                    <a:pt x="0" y="297180"/>
                  </a:lnTo>
                  <a:lnTo>
                    <a:pt x="0" y="0"/>
                  </a:lnTo>
                  <a:lnTo>
                    <a:pt x="889635" y="0"/>
                  </a:lnTo>
                  <a:lnTo>
                    <a:pt x="99441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6882" y="4070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31658" y="1696402"/>
              <a:ext cx="2381250" cy="399098"/>
            </a:xfrm>
            <a:prstGeom prst="roundRect">
              <a:avLst>
                <a:gd name="adj" fmla="val 498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31658" y="2438400"/>
              <a:ext cx="23812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31658" y="3181350"/>
              <a:ext cx="23812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31658" y="3924300"/>
              <a:ext cx="23812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926908" y="4578668"/>
              <a:ext cx="2190750" cy="575310"/>
            </a:xfrm>
            <a:custGeom>
              <a:avLst/>
              <a:gdLst/>
              <a:ahLst/>
              <a:cxnLst/>
              <a:rect l="l" t="t" r="r" b="b"/>
              <a:pathLst>
                <a:path w="2190750" h="575310">
                  <a:moveTo>
                    <a:pt x="1095375" y="0"/>
                  </a:moveTo>
                  <a:lnTo>
                    <a:pt x="2190750" y="287655"/>
                  </a:lnTo>
                  <a:lnTo>
                    <a:pt x="1095375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31658" y="5410200"/>
              <a:ext cx="2381250" cy="399098"/>
            </a:xfrm>
            <a:prstGeom prst="roundRect">
              <a:avLst>
                <a:gd name="adj" fmla="val 498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11921" y="18168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根据主键获取副本所在节点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2696" y="25598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往所有副本发送写请求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7308" y="33027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每个副本将数据写入本地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2696" y="40447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某个副本回复写入成功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9833" y="4787741"/>
              <a:ext cx="1384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个副本写入成功？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38083" y="55306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回复客户端写入成功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50858" y="519684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74480" y="52211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1048" y="511492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4670" y="514016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5815965" y="1533525"/>
            <a:ext cx="4950323" cy="4040982"/>
            <a:chOff x="5815965" y="1533525"/>
            <a:chExt cx="4950323" cy="4040982"/>
          </a:xfrm>
        </p:grpSpPr>
        <p:sp>
          <p:nvSpPr>
            <p:cNvPr id="36" name="Rectangle 36"/>
            <p:cNvSpPr/>
            <p:nvPr/>
          </p:nvSpPr>
          <p:spPr>
            <a:xfrm>
              <a:off x="5949315" y="1676400"/>
              <a:ext cx="19050" cy="35213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5965" y="38814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9589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5965" y="44681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9589" y="4541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15965" y="505491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09589" y="51287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8207" y="1564957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定位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9350" y="1833086"/>
              <a:ext cx="3403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根据一致性哈希计算副本位置（preference list）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8207" y="2152650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选协调者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9350" y="241982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其中一个副本作为协调者，先生成新的向量时钟并写本地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8207" y="2739390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并发发送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9350" y="30065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协调者并发地向其余副本发送写请求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8207" y="3326130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副本写入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9350" y="35933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每个副本写入成功后回复协调者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8207" y="3912870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 等确认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9350" y="4180999"/>
              <a:ext cx="453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协调者反复重试，直到 W−1 个其他副本写成功（加上自己共 W 个）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8207" y="4499610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 回复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9350" y="476773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协调者向客户端回复写成功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8207" y="5087302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 补齐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9350" y="535447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协调者继续尝试把数据发送给其他副本</a:t>
              </a:r>
            </a:p>
          </p:txBody>
        </p:sp>
      </p:grpSp>
      <p:grpSp>
        <p:nvGrpSpPr>
          <p:cNvPr id="67" name="c2-text-2"/>
          <p:cNvGrpSpPr/>
          <p:nvPr/>
        </p:nvGrpSpPr>
        <p:grpSpPr>
          <a:xfrm>
            <a:off x="5810250" y="5762149"/>
            <a:ext cx="3358622" cy="220028"/>
            <a:chOff x="5810250" y="5762149"/>
            <a:chExt cx="3358622" cy="220028"/>
          </a:xfrm>
        </p:grpSpPr>
        <p:sp>
          <p:nvSpPr>
            <p:cNvPr id="66" name="TextBox 66"/>
            <p:cNvSpPr txBox="1"/>
            <p:nvPr/>
          </p:nvSpPr>
          <p:spPr>
            <a:xfrm>
              <a:off x="5810250" y="5762149"/>
              <a:ext cx="335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左图据原课件第61页重画，右边是第60页的七步。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5908" cy="909257"/>
            <a:chOff x="520446" y="342900"/>
            <a:chExt cx="90459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59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读流程：凑齐 R 个结果，不一致就合并，再修正落后的副本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flow-1"/>
          <p:cNvGrpSpPr/>
          <p:nvPr/>
        </p:nvGrpSpPr>
        <p:grpSpPr>
          <a:xfrm>
            <a:off x="756285" y="1692592"/>
            <a:ext cx="10790872" cy="4112895"/>
            <a:chOff x="756285" y="1692592"/>
            <a:chExt cx="10790872" cy="4112895"/>
          </a:xfrm>
        </p:grpSpPr>
        <p:sp>
          <p:nvSpPr>
            <p:cNvPr id="7" name="Freeform 7"/>
            <p:cNvSpPr/>
            <p:nvPr/>
          </p:nvSpPr>
          <p:spPr>
            <a:xfrm>
              <a:off x="2387918" y="2154555"/>
              <a:ext cx="9525" cy="412433"/>
            </a:xfrm>
            <a:custGeom>
              <a:avLst/>
              <a:gdLst/>
              <a:ahLst/>
              <a:cxnLst/>
              <a:rect l="l" t="t" r="r" b="b"/>
              <a:pathLst>
                <a:path w="9525" h="412433">
                  <a:moveTo>
                    <a:pt x="0" y="0"/>
                  </a:moveTo>
                  <a:lnTo>
                    <a:pt x="0" y="412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35530" y="2566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87918" y="3044190"/>
              <a:ext cx="9525" cy="411480"/>
            </a:xfrm>
            <a:custGeom>
              <a:avLst/>
              <a:gdLst/>
              <a:ahLst/>
              <a:cxnLst/>
              <a:rect l="l" t="t" r="r" b="b"/>
              <a:pathLst>
                <a:path w="9525" h="411480">
                  <a:moveTo>
                    <a:pt x="0" y="0"/>
                  </a:moveTo>
                  <a:lnTo>
                    <a:pt x="0" y="411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35530" y="3455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87918" y="3932872"/>
              <a:ext cx="9525" cy="411480"/>
            </a:xfrm>
            <a:custGeom>
              <a:avLst/>
              <a:gdLst/>
              <a:ahLst/>
              <a:cxnLst/>
              <a:rect l="l" t="t" r="r" b="b"/>
              <a:pathLst>
                <a:path w="9525" h="411480">
                  <a:moveTo>
                    <a:pt x="0" y="0"/>
                  </a:moveTo>
                  <a:lnTo>
                    <a:pt x="0" y="411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35530" y="43443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87918" y="4821555"/>
              <a:ext cx="9525" cy="317183"/>
            </a:xfrm>
            <a:custGeom>
              <a:avLst/>
              <a:gdLst/>
              <a:ahLst/>
              <a:cxnLst/>
              <a:rect l="l" t="t" r="r" b="b"/>
              <a:pathLst>
                <a:path w="9525" h="317183">
                  <a:moveTo>
                    <a:pt x="0" y="0"/>
                  </a:moveTo>
                  <a:lnTo>
                    <a:pt x="0" y="3171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35530" y="5138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56285" y="4635818"/>
              <a:ext cx="536257" cy="888683"/>
            </a:xfrm>
            <a:custGeom>
              <a:avLst/>
              <a:gdLst/>
              <a:ahLst/>
              <a:cxnLst/>
              <a:rect l="l" t="t" r="r" b="b"/>
              <a:pathLst>
                <a:path w="536257" h="888683">
                  <a:moveTo>
                    <a:pt x="536257" y="888683"/>
                  </a:moveTo>
                  <a:lnTo>
                    <a:pt x="326708" y="888683"/>
                  </a:lnTo>
                  <a:lnTo>
                    <a:pt x="0" y="888683"/>
                  </a:lnTo>
                  <a:lnTo>
                    <a:pt x="0" y="0"/>
                  </a:lnTo>
                  <a:lnTo>
                    <a:pt x="183832" y="0"/>
                  </a:ln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44892" y="4583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83292" y="3746182"/>
              <a:ext cx="4882515" cy="1778318"/>
            </a:xfrm>
            <a:custGeom>
              <a:avLst/>
              <a:gdLst/>
              <a:ahLst/>
              <a:cxnLst/>
              <a:rect l="l" t="t" r="r" b="b"/>
              <a:pathLst>
                <a:path w="4882515" h="1778318">
                  <a:moveTo>
                    <a:pt x="0" y="1778318"/>
                  </a:moveTo>
                  <a:lnTo>
                    <a:pt x="209550" y="1778318"/>
                  </a:lnTo>
                  <a:lnTo>
                    <a:pt x="2612708" y="1778318"/>
                  </a:lnTo>
                  <a:lnTo>
                    <a:pt x="2612708" y="0"/>
                  </a:lnTo>
                  <a:lnTo>
                    <a:pt x="4777740" y="0"/>
                  </a:lnTo>
                  <a:lnTo>
                    <a:pt x="488251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65808" y="36937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804082" y="2348865"/>
              <a:ext cx="9525" cy="1026795"/>
            </a:xfrm>
            <a:custGeom>
              <a:avLst/>
              <a:gdLst/>
              <a:ahLst/>
              <a:cxnLst/>
              <a:rect l="l" t="t" r="r" b="b"/>
              <a:pathLst>
                <a:path w="9525" h="1026795">
                  <a:moveTo>
                    <a:pt x="0" y="102679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751695" y="22440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804082" y="4117658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751695" y="42548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137582" y="1968818"/>
              <a:ext cx="409575" cy="2667000"/>
            </a:xfrm>
            <a:custGeom>
              <a:avLst/>
              <a:gdLst/>
              <a:ahLst/>
              <a:cxnLst/>
              <a:rect l="l" t="t" r="r" b="b"/>
              <a:pathLst>
                <a:path w="409575" h="2667000">
                  <a:moveTo>
                    <a:pt x="0" y="2667000"/>
                  </a:moveTo>
                  <a:lnTo>
                    <a:pt x="209550" y="2667000"/>
                  </a:lnTo>
                  <a:lnTo>
                    <a:pt x="409575" y="2667000"/>
                  </a:lnTo>
                  <a:lnTo>
                    <a:pt x="409575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137582" y="1916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804082" y="4912042"/>
              <a:ext cx="9525" cy="232410"/>
            </a:xfrm>
            <a:custGeom>
              <a:avLst/>
              <a:gdLst/>
              <a:ahLst/>
              <a:cxnLst/>
              <a:rect l="l" t="t" r="r" b="b"/>
              <a:pathLst>
                <a:path w="9525" h="232410">
                  <a:moveTo>
                    <a:pt x="0" y="0"/>
                  </a:moveTo>
                  <a:lnTo>
                    <a:pt x="0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751695" y="51444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49668" y="1782128"/>
              <a:ext cx="2476500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49668" y="2671762"/>
              <a:ext cx="247650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49668" y="3560445"/>
              <a:ext cx="247650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149668" y="4449128"/>
              <a:ext cx="247650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292542" y="5243512"/>
              <a:ext cx="2190750" cy="561975"/>
            </a:xfrm>
            <a:custGeom>
              <a:avLst/>
              <a:gdLst/>
              <a:ahLst/>
              <a:cxnLst/>
              <a:rect l="l" t="t" r="r" b="b"/>
              <a:pathLst>
                <a:path w="2190750" h="561975">
                  <a:moveTo>
                    <a:pt x="1095375" y="0"/>
                  </a:moveTo>
                  <a:lnTo>
                    <a:pt x="2190750" y="280988"/>
                  </a:lnTo>
                  <a:lnTo>
                    <a:pt x="1095375" y="561975"/>
                  </a:lnTo>
                  <a:lnTo>
                    <a:pt x="0" y="28098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470582" y="1692592"/>
              <a:ext cx="2667000" cy="5514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470582" y="3375660"/>
              <a:ext cx="2667000" cy="741998"/>
            </a:xfrm>
            <a:custGeom>
              <a:avLst/>
              <a:gdLst/>
              <a:ahLst/>
              <a:cxnLst/>
              <a:rect l="l" t="t" r="r" b="b"/>
              <a:pathLst>
                <a:path w="2667000" h="741998">
                  <a:moveTo>
                    <a:pt x="1333500" y="0"/>
                  </a:moveTo>
                  <a:lnTo>
                    <a:pt x="2667000" y="370523"/>
                  </a:lnTo>
                  <a:lnTo>
                    <a:pt x="1333500" y="741998"/>
                  </a:lnTo>
                  <a:lnTo>
                    <a:pt x="0" y="3705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70582" y="4359592"/>
              <a:ext cx="2667000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470582" y="5249228"/>
              <a:ext cx="2667000" cy="551498"/>
            </a:xfrm>
            <a:prstGeom prst="roundRect">
              <a:avLst>
                <a:gd name="adj" fmla="val 1727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34477" y="189547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根据主键获取副本所在节点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9276" y="2784158"/>
              <a:ext cx="1737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往至少 R 个副本发送读请求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83029" y="3672840"/>
              <a:ext cx="1409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个副本读取本地数据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75828" y="45624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某个副本回复读取结果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3705" y="5451158"/>
              <a:ext cx="1268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个副本读取成功？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1974" y="1804988"/>
              <a:ext cx="17442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将获取的或冲突解决后的结果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回复客户端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325" y="3583305"/>
              <a:ext cx="145751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个副本返回的结果不一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5324" y="4471988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根据冲突处理规则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合并多个副本的返回结果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98674" y="5361622"/>
              <a:ext cx="12108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用冲突解决后的结果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更新不一致的副本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4860" y="517874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8672" y="520160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948112" y="532828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987546" y="535114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32658" y="273081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56470" y="275367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832658" y="415956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56470" y="418242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55" name="c1-text-2"/>
          <p:cNvGrpSpPr/>
          <p:nvPr/>
        </p:nvGrpSpPr>
        <p:grpSpPr>
          <a:xfrm>
            <a:off x="528066" y="6151245"/>
            <a:ext cx="6385598" cy="205359"/>
            <a:chOff x="528066" y="6151245"/>
            <a:chExt cx="638559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151245"/>
              <a:ext cx="6385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据原课件第63页重画。合并后的结果一边回复客户端（右侧回线），一边写回落后的副本（读修复）。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读流程九步：读时解决冲突，并顺手修正落后的副本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5842635" cy="4690110"/>
            <a:chOff x="533400" y="1524000"/>
            <a:chExt cx="5842635" cy="4690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2998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53155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3381" y="212836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1486" y="212836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根据一致性哈希计算副本位置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57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62212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3381" y="259699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1486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其中一个副本作为协调者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260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381" y="30656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1486" y="3065621"/>
              <a:ext cx="29230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协调者根据负载策略选择 R 个副本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956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00425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3381" y="353520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21486" y="353520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并发地向其他副本发送读请求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642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381" y="40038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1486" y="400383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每个副本读取本地数据，回复协调者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3329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337685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3381" y="447341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1486" y="4473416"/>
              <a:ext cx="3909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协调者反复重试，直到 R−1 个其他副本成功读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025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3381" y="494204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21486" y="494204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协调者读本地数据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2711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275898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3381" y="541067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26808" y="5285422"/>
              <a:ext cx="523970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21486" y="541067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解决冲突，把结果返回客户端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7407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3381" y="588025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26808" y="5755005"/>
              <a:ext cx="523970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21486" y="588025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修正不一致的副本（离线进行，即读修复）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5842635" cy="4690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112520" y="1524000"/>
              <a:ext cx="9525" cy="4690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1"/>
          <p:cNvGrpSpPr/>
          <p:nvPr/>
        </p:nvGrpSpPr>
        <p:grpSpPr>
          <a:xfrm>
            <a:off x="6680835" y="1524000"/>
            <a:ext cx="4977765" cy="2088832"/>
            <a:chOff x="6680835" y="1524000"/>
            <a:chExt cx="4977765" cy="2088832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165735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2277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1393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15531" y="2100739"/>
              <a:ext cx="434263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原课件第62页第 8 步写“解决冲突（最新时间戳）”。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先用向量时钟丢掉被覆盖的旧版本；剩下互相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并发的版本，要么全部交给客户端合并，要么按时间戳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取最新（LWW），两种都有应用在用（第33页）。只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看时间戳是 LWW 这一种情况。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798570"/>
            <a:ext cx="4977765" cy="2415540"/>
            <a:chOff x="6680835" y="3798570"/>
            <a:chExt cx="4977765" cy="2415540"/>
          </a:xfrm>
        </p:grpSpPr>
        <p:sp>
          <p:nvSpPr>
            <p:cNvPr id="51" name="Rectangle 51"/>
            <p:cNvSpPr/>
            <p:nvPr/>
          </p:nvSpPr>
          <p:spPr>
            <a:xfrm>
              <a:off x="6680835" y="3798570"/>
              <a:ext cx="4977765" cy="2415540"/>
            </a:xfrm>
            <a:prstGeom prst="roundRect">
              <a:avLst>
                <a:gd name="adj" fmla="val 5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3931920"/>
              <a:ext cx="47625" cy="21488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22770" y="400240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6227" y="40381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读修复的好处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15531" y="4375309"/>
              <a:ext cx="431558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步不在客户端等待的路径上。经常被读的 key 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在读的时候顺带修好，冷数据则留给后台的 Merkle 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同步（第39页）。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95954" cy="909257"/>
            <a:chOff x="520446" y="342900"/>
            <a:chExt cx="99959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959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综合例题：N = 3、W = R = 2，C 故障期间写一次、恢复后读一次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28066" y="1524000"/>
            <a:ext cx="5956554" cy="3314319"/>
            <a:chOff x="528066" y="1524000"/>
            <a:chExt cx="5956554" cy="331431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40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733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05885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6025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1557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36043" y="1648301"/>
              <a:ext cx="706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E（代管）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793" y="20540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8725" y="2054066"/>
              <a:ext cx="1462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 v0，时钟 [B,1]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68959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2332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7864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4213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793" y="24598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8725" y="2459831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故障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895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3086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78647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4213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36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793" y="296560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8725" y="2865596"/>
              <a:ext cx="19032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协调写 v1，时钟 [B,2]；发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B、D、E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68959" y="29656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30865" y="29656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78647" y="29656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03520" y="2750820"/>
              <a:ext cx="117157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04518" y="2965609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 (→C)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3423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347085"/>
              <a:ext cx="595122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7793" y="35713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28725" y="3471386"/>
              <a:ext cx="1881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B、D 确认，已满 W = 2，回复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68959" y="35713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30865" y="35713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78647" y="357139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04518" y="3571399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 (→C)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9481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7793" y="417718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8725" y="4077176"/>
              <a:ext cx="19103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恢复，E 经 Gossip 发现并回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68959" y="4177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994785" y="3962400"/>
              <a:ext cx="635318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223327" y="4177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78647" y="4177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32818" y="41771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5951220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12395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32613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80498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634865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28923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066" y="4632960"/>
              <a:ext cx="3873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其实也写成功了；只要 W 个确认先到，协调者就回复客户端</a:t>
              </a:r>
            </a:p>
          </p:txBody>
        </p:sp>
      </p:grpSp>
      <p:grpSp>
        <p:nvGrpSpPr>
          <p:cNvPr id="65" name="c1-card-2"/>
          <p:cNvGrpSpPr/>
          <p:nvPr/>
        </p:nvGrpSpPr>
        <p:grpSpPr>
          <a:xfrm>
            <a:off x="533400" y="4972050"/>
            <a:ext cx="5951220" cy="1209675"/>
            <a:chOff x="533400" y="4972050"/>
            <a:chExt cx="5951220" cy="1209675"/>
          </a:xfrm>
        </p:grpSpPr>
        <p:sp>
          <p:nvSpPr>
            <p:cNvPr id="60" name="Rectangle 60"/>
            <p:cNvSpPr/>
            <p:nvPr/>
          </p:nvSpPr>
          <p:spPr>
            <a:xfrm>
              <a:off x="533400" y="4972050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2925" y="510540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3905" y="5164455"/>
              <a:ext cx="120586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558" y="5198745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为什么能读到 v1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7047" y="5521642"/>
              <a:ext cx="52943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确认写入的是 B、D。之后在 B、C、D 里任取 2 台读，至少含 B 或 D，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一定拿到 v1；C 的旧值 v0 靠向量时钟淘汰。</a:t>
              </a:r>
            </a:p>
          </p:txBody>
        </p:sp>
      </p:grpSp>
      <p:grpSp>
        <p:nvGrpSpPr>
          <p:cNvPr id="83" name="c2-steps-1"/>
          <p:cNvGrpSpPr/>
          <p:nvPr/>
        </p:nvGrpSpPr>
        <p:grpSpPr>
          <a:xfrm>
            <a:off x="6789420" y="1533525"/>
            <a:ext cx="4656455" cy="2901791"/>
            <a:chOff x="6789420" y="1533525"/>
            <a:chExt cx="4656455" cy="2901791"/>
          </a:xfrm>
        </p:grpSpPr>
        <p:sp>
          <p:nvSpPr>
            <p:cNvPr id="66" name="Rectangle 66"/>
            <p:cNvSpPr/>
            <p:nvPr/>
          </p:nvSpPr>
          <p:spPr>
            <a:xfrm>
              <a:off x="6922770" y="1676400"/>
              <a:ext cx="19050" cy="2175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789420" y="23279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8304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789420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8304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789420" y="37090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83044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0166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写时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02805" y="1833086"/>
              <a:ext cx="4243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preference list 是 B、C、D；C 不可达，按宽松计数取第 4 个节点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顶上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01662" y="2359342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t4 之前读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02805" y="2627471"/>
              <a:ext cx="421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不可达，协调者 B 从可达的 B、D、E 里凑 R = 2 份，都是 v1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01662" y="2946082"/>
              <a:ext cx="2426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如果回传前 C 已恢复并被读到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02805" y="3214211"/>
              <a:ext cx="4235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C 的 v0（[B,1]）和 B 的 v1（[B,2]）；[B,1] 早于 [B,2]，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v0，返回 v1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201662" y="3740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读修复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02805" y="4007644"/>
              <a:ext cx="4235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协调者把 v1 写回 C；之后 E 的回传就是重复数据，按时钟判断后丢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6789420" y="4604385"/>
            <a:ext cx="4869180" cy="1577340"/>
            <a:chOff x="6789420" y="4604385"/>
            <a:chExt cx="4869180" cy="1577340"/>
          </a:xfrm>
        </p:grpSpPr>
        <p:sp>
          <p:nvSpPr>
            <p:cNvPr id="84" name="Rectangle 84"/>
            <p:cNvSpPr/>
            <p:nvPr/>
          </p:nvSpPr>
          <p:spPr>
            <a:xfrm>
              <a:off x="6789420" y="4604385"/>
              <a:ext cx="4869180" cy="1577340"/>
            </a:xfrm>
            <a:prstGeom prst="roundRect">
              <a:avLst>
                <a:gd name="adj" fmla="val 724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994208" y="5293045"/>
              <a:ext cx="200023" cy="200023"/>
              <a:chOff x="6994208" y="5293045"/>
              <a:chExt cx="200023" cy="20002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994208" y="52930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127558" y="5359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296912" y="5173980"/>
              <a:ext cx="39742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这一题串起了第25–37页：preference list、NWR、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向量时钟、宽松计数、数据回传和读修复。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 · 读写流程与应用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系统优缺点：键值访问快、扩展容易，代价是一致性和查询能力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234565"/>
            <a:chOff x="533400" y="1524000"/>
            <a:chExt cx="5410200" cy="2234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34565"/>
            </a:xfrm>
            <a:prstGeom prst="roundRect">
              <a:avLst>
                <a:gd name="adj" fmla="val 59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78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系统优点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访问性能：key-value 形式查询，哈希定位，访问延迟低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可扩展性：一台一台地加机器，只迁移邻近的数据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013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4081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负载均衡：虚拟节点把负载切成小块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1213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060859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原课件还列了“设计完美主义”：各项技术分工明确，没有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中心节点这类短板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944302"/>
            <a:ext cx="5410200" cy="2400300"/>
            <a:chOff x="533400" y="3944302"/>
            <a:chExt cx="5410200" cy="2400300"/>
          </a:xfrm>
        </p:grpSpPr>
        <p:sp>
          <p:nvSpPr>
            <p:cNvPr id="20" name="Rectangle 20"/>
            <p:cNvSpPr/>
            <p:nvPr/>
          </p:nvSpPr>
          <p:spPr>
            <a:xfrm>
              <a:off x="533400" y="3944302"/>
              <a:ext cx="5410200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077652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14813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7644" y="4183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系统缺点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45815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452104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单条数据记录容量小（见下方说明）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2955" y="49015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9546" y="4841081"/>
              <a:ext cx="4406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查询功能单一，不支持关系操作（Join）、范围查询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2955" y="52216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9546" y="516112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一致性较差：写的顺序可能乱，并发操作的结果难以预期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2955" y="55416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546" y="5481161"/>
              <a:ext cx="2611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维护哈希环、Merkle 树有代价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1876425"/>
            <a:chOff x="6248400" y="1524000"/>
            <a:chExt cx="5410200" cy="187642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9303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2558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不适合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2604" y="212836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购物车、会话、用户偏好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37726" y="212836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需要多表关联的报表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457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462212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2604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按主键随机读写的小对象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37726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按范围扫描、排序的查询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9260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2604" y="30656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写必须成功、能容忍短暂不一致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7726" y="30656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转账这类要求强一致的业务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876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28760" y="1524000"/>
              <a:ext cx="9525" cy="1876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248400" y="3585210"/>
            <a:ext cx="5410200" cy="1817370"/>
            <a:chOff x="6248400" y="3585210"/>
            <a:chExt cx="5410200" cy="1817370"/>
          </a:xfrm>
        </p:grpSpPr>
        <p:sp>
          <p:nvSpPr>
            <p:cNvPr id="48" name="Rectangle 48"/>
            <p:cNvSpPr/>
            <p:nvPr/>
          </p:nvSpPr>
          <p:spPr>
            <a:xfrm>
              <a:off x="6248400" y="3585210"/>
              <a:ext cx="541020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71856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37890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0543" y="38247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3096" y="4161949"/>
              <a:ext cx="473938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原课件第66页写“数据记录容量小（UTF-8，400K）”。400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KB 是 AWS 云服务 DynamoDB 单条记录（item）的上限，按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UTF-8 编码后的字节数计；Dynamo 论文本身只说对象一般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1 MB（第8页）。两个系统名字相近，不是同一个。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5588318"/>
            <a:ext cx="5410200" cy="756285"/>
            <a:chOff x="6248400" y="5588318"/>
            <a:chExt cx="5410200" cy="756285"/>
          </a:xfrm>
        </p:grpSpPr>
        <p:sp>
          <p:nvSpPr>
            <p:cNvPr id="54" name="Rectangle 54"/>
            <p:cNvSpPr/>
            <p:nvPr/>
          </p:nvSpPr>
          <p:spPr>
            <a:xfrm>
              <a:off x="6248400" y="558831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866448"/>
              <a:ext cx="200026" cy="200025"/>
              <a:chOff x="6453188" y="586644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8664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59108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60220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511" y="5735479"/>
              <a:ext cx="453199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第6部分的 Bigtable 走另一条路：顺序分布，支持范围扫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描，由主控节点管理。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80969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在 CAP 中选了哪两个？“读时解决冲突”和这个选择有什么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328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AP。分区时仍接受写，同一个 key 会出现多个版本；写时不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协调，才能保证写永远成功，冲突只能留到读时用向量时钟判断、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671638"/>
            <a:chOff x="533400" y="4008120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宽松计数和数据回传处理哪类故障？永久故障靠什么恢复？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767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处理临时故障：写先交给 preference list 之后的临时节点并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带上 hint，原节点恢复后回传。永久故障由临时节点长期接管，再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Merkle 树和其他副本同步。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虚拟节点解决了一致性哈希的哪两个问题？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35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一是负载不均：token 少时各机器弧长相差大，增删节点只影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响一个邻居；二是异构：能力强的机器多放虚拟节点，承担更多数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4182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Merkle 树要按虚拟节点（key 范围）分别建？这带来什么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572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两台机器比较的是同一段 key 范围，按范围建树才能逐层对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比。缺点是 key 重新分布时受影响范围的树都要重算，所以才有“数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据范围等分”的分配方法。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690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概念题答不上时，回到第12页的“问题—技术”表，先找这项技术对应的是哪个设计问题。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自测题（二）估算与计算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921508" cy="264033"/>
            <a:chOff x="526542" y="1545907"/>
            <a:chExt cx="292150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带计算的题把过程写全，再对答案。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61015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 0–99 上节点 A=12、B=37、C=58、D=81，数据哈希值 65 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哪？加入 E=70 后呢？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顺时针第一个 token ≥ 65 的是 D（81），存 D。加入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E=70 后，(58, 70] 归 E，65 改存 E，只从 D 搬走这一段。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84545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V₁ = [Sx,2],[Sy,3] 与 V₂ = [Sx,2],[Sy,2],[Sz,1]；合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并后由 Sy 写回，新时钟是什么？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35405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Sy：3 &gt; 2，Sz：0 &lt; 1，并发。各项取最大得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[Sx,2],[Sy,3],[Sz,1]，Sy 再 +1，新时钟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[Sx,2],[Sy,4],[Sz,1]。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5092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5，想让读写都容忍 2 台故障并保证读到新值，W、R 取多少？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写容忍 N − W ≥ 2 得 W ≤ 3，读同理 R ≤ 3；又要 W + R &gt; 5，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W = R = 3。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2157412"/>
            <a:chOff x="6248400" y="3522345"/>
            <a:chExt cx="5410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480075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树有 2¹⁶ 个叶子，只有 1 个叶子不同，按第40页的方法最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多比较几次哈希？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571524"/>
              <a:ext cx="4523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1 次，往下每层比 2 个孩子，共 16 层：1 + 2 × 16 = 33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991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向量时钟题先把缺的项补成 0 再逐项比较；环上找节点时注意超过最大 token 要绕回环首。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第5部分 键值对系统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2572"/>
            <a:ext cx="5080787" cy="1578770"/>
            <a:chOff x="533400" y="1532572"/>
            <a:chExt cx="5080787" cy="1578770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9105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542574"/>
              <a:ext cx="4732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 选 AP：写永远可以成功，冲突留到读时解决，只保证最终一致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02130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183384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1812131"/>
              <a:ext cx="4742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一致性哈希加虚拟节点分布数据，Gossip 让每个节点都有完整的环信息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71688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1034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81689"/>
              <a:ext cx="4831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存在 preference list 上的 N 个节点；W + R &gt; N 保证读写集合相交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342198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37391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352199"/>
              <a:ext cx="455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向量时钟逐项比较：全 ≤ 为早，有大有小为并发，并发版本读时合并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11755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05" y="264347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2621756"/>
              <a:ext cx="4087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临时故障用宽松计数 + 数据回传，永久故障用 Merkle 树同步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81312"/>
              <a:ext cx="160020" cy="16002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105" y="291303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955" y="2891314"/>
              <a:ext cx="4028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写凑齐 W 个确认、读凑齐 R 个结果，读完顺手修正落后副本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236595"/>
            <a:ext cx="6059805" cy="2443162"/>
            <a:chOff x="533400" y="3236595"/>
            <a:chExt cx="6059805" cy="2443162"/>
          </a:xfrm>
        </p:grpSpPr>
        <p:sp>
          <p:nvSpPr>
            <p:cNvPr id="26" name="Rectangle 26"/>
            <p:cNvSpPr/>
            <p:nvPr/>
          </p:nvSpPr>
          <p:spPr>
            <a:xfrm>
              <a:off x="533400" y="3236595"/>
              <a:ext cx="6059805" cy="2443162"/>
            </a:xfrm>
            <a:prstGeom prst="roundRect">
              <a:avLst>
                <a:gd name="adj" fmla="val 5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369945"/>
              <a:ext cx="47625" cy="21764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342328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0357" y="34561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6762" y="38242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3768090"/>
              <a:ext cx="51314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CAP 的可用性不是“延迟小”（第6页）；环的范围是 0 到 2ⁿ − 1（第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15页）；W+R&gt;N 保证的是读写集合相交，与“一台故障”无关（第26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46386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4582478"/>
              <a:ext cx="52257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读到最新数据不需要 N 个健康副本（第36页）；第 8 步冲突解决不只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看时间戳（第49页）；400 KB 是 DynamoDB 的上限（第51页）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898005" y="1524000"/>
            <a:ext cx="4760595" cy="2800350"/>
            <a:chOff x="6898005" y="1524000"/>
            <a:chExt cx="4760595" cy="2800350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025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0842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51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虚拟节点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18208" y="20454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分离负载映射和资源映射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5160" y="2445544"/>
              <a:ext cx="498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Gossip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18208" y="24455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两两交换版本，对数轮传遍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5160" y="284559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NWR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18208" y="2845594"/>
              <a:ext cx="1323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+ R &gt; N 则必相交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5160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向量时钟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18208" y="32456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（节点，计数器）对，分先后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5160" y="3645694"/>
              <a:ext cx="115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Hinted handoff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8208" y="36456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临时代管，恢复后回传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98005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5160" y="4045744"/>
              <a:ext cx="729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Merkle 树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18208" y="40457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从根比哈希，只传差异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41629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898005" y="4493895"/>
            <a:ext cx="4760595" cy="1185862"/>
            <a:chOff x="6898005" y="4493895"/>
            <a:chExt cx="4760595" cy="1185862"/>
          </a:xfrm>
        </p:grpSpPr>
        <p:sp>
          <p:nvSpPr>
            <p:cNvPr id="61" name="Rectangle 61"/>
            <p:cNvSpPr/>
            <p:nvPr/>
          </p:nvSpPr>
          <p:spPr>
            <a:xfrm>
              <a:off x="6898005" y="4493895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84695" y="46805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73316" y="47134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77837" y="5025390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第6部分 Bigtable：顺序分布、主控节点、LSM 树，留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意它和 Dynamo 在一致性上的不同取舍。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6" name="Rectangle 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8373"/>
              <a:ext cx="9186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复习时动手做三件事：在环上写出 preference list，填一张 N = 3 的 (W, R) 表，画一遍 D1 到 D5 的向量时钟。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第5部分 分布式键值对系统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5">
  <a:themeElements>
    <a:clrScheme name="dstore_p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2026-09-23T11:17:54Z</dcterms:created>
  <dcterms:modified xsi:type="dcterms:W3CDTF">2026-09-23T11:17:54Z</dcterms:modified>
  <cp:category/>
  <cp:contentStatus/>
</cp:coreProperties>
</file>