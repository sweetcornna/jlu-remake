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tore_p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tore_p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fa955d9cabf557a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b947d6d62d981a3.png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75c16f265f52d6f.png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5556" t="0" r="555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5" name="cover-title"/>
          <p:cNvGrpSpPr/>
          <p:nvPr/>
        </p:nvGrpSpPr>
        <p:grpSpPr>
          <a:xfrm>
            <a:off x="666750" y="1619250"/>
            <a:ext cx="5543855" cy="3147251"/>
            <a:chOff x="666750" y="1619250"/>
            <a:chExt cx="5543855" cy="3147251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345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6607" y="1718310"/>
              <a:ext cx="1592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分布式存储 · 第4部分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5533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NFS 到 HDFS、GFS，看大文件怎么存、怎么容错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47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NFS 网络文件系统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78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MapReduce 与 HDFS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60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GFS 的租约与一致性</a:t>
              </a:r>
            </a:p>
          </p:txBody>
        </p:sp>
      </p:grpSp>
      <p:grpSp>
        <p:nvGrpSpPr>
          <p:cNvPr id="17" name="cover-credit"/>
          <p:cNvGrpSpPr/>
          <p:nvPr/>
        </p:nvGrpSpPr>
        <p:grpSpPr>
          <a:xfrm>
            <a:off x="680466" y="6192202"/>
            <a:ext cx="4350144" cy="205359"/>
            <a:chOff x="680466" y="6192202"/>
            <a:chExt cx="4350144" cy="205359"/>
          </a:xfrm>
        </p:grpSpPr>
        <p:sp>
          <p:nvSpPr>
            <p:cNvPr id="16" name="TextBox 16"/>
            <p:cNvSpPr txBox="1"/>
            <p:nvPr/>
          </p:nvSpPr>
          <p:spPr>
            <a:xfrm>
              <a:off x="680466" y="6192202"/>
              <a:ext cx="43501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自学复习版｜据吉林大学《分布式存储》第4部分课件整理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428875" cy="909257"/>
            <a:chOff x="520446" y="342900"/>
            <a:chExt cx="24288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233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035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网络文件系统的设计需求、虚拟文件系统、exports 配置与安全性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2330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6841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 与 Reduce 两个函数、WordCount、PageRank 的图模型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5589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41431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主从架构、文件分块与副本、NameNode 单点与高可用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085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调度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130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数据本地性、公平调度的不足、延迟调度与最大跳数 D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4233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架构与元数据、租约机制、一致性模型、两种追加流程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说出分布式文件系统要解决的三个问题：远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程访问、并发、多副本与缓存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25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 HDFS 与 GFS 的主从架构，说清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NameNode/master 只管元数据不经手数据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WordCount 说清 Map 与 Reduce 各做什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么，手算一遍 PageRank 简化模型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解释延迟调度为什么能提高数据本地性，会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用公式估算跳过 D 次的非本地概率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587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 consistent 与 defined，说清租约机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制怎么把写顺序的决定权下放给主副本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9281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 网络文件系统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一台服务器把目录共享出去，别的机器挂载后就像本地盘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533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内容提要：网络文件系统 NFS 的简介、配置和应用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设计需求与共享存储的优点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731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虚拟文件系统与 exports 配置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协议、文件锁与安全性风险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605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43" y="407194"/>
              <a:ext cx="2624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NFS 网络文件系统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分布式文件系统要解决的三件事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396990" cy="308039"/>
            <a:chOff x="525399" y="1550194"/>
            <a:chExt cx="63969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3969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让一台机器上的程序，像用本地文件一样用另一台服务器上的数据。</a:t>
              </a:r>
            </a:p>
          </p:txBody>
        </p:sp>
      </p:grpSp>
      <p:grpSp>
        <p:nvGrpSpPr>
          <p:cNvPr id="21" name="c1-card-1"/>
          <p:cNvGrpSpPr/>
          <p:nvPr/>
        </p:nvGrpSpPr>
        <p:grpSpPr>
          <a:xfrm>
            <a:off x="533400" y="1967865"/>
            <a:ext cx="5626418" cy="2016442"/>
            <a:chOff x="533400" y="1967865"/>
            <a:chExt cx="5626418" cy="201644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626418" cy="2016442"/>
            </a:xfrm>
            <a:prstGeom prst="roundRect">
              <a:avLst>
                <a:gd name="adj" fmla="val 66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17497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335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设计需求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5922" y="2212658"/>
              <a:ext cx="2202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分布式文件系统（DFS）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6365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5736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支持访问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远程服务器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上的数据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9718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90893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要考虑并发：并发写谁的结果生效、掉线怎么优雅处理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3070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2442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可能支持多副本和本地缓存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357520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实现复杂度和应用场景决定了具体怎么设计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4174808"/>
            <a:ext cx="5626418" cy="1059180"/>
            <a:chOff x="533400" y="4174808"/>
            <a:chExt cx="5626418" cy="1059180"/>
          </a:xfrm>
        </p:grpSpPr>
        <p:sp>
          <p:nvSpPr>
            <p:cNvPr id="22" name="Rectangle 22"/>
            <p:cNvSpPr/>
            <p:nvPr/>
          </p:nvSpPr>
          <p:spPr>
            <a:xfrm>
              <a:off x="533400" y="4174808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4604385"/>
              <a:ext cx="200026" cy="200025"/>
              <a:chOff x="738188" y="4604385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46043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46488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47599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4323398"/>
              <a:ext cx="46062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三条需求两两有取舍：要并发一致就难做缓存，要多副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本就要处理副本间的同步。本讲的 NFS、HDFS、GFS 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这三条上各有侧重。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464618" y="1967865"/>
            <a:ext cx="5193982" cy="3266122"/>
            <a:chOff x="6464618" y="1967865"/>
            <a:chExt cx="5193982" cy="3266122"/>
          </a:xfrm>
        </p:grpSpPr>
        <p:sp>
          <p:nvSpPr>
            <p:cNvPr id="29" name="Rectangle 29"/>
            <p:cNvSpPr/>
            <p:nvPr/>
          </p:nvSpPr>
          <p:spPr>
            <a:xfrm>
              <a:off x="6464618" y="1967865"/>
              <a:ext cx="5193982" cy="3266122"/>
            </a:xfrm>
            <a:prstGeom prst="roundRect">
              <a:avLst>
                <a:gd name="adj" fmla="val 40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2101215"/>
              <a:ext cx="47625" cy="299942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2268" y="2177415"/>
              <a:ext cx="927735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81166" y="2213134"/>
              <a:ext cx="789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NFS 是什么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6683" y="2212658"/>
              <a:ext cx="21245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Network File System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04648" y="2573655"/>
              <a:ext cx="4539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Sun 公司 1984 年公布，让不同机器、不同操作系统通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过网络分享数据。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17983" y="32575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76098" y="3194685"/>
              <a:ext cx="37892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以标准 UNIX 文件接口（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POSIX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）提供服务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17983" y="359283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76098" y="3529965"/>
              <a:ext cx="3841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把网络驱动器挂载（mount）到本地目录中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17983" y="39281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76098" y="38652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又叫网络共享存储器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605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43" y="407194"/>
              <a:ext cx="2624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NFS 网络文件系统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集群为什么要共享存储：省空间、好管理、能伸缩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27685" y="1524000"/>
            <a:ext cx="5415915" cy="2091214"/>
            <a:chOff x="527685" y="1524000"/>
            <a:chExt cx="5415915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90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存储内容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824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放在哪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3468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系统程序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39480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每个节点独立装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62540" y="210835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各节点独立运行操作系统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39480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主节点存储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62540" y="255698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从节点共享，按权限使用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9480" y="30056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主节点存储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62540" y="30056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从节点共享，各用户独立空间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2689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44995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7685" y="339518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单机文件系统与集群（网络）文件系统的分工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3761422"/>
            <a:ext cx="5410200" cy="2601278"/>
            <a:chOff x="533400" y="3761422"/>
            <a:chExt cx="5410200" cy="2601278"/>
          </a:xfrm>
        </p:grpSpPr>
        <p:sp>
          <p:nvSpPr>
            <p:cNvPr id="28" name="Rectangle 28"/>
            <p:cNvSpPr/>
            <p:nvPr/>
          </p:nvSpPr>
          <p:spPr>
            <a:xfrm>
              <a:off x="533400" y="3761422"/>
              <a:ext cx="5410200" cy="2601278"/>
            </a:xfrm>
            <a:prstGeom prst="roundRect">
              <a:avLst>
                <a:gd name="adj" fmla="val 439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26129" y="4957881"/>
              <a:ext cx="224134" cy="192560"/>
              <a:chOff x="726129" y="4957881"/>
              <a:chExt cx="224134" cy="19256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38200" y="50282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6129" y="49578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51060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4680585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不共享的两个麻烦：同一份数据在每台机器上各存一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份，浪费磁盘；用户在每台机器上都要单独建账号和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目录，权限难管。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1986915"/>
            <a:chOff x="6248400" y="1524000"/>
            <a:chExt cx="5410200" cy="1986915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96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5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共享存储的优点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59880" y="211074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集群内数据共享，减少本地副本，省磁盘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2446020"/>
              <a:ext cx="4444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用户的 home 目录放在 NFS 服务器上，各节点都能访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问，便于管理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01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9880" y="30670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服务器可动态上下线，便于集群伸缩</a:t>
              </a:r>
            </a:p>
          </p:txBody>
        </p:sp>
      </p:grpSp>
      <p:grpSp>
        <p:nvGrpSpPr>
          <p:cNvPr id="51" name="c2-kv-2"/>
          <p:cNvGrpSpPr/>
          <p:nvPr/>
        </p:nvGrpSpPr>
        <p:grpSpPr>
          <a:xfrm>
            <a:off x="6240780" y="3726180"/>
            <a:ext cx="5417820" cy="733425"/>
            <a:chOff x="6240780" y="3726180"/>
            <a:chExt cx="5417820" cy="733425"/>
          </a:xfrm>
        </p:grpSpPr>
        <p:sp>
          <p:nvSpPr>
            <p:cNvPr id="46" name="TextBox 46"/>
            <p:cNvSpPr txBox="1"/>
            <p:nvPr/>
          </p:nvSpPr>
          <p:spPr>
            <a:xfrm>
              <a:off x="6240780" y="3726180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NFS1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46583" y="3726180"/>
              <a:ext cx="3761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 /data1/home，供各节点当 home 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40462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240780" y="4166235"/>
              <a:ext cx="508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NFS2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46583" y="416623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 /data2/applications，供各节点共享应用</a:t>
              </a:r>
            </a:p>
          </p:txBody>
        </p:sp>
      </p:grpSp>
      <p:grpSp>
        <p:nvGrpSpPr>
          <p:cNvPr id="57" name="c2-callout-3"/>
          <p:cNvGrpSpPr/>
          <p:nvPr/>
        </p:nvGrpSpPr>
        <p:grpSpPr>
          <a:xfrm>
            <a:off x="6248400" y="4591050"/>
            <a:ext cx="5410200" cy="1771650"/>
            <a:chOff x="6248400" y="4591050"/>
            <a:chExt cx="5410200" cy="1771650"/>
          </a:xfrm>
        </p:grpSpPr>
        <p:sp>
          <p:nvSpPr>
            <p:cNvPr id="52" name="Rectangle 52"/>
            <p:cNvSpPr/>
            <p:nvPr/>
          </p:nvSpPr>
          <p:spPr>
            <a:xfrm>
              <a:off x="6248400" y="4591050"/>
              <a:ext cx="5410200" cy="1771650"/>
            </a:xfrm>
            <a:prstGeom prst="roundRect">
              <a:avLst>
                <a:gd name="adj" fmla="val 645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5376865"/>
              <a:ext cx="200023" cy="200023"/>
              <a:chOff x="6453188" y="5376865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453188" y="53768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86538" y="54435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130" y="5095875"/>
              <a:ext cx="44443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一句话记住 NFS 的价值：把「本该在每台机器上各存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一份、各管一套账号」的数据和 home 目录，集中到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服务器上共享，省空间也好管理。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50586" cy="909257"/>
            <a:chOff x="520446" y="342900"/>
            <a:chExt cx="93505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605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43" y="407194"/>
              <a:ext cx="2624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NFS 网络文件系统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505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 是虚拟文件系统：自己不管盘，架在服务器文件系统之上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4544378" cy="2234565"/>
            <a:chOff x="533400" y="1524000"/>
            <a:chExt cx="4544378" cy="22345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234565"/>
            </a:xfrm>
            <a:prstGeom prst="roundRect">
              <a:avLst>
                <a:gd name="adj" fmla="val 596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372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74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29996" y="2100739"/>
              <a:ext cx="28934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NFS 不实际管理本地磁盘的数据。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44855" y="248126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1446" y="2420779"/>
              <a:ext cx="319747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本地磁盘由真正的文件系统管理（EXT、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ReiserFS…）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44855" y="307276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1446" y="3012281"/>
              <a:ext cx="30845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NFS 建在主服务节点的文件系统之上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4855" y="339280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01446" y="3332321"/>
              <a:ext cx="2762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其他网络用户远程挂载 NFS 服务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944302"/>
            <a:ext cx="4544378" cy="756285"/>
            <a:chOff x="533400" y="3944302"/>
            <a:chExt cx="4544378" cy="756285"/>
          </a:xfrm>
        </p:grpSpPr>
        <p:sp>
          <p:nvSpPr>
            <p:cNvPr id="18" name="Rectangle 18"/>
            <p:cNvSpPr/>
            <p:nvPr/>
          </p:nvSpPr>
          <p:spPr>
            <a:xfrm>
              <a:off x="533400" y="3944302"/>
              <a:ext cx="454437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222433"/>
              <a:ext cx="200026" cy="200026"/>
              <a:chOff x="738188" y="4222433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2224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2891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43224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511" y="4091464"/>
              <a:ext cx="36212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客户端看到的是一个统一的目录树，底下哪些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是本地盘、哪些是远程挂载，用户不必关心。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4886325"/>
            <a:ext cx="4544378" cy="1545908"/>
            <a:chOff x="533400" y="4886325"/>
            <a:chExt cx="4544378" cy="1545908"/>
          </a:xfrm>
        </p:grpSpPr>
        <p:sp>
          <p:nvSpPr>
            <p:cNvPr id="25" name="Rectangle 25"/>
            <p:cNvSpPr/>
            <p:nvPr/>
          </p:nvSpPr>
          <p:spPr>
            <a:xfrm>
              <a:off x="533400" y="4886325"/>
              <a:ext cx="454437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501967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75335" y="50901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5543" y="51258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096" y="5463064"/>
              <a:ext cx="38016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就像你电脑里映射的一个网络盘：图标和本地盘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一样，双击就进，实际数据在机房的服务器上，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本机只是转发读写请求。</a:t>
              </a:r>
            </a:p>
          </p:txBody>
        </p:sp>
      </p:grpSp>
      <p:grpSp>
        <p:nvGrpSpPr>
          <p:cNvPr id="65" name="c2-graph-1"/>
          <p:cNvGrpSpPr/>
          <p:nvPr/>
        </p:nvGrpSpPr>
        <p:grpSpPr>
          <a:xfrm>
            <a:off x="5687378" y="1878330"/>
            <a:ext cx="5838824" cy="3937349"/>
            <a:chOff x="5687378" y="1878330"/>
            <a:chExt cx="5838824" cy="3937349"/>
          </a:xfrm>
        </p:grpSpPr>
        <p:sp>
          <p:nvSpPr>
            <p:cNvPr id="31" name="Freeform 31"/>
            <p:cNvSpPr/>
            <p:nvPr/>
          </p:nvSpPr>
          <p:spPr>
            <a:xfrm>
              <a:off x="8356282" y="3623310"/>
              <a:ext cx="1747838" cy="674370"/>
            </a:xfrm>
            <a:custGeom>
              <a:avLst/>
              <a:gdLst/>
              <a:ahLst/>
              <a:cxnLst/>
              <a:rect l="l" t="t" r="r" b="b"/>
              <a:pathLst>
                <a:path w="1747838" h="674370">
                  <a:moveTo>
                    <a:pt x="0" y="674370"/>
                  </a:moveTo>
                  <a:lnTo>
                    <a:pt x="1747838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  <a:custDash>
                <a:ds d="333333" sp="222222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10086975" y="357854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10478"/>
                  </a:moveTo>
                  <a:lnTo>
                    <a:pt x="34290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886950" y="2222182"/>
              <a:ext cx="575310" cy="1107758"/>
            </a:xfrm>
            <a:custGeom>
              <a:avLst/>
              <a:gdLst/>
              <a:ahLst/>
              <a:cxnLst/>
              <a:rect l="l" t="t" r="r" b="b"/>
              <a:pathLst>
                <a:path w="575310" h="1107758">
                  <a:moveTo>
                    <a:pt x="575310" y="110775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843135" y="2138362"/>
              <a:ext cx="86677" cy="105727"/>
            </a:xfrm>
            <a:custGeom>
              <a:avLst/>
              <a:gdLst/>
              <a:ahLst/>
              <a:cxnLst/>
              <a:rect l="l" t="t" r="r" b="b"/>
              <a:pathLst>
                <a:path w="86677" h="105727">
                  <a:moveTo>
                    <a:pt x="0" y="0"/>
                  </a:moveTo>
                  <a:lnTo>
                    <a:pt x="86677" y="61912"/>
                  </a:lnTo>
                  <a:lnTo>
                    <a:pt x="1905" y="105727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010275" y="4556760"/>
              <a:ext cx="9525" cy="902018"/>
            </a:xfrm>
            <a:custGeom>
              <a:avLst/>
              <a:gdLst/>
              <a:ahLst/>
              <a:cxnLst/>
              <a:rect l="l" t="t" r="r" b="b"/>
              <a:pathLst>
                <a:path w="9525" h="902018">
                  <a:moveTo>
                    <a:pt x="0" y="0"/>
                  </a:moveTo>
                  <a:lnTo>
                    <a:pt x="0" y="9020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7014210" y="4556760"/>
              <a:ext cx="9525" cy="902018"/>
            </a:xfrm>
            <a:custGeom>
              <a:avLst/>
              <a:gdLst/>
              <a:ahLst/>
              <a:cxnLst/>
              <a:rect l="l" t="t" r="r" b="b"/>
              <a:pathLst>
                <a:path w="9525" h="902018">
                  <a:moveTo>
                    <a:pt x="0" y="0"/>
                  </a:moveTo>
                  <a:lnTo>
                    <a:pt x="0" y="90201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026968" y="4751070"/>
              <a:ext cx="9525" cy="803910"/>
            </a:xfrm>
            <a:custGeom>
              <a:avLst/>
              <a:gdLst/>
              <a:ahLst/>
              <a:cxnLst/>
              <a:rect l="l" t="t" r="r" b="b"/>
              <a:pathLst>
                <a:path w="9525" h="803910">
                  <a:moveTo>
                    <a:pt x="0" y="0"/>
                  </a:moveTo>
                  <a:lnTo>
                    <a:pt x="0" y="8039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1156632" y="4751070"/>
              <a:ext cx="9525" cy="803910"/>
            </a:xfrm>
            <a:custGeom>
              <a:avLst/>
              <a:gdLst/>
              <a:ahLst/>
              <a:cxnLst/>
              <a:rect l="l" t="t" r="r" b="b"/>
              <a:pathLst>
                <a:path w="9525" h="803910">
                  <a:moveTo>
                    <a:pt x="0" y="0"/>
                  </a:moveTo>
                  <a:lnTo>
                    <a:pt x="0" y="8039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9175432" y="1878330"/>
              <a:ext cx="1201102" cy="260032"/>
            </a:xfrm>
            <a:prstGeom prst="roundRect">
              <a:avLst>
                <a:gd name="adj" fmla="val 3663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11228" y="3030855"/>
              <a:ext cx="1755458" cy="277178"/>
            </a:xfrm>
            <a:prstGeom prst="roundRect">
              <a:avLst>
                <a:gd name="adj" fmla="val 34364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5687378" y="4297680"/>
              <a:ext cx="646748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1312" y="4297680"/>
              <a:ext cx="646748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48575" y="4297680"/>
              <a:ext cx="739140" cy="260032"/>
            </a:xfrm>
            <a:prstGeom prst="roundRect">
              <a:avLst>
                <a:gd name="adj" fmla="val 36630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687378" y="5458778"/>
              <a:ext cx="646748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691312" y="5458778"/>
              <a:ext cx="646748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836468" y="3329940"/>
              <a:ext cx="1385888" cy="259080"/>
            </a:xfrm>
            <a:prstGeom prst="roundRect">
              <a:avLst>
                <a:gd name="adj" fmla="val 36765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703118" y="4491038"/>
              <a:ext cx="646748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787062" y="4491038"/>
              <a:ext cx="73914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657398" y="5554980"/>
              <a:ext cx="739140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787062" y="5554980"/>
              <a:ext cx="739140" cy="260032"/>
            </a:xfrm>
            <a:prstGeom prst="roundRect">
              <a:avLst>
                <a:gd name="adj" fmla="val 36630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00068" y="1947386"/>
              <a:ext cx="750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NFS server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90805" y="310848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客户端可见文件系统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844321" y="4366736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48256" y="4366736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77990" y="4366736"/>
              <a:ext cx="6803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NFS client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748558" y="5527834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本地盘 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52493" y="5527834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本地盘 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62235" y="339899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服务器文件系统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861013" y="456009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EXT2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858141" y="4560094"/>
              <a:ext cx="596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ReiserFS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699287" y="5624989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服务器盘 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828952" y="5624989"/>
              <a:ext cx="6553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服务器盘 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27795" y="3864292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048953" y="389334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远程挂载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81442" cy="909257"/>
            <a:chOff x="520446" y="342900"/>
            <a:chExt cx="95814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605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43" y="407194"/>
              <a:ext cx="2624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NFS 网络文件系统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814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 配置：在 exports 里写清「哪个目录、给谁、什么权限」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977765" cy="2064068"/>
            <a:chOff x="533400" y="1524000"/>
            <a:chExt cx="4977765" cy="20640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64068"/>
            </a:xfrm>
            <a:prstGeom prst="roundRect">
              <a:avLst>
                <a:gd name="adj" fmla="val 64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9736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工作模式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3340" y="1745932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 / 服务器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服务器把某目录设为输出目录（共享目录），客户端把它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挂载到自己的一个目录下。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服务器导出 /nfs/public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851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28938"/>
              <a:ext cx="4357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客户端挂到 /mnt/nfs，进去就能看到服务器上的文件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475" y="3225641"/>
              <a:ext cx="3253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有相应权限时可用 cp、cd、mv、rm、df 等操作</a:t>
              </a:r>
            </a:p>
          </p:txBody>
        </p:sp>
      </p:grpSp>
      <p:grpSp>
        <p:nvGrpSpPr>
          <p:cNvPr id="22" name="c1-code-2"/>
          <p:cNvGrpSpPr/>
          <p:nvPr/>
        </p:nvGrpSpPr>
        <p:grpSpPr>
          <a:xfrm>
            <a:off x="533400" y="3758565"/>
            <a:ext cx="4977765" cy="1033462"/>
            <a:chOff x="533400" y="3758565"/>
            <a:chExt cx="4977765" cy="1033462"/>
          </a:xfrm>
        </p:grpSpPr>
        <p:sp>
          <p:nvSpPr>
            <p:cNvPr id="19" name="Rectangle 19"/>
            <p:cNvSpPr/>
            <p:nvPr/>
          </p:nvSpPr>
          <p:spPr>
            <a:xfrm>
              <a:off x="533400" y="3758565"/>
              <a:ext cx="4977765" cy="1033462"/>
            </a:xfrm>
            <a:prstGeom prst="roundRect">
              <a:avLst>
                <a:gd name="adj" fmla="val 921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797" y="3910489"/>
              <a:ext cx="12444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exports 文件的一行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1797" y="4170521"/>
              <a:ext cx="3158744" cy="5431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# &lt;输出目录&gt; 客户端(选项,选项,...)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/root/share/  192.168.1.20(rw,sync,all_squash)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/home/share/  .jlu.edu.cn(ro,sync,all_squash)</a:t>
              </a:r>
            </a:p>
          </p:txBody>
        </p:sp>
      </p:grpSp>
      <p:grpSp>
        <p:nvGrpSpPr>
          <p:cNvPr id="29" name="c1-callout-3"/>
          <p:cNvGrpSpPr/>
          <p:nvPr/>
        </p:nvGrpSpPr>
        <p:grpSpPr>
          <a:xfrm>
            <a:off x="533400" y="4961572"/>
            <a:ext cx="4977765" cy="1401128"/>
            <a:chOff x="533400" y="4961572"/>
            <a:chExt cx="4977765" cy="1401128"/>
          </a:xfrm>
        </p:grpSpPr>
        <p:sp>
          <p:nvSpPr>
            <p:cNvPr id="23" name="Rectangle 23"/>
            <p:cNvSpPr/>
            <p:nvPr/>
          </p:nvSpPr>
          <p:spPr>
            <a:xfrm>
              <a:off x="533400" y="4961572"/>
              <a:ext cx="4977765" cy="1401128"/>
            </a:xfrm>
            <a:prstGeom prst="roundRect">
              <a:avLst>
                <a:gd name="adj" fmla="val 815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5562600"/>
              <a:ext cx="200026" cy="200026"/>
              <a:chOff x="738188" y="5562600"/>
              <a:chExt cx="200026" cy="2000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55626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6292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7088" y="56626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0892" y="5319712"/>
              <a:ext cx="398278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 = 一个共享目录。第一段写导出哪个目录，后面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每段写「给哪个客户端 + 一组括号里的选项」，同一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目录可对多个客户端给不同权限。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5815965" y="1524000"/>
            <a:ext cx="5842635" cy="2633662"/>
            <a:chOff x="5815965" y="1524000"/>
            <a:chExt cx="5842635" cy="2633662"/>
          </a:xfrm>
        </p:grpSpPr>
        <p:sp>
          <p:nvSpPr>
            <p:cNvPr id="30" name="Rectangle 30"/>
            <p:cNvSpPr/>
            <p:nvPr/>
          </p:nvSpPr>
          <p:spPr>
            <a:xfrm>
              <a:off x="5815965" y="1524000"/>
              <a:ext cx="5842635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1584" y="164877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客户端写法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75508" y="164877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11977" y="2087880"/>
              <a:ext cx="1378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192.168.16.20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65617" y="2087880"/>
              <a:ext cx="1200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 IP 的主机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23974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5965" y="2402205"/>
              <a:ext cx="584263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11977" y="2526982"/>
              <a:ext cx="1588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192.168.16.0/24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65617" y="252698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指定子网内所有主机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2835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11977" y="2966085"/>
              <a:ext cx="1168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pc1.vpn.net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65617" y="296608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指定域名的主机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32746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15965" y="3279458"/>
              <a:ext cx="5842635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11977" y="3405188"/>
              <a:ext cx="9582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*.vpn.net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65617" y="340518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指定域中所有主机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37137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11977" y="3843338"/>
              <a:ext cx="1027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*（或缺省）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65617" y="384333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所有主机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1524000"/>
              <a:ext cx="5842635" cy="2633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264842" y="1524000"/>
              <a:ext cx="9525" cy="2633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2-table-2"/>
          <p:cNvGrpSpPr/>
          <p:nvPr/>
        </p:nvGrpSpPr>
        <p:grpSpPr>
          <a:xfrm>
            <a:off x="5815965" y="4327208"/>
            <a:ext cx="5842635" cy="2000250"/>
            <a:chOff x="5815965" y="4327208"/>
            <a:chExt cx="5842635" cy="2000250"/>
          </a:xfrm>
        </p:grpSpPr>
        <p:sp>
          <p:nvSpPr>
            <p:cNvPr id="52" name="Rectangle 52"/>
            <p:cNvSpPr/>
            <p:nvPr/>
          </p:nvSpPr>
          <p:spPr>
            <a:xfrm>
              <a:off x="5815965" y="4327208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385001" y="444865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权限选项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57093" y="44486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13120" y="4848701"/>
              <a:ext cx="573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 / rw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65720" y="4848701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只读 / 可读写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815965" y="51225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815965" y="512730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913120" y="5248751"/>
              <a:ext cx="977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sync / async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65720" y="5248751"/>
              <a:ext cx="1994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同步写 / 异步写（先入内存）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55225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13120" y="5648801"/>
              <a:ext cx="96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root_squash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65720" y="5648801"/>
              <a:ext cx="24841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把客户端 root 压成 nobody（默认）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59226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15965" y="592740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13120" y="6048851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all_squash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65720" y="604885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把所有用户都压成匿名用户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815965" y="4327208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563802" y="4327208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4338" cy="909257"/>
            <a:chOff x="520446" y="342900"/>
            <a:chExt cx="660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0605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643" y="407194"/>
              <a:ext cx="2624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NFS 网络文件系统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 的协议、锁与安全性：权限压缩不能少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5410200" cy="1939290"/>
            <a:chOff x="533400" y="1524000"/>
            <a:chExt cx="5410200" cy="19392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495550" cy="1939290"/>
            </a:xfrm>
            <a:prstGeom prst="roundRect">
              <a:avLst>
                <a:gd name="adj" fmla="val 687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7898" y="17264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协议演进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23900" y="20793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9348" y="2027396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早期：无状态协议，基于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UDP，锁要靠上层实现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23900" y="26079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9348" y="2555081"/>
              <a:ext cx="18580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现代：改用 TCP/IP，广域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网也能用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448050" y="1524000"/>
              <a:ext cx="2495550" cy="1939290"/>
            </a:xfrm>
            <a:prstGeom prst="roundRect">
              <a:avLst>
                <a:gd name="adj" fmla="val 6876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22548" y="1726406"/>
              <a:ext cx="1101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 锁（v4）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3638550" y="207930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93998" y="2027396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客户端向服务端申请锁、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服务端响应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638550" y="26079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793998" y="2555081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锁基于租约，客户端要在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过期前续约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638550" y="31356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793998" y="308276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过期的锁被服务端丢弃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076575" y="233172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159808" y="243744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0" name="c1-bullets-2"/>
          <p:cNvGrpSpPr/>
          <p:nvPr/>
        </p:nvGrpSpPr>
        <p:grpSpPr>
          <a:xfrm>
            <a:off x="542925" y="3645218"/>
            <a:ext cx="4831842" cy="713993"/>
            <a:chOff x="542925" y="3645218"/>
            <a:chExt cx="4831842" cy="713993"/>
          </a:xfrm>
        </p:grpSpPr>
        <p:sp>
          <p:nvSpPr>
            <p:cNvPr id="24" name="Ellipse 24"/>
            <p:cNvSpPr/>
            <p:nvPr/>
          </p:nvSpPr>
          <p:spPr>
            <a:xfrm>
              <a:off x="542925" y="368331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9516" y="3645218"/>
              <a:ext cx="32702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DFS 的安全性有三方面：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认证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数据传输</a:t>
              </a: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特权提升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42925" y="393763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9516" y="3899535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认证：早期把登录请求交本地操作系统处理，有风险；现代可依托其他方案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42925" y="419195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9516" y="4153852"/>
              <a:ext cx="2608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传输：早期明文传输，现代可用 SSH 加密</a:t>
              </a:r>
            </a:p>
          </p:txBody>
        </p:sp>
      </p:grpSp>
      <p:grpSp>
        <p:nvGrpSpPr>
          <p:cNvPr id="37" name="c1-callout-3"/>
          <p:cNvGrpSpPr/>
          <p:nvPr/>
        </p:nvGrpSpPr>
        <p:grpSpPr>
          <a:xfrm>
            <a:off x="533400" y="4482465"/>
            <a:ext cx="5410200" cy="1005840"/>
            <a:chOff x="533400" y="4482465"/>
            <a:chExt cx="5410200" cy="1005840"/>
          </a:xfrm>
        </p:grpSpPr>
        <p:sp>
          <p:nvSpPr>
            <p:cNvPr id="31" name="Rectangle 31"/>
            <p:cNvSpPr/>
            <p:nvPr/>
          </p:nvSpPr>
          <p:spPr>
            <a:xfrm>
              <a:off x="533400" y="4482465"/>
              <a:ext cx="5410200" cy="1005840"/>
            </a:xfrm>
            <a:prstGeom prst="roundRect">
              <a:avLst>
                <a:gd name="adj" fmla="val 1136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4885373"/>
              <a:ext cx="200026" cy="200026"/>
              <a:chOff x="738188" y="4885373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4885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4952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4985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1273" y="4662011"/>
              <a:ext cx="44020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 早期主打「同一可信内网里方便共享」，安全基本交给网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络边界。放到今天，认证、加密、权限压缩缺一不可，尤其不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能把导出目录直接暴露到公网。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1687830"/>
            <a:chOff x="6248400" y="1524000"/>
            <a:chExt cx="5410200" cy="1687830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1687830"/>
            </a:xfrm>
            <a:prstGeom prst="roundRect">
              <a:avLst>
                <a:gd name="adj" fmla="val 790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1657350"/>
              <a:ext cx="47625" cy="14211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674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448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特权提升风险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1608" y="1744504"/>
              <a:ext cx="3517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no_root_squash 配错就等于把 root 交出去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0998" y="2061686"/>
              <a:ext cx="46946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若服务器导出时用了 no_root_squash，客户端的 root 就映射成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服务器的 root。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77000" y="2641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32448" y="2589371"/>
              <a:ext cx="44833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谁在任意一台客户端上有本地 root，谁就能在共享目录里改属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主、放 setuid-root 文件，从而拿到服务器 root。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248400" y="3376612"/>
            <a:ext cx="5410200" cy="2077402"/>
            <a:chOff x="6248400" y="3376612"/>
            <a:chExt cx="5410200" cy="2077402"/>
          </a:xfrm>
        </p:grpSpPr>
        <p:sp>
          <p:nvSpPr>
            <p:cNvPr id="47" name="Rectangle 47"/>
            <p:cNvSpPr/>
            <p:nvPr/>
          </p:nvSpPr>
          <p:spPr>
            <a:xfrm>
              <a:off x="6248400" y="3376612"/>
              <a:ext cx="5410200" cy="2077402"/>
            </a:xfrm>
            <a:prstGeom prst="roundRect">
              <a:avLst>
                <a:gd name="adj" fmla="val 64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3509962"/>
              <a:ext cx="47625" cy="18107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7475" y="35575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0147" y="35904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防御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477000" y="39509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32448" y="3898106"/>
              <a:ext cx="3468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默认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root_squash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：远程 root 压成 nobody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477000" y="42357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632448" y="4182904"/>
              <a:ext cx="3209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更严就用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all_squash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：所有用户压成匿名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477000" y="452056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32448" y="4467701"/>
              <a:ext cx="3192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关掉 insecure，配合网络隔离与加密传输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58" name="Rectangle 58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5805011"/>
              <a:ext cx="99291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记住这条判断规则：导出目录时凡是写了 no_root_squash，就默认存在特权提升风险，除非该目录本就只在可信内网、可信客户端之间共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享。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42297" cy="3351847"/>
            <a:chOff x="667512" y="1835468"/>
            <a:chExt cx="6342297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75255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 并行计算模型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323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用户只写 Map 和 Reduce 两个函数，框架负责并行、容错、调度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350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内容提要：MapReduce 并行计算模型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621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与 Reduce 两个函数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37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WordCount 与数据流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7854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PageRank 的图模型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27889" cy="909257"/>
            <a:chOff x="520446" y="342900"/>
            <a:chExt cx="84278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80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851" y="407194"/>
              <a:ext cx="3164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MapReduce 并行计算模型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278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MapReduce：把「拆分处理」和「汇总」交给两个函数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036445"/>
            <a:chOff x="533400" y="1524000"/>
            <a:chExt cx="4977765" cy="2036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模型特点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并行化和分布式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状态监控工具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179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11658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简洁的抽象模型</a:t>
              </a:r>
            </a:p>
          </p:txBody>
        </p:sp>
      </p:grpSp>
      <p:grpSp>
        <p:nvGrpSpPr>
          <p:cNvPr id="22" name="c1-image-2"/>
          <p:cNvGrpSpPr/>
          <p:nvPr/>
        </p:nvGrpSpPr>
        <p:grpSpPr>
          <a:xfrm>
            <a:off x="512503" y="3750945"/>
            <a:ext cx="5019558" cy="1743552"/>
            <a:chOff x="512503" y="3750945"/>
            <a:chExt cx="5019558" cy="1743552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2069782" y="3750945"/>
              <a:ext cx="1905000" cy="1428750"/>
            </a:xfrm>
            <a:prstGeom prst="roundRect">
              <a:avLst>
                <a:gd name="adj" fmla="val 9333"/>
              </a:avLst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512503" y="5274469"/>
              <a:ext cx="5019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每人先在各自那摞纸上按词计数（Map），再由少数人按词汇总（Reduce）</a:t>
              </a:r>
            </a:p>
          </p:txBody>
        </p:sp>
      </p:grpSp>
      <p:grpSp>
        <p:nvGrpSpPr>
          <p:cNvPr id="28" name="c2-kv-1"/>
          <p:cNvGrpSpPr/>
          <p:nvPr/>
        </p:nvGrpSpPr>
        <p:grpSpPr>
          <a:xfrm>
            <a:off x="5808345" y="1548765"/>
            <a:ext cx="5850255" cy="1015365"/>
            <a:chOff x="5808345" y="1548765"/>
            <a:chExt cx="5850255" cy="1015365"/>
          </a:xfrm>
        </p:grpSpPr>
        <p:sp>
          <p:nvSpPr>
            <p:cNvPr id="23" name="TextBox 23"/>
            <p:cNvSpPr txBox="1"/>
            <p:nvPr/>
          </p:nvSpPr>
          <p:spPr>
            <a:xfrm>
              <a:off x="5808345" y="1548765"/>
              <a:ext cx="41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42748" y="1548765"/>
              <a:ext cx="4587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对输入文件的每条逻辑记录做用户自定义操作，产出中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间结果 key/value 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815965" y="21507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08345" y="2270760"/>
              <a:ext cx="72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Reduce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42748" y="2270760"/>
              <a:ext cx="4730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把相同 key 的 value 按用户方式汇总，产出最终结果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5815965" y="2695575"/>
            <a:ext cx="5842635" cy="2773680"/>
            <a:chOff x="5815965" y="2695575"/>
            <a:chExt cx="5842635" cy="2773680"/>
          </a:xfrm>
        </p:grpSpPr>
        <p:sp>
          <p:nvSpPr>
            <p:cNvPr id="29" name="Rectangle 29"/>
            <p:cNvSpPr/>
            <p:nvPr/>
          </p:nvSpPr>
          <p:spPr>
            <a:xfrm>
              <a:off x="5815965" y="2695575"/>
              <a:ext cx="5842635" cy="2773680"/>
            </a:xfrm>
            <a:prstGeom prst="roundRect">
              <a:avLst>
                <a:gd name="adj" fmla="val 48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825490" y="2828925"/>
              <a:ext cx="47625" cy="25069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63615" y="290512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41021" y="29408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为什么好用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55995" y="3282315"/>
              <a:ext cx="5187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之间互不依赖，可在成千上万台机器上同时跑；框架自动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处理数据切分、任务分配和失败重试。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57138" y="3900011"/>
              <a:ext cx="5092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库把复杂度藏起来，用户只关心「每条记录怎么处理」和「相同 key 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么合并」。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63681" cy="909257"/>
            <a:chOff x="520446" y="342900"/>
            <a:chExt cx="92636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80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851" y="407194"/>
              <a:ext cx="3164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MapReduce 并行计算模型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636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 数据流：Map 产出中间对，分区后交给 Reduce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flow-1"/>
          <p:cNvGrpSpPr/>
          <p:nvPr/>
        </p:nvGrpSpPr>
        <p:grpSpPr>
          <a:xfrm>
            <a:off x="972502" y="1618298"/>
            <a:ext cx="5397817" cy="3809047"/>
            <a:chOff x="972502" y="1618298"/>
            <a:chExt cx="5397817" cy="3809047"/>
          </a:xfrm>
        </p:grpSpPr>
        <p:sp>
          <p:nvSpPr>
            <p:cNvPr id="7" name="Freeform 7"/>
            <p:cNvSpPr/>
            <p:nvPr/>
          </p:nvSpPr>
          <p:spPr>
            <a:xfrm>
              <a:off x="3670935" y="2247900"/>
              <a:ext cx="9525" cy="84773"/>
            </a:xfrm>
            <a:custGeom>
              <a:avLst/>
              <a:gdLst/>
              <a:ahLst/>
              <a:cxnLst/>
              <a:rect l="l" t="t" r="r" b="b"/>
              <a:pathLst>
                <a:path w="9525" h="84773">
                  <a:moveTo>
                    <a:pt x="0" y="0"/>
                  </a:moveTo>
                  <a:lnTo>
                    <a:pt x="0" y="847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18548" y="23326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670935" y="3067050"/>
              <a:ext cx="9525" cy="84772"/>
            </a:xfrm>
            <a:custGeom>
              <a:avLst/>
              <a:gdLst/>
              <a:ahLst/>
              <a:cxnLst/>
              <a:rect l="l" t="t" r="r" b="b"/>
              <a:pathLst>
                <a:path w="9525" h="84772">
                  <a:moveTo>
                    <a:pt x="0" y="0"/>
                  </a:moveTo>
                  <a:lnTo>
                    <a:pt x="0" y="847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18548" y="31518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670935" y="3885248"/>
              <a:ext cx="9525" cy="84773"/>
            </a:xfrm>
            <a:custGeom>
              <a:avLst/>
              <a:gdLst/>
              <a:ahLst/>
              <a:cxnLst/>
              <a:rect l="l" t="t" r="r" b="b"/>
              <a:pathLst>
                <a:path w="9525" h="84773">
                  <a:moveTo>
                    <a:pt x="0" y="0"/>
                  </a:moveTo>
                  <a:lnTo>
                    <a:pt x="0" y="8477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618548" y="39700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670935" y="4704398"/>
              <a:ext cx="9525" cy="180022"/>
            </a:xfrm>
            <a:custGeom>
              <a:avLst/>
              <a:gdLst/>
              <a:ahLst/>
              <a:cxnLst/>
              <a:rect l="l" t="t" r="r" b="b"/>
              <a:pathLst>
                <a:path w="9525" h="180022">
                  <a:moveTo>
                    <a:pt x="0" y="0"/>
                  </a:moveTo>
                  <a:lnTo>
                    <a:pt x="0" y="18002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618548" y="48844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72502" y="1618298"/>
              <a:ext cx="5397817" cy="629602"/>
            </a:xfrm>
            <a:custGeom>
              <a:avLst/>
              <a:gdLst/>
              <a:ahLst/>
              <a:cxnLst/>
              <a:rect l="l" t="t" r="r" b="b"/>
              <a:pathLst>
                <a:path w="5397817" h="629602">
                  <a:moveTo>
                    <a:pt x="133350" y="0"/>
                  </a:moveTo>
                  <a:lnTo>
                    <a:pt x="5397817" y="0"/>
                  </a:lnTo>
                  <a:lnTo>
                    <a:pt x="5264467" y="629602"/>
                  </a:lnTo>
                  <a:lnTo>
                    <a:pt x="0" y="629602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72502" y="2437448"/>
              <a:ext cx="5396865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72502" y="3256598"/>
              <a:ext cx="539686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72502" y="4074795"/>
              <a:ext cx="5396865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72502" y="4989195"/>
              <a:ext cx="5397817" cy="438150"/>
            </a:xfrm>
            <a:custGeom>
              <a:avLst/>
              <a:gdLst/>
              <a:ahLst/>
              <a:cxnLst/>
              <a:rect l="l" t="t" r="r" b="b"/>
              <a:pathLst>
                <a:path w="5397817" h="438150">
                  <a:moveTo>
                    <a:pt x="133350" y="0"/>
                  </a:moveTo>
                  <a:lnTo>
                    <a:pt x="5397817" y="0"/>
                  </a:lnTo>
                  <a:lnTo>
                    <a:pt x="5264467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36138" y="1734979"/>
              <a:ext cx="10695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输入文件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（HDFS 分块）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91434" y="2554129"/>
              <a:ext cx="115900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逐条产出 (k,v)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50794" y="3372326"/>
              <a:ext cx="124028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Shuffle：按 key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 + 分区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87370" y="4191476"/>
              <a:ext cx="116713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合并同 key 的 v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19831" y="51192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输出文件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699510" y="3069908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22751" y="30965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中间结果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7114222" y="1524000"/>
            <a:ext cx="4544378" cy="2844165"/>
            <a:chOff x="7114222" y="1524000"/>
            <a:chExt cx="4544378" cy="2844165"/>
          </a:xfrm>
        </p:grpSpPr>
        <p:sp>
          <p:nvSpPr>
            <p:cNvPr id="28" name="Rectangle 28"/>
            <p:cNvSpPr/>
            <p:nvPr/>
          </p:nvSpPr>
          <p:spPr>
            <a:xfrm>
              <a:off x="7114222" y="1524000"/>
              <a:ext cx="4544378" cy="2844165"/>
            </a:xfrm>
            <a:prstGeom prst="roundRect">
              <a:avLst>
                <a:gd name="adj" fmla="val 46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123748" y="1657350"/>
              <a:ext cx="47625" cy="25774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361872" y="1733550"/>
              <a:ext cx="144303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21189" y="1769269"/>
              <a:ext cx="13234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分区（Partition）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54252" y="2110740"/>
              <a:ext cx="3701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分区过程把 Map 任务和 Reduce 任务联系起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来：按 key 的哈希决定这条中间结果归哪个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Reduce。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30803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3017520"/>
              <a:ext cx="3272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分区函数默认 hash(key) mod R，R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任务数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7014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638550"/>
              <a:ext cx="3606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同一个 key 一定进同一个 Reduce，保证汇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总正确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7114222" y="4558665"/>
            <a:ext cx="4544378" cy="1059180"/>
            <a:chOff x="7114222" y="4558665"/>
            <a:chExt cx="4544378" cy="1059180"/>
          </a:xfrm>
        </p:grpSpPr>
        <p:sp>
          <p:nvSpPr>
            <p:cNvPr id="38" name="Rectangle 38"/>
            <p:cNvSpPr/>
            <p:nvPr/>
          </p:nvSpPr>
          <p:spPr>
            <a:xfrm>
              <a:off x="7114222" y="4558665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19010" y="4988243"/>
              <a:ext cx="200026" cy="200025"/>
              <a:chOff x="7319010" y="4988243"/>
              <a:chExt cx="200026" cy="2000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19010" y="49882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358749" y="50326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393464" y="51438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620952" y="4707255"/>
              <a:ext cx="36728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Map 端排序 + 按 key 分区，是「相同 key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汇到一起」的关键，也是 Shuffle 阶段最花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网络和磁盘的地方。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7696" cy="909257"/>
            <a:chOff x="520446" y="342900"/>
            <a:chExt cx="64776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80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851" y="407194"/>
              <a:ext cx="3164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MapReduce 并行计算模型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76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例题：WordCount 统计每个词出现多少次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586990"/>
            <a:chOff x="533400" y="1524000"/>
            <a:chExt cx="5410200" cy="2586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伪代码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2650998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map(String key, String value):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key: 文档名  value: 文档内容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each word w in value: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EmitIntermediate(w, 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"1"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reduce(String key, Iterator values):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key: 一个词  values: 一串计数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int result = 0;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each v in values: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result += ParseInt(v);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Emit(AsString(result));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286250"/>
            <a:ext cx="5410200" cy="2076450"/>
            <a:chOff x="533400" y="4286250"/>
            <a:chExt cx="5410200" cy="2076450"/>
          </a:xfrm>
        </p:grpSpPr>
        <p:sp>
          <p:nvSpPr>
            <p:cNvPr id="11" name="Rectangle 11"/>
            <p:cNvSpPr/>
            <p:nvPr/>
          </p:nvSpPr>
          <p:spPr>
            <a:xfrm>
              <a:off x="533400" y="4286250"/>
              <a:ext cx="5410200" cy="2076450"/>
            </a:xfrm>
            <a:prstGeom prst="roundRect">
              <a:avLst>
                <a:gd name="adj" fmla="val 550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224463"/>
              <a:ext cx="200026" cy="200026"/>
              <a:chOff x="738188" y="5224463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22446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2911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32447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892" y="4981575"/>
              <a:ext cx="452285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对每个词发一个 (w, 1)；reduce 把某个词的所有计数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加起来。框架自动把相同词的计数收到一起，交给同一个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reduce。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6248400" y="1524000"/>
            <a:ext cx="5410200" cy="2840355"/>
            <a:chOff x="6248400" y="1524000"/>
            <a:chExt cx="5410200" cy="2840355"/>
          </a:xfrm>
        </p:grpSpPr>
        <p:sp>
          <p:nvSpPr>
            <p:cNvPr id="18" name="Rectangle 18"/>
            <p:cNvSpPr/>
            <p:nvPr/>
          </p:nvSpPr>
          <p:spPr>
            <a:xfrm>
              <a:off x="6248400" y="1524000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415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66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48412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46670" y="2054066"/>
              <a:ext cx="1918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 map is the reduce map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248400" y="2330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233553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8412" y="2459831"/>
              <a:ext cx="6597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产出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46670" y="2459831"/>
              <a:ext cx="1752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(the,1) (map,1) (is,1)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248400" y="273653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46670" y="286559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(the,1) (reduce,1) (map,1)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48400" y="3142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48400" y="314706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8412" y="3271361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key 分组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46670" y="3271361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the→[1,1] map→[1,1]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354806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46670" y="367712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is→[1] reduce→[1]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39538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48400" y="3958590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8412" y="4082891"/>
              <a:ext cx="8882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产出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556182" y="3968115"/>
              <a:ext cx="409289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46670" y="4082891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the=2 map=2 is=1 reduce=1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1524000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541895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6248400" y="4539615"/>
            <a:ext cx="5410200" cy="1680210"/>
            <a:chOff x="6248400" y="4539615"/>
            <a:chExt cx="5410200" cy="1680210"/>
          </a:xfrm>
        </p:grpSpPr>
        <p:sp>
          <p:nvSpPr>
            <p:cNvPr id="43" name="Rectangle 43"/>
            <p:cNvSpPr/>
            <p:nvPr/>
          </p:nvSpPr>
          <p:spPr>
            <a:xfrm>
              <a:off x="6248400" y="4539615"/>
              <a:ext cx="5410200" cy="1680210"/>
            </a:xfrm>
            <a:prstGeom prst="roundRect">
              <a:avLst>
                <a:gd name="adj" fmla="val 79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4672965"/>
              <a:ext cx="47625" cy="14135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8905" y="47320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70345" y="47663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2047" y="508825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Python Counter 跑同一句话，结果与上表一致：the 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各 2 次，is 与 reduce 各 1 次。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73190" y="5644039"/>
              <a:ext cx="473379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换成统计 URL 访问量、词频、日志计数都是同一套代码：只要满足「同 key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汇总」的结构。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2874" cy="909257"/>
            <a:chOff x="520446" y="342900"/>
            <a:chExt cx="89528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80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851" y="407194"/>
              <a:ext cx="3164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MapReduce 并行计算模型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28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PageRank 简化模型：被越多、越好的网页链接，就越重要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986915"/>
            <a:chOff x="533400" y="1524000"/>
            <a:chExt cx="5410200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把网页间的链接看成有向图，一个网页的重要性来自链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接到它的那些网页。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有很多网页链接到它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有高质量的网页链接到它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4"/>
              <p:cNvSpPr txBox="1">
                <a:spLocks noGrp="1"/>
              </p:cNvSpPr>
              <p:nvPr/>
            </p:nvSpPr>
            <p:spPr>
              <a:xfrm>
                <a:off x="533400" y="3701415"/>
                <a:ext cx="5410200" cy="8172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PR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v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∈</m:t>
                          </m:r>
                          <m:sSub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e>
                            <m:sub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sub>
                          </m:sSub>
                        </m:sub>
                        <m:sup/>
                        <m:e>
                          <m:f>
                            <m:fPr>
                              <m:type m:val="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PR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</m:d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3" name="c1-kv-3"/>
          <p:cNvGrpSpPr/>
          <p:nvPr/>
        </p:nvGrpSpPr>
        <p:grpSpPr>
          <a:xfrm>
            <a:off x="525780" y="4733925"/>
            <a:ext cx="5417820" cy="733425"/>
            <a:chOff x="525780" y="4733925"/>
            <a:chExt cx="5417820" cy="733425"/>
          </a:xfrm>
        </p:grpSpPr>
        <p:sp>
          <p:nvSpPr>
            <p:cNvPr id="18" name="TextBox 18"/>
            <p:cNvSpPr txBox="1"/>
            <p:nvPr/>
          </p:nvSpPr>
          <p:spPr>
            <a:xfrm>
              <a:off x="525780" y="47339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1582" y="47339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链接到 u 的网页集合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50539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5780" y="5173980"/>
              <a:ext cx="494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L(v)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31582" y="5173980"/>
              <a:ext cx="2670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 v 的出度（对外链接数）</a:t>
              </a:r>
            </a:p>
          </p:txBody>
        </p:sp>
      </p:grpSp>
      <p:grpSp>
        <p:nvGrpSpPr>
          <p:cNvPr id="46" name="c2-graph-1"/>
          <p:cNvGrpSpPr/>
          <p:nvPr/>
        </p:nvGrpSpPr>
        <p:grpSpPr>
          <a:xfrm>
            <a:off x="7082790" y="1696402"/>
            <a:ext cx="3741420" cy="1481138"/>
            <a:chOff x="7082790" y="1696402"/>
            <a:chExt cx="3741420" cy="1481138"/>
          </a:xfrm>
        </p:grpSpPr>
        <p:sp>
          <p:nvSpPr>
            <p:cNvPr id="24" name="Freeform 24"/>
            <p:cNvSpPr/>
            <p:nvPr/>
          </p:nvSpPr>
          <p:spPr>
            <a:xfrm>
              <a:off x="7569518" y="2133600"/>
              <a:ext cx="2679382" cy="381317"/>
            </a:xfrm>
            <a:custGeom>
              <a:avLst/>
              <a:gdLst/>
              <a:ahLst/>
              <a:cxnLst/>
              <a:rect l="l" t="t" r="r" b="b"/>
              <a:pathLst>
                <a:path w="2679382" h="381317">
                  <a:moveTo>
                    <a:pt x="0" y="0"/>
                  </a:moveTo>
                  <a:cubicBezTo>
                    <a:pt x="922655" y="369570"/>
                    <a:pt x="1815782" y="381317"/>
                    <a:pt x="2679382" y="3524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231755" y="2125028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105727" y="8573"/>
                  </a:moveTo>
                  <a:lnTo>
                    <a:pt x="35243" y="88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7669530" y="1701800"/>
              <a:ext cx="2659380" cy="267018"/>
            </a:xfrm>
            <a:custGeom>
              <a:avLst/>
              <a:gdLst/>
              <a:ahLst/>
              <a:cxnLst/>
              <a:rect l="l" t="t" r="r" b="b"/>
              <a:pathLst>
                <a:path w="2659380" h="267018">
                  <a:moveTo>
                    <a:pt x="2659380" y="267018"/>
                  </a:moveTo>
                  <a:cubicBezTo>
                    <a:pt x="1742440" y="8573"/>
                    <a:pt x="855980" y="0"/>
                    <a:pt x="0" y="24130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578090" y="189738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1438"/>
                  </a:moveTo>
                  <a:lnTo>
                    <a:pt x="79057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0576560" y="2295525"/>
              <a:ext cx="9525" cy="281940"/>
            </a:xfrm>
            <a:custGeom>
              <a:avLst/>
              <a:gdLst/>
              <a:ahLst/>
              <a:cxnLst/>
              <a:rect l="l" t="t" r="r" b="b"/>
              <a:pathLst>
                <a:path w="9525" h="281940">
                  <a:moveTo>
                    <a:pt x="0" y="0"/>
                  </a:moveTo>
                  <a:lnTo>
                    <a:pt x="0" y="2819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0528935" y="25774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670482" y="2131695"/>
              <a:ext cx="2658428" cy="729615"/>
            </a:xfrm>
            <a:custGeom>
              <a:avLst/>
              <a:gdLst/>
              <a:ahLst/>
              <a:cxnLst/>
              <a:rect l="l" t="t" r="r" b="b"/>
              <a:pathLst>
                <a:path w="2658428" h="729615">
                  <a:moveTo>
                    <a:pt x="2658428" y="7296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578090" y="208597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20955"/>
                  </a:moveTo>
                  <a:lnTo>
                    <a:pt x="104775" y="0"/>
                  </a:lnTo>
                  <a:lnTo>
                    <a:pt x="80010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082790" y="1790700"/>
              <a:ext cx="495300" cy="4953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328910" y="179070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0328910" y="2682240"/>
              <a:ext cx="495300" cy="4953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38855" y="19726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84975" y="19726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84975" y="286416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886825" y="23317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18381" y="236172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829675" y="1696402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57667" y="172545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0452735" y="2406015"/>
              <a:ext cx="24765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480727" y="2435066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216390" y="2496502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47946" y="252555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3429000"/>
            <a:ext cx="5410200" cy="1979295"/>
            <a:chOff x="6248400" y="3429000"/>
            <a:chExt cx="5410200" cy="1979295"/>
          </a:xfrm>
        </p:grpSpPr>
        <p:sp>
          <p:nvSpPr>
            <p:cNvPr id="47" name="Rectangle 47"/>
            <p:cNvSpPr/>
            <p:nvPr/>
          </p:nvSpPr>
          <p:spPr>
            <a:xfrm>
              <a:off x="6248400" y="3429000"/>
              <a:ext cx="5410200" cy="1979295"/>
            </a:xfrm>
            <a:prstGeom prst="roundRect">
              <a:avLst>
                <a:gd name="adj" fmla="val 67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3562350"/>
              <a:ext cx="47625" cy="17125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96050" y="3638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86258" y="3674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手算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88430" y="4015740"/>
              <a:ext cx="4282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转移矩阵 H = [[0, 1/2, 1], [1, 0, 0], [0, 1/2,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0]]，解 R = HR。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8430" y="4636770"/>
              <a:ext cx="4568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R = (0.4, 0.4, 0.2)：R 是 H 特征值为 1 的特征向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80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851" y="407194"/>
              <a:ext cx="3164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MapReduce 并行计算模型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随机浏览模型：加阻尼因子，保证迭代收敛到唯一解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5615940" cy="883920"/>
            <a:chOff x="525780" y="1548765"/>
            <a:chExt cx="5615940" cy="88392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61594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简化模型有个漏洞：没有出链的网页会「吞掉」PageRank。随机浏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览模型假设用户有 d 的概率顺着链接走、1-d 的概率随机跳到任意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6"/>
              <p:cNvSpPr txBox="1">
                <a:spLocks noGrp="1"/>
              </p:cNvSpPr>
              <p:nvPr/>
            </p:nvSpPr>
            <p:spPr>
              <a:xfrm>
                <a:off x="533400" y="2564130"/>
                <a:ext cx="5842635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H'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×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H'R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16" name="c1-bullets-3"/>
          <p:cNvGrpSpPr/>
          <p:nvPr/>
        </p:nvGrpSpPr>
        <p:grpSpPr>
          <a:xfrm>
            <a:off x="542925" y="3444716"/>
            <a:ext cx="3959301" cy="860869"/>
            <a:chOff x="542925" y="3444716"/>
            <a:chExt cx="3959301" cy="860869"/>
          </a:xfrm>
        </p:grpSpPr>
        <p:sp>
          <p:nvSpPr>
            <p:cNvPr id="10" name="Ellipse 10"/>
            <p:cNvSpPr/>
            <p:nvPr/>
          </p:nvSpPr>
          <p:spPr>
            <a:xfrm>
              <a:off x="542925" y="349662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8373" y="3444716"/>
              <a:ext cx="2159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d 是阻尼因子，通常取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0.85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42925" y="380238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8373" y="3750469"/>
              <a:ext cx="3779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R=HR 满足马尔可夫链性质，链收敛则 R 有唯一解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42925" y="410908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8373" y="405622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理论已证明：不论初值怎么取，都收敛到真实排名</a:t>
              </a:r>
            </a:p>
          </p:txBody>
        </p:sp>
      </p:grpSp>
      <p:grpSp>
        <p:nvGrpSpPr>
          <p:cNvPr id="23" name="c1-card-4"/>
          <p:cNvGrpSpPr/>
          <p:nvPr/>
        </p:nvGrpSpPr>
        <p:grpSpPr>
          <a:xfrm>
            <a:off x="533400" y="4446270"/>
            <a:ext cx="5842635" cy="1937385"/>
            <a:chOff x="533400" y="4446270"/>
            <a:chExt cx="5842635" cy="1937385"/>
          </a:xfrm>
        </p:grpSpPr>
        <p:sp>
          <p:nvSpPr>
            <p:cNvPr id="17" name="Rectangle 17"/>
            <p:cNvSpPr/>
            <p:nvPr/>
          </p:nvSpPr>
          <p:spPr>
            <a:xfrm>
              <a:off x="533400" y="4446270"/>
              <a:ext cx="584263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57962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465582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0557" y="469153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为什么要加阻尼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3430" y="503301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没有出链的「悬挂网页」会像黑洞一样吞掉分值，让迭代不收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敛。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3430" y="5654040"/>
              <a:ext cx="5149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1-d 的随机跳转相当于给每个网页兜底，保证转移矩阵是随机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的、链一定收敛。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680835" y="1524000"/>
            <a:ext cx="4977765" cy="1956435"/>
            <a:chOff x="6680835" y="1524000"/>
            <a:chExt cx="4977765" cy="1956435"/>
          </a:xfrm>
        </p:grpSpPr>
        <p:sp>
          <p:nvSpPr>
            <p:cNvPr id="24" name="Rectangle 24"/>
            <p:cNvSpPr/>
            <p:nvPr/>
          </p:nvSpPr>
          <p:spPr>
            <a:xfrm>
              <a:off x="6680835" y="1524000"/>
              <a:ext cx="497776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90360" y="1657350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928485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23595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87590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三网页加阻尼后的稳态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20865" y="2129790"/>
              <a:ext cx="34072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对上一页的 H，取 d=0.85 做幂迭代。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20865" y="2465070"/>
              <a:ext cx="42157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 R ≈ (0.397, 0.388, 0.215)，和不加阻尼的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(0.4, 0.4, 0.2) 很接近，但每个网页都保底有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(1-d)/N 的分值。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680835" y="3670935"/>
            <a:ext cx="4977765" cy="782955"/>
            <a:chOff x="6680835" y="3670935"/>
            <a:chExt cx="4977765" cy="782955"/>
          </a:xfrm>
        </p:grpSpPr>
        <p:sp>
          <p:nvSpPr>
            <p:cNvPr id="32" name="Rectangle 32"/>
            <p:cNvSpPr/>
            <p:nvPr/>
          </p:nvSpPr>
          <p:spPr>
            <a:xfrm>
              <a:off x="6680835" y="367093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885623" y="3962400"/>
              <a:ext cx="200026" cy="200025"/>
              <a:chOff x="6885623" y="3962400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885623" y="39624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25361" y="40068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960077" y="41179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187565" y="3819525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网页数以亿计，邻接矩阵极稀疏，实际用邻接表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存链接关系，迭代计算所有节点的 PageRank。</a:t>
              </a:r>
            </a:p>
          </p:txBody>
        </p:sp>
      </p:grpSp>
      <p:grpSp>
        <p:nvGrpSpPr>
          <p:cNvPr id="45" name="c2-callout-3"/>
          <p:cNvGrpSpPr/>
          <p:nvPr/>
        </p:nvGrpSpPr>
        <p:grpSpPr>
          <a:xfrm>
            <a:off x="6680835" y="4644390"/>
            <a:ext cx="4977765" cy="1718310"/>
            <a:chOff x="6680835" y="4644390"/>
            <a:chExt cx="4977765" cy="1718310"/>
          </a:xfrm>
        </p:grpSpPr>
        <p:sp>
          <p:nvSpPr>
            <p:cNvPr id="39" name="Rectangle 39"/>
            <p:cNvSpPr/>
            <p:nvPr/>
          </p:nvSpPr>
          <p:spPr>
            <a:xfrm>
              <a:off x="6680835" y="4644390"/>
              <a:ext cx="4977765" cy="1718310"/>
            </a:xfrm>
            <a:prstGeom prst="roundRect">
              <a:avLst>
                <a:gd name="adj" fmla="val 66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885623" y="5403533"/>
              <a:ext cx="200026" cy="200026"/>
              <a:chOff x="6885623" y="5403533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885623" y="54035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985635" y="54702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74523" y="55035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187565" y="5122545"/>
              <a:ext cx="39395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阻尼因子 0.85 的含义：用户平均点约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1÷(1-0.85) ≈ 6.7 次链接后，就会随机跳到一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个新网页重新开始。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27264" cy="909257"/>
            <a:chOff x="520446" y="342900"/>
            <a:chExt cx="92272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280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5851" y="407194"/>
              <a:ext cx="3164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MapReduce 并行计算模型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272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PageRank 迭代与 TeraSort：MapReduce 的两个典型作业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2487930"/>
            <a:chOff x="533400" y="1524000"/>
            <a:chExt cx="5626418" cy="24879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487930"/>
            </a:xfrm>
            <a:prstGeom prst="roundRect">
              <a:avLst>
                <a:gd name="adj" fmla="val 53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212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196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430" y="1769269"/>
              <a:ext cx="1067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PageRank 迭代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84070" y="176879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每轮把自己的分值按出度均分给邻居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15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一个五节点玩具例子，初值都设 0.2。n5 出度 3，本轮给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每个邻居 0.2/3 ≈ 0.067。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750820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n4 出度 1，把 0.2 整份传给邻居。第 1 轮结束后 n4、n5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升到 0.3，n1 降到 0.066。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573" y="3368516"/>
              <a:ext cx="49710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每一轮就是一个 MapReduce 作业：Map 沿出边发分值，Reduce 在每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个节点求和。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202430"/>
            <a:ext cx="5626418" cy="2160270"/>
            <a:chOff x="533400" y="4202430"/>
            <a:chExt cx="5626418" cy="2160270"/>
          </a:xfrm>
        </p:grpSpPr>
        <p:sp>
          <p:nvSpPr>
            <p:cNvPr id="16" name="Rectangle 16"/>
            <p:cNvSpPr/>
            <p:nvPr/>
          </p:nvSpPr>
          <p:spPr>
            <a:xfrm>
              <a:off x="533400" y="4202430"/>
              <a:ext cx="5626418" cy="2160270"/>
            </a:xfrm>
            <a:prstGeom prst="roundRect">
              <a:avLst>
                <a:gd name="adj" fmla="val 52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5182555"/>
              <a:ext cx="200023" cy="200023"/>
              <a:chOff x="738188" y="5182555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518255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524922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5039678"/>
              <a:ext cx="4720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复核：n5 出度 3，0.2÷3 ≈ 0.067，与图中标注一致；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迭代若干轮后各节点分值趋于稳定，就得到 PageRank。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6464618" y="1533525"/>
            <a:ext cx="3699535" cy="1878615"/>
            <a:chOff x="6464618" y="1533525"/>
            <a:chExt cx="3699535" cy="1878615"/>
          </a:xfrm>
        </p:grpSpPr>
        <p:sp>
          <p:nvSpPr>
            <p:cNvPr id="22" name="Rectangle 22"/>
            <p:cNvSpPr/>
            <p:nvPr/>
          </p:nvSpPr>
          <p:spPr>
            <a:xfrm>
              <a:off x="6597968" y="1676400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64618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5824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64618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8241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76098" y="1567815"/>
              <a:ext cx="20830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TeraSort — Sampling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77241" y="186166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采样估计数据分布，定出各区间的分界点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6098" y="2218372"/>
              <a:ext cx="827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Mapping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77241" y="251221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按分界点把每条记录划到对应区间（分区）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76098" y="2868930"/>
              <a:ext cx="78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Sorting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77241" y="3162776"/>
              <a:ext cx="31037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 Reduce 内部排序，区间间已全局有序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464618" y="3590925"/>
            <a:ext cx="5193982" cy="782955"/>
            <a:chOff x="6464618" y="3590925"/>
            <a:chExt cx="5193982" cy="782955"/>
          </a:xfrm>
        </p:grpSpPr>
        <p:sp>
          <p:nvSpPr>
            <p:cNvPr id="36" name="Rectangle 36"/>
            <p:cNvSpPr/>
            <p:nvPr/>
          </p:nvSpPr>
          <p:spPr>
            <a:xfrm>
              <a:off x="6464618" y="3590925"/>
              <a:ext cx="519398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3882390"/>
              <a:ext cx="200026" cy="200026"/>
              <a:chOff x="6669405" y="3882390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669405" y="38823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69418" y="39490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58305" y="398240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348" y="3739515"/>
              <a:ext cx="4320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TeraSort 用采样让各 Reduce 负载均衡、区间之间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天然有序，是衡量集群排序性能的经典基准。</a:t>
              </a:r>
            </a:p>
          </p:txBody>
        </p:sp>
      </p:grpSp>
      <p:grpSp>
        <p:nvGrpSpPr>
          <p:cNvPr id="48" name="c2-card-3"/>
          <p:cNvGrpSpPr/>
          <p:nvPr/>
        </p:nvGrpSpPr>
        <p:grpSpPr>
          <a:xfrm>
            <a:off x="6464618" y="4564380"/>
            <a:ext cx="5193982" cy="1798320"/>
            <a:chOff x="6464618" y="4564380"/>
            <a:chExt cx="5193982" cy="1798320"/>
          </a:xfrm>
        </p:grpSpPr>
        <p:sp>
          <p:nvSpPr>
            <p:cNvPr id="43" name="Rectangle 43"/>
            <p:cNvSpPr/>
            <p:nvPr/>
          </p:nvSpPr>
          <p:spPr>
            <a:xfrm>
              <a:off x="6464618" y="4564380"/>
              <a:ext cx="5193982" cy="1798320"/>
            </a:xfrm>
            <a:prstGeom prst="roundRect">
              <a:avLst>
                <a:gd name="adj" fmla="val 74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4697730"/>
              <a:ext cx="47625" cy="15316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12268" y="477393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90626" y="480964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两者的共性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04648" y="5151120"/>
              <a:ext cx="4425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PageRank 和 TeraSort 都被拆成一连串 MapReduce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作业：把大问题切成互不依赖的小任务，再汇总，正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MapReduce 擅长的形态。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903732" cy="3351847"/>
            <a:chOff x="667512" y="1835468"/>
            <a:chExt cx="590373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9037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 HDFS 架构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2020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 NameNode 管元数据，多个 DataNode 存数据块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6415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内容提要：分布式文件系统 HDFS 的架构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052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主从结构 NameNode 与 DataNode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文件分块与读流程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副本放置策略与块大小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83961" cy="909257"/>
            <a:chOff x="520446" y="342900"/>
            <a:chExt cx="57839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594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720" y="407194"/>
              <a:ext cx="3208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分布式文件系统 HDFS 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839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主从架构：元数据和数据分开放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1025842" y="1909762"/>
            <a:ext cx="5073968" cy="3552826"/>
            <a:chOff x="1025842" y="1909762"/>
            <a:chExt cx="5073968" cy="3552826"/>
          </a:xfrm>
        </p:grpSpPr>
        <p:sp>
          <p:nvSpPr>
            <p:cNvPr id="7" name="Freeform 7"/>
            <p:cNvSpPr/>
            <p:nvPr/>
          </p:nvSpPr>
          <p:spPr>
            <a:xfrm>
              <a:off x="1979295" y="2137410"/>
              <a:ext cx="1998345" cy="78105"/>
            </a:xfrm>
            <a:custGeom>
              <a:avLst/>
              <a:gdLst/>
              <a:ahLst/>
              <a:cxnLst/>
              <a:rect l="l" t="t" r="r" b="b"/>
              <a:pathLst>
                <a:path w="1998345" h="78105">
                  <a:moveTo>
                    <a:pt x="0" y="78105"/>
                  </a:moveTo>
                  <a:lnTo>
                    <a:pt x="1998345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3975735" y="2089785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97155" y="43815"/>
                  </a:moveTo>
                  <a:lnTo>
                    <a:pt x="381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91628" y="2354580"/>
              <a:ext cx="2067878" cy="2790825"/>
            </a:xfrm>
            <a:custGeom>
              <a:avLst/>
              <a:gdLst/>
              <a:ahLst/>
              <a:cxnLst/>
              <a:rect l="l" t="t" r="r" b="b"/>
              <a:pathLst>
                <a:path w="2067878" h="2790825">
                  <a:moveTo>
                    <a:pt x="0" y="0"/>
                  </a:moveTo>
                  <a:lnTo>
                    <a:pt x="2067878" y="2790825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21405" y="5117782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>
                  <a:moveTo>
                    <a:pt x="95250" y="104775"/>
                  </a:moveTo>
                  <a:lnTo>
                    <a:pt x="0" y="56198"/>
                  </a:lnTo>
                  <a:lnTo>
                    <a:pt x="77153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95500" y="2292668"/>
              <a:ext cx="2628900" cy="2929890"/>
            </a:xfrm>
            <a:custGeom>
              <a:avLst/>
              <a:gdLst/>
              <a:ahLst/>
              <a:cxnLst/>
              <a:rect l="l" t="t" r="r" b="b"/>
              <a:pathLst>
                <a:path w="2628900" h="2929890">
                  <a:moveTo>
                    <a:pt x="2628900" y="0"/>
                  </a:moveTo>
                  <a:lnTo>
                    <a:pt x="0" y="292989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846195" y="2292668"/>
              <a:ext cx="985838" cy="2929890"/>
            </a:xfrm>
            <a:custGeom>
              <a:avLst/>
              <a:gdLst/>
              <a:ahLst/>
              <a:cxnLst/>
              <a:rect l="l" t="t" r="r" b="b"/>
              <a:pathLst>
                <a:path w="985838" h="2929890">
                  <a:moveTo>
                    <a:pt x="985838" y="0"/>
                  </a:moveTo>
                  <a:lnTo>
                    <a:pt x="0" y="292989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4938712" y="2292668"/>
              <a:ext cx="657225" cy="2929890"/>
            </a:xfrm>
            <a:custGeom>
              <a:avLst/>
              <a:gdLst/>
              <a:ahLst/>
              <a:cxnLst/>
              <a:rect l="l" t="t" r="r" b="b"/>
              <a:pathLst>
                <a:path w="657225" h="2929890">
                  <a:moveTo>
                    <a:pt x="0" y="0"/>
                  </a:moveTo>
                  <a:lnTo>
                    <a:pt x="657225" y="292989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Rectangle 14"/>
            <p:cNvSpPr/>
            <p:nvPr/>
          </p:nvSpPr>
          <p:spPr>
            <a:xfrm>
              <a:off x="1025842" y="2114550"/>
              <a:ext cx="953452" cy="240030"/>
            </a:xfrm>
            <a:prstGeom prst="roundRect">
              <a:avLst>
                <a:gd name="adj" fmla="val 3968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072890" y="1909762"/>
              <a:ext cx="1646872" cy="382905"/>
            </a:xfrm>
            <a:prstGeom prst="roundRect">
              <a:avLst>
                <a:gd name="adj" fmla="val 2487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510665" y="5222558"/>
              <a:ext cx="953452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28988" y="5222558"/>
              <a:ext cx="953452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146358" y="5222558"/>
              <a:ext cx="953452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53527" y="2178368"/>
              <a:ext cx="6990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HDFS client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50565" y="1973580"/>
              <a:ext cx="12905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NameNode（master）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7614" y="211645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管全局元数据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99270" y="5286375"/>
              <a:ext cx="577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DataNode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16640" y="5286375"/>
              <a:ext cx="577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DataNode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34962" y="5286375"/>
              <a:ext cx="5771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DataNode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779395" y="2096452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00553" y="2125504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查块位置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355532" y="3709988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73884" y="3739039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读写数据块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898005" y="1524000"/>
            <a:ext cx="4760595" cy="2071688"/>
            <a:chOff x="6898005" y="1524000"/>
            <a:chExt cx="4760595" cy="2071688"/>
          </a:xfrm>
        </p:grpSpPr>
        <p:sp>
          <p:nvSpPr>
            <p:cNvPr id="30" name="Rectangle 30"/>
            <p:cNvSpPr/>
            <p:nvPr/>
          </p:nvSpPr>
          <p:spPr>
            <a:xfrm>
              <a:off x="6898005" y="1524000"/>
              <a:ext cx="4760595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07530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851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1995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分工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137082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93102" y="2072640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NameNode 作 master，多个 DataNode 作工作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机（slave）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137082" y="268890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93102" y="263271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文件被切成固定大小的块（早期 64 MB），块存到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DataNode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37082" y="32489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93102" y="3192780"/>
              <a:ext cx="40745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块与 DataNode 的映射（元数据）由 NameNode 存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898005" y="3770948"/>
            <a:ext cx="4760595" cy="978218"/>
            <a:chOff x="6898005" y="3770948"/>
            <a:chExt cx="4760595" cy="978218"/>
          </a:xfrm>
        </p:grpSpPr>
        <p:sp>
          <p:nvSpPr>
            <p:cNvPr id="41" name="Rectangle 41"/>
            <p:cNvSpPr/>
            <p:nvPr/>
          </p:nvSpPr>
          <p:spPr>
            <a:xfrm>
              <a:off x="6898005" y="3770948"/>
              <a:ext cx="4760595" cy="978218"/>
            </a:xfrm>
            <a:prstGeom prst="roundRect">
              <a:avLst>
                <a:gd name="adj" fmla="val 1168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102793" y="4159570"/>
              <a:ext cx="200023" cy="200023"/>
              <a:chOff x="7102793" y="4159570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102793" y="41595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36143" y="42262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405497" y="3916680"/>
              <a:ext cx="380276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数据不经 NameNode 中转：客户端先问 NameNode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块在哪，再直接找 DataNode 读写。这样 master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不会成为数据流的瓶颈。</a:t>
              </a:r>
            </a:p>
          </p:txBody>
        </p:sp>
      </p:grpSp>
      <p:grpSp>
        <p:nvGrpSpPr>
          <p:cNvPr id="53" name="c2-callout-3"/>
          <p:cNvGrpSpPr/>
          <p:nvPr/>
        </p:nvGrpSpPr>
        <p:grpSpPr>
          <a:xfrm>
            <a:off x="6898005" y="4923472"/>
            <a:ext cx="4760595" cy="1439228"/>
            <a:chOff x="6898005" y="4923472"/>
            <a:chExt cx="4760595" cy="1439228"/>
          </a:xfrm>
        </p:grpSpPr>
        <p:sp>
          <p:nvSpPr>
            <p:cNvPr id="47" name="Rectangle 47"/>
            <p:cNvSpPr/>
            <p:nvPr/>
          </p:nvSpPr>
          <p:spPr>
            <a:xfrm>
              <a:off x="6898005" y="4923472"/>
              <a:ext cx="4760595" cy="1439228"/>
            </a:xfrm>
            <a:prstGeom prst="roundRect">
              <a:avLst>
                <a:gd name="adj" fmla="val 794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102793" y="5543550"/>
              <a:ext cx="200026" cy="200026"/>
              <a:chOff x="7102793" y="5543550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102793" y="55435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02805" y="56102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191693" y="56435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405497" y="5175885"/>
              <a:ext cx="3785616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元数据小、放内存里查得飞快；真实数据大、分散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DataNode 上。把「小而关键的元数据」和「大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而普通的数据」分开，是主从式文件系统的通用套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路。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0076" cy="909257"/>
            <a:chOff x="520446" y="342900"/>
            <a:chExt cx="79200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594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720" y="407194"/>
              <a:ext cx="3208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分布式文件系统 HDFS 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00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读流程：先问 NameNode，再直连 DataNode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882015" y="1586865"/>
            <a:ext cx="4280535" cy="3554730"/>
            <a:chOff x="882015" y="1586865"/>
            <a:chExt cx="4280535" cy="3554730"/>
          </a:xfrm>
        </p:grpSpPr>
        <p:sp>
          <p:nvSpPr>
            <p:cNvPr id="7" name="Freeform 7"/>
            <p:cNvSpPr/>
            <p:nvPr/>
          </p:nvSpPr>
          <p:spPr>
            <a:xfrm>
              <a:off x="3022282" y="2142172"/>
              <a:ext cx="9525" cy="74295"/>
            </a:xfrm>
            <a:custGeom>
              <a:avLst/>
              <a:gdLst/>
              <a:ahLst/>
              <a:cxnLst/>
              <a:rect l="l" t="t" r="r" b="b"/>
              <a:pathLst>
                <a:path w="9525" h="74295">
                  <a:moveTo>
                    <a:pt x="0" y="7429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69895" y="21421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022282" y="2992755"/>
              <a:ext cx="9525" cy="74295"/>
            </a:xfrm>
            <a:custGeom>
              <a:avLst/>
              <a:gdLst/>
              <a:ahLst/>
              <a:cxnLst/>
              <a:rect l="l" t="t" r="r" b="b"/>
              <a:pathLst>
                <a:path w="9525" h="74295">
                  <a:moveTo>
                    <a:pt x="0" y="7429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69895" y="29927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3727132"/>
              <a:ext cx="9525" cy="20955"/>
            </a:xfrm>
            <a:custGeom>
              <a:avLst/>
              <a:gdLst/>
              <a:ahLst/>
              <a:cxnLst/>
              <a:rect l="l" t="t" r="r" b="b"/>
              <a:pathLst>
                <a:path w="9525" h="20955">
                  <a:moveTo>
                    <a:pt x="0" y="0"/>
                  </a:moveTo>
                  <a:lnTo>
                    <a:pt x="0" y="209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69895" y="37480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22282" y="4482465"/>
              <a:ext cx="9525" cy="116205"/>
            </a:xfrm>
            <a:custGeom>
              <a:avLst/>
              <a:gdLst/>
              <a:ahLst/>
              <a:cxnLst/>
              <a:rect l="l" t="t" r="r" b="b"/>
              <a:pathLst>
                <a:path w="9525" h="116205">
                  <a:moveTo>
                    <a:pt x="0" y="0"/>
                  </a:moveTo>
                  <a:lnTo>
                    <a:pt x="0" y="11620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69895" y="45986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882015" y="1586865"/>
              <a:ext cx="4280535" cy="629602"/>
            </a:xfrm>
            <a:prstGeom prst="roundRect">
              <a:avLst>
                <a:gd name="adj" fmla="val 4992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882015" y="2246948"/>
              <a:ext cx="4280535" cy="820102"/>
            </a:xfrm>
            <a:custGeom>
              <a:avLst/>
              <a:gdLst/>
              <a:ahLst/>
              <a:cxnLst/>
              <a:rect l="l" t="t" r="r" b="b"/>
              <a:pathLst>
                <a:path w="4280535" h="820102">
                  <a:moveTo>
                    <a:pt x="2140268" y="0"/>
                  </a:moveTo>
                  <a:lnTo>
                    <a:pt x="4280535" y="409575"/>
                  </a:lnTo>
                  <a:lnTo>
                    <a:pt x="2140268" y="820102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2015" y="3097530"/>
              <a:ext cx="428053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82015" y="3852862"/>
              <a:ext cx="4280535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82015" y="4703445"/>
              <a:ext cx="4280535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90686" y="1703546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 open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打开文件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3694" y="2458879"/>
              <a:ext cx="12971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查块位置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（问 NameNode）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84286" y="3214211"/>
              <a:ext cx="14759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3-4 read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从最近 DataNode 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90686" y="3969544"/>
              <a:ext cx="6631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read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读后续块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12749" y="4833461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 close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5815965" y="1533525"/>
            <a:ext cx="4531910" cy="2529173"/>
            <a:chOff x="5815965" y="1533525"/>
            <a:chExt cx="4531910" cy="2529173"/>
          </a:xfrm>
        </p:grpSpPr>
        <p:sp>
          <p:nvSpPr>
            <p:cNvPr id="26" name="Rectangle 26"/>
            <p:cNvSpPr/>
            <p:nvPr/>
          </p:nvSpPr>
          <p:spPr>
            <a:xfrm>
              <a:off x="5949315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815965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9589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815965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09589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27445" y="1567815"/>
              <a:ext cx="661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open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28588" y="1861661"/>
              <a:ext cx="35353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客户端调用 DistributedFileSystem 打开文件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27445" y="2218372"/>
              <a:ext cx="2146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get block locations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8588" y="2512219"/>
              <a:ext cx="36908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NameNode 取文件各块所在的 DataNode 列表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7445" y="2868930"/>
              <a:ext cx="895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3-5 read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8588" y="3162776"/>
              <a:ext cx="41192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FSDataInputStream 依次从最近的 DataNode 读各块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7445" y="3520440"/>
              <a:ext cx="7255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close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8588" y="3813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读完关闭流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5815965" y="4241482"/>
            <a:ext cx="5842635" cy="1059180"/>
            <a:chOff x="5815965" y="4241482"/>
            <a:chExt cx="5842635" cy="1059180"/>
          </a:xfrm>
        </p:grpSpPr>
        <p:sp>
          <p:nvSpPr>
            <p:cNvPr id="44" name="Rectangle 44"/>
            <p:cNvSpPr/>
            <p:nvPr/>
          </p:nvSpPr>
          <p:spPr>
            <a:xfrm>
              <a:off x="5815965" y="4241482"/>
              <a:ext cx="584263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020753" y="4671060"/>
              <a:ext cx="200026" cy="200026"/>
              <a:chOff x="6020753" y="4671060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020753" y="46710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120765" y="47377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109653" y="47710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322695" y="4390072"/>
              <a:ext cx="47872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 只在第 2 步参与，返回块位置后就退场；真正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的数据传输在客户端和 DataNode 之间，NameNode 不经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594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720" y="407194"/>
              <a:ext cx="3208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分布式文件系统 HDFS 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副本放置：一份本地、一份同机架、一份跨机架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graph-1"/>
          <p:cNvGrpSpPr/>
          <p:nvPr/>
        </p:nvGrpSpPr>
        <p:grpSpPr>
          <a:xfrm>
            <a:off x="909638" y="1903095"/>
            <a:ext cx="4934902" cy="1458278"/>
            <a:chOff x="909638" y="1903095"/>
            <a:chExt cx="4934902" cy="1458278"/>
          </a:xfrm>
        </p:grpSpPr>
        <p:sp>
          <p:nvSpPr>
            <p:cNvPr id="7" name="Freeform 7"/>
            <p:cNvSpPr/>
            <p:nvPr/>
          </p:nvSpPr>
          <p:spPr>
            <a:xfrm>
              <a:off x="1957388" y="3169920"/>
              <a:ext cx="320040" cy="9525"/>
            </a:xfrm>
            <a:custGeom>
              <a:avLst/>
              <a:gdLst/>
              <a:ahLst/>
              <a:cxnLst/>
              <a:rect l="l" t="t" r="r" b="b"/>
              <a:pathLst>
                <a:path w="320040" h="9525">
                  <a:moveTo>
                    <a:pt x="0" y="0"/>
                  </a:moveTo>
                  <a:lnTo>
                    <a:pt x="320040" y="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77428" y="3122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57388" y="3169920"/>
              <a:ext cx="2458402" cy="9525"/>
            </a:xfrm>
            <a:custGeom>
              <a:avLst/>
              <a:gdLst/>
              <a:ahLst/>
              <a:cxnLst/>
              <a:rect l="l" t="t" r="r" b="b"/>
              <a:pathLst>
                <a:path w="2458402" h="9525">
                  <a:moveTo>
                    <a:pt x="0" y="0"/>
                  </a:moveTo>
                  <a:lnTo>
                    <a:pt x="2458402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415790" y="3122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108710" y="1903095"/>
              <a:ext cx="2000250" cy="247650"/>
            </a:xfrm>
            <a:prstGeom prst="roundRect">
              <a:avLst>
                <a:gd name="adj" fmla="val 384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4225290" y="1903095"/>
              <a:ext cx="1619250" cy="247650"/>
            </a:xfrm>
            <a:prstGeom prst="roundRect">
              <a:avLst>
                <a:gd name="adj" fmla="val 38462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09638" y="2978468"/>
              <a:ext cx="1047750" cy="382905"/>
            </a:xfrm>
            <a:prstGeom prst="roundRect">
              <a:avLst>
                <a:gd name="adj" fmla="val 2487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72678" y="2978468"/>
              <a:ext cx="1047750" cy="382905"/>
            </a:xfrm>
            <a:prstGeom prst="roundRect">
              <a:avLst>
                <a:gd name="adj" fmla="val 2487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11040" y="2978468"/>
              <a:ext cx="1047750" cy="382905"/>
            </a:xfrm>
            <a:prstGeom prst="roundRect">
              <a:avLst>
                <a:gd name="adj" fmla="val 2487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62313" y="1970722"/>
              <a:ext cx="10930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机架 A（本地机架）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88393" y="1970722"/>
              <a:ext cx="10930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机架 B（远程机架）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53525" y="304228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9713" y="3185160"/>
              <a:ext cx="9276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提交/轻负载节点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16565" y="304228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副本 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67737" y="318516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同机架另一节点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54928" y="3042285"/>
              <a:ext cx="35997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副本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27258" y="318516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跨机架节点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970722" y="3091815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994687" y="312086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同机架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550920" y="3091815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74885" y="312086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跨机架</a:t>
              </a:r>
            </a:p>
          </p:txBody>
        </p:sp>
      </p:grpSp>
      <p:grpSp>
        <p:nvGrpSpPr>
          <p:cNvPr id="37" name="c1-card-2"/>
          <p:cNvGrpSpPr/>
          <p:nvPr/>
        </p:nvGrpSpPr>
        <p:grpSpPr>
          <a:xfrm>
            <a:off x="533400" y="4000500"/>
            <a:ext cx="5626418" cy="2362200"/>
            <a:chOff x="533400" y="4000500"/>
            <a:chExt cx="5626418" cy="2362200"/>
          </a:xfrm>
        </p:grpSpPr>
        <p:sp>
          <p:nvSpPr>
            <p:cNvPr id="29" name="Rectangle 29"/>
            <p:cNvSpPr/>
            <p:nvPr/>
          </p:nvSpPr>
          <p:spPr>
            <a:xfrm>
              <a:off x="533400" y="4000500"/>
              <a:ext cx="5626418" cy="2362200"/>
            </a:xfrm>
            <a:prstGeom prst="roundRect">
              <a:avLst>
                <a:gd name="adj" fmla="val 56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33850"/>
              <a:ext cx="47625" cy="20955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81050" y="42100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5655" y="42457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读写时怎么选副本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6765" y="46501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880" y="4587240"/>
              <a:ext cx="47202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写：客户端 → 副本 1 → 副本 2 → 副本 3 顺次流水线写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6765" y="49853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4880" y="492252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读：优先读离自己最近的副本（同机架优先），省跨机架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带宽</a:t>
              </a:r>
            </a:p>
          </p:txBody>
        </p:sp>
      </p:grpSp>
      <p:grpSp>
        <p:nvGrpSpPr>
          <p:cNvPr id="46" name="c2-bullets-1"/>
          <p:cNvGrpSpPr/>
          <p:nvPr/>
        </p:nvGrpSpPr>
        <p:grpSpPr>
          <a:xfrm>
            <a:off x="6464618" y="1548765"/>
            <a:ext cx="3900487" cy="1327785"/>
            <a:chOff x="6464618" y="1548765"/>
            <a:chExt cx="3900487" cy="1327785"/>
          </a:xfrm>
        </p:grpSpPr>
        <p:sp>
          <p:nvSpPr>
            <p:cNvPr id="38" name="Freeform 38"/>
            <p:cNvSpPr/>
            <p:nvPr/>
          </p:nvSpPr>
          <p:spPr>
            <a:xfrm>
              <a:off x="6464618" y="1580198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15125" y="1548765"/>
              <a:ext cx="36196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 1：提交节点，或随机的轻负载节点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6464618" y="192500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15125" y="189357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 2：与副本 1 同机架（本地机架）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6464618" y="2269808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15125" y="22383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 3：与副本 1 不同机架（远程机架）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464618" y="261461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5125" y="258318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更多副本：随机位置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6464618" y="3007995"/>
            <a:ext cx="5193982" cy="1059180"/>
            <a:chOff x="6464618" y="3007995"/>
            <a:chExt cx="5193982" cy="1059180"/>
          </a:xfrm>
        </p:grpSpPr>
        <p:sp>
          <p:nvSpPr>
            <p:cNvPr id="47" name="Rectangle 47"/>
            <p:cNvSpPr/>
            <p:nvPr/>
          </p:nvSpPr>
          <p:spPr>
            <a:xfrm>
              <a:off x="6464618" y="3007995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669405" y="3437573"/>
              <a:ext cx="200026" cy="200025"/>
              <a:chOff x="6669405" y="3437573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669405" y="34375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709144" y="34820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43859" y="35931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971348" y="3156585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这样放的取舍：同机架副本写得快（带宽高），跨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机架副本保证整个机架断电或交换机故障时数据还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在。</a:t>
              </a:r>
            </a:p>
          </p:txBody>
        </p:sp>
      </p:grpSp>
      <p:grpSp>
        <p:nvGrpSpPr>
          <p:cNvPr id="60" name="c2-card-3"/>
          <p:cNvGrpSpPr/>
          <p:nvPr/>
        </p:nvGrpSpPr>
        <p:grpSpPr>
          <a:xfrm>
            <a:off x="6464618" y="4257675"/>
            <a:ext cx="5193982" cy="2105025"/>
            <a:chOff x="6464618" y="4257675"/>
            <a:chExt cx="5193982" cy="2105025"/>
          </a:xfrm>
        </p:grpSpPr>
        <p:sp>
          <p:nvSpPr>
            <p:cNvPr id="54" name="Rectangle 54"/>
            <p:cNvSpPr/>
            <p:nvPr/>
          </p:nvSpPr>
          <p:spPr>
            <a:xfrm>
              <a:off x="6464618" y="4257675"/>
              <a:ext cx="5193982" cy="2105025"/>
            </a:xfrm>
            <a:prstGeom prst="roundRect">
              <a:avLst>
                <a:gd name="adj" fmla="val 63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4142" y="4391025"/>
              <a:ext cx="47625" cy="18383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12268" y="446722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81775" y="45029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为什么正好三份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04648" y="484441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两份不够：一份坏了就只剩单份，没有冗余可读、也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无从判断谁对。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04648" y="5465445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三份是可靠性和成本的平衡点：本地一份读得快，同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机架一份补得快，跨机架一份扛机架级故障。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81678" cy="909257"/>
            <a:chOff x="520446" y="342900"/>
            <a:chExt cx="67816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5945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720" y="407194"/>
              <a:ext cx="32088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分布式文件系统 HDFS 架构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816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块为什么这么大：让寻址时间只占传输的 1%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1701165"/>
            <a:chOff x="533400" y="1524000"/>
            <a:chExt cx="5410200" cy="17011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655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最佳传输损耗理论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4375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一次传输里，寻址时间占总传输时间的 1% 为佳。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6020"/>
              <a:ext cx="4223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早期块大小 64 MB，后续 128 / 256 / 512 MB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13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影响因素：网络速度、寻址速度、处理速度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415665"/>
            <a:ext cx="5410200" cy="1059180"/>
            <a:chOff x="533400" y="3415665"/>
            <a:chExt cx="5410200" cy="1059180"/>
          </a:xfrm>
        </p:grpSpPr>
        <p:sp>
          <p:nvSpPr>
            <p:cNvPr id="17" name="Rectangle 17"/>
            <p:cNvSpPr/>
            <p:nvPr/>
          </p:nvSpPr>
          <p:spPr>
            <a:xfrm>
              <a:off x="533400" y="341566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3845243"/>
              <a:ext cx="200026" cy="200026"/>
              <a:chOff x="738188" y="3845243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38452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39119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39452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3564255"/>
              <a:ext cx="43776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块太小则寻址开销占比大、NameNode 元数据爆炸；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块太大则一个 Map 任务处理的数据太多、并行度下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降。</a:t>
              </a:r>
            </a:p>
          </p:txBody>
        </p:sp>
      </p:grpSp>
      <p:grpSp>
        <p:nvGrpSpPr>
          <p:cNvPr id="30" name="c1-card-3"/>
          <p:cNvGrpSpPr/>
          <p:nvPr/>
        </p:nvGrpSpPr>
        <p:grpSpPr>
          <a:xfrm>
            <a:off x="533400" y="4665345"/>
            <a:ext cx="5410200" cy="1937385"/>
            <a:chOff x="533400" y="4665345"/>
            <a:chExt cx="5410200" cy="1937385"/>
          </a:xfrm>
        </p:grpSpPr>
        <p:sp>
          <p:nvSpPr>
            <p:cNvPr id="24" name="Rectangle 24"/>
            <p:cNvSpPr/>
            <p:nvPr/>
          </p:nvSpPr>
          <p:spPr>
            <a:xfrm>
              <a:off x="533400" y="466534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798695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81050" y="487489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8457" y="49106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更正与说明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3430" y="5252085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严格按理论，100 MB/s 得 100 MB、500 MB/s 得 500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3430" y="5873115"/>
              <a:ext cx="4768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课件取整到 128 MB、512 MB，是为了对齐 2 的幂次的标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准块，不是算错。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248400" y="1524000"/>
            <a:ext cx="5410200" cy="1996440"/>
            <a:chOff x="6248400" y="1524000"/>
            <a:chExt cx="5410200" cy="199644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2557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寻址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5998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传输时间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12530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磁盘带宽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80332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得到块大小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55080" y="2284095"/>
              <a:ext cx="587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ms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28535" y="2284095"/>
              <a:ext cx="297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627745" y="2284095"/>
              <a:ext cx="926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MB/s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33635" y="2150745"/>
              <a:ext cx="1205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100 MB → 取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MB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7612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766060"/>
              <a:ext cx="5410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5080" y="3038475"/>
              <a:ext cx="587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ms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28535" y="3038475"/>
              <a:ext cx="2979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27745" y="3038475"/>
              <a:ext cx="926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500 MB/s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33635" y="2905125"/>
              <a:ext cx="1205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500 MB → 取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 MB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1524000"/>
              <a:ext cx="5410200" cy="19964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217092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516302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922192" y="1524000"/>
              <a:ext cx="9525" cy="19964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248400" y="3710940"/>
            <a:ext cx="5410200" cy="2097405"/>
            <a:chOff x="6248400" y="3710940"/>
            <a:chExt cx="5410200" cy="2097405"/>
          </a:xfrm>
        </p:grpSpPr>
        <p:sp>
          <p:nvSpPr>
            <p:cNvPr id="51" name="Rectangle 51"/>
            <p:cNvSpPr/>
            <p:nvPr/>
          </p:nvSpPr>
          <p:spPr>
            <a:xfrm>
              <a:off x="6248400" y="3710940"/>
              <a:ext cx="5410200" cy="2097405"/>
            </a:xfrm>
            <a:prstGeom prst="roundRect">
              <a:avLst>
                <a:gd name="adj" fmla="val 63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57925" y="3844290"/>
              <a:ext cx="47625" cy="18307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96050" y="392049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82308" y="395620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算一算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88430" y="4297680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寻址 10 ms 要占传输的 1%，则传输时间 = 10 ms ÷ 1%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 s。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88430" y="4918710"/>
              <a:ext cx="4377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块大小 = 带宽 × 1 s：100 MB/s 得 100 MB，取整到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MB；500 MB/s 得 500 MB，取整到 512 MB。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872996" cy="3351847"/>
            <a:chOff x="667512" y="1835468"/>
            <a:chExt cx="68729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8729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 HDFS 高可用性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528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单个 NameNode 是隐患，Secondary NameNode 只帮着合并快照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0454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内容提要：分布式文件系统 HDFS 的高可用性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28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 的单点问题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949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Secondary NameNode 的真实作用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出错恢复与元数据备份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10837" cy="909257"/>
            <a:chOff x="520446" y="342900"/>
            <a:chExt cx="44108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4425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9868" y="407194"/>
              <a:ext cx="351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分布式文件系统 HDFS 高可用性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108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的局限与四条设计取舍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720215"/>
            <a:chOff x="533400" y="1524000"/>
            <a:chExt cx="5410200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局限性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2740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实现了 GFS 几乎所有功能，但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不支持文件更新（修改、追加），所有文件一次性写入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不支持按需创建副本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8632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800350"/>
              <a:ext cx="42355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顺序读（streaming）性能很好，随机读性能差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434715"/>
            <a:ext cx="5410200" cy="782955"/>
            <a:chOff x="533400" y="3434715"/>
            <a:chExt cx="5410200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343471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3726180"/>
              <a:ext cx="200026" cy="200026"/>
              <a:chOff x="738188" y="372618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37261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37928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38261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358330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这些取舍是故意的：面向「一次写、多次顺序读」的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大数据批处理场景，放弃随机写来换取吞吐和简单。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408170"/>
            <a:ext cx="5410200" cy="1954530"/>
            <a:chOff x="533400" y="4408170"/>
            <a:chExt cx="5410200" cy="1954530"/>
          </a:xfrm>
        </p:grpSpPr>
        <p:sp>
          <p:nvSpPr>
            <p:cNvPr id="26" name="Rectangle 26"/>
            <p:cNvSpPr/>
            <p:nvPr/>
          </p:nvSpPr>
          <p:spPr>
            <a:xfrm>
              <a:off x="533400" y="4408170"/>
              <a:ext cx="5410200" cy="1954530"/>
            </a:xfrm>
            <a:prstGeom prst="roundRect">
              <a:avLst>
                <a:gd name="adj" fmla="val 68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2950" y="461772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6407" y="465343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一次写多次读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5330" y="499491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文件写完就封存，不允许原地改。要改就整份重写或另起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一个文件。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473" y="561260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好处：不用处理并发写和随机写的一致性难题，读时也能大块顺序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扫，吞吐高。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6248400" y="1524000"/>
            <a:ext cx="5410200" cy="2470786"/>
            <a:chOff x="6248400" y="1524000"/>
            <a:chExt cx="5410200" cy="2470786"/>
          </a:xfrm>
        </p:grpSpPr>
        <p:sp>
          <p:nvSpPr>
            <p:cNvPr id="32" name="Rectangle 32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268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06827" y="1659731"/>
              <a:ext cx="1007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HDFS 怎么做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56223" y="210835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70698" y="210835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一次写多次读，读可高并发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6223" y="25569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70698" y="2556986"/>
              <a:ext cx="17482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DataNode 即可扩容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6223" y="31189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70698" y="3005614"/>
              <a:ext cx="33047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3 副本；本地/本地机架/远程机架放置；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Heartbeat 与 Blockreport 更新状态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541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354615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56223" y="368093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70698" y="368093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相对薄弱，靠部署环境保障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1524000"/>
              <a:ext cx="5410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75811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llout-2"/>
          <p:cNvGrpSpPr/>
          <p:nvPr/>
        </p:nvGrpSpPr>
        <p:grpSpPr>
          <a:xfrm>
            <a:off x="6248400" y="4185285"/>
            <a:ext cx="5410200" cy="2177415"/>
            <a:chOff x="6248400" y="4185285"/>
            <a:chExt cx="5410200" cy="2177415"/>
          </a:xfrm>
        </p:grpSpPr>
        <p:sp>
          <p:nvSpPr>
            <p:cNvPr id="51" name="Rectangle 51"/>
            <p:cNvSpPr/>
            <p:nvPr/>
          </p:nvSpPr>
          <p:spPr>
            <a:xfrm>
              <a:off x="6248400" y="4185285"/>
              <a:ext cx="5410200" cy="2177415"/>
            </a:xfrm>
            <a:prstGeom prst="roundRect">
              <a:avLst>
                <a:gd name="adj" fmla="val 524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453188" y="5173980"/>
              <a:ext cx="200026" cy="200026"/>
              <a:chOff x="6453188" y="5173980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51739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53200" y="52406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42088" y="52739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755130" y="4892992"/>
              <a:ext cx="44634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Heartbeat 报「我还活着」，Blockreport 报「我手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上有哪些块」。NameNode 靠这两种消息发现死节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点、发现副本不足并补副本。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1673" cy="909257"/>
            <a:chOff x="520446" y="342900"/>
            <a:chExt cx="86016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4425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9868" y="407194"/>
              <a:ext cx="351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分布式文件系统 HDFS 高可用性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16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 与 Secondary NameNode：别把后者当热备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3884295"/>
            <a:chOff x="533400" y="1524000"/>
            <a:chExt cx="5410200" cy="38842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84295"/>
            </a:xfrm>
            <a:prstGeom prst="roundRect">
              <a:avLst>
                <a:gd name="adj" fmla="val 34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61759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89630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690" y="1769269"/>
              <a:ext cx="7499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NameNode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2228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整个 HDFS 集群的主节点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管理全局元数据（命名空间 + 块到 DataNode 的映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射）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670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服务用户请求：告诉客户端每个块在哪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39899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存在单点错误问题：它一挂，全集群不可用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3884295"/>
            <a:chOff x="6248400" y="1524000"/>
            <a:chExt cx="5410200" cy="388429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3884295"/>
            </a:xfrm>
            <a:prstGeom prst="roundRect">
              <a:avLst>
                <a:gd name="adj" fmla="val 343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168021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04860" y="1769269"/>
              <a:ext cx="1586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Secondary NameNode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46366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21780" y="2110740"/>
              <a:ext cx="2291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不是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NameNode 的热备份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463665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21780" y="244602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不能在错误恢复中快速切换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63665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21780" y="2781300"/>
              <a:ext cx="2695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 NameNode 元数据的快照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63665" y="317944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21780" y="3116580"/>
              <a:ext cx="42495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在线合并操作日志，再上传快照给主 NameNode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1" name="Rectangle 31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728335"/>
              <a:ext cx="9845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常见误区：Secondary NameNode 名字里有 secondary，但它不接管服务。它的活是替 NameNode 定期合并日志和快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照，减轻主节点重启时的恢复负担。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96140" cy="909257"/>
            <a:chOff x="520446" y="342900"/>
            <a:chExt cx="799614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4425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9868" y="407194"/>
              <a:ext cx="351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分布式文件系统 HDFS 高可用性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9614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 出错怎么办：数据安全比服务连续更重要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flow-1"/>
          <p:cNvGrpSpPr/>
          <p:nvPr/>
        </p:nvGrpSpPr>
        <p:grpSpPr>
          <a:xfrm>
            <a:off x="707708" y="1870710"/>
            <a:ext cx="4629150" cy="4109085"/>
            <a:chOff x="707708" y="1870710"/>
            <a:chExt cx="4629150" cy="4109085"/>
          </a:xfrm>
        </p:grpSpPr>
        <p:sp>
          <p:nvSpPr>
            <p:cNvPr id="7" name="Freeform 7"/>
            <p:cNvSpPr/>
            <p:nvPr/>
          </p:nvSpPr>
          <p:spPr>
            <a:xfrm>
              <a:off x="1777365" y="2549842"/>
              <a:ext cx="9525" cy="987742"/>
            </a:xfrm>
            <a:custGeom>
              <a:avLst/>
              <a:gdLst/>
              <a:ahLst/>
              <a:cxnLst/>
              <a:rect l="l" t="t" r="r" b="b"/>
              <a:pathLst>
                <a:path w="9525" h="987742">
                  <a:moveTo>
                    <a:pt x="0" y="0"/>
                  </a:moveTo>
                  <a:lnTo>
                    <a:pt x="0" y="9877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24978" y="35375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47975" y="394335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91815" y="3890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77365" y="4244340"/>
              <a:ext cx="9525" cy="782955"/>
            </a:xfrm>
            <a:custGeom>
              <a:avLst/>
              <a:gdLst/>
              <a:ahLst/>
              <a:cxnLst/>
              <a:rect l="l" t="t" r="r" b="b"/>
              <a:pathLst>
                <a:path w="9525" h="782955">
                  <a:moveTo>
                    <a:pt x="0" y="0"/>
                  </a:moveTo>
                  <a:lnTo>
                    <a:pt x="0" y="7829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24978" y="50272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47975" y="2330768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09550" y="0"/>
                  </a:lnTo>
                  <a:lnTo>
                    <a:pt x="139065" y="0"/>
                  </a:ln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91815" y="22783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07708" y="2111692"/>
              <a:ext cx="2140268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07708" y="3642360"/>
              <a:ext cx="2140268" cy="601980"/>
            </a:xfrm>
            <a:custGeom>
              <a:avLst/>
              <a:gdLst/>
              <a:ahLst/>
              <a:cxnLst/>
              <a:rect l="l" t="t" r="r" b="b"/>
              <a:pathLst>
                <a:path w="2140268" h="601980">
                  <a:moveTo>
                    <a:pt x="1069658" y="0"/>
                  </a:moveTo>
                  <a:lnTo>
                    <a:pt x="2140268" y="300990"/>
                  </a:lnTo>
                  <a:lnTo>
                    <a:pt x="1069658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196590" y="2111692"/>
              <a:ext cx="21402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196590" y="3629025"/>
              <a:ext cx="2140268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7708" y="5132070"/>
              <a:ext cx="2140268" cy="847725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9025" y="2241709"/>
              <a:ext cx="12566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NameNode 出错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67790" y="385429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能恢复原节点？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56673" y="224170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软件错误：重启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46106" y="3744754"/>
              <a:ext cx="124028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Secondary 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最新快照恢复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10056" y="5248751"/>
              <a:ext cx="1134618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建新 NameNode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用快照恢复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重启集群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907982" y="372713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46273" y="37538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805940" y="459581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29181" y="462248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不能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771775" y="187071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06065" y="18973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</a:t>
              </a:r>
            </a:p>
          </p:txBody>
        </p:sp>
      </p:grpSp>
      <p:grpSp>
        <p:nvGrpSpPr>
          <p:cNvPr id="38" name="c2-bullets-1"/>
          <p:cNvGrpSpPr/>
          <p:nvPr/>
        </p:nvGrpSpPr>
        <p:grpSpPr>
          <a:xfrm>
            <a:off x="5825490" y="1545431"/>
            <a:ext cx="4577029" cy="860869"/>
            <a:chOff x="5825490" y="1545431"/>
            <a:chExt cx="4577029" cy="860869"/>
          </a:xfrm>
        </p:grpSpPr>
        <p:sp>
          <p:nvSpPr>
            <p:cNvPr id="32" name="Ellipse 32"/>
            <p:cNvSpPr/>
            <p:nvPr/>
          </p:nvSpPr>
          <p:spPr>
            <a:xfrm>
              <a:off x="5825490" y="15973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80938" y="1545431"/>
              <a:ext cx="40249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出错期间无法提供任何服务，Secondary 不做热切换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25490" y="19030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80938" y="185118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软件错误：尝试重启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25490" y="220980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80938" y="2156936"/>
              <a:ext cx="4421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硬件错误：元数据可能丢失，需用 Secondary 的快照恢复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5815965" y="2546985"/>
            <a:ext cx="5842635" cy="1701165"/>
            <a:chOff x="5815965" y="2546985"/>
            <a:chExt cx="5842635" cy="1701165"/>
          </a:xfrm>
        </p:grpSpPr>
        <p:sp>
          <p:nvSpPr>
            <p:cNvPr id="39" name="Rectangle 39"/>
            <p:cNvSpPr/>
            <p:nvPr/>
          </p:nvSpPr>
          <p:spPr>
            <a:xfrm>
              <a:off x="5815965" y="2546985"/>
              <a:ext cx="5842635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25490" y="2680335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63615" y="27565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37072" y="27922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避免整体重启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055995" y="3133725"/>
              <a:ext cx="4465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问题：DataNode 记住的是老 NameNode 的地址。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69330" y="35318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27445" y="3469005"/>
              <a:ext cx="3316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建新 NameNode，改 DNS 指到新节点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069330" y="38671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27445" y="3804285"/>
              <a:ext cx="32970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Secondary 不能直接当新 NameNode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5815965" y="4438650"/>
            <a:ext cx="5842635" cy="1924050"/>
            <a:chOff x="5815965" y="4438650"/>
            <a:chExt cx="5842635" cy="1924050"/>
          </a:xfrm>
        </p:grpSpPr>
        <p:sp>
          <p:nvSpPr>
            <p:cNvPr id="49" name="Rectangle 49"/>
            <p:cNvSpPr/>
            <p:nvPr/>
          </p:nvSpPr>
          <p:spPr>
            <a:xfrm>
              <a:off x="5815965" y="4438650"/>
              <a:ext cx="5842635" cy="1924050"/>
            </a:xfrm>
            <a:prstGeom prst="roundRect">
              <a:avLst>
                <a:gd name="adj" fmla="val 594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020753" y="5300665"/>
              <a:ext cx="200023" cy="200023"/>
              <a:chOff x="6020753" y="5300665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020753" y="53006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154103" y="53673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322695" y="5157788"/>
              <a:ext cx="4806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记住这条排序：数据安全 &gt; 服务连续。宁可停机重启、慢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慢恢复，也不能为了不中断而冒丢元数据的风险。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4425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9868" y="407194"/>
              <a:ext cx="351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分布式文件系统 HDFS 高可用性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再加一道保险：把元数据备份到多个源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1986915"/>
            <a:chOff x="533400" y="1524000"/>
            <a:chExt cx="5626418" cy="19869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86915"/>
            </a:xfrm>
            <a:prstGeom prst="roundRect">
              <a:avLst>
                <a:gd name="adj" fmla="val 67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202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其他可靠性手段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NameNode 的元数据同时备份到多个源，例如写到 NFS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共享文件系统。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4047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好处：NameNode 硬件全毁时元数据仍在别处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代价：每次改元数据要多写一份，可能影响性能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701415"/>
            <a:ext cx="5626418" cy="2661285"/>
            <a:chOff x="533400" y="3701415"/>
            <a:chExt cx="5626418" cy="2661285"/>
          </a:xfrm>
        </p:grpSpPr>
        <p:sp>
          <p:nvSpPr>
            <p:cNvPr id="17" name="Rectangle 17"/>
            <p:cNvSpPr/>
            <p:nvPr/>
          </p:nvSpPr>
          <p:spPr>
            <a:xfrm>
              <a:off x="533400" y="3701415"/>
              <a:ext cx="5626418" cy="2661285"/>
            </a:xfrm>
            <a:prstGeom prst="roundRect">
              <a:avLst>
                <a:gd name="adj" fmla="val 42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932045"/>
              <a:ext cx="200026" cy="200025"/>
              <a:chOff x="738188" y="4932045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9320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49764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50876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4651058"/>
              <a:ext cx="46634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权衡就在这里：备份越多越安全，但写元数据越慢。生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产上常把日志同步写到本地 + 远程 NFS 两处，兼顾速度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和安全。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464618" y="1524000"/>
            <a:ext cx="5193982" cy="4838700"/>
            <a:chOff x="6464618" y="1524000"/>
            <a:chExt cx="5193982" cy="4838700"/>
          </a:xfrm>
        </p:grpSpPr>
        <p:sp>
          <p:nvSpPr>
            <p:cNvPr id="24" name="Rectangle 24"/>
            <p:cNvSpPr/>
            <p:nvPr/>
          </p:nvSpPr>
          <p:spPr>
            <a:xfrm>
              <a:off x="6464618" y="1524000"/>
              <a:ext cx="5193982" cy="4838700"/>
            </a:xfrm>
            <a:prstGeom prst="roundRect">
              <a:avLst>
                <a:gd name="adj" fmla="val 275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74168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5252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一句话总结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01915" y="1768792"/>
              <a:ext cx="2190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HDFS 高可用的设计哲学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6548" y="212979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宁可服务中断，也不能丢元数据。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679883" y="25279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37998" y="246507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元数据（命名空间 + 块映射）是全局唯一、丢了整个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集群就废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79883" y="31489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37998" y="3086100"/>
              <a:ext cx="4502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数据块有 3 副本，丢一台 DataNode 能自动补副本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7691" y="3418046"/>
              <a:ext cx="40233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所以保护重点是 NameNode 的元数据，而不是某个块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766674" cy="3351847"/>
            <a:chOff x="667512" y="1835468"/>
            <a:chExt cx="676667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7666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与 MapReduce 协同工作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6758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MapReduce 引擎跑在 HDFS 之上，用它当数据存储管理器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817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内容提要：分布式文件系统 HDFS 与 MapReduce 工作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970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JobTracker 与 TaskTracker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作业与数据块的映射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688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Map/Sort/Copy/Merge/Reduce 五阶段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561045" cy="909257"/>
            <a:chOff x="520446" y="342900"/>
            <a:chExt cx="1056104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042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2205" y="407194"/>
              <a:ext cx="3487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HDFS 与 MapReduce 协同工作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6104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 引擎也是主从：JobTracker 调度，TaskTracker 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879158" y="1913572"/>
            <a:ext cx="5462587" cy="3576638"/>
            <a:chOff x="879158" y="1913572"/>
            <a:chExt cx="5462587" cy="3576638"/>
          </a:xfrm>
        </p:grpSpPr>
        <p:sp>
          <p:nvSpPr>
            <p:cNvPr id="7" name="Freeform 7"/>
            <p:cNvSpPr/>
            <p:nvPr/>
          </p:nvSpPr>
          <p:spPr>
            <a:xfrm>
              <a:off x="1641158" y="2105025"/>
              <a:ext cx="1259205" cy="9525"/>
            </a:xfrm>
            <a:custGeom>
              <a:avLst/>
              <a:gdLst/>
              <a:ahLst/>
              <a:cxnLst/>
              <a:rect l="l" t="t" r="r" b="b"/>
              <a:pathLst>
                <a:path w="1259205" h="9525">
                  <a:moveTo>
                    <a:pt x="0" y="0"/>
                  </a:moveTo>
                  <a:lnTo>
                    <a:pt x="125920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00362" y="20574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144078" y="2296478"/>
              <a:ext cx="1552575" cy="2727007"/>
            </a:xfrm>
            <a:custGeom>
              <a:avLst/>
              <a:gdLst/>
              <a:ahLst/>
              <a:cxnLst/>
              <a:rect l="l" t="t" r="r" b="b"/>
              <a:pathLst>
                <a:path w="1552575" h="2727007">
                  <a:moveTo>
                    <a:pt x="1552575" y="0"/>
                  </a:moveTo>
                  <a:lnTo>
                    <a:pt x="0" y="272700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96452" y="5000625"/>
              <a:ext cx="88583" cy="105728"/>
            </a:xfrm>
            <a:custGeom>
              <a:avLst/>
              <a:gdLst/>
              <a:ahLst/>
              <a:cxnLst/>
              <a:rect l="l" t="t" r="r" b="b"/>
              <a:pathLst>
                <a:path w="88583" h="105728">
                  <a:moveTo>
                    <a:pt x="0" y="105728"/>
                  </a:moveTo>
                  <a:lnTo>
                    <a:pt x="5715" y="0"/>
                  </a:lnTo>
                  <a:lnTo>
                    <a:pt x="88583" y="46672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805238" y="2296478"/>
              <a:ext cx="9525" cy="2714625"/>
            </a:xfrm>
            <a:custGeom>
              <a:avLst/>
              <a:gdLst/>
              <a:ahLst/>
              <a:cxnLst/>
              <a:rect l="l" t="t" r="r" b="b"/>
              <a:pathLst>
                <a:path w="9525" h="2714625">
                  <a:moveTo>
                    <a:pt x="0" y="0"/>
                  </a:moveTo>
                  <a:lnTo>
                    <a:pt x="0" y="2714625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57612" y="501110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914775" y="2296478"/>
              <a:ext cx="1552575" cy="2727007"/>
            </a:xfrm>
            <a:custGeom>
              <a:avLst/>
              <a:gdLst/>
              <a:ahLst/>
              <a:cxnLst/>
              <a:rect l="l" t="t" r="r" b="b"/>
              <a:pathLst>
                <a:path w="1552575" h="2727007">
                  <a:moveTo>
                    <a:pt x="0" y="0"/>
                  </a:moveTo>
                  <a:lnTo>
                    <a:pt x="1552575" y="2727007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425440" y="5000625"/>
              <a:ext cx="88582" cy="105728"/>
            </a:xfrm>
            <a:custGeom>
              <a:avLst/>
              <a:gdLst/>
              <a:ahLst/>
              <a:cxnLst/>
              <a:rect l="l" t="t" r="r" b="b"/>
              <a:pathLst>
                <a:path w="88582" h="105728">
                  <a:moveTo>
                    <a:pt x="88582" y="105728"/>
                  </a:moveTo>
                  <a:lnTo>
                    <a:pt x="0" y="46672"/>
                  </a:lnTo>
                  <a:lnTo>
                    <a:pt x="82867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859530" y="2387918"/>
              <a:ext cx="270828" cy="2718435"/>
            </a:xfrm>
            <a:custGeom>
              <a:avLst/>
              <a:gdLst/>
              <a:ahLst/>
              <a:cxnLst/>
              <a:rect l="l" t="t" r="r" b="b"/>
              <a:pathLst>
                <a:path w="270828" h="2718435">
                  <a:moveTo>
                    <a:pt x="0" y="2718435"/>
                  </a:moveTo>
                  <a:cubicBezTo>
                    <a:pt x="262255" y="1781810"/>
                    <a:pt x="270828" y="875665"/>
                    <a:pt x="25717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3838575" y="2296478"/>
              <a:ext cx="92392" cy="103823"/>
            </a:xfrm>
            <a:custGeom>
              <a:avLst/>
              <a:gdLst/>
              <a:ahLst/>
              <a:cxnLst/>
              <a:rect l="l" t="t" r="r" b="b"/>
              <a:pathLst>
                <a:path w="92392" h="103823">
                  <a:moveTo>
                    <a:pt x="20955" y="0"/>
                  </a:moveTo>
                  <a:lnTo>
                    <a:pt x="92392" y="78105"/>
                  </a:lnTo>
                  <a:lnTo>
                    <a:pt x="0" y="1038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79158" y="1985010"/>
              <a:ext cx="762000" cy="240030"/>
            </a:xfrm>
            <a:prstGeom prst="roundRect">
              <a:avLst>
                <a:gd name="adj" fmla="val 3968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995612" y="1913572"/>
              <a:ext cx="1619250" cy="382905"/>
            </a:xfrm>
            <a:prstGeom prst="roundRect">
              <a:avLst>
                <a:gd name="adj" fmla="val 2487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89245" y="1985010"/>
              <a:ext cx="952500" cy="240030"/>
            </a:xfrm>
            <a:prstGeom prst="roundRect">
              <a:avLst>
                <a:gd name="adj" fmla="val 3968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463992" y="5106352"/>
              <a:ext cx="1047750" cy="382905"/>
            </a:xfrm>
            <a:prstGeom prst="roundRect">
              <a:avLst>
                <a:gd name="adj" fmla="val 2487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281362" y="5106352"/>
              <a:ext cx="1047750" cy="382905"/>
            </a:xfrm>
            <a:prstGeom prst="roundRect">
              <a:avLst>
                <a:gd name="adj" fmla="val 2487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099685" y="5106352"/>
              <a:ext cx="1047750" cy="382905"/>
            </a:xfrm>
            <a:prstGeom prst="roundRect">
              <a:avLst>
                <a:gd name="adj" fmla="val 2487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4237" y="204882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46671" y="1977390"/>
              <a:ext cx="7171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JobTracker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55870" y="2120265"/>
              <a:ext cx="109873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（master 调度器）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63995" y="2048828"/>
              <a:ext cx="60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NameNode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94316" y="5171122"/>
              <a:ext cx="7871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TaskTracker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63210" y="5313998"/>
              <a:ext cx="249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11686" y="5171122"/>
              <a:ext cx="7871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TaskTracker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80580" y="5313998"/>
              <a:ext cx="249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30009" y="5171122"/>
              <a:ext cx="7871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TaskTracker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406911" y="5313998"/>
              <a:ext cx="433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Reduce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072640" y="2025968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92846" y="2055019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提交作业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649855" y="3623310"/>
              <a:ext cx="49244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671013" y="3652361"/>
              <a:ext cx="4510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任务分配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913822" y="3623310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940594" y="365236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心跳</a:t>
              </a:r>
            </a:p>
          </p:txBody>
        </p:sp>
      </p:grpSp>
      <p:grpSp>
        <p:nvGrpSpPr>
          <p:cNvPr id="45" name="c2-kv-1"/>
          <p:cNvGrpSpPr/>
          <p:nvPr/>
        </p:nvGrpSpPr>
        <p:grpSpPr>
          <a:xfrm>
            <a:off x="6890385" y="1548765"/>
            <a:ext cx="4768215" cy="1297305"/>
            <a:chOff x="6890385" y="1548765"/>
            <a:chExt cx="4768215" cy="1297305"/>
          </a:xfrm>
        </p:grpSpPr>
        <p:sp>
          <p:nvSpPr>
            <p:cNvPr id="40" name="TextBox 40"/>
            <p:cNvSpPr txBox="1"/>
            <p:nvPr/>
          </p:nvSpPr>
          <p:spPr>
            <a:xfrm>
              <a:off x="6890385" y="1548765"/>
              <a:ext cx="11945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JobTracker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18183" y="1548765"/>
              <a:ext cx="29394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在集群上管理作业，监视作业并给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TaskTracker 分配任务（调度器）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98005" y="215074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90385" y="2270760"/>
              <a:ext cx="13112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TaskTracker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18183" y="2270760"/>
              <a:ext cx="30727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管理单个计算节点上 Map 和 Reduce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任务的执行（运行环境）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6898005" y="2977515"/>
            <a:ext cx="4760595" cy="1335405"/>
            <a:chOff x="6898005" y="2977515"/>
            <a:chExt cx="4760595" cy="1335405"/>
          </a:xfrm>
        </p:grpSpPr>
        <p:sp>
          <p:nvSpPr>
            <p:cNvPr id="46" name="Rectangle 46"/>
            <p:cNvSpPr/>
            <p:nvPr/>
          </p:nvSpPr>
          <p:spPr>
            <a:xfrm>
              <a:off x="6898005" y="2977515"/>
              <a:ext cx="4760595" cy="1335405"/>
            </a:xfrm>
            <a:prstGeom prst="roundRect">
              <a:avLst>
                <a:gd name="adj" fmla="val 85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102793" y="3545205"/>
              <a:ext cx="200026" cy="200026"/>
              <a:chOff x="7102793" y="3545205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102793" y="35452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02805" y="36118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191693" y="364521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404735" y="3126105"/>
              <a:ext cx="37680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HDFS 一样是一主多从：JobTracker 对应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NameNode 的位置，TaskTracker 通常和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DataNode 部署在同一台机器上，好让计算靠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近数据。</a:t>
              </a:r>
            </a:p>
          </p:txBody>
        </p:sp>
      </p:grpSp>
      <p:grpSp>
        <p:nvGrpSpPr>
          <p:cNvPr id="60" name="c2-card-3"/>
          <p:cNvGrpSpPr/>
          <p:nvPr/>
        </p:nvGrpSpPr>
        <p:grpSpPr>
          <a:xfrm>
            <a:off x="6898005" y="4503420"/>
            <a:ext cx="4760595" cy="2183130"/>
            <a:chOff x="6898005" y="4503420"/>
            <a:chExt cx="4760595" cy="2183130"/>
          </a:xfrm>
        </p:grpSpPr>
        <p:sp>
          <p:nvSpPr>
            <p:cNvPr id="53" name="Rectangle 53"/>
            <p:cNvSpPr/>
            <p:nvPr/>
          </p:nvSpPr>
          <p:spPr>
            <a:xfrm>
              <a:off x="6898005" y="4503420"/>
              <a:ext cx="4760595" cy="2183130"/>
            </a:xfrm>
            <a:prstGeom prst="roundRect">
              <a:avLst>
                <a:gd name="adj" fmla="val 61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07530" y="4636770"/>
              <a:ext cx="47625" cy="19164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45655" y="471297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219112" y="474868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两套主从对照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38035" y="5090160"/>
              <a:ext cx="42536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存储侧：NameNode（主）+ DataNode（从）。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38035" y="5425440"/>
              <a:ext cx="3710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计算侧：JobTracker（主）+ TaskTracker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（从）。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139178" y="6043136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两套一一对应、同机部署，就是「把计算搬到数据旁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边」。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4718" cy="909257"/>
            <a:chOff x="520446" y="342900"/>
            <a:chExt cx="7104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042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2205" y="407194"/>
              <a:ext cx="3487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HDFS 与 MapReduce 协同工作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4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作业与数据块一一映射，每个 Map 处理一个块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8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Job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Map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Task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Reduce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Task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2209800"/>
            <a:ext cx="5410200" cy="1701165"/>
            <a:chOff x="533400" y="2209800"/>
            <a:chExt cx="5410200" cy="1701165"/>
          </a:xfrm>
        </p:grpSpPr>
        <p:sp>
          <p:nvSpPr>
            <p:cNvPr id="8" name="Rectangle 8"/>
            <p:cNvSpPr/>
            <p:nvPr/>
          </p:nvSpPr>
          <p:spPr>
            <a:xfrm>
              <a:off x="533400" y="2209800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42925" y="2343150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81050" y="24193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3359" y="24550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映射关系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8594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96540"/>
              <a:ext cx="40581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输入文件在 HDFS 中分块存储（Data Block）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94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131820"/>
              <a:ext cx="3952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Map 任务处理一个数据块（一一映射）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5299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467100"/>
              <a:ext cx="347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产出中间数据块，供 Reduce 使用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101465"/>
            <a:ext cx="5410200" cy="782955"/>
            <a:chOff x="533400" y="4101465"/>
            <a:chExt cx="5410200" cy="782955"/>
          </a:xfrm>
        </p:grpSpPr>
        <p:sp>
          <p:nvSpPr>
            <p:cNvPr id="19" name="Rectangle 19"/>
            <p:cNvSpPr/>
            <p:nvPr/>
          </p:nvSpPr>
          <p:spPr>
            <a:xfrm>
              <a:off x="533400" y="410146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392930"/>
              <a:ext cx="200026" cy="200025"/>
              <a:chOff x="738188" y="4392930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3929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44373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45485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250055"/>
              <a:ext cx="44824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一个作业的 Map 任务数，基本等于输入文件的块数。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块数越多并行度越高，但调度和启动开销也越大。</a:t>
              </a:r>
            </a:p>
          </p:txBody>
        </p:sp>
      </p:grpSp>
      <p:grpSp>
        <p:nvGrpSpPr>
          <p:cNvPr id="31" name="c1-callout-4"/>
          <p:cNvGrpSpPr/>
          <p:nvPr/>
        </p:nvGrpSpPr>
        <p:grpSpPr>
          <a:xfrm>
            <a:off x="533400" y="5074920"/>
            <a:ext cx="5410200" cy="1287780"/>
            <a:chOff x="533400" y="5074920"/>
            <a:chExt cx="5410200" cy="1287780"/>
          </a:xfrm>
        </p:grpSpPr>
        <p:sp>
          <p:nvSpPr>
            <p:cNvPr id="26" name="Rectangle 26"/>
            <p:cNvSpPr/>
            <p:nvPr/>
          </p:nvSpPr>
          <p:spPr>
            <a:xfrm>
              <a:off x="533400" y="5074920"/>
              <a:ext cx="5410200" cy="1287780"/>
            </a:xfrm>
            <a:prstGeom prst="roundRect">
              <a:avLst>
                <a:gd name="adj" fmla="val 887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618800"/>
              <a:ext cx="200023" cy="200023"/>
              <a:chOff x="738188" y="5618800"/>
              <a:chExt cx="200023" cy="200023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61880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1538" y="56854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337810"/>
              <a:ext cx="4425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「一块一 Map」正是数据本地性的前提：既然每个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Map 只处理一个块，就把它调度到那个块所在的机器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上，Map 读数据不走网络。</a:t>
              </a:r>
            </a:p>
          </p:txBody>
        </p:sp>
      </p:grpSp>
      <p:grpSp>
        <p:nvGrpSpPr>
          <p:cNvPr id="46" name="c2-flow-1"/>
          <p:cNvGrpSpPr/>
          <p:nvPr/>
        </p:nvGrpSpPr>
        <p:grpSpPr>
          <a:xfrm>
            <a:off x="6627495" y="1814512"/>
            <a:ext cx="4652962" cy="4162426"/>
            <a:chOff x="6627495" y="1814512"/>
            <a:chExt cx="4652962" cy="4162426"/>
          </a:xfrm>
        </p:grpSpPr>
        <p:sp>
          <p:nvSpPr>
            <p:cNvPr id="32" name="Freeform 32"/>
            <p:cNvSpPr/>
            <p:nvPr/>
          </p:nvSpPr>
          <p:spPr>
            <a:xfrm>
              <a:off x="8953500" y="2443162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901112" y="29194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953500" y="3652838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901112" y="42243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953500" y="4767262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901112" y="5434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627495" y="1814512"/>
              <a:ext cx="4652010" cy="628650"/>
            </a:xfrm>
            <a:custGeom>
              <a:avLst/>
              <a:gdLst/>
              <a:ahLst/>
              <a:cxnLst/>
              <a:rect l="l" t="t" r="r" b="b"/>
              <a:pathLst>
                <a:path w="4652010" h="628650">
                  <a:moveTo>
                    <a:pt x="133350" y="0"/>
                  </a:moveTo>
                  <a:lnTo>
                    <a:pt x="4652010" y="0"/>
                  </a:lnTo>
                  <a:lnTo>
                    <a:pt x="4518660" y="628650"/>
                  </a:lnTo>
                  <a:lnTo>
                    <a:pt x="0" y="628650"/>
                  </a:lnTo>
                  <a:close/>
                </a:path>
              </a:pathLst>
            </a:custGeom>
            <a:solidFill>
              <a:srgbClr val="E6EFF9"/>
            </a:solidFill>
            <a:ln w="13335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27495" y="3024188"/>
              <a:ext cx="4652962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27495" y="4329112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27495" y="5538788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81263" y="1930241"/>
              <a:ext cx="7444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输入文件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分块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09711" y="3139916"/>
              <a:ext cx="68757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任务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每块一个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16239" y="445912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中间数据块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61619" y="5668804"/>
              <a:ext cx="9837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任务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70261" cy="909257"/>
            <a:chOff x="520446" y="342900"/>
            <a:chExt cx="80702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50424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2205" y="407194"/>
              <a:ext cx="3487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HDFS 与 MapReduce 协同工作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702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一个作业的完整数据流：Map 到 Reduce 的五个阶段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flow-1"/>
          <p:cNvGrpSpPr/>
          <p:nvPr/>
        </p:nvGrpSpPr>
        <p:grpSpPr>
          <a:xfrm>
            <a:off x="689610" y="1865948"/>
            <a:ext cx="10813732" cy="424815"/>
            <a:chOff x="689610" y="1865948"/>
            <a:chExt cx="10813732" cy="424815"/>
          </a:xfrm>
        </p:grpSpPr>
        <p:sp>
          <p:nvSpPr>
            <p:cNvPr id="7" name="Freeform 7"/>
            <p:cNvSpPr/>
            <p:nvPr/>
          </p:nvSpPr>
          <p:spPr>
            <a:xfrm>
              <a:off x="260223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0987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82727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03491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05231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5995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277350" y="2078355"/>
              <a:ext cx="207645" cy="9525"/>
            </a:xfrm>
            <a:custGeom>
              <a:avLst/>
              <a:gdLst/>
              <a:ahLst/>
              <a:cxnLst/>
              <a:rect l="l" t="t" r="r" b="b"/>
              <a:pathLst>
                <a:path w="207645" h="9525">
                  <a:moveTo>
                    <a:pt x="0" y="0"/>
                  </a:moveTo>
                  <a:lnTo>
                    <a:pt x="2076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948499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9610" y="1865948"/>
              <a:ext cx="1913572" cy="424815"/>
            </a:xfrm>
            <a:prstGeom prst="roundRect">
              <a:avLst>
                <a:gd name="adj" fmla="val 22422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914650" y="1865948"/>
              <a:ext cx="19135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39690" y="1865948"/>
              <a:ext cx="19135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364730" y="1865948"/>
              <a:ext cx="19135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9589770" y="1865948"/>
              <a:ext cx="1913572" cy="424815"/>
            </a:xfrm>
            <a:prstGeom prst="roundRect">
              <a:avLst>
                <a:gd name="adj" fmla="val 22422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87576" y="1994535"/>
              <a:ext cx="3166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84651" y="1994535"/>
              <a:ext cx="372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09691" y="1994535"/>
              <a:ext cx="372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73969" y="1994535"/>
              <a:ext cx="494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70922" y="1994535"/>
              <a:ext cx="5503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</a:t>
              </a:r>
            </a:p>
          </p:txBody>
        </p:sp>
      </p:grpSp>
      <p:grpSp>
        <p:nvGrpSpPr>
          <p:cNvPr id="54" name="c1-table-2"/>
          <p:cNvGrpSpPr/>
          <p:nvPr/>
        </p:nvGrpSpPr>
        <p:grpSpPr>
          <a:xfrm>
            <a:off x="533400" y="2818448"/>
            <a:ext cx="11125200" cy="2813685"/>
            <a:chOff x="533400" y="2818448"/>
            <a:chExt cx="11125200" cy="2813685"/>
          </a:xfrm>
        </p:grpSpPr>
        <p:sp>
          <p:nvSpPr>
            <p:cNvPr id="26" name="Rectangle 26"/>
            <p:cNvSpPr/>
            <p:nvPr/>
          </p:nvSpPr>
          <p:spPr>
            <a:xfrm>
              <a:off x="533400" y="2818448"/>
              <a:ext cx="11125200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24636" y="295322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20720" y="295322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在哪端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93685" y="295322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做什么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7604" y="3421856"/>
              <a:ext cx="392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17826" y="3421856"/>
              <a:ext cx="6243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端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419981" y="3421856"/>
              <a:ext cx="28914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逐条处理输入块，产出中间 (k,v)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509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755708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7604" y="3891439"/>
              <a:ext cx="462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Sort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417826" y="3891439"/>
              <a:ext cx="6243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19981" y="3891439"/>
              <a:ext cx="21650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key 在本地排序、分区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22052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7604" y="4360069"/>
              <a:ext cx="462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Copy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17826" y="43600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19981" y="4360069"/>
              <a:ext cx="52839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端把属于自己分区的中间结果拉过来（就是 Shuffle）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6891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693920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7604" y="4828699"/>
              <a:ext cx="6133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Merge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17826" y="4828699"/>
              <a:ext cx="9003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419981" y="4828699"/>
              <a:ext cx="37413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把来自多个 Map 的有序片段归并成一路有序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515874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7604" y="5298281"/>
              <a:ext cx="6830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417826" y="5298281"/>
              <a:ext cx="9003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Reduce 端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419981" y="5298281"/>
              <a:ext cx="37134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key 的 value 列表做汇总，写出结果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2818448"/>
              <a:ext cx="11125200" cy="28136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308860" y="2818448"/>
              <a:ext cx="9525" cy="28136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4311015" y="2818448"/>
              <a:ext cx="9525" cy="28136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0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5" name="Rectangle 55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040511" y="6004084"/>
              <a:ext cx="92439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判断题常考：排序发生在 Map 端（Sort）和 Reduce 端（Merge）两处，Reduce 从不重新全排，只做归并。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793559" cy="3351847"/>
            <a:chOff x="667512" y="1835468"/>
            <a:chExt cx="479355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79355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中的调度问题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公平和数据本地性会打架，延迟调度是折中办法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970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内容提要：Hadoop 中的调度问题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39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数据本地性 Data Locality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公平调度的两处不足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139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延迟调度与最大跳数 D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517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203" y="407194"/>
              <a:ext cx="2865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Hadoop 中的调度问题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调度的核心矛盾：任务要靠近它的数据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036445"/>
            <a:chOff x="533400" y="1524000"/>
            <a:chExt cx="5410200" cy="2036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69068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717" y="1769269"/>
              <a:ext cx="1590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拉式分配（Pull Task）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737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JobTracker 按 TaskTracker 的心跳分配资源。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446020"/>
              <a:ext cx="46526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TaskTracker 心跳报告状态，有空闲 slot 就提要求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781300"/>
              <a:ext cx="3560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Task（Map/Reduce）占一个 slot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179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116580"/>
              <a:ext cx="3669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Mapper 任务依赖一个 HDFS 数据块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10"/>
              <p:cNvSpPr txBox="1">
                <a:spLocks noGrp="1"/>
              </p:cNvSpPr>
              <p:nvPr/>
            </p:nvSpPr>
            <p:spPr>
              <a:xfrm>
                <a:off x="533400" y="3750945"/>
                <a:ext cx="5410200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Data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locality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本地化任务数</m:t>
                          </m:r>
                        </m:num>
                        <m:den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总任务数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6" name="c1-callout-3"/>
          <p:cNvGrpSpPr/>
          <p:nvPr/>
        </p:nvGrpSpPr>
        <p:grpSpPr>
          <a:xfrm>
            <a:off x="533400" y="4610100"/>
            <a:ext cx="5410200" cy="1752600"/>
            <a:chOff x="533400" y="4610100"/>
            <a:chExt cx="5410200" cy="1752600"/>
          </a:xfrm>
        </p:grpSpPr>
        <p:sp>
          <p:nvSpPr>
            <p:cNvPr id="20" name="Rectangle 20"/>
            <p:cNvSpPr/>
            <p:nvPr/>
          </p:nvSpPr>
          <p:spPr>
            <a:xfrm>
              <a:off x="533400" y="4610100"/>
              <a:ext cx="5410200" cy="1752600"/>
            </a:xfrm>
            <a:prstGeom prst="roundRect">
              <a:avLst>
                <a:gd name="adj" fmla="val 652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386388"/>
              <a:ext cx="200026" cy="200025"/>
              <a:chOff x="738188" y="5386388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3863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4308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5419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967288"/>
              <a:ext cx="437769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Mapper 任务占大部分运行时间、又依赖特定数据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块，所以本地性主要就看 Map 阶段：把 Map 调到数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据所在的节点，省下的正是最花时间的那段网络传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输。</a:t>
              </a:r>
            </a:p>
          </p:txBody>
        </p:sp>
      </p:grpSp>
      <p:grpSp>
        <p:nvGrpSpPr>
          <p:cNvPr id="43" name="c2-compare-1"/>
          <p:cNvGrpSpPr/>
          <p:nvPr/>
        </p:nvGrpSpPr>
        <p:grpSpPr>
          <a:xfrm>
            <a:off x="6248400" y="1524000"/>
            <a:ext cx="5410200" cy="1939290"/>
            <a:chOff x="6248400" y="1524000"/>
            <a:chExt cx="5410200" cy="1939290"/>
          </a:xfrm>
        </p:grpSpPr>
        <p:sp>
          <p:nvSpPr>
            <p:cNvPr id="27" name="Rectangle 27"/>
            <p:cNvSpPr/>
            <p:nvPr/>
          </p:nvSpPr>
          <p:spPr>
            <a:xfrm>
              <a:off x="6248400" y="1524000"/>
              <a:ext cx="2495550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1657350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88430" y="1758315"/>
              <a:ext cx="1082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Local task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2112645"/>
              <a:ext cx="1415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数据块就在本机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TaskTracker 上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273367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不用网络传数据，高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63050" y="1524000"/>
              <a:ext cx="2495550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172575" y="1657350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03080" y="1758315"/>
              <a:ext cx="12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Remote task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941641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574530" y="2112645"/>
              <a:ext cx="1415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数据块在远程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TaskTracker 上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9416415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574530" y="27336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要先把数据传过来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8791575" y="233172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861915" y="242792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248400" y="3653790"/>
            <a:ext cx="5410200" cy="1059180"/>
            <a:chOff x="6248400" y="3653790"/>
            <a:chExt cx="5410200" cy="1059180"/>
          </a:xfrm>
        </p:grpSpPr>
        <p:sp>
          <p:nvSpPr>
            <p:cNvPr id="44" name="Rectangle 44"/>
            <p:cNvSpPr/>
            <p:nvPr/>
          </p:nvSpPr>
          <p:spPr>
            <a:xfrm>
              <a:off x="6248400" y="365379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53188" y="4083368"/>
              <a:ext cx="200026" cy="200026"/>
              <a:chOff x="6453188" y="408336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453188" y="40833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53200" y="41500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542088" y="41833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755130" y="3802380"/>
              <a:ext cx="44824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传统集群数据集中存、运行前先 Stage-In，不存在本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地性问题；网格和 Hadoop 里数据分布存，才引出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Locality。</a:t>
              </a:r>
            </a:p>
          </p:txBody>
        </p:sp>
      </p:grpSp>
      <p:grpSp>
        <p:nvGrpSpPr>
          <p:cNvPr id="56" name="c2-callout-3"/>
          <p:cNvGrpSpPr/>
          <p:nvPr/>
        </p:nvGrpSpPr>
        <p:grpSpPr>
          <a:xfrm>
            <a:off x="6248400" y="4903470"/>
            <a:ext cx="5410200" cy="1459230"/>
            <a:chOff x="6248400" y="4903470"/>
            <a:chExt cx="5410200" cy="1459230"/>
          </a:xfrm>
        </p:grpSpPr>
        <p:sp>
          <p:nvSpPr>
            <p:cNvPr id="51" name="Rectangle 51"/>
            <p:cNvSpPr/>
            <p:nvPr/>
          </p:nvSpPr>
          <p:spPr>
            <a:xfrm>
              <a:off x="6248400" y="4903470"/>
              <a:ext cx="5410200" cy="1459230"/>
            </a:xfrm>
            <a:prstGeom prst="roundRect">
              <a:avLst>
                <a:gd name="adj" fmla="val 783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53188" y="5533075"/>
              <a:ext cx="200023" cy="200023"/>
              <a:chOff x="6453188" y="553307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55330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86538" y="55997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55130" y="5252085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本地性不是越高越好：一味追求本地会让任务干等，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反而降吞吐。延迟调度就是在「等本地」和「早开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工」之间找平衡。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517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203" y="407194"/>
              <a:ext cx="2865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Hadoop 中的调度问题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公平与本地性冲突：严格排队会牺牲本地性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193982" cy="1937385"/>
            <a:chOff x="533400" y="1524000"/>
            <a:chExt cx="5193982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两个目标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320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公平共享（Fair sharing）：多个 job/user 之间按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最大最小公平（MaxMin）分资源（面向用户）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数据本地性（Data locality）：尽量让任务落到有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数据的节点，提高吞吐（面向系统）</a:t>
              </a:r>
            </a:p>
          </p:txBody>
        </p:sp>
      </p:grpSp>
      <p:grpSp>
        <p:nvGrpSpPr>
          <p:cNvPr id="21" name="c1-kv-2"/>
          <p:cNvGrpSpPr/>
          <p:nvPr/>
        </p:nvGrpSpPr>
        <p:grpSpPr>
          <a:xfrm>
            <a:off x="525780" y="3676650"/>
            <a:ext cx="5201602" cy="1015365"/>
            <a:chOff x="525780" y="3676650"/>
            <a:chExt cx="5201602" cy="1015365"/>
          </a:xfrm>
        </p:grpSpPr>
        <p:sp>
          <p:nvSpPr>
            <p:cNvPr id="16" name="TextBox 16"/>
            <p:cNvSpPr txBox="1"/>
            <p:nvPr/>
          </p:nvSpPr>
          <p:spPr>
            <a:xfrm>
              <a:off x="525780" y="3676650"/>
              <a:ext cx="4345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Slot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80148" y="367665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一个节点的资源容量单位，调度的基本单位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9966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5780" y="4116705"/>
              <a:ext cx="371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Job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80148" y="4116705"/>
              <a:ext cx="42633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一次数据处理运行，含多个 task，每 task 占一个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slot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4823460"/>
            <a:ext cx="5193982" cy="1539240"/>
            <a:chOff x="533400" y="4823460"/>
            <a:chExt cx="5193982" cy="1539240"/>
          </a:xfrm>
        </p:grpSpPr>
        <p:sp>
          <p:nvSpPr>
            <p:cNvPr id="22" name="Rectangle 22"/>
            <p:cNvSpPr/>
            <p:nvPr/>
          </p:nvSpPr>
          <p:spPr>
            <a:xfrm>
              <a:off x="533400" y="4823460"/>
              <a:ext cx="5193982" cy="1539240"/>
            </a:xfrm>
            <a:prstGeom prst="roundRect">
              <a:avLst>
                <a:gd name="adj" fmla="val 742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493068"/>
              <a:ext cx="200026" cy="200026"/>
              <a:chOff x="738188" y="5493068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4930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55597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559308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212080"/>
              <a:ext cx="42919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最大最小公平（MaxMin）：优先满足需求最小的用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户，再把余下资源公平分给其他人，避免大作业挤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占小作业。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6032182" y="1524000"/>
            <a:ext cx="5626418" cy="1651635"/>
            <a:chOff x="6032182" y="1524000"/>
            <a:chExt cx="5626418" cy="1651635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41708" y="1657350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79832" y="1733550"/>
              <a:ext cx="1689735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1848" y="1769269"/>
              <a:ext cx="15857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不足一：Head-of-line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72212" y="211074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产生于小作业（数据块少）。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85548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43662" y="2446020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例：一个 job 只在 10% 的节点上有数据，严格排队时本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地性最高只能到 10%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032182" y="3366135"/>
            <a:ext cx="5626418" cy="2600325"/>
            <a:chOff x="6032182" y="3366135"/>
            <a:chExt cx="5626418" cy="2600325"/>
          </a:xfrm>
        </p:grpSpPr>
        <p:sp>
          <p:nvSpPr>
            <p:cNvPr id="37" name="Rectangle 37"/>
            <p:cNvSpPr/>
            <p:nvPr/>
          </p:nvSpPr>
          <p:spPr>
            <a:xfrm>
              <a:off x="6032182" y="3366135"/>
              <a:ext cx="5626418" cy="2600325"/>
            </a:xfrm>
            <a:prstGeom prst="roundRect">
              <a:avLst>
                <a:gd name="adj" fmla="val 51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41708" y="3499485"/>
              <a:ext cx="47625" cy="23336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79832" y="3575685"/>
              <a:ext cx="16525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30555" y="3611404"/>
              <a:ext cx="1550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不足二：Sticky Slots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72212" y="39528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产生于所有作业。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85548" y="43510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43662" y="4288155"/>
              <a:ext cx="4739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 job 在节点 k 上完成一个 task 后，按公平算法这个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slot 又分回给它，导致 job 一直粘在原来那批 slot 上，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换不动位置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517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203" y="407194"/>
              <a:ext cx="2865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Hadoop 中的调度问题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延迟调度：队首拿不到本地任务，就先跳过它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626418" cy="2577465"/>
            <a:chOff x="533400" y="1524000"/>
            <a:chExt cx="5626418" cy="25774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77465"/>
            </a:xfrm>
            <a:prstGeom prst="roundRect">
              <a:avLst>
                <a:gd name="adj" fmla="val 51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52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解决思路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27822" y="1768792"/>
              <a:ext cx="16815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Delay Scheduling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遵循严格排队会让没有本地数据的 job 也被硬调度，本地性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就差。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42950" y="27374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47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3940" y="2750820"/>
              <a:ext cx="4682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节点请求任务时，若队首 job 起不了本地 task，就跳过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它，看后面的 job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2950" y="33585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799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3940" y="337185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为防饿死，一个 job 被跳过太多次，就允许它启动非本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地 task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291965"/>
            <a:ext cx="5626418" cy="2070735"/>
            <a:chOff x="533400" y="4291965"/>
            <a:chExt cx="5626418" cy="2070735"/>
          </a:xfrm>
        </p:grpSpPr>
        <p:sp>
          <p:nvSpPr>
            <p:cNvPr id="19" name="Rectangle 19"/>
            <p:cNvSpPr/>
            <p:nvPr/>
          </p:nvSpPr>
          <p:spPr>
            <a:xfrm>
              <a:off x="533400" y="4291965"/>
              <a:ext cx="5626418" cy="2070735"/>
            </a:xfrm>
            <a:prstGeom prst="roundRect">
              <a:avLst>
                <a:gd name="adj" fmla="val 552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227320"/>
              <a:ext cx="200026" cy="200026"/>
              <a:chOff x="738188" y="522732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2273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2939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53273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946332"/>
              <a:ext cx="46920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前提是 task 都很快结束：某个 slot 即使当下没有本地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数据，有数据的 slot 往往几秒内就会空出来，等一小会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儿就能等到本地任务。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464618" y="1524000"/>
            <a:ext cx="5193982" cy="4838700"/>
            <a:chOff x="6464618" y="1524000"/>
            <a:chExt cx="5193982" cy="4838700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4838700"/>
            </a:xfrm>
            <a:prstGeom prst="roundRect">
              <a:avLst>
                <a:gd name="adj" fmla="val 27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74142" y="1657350"/>
              <a:ext cx="47625" cy="45720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12268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85724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为什么值得等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4648" y="2110740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job j 的平均 task 长度为 T，集群共有 S 个 slot，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job 公平可用 F 个 slot。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04648" y="2731770"/>
              <a:ext cx="4349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slot 平均 T/S 秒释放一次；job 拿齐全部 slot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约需 FT/S 秒。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4648" y="3352800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只要 job 在私有集群上运行时间 J 远大于 FT/S，等一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小会儿换来本地性就很划算。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15248" cy="909257"/>
            <a:chOff x="520446" y="342900"/>
            <a:chExt cx="7215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517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7203" y="407194"/>
              <a:ext cx="28651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Hadoop 中的调度问题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15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等待调度的量化分析：D 起什么作用、该设多大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557338"/>
            <a:chOff x="533400" y="1524000"/>
            <a:chExt cx="5410200" cy="15573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037272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8965" y="1750695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分析一 · 记号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37172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 M 个节点，每节点 L 个 slot，共 S = ML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4317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375535"/>
              <a:ext cx="4298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Pⱼ：job j 有可用数据的节点集合，本地化节点数 |Pⱼ|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273462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678430"/>
              <a:ext cx="2263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可用节点比例 pⱼ = |Pⱼ| / M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19"/>
              <p:cNvSpPr txBox="1">
                <a:spLocks noGrp="1"/>
              </p:cNvSpPr>
              <p:nvPr/>
            </p:nvSpPr>
            <p:spPr>
              <a:xfrm>
                <a:off x="533400" y="3256598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p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40" name="c1-table-3"/>
          <p:cNvGrpSpPr/>
          <p:nvPr/>
        </p:nvGrpSpPr>
        <p:grpSpPr>
          <a:xfrm>
            <a:off x="528066" y="3889058"/>
            <a:ext cx="5415534" cy="1613153"/>
            <a:chOff x="528066" y="3889058"/>
            <a:chExt cx="5415534" cy="1613153"/>
          </a:xfrm>
        </p:grpSpPr>
        <p:sp>
          <p:nvSpPr>
            <p:cNvPr id="19" name="Rectangle 19"/>
            <p:cNvSpPr/>
            <p:nvPr/>
          </p:nvSpPr>
          <p:spPr>
            <a:xfrm>
              <a:off x="533400" y="3889058"/>
              <a:ext cx="5410200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4024" y="4016692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15060" y="4016692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59583" y="40166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仍非本地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3153" y="40166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本地启动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2270" y="4461510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98092" y="446151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55330" y="4461510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(0.9)¹⁰ ≈ 0.35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03192" y="4461510"/>
              <a:ext cx="504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65%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7729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777740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2270" y="4906328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98092" y="490632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55330" y="4906328"/>
              <a:ext cx="1322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(0.9)⁴⁰ ≈ 0.01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113848" y="4787265"/>
              <a:ext cx="1820228" cy="42576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03192" y="4906328"/>
              <a:ext cx="504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99%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889058"/>
              <a:ext cx="5410200" cy="1333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394460" y="3889058"/>
              <a:ext cx="9525" cy="1333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151698" y="3889058"/>
              <a:ext cx="9525" cy="1333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099560" y="3889058"/>
              <a:ext cx="9525" cy="1333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066" y="5296852"/>
              <a:ext cx="3523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复核：(0.9)¹⁰=0.349、(0.9)⁴⁰=0.0148，与课件一致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1209675"/>
            <a:chOff x="6248400" y="1524000"/>
            <a:chExt cx="5410200" cy="1209675"/>
          </a:xfrm>
        </p:grpSpPr>
        <p:sp>
          <p:nvSpPr>
            <p:cNvPr id="41" name="Rectangle 41"/>
            <p:cNvSpPr/>
            <p:nvPr/>
          </p:nvSpPr>
          <p:spPr>
            <a:xfrm>
              <a:off x="6248400" y="1524000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8905" y="1716405"/>
              <a:ext cx="1289685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42372" y="1750695"/>
              <a:ext cx="1162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分析二 · 如何设 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2047" y="2072640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简化假设：所有 task 长度 T 相同，各 job 的可用节点集合 Pⱼ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互不相关。给定目标本地性 λ，最大等待跳数 D 要满足：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formula20"/>
              <p:cNvSpPr txBox="1">
                <a:spLocks noGrp="1"/>
              </p:cNvSpPr>
              <p:nvPr/>
            </p:nvSpPr>
            <p:spPr>
              <a:xfrm>
                <a:off x="6248400" y="2908935"/>
                <a:ext cx="5410200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≥−</m:t>
                      </m:r>
                      <m:f>
                        <m:fPr>
                          <m:type m:val="bar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num>
                        <m:den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ln</m:t>
                          </m:r>
                        </m:fName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λ</m:t>
                                      </m:r>
                                    </m:e>
                                  </m:d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num>
                                <m:den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8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λ</m:t>
                                      </m:r>
                                    </m:e>
                                  </m:d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59" name="c2-kv-3"/>
          <p:cNvGrpSpPr/>
          <p:nvPr/>
        </p:nvGrpSpPr>
        <p:grpSpPr>
          <a:xfrm>
            <a:off x="6241542" y="3723322"/>
            <a:ext cx="5417058" cy="1457516"/>
            <a:chOff x="6241542" y="3723322"/>
            <a:chExt cx="5417058" cy="1457516"/>
          </a:xfrm>
        </p:grpSpPr>
        <p:sp>
          <p:nvSpPr>
            <p:cNvPr id="48" name="TextBox 48"/>
            <p:cNvSpPr txBox="1"/>
            <p:nvPr/>
          </p:nvSpPr>
          <p:spPr>
            <a:xfrm>
              <a:off x="6241542" y="372332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30162" y="372332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目标本地性程度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401193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1542" y="41214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30162" y="412146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job 的 task 数量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44100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41542" y="4518660"/>
              <a:ext cx="164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30162" y="451866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集群节点数量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48082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41542" y="4916805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30162" y="491680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复制因子（副本数）</a:t>
              </a:r>
            </a:p>
          </p:txBody>
        </p:sp>
      </p:grpSp>
      <p:grpSp>
        <p:nvGrpSpPr>
          <p:cNvPr id="66" name="c2-callout-4"/>
          <p:cNvGrpSpPr/>
          <p:nvPr/>
        </p:nvGrpSpPr>
        <p:grpSpPr>
          <a:xfrm>
            <a:off x="6248400" y="5302568"/>
            <a:ext cx="5410200" cy="729615"/>
            <a:chOff x="6248400" y="5302568"/>
            <a:chExt cx="5410200" cy="729615"/>
          </a:xfrm>
        </p:grpSpPr>
        <p:sp>
          <p:nvSpPr>
            <p:cNvPr id="60" name="Rectangle 60"/>
            <p:cNvSpPr/>
            <p:nvPr/>
          </p:nvSpPr>
          <p:spPr>
            <a:xfrm>
              <a:off x="6248400" y="530256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453188" y="5567363"/>
              <a:ext cx="200026" cy="200025"/>
              <a:chOff x="6453188" y="5567363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453188" y="55673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492926" y="56118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527642" y="57229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755892" y="5449252"/>
              <a:ext cx="45228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直觉：想要的 λ 越高、job 的 task 越多，D 要越大；副本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 R 越多，每个块能落地的节点越多，需要的 D 反而变小。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477451" cy="3351847"/>
            <a:chOff x="667512" y="1835468"/>
            <a:chExt cx="447745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477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简介和架构特点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用廉价机器搭大规模存储，主节点只管元数据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54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内容提要：GFS 简介和架构特点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设计假设与目标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主从架构与单一主节点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元数据管理与操作日志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4181" cy="909257"/>
            <a:chOff x="520446" y="342900"/>
            <a:chExt cx="76341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94" y="407194"/>
              <a:ext cx="2775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简介和架构特点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41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的设计需求与假设：为大文件、廉价机器而生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283142"/>
            <a:chOff x="533400" y="1524000"/>
            <a:chExt cx="5410200" cy="22831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设计需求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53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Google 要用廉价、不可靠的设备搭大规模存储，同时要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高可靠、高性能。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37881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现有文件系统撑不起 Google 的分布式应用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大规模批处理性能差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398996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高可靠与高性能看似矛盾，靠假设收窄场景来化解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3997642"/>
            <a:ext cx="5410200" cy="782955"/>
            <a:chOff x="533400" y="3997642"/>
            <a:chExt cx="5410200" cy="782955"/>
          </a:xfrm>
        </p:grpSpPr>
        <p:sp>
          <p:nvSpPr>
            <p:cNvPr id="18" name="Rectangle 18"/>
            <p:cNvSpPr/>
            <p:nvPr/>
          </p:nvSpPr>
          <p:spPr>
            <a:xfrm>
              <a:off x="533400" y="399764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289108"/>
              <a:ext cx="200026" cy="200026"/>
              <a:chOff x="738188" y="4289108"/>
              <a:chExt cx="200026" cy="20002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2891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3557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27088" y="43891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130" y="414623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关键是先看清「典型负载长什么样」，再针对性设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计，而不是做一个什么都行的通用文件系统。</a:t>
              </a:r>
            </a:p>
          </p:txBody>
        </p:sp>
      </p:grpSp>
      <p:grpSp>
        <p:nvGrpSpPr>
          <p:cNvPr id="30" name="c1-callout-3"/>
          <p:cNvGrpSpPr/>
          <p:nvPr/>
        </p:nvGrpSpPr>
        <p:grpSpPr>
          <a:xfrm>
            <a:off x="533400" y="4971098"/>
            <a:ext cx="5410200" cy="1391602"/>
            <a:chOff x="533400" y="4971098"/>
            <a:chExt cx="5410200" cy="1391602"/>
          </a:xfrm>
        </p:grpSpPr>
        <p:sp>
          <p:nvSpPr>
            <p:cNvPr id="25" name="Rectangle 25"/>
            <p:cNvSpPr/>
            <p:nvPr/>
          </p:nvSpPr>
          <p:spPr>
            <a:xfrm>
              <a:off x="533400" y="4971098"/>
              <a:ext cx="5410200" cy="1391602"/>
            </a:xfrm>
            <a:prstGeom prst="roundRect">
              <a:avLst>
                <a:gd name="adj" fmla="val 821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567365"/>
              <a:ext cx="200023" cy="200023"/>
              <a:chOff x="738188" y="5567365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5673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6340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286375"/>
              <a:ext cx="4415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高可靠 + 高性能看似矛盾，GFS 靠三个假设化解：错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误是常态（用副本扛）、文件大而少（用大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chunk）、以顺序读和追加为主（放弃随机写）。</a:t>
              </a:r>
            </a:p>
          </p:txBody>
        </p:sp>
      </p:grpSp>
      <p:grpSp>
        <p:nvGrpSpPr>
          <p:cNvPr id="42" name="c2-card-1"/>
          <p:cNvGrpSpPr/>
          <p:nvPr/>
        </p:nvGrpSpPr>
        <p:grpSpPr>
          <a:xfrm>
            <a:off x="6248400" y="1524000"/>
            <a:ext cx="5410200" cy="2322195"/>
            <a:chOff x="6248400" y="1524000"/>
            <a:chExt cx="5410200" cy="2322195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322195"/>
            </a:xfrm>
            <a:prstGeom prst="roundRect">
              <a:avLst>
                <a:gd name="adj" fmla="val 574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579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314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工作负载假设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6366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21780" y="211074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模块错误率高：廉价商用设备，出错是常态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63665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21780" y="2446020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文件数不多但总容量大：百万量级文件，单文件 100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MB 到 GB、TB 级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63665" y="312991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21780" y="30670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以读为主，支持追加更新，支持并发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63665" y="346519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21780" y="340233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大规模连续流式读，追求高吞吐，不在意低延迟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248400" y="4036695"/>
            <a:ext cx="5410200" cy="2326005"/>
            <a:chOff x="6248400" y="4036695"/>
            <a:chExt cx="5410200" cy="2326005"/>
          </a:xfrm>
        </p:grpSpPr>
        <p:sp>
          <p:nvSpPr>
            <p:cNvPr id="43" name="Rectangle 43"/>
            <p:cNvSpPr/>
            <p:nvPr/>
          </p:nvSpPr>
          <p:spPr>
            <a:xfrm>
              <a:off x="6248400" y="4036695"/>
              <a:ext cx="5410200" cy="2326005"/>
            </a:xfrm>
            <a:prstGeom prst="roundRect">
              <a:avLst>
                <a:gd name="adj" fmla="val 491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099685"/>
              <a:ext cx="200026" cy="200026"/>
              <a:chOff x="6453188" y="509968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09968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553200" y="516636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42088" y="519969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4818698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「不在意低延迟」是关键取舍：批处理要的是把海量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数据整体扫得快（高吞吐），不是让某一次小读特别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快（低延迟）。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71528" cy="909257"/>
            <a:chOff x="520446" y="342900"/>
            <a:chExt cx="317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94" y="407194"/>
              <a:ext cx="2775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简介和架构特点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7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的五个设计要点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11125200" cy="2813685"/>
            <a:chOff x="533400" y="1524000"/>
            <a:chExt cx="11125200" cy="28136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4752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593920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具体做法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39580" y="1658779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文件分片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862644" y="2128361"/>
              <a:ext cx="42860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 固定 64 MB，chunk 内再分 64 KB 的 block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12724" y="2128361"/>
              <a:ext cx="23753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 chunk 减少元数据和寻址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62212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5969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副本机制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62644" y="2596991"/>
              <a:ext cx="31303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默认 3 个副本，放在 3 个服务器节点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312724" y="2596991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廉价机器上靠冗余保可靠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260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0656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主从结构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62644" y="306562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主节点管元数据（含命名空间）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12724" y="306562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集中管理，简单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956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00425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353520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不做数据缓存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62644" y="353520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大数据集流式读，缓存收益不大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2724" y="353520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省内存、避免一致性麻烦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642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04" y="400383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类文件接口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62644" y="4003834"/>
              <a:ext cx="38220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 POSIX，主要给 MapReduce、Bigtable 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12724" y="400383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针对上层应用定制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11125200" cy="28136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53678" y="1524000"/>
              <a:ext cx="9525" cy="28136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203758" y="1524000"/>
              <a:ext cx="9525" cy="28136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4523422"/>
            <a:ext cx="11125200" cy="1149668"/>
            <a:chOff x="533400" y="4523422"/>
            <a:chExt cx="11125200" cy="1149668"/>
          </a:xfrm>
        </p:grpSpPr>
        <p:sp>
          <p:nvSpPr>
            <p:cNvPr id="36" name="Rectangle 36"/>
            <p:cNvSpPr/>
            <p:nvPr/>
          </p:nvSpPr>
          <p:spPr>
            <a:xfrm>
              <a:off x="533400" y="4523422"/>
              <a:ext cx="11125200" cy="1149668"/>
            </a:xfrm>
            <a:prstGeom prst="roundRect">
              <a:avLst>
                <a:gd name="adj" fmla="val 994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4997768"/>
              <a:ext cx="200026" cy="200025"/>
              <a:chOff x="738188" y="499776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49977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0422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51533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4867751"/>
              <a:ext cx="996924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记一条主线：chunk 大（省元数据）、副本多（扛故障）、接口专用（配合 MapReduce/Bigtable），这三点决定了 GFS 只适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合大文件顺序读写，不适合小文件随机改。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3" name="Rectangle 4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511" y="6004084"/>
              <a:ext cx="92013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KB 的 block 是校验和的单位：每个 block 单独做 checksum，读时校验，坏块能定位并从别的副本补回。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03169" cy="909257"/>
            <a:chOff x="520446" y="342900"/>
            <a:chExt cx="82031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94" y="407194"/>
              <a:ext cx="2775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简介和架构特点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031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架构：master 存元数据，chunkserver 存数据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graph-1"/>
          <p:cNvGrpSpPr/>
          <p:nvPr/>
        </p:nvGrpSpPr>
        <p:grpSpPr>
          <a:xfrm>
            <a:off x="902970" y="2009775"/>
            <a:ext cx="5678805" cy="3769995"/>
            <a:chOff x="902970" y="2009775"/>
            <a:chExt cx="5678805" cy="3769995"/>
          </a:xfrm>
        </p:grpSpPr>
        <p:sp>
          <p:nvSpPr>
            <p:cNvPr id="7" name="Freeform 7"/>
            <p:cNvSpPr/>
            <p:nvPr/>
          </p:nvSpPr>
          <p:spPr>
            <a:xfrm>
              <a:off x="2045970" y="2415540"/>
              <a:ext cx="1744980" cy="421957"/>
            </a:xfrm>
            <a:custGeom>
              <a:avLst/>
              <a:gdLst/>
              <a:ahLst/>
              <a:cxnLst/>
              <a:rect l="l" t="t" r="r" b="b"/>
              <a:pathLst>
                <a:path w="1744980" h="421957">
                  <a:moveTo>
                    <a:pt x="0" y="421957"/>
                  </a:moveTo>
                  <a:lnTo>
                    <a:pt x="174498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  <a:custDash>
                <a:ds d="333333" sp="222222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3780472" y="2368868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23812"/>
                  </a:moveTo>
                  <a:lnTo>
                    <a:pt x="21908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12582" y="3167062"/>
              <a:ext cx="1551622" cy="2152650"/>
            </a:xfrm>
            <a:custGeom>
              <a:avLst/>
              <a:gdLst/>
              <a:ahLst/>
              <a:cxnLst/>
              <a:rect l="l" t="t" r="r" b="b"/>
              <a:pathLst>
                <a:path w="1551622" h="2152650">
                  <a:moveTo>
                    <a:pt x="0" y="0"/>
                  </a:moveTo>
                  <a:lnTo>
                    <a:pt x="1551622" y="2152650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25152" y="5292090"/>
              <a:ext cx="94297" cy="104775"/>
            </a:xfrm>
            <a:custGeom>
              <a:avLst/>
              <a:gdLst/>
              <a:ahLst/>
              <a:cxnLst/>
              <a:rect l="l" t="t" r="r" b="b"/>
              <a:pathLst>
                <a:path w="94297" h="104775">
                  <a:moveTo>
                    <a:pt x="94297" y="104775"/>
                  </a:moveTo>
                  <a:lnTo>
                    <a:pt x="0" y="55245"/>
                  </a:lnTo>
                  <a:lnTo>
                    <a:pt x="77152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395662" y="2402205"/>
              <a:ext cx="1280160" cy="2898458"/>
            </a:xfrm>
            <a:custGeom>
              <a:avLst/>
              <a:gdLst/>
              <a:ahLst/>
              <a:cxnLst/>
              <a:rect l="l" t="t" r="r" b="b"/>
              <a:pathLst>
                <a:path w="1280160" h="2898458">
                  <a:moveTo>
                    <a:pt x="1280160" y="0"/>
                  </a:moveTo>
                  <a:lnTo>
                    <a:pt x="0" y="2898458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352800" y="5281612"/>
              <a:ext cx="86678" cy="105728"/>
            </a:xfrm>
            <a:custGeom>
              <a:avLst/>
              <a:gdLst/>
              <a:ahLst/>
              <a:cxnLst/>
              <a:rect l="l" t="t" r="r" b="b"/>
              <a:pathLst>
                <a:path w="86678" h="105728">
                  <a:moveTo>
                    <a:pt x="4762" y="105728"/>
                  </a:moveTo>
                  <a:lnTo>
                    <a:pt x="0" y="0"/>
                  </a:lnTo>
                  <a:lnTo>
                    <a:pt x="86678" y="3810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675822" y="2402205"/>
              <a:ext cx="1156335" cy="2896552"/>
            </a:xfrm>
            <a:custGeom>
              <a:avLst/>
              <a:gdLst/>
              <a:ahLst/>
              <a:cxnLst/>
              <a:rect l="l" t="t" r="r" b="b"/>
              <a:pathLst>
                <a:path w="1156335" h="2896552">
                  <a:moveTo>
                    <a:pt x="0" y="0"/>
                  </a:moveTo>
                  <a:lnTo>
                    <a:pt x="1156335" y="2896552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5788342" y="5281612"/>
              <a:ext cx="88582" cy="105728"/>
            </a:xfrm>
            <a:custGeom>
              <a:avLst/>
              <a:gdLst/>
              <a:ahLst/>
              <a:cxnLst/>
              <a:rect l="l" t="t" r="r" b="b"/>
              <a:pathLst>
                <a:path w="88582" h="105728">
                  <a:moveTo>
                    <a:pt x="79057" y="105728"/>
                  </a:moveTo>
                  <a:lnTo>
                    <a:pt x="0" y="35243"/>
                  </a:lnTo>
                  <a:lnTo>
                    <a:pt x="8858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02970" y="2784158"/>
              <a:ext cx="1143000" cy="382905"/>
            </a:xfrm>
            <a:prstGeom prst="roundRect">
              <a:avLst>
                <a:gd name="adj" fmla="val 24876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75698" y="2009775"/>
              <a:ext cx="2000250" cy="382905"/>
            </a:xfrm>
            <a:prstGeom prst="roundRect">
              <a:avLst>
                <a:gd name="adj" fmla="val 2487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43188" y="5396865"/>
              <a:ext cx="1428750" cy="382905"/>
            </a:xfrm>
            <a:prstGeom prst="roundRect">
              <a:avLst>
                <a:gd name="adj" fmla="val 2487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153025" y="5396865"/>
              <a:ext cx="1428750" cy="382905"/>
            </a:xfrm>
            <a:prstGeom prst="roundRect">
              <a:avLst>
                <a:gd name="adj" fmla="val 24876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0851" y="2847975"/>
              <a:ext cx="6872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Application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06782" y="2990850"/>
              <a:ext cx="73537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+ GFS client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17856" y="2073593"/>
              <a:ext cx="7159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GFS master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40433" y="2216468"/>
              <a:ext cx="12707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 + chunk 位置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37764" y="5460682"/>
              <a:ext cx="10395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chunkserver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30365" y="5603558"/>
              <a:ext cx="8543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文件系统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47602" y="5460682"/>
              <a:ext cx="10395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chunkserver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40203" y="5603558"/>
              <a:ext cx="8543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文件系统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463165" y="2536508"/>
              <a:ext cx="100298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469142" y="2565559"/>
              <a:ext cx="9919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文件名, chunk 索引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115502" y="4203382"/>
              <a:ext cx="6019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32999" y="4232434"/>
              <a:ext cx="5669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chunk 数据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741420" y="3816668"/>
              <a:ext cx="54959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60796" y="3845719"/>
              <a:ext cx="51179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指令/状态</a:t>
              </a:r>
            </a:p>
          </p:txBody>
        </p:sp>
      </p:grpSp>
      <p:grpSp>
        <p:nvGrpSpPr>
          <p:cNvPr id="39" name="c2-kv-1"/>
          <p:cNvGrpSpPr/>
          <p:nvPr/>
        </p:nvGrpSpPr>
        <p:grpSpPr>
          <a:xfrm>
            <a:off x="7106602" y="1548765"/>
            <a:ext cx="4551998" cy="1297305"/>
            <a:chOff x="7106602" y="1548765"/>
            <a:chExt cx="4551998" cy="1297305"/>
          </a:xfrm>
        </p:grpSpPr>
        <p:sp>
          <p:nvSpPr>
            <p:cNvPr id="34" name="TextBox 34"/>
            <p:cNvSpPr txBox="1"/>
            <p:nvPr/>
          </p:nvSpPr>
          <p:spPr>
            <a:xfrm>
              <a:off x="7106602" y="1548765"/>
              <a:ext cx="757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master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05775" y="1548765"/>
              <a:ext cx="31299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主节点，存文件命名空间和 chunk 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置，下发指令、收集状态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114222" y="215074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06602" y="2270760"/>
              <a:ext cx="785336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chunkse</a:t>
              </a:r>
              <a:br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rver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05775" y="2270760"/>
              <a:ext cx="33204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从节点，把 chunk 当普通文件存在本地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Linux 文件系统上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7114222" y="2977515"/>
            <a:ext cx="4544378" cy="1335405"/>
            <a:chOff x="7114222" y="2977515"/>
            <a:chExt cx="4544378" cy="1335405"/>
          </a:xfrm>
        </p:grpSpPr>
        <p:sp>
          <p:nvSpPr>
            <p:cNvPr id="40" name="Rectangle 40"/>
            <p:cNvSpPr/>
            <p:nvPr/>
          </p:nvSpPr>
          <p:spPr>
            <a:xfrm>
              <a:off x="7114222" y="2977515"/>
              <a:ext cx="4544378" cy="1335405"/>
            </a:xfrm>
            <a:prstGeom prst="roundRect">
              <a:avLst>
                <a:gd name="adj" fmla="val 855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19010" y="3545207"/>
              <a:ext cx="200023" cy="200023"/>
              <a:chOff x="7319010" y="3545207"/>
              <a:chExt cx="200023" cy="20002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19010" y="35452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452360" y="36118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7620952" y="3126105"/>
              <a:ext cx="36633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控制流和数据流分开：客户端向 master 要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位置（控制），拿到后直接找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chunkserver 读写（数据）。master 不碰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用户数据。</a:t>
              </a:r>
            </a:p>
          </p:txBody>
        </p:sp>
      </p:grpSp>
      <p:grpSp>
        <p:nvGrpSpPr>
          <p:cNvPr id="52" name="c2-card-3"/>
          <p:cNvGrpSpPr/>
          <p:nvPr/>
        </p:nvGrpSpPr>
        <p:grpSpPr>
          <a:xfrm>
            <a:off x="7114222" y="4503420"/>
            <a:ext cx="4544378" cy="2133600"/>
            <a:chOff x="7114222" y="4503420"/>
            <a:chExt cx="4544378" cy="2133600"/>
          </a:xfrm>
        </p:grpSpPr>
        <p:sp>
          <p:nvSpPr>
            <p:cNvPr id="46" name="Rectangle 46"/>
            <p:cNvSpPr/>
            <p:nvPr/>
          </p:nvSpPr>
          <p:spPr>
            <a:xfrm>
              <a:off x="7114222" y="4503420"/>
              <a:ext cx="4544378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3748" y="463677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61872" y="4712970"/>
              <a:ext cx="105441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22544" y="4748689"/>
              <a:ext cx="9321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和 HDFS 对照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54252" y="5090160"/>
              <a:ext cx="3577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master ≈ HDFS NameNode，GFS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chunkserver ≈ HDFS DataNode，chunk 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55396" y="5993606"/>
              <a:ext cx="3873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HDFS 就是 GFS 的开源实现，术语换了名字，架构几乎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一样。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02187" cy="909257"/>
            <a:chOff x="520446" y="342900"/>
            <a:chExt cx="500218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94" y="407194"/>
              <a:ext cx="2775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简介和架构特点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021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单一主节点的隐患与 GFS 的化解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365885"/>
            <a:chOff x="533400" y="1524000"/>
            <a:chExt cx="5410200" cy="1365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主从结构的隐患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40235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单点错误：master 一挂，找不到任何 chunk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4821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扩展性问题：所有请求都问 master，它可能成为瓶颈</a:t>
              </a:r>
            </a:p>
          </p:txBody>
        </p:sp>
      </p:grpSp>
      <p:grpSp>
        <p:nvGrpSpPr>
          <p:cNvPr id="28" name="c1-card-2"/>
          <p:cNvGrpSpPr/>
          <p:nvPr/>
        </p:nvGrpSpPr>
        <p:grpSpPr>
          <a:xfrm>
            <a:off x="533400" y="3080385"/>
            <a:ext cx="5410200" cy="3282315"/>
            <a:chOff x="533400" y="3080385"/>
            <a:chExt cx="5410200" cy="3282315"/>
          </a:xfrm>
        </p:grpSpPr>
        <p:sp>
          <p:nvSpPr>
            <p:cNvPr id="16" name="Rectangle 16"/>
            <p:cNvSpPr/>
            <p:nvPr/>
          </p:nvSpPr>
          <p:spPr>
            <a:xfrm>
              <a:off x="533400" y="3080385"/>
              <a:ext cx="5410200" cy="3282315"/>
            </a:xfrm>
            <a:prstGeom prst="roundRect">
              <a:avLst>
                <a:gd name="adj" fmla="val 40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213735"/>
              <a:ext cx="47625" cy="30156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289935"/>
              <a:ext cx="92773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9949" y="3325654"/>
              <a:ext cx="789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GFS 的方案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7299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45205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日志与 checkpoint 多机复制，master 挂了由外部监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控在别处重启；shadow master 只读兜底（更正：原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课件写作热备）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6367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573905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只存元数据、不经手数据，客户端可缓存元数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52578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5194935"/>
              <a:ext cx="3553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增大 chunk 到 64 MB，减少元数据条数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86765" y="55930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44880" y="5530215"/>
              <a:ext cx="39629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写操作的管理权以租约（chunk lease）下放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248400" y="1524000"/>
            <a:ext cx="5410200" cy="2302192"/>
            <a:chOff x="6248400" y="1524000"/>
            <a:chExt cx="5410200" cy="2302192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2302192"/>
            </a:xfrm>
            <a:prstGeom prst="roundRect">
              <a:avLst>
                <a:gd name="adj" fmla="val 57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20354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96050" y="173355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47853" y="17692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例：元数据能装进内存吗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2110740"/>
              <a:ext cx="33308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 PB / 64 MB) × 3 × 64 B = 3 GB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8430" y="2465070"/>
              <a:ext cx="4642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PB 数据切成 64 MB 的 chunk，约 1.56×10⁷ 个。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88430" y="2800350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 chunk 3 副本、每条元数据 64 字节：1.56×10⁷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× 64 B ≈ 3 GB。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9573" y="3418046"/>
              <a:ext cx="43380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内存放得下，所以 master 查元数据很快、不会成瓶颈。</a:t>
              </a:r>
            </a:p>
          </p:txBody>
        </p:sp>
      </p:grpSp>
      <p:grpSp>
        <p:nvGrpSpPr>
          <p:cNvPr id="44" name="c2-callout-2"/>
          <p:cNvGrpSpPr/>
          <p:nvPr/>
        </p:nvGrpSpPr>
        <p:grpSpPr>
          <a:xfrm>
            <a:off x="6248400" y="4016692"/>
            <a:ext cx="5410200" cy="782955"/>
            <a:chOff x="6248400" y="4016692"/>
            <a:chExt cx="5410200" cy="782955"/>
          </a:xfrm>
        </p:grpSpPr>
        <p:sp>
          <p:nvSpPr>
            <p:cNvPr id="38" name="Rectangle 38"/>
            <p:cNvSpPr/>
            <p:nvPr/>
          </p:nvSpPr>
          <p:spPr>
            <a:xfrm>
              <a:off x="6248400" y="401669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453188" y="4308158"/>
              <a:ext cx="200026" cy="200026"/>
              <a:chOff x="6453188" y="430815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53188" y="43081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53200" y="43748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42088" y="44081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755130" y="4165282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复核：无论按十进制（10¹⁵）还是二进制（2⁵⁰）算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PB，结果都约 3 GB，量级一致。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6248400" y="4990148"/>
            <a:ext cx="5410200" cy="1372552"/>
            <a:chOff x="6248400" y="4990148"/>
            <a:chExt cx="5410200" cy="1372552"/>
          </a:xfrm>
        </p:grpSpPr>
        <p:sp>
          <p:nvSpPr>
            <p:cNvPr id="45" name="Rectangle 45"/>
            <p:cNvSpPr/>
            <p:nvPr/>
          </p:nvSpPr>
          <p:spPr>
            <a:xfrm>
              <a:off x="6248400" y="4990148"/>
              <a:ext cx="5410200" cy="1372552"/>
            </a:xfrm>
            <a:prstGeom prst="roundRect">
              <a:avLst>
                <a:gd name="adj" fmla="val 832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5576888"/>
              <a:ext cx="200026" cy="200025"/>
              <a:chOff x="6453188" y="5576888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55768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92926" y="56213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27642" y="57324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130" y="5157788"/>
              <a:ext cx="44253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这也解释了为什么 chunk 要设成 64 MB：chunk 越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大、条数越少、元数据越省。若 chunk 只有 64 KB，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同样 1 PB 的元数据会涨到约 3 TB，内存根本装不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17119" cy="909257"/>
            <a:chOff x="520446" y="342900"/>
            <a:chExt cx="77171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97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9694" y="407194"/>
              <a:ext cx="2775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简介和架构特点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171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怎么管元数据：内存 + 操作日志 + 检查点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1997392"/>
            <a:chOff x="533400" y="1524000"/>
            <a:chExt cx="5410200" cy="19973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97392"/>
            </a:xfrm>
            <a:prstGeom prst="roundRect">
              <a:avLst>
                <a:gd name="adj" fmla="val 66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069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存哪些元数据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文件命名空间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1903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文件到 chunk 的信息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 及副本的存储位置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113246"/>
              <a:ext cx="34678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全部在内存中，每 chunk 约 64 字节，查询快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3711892"/>
            <a:ext cx="5410200" cy="2650808"/>
            <a:chOff x="533400" y="3711892"/>
            <a:chExt cx="5410200" cy="2650808"/>
          </a:xfrm>
        </p:grpSpPr>
        <p:sp>
          <p:nvSpPr>
            <p:cNvPr id="19" name="Rectangle 19"/>
            <p:cNvSpPr/>
            <p:nvPr/>
          </p:nvSpPr>
          <p:spPr>
            <a:xfrm>
              <a:off x="533400" y="3711892"/>
              <a:ext cx="5410200" cy="2650808"/>
            </a:xfrm>
            <a:prstGeom prst="roundRect">
              <a:avLst>
                <a:gd name="adj" fmla="val 503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2950" y="3921442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0356" y="39571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哪条不落盘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330" y="4298632"/>
              <a:ext cx="4528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命名空间和文件到 chunk 的映射要靠日志持久化。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330" y="4633912"/>
              <a:ext cx="4806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但 chunk 的具体位置不写日志：master 重启后，向各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chunkserver 一问（Blockreport）就重新知道谁手上有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哪些 chunk。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6248400" y="1533525"/>
            <a:ext cx="4733417" cy="2529173"/>
            <a:chOff x="6248400" y="1533525"/>
            <a:chExt cx="4733417" cy="2529173"/>
          </a:xfrm>
        </p:grpSpPr>
        <p:sp>
          <p:nvSpPr>
            <p:cNvPr id="25" name="Rectangle 25"/>
            <p:cNvSpPr/>
            <p:nvPr/>
          </p:nvSpPr>
          <p:spPr>
            <a:xfrm>
              <a:off x="6381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248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9880" y="15678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先写日志再改内存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1023" y="186166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操作先追加到操作日志、日志落外存，然后再改内存状态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988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日志定序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023" y="251221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操作日志定义了数据操作的先后顺序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9880" y="286893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按日志恢复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023" y="316277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故障后按日志重放，恢复内存状态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9880" y="35204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定期检查点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023" y="3813334"/>
              <a:ext cx="39503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周期性把内存状态写成 checkpoint 落盘，加快恢复</a:t>
              </a:r>
            </a:p>
          </p:txBody>
        </p:sp>
      </p:grpSp>
      <p:grpSp>
        <p:nvGrpSpPr>
          <p:cNvPr id="49" name="c2-callout-2"/>
          <p:cNvGrpSpPr/>
          <p:nvPr/>
        </p:nvGrpSpPr>
        <p:grpSpPr>
          <a:xfrm>
            <a:off x="6248400" y="4241482"/>
            <a:ext cx="5410200" cy="2121218"/>
            <a:chOff x="6248400" y="4241482"/>
            <a:chExt cx="5410200" cy="2121218"/>
          </a:xfrm>
        </p:grpSpPr>
        <p:sp>
          <p:nvSpPr>
            <p:cNvPr id="43" name="Rectangle 43"/>
            <p:cNvSpPr/>
            <p:nvPr/>
          </p:nvSpPr>
          <p:spPr>
            <a:xfrm>
              <a:off x="6248400" y="4241482"/>
              <a:ext cx="5410200" cy="2121218"/>
            </a:xfrm>
            <a:prstGeom prst="roundRect">
              <a:avLst>
                <a:gd name="adj" fmla="val 538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453188" y="5201603"/>
              <a:ext cx="200026" cy="200025"/>
              <a:chOff x="6453188" y="5201603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53188" y="52016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92926" y="52460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527642" y="53571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6755130" y="4920615"/>
              <a:ext cx="4396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恢复时从最近的 checkpoint 出发，只重放它之后的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日志，不必从头重放整段历史。日志「先写外存再改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内存」，保证崩溃时已确认的操作不丢。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01893" cy="3923347"/>
            <a:chOff x="667512" y="1835468"/>
            <a:chExt cx="6001893" cy="39233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第八节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001893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关键技术：租约、一致性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与追加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46591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主副本定序、副本执行，一致但不一定 defined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4702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内容提要：GFS 关键技术 · 租约、一致性、追加数据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租约机制与主副本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3195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一致性模型 consistent 与 defined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5225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4654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两种更新流程与对比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4333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41" y="407194"/>
              <a:ext cx="3830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关键技术：租约、一致性与追加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数据更新用租约：主节点少参与，主副本来定序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410200" cy="2943225"/>
            <a:chOff x="533400" y="1524000"/>
            <a:chExt cx="5410200" cy="29432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43225"/>
            </a:xfrm>
            <a:prstGeom prst="roundRect">
              <a:avLst>
                <a:gd name="adj" fmla="val 45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7652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租约机制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追加以记录为单位（KB 到 MB）。为减少主节点负担，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让它少参与。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3609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选一个副本作主副本，授予租约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7050"/>
              <a:ext cx="4082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把该 chunk 写操作的管理权下放给主副本所在的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chunkserver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7509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688080"/>
              <a:ext cx="2509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其他副本为副 chunkserver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0862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4023360"/>
              <a:ext cx="4609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租约只针对当前操作的 chunk，时长 60 秒、可续约</a:t>
              </a:r>
            </a:p>
          </p:txBody>
        </p:sp>
      </p:grpSp>
      <p:grpSp>
        <p:nvGrpSpPr>
          <p:cNvPr id="23" name="c1-image-2"/>
          <p:cNvGrpSpPr/>
          <p:nvPr/>
        </p:nvGrpSpPr>
        <p:grpSpPr>
          <a:xfrm>
            <a:off x="518846" y="4657725"/>
            <a:ext cx="5439308" cy="1648302"/>
            <a:chOff x="518846" y="4657725"/>
            <a:chExt cx="5439308" cy="1648302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rcRect l="16660" t="0" r="16661" b="0"/>
            <a:stretch>
              <a:fillRect/>
            </a:stretch>
          </p:blipFill>
          <p:spPr>
            <a:xfrm>
              <a:off x="2349818" y="4657725"/>
              <a:ext cx="1778318" cy="1333500"/>
            </a:xfrm>
            <a:prstGeom prst="roundRect">
              <a:avLst>
                <a:gd name="adj" fmla="val 10000"/>
              </a:avLst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518846" y="6085999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工头拿着带编号的令牌（租约）定好写入顺序，三名文书按同一顺序抄进各自账本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248400" y="1524000"/>
            <a:ext cx="5410200" cy="2657475"/>
            <a:chOff x="6248400" y="1524000"/>
            <a:chExt cx="5410200" cy="265747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657475"/>
            </a:xfrm>
            <a:prstGeom prst="roundRect">
              <a:avLst>
                <a:gd name="adj" fmla="val 50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23907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租约举例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110740"/>
              <a:ext cx="32011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 A 有三个副本 A1、A2、A3。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2446020"/>
              <a:ext cx="33369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每次更新申请租约，chunk 版本号 +1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501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880" y="27813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修改结束、租约到期释放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501765" y="31794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9880" y="311658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chunkserver 动态上下线时，用版本号判断谁的数据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最新（版本号越大越新）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38004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373761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版本号也用于定期回收空间、删除过期数据</a:t>
              </a:r>
            </a:p>
          </p:txBody>
        </p:sp>
      </p:grpSp>
      <p:grpSp>
        <p:nvGrpSpPr>
          <p:cNvPr id="43" name="c2-callout-2"/>
          <p:cNvGrpSpPr/>
          <p:nvPr/>
        </p:nvGrpSpPr>
        <p:grpSpPr>
          <a:xfrm>
            <a:off x="6248400" y="4371975"/>
            <a:ext cx="5410200" cy="1908810"/>
            <a:chOff x="6248400" y="4371975"/>
            <a:chExt cx="5410200" cy="1908810"/>
          </a:xfrm>
        </p:grpSpPr>
        <p:sp>
          <p:nvSpPr>
            <p:cNvPr id="38" name="Rectangle 38"/>
            <p:cNvSpPr/>
            <p:nvPr/>
          </p:nvSpPr>
          <p:spPr>
            <a:xfrm>
              <a:off x="6248400" y="4371975"/>
              <a:ext cx="5410200" cy="1908810"/>
            </a:xfrm>
            <a:prstGeom prst="roundRect">
              <a:avLst>
                <a:gd name="adj" fmla="val 598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53188" y="5226370"/>
              <a:ext cx="200023" cy="200023"/>
              <a:chOff x="6453188" y="522637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53188" y="52263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86538" y="52930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5130" y="4945380"/>
              <a:ext cx="43681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租约把「谁说了算」这件事下放：60 秒内这个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chunk 的写顺序由主副本决定，master 不用逐次参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59619" cy="909257"/>
            <a:chOff x="520446" y="342900"/>
            <a:chExt cx="76596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4333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41" y="407194"/>
              <a:ext cx="3830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关键技术：租约、一致性与追加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596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一致性模型：consistent 和 defined 不是一回事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kv-1"/>
          <p:cNvGrpSpPr/>
          <p:nvPr/>
        </p:nvGrpSpPr>
        <p:grpSpPr>
          <a:xfrm>
            <a:off x="525780" y="1548765"/>
            <a:ext cx="5417820" cy="1015365"/>
            <a:chOff x="525780" y="1548765"/>
            <a:chExt cx="5417820" cy="101536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134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Consistent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66900" y="154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所有副本的值相同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7847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Defined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66900" y="1988820"/>
              <a:ext cx="3825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所有副本写入完成且一致，能看到这次写的完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整结果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2695575"/>
            <a:ext cx="5410200" cy="2515552"/>
            <a:chOff x="533400" y="2695575"/>
            <a:chExt cx="5410200" cy="2515552"/>
          </a:xfrm>
        </p:grpSpPr>
        <p:sp>
          <p:nvSpPr>
            <p:cNvPr id="13" name="Rectangle 13"/>
            <p:cNvSpPr/>
            <p:nvPr/>
          </p:nvSpPr>
          <p:spPr>
            <a:xfrm>
              <a:off x="533400" y="2695575"/>
              <a:ext cx="5410200" cy="2515552"/>
            </a:xfrm>
            <a:prstGeom prst="roundRect">
              <a:avLst>
                <a:gd name="adj" fmla="val 530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290512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356" y="29408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一致性性质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8665" y="334518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3282315"/>
              <a:ext cx="41447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并发写可保证 consistent，但不一定 defined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8665" y="368046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361759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失败的写可能导致不一致状态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8665" y="401574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3952875"/>
              <a:ext cx="4596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部分一致性要靠上层应用（MapReduce、Bigtable）支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持</a:t>
              </a:r>
            </a:p>
          </p:txBody>
        </p:sp>
      </p:grpSp>
      <p:grpSp>
        <p:nvGrpSpPr>
          <p:cNvPr id="38" name="c2-table-1"/>
          <p:cNvGrpSpPr/>
          <p:nvPr/>
        </p:nvGrpSpPr>
        <p:grpSpPr>
          <a:xfrm>
            <a:off x="6248400" y="1524000"/>
            <a:ext cx="5410200" cy="1795462"/>
            <a:chOff x="6248400" y="1524000"/>
            <a:chExt cx="5410200" cy="1795462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135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0186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6223" y="210835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无并发、写成功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45106" y="2108359"/>
              <a:ext cx="1839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defined（一致且完整）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6223" y="255698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并发写、都成功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45106" y="2556986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consistent 但 undefined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62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有写失败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746808" y="2880360"/>
              <a:ext cx="2902268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45106" y="3005614"/>
              <a:ext cx="19256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inconsistent（不一致）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8732520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2-card-2"/>
          <p:cNvGrpSpPr/>
          <p:nvPr/>
        </p:nvGrpSpPr>
        <p:grpSpPr>
          <a:xfrm>
            <a:off x="6248400" y="3509962"/>
            <a:ext cx="5410200" cy="1701165"/>
            <a:chOff x="6248400" y="3509962"/>
            <a:chExt cx="5410200" cy="1701165"/>
          </a:xfrm>
        </p:grpSpPr>
        <p:sp>
          <p:nvSpPr>
            <p:cNvPr id="39" name="Rectangle 39"/>
            <p:cNvSpPr/>
            <p:nvPr/>
          </p:nvSpPr>
          <p:spPr>
            <a:xfrm>
              <a:off x="6248400" y="3509962"/>
              <a:ext cx="5410200" cy="1701165"/>
            </a:xfrm>
            <a:prstGeom prst="roundRect">
              <a:avLst>
                <a:gd name="adj" fmla="val 78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3643312"/>
              <a:ext cx="47625" cy="14344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96050" y="371951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5557" y="37552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更新异常会怎样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01765" y="415956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9880" y="409670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某些副本上被重复追加多次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01765" y="449484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59880" y="4431982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追加不成功留下 padding 填充记录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501765" y="483012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59880" y="476726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多客户端并发时追加顺序可能不一致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0" name="Rectangle 5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728335"/>
              <a:ext cx="9892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判断口诀：一致（consistent）只说各副本一样，不保证内容是你这次写的；确定（defined）才既一样、又是你这次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写的完整结果。并发写只到一致这一档。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56292" cy="909257"/>
            <a:chOff x="520446" y="342900"/>
            <a:chExt cx="38562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4333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41" y="407194"/>
              <a:ext cx="3830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关键技术：租约、一致性与追加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主节点的日常职责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410200" cy="4133850"/>
            <a:chOff x="533400" y="1524000"/>
            <a:chExt cx="5410200" cy="4133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1338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867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248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623" y="1769269"/>
              <a:ext cx="875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责任（1/2）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存储元数据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4602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管理命名空间和锁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2781300"/>
              <a:ext cx="4520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定时与 chunkserver 通信：下命令、收状态、追踪健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康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651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02330"/>
              <a:ext cx="3054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创建 chunk、修复副本、负载调整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38004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3737610"/>
              <a:ext cx="4463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分散布置副本以减小关联错误：同一 chunk 的三个副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本不放在同机架，避免一次故障连坐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4133850"/>
            <a:chOff x="6248400" y="1524000"/>
            <a:chExt cx="5410200" cy="4133850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4133850"/>
            </a:xfrm>
            <a:prstGeom prst="roundRect">
              <a:avLst>
                <a:gd name="adj" fmla="val 3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1657350"/>
              <a:ext cx="47625" cy="3867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6050" y="1733550"/>
              <a:ext cx="10248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70623" y="1769269"/>
              <a:ext cx="8757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责任（2/2）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88430" y="211074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回收垃圾：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0176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59880" y="24460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删文件后先改元数据、记删除操作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50176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2781300"/>
              <a:ext cx="4339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定期删元数据，并通知 chunkserver 删无效 chunk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（3 天失效时间）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8430" y="340233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删除过期副本：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38004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373761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靠租约机制检测过期副本，清理空间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573" y="4069556"/>
              <a:ext cx="46946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master 做的都是「管理」活：定位、调度、清理，从不经手真正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的用户数据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6" name="Rectangle 3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991225"/>
              <a:ext cx="8508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的删除是「延迟删除」：先在元数据里标记，过了失效期才真正回收，期间误删还能找回。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4333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41" y="407194"/>
              <a:ext cx="3830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关键技术：租约、一致性与追加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更新流程之一：主备复制（数据流和控制流合并）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graph-1"/>
          <p:cNvGrpSpPr/>
          <p:nvPr/>
        </p:nvGrpSpPr>
        <p:grpSpPr>
          <a:xfrm>
            <a:off x="1299210" y="1645920"/>
            <a:ext cx="3640455" cy="3701415"/>
            <a:chOff x="1299210" y="1645920"/>
            <a:chExt cx="3640455" cy="3701415"/>
          </a:xfrm>
        </p:grpSpPr>
        <p:sp>
          <p:nvSpPr>
            <p:cNvPr id="7" name="Freeform 7"/>
            <p:cNvSpPr/>
            <p:nvPr/>
          </p:nvSpPr>
          <p:spPr>
            <a:xfrm>
              <a:off x="2165985" y="1986915"/>
              <a:ext cx="1621155" cy="9525"/>
            </a:xfrm>
            <a:custGeom>
              <a:avLst/>
              <a:gdLst/>
              <a:ahLst/>
              <a:cxnLst/>
              <a:rect l="l" t="t" r="r" b="b"/>
              <a:pathLst>
                <a:path w="1621155" h="9525">
                  <a:moveTo>
                    <a:pt x="0" y="0"/>
                  </a:moveTo>
                  <a:lnTo>
                    <a:pt x="16211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787140" y="19392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216468" y="1667192"/>
              <a:ext cx="1802130" cy="199708"/>
            </a:xfrm>
            <a:custGeom>
              <a:avLst/>
              <a:gdLst/>
              <a:ahLst/>
              <a:cxnLst/>
              <a:rect l="l" t="t" r="r" b="b"/>
              <a:pathLst>
                <a:path w="1802130" h="199708">
                  <a:moveTo>
                    <a:pt x="1802130" y="199708"/>
                  </a:moveTo>
                  <a:cubicBezTo>
                    <a:pt x="1170940" y="9208"/>
                    <a:pt x="570230" y="0"/>
                    <a:pt x="0" y="1720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25028" y="1793558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0" y="73342"/>
                  </a:moveTo>
                  <a:lnTo>
                    <a:pt x="78105" y="0"/>
                  </a:lnTo>
                  <a:lnTo>
                    <a:pt x="105727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27835" y="2106930"/>
              <a:ext cx="9525" cy="899160"/>
            </a:xfrm>
            <a:custGeom>
              <a:avLst/>
              <a:gdLst/>
              <a:ahLst/>
              <a:cxnLst/>
              <a:rect l="l" t="t" r="r" b="b"/>
              <a:pathLst>
                <a:path w="9525" h="899160">
                  <a:moveTo>
                    <a:pt x="0" y="0"/>
                  </a:moveTo>
                  <a:lnTo>
                    <a:pt x="0" y="8991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80210" y="30060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27835" y="3341370"/>
              <a:ext cx="9525" cy="822008"/>
            </a:xfrm>
            <a:custGeom>
              <a:avLst/>
              <a:gdLst/>
              <a:ahLst/>
              <a:cxnLst/>
              <a:rect l="l" t="t" r="r" b="b"/>
              <a:pathLst>
                <a:path w="9525" h="822008">
                  <a:moveTo>
                    <a:pt x="0" y="0"/>
                  </a:moveTo>
                  <a:lnTo>
                    <a:pt x="0" y="8220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680210" y="41633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27835" y="4498658"/>
              <a:ext cx="9525" cy="513398"/>
            </a:xfrm>
            <a:custGeom>
              <a:avLst/>
              <a:gdLst/>
              <a:ahLst/>
              <a:cxnLst/>
              <a:rect l="l" t="t" r="r" b="b"/>
              <a:pathLst>
                <a:path w="9525" h="513398">
                  <a:moveTo>
                    <a:pt x="0" y="0"/>
                  </a:moveTo>
                  <a:lnTo>
                    <a:pt x="0" y="5133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80210" y="5012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08798" y="2165985"/>
              <a:ext cx="1710690" cy="1055370"/>
            </a:xfrm>
            <a:custGeom>
              <a:avLst/>
              <a:gdLst/>
              <a:ahLst/>
              <a:cxnLst/>
              <a:rect l="l" t="t" r="r" b="b"/>
              <a:pathLst>
                <a:path w="1710690" h="1055370">
                  <a:moveTo>
                    <a:pt x="357188" y="1055370"/>
                  </a:moveTo>
                  <a:lnTo>
                    <a:pt x="1710690" y="105537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727835" y="2116455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0" y="0"/>
                  </a:moveTo>
                  <a:lnTo>
                    <a:pt x="106680" y="9525"/>
                  </a:lnTo>
                  <a:lnTo>
                    <a:pt x="56198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299210" y="1866900"/>
              <a:ext cx="857250" cy="240030"/>
            </a:xfrm>
            <a:prstGeom prst="roundRect">
              <a:avLst>
                <a:gd name="adj" fmla="val 3968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891915" y="1866900"/>
              <a:ext cx="1047750" cy="240030"/>
            </a:xfrm>
            <a:prstGeom prst="roundRect">
              <a:avLst>
                <a:gd name="adj" fmla="val 3968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299210" y="3101340"/>
              <a:ext cx="857250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299210" y="4258628"/>
              <a:ext cx="85725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99210" y="5107305"/>
              <a:ext cx="85725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41336" y="193071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08132" y="193071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主控服务器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41336" y="316515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主副本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84208" y="4322445"/>
              <a:ext cx="4872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备副本 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84208" y="5171122"/>
              <a:ext cx="4872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备副本 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837498" y="1907858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62122" y="193786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请求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885122" y="1645920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909747" y="167497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 返回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437322" y="2525078"/>
              <a:ext cx="58102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55381" y="2555081"/>
              <a:ext cx="544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 追加数据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489710" y="3721418"/>
              <a:ext cx="47720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510575" y="3750469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 流水线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541145" y="4724400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65769" y="475345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 转发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437448" y="2589848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462072" y="2619851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 应答</a:t>
              </a:r>
            </a:p>
          </p:txBody>
        </p:sp>
      </p:grpSp>
      <p:grpSp>
        <p:nvGrpSpPr>
          <p:cNvPr id="59" name="c2-steps-1"/>
          <p:cNvGrpSpPr/>
          <p:nvPr/>
        </p:nvGrpSpPr>
        <p:grpSpPr>
          <a:xfrm>
            <a:off x="5815965" y="1533525"/>
            <a:ext cx="5627497" cy="2998755"/>
            <a:chOff x="5815965" y="1533525"/>
            <a:chExt cx="5627497" cy="2998755"/>
          </a:xfrm>
        </p:grpSpPr>
        <p:sp>
          <p:nvSpPr>
            <p:cNvPr id="42" name="Rectangle 42"/>
            <p:cNvSpPr/>
            <p:nvPr/>
          </p:nvSpPr>
          <p:spPr>
            <a:xfrm>
              <a:off x="5949315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815965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0958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815965" y="33042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9589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815965" y="39557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09589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27445" y="156781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1-2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8588" y="1861661"/>
              <a:ext cx="51417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客户端向 master 请求 chunkserver 地址，master 返回主副本与备副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27445" y="245364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28588" y="2746534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客户端把追加数据发给主副本；主副本可能收多个并发请求，定好操作序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列并写本地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27445" y="3338512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28588" y="363235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主副本以流水线方式把数据发给所有备副本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7445" y="3990022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5-6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8588" y="4282916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各备副本追加写入成功后按流水线返回应答，主副本再应答客户端</a:t>
              </a:r>
            </a:p>
          </p:txBody>
        </p:sp>
      </p:grpSp>
      <p:grpSp>
        <p:nvGrpSpPr>
          <p:cNvPr id="66" name="c2-callout-2"/>
          <p:cNvGrpSpPr/>
          <p:nvPr/>
        </p:nvGrpSpPr>
        <p:grpSpPr>
          <a:xfrm>
            <a:off x="5815965" y="4711065"/>
            <a:ext cx="5842635" cy="782955"/>
            <a:chOff x="5815965" y="4711065"/>
            <a:chExt cx="5842635" cy="782955"/>
          </a:xfrm>
        </p:grpSpPr>
        <p:sp>
          <p:nvSpPr>
            <p:cNvPr id="60" name="Rectangle 60"/>
            <p:cNvSpPr/>
            <p:nvPr/>
          </p:nvSpPr>
          <p:spPr>
            <a:xfrm>
              <a:off x="5815965" y="471106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020753" y="5002530"/>
              <a:ext cx="200026" cy="200026"/>
              <a:chOff x="6020753" y="5002530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020753" y="50025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120765" y="50692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109653" y="51025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322695" y="485965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特点：流程简单、管理消息负担小；数据流和控制流走同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一条路。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4333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41" y="407194"/>
              <a:ext cx="3830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关键技术：租约、一致性与追加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更新流程之二：数据流和控制流分离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graph-1"/>
          <p:cNvGrpSpPr/>
          <p:nvPr/>
        </p:nvGrpSpPr>
        <p:grpSpPr>
          <a:xfrm>
            <a:off x="931545" y="1645920"/>
            <a:ext cx="4107180" cy="3701415"/>
            <a:chOff x="931545" y="1645920"/>
            <a:chExt cx="4107180" cy="3701415"/>
          </a:xfrm>
        </p:grpSpPr>
        <p:sp>
          <p:nvSpPr>
            <p:cNvPr id="7" name="Freeform 7"/>
            <p:cNvSpPr/>
            <p:nvPr/>
          </p:nvSpPr>
          <p:spPr>
            <a:xfrm>
              <a:off x="2265998" y="1986915"/>
              <a:ext cx="1620202" cy="9525"/>
            </a:xfrm>
            <a:custGeom>
              <a:avLst/>
              <a:gdLst/>
              <a:ahLst/>
              <a:cxnLst/>
              <a:rect l="l" t="t" r="r" b="b"/>
              <a:pathLst>
                <a:path w="1620202" h="9525">
                  <a:moveTo>
                    <a:pt x="0" y="0"/>
                  </a:moveTo>
                  <a:lnTo>
                    <a:pt x="162020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886200" y="19392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316480" y="1667192"/>
              <a:ext cx="1801178" cy="199708"/>
            </a:xfrm>
            <a:custGeom>
              <a:avLst/>
              <a:gdLst/>
              <a:ahLst/>
              <a:cxnLst/>
              <a:rect l="l" t="t" r="r" b="b"/>
              <a:pathLst>
                <a:path w="1801178" h="199708">
                  <a:moveTo>
                    <a:pt x="1801178" y="199708"/>
                  </a:moveTo>
                  <a:cubicBezTo>
                    <a:pt x="1170623" y="9208"/>
                    <a:pt x="570230" y="0"/>
                    <a:pt x="0" y="17208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25040" y="1793558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3342"/>
                  </a:moveTo>
                  <a:lnTo>
                    <a:pt x="77152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827848" y="2106930"/>
              <a:ext cx="9525" cy="822008"/>
            </a:xfrm>
            <a:custGeom>
              <a:avLst/>
              <a:gdLst/>
              <a:ahLst/>
              <a:cxnLst/>
              <a:rect l="l" t="t" r="r" b="b"/>
              <a:pathLst>
                <a:path w="9525" h="822008">
                  <a:moveTo>
                    <a:pt x="0" y="0"/>
                  </a:moveTo>
                  <a:lnTo>
                    <a:pt x="0" y="822008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80222" y="29289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27848" y="3264218"/>
              <a:ext cx="9525" cy="744855"/>
            </a:xfrm>
            <a:custGeom>
              <a:avLst/>
              <a:gdLst/>
              <a:ahLst/>
              <a:cxnLst/>
              <a:rect l="l" t="t" r="r" b="b"/>
              <a:pathLst>
                <a:path w="9525" h="744855">
                  <a:moveTo>
                    <a:pt x="0" y="0"/>
                  </a:moveTo>
                  <a:lnTo>
                    <a:pt x="0" y="744855"/>
                  </a:lnTo>
                </a:path>
              </a:pathLst>
            </a:custGeom>
            <a:noFill/>
            <a:ln w="17145">
              <a:solidFill>
                <a:srgbClr val="D97706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80222" y="40090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31545" y="1986915"/>
              <a:ext cx="458153" cy="2237422"/>
            </a:xfrm>
            <a:custGeom>
              <a:avLst/>
              <a:gdLst/>
              <a:ahLst/>
              <a:cxnLst/>
              <a:rect l="l" t="t" r="r" b="b"/>
              <a:pathLst>
                <a:path w="458153" h="2237422">
                  <a:moveTo>
                    <a:pt x="458153" y="0"/>
                  </a:moveTo>
                  <a:lnTo>
                    <a:pt x="0" y="2237422"/>
                  </a:lnTo>
                  <a:lnTo>
                    <a:pt x="362903" y="2237422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294448" y="41767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265998" y="3194685"/>
              <a:ext cx="855345" cy="1029653"/>
            </a:xfrm>
            <a:custGeom>
              <a:avLst/>
              <a:gdLst/>
              <a:ahLst/>
              <a:cxnLst/>
              <a:rect l="l" t="t" r="r" b="b"/>
              <a:pathLst>
                <a:path w="855345" h="1029653">
                  <a:moveTo>
                    <a:pt x="0" y="1029653"/>
                  </a:moveTo>
                  <a:lnTo>
                    <a:pt x="855345" y="489585"/>
                  </a:lnTo>
                  <a:lnTo>
                    <a:pt x="8001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265998" y="3144202"/>
              <a:ext cx="105727" cy="91440"/>
            </a:xfrm>
            <a:custGeom>
              <a:avLst/>
              <a:gdLst/>
              <a:ahLst/>
              <a:cxnLst/>
              <a:rect l="l" t="t" r="r" b="b"/>
              <a:pathLst>
                <a:path w="105727" h="91440">
                  <a:moveTo>
                    <a:pt x="0" y="0"/>
                  </a:moveTo>
                  <a:lnTo>
                    <a:pt x="105727" y="10477"/>
                  </a:lnTo>
                  <a:lnTo>
                    <a:pt x="55245" y="9144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827848" y="4344352"/>
              <a:ext cx="9525" cy="667703"/>
            </a:xfrm>
            <a:custGeom>
              <a:avLst/>
              <a:gdLst/>
              <a:ahLst/>
              <a:cxnLst/>
              <a:rect l="l" t="t" r="r" b="b"/>
              <a:pathLst>
                <a:path w="9525" h="667703">
                  <a:moveTo>
                    <a:pt x="0" y="0"/>
                  </a:moveTo>
                  <a:lnTo>
                    <a:pt x="0" y="667703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780222" y="50120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2265998" y="2051685"/>
              <a:ext cx="1154430" cy="2172652"/>
            </a:xfrm>
            <a:custGeom>
              <a:avLst/>
              <a:gdLst/>
              <a:ahLst/>
              <a:cxnLst/>
              <a:rect l="l" t="t" r="r" b="b"/>
              <a:pathLst>
                <a:path w="1154430" h="2172652">
                  <a:moveTo>
                    <a:pt x="0" y="2172652"/>
                  </a:moveTo>
                  <a:lnTo>
                    <a:pt x="1154430" y="1015365"/>
                  </a:lnTo>
                  <a:lnTo>
                    <a:pt x="695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265998" y="1986915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0" y="0"/>
                  </a:moveTo>
                  <a:lnTo>
                    <a:pt x="101917" y="30480"/>
                  </a:lnTo>
                  <a:lnTo>
                    <a:pt x="37148" y="1000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399222" y="1866900"/>
              <a:ext cx="857250" cy="240030"/>
            </a:xfrm>
            <a:prstGeom prst="roundRect">
              <a:avLst>
                <a:gd name="adj" fmla="val 39683"/>
              </a:avLst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990975" y="1866900"/>
              <a:ext cx="1047750" cy="240030"/>
            </a:xfrm>
            <a:prstGeom prst="roundRect">
              <a:avLst>
                <a:gd name="adj" fmla="val 39683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399222" y="3024188"/>
              <a:ext cx="85725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399222" y="4104322"/>
              <a:ext cx="857250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399222" y="5107305"/>
              <a:ext cx="857250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41348" y="1930718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07192" y="193071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主控服务器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84221" y="3088005"/>
              <a:ext cx="4872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备副本 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41348" y="416814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主副本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84221" y="5171122"/>
              <a:ext cx="4872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备副本 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057525" y="190785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89081" y="19378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105150" y="1645920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36706" y="167497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641158" y="2486978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665782" y="2516029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 数据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641158" y="3606165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665782" y="3635216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 数据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74408" y="3027045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98079" y="3056096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 控制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506980" y="3875722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531604" y="390477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 序列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761172" y="4647248"/>
              <a:ext cx="133350" cy="14668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92728" y="467629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656522" y="3567112"/>
              <a:ext cx="37338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681147" y="359616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7 应答</a:t>
              </a:r>
            </a:p>
          </p:txBody>
        </p:sp>
      </p:grpSp>
      <p:grpSp>
        <p:nvGrpSpPr>
          <p:cNvPr id="71" name="c2-steps-1"/>
          <p:cNvGrpSpPr/>
          <p:nvPr/>
        </p:nvGrpSpPr>
        <p:grpSpPr>
          <a:xfrm>
            <a:off x="5815965" y="1533525"/>
            <a:ext cx="5627497" cy="3649313"/>
            <a:chOff x="5815965" y="1533525"/>
            <a:chExt cx="5627497" cy="3649313"/>
          </a:xfrm>
        </p:grpSpPr>
        <p:sp>
          <p:nvSpPr>
            <p:cNvPr id="50" name="Rectangle 50"/>
            <p:cNvSpPr/>
            <p:nvPr/>
          </p:nvSpPr>
          <p:spPr>
            <a:xfrm>
              <a:off x="5949315" y="1676400"/>
              <a:ext cx="19050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815965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095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815965" y="39557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09589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815965" y="46062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09589" y="4680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27445" y="1567815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1-2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28588" y="1861661"/>
              <a:ext cx="4475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客户端向 master 请求、master 返回主副本与备副本地址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7445" y="2218372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28588" y="2512219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客户端把追加数据发给所有副本（沿网络就近的链路），所有副本确认收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到数据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27445" y="3104198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28588" y="3397091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客户端再发写请求控制命令给主副本；主副本对并发请求定操作序列、写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27445" y="3990022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5-6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28588" y="4282916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主副本把操作序列发给所有副本，备副本按序列改数据后应答主副本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27445" y="464058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228588" y="493347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主副本应答客户端</a:t>
              </a:r>
            </a:p>
          </p:txBody>
        </p:sp>
      </p:grpSp>
      <p:grpSp>
        <p:nvGrpSpPr>
          <p:cNvPr id="78" name="c2-callout-2"/>
          <p:cNvGrpSpPr/>
          <p:nvPr/>
        </p:nvGrpSpPr>
        <p:grpSpPr>
          <a:xfrm>
            <a:off x="5815965" y="5361622"/>
            <a:ext cx="5842635" cy="782955"/>
            <a:chOff x="5815965" y="5361622"/>
            <a:chExt cx="5842635" cy="782955"/>
          </a:xfrm>
        </p:grpSpPr>
        <p:sp>
          <p:nvSpPr>
            <p:cNvPr id="72" name="Rectangle 72"/>
            <p:cNvSpPr/>
            <p:nvPr/>
          </p:nvSpPr>
          <p:spPr>
            <a:xfrm>
              <a:off x="5815965" y="536162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020753" y="5653088"/>
              <a:ext cx="200026" cy="200025"/>
              <a:chOff x="6020753" y="5653088"/>
              <a:chExt cx="200026" cy="200025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020753" y="56530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060491" y="56975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095207" y="58086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322695" y="5510212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数据先铺开、控制后定序：数据可沿最优网络路径流动，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控制命令只走一小条，适合批量修改。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61873" cy="909257"/>
            <a:chOff x="520446" y="342900"/>
            <a:chExt cx="70618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84333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0141" y="407194"/>
              <a:ext cx="38308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 · GFS 关键技术：租约、一致性与追加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618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两种流程对比，以及 GFS 的容错、扩展与安全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compare-1"/>
          <p:cNvGrpSpPr/>
          <p:nvPr/>
        </p:nvGrpSpPr>
        <p:grpSpPr>
          <a:xfrm>
            <a:off x="533400" y="1524000"/>
            <a:ext cx="5193030" cy="3467100"/>
            <a:chOff x="533400" y="1524000"/>
            <a:chExt cx="5193030" cy="3467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386965" cy="3467100"/>
            </a:xfrm>
            <a:prstGeom prst="roundRect">
              <a:avLst>
                <a:gd name="adj" fmla="val 55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200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3430" y="17583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数据流控制流分离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6765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4880" y="2112645"/>
              <a:ext cx="153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便于数据传输优化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（拓扑、流水线）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36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适合批量修改数据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1318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068955"/>
              <a:ext cx="153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代价：流程相对复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杂，客户端要发两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轮消息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40386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975735"/>
              <a:ext cx="1539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适用：大块追加、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副本分散在不同机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39465" y="1524000"/>
              <a:ext cx="2386965" cy="3467100"/>
            </a:xfrm>
            <a:prstGeom prst="roundRect">
              <a:avLst>
                <a:gd name="adj" fmla="val 558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41395" y="17583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主备复制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3554730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12845" y="21126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流程简单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554730" y="251079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12845" y="24479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管理消息负担小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3554730" y="28460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12845" y="2783205"/>
              <a:ext cx="1729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代价：数据必须先到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主副本，主副本出口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带宽成瓶颈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3554730" y="37528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712845" y="3689985"/>
              <a:ext cx="1729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适用：小写入、副本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间网络对称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967990" y="309562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38330" y="31918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36" name="c1-callout-2"/>
          <p:cNvGrpSpPr/>
          <p:nvPr/>
        </p:nvGrpSpPr>
        <p:grpSpPr>
          <a:xfrm>
            <a:off x="533400" y="5181600"/>
            <a:ext cx="5193982" cy="1181100"/>
            <a:chOff x="533400" y="5181600"/>
            <a:chExt cx="5193982" cy="1181100"/>
          </a:xfrm>
        </p:grpSpPr>
        <p:sp>
          <p:nvSpPr>
            <p:cNvPr id="31" name="Rectangle 31"/>
            <p:cNvSpPr/>
            <p:nvPr/>
          </p:nvSpPr>
          <p:spPr>
            <a:xfrm>
              <a:off x="533400" y="5181600"/>
              <a:ext cx="5193982" cy="1181100"/>
            </a:xfrm>
            <a:prstGeom prst="roundRect">
              <a:avLst>
                <a:gd name="adj" fmla="val 967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672140"/>
              <a:ext cx="200023" cy="200023"/>
              <a:chOff x="738188" y="5672140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6721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57388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391150"/>
              <a:ext cx="42538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分离的代价是流程复杂，换来的是数据能走最优路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径、适合大批量追加，这正是 GFS 面向流式写的取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舍。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032182" y="1524000"/>
            <a:ext cx="5626418" cy="2702242"/>
            <a:chOff x="6032182" y="1524000"/>
            <a:chExt cx="5626418" cy="2702242"/>
          </a:xfrm>
        </p:grpSpPr>
        <p:sp>
          <p:nvSpPr>
            <p:cNvPr id="37" name="Rectangle 37"/>
            <p:cNvSpPr/>
            <p:nvPr/>
          </p:nvSpPr>
          <p:spPr>
            <a:xfrm>
              <a:off x="6032182" y="1524000"/>
              <a:ext cx="562641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287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68899" y="1659731"/>
              <a:ext cx="902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GFS 怎么做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40006" y="23350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490651" y="2108359"/>
              <a:ext cx="3402330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秒级重启；操作日志与 checkpoint 多机复制，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宕机由外部监控在别处重启；shadow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只读兜底；3 副本；block 校验和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32182" y="28698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32182" y="2874645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40006" y="312372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可扩展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90651" y="3010376"/>
              <a:ext cx="37274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chunkserver 可扩展，常受限于网络带宽；master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一般不成瓶颈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32182" y="35461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40006" y="379904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安全性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0651" y="3685699"/>
              <a:ext cx="369493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基本没有，依赖 Google 数据中心的私有网络（全球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50+ 集群）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032182" y="1524000"/>
              <a:ext cx="5626418" cy="27022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378065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032182" y="4416742"/>
            <a:ext cx="5626418" cy="1907858"/>
            <a:chOff x="6032182" y="4416742"/>
            <a:chExt cx="5626418" cy="1907858"/>
          </a:xfrm>
        </p:grpSpPr>
        <p:sp>
          <p:nvSpPr>
            <p:cNvPr id="52" name="Rectangle 52"/>
            <p:cNvSpPr/>
            <p:nvPr/>
          </p:nvSpPr>
          <p:spPr>
            <a:xfrm>
              <a:off x="6032182" y="4416742"/>
              <a:ext cx="5626418" cy="1907858"/>
            </a:xfrm>
            <a:prstGeom prst="roundRect">
              <a:avLst>
                <a:gd name="adj" fmla="val 69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041708" y="4550092"/>
              <a:ext cx="47625" cy="16411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79832" y="462629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70041" y="46620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72212" y="5003482"/>
              <a:ext cx="4920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原课件第121、142页把 shadow master 写作热备份。按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论文它是只读副本，master 宕机时给读请求兜底、数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据可能略旧，不接管写。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308403" cy="278702"/>
            <a:chOff x="526161" y="1547336"/>
            <a:chExt cx="230840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先自己写出答案，再对照。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511618"/>
            <a:chOff x="533400" y="1941195"/>
            <a:chExt cx="5410200" cy="151161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2769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 为什么叫「虚拟」文件系统？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9273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它不实际管理本地磁盘，建在服务器真正的文件系统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（EXT、ReiserFS）之上，只做网络共享。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29025"/>
            <a:ext cx="5410200" cy="2025968"/>
            <a:chOff x="533400" y="3629025"/>
            <a:chExt cx="5410200" cy="2025968"/>
          </a:xfrm>
        </p:grpSpPr>
        <p:sp>
          <p:nvSpPr>
            <p:cNvPr id="15" name="Rectangle 15"/>
            <p:cNvSpPr/>
            <p:nvPr/>
          </p:nvSpPr>
          <p:spPr>
            <a:xfrm>
              <a:off x="533400" y="3629025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382143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385572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177665"/>
              <a:ext cx="4695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Secondary NameNode 是热备份吗？出错期间能服务吗？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480560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不是。它只记录元数据快照、在线合并日志再上传给主节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点，不做快速切换。出错期间无法服务，因为数据安全比服务连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续更重要。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6870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导出目录写了 no_root_squash 有何风险？默认怎么防？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2792730"/>
              <a:ext cx="483146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 root 映射成服务器 root，客户端本地 root 就能拿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到服务器 root。默认 root_squash 把远程 root 压成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nobody，更严用 all_squash。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50507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的 consistent 和 defined 有何区别？并发写保证哪个？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737735"/>
              <a:ext cx="472001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consistent 是各副本值相同；defined 还要写入完成、能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看到这次写的完整结果。并发写只保证 consistent，不一定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defined。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67379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答不上时回到对应页：一致性看 consistent/defined 表，租约看「租约举例」页。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自测题（二）估算与计算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739771" cy="264033"/>
            <a:chOff x="526542" y="1545907"/>
            <a:chExt cx="273977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带计算的题把单位写全，再算数。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5410200" cy="1671638"/>
            <a:chOff x="533400" y="1928812"/>
            <a:chExt cx="5410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47637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寻址 10 ms、要占传输的 1%，带宽 100 MB/s 与 500 MB/s 各取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多大块？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45483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传输时间 = 10 ms ÷ 1% = 1 s；块 = 带宽 × 1 s。100 MB/s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100 MB 取整 128 MB；500 MB/s 得 500 MB 取整 512 MB。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5410200" cy="1914525"/>
            <a:chOff x="533400" y="3765232"/>
            <a:chExt cx="5410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47791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延迟调度里 pⱼ=0.1，D=10 与 D=40 时本地启动概率各多少？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571524"/>
              <a:ext cx="46296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仍非本地概率 = (1-pⱼ)ᴰ。D=10 时 (0.9)¹⁰≈0.35，本地约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65%；D=40 时 (0.9)⁴⁰≈0.01，本地约 99%。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28812"/>
            <a:ext cx="5410200" cy="1914525"/>
            <a:chOff x="6248400" y="1928812"/>
            <a:chExt cx="5410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6248400" y="1928812"/>
              <a:ext cx="5410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29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8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22898" y="2449354"/>
              <a:ext cx="4768647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WordCount 处理 "the map is the reduce map"，写出 Reduce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22898" y="2977991"/>
              <a:ext cx="467029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 产出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(the,1)(map,1)(is,1)(the,1)(reduce,1)(map,1)；Reduce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the=2、map=2、is=1、reduce=1。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4008120"/>
            <a:ext cx="5410200" cy="1671638"/>
            <a:chOff x="6248400" y="4008120"/>
            <a:chExt cx="5410200" cy="1671638"/>
          </a:xfrm>
        </p:grpSpPr>
        <p:sp>
          <p:nvSpPr>
            <p:cNvPr id="27" name="Rectangle 27"/>
            <p:cNvSpPr/>
            <p:nvPr/>
          </p:nvSpPr>
          <p:spPr>
            <a:xfrm>
              <a:off x="6248400" y="400812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29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18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22898" y="4529614"/>
              <a:ext cx="478856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PB、chunk 64 MB、3 副本、每条元数据 64 B，GFS master 元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数据占多少内存？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22898" y="5057299"/>
              <a:ext cx="4369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chunk 数 ≈ 1.56×10⁷；元数据 = 1.56×10⁷ × 3 × 64 B 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GB，内存放得下。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33" name="Rectangle 3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1273" y="6039326"/>
              <a:ext cx="71299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估算题先统一成字节、秒，再做除法；PB、MB 按 10¹⁵、10⁶ 算，差几个百分点不影响量级。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第4部分 文件系统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本部分小结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bullets-1"/>
          <p:cNvGrpSpPr/>
          <p:nvPr/>
        </p:nvGrpSpPr>
        <p:grpSpPr>
          <a:xfrm>
            <a:off x="533400" y="1532572"/>
            <a:ext cx="5552255" cy="1485519"/>
            <a:chOff x="533400" y="1532572"/>
            <a:chExt cx="5552255" cy="1485519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75334" y="156138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2858" y="1541145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分布式文件系统要解决远程访问、并发、多副本与缓存三件事，三者有取舍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786890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5334" y="181570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2858" y="1795462"/>
              <a:ext cx="53127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 是虚拟文件系统，靠 exports 配置共享，no_root_squash 配错会导致特权提升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041207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75334" y="2070021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858" y="2049780"/>
              <a:ext cx="4625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MapReduce 让用户只写 Map 和 Reduce，框架负责并行、排序分区与容错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295525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5334" y="2324338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858" y="2304098"/>
              <a:ext cx="51526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HDFS 主从架构：NameNode 管元数据不经手数据，DataNode 存块，一次写多次读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548890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5334" y="2578656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858" y="2558415"/>
              <a:ext cx="4653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Hadoop 调度在公平和数据本地性间折中，延迟调度用最大跳数 D 换本地性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803208"/>
              <a:ext cx="148590" cy="14859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5334" y="2832973"/>
              <a:ext cx="64723" cy="140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1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858" y="2812732"/>
              <a:ext cx="5072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GFS 用租约把写定序权下放给主副本，并发写只保证 consistent 不一定 defined</a:t>
              </a:r>
            </a:p>
          </p:txBody>
        </p:sp>
      </p:grpSp>
      <p:grpSp>
        <p:nvGrpSpPr>
          <p:cNvPr id="38" name="c1-card-2"/>
          <p:cNvGrpSpPr/>
          <p:nvPr/>
        </p:nvGrpSpPr>
        <p:grpSpPr>
          <a:xfrm>
            <a:off x="533400" y="3141345"/>
            <a:ext cx="6059805" cy="2485072"/>
            <a:chOff x="533400" y="3141345"/>
            <a:chExt cx="6059805" cy="2485072"/>
          </a:xfrm>
        </p:grpSpPr>
        <p:sp>
          <p:nvSpPr>
            <p:cNvPr id="26" name="Rectangle 26"/>
            <p:cNvSpPr/>
            <p:nvPr/>
          </p:nvSpPr>
          <p:spPr>
            <a:xfrm>
              <a:off x="533400" y="3141345"/>
              <a:ext cx="6059805" cy="2485072"/>
            </a:xfrm>
            <a:prstGeom prst="roundRect">
              <a:avLst>
                <a:gd name="adj" fmla="val 53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274695"/>
              <a:ext cx="47625" cy="22183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2475" y="332232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4642" y="335518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2000" y="371475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17448" y="3662839"/>
              <a:ext cx="54181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安全页多处把 NFS 写成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NSF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（原课件第 31、32 页），本讲统一为 NFS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2000" y="399954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" y="3947636"/>
              <a:ext cx="5052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分块大小按最佳传输损耗理论应是 100 MB/s→100 MB、500 MB/s→500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MB，课件取整到 128 MB、512 MB（本讲第 20 页注明为取整）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62000" y="452723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17448" y="4475321"/>
              <a:ext cx="51010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特权提升一节的攻击命令未收录，改为讲清 no_root_squash 的风险与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root_squash/all_squash 防御（第 8 页）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62000" y="50558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7448" y="5003006"/>
              <a:ext cx="4987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shadow master 是只读副本不是热备，恢复靠多机复制的操作日志与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checkpoint（原课件第 121、142 页；本讲第 39、47 页）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898005" y="1524000"/>
            <a:ext cx="4760595" cy="2474595"/>
            <a:chOff x="6898005" y="1524000"/>
            <a:chExt cx="4760595" cy="2474595"/>
          </a:xfrm>
        </p:grpSpPr>
        <p:sp>
          <p:nvSpPr>
            <p:cNvPr id="39" name="Rectangle 39"/>
            <p:cNvSpPr/>
            <p:nvPr/>
          </p:nvSpPr>
          <p:spPr>
            <a:xfrm>
              <a:off x="6898005" y="1524000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647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775317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92684" y="2023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虚拟文件系统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20481" y="2023110"/>
              <a:ext cx="31289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NFS 架在服务器真实文件系统之上，只做网络共享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8005" y="2282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98005" y="2286952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92684" y="2404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数据本地性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20481" y="2404110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本地化任务数 ÷ 总任务数，越高越省网络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266319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92684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延迟调度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20481" y="2785110"/>
              <a:ext cx="3105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队首起不了本地任务就跳过，防饿死设最大跳数 D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898005" y="304514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98005" y="3049905"/>
              <a:ext cx="476059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92684" y="326040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租约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20481" y="3167062"/>
              <a:ext cx="288436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master 把 chunk 写定序权下放给主副本，60 秒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可续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898005" y="36128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92684" y="3734752"/>
              <a:ext cx="789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consistent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20481" y="3734752"/>
              <a:ext cx="31062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所有副本值相同；defined 还要能看到完整写结果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898005" y="1524000"/>
              <a:ext cx="4760595" cy="2474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321040" y="1524000"/>
              <a:ext cx="9525" cy="2474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rd-2"/>
          <p:cNvGrpSpPr/>
          <p:nvPr/>
        </p:nvGrpSpPr>
        <p:grpSpPr>
          <a:xfrm>
            <a:off x="6898005" y="4163378"/>
            <a:ext cx="4760595" cy="1462088"/>
            <a:chOff x="6898005" y="4163378"/>
            <a:chExt cx="4760595" cy="1462088"/>
          </a:xfrm>
        </p:grpSpPr>
        <p:sp>
          <p:nvSpPr>
            <p:cNvPr id="61" name="Rectangle 61"/>
            <p:cNvSpPr/>
            <p:nvPr/>
          </p:nvSpPr>
          <p:spPr>
            <a:xfrm>
              <a:off x="6898005" y="4163378"/>
              <a:ext cx="4760595" cy="1462088"/>
            </a:xfrm>
            <a:prstGeom prst="roundRect">
              <a:avLst>
                <a:gd name="adj" fmla="val 912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078980" y="434435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167601" y="437721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72503" y="4684871"/>
              <a:ext cx="408508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第5部分分布式键值对系统（Dynamo）：用一致性哈希分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区、用最终一致性换高可用，看键值存储怎么在机器常故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障时始终可写。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6" name="Rectangle 66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95511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复习时动手做三件事：画 HDFS/GFS 的主从架构图、手算一遍 PageRank 简化模型、按块大小和元数据两道估算题各算一次。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分布式存储 · 第4部分 分布式文件系统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tore_p4">
  <a:themeElements>
    <a:clrScheme name="dstore_p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tore_p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tore_p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2026-09-23T11:30:51Z</dcterms:created>
  <dcterms:modified xsi:type="dcterms:W3CDTF">2026-09-23T11:30:51Z</dcterms:modified>
  <cp:category/>
  <cp:contentStatus/>
</cp:coreProperties>
</file>